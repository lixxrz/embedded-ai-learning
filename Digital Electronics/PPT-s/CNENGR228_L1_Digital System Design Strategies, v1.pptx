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43"/>
  </p:notesMasterIdLst>
  <p:sldIdLst>
    <p:sldId id="584" r:id="rId3"/>
    <p:sldId id="256" r:id="rId4"/>
    <p:sldId id="530" r:id="rId5"/>
    <p:sldId id="588" r:id="rId6"/>
    <p:sldId id="591" r:id="rId7"/>
    <p:sldId id="589" r:id="rId8"/>
    <p:sldId id="536" r:id="rId9"/>
    <p:sldId id="540" r:id="rId10"/>
    <p:sldId id="590" r:id="rId11"/>
    <p:sldId id="574" r:id="rId12"/>
    <p:sldId id="501" r:id="rId13"/>
    <p:sldId id="576" r:id="rId14"/>
    <p:sldId id="528" r:id="rId15"/>
    <p:sldId id="575" r:id="rId16"/>
    <p:sldId id="527" r:id="rId17"/>
    <p:sldId id="577" r:id="rId18"/>
    <p:sldId id="502" r:id="rId19"/>
    <p:sldId id="585" r:id="rId20"/>
    <p:sldId id="509" r:id="rId21"/>
    <p:sldId id="545" r:id="rId22"/>
    <p:sldId id="511" r:id="rId23"/>
    <p:sldId id="578" r:id="rId24"/>
    <p:sldId id="579" r:id="rId25"/>
    <p:sldId id="491" r:id="rId26"/>
    <p:sldId id="514" r:id="rId27"/>
    <p:sldId id="580" r:id="rId28"/>
    <p:sldId id="510" r:id="rId29"/>
    <p:sldId id="548" r:id="rId30"/>
    <p:sldId id="493" r:id="rId31"/>
    <p:sldId id="581" r:id="rId32"/>
    <p:sldId id="515" r:id="rId33"/>
    <p:sldId id="547" r:id="rId34"/>
    <p:sldId id="593" r:id="rId35"/>
    <p:sldId id="582" r:id="rId36"/>
    <p:sldId id="583" r:id="rId37"/>
    <p:sldId id="570" r:id="rId38"/>
    <p:sldId id="543" r:id="rId39"/>
    <p:sldId id="544" r:id="rId40"/>
    <p:sldId id="571" r:id="rId41"/>
    <p:sldId id="529" r:id="rId42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95">
          <p15:clr>
            <a:srgbClr val="A4A3A4"/>
          </p15:clr>
        </p15:guide>
        <p15:guide id="2" orient="horz" pos="240">
          <p15:clr>
            <a:srgbClr val="A4A3A4"/>
          </p15:clr>
        </p15:guide>
        <p15:guide id="3" pos="5470">
          <p15:clr>
            <a:srgbClr val="A4A3A4"/>
          </p15:clr>
        </p15:guide>
        <p15:guide id="4" pos="29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1"/>
    <a:srgbClr val="00A747"/>
    <a:srgbClr val="0659AD"/>
    <a:srgbClr val="800000"/>
    <a:srgbClr val="0A64B6"/>
    <a:srgbClr val="D2FAD7"/>
    <a:srgbClr val="C3D4F5"/>
    <a:srgbClr val="C4F4C9"/>
    <a:srgbClr val="0078C1"/>
    <a:srgbClr val="F9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82958" autoAdjust="0"/>
  </p:normalViewPr>
  <p:slideViewPr>
    <p:cSldViewPr>
      <p:cViewPr varScale="1">
        <p:scale>
          <a:sx n="97" d="100"/>
          <a:sy n="97" d="100"/>
        </p:scale>
        <p:origin x="2544" y="184"/>
      </p:cViewPr>
      <p:guideLst>
        <p:guide orient="horz" pos="3695"/>
        <p:guide orient="horz" pos="240"/>
        <p:guide pos="5470"/>
        <p:guide pos="290"/>
      </p:guideLst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90" y="-90"/>
      </p:cViewPr>
      <p:guideLst>
        <p:guide orient="horz" pos="3223"/>
        <p:guide pos="2236"/>
      </p:guideLst>
    </p:cSldViewPr>
  </p:notesViewPr>
  <p:gridSpacing cx="152299" cy="1522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hongming" userId="57b61de0-a4db-46da-bbdf-d2c5d7242f33" providerId="ADAL" clId="{1E056A98-D0F8-034F-9EBB-A47C30977A71}"/>
    <pc:docChg chg="modSld">
      <pc:chgData name="Zhang, Zhongming" userId="57b61de0-a4db-46da-bbdf-d2c5d7242f33" providerId="ADAL" clId="{1E056A98-D0F8-034F-9EBB-A47C30977A71}" dt="2022-08-30T10:43:38.383" v="13" actId="20577"/>
      <pc:docMkLst>
        <pc:docMk/>
      </pc:docMkLst>
      <pc:sldChg chg="modSp">
        <pc:chgData name="Zhang, Zhongming" userId="57b61de0-a4db-46da-bbdf-d2c5d7242f33" providerId="ADAL" clId="{1E056A98-D0F8-034F-9EBB-A47C30977A71}" dt="2022-08-30T10:43:38.383" v="13" actId="20577"/>
        <pc:sldMkLst>
          <pc:docMk/>
          <pc:sldMk cId="1017499666" sldId="591"/>
        </pc:sldMkLst>
        <pc:spChg chg="mod">
          <ac:chgData name="Zhang, Zhongming" userId="57b61de0-a4db-46da-bbdf-d2c5d7242f33" providerId="ADAL" clId="{1E056A98-D0F8-034F-9EBB-A47C30977A71}" dt="2022-08-30T10:43:38.383" v="13" actId="20577"/>
          <ac:spMkLst>
            <pc:docMk/>
            <pc:sldMk cId="1017499666" sldId="591"/>
            <ac:spMk id="3" creationId="{35A7EF1E-F4EF-0340-AD9C-89F45C8FD2E0}"/>
          </ac:spMkLst>
        </pc:spChg>
      </pc:sldChg>
    </pc:docChg>
  </pc:docChgLst>
  <pc:docChgLst>
    <pc:chgData name="Zhang, Zhongming" userId="57b61de0-a4db-46da-bbdf-d2c5d7242f33" providerId="ADAL" clId="{0FBE1328-BDC6-4348-82D1-B73FE79D205E}"/>
    <pc:docChg chg="undo custSel delSld modSld modShowInfo">
      <pc:chgData name="Zhang, Zhongming" userId="57b61de0-a4db-46da-bbdf-d2c5d7242f33" providerId="ADAL" clId="{0FBE1328-BDC6-4348-82D1-B73FE79D205E}" dt="2022-08-26T12:31:25.260" v="238" actId="2696"/>
      <pc:docMkLst>
        <pc:docMk/>
      </pc:docMkLst>
      <pc:sldChg chg="delSp modSp mod delAnim">
        <pc:chgData name="Zhang, Zhongming" userId="57b61de0-a4db-46da-bbdf-d2c5d7242f33" providerId="ADAL" clId="{0FBE1328-BDC6-4348-82D1-B73FE79D205E}" dt="2022-08-26T12:18:38.295" v="85" actId="478"/>
        <pc:sldMkLst>
          <pc:docMk/>
          <pc:sldMk cId="0" sldId="256"/>
        </pc:sldMkLst>
        <pc:spChg chg="mod">
          <ac:chgData name="Zhang, Zhongming" userId="57b61de0-a4db-46da-bbdf-d2c5d7242f33" providerId="ADAL" clId="{0FBE1328-BDC6-4348-82D1-B73FE79D205E}" dt="2022-08-26T12:18:30.474" v="84" actId="20577"/>
          <ac:spMkLst>
            <pc:docMk/>
            <pc:sldMk cId="0" sldId="256"/>
            <ac:spMk id="11" creationId="{EFCD99AF-5675-1D4C-9E87-B98AFCA7B139}"/>
          </ac:spMkLst>
        </pc:spChg>
        <pc:picChg chg="del">
          <ac:chgData name="Zhang, Zhongming" userId="57b61de0-a4db-46da-bbdf-d2c5d7242f33" providerId="ADAL" clId="{0FBE1328-BDC6-4348-82D1-B73FE79D205E}" dt="2022-08-26T12:18:38.295" v="85" actId="478"/>
          <ac:picMkLst>
            <pc:docMk/>
            <pc:sldMk cId="0" sldId="256"/>
            <ac:picMk id="4" creationId="{2284F6AD-255D-E144-BA3C-7303CED3CDA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54.558" v="109" actId="478"/>
        <pc:sldMkLst>
          <pc:docMk/>
          <pc:sldMk cId="3284777530" sldId="491"/>
        </pc:sldMkLst>
        <pc:picChg chg="del">
          <ac:chgData name="Zhang, Zhongming" userId="57b61de0-a4db-46da-bbdf-d2c5d7242f33" providerId="ADAL" clId="{0FBE1328-BDC6-4348-82D1-B73FE79D205E}" dt="2022-08-26T12:20:54.558" v="109" actId="478"/>
          <ac:picMkLst>
            <pc:docMk/>
            <pc:sldMk cId="3284777530" sldId="491"/>
            <ac:picMk id="9" creationId="{F77F141C-8FA8-F143-AFA3-193AAF2E5998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05.084" v="114" actId="478"/>
        <pc:sldMkLst>
          <pc:docMk/>
          <pc:sldMk cId="1301316747" sldId="493"/>
        </pc:sldMkLst>
        <pc:picChg chg="del">
          <ac:chgData name="Zhang, Zhongming" userId="57b61de0-a4db-46da-bbdf-d2c5d7242f33" providerId="ADAL" clId="{0FBE1328-BDC6-4348-82D1-B73FE79D205E}" dt="2022-08-26T12:21:05.084" v="114" actId="478"/>
          <ac:picMkLst>
            <pc:docMk/>
            <pc:sldMk cId="1301316747" sldId="493"/>
            <ac:picMk id="2" creationId="{2FC0E667-E735-444B-A41B-70116CEFF46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37.498" v="96" actId="478"/>
        <pc:sldMkLst>
          <pc:docMk/>
          <pc:sldMk cId="4278170104" sldId="501"/>
        </pc:sldMkLst>
        <pc:picChg chg="del">
          <ac:chgData name="Zhang, Zhongming" userId="57b61de0-a4db-46da-bbdf-d2c5d7242f33" providerId="ADAL" clId="{0FBE1328-BDC6-4348-82D1-B73FE79D205E}" dt="2022-08-26T12:19:37.498" v="96" actId="478"/>
          <ac:picMkLst>
            <pc:docMk/>
            <pc:sldMk cId="4278170104" sldId="501"/>
            <ac:picMk id="2" creationId="{8058E697-F04A-7E4F-9EA4-A037EEE2ED75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07.090" v="102" actId="478"/>
        <pc:sldMkLst>
          <pc:docMk/>
          <pc:sldMk cId="2488760235" sldId="502"/>
        </pc:sldMkLst>
        <pc:picChg chg="del">
          <ac:chgData name="Zhang, Zhongming" userId="57b61de0-a4db-46da-bbdf-d2c5d7242f33" providerId="ADAL" clId="{0FBE1328-BDC6-4348-82D1-B73FE79D205E}" dt="2022-08-26T12:20:07.090" v="102" actId="478"/>
          <ac:picMkLst>
            <pc:docMk/>
            <pc:sldMk cId="2488760235" sldId="502"/>
            <ac:picMk id="3" creationId="{556B70D0-3F26-9B4D-AC75-8EB645981BF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11.645" v="104" actId="478"/>
        <pc:sldMkLst>
          <pc:docMk/>
          <pc:sldMk cId="1755316733" sldId="509"/>
        </pc:sldMkLst>
        <pc:picChg chg="del">
          <ac:chgData name="Zhang, Zhongming" userId="57b61de0-a4db-46da-bbdf-d2c5d7242f33" providerId="ADAL" clId="{0FBE1328-BDC6-4348-82D1-B73FE79D205E}" dt="2022-08-26T12:20:11.645" v="104" actId="478"/>
          <ac:picMkLst>
            <pc:docMk/>
            <pc:sldMk cId="1755316733" sldId="509"/>
            <ac:picMk id="6" creationId="{B1898D8D-1923-E541-93F4-5D4609637FA9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01.494" v="112" actId="478"/>
        <pc:sldMkLst>
          <pc:docMk/>
          <pc:sldMk cId="2175884096" sldId="510"/>
        </pc:sldMkLst>
        <pc:picChg chg="del">
          <ac:chgData name="Zhang, Zhongming" userId="57b61de0-a4db-46da-bbdf-d2c5d7242f33" providerId="ADAL" clId="{0FBE1328-BDC6-4348-82D1-B73FE79D205E}" dt="2022-08-26T12:21:01.494" v="112" actId="478"/>
          <ac:picMkLst>
            <pc:docMk/>
            <pc:sldMk cId="2175884096" sldId="510"/>
            <ac:picMk id="2" creationId="{6CDBF87B-F6F4-BA43-807F-3D1FDB65CAB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47.801" v="106" actId="478"/>
        <pc:sldMkLst>
          <pc:docMk/>
          <pc:sldMk cId="1419366738" sldId="511"/>
        </pc:sldMkLst>
        <pc:picChg chg="del">
          <ac:chgData name="Zhang, Zhongming" userId="57b61de0-a4db-46da-bbdf-d2c5d7242f33" providerId="ADAL" clId="{0FBE1328-BDC6-4348-82D1-B73FE79D205E}" dt="2022-08-26T12:20:47.801" v="106" actId="478"/>
          <ac:picMkLst>
            <pc:docMk/>
            <pc:sldMk cId="1419366738" sldId="511"/>
            <ac:picMk id="6" creationId="{92121932-B334-D749-AA58-DB0DF1D4B1AB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57.350" v="110" actId="478"/>
        <pc:sldMkLst>
          <pc:docMk/>
          <pc:sldMk cId="946741951" sldId="514"/>
        </pc:sldMkLst>
        <pc:picChg chg="del">
          <ac:chgData name="Zhang, Zhongming" userId="57b61de0-a4db-46da-bbdf-d2c5d7242f33" providerId="ADAL" clId="{0FBE1328-BDC6-4348-82D1-B73FE79D205E}" dt="2022-08-26T12:20:57.350" v="110" actId="478"/>
          <ac:picMkLst>
            <pc:docMk/>
            <pc:sldMk cId="946741951" sldId="514"/>
            <ac:picMk id="6" creationId="{A5F91465-A72B-4E45-AA50-EF5A643E43D8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09.286" v="116" actId="478"/>
        <pc:sldMkLst>
          <pc:docMk/>
          <pc:sldMk cId="3121914327" sldId="515"/>
        </pc:sldMkLst>
        <pc:picChg chg="del">
          <ac:chgData name="Zhang, Zhongming" userId="57b61de0-a4db-46da-bbdf-d2c5d7242f33" providerId="ADAL" clId="{0FBE1328-BDC6-4348-82D1-B73FE79D205E}" dt="2022-08-26T12:21:09.286" v="116" actId="478"/>
          <ac:picMkLst>
            <pc:docMk/>
            <pc:sldMk cId="3121914327" sldId="515"/>
            <ac:picMk id="5" creationId="{1C476B0C-9AAF-8B44-AC28-C6E086F025AE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58.557" v="100" actId="478"/>
        <pc:sldMkLst>
          <pc:docMk/>
          <pc:sldMk cId="2514783436" sldId="527"/>
        </pc:sldMkLst>
        <pc:picChg chg="del">
          <ac:chgData name="Zhang, Zhongming" userId="57b61de0-a4db-46da-bbdf-d2c5d7242f33" providerId="ADAL" clId="{0FBE1328-BDC6-4348-82D1-B73FE79D205E}" dt="2022-08-26T12:19:58.557" v="100" actId="478"/>
          <ac:picMkLst>
            <pc:docMk/>
            <pc:sldMk cId="2514783436" sldId="527"/>
            <ac:picMk id="3" creationId="{6BF867D0-4DD2-A944-9139-4EF7916ABAE4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48.626" v="98" actId="478"/>
        <pc:sldMkLst>
          <pc:docMk/>
          <pc:sldMk cId="2967672006" sldId="528"/>
        </pc:sldMkLst>
        <pc:picChg chg="del">
          <ac:chgData name="Zhang, Zhongming" userId="57b61de0-a4db-46da-bbdf-d2c5d7242f33" providerId="ADAL" clId="{0FBE1328-BDC6-4348-82D1-B73FE79D205E}" dt="2022-08-26T12:19:48.626" v="98" actId="478"/>
          <ac:picMkLst>
            <pc:docMk/>
            <pc:sldMk cId="2967672006" sldId="528"/>
            <ac:picMk id="3" creationId="{1D97692A-3C06-7D45-BBE1-1DDE64D90931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8:47.390" v="87" actId="478"/>
        <pc:sldMkLst>
          <pc:docMk/>
          <pc:sldMk cId="3281554081" sldId="530"/>
        </pc:sldMkLst>
        <pc:picChg chg="del">
          <ac:chgData name="Zhang, Zhongming" userId="57b61de0-a4db-46da-bbdf-d2c5d7242f33" providerId="ADAL" clId="{0FBE1328-BDC6-4348-82D1-B73FE79D205E}" dt="2022-08-26T12:18:47.390" v="87" actId="478"/>
          <ac:picMkLst>
            <pc:docMk/>
            <pc:sldMk cId="3281554081" sldId="530"/>
            <ac:picMk id="3" creationId="{01740763-612C-7147-9883-FE74C7449663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20.321" v="92" actId="478"/>
        <pc:sldMkLst>
          <pc:docMk/>
          <pc:sldMk cId="4035680078" sldId="536"/>
        </pc:sldMkLst>
        <pc:picChg chg="del">
          <ac:chgData name="Zhang, Zhongming" userId="57b61de0-a4db-46da-bbdf-d2c5d7242f33" providerId="ADAL" clId="{0FBE1328-BDC6-4348-82D1-B73FE79D205E}" dt="2022-08-26T12:19:20.321" v="92" actId="478"/>
          <ac:picMkLst>
            <pc:docMk/>
            <pc:sldMk cId="4035680078" sldId="536"/>
            <ac:picMk id="3" creationId="{4DA28FC7-4BFA-6F4B-B5C2-25197F0BC39D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25.565" v="93" actId="478"/>
        <pc:sldMkLst>
          <pc:docMk/>
          <pc:sldMk cId="1488847777" sldId="540"/>
        </pc:sldMkLst>
        <pc:picChg chg="del">
          <ac:chgData name="Zhang, Zhongming" userId="57b61de0-a4db-46da-bbdf-d2c5d7242f33" providerId="ADAL" clId="{0FBE1328-BDC6-4348-82D1-B73FE79D205E}" dt="2022-08-26T12:19:25.565" v="93" actId="478"/>
          <ac:picMkLst>
            <pc:docMk/>
            <pc:sldMk cId="1488847777" sldId="540"/>
            <ac:picMk id="3" creationId="{550CE3D1-EAC2-2048-9D99-EE6C127A059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11.132" v="117" actId="478"/>
        <pc:sldMkLst>
          <pc:docMk/>
          <pc:sldMk cId="1141909898" sldId="547"/>
        </pc:sldMkLst>
        <pc:picChg chg="del">
          <ac:chgData name="Zhang, Zhongming" userId="57b61de0-a4db-46da-bbdf-d2c5d7242f33" providerId="ADAL" clId="{0FBE1328-BDC6-4348-82D1-B73FE79D205E}" dt="2022-08-26T12:21:11.132" v="117" actId="478"/>
          <ac:picMkLst>
            <pc:docMk/>
            <pc:sldMk cId="1141909898" sldId="547"/>
            <ac:picMk id="32" creationId="{8298FC9F-C632-3E4D-8E5C-D7AB661E40EF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03.257" v="113" actId="478"/>
        <pc:sldMkLst>
          <pc:docMk/>
          <pc:sldMk cId="3686584580" sldId="548"/>
        </pc:sldMkLst>
        <pc:picChg chg="del">
          <ac:chgData name="Zhang, Zhongming" userId="57b61de0-a4db-46da-bbdf-d2c5d7242f33" providerId="ADAL" clId="{0FBE1328-BDC6-4348-82D1-B73FE79D205E}" dt="2022-08-26T12:21:03.257" v="113" actId="478"/>
          <ac:picMkLst>
            <pc:docMk/>
            <pc:sldMk cId="3686584580" sldId="548"/>
            <ac:picMk id="13" creationId="{E1E3C7D0-A5F2-3A40-89DF-5BD54E2531BE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18.901" v="121" actId="478"/>
        <pc:sldMkLst>
          <pc:docMk/>
          <pc:sldMk cId="1135361511" sldId="570"/>
        </pc:sldMkLst>
        <pc:picChg chg="del">
          <ac:chgData name="Zhang, Zhongming" userId="57b61de0-a4db-46da-bbdf-d2c5d7242f33" providerId="ADAL" clId="{0FBE1328-BDC6-4348-82D1-B73FE79D205E}" dt="2022-08-26T12:21:18.901" v="121" actId="478"/>
          <ac:picMkLst>
            <pc:docMk/>
            <pc:sldMk cId="1135361511" sldId="570"/>
            <ac:picMk id="5" creationId="{3049238B-18E6-0048-94DF-36987049E68B}"/>
          </ac:picMkLst>
        </pc:picChg>
      </pc:sldChg>
      <pc:sldChg chg="delSp del mod delAnim">
        <pc:chgData name="Zhang, Zhongming" userId="57b61de0-a4db-46da-bbdf-d2c5d7242f33" providerId="ADAL" clId="{0FBE1328-BDC6-4348-82D1-B73FE79D205E}" dt="2022-08-26T12:31:25.260" v="238" actId="2696"/>
        <pc:sldMkLst>
          <pc:docMk/>
          <pc:sldMk cId="3788311144" sldId="572"/>
        </pc:sldMkLst>
        <pc:picChg chg="del">
          <ac:chgData name="Zhang, Zhongming" userId="57b61de0-a4db-46da-bbdf-d2c5d7242f33" providerId="ADAL" clId="{0FBE1328-BDC6-4348-82D1-B73FE79D205E}" dt="2022-08-26T12:19:15.175" v="91" actId="478"/>
          <ac:picMkLst>
            <pc:docMk/>
            <pc:sldMk cId="3788311144" sldId="572"/>
            <ac:picMk id="2" creationId="{65EE2679-9600-7946-9D9A-958EC48D6D72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33.395" v="95" actId="478"/>
        <pc:sldMkLst>
          <pc:docMk/>
          <pc:sldMk cId="3851558511" sldId="574"/>
        </pc:sldMkLst>
        <pc:picChg chg="del">
          <ac:chgData name="Zhang, Zhongming" userId="57b61de0-a4db-46da-bbdf-d2c5d7242f33" providerId="ADAL" clId="{0FBE1328-BDC6-4348-82D1-B73FE79D205E}" dt="2022-08-26T12:19:33.395" v="95" actId="478"/>
          <ac:picMkLst>
            <pc:docMk/>
            <pc:sldMk cId="3851558511" sldId="574"/>
            <ac:picMk id="5" creationId="{F0E780EA-43DA-624D-847C-11A5BDF11B4C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53.956" v="99" actId="478"/>
        <pc:sldMkLst>
          <pc:docMk/>
          <pc:sldMk cId="3327288703" sldId="575"/>
        </pc:sldMkLst>
        <pc:picChg chg="del">
          <ac:chgData name="Zhang, Zhongming" userId="57b61de0-a4db-46da-bbdf-d2c5d7242f33" providerId="ADAL" clId="{0FBE1328-BDC6-4348-82D1-B73FE79D205E}" dt="2022-08-26T12:19:53.956" v="99" actId="478"/>
          <ac:picMkLst>
            <pc:docMk/>
            <pc:sldMk cId="3327288703" sldId="575"/>
            <ac:picMk id="4" creationId="{18E06774-816B-AF4E-A63D-AE8DD1839166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42.595" v="97" actId="478"/>
        <pc:sldMkLst>
          <pc:docMk/>
          <pc:sldMk cId="2800394260" sldId="576"/>
        </pc:sldMkLst>
        <pc:picChg chg="del">
          <ac:chgData name="Zhang, Zhongming" userId="57b61de0-a4db-46da-bbdf-d2c5d7242f33" providerId="ADAL" clId="{0FBE1328-BDC6-4348-82D1-B73FE79D205E}" dt="2022-08-26T12:19:42.595" v="97" actId="478"/>
          <ac:picMkLst>
            <pc:docMk/>
            <pc:sldMk cId="2800394260" sldId="576"/>
            <ac:picMk id="3" creationId="{27A68F15-F1CA-CF4D-B4A9-A8FE38368A34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02.675" v="101" actId="478"/>
        <pc:sldMkLst>
          <pc:docMk/>
          <pc:sldMk cId="3717657520" sldId="577"/>
        </pc:sldMkLst>
        <pc:picChg chg="del">
          <ac:chgData name="Zhang, Zhongming" userId="57b61de0-a4db-46da-bbdf-d2c5d7242f33" providerId="ADAL" clId="{0FBE1328-BDC6-4348-82D1-B73FE79D205E}" dt="2022-08-26T12:20:02.675" v="101" actId="478"/>
          <ac:picMkLst>
            <pc:docMk/>
            <pc:sldMk cId="3717657520" sldId="577"/>
            <ac:picMk id="2" creationId="{FC0BFD92-039B-014F-9C15-4651110B47DE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49.952" v="107" actId="478"/>
        <pc:sldMkLst>
          <pc:docMk/>
          <pc:sldMk cId="4213631944" sldId="578"/>
        </pc:sldMkLst>
        <pc:picChg chg="del">
          <ac:chgData name="Zhang, Zhongming" userId="57b61de0-a4db-46da-bbdf-d2c5d7242f33" providerId="ADAL" clId="{0FBE1328-BDC6-4348-82D1-B73FE79D205E}" dt="2022-08-26T12:20:49.952" v="107" actId="478"/>
          <ac:picMkLst>
            <pc:docMk/>
            <pc:sldMk cId="4213631944" sldId="578"/>
            <ac:picMk id="3" creationId="{B81A715A-C059-E748-9C5C-EF21A7779FFA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52.400" v="108" actId="478"/>
        <pc:sldMkLst>
          <pc:docMk/>
          <pc:sldMk cId="2441485171" sldId="579"/>
        </pc:sldMkLst>
        <pc:picChg chg="del">
          <ac:chgData name="Zhang, Zhongming" userId="57b61de0-a4db-46da-bbdf-d2c5d7242f33" providerId="ADAL" clId="{0FBE1328-BDC6-4348-82D1-B73FE79D205E}" dt="2022-08-26T12:20:52.400" v="108" actId="478"/>
          <ac:picMkLst>
            <pc:docMk/>
            <pc:sldMk cId="2441485171" sldId="579"/>
            <ac:picMk id="3" creationId="{EA883665-7108-9D44-BD76-5C715D3765D1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59.349" v="111" actId="478"/>
        <pc:sldMkLst>
          <pc:docMk/>
          <pc:sldMk cId="1657321303" sldId="580"/>
        </pc:sldMkLst>
        <pc:picChg chg="del">
          <ac:chgData name="Zhang, Zhongming" userId="57b61de0-a4db-46da-bbdf-d2c5d7242f33" providerId="ADAL" clId="{0FBE1328-BDC6-4348-82D1-B73FE79D205E}" dt="2022-08-26T12:20:59.349" v="111" actId="478"/>
          <ac:picMkLst>
            <pc:docMk/>
            <pc:sldMk cId="1657321303" sldId="580"/>
            <ac:picMk id="2" creationId="{705A7F45-9EAE-A54D-93BD-4ABC3105EF9C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06.796" v="115" actId="478"/>
        <pc:sldMkLst>
          <pc:docMk/>
          <pc:sldMk cId="809414207" sldId="581"/>
        </pc:sldMkLst>
        <pc:picChg chg="del">
          <ac:chgData name="Zhang, Zhongming" userId="57b61de0-a4db-46da-bbdf-d2c5d7242f33" providerId="ADAL" clId="{0FBE1328-BDC6-4348-82D1-B73FE79D205E}" dt="2022-08-26T12:21:06.796" v="115" actId="478"/>
          <ac:picMkLst>
            <pc:docMk/>
            <pc:sldMk cId="809414207" sldId="581"/>
            <ac:picMk id="2" creationId="{9C9F9C7D-1FBE-1342-911A-471AD69B4C6B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15.302" v="119" actId="478"/>
        <pc:sldMkLst>
          <pc:docMk/>
          <pc:sldMk cId="1767133224" sldId="582"/>
        </pc:sldMkLst>
        <pc:picChg chg="del">
          <ac:chgData name="Zhang, Zhongming" userId="57b61de0-a4db-46da-bbdf-d2c5d7242f33" providerId="ADAL" clId="{0FBE1328-BDC6-4348-82D1-B73FE79D205E}" dt="2022-08-26T12:21:15.302" v="119" actId="478"/>
          <ac:picMkLst>
            <pc:docMk/>
            <pc:sldMk cId="1767133224" sldId="582"/>
            <ac:picMk id="2" creationId="{FD140890-428D-3D4B-B5F1-76B57E5C3908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17.051" v="120" actId="478"/>
        <pc:sldMkLst>
          <pc:docMk/>
          <pc:sldMk cId="3645628205" sldId="583"/>
        </pc:sldMkLst>
        <pc:picChg chg="del">
          <ac:chgData name="Zhang, Zhongming" userId="57b61de0-a4db-46da-bbdf-d2c5d7242f33" providerId="ADAL" clId="{0FBE1328-BDC6-4348-82D1-B73FE79D205E}" dt="2022-08-26T12:21:17.051" v="120" actId="478"/>
          <ac:picMkLst>
            <pc:docMk/>
            <pc:sldMk cId="3645628205" sldId="583"/>
            <ac:picMk id="3" creationId="{AE077D25-60CB-2943-8824-9CD9FA07B9E5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8:42.457" v="86" actId="478"/>
        <pc:sldMkLst>
          <pc:docMk/>
          <pc:sldMk cId="3724901676" sldId="584"/>
        </pc:sldMkLst>
        <pc:picChg chg="del">
          <ac:chgData name="Zhang, Zhongming" userId="57b61de0-a4db-46da-bbdf-d2c5d7242f33" providerId="ADAL" clId="{0FBE1328-BDC6-4348-82D1-B73FE79D205E}" dt="2022-08-26T12:18:42.457" v="86" actId="478"/>
          <ac:picMkLst>
            <pc:docMk/>
            <pc:sldMk cId="3724901676" sldId="584"/>
            <ac:picMk id="2" creationId="{6A92C486-1479-6B45-8ED1-F1D3F5496B86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0:09.055" v="103" actId="478"/>
        <pc:sldMkLst>
          <pc:docMk/>
          <pc:sldMk cId="783253153" sldId="585"/>
        </pc:sldMkLst>
        <pc:picChg chg="del">
          <ac:chgData name="Zhang, Zhongming" userId="57b61de0-a4db-46da-bbdf-d2c5d7242f33" providerId="ADAL" clId="{0FBE1328-BDC6-4348-82D1-B73FE79D205E}" dt="2022-08-26T12:20:09.055" v="103" actId="478"/>
          <ac:picMkLst>
            <pc:docMk/>
            <pc:sldMk cId="783253153" sldId="585"/>
            <ac:picMk id="4" creationId="{2D1B1744-4ADC-944F-9032-CA3388E5C493}"/>
          </ac:picMkLst>
        </pc:picChg>
      </pc:sldChg>
      <pc:sldChg chg="delSp modSp mod delAnim">
        <pc:chgData name="Zhang, Zhongming" userId="57b61de0-a4db-46da-bbdf-d2c5d7242f33" providerId="ADAL" clId="{0FBE1328-BDC6-4348-82D1-B73FE79D205E}" dt="2022-08-26T12:30:38.752" v="237" actId="20577"/>
        <pc:sldMkLst>
          <pc:docMk/>
          <pc:sldMk cId="4093954590" sldId="588"/>
        </pc:sldMkLst>
        <pc:spChg chg="mod">
          <ac:chgData name="Zhang, Zhongming" userId="57b61de0-a4db-46da-bbdf-d2c5d7242f33" providerId="ADAL" clId="{0FBE1328-BDC6-4348-82D1-B73FE79D205E}" dt="2022-08-26T12:30:38.752" v="237" actId="20577"/>
          <ac:spMkLst>
            <pc:docMk/>
            <pc:sldMk cId="4093954590" sldId="588"/>
            <ac:spMk id="8" creationId="{00000000-0000-0000-0000-000000000000}"/>
          </ac:spMkLst>
        </pc:spChg>
        <pc:picChg chg="del">
          <ac:chgData name="Zhang, Zhongming" userId="57b61de0-a4db-46da-bbdf-d2c5d7242f33" providerId="ADAL" clId="{0FBE1328-BDC6-4348-82D1-B73FE79D205E}" dt="2022-08-26T12:18:52.688" v="88" actId="478"/>
          <ac:picMkLst>
            <pc:docMk/>
            <pc:sldMk cId="4093954590" sldId="588"/>
            <ac:picMk id="3" creationId="{BCB90B51-3C29-E246-ABE8-529F0C68E44B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07.202" v="90" actId="478"/>
        <pc:sldMkLst>
          <pc:docMk/>
          <pc:sldMk cId="1492109044" sldId="589"/>
        </pc:sldMkLst>
        <pc:picChg chg="del">
          <ac:chgData name="Zhang, Zhongming" userId="57b61de0-a4db-46da-bbdf-d2c5d7242f33" providerId="ADAL" clId="{0FBE1328-BDC6-4348-82D1-B73FE79D205E}" dt="2022-08-26T12:19:07.202" v="90" actId="478"/>
          <ac:picMkLst>
            <pc:docMk/>
            <pc:sldMk cId="1492109044" sldId="589"/>
            <ac:picMk id="5" creationId="{6B6E8C85-56DE-6C45-A815-848DED69B3E3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9:29.699" v="94" actId="478"/>
        <pc:sldMkLst>
          <pc:docMk/>
          <pc:sldMk cId="3231638480" sldId="590"/>
        </pc:sldMkLst>
        <pc:picChg chg="del">
          <ac:chgData name="Zhang, Zhongming" userId="57b61de0-a4db-46da-bbdf-d2c5d7242f33" providerId="ADAL" clId="{0FBE1328-BDC6-4348-82D1-B73FE79D205E}" dt="2022-08-26T12:19:29.699" v="94" actId="478"/>
          <ac:picMkLst>
            <pc:docMk/>
            <pc:sldMk cId="3231638480" sldId="590"/>
            <ac:picMk id="3" creationId="{30CE568E-15D2-CD42-BBF9-BB882E95165C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18:59.983" v="89" actId="478"/>
        <pc:sldMkLst>
          <pc:docMk/>
          <pc:sldMk cId="1017499666" sldId="591"/>
        </pc:sldMkLst>
        <pc:picChg chg="del">
          <ac:chgData name="Zhang, Zhongming" userId="57b61de0-a4db-46da-bbdf-d2c5d7242f33" providerId="ADAL" clId="{0FBE1328-BDC6-4348-82D1-B73FE79D205E}" dt="2022-08-26T12:18:59.983" v="89" actId="478"/>
          <ac:picMkLst>
            <pc:docMk/>
            <pc:sldMk cId="1017499666" sldId="591"/>
            <ac:picMk id="4" creationId="{523C3FEF-BBDD-B34C-968F-0221A0E966F7}"/>
          </ac:picMkLst>
        </pc:picChg>
      </pc:sldChg>
      <pc:sldChg chg="delSp mod delAnim">
        <pc:chgData name="Zhang, Zhongming" userId="57b61de0-a4db-46da-bbdf-d2c5d7242f33" providerId="ADAL" clId="{0FBE1328-BDC6-4348-82D1-B73FE79D205E}" dt="2022-08-26T12:21:13.179" v="118" actId="478"/>
        <pc:sldMkLst>
          <pc:docMk/>
          <pc:sldMk cId="1149252610" sldId="593"/>
        </pc:sldMkLst>
        <pc:picChg chg="del">
          <ac:chgData name="Zhang, Zhongming" userId="57b61de0-a4db-46da-bbdf-d2c5d7242f33" providerId="ADAL" clId="{0FBE1328-BDC6-4348-82D1-B73FE79D205E}" dt="2022-08-26T12:21:13.179" v="118" actId="478"/>
          <ac:picMkLst>
            <pc:docMk/>
            <pc:sldMk cId="1149252610" sldId="593"/>
            <ac:picMk id="13" creationId="{BE1BD97E-3D19-C747-8FFB-0A89560D14D5}"/>
          </ac:picMkLst>
        </pc:picChg>
      </pc:sldChg>
    </pc:docChg>
  </pc:docChgLst>
  <pc:docChgLst>
    <pc:chgData name="Zhang, Zhongming" userId="57b61de0-a4db-46da-bbdf-d2c5d7242f33" providerId="ADAL" clId="{DCBF1577-AED8-E341-9438-0F830A6A020F}"/>
    <pc:docChg chg="modSld">
      <pc:chgData name="Zhang, Zhongming" userId="57b61de0-a4db-46da-bbdf-d2c5d7242f33" providerId="ADAL" clId="{DCBF1577-AED8-E341-9438-0F830A6A020F}" dt="2022-10-24T10:25:01.207" v="1" actId="1076"/>
      <pc:docMkLst>
        <pc:docMk/>
      </pc:docMkLst>
      <pc:sldChg chg="modSp">
        <pc:chgData name="Zhang, Zhongming" userId="57b61de0-a4db-46da-bbdf-d2c5d7242f33" providerId="ADAL" clId="{DCBF1577-AED8-E341-9438-0F830A6A020F}" dt="2022-10-24T10:25:01.207" v="1" actId="1076"/>
        <pc:sldMkLst>
          <pc:docMk/>
          <pc:sldMk cId="1149252610" sldId="593"/>
        </pc:sldMkLst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199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0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1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2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3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4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4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4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5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6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7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8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09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0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1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2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3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4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5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6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7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8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19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0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1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2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3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4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5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6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7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8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29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0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1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1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1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1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2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2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3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3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4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5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6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7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8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39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0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1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2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3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4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5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6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1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2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3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4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5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6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7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8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79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80" creationId="{00000000-0000-0000-0000-000000000000}"/>
          </ac:spMkLst>
        </pc:spChg>
        <pc:spChg chg="mod">
          <ac:chgData name="Zhang, Zhongming" userId="57b61de0-a4db-46da-bbdf-d2c5d7242f33" providerId="ADAL" clId="{DCBF1577-AED8-E341-9438-0F830A6A020F}" dt="2022-10-24T10:25:01.207" v="1" actId="1076"/>
          <ac:spMkLst>
            <pc:docMk/>
            <pc:sldMk cId="1149252610" sldId="593"/>
            <ac:spMk id="42481" creationId="{00000000-0000-0000-0000-000000000000}"/>
          </ac:spMkLst>
        </pc:s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2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4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5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6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7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8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41990" creationId="{00000000-0000-0000-0000-000000000000}"/>
          </ac:grpSpMkLst>
        </pc:grpChg>
        <pc:grpChg chg="mod">
          <ac:chgData name="Zhang, Zhongming" userId="57b61de0-a4db-46da-bbdf-d2c5d7242f33" providerId="ADAL" clId="{DCBF1577-AED8-E341-9438-0F830A6A020F}" dt="2022-10-24T10:25:01.207" v="1" actId="1076"/>
          <ac:grpSpMkLst>
            <pc:docMk/>
            <pc:sldMk cId="1149252610" sldId="593"/>
            <ac:grpSpMk id="41991" creationId="{00000000-0000-0000-0000-000000000000}"/>
          </ac:grpSpMkLst>
        </pc:grpChg>
        <pc:cxnChg chg="mod">
          <ac:chgData name="Zhang, Zhongming" userId="57b61de0-a4db-46da-bbdf-d2c5d7242f33" providerId="ADAL" clId="{DCBF1577-AED8-E341-9438-0F830A6A020F}" dt="2022-10-24T10:25:01.207" v="1" actId="1076"/>
          <ac:cxnSpMkLst>
            <pc:docMk/>
            <pc:sldMk cId="1149252610" sldId="593"/>
            <ac:cxnSpMk id="11" creationId="{B57A9477-31BB-7549-9CCE-AFFB9758848F}"/>
          </ac:cxnSpMkLst>
        </pc:cxnChg>
        <pc:cxnChg chg="mod">
          <ac:chgData name="Zhang, Zhongming" userId="57b61de0-a4db-46da-bbdf-d2c5d7242f33" providerId="ADAL" clId="{DCBF1577-AED8-E341-9438-0F830A6A020F}" dt="2022-10-24T10:25:01.207" v="1" actId="1076"/>
          <ac:cxnSpMkLst>
            <pc:docMk/>
            <pc:sldMk cId="1149252610" sldId="593"/>
            <ac:cxnSpMk id="465" creationId="{8D410B74-E4B7-2643-9559-64A9974794BA}"/>
          </ac:cxnSpMkLst>
        </pc:cxnChg>
        <pc:cxnChg chg="mod">
          <ac:chgData name="Zhang, Zhongming" userId="57b61de0-a4db-46da-bbdf-d2c5d7242f33" providerId="ADAL" clId="{DCBF1577-AED8-E341-9438-0F830A6A020F}" dt="2022-10-24T10:25:01.207" v="1" actId="1076"/>
          <ac:cxnSpMkLst>
            <pc:docMk/>
            <pc:sldMk cId="1149252610" sldId="593"/>
            <ac:cxnSpMk id="467" creationId="{935041BD-8502-F546-9843-11A6C9719E0D}"/>
          </ac:cxnSpMkLst>
        </pc:cxnChg>
        <pc:cxnChg chg="mod">
          <ac:chgData name="Zhang, Zhongming" userId="57b61de0-a4db-46da-bbdf-d2c5d7242f33" providerId="ADAL" clId="{DCBF1577-AED8-E341-9438-0F830A6A020F}" dt="2022-10-24T10:25:01.207" v="1" actId="1076"/>
          <ac:cxnSpMkLst>
            <pc:docMk/>
            <pc:sldMk cId="1149252610" sldId="593"/>
            <ac:cxnSpMk id="469" creationId="{0C7B7C0C-F467-5E49-94B0-3BB8F7FA991B}"/>
          </ac:cxnSpMkLst>
        </pc:cxnChg>
        <pc:cxnChg chg="mod">
          <ac:chgData name="Zhang, Zhongming" userId="57b61de0-a4db-46da-bbdf-d2c5d7242f33" providerId="ADAL" clId="{DCBF1577-AED8-E341-9438-0F830A6A020F}" dt="2022-10-24T10:25:01.207" v="1" actId="1076"/>
          <ac:cxnSpMkLst>
            <pc:docMk/>
            <pc:sldMk cId="1149252610" sldId="593"/>
            <ac:cxnSpMk id="470" creationId="{FE76E84F-A24C-2A49-9E2D-66BED1637819}"/>
          </ac:cxnSpMkLst>
        </pc:cxnChg>
      </pc:sldChg>
    </pc:docChg>
  </pc:docChgLst>
  <pc:docChgLst>
    <pc:chgData name="Zhang, Zhongming" userId="57b61de0-a4db-46da-bbdf-d2c5d7242f33" providerId="ADAL" clId="{CA4ADF7B-EBBD-9A44-B940-5542A877B1CD}"/>
    <pc:docChg chg="custSel modSld">
      <pc:chgData name="Zhang, Zhongming" userId="57b61de0-a4db-46da-bbdf-d2c5d7242f33" providerId="ADAL" clId="{CA4ADF7B-EBBD-9A44-B940-5542A877B1CD}" dt="2024-10-22T07:03:22.552" v="0" actId="478"/>
      <pc:docMkLst>
        <pc:docMk/>
      </pc:docMkLst>
      <pc:sldChg chg="delSp mod delAnim">
        <pc:chgData name="Zhang, Zhongming" userId="57b61de0-a4db-46da-bbdf-d2c5d7242f33" providerId="ADAL" clId="{CA4ADF7B-EBBD-9A44-B940-5542A877B1CD}" dt="2024-10-22T07:03:22.552" v="0" actId="478"/>
        <pc:sldMkLst>
          <pc:docMk/>
          <pc:sldMk cId="3686584580" sldId="548"/>
        </pc:sldMkLst>
        <pc:picChg chg="del">
          <ac:chgData name="Zhang, Zhongming" userId="57b61de0-a4db-46da-bbdf-d2c5d7242f33" providerId="ADAL" clId="{CA4ADF7B-EBBD-9A44-B940-5542A877B1CD}" dt="2024-10-22T07:03:22.552" v="0" actId="478"/>
          <ac:picMkLst>
            <pc:docMk/>
            <pc:sldMk cId="3686584580" sldId="548"/>
            <ac:picMk id="8" creationId="{774C7DF7-227D-FF43-9058-4D8E9D86C0E7}"/>
          </ac:picMkLst>
        </pc:picChg>
      </pc:sldChg>
    </pc:docChg>
  </pc:docChgLst>
  <pc:docChgLst>
    <pc:chgData name="Zhang, Zhongming" userId="57b61de0-a4db-46da-bbdf-d2c5d7242f33" providerId="ADAL" clId="{280F6074-63D2-2A48-95D4-8A5BA634D5BD}"/>
    <pc:docChg chg="modSld">
      <pc:chgData name="Zhang, Zhongming" userId="57b61de0-a4db-46da-bbdf-d2c5d7242f33" providerId="ADAL" clId="{280F6074-63D2-2A48-95D4-8A5BA634D5BD}" dt="2024-08-24T13:34:21.788" v="27" actId="20577"/>
      <pc:docMkLst>
        <pc:docMk/>
      </pc:docMkLst>
      <pc:sldChg chg="modSp mod">
        <pc:chgData name="Zhang, Zhongming" userId="57b61de0-a4db-46da-bbdf-d2c5d7242f33" providerId="ADAL" clId="{280F6074-63D2-2A48-95D4-8A5BA634D5BD}" dt="2024-08-24T13:34:21.788" v="27" actId="20577"/>
        <pc:sldMkLst>
          <pc:docMk/>
          <pc:sldMk cId="0" sldId="256"/>
        </pc:sldMkLst>
        <pc:spChg chg="mod">
          <ac:chgData name="Zhang, Zhongming" userId="57b61de0-a4db-46da-bbdf-d2c5d7242f33" providerId="ADAL" clId="{280F6074-63D2-2A48-95D4-8A5BA634D5BD}" dt="2024-08-24T13:34:21.788" v="27" actId="20577"/>
          <ac:spMkLst>
            <pc:docMk/>
            <pc:sldMk cId="0" sldId="256"/>
            <ac:spMk id="11" creationId="{EFCD99AF-5675-1D4C-9E87-B98AFCA7B139}"/>
          </ac:spMkLst>
        </pc:spChg>
      </pc:sldChg>
      <pc:sldChg chg="modSp mod">
        <pc:chgData name="Zhang, Zhongming" userId="57b61de0-a4db-46da-bbdf-d2c5d7242f33" providerId="ADAL" clId="{280F6074-63D2-2A48-95D4-8A5BA634D5BD}" dt="2024-08-24T13:34:11.945" v="23" actId="20577"/>
        <pc:sldMkLst>
          <pc:docMk/>
          <pc:sldMk cId="4093954590" sldId="588"/>
        </pc:sldMkLst>
        <pc:spChg chg="mod">
          <ac:chgData name="Zhang, Zhongming" userId="57b61de0-a4db-46da-bbdf-d2c5d7242f33" providerId="ADAL" clId="{280F6074-63D2-2A48-95D4-8A5BA634D5BD}" dt="2024-08-24T13:34:11.945" v="23" actId="20577"/>
          <ac:spMkLst>
            <pc:docMk/>
            <pc:sldMk cId="4093954590" sldId="588"/>
            <ac:spMk id="8" creationId="{00000000-0000-0000-0000-000000000000}"/>
          </ac:spMkLst>
        </pc:spChg>
      </pc:sldChg>
    </pc:docChg>
  </pc:docChgLst>
  <pc:docChgLst>
    <pc:chgData name="Hasan" userId="c822c386-02ec-452f-9f8e-99a5f765bc4f" providerId="ADAL" clId="{C1AD1E90-A4AD-43F7-91F9-2EC63CE481A1}"/>
    <pc:docChg chg="delSld modSld">
      <pc:chgData name="Hasan" userId="c822c386-02ec-452f-9f8e-99a5f765bc4f" providerId="ADAL" clId="{C1AD1E90-A4AD-43F7-91F9-2EC63CE481A1}" dt="2021-09-05T15:02:07.053" v="37" actId="20577"/>
      <pc:docMkLst>
        <pc:docMk/>
      </pc:docMkLst>
      <pc:sldChg chg="modSp mod">
        <pc:chgData name="Hasan" userId="c822c386-02ec-452f-9f8e-99a5f765bc4f" providerId="ADAL" clId="{C1AD1E90-A4AD-43F7-91F9-2EC63CE481A1}" dt="2021-09-05T15:02:07.053" v="37" actId="20577"/>
        <pc:sldMkLst>
          <pc:docMk/>
          <pc:sldMk cId="3788311144" sldId="572"/>
        </pc:sldMkLst>
        <pc:graphicFrameChg chg="modGraphic">
          <ac:chgData name="Hasan" userId="c822c386-02ec-452f-9f8e-99a5f765bc4f" providerId="ADAL" clId="{C1AD1E90-A4AD-43F7-91F9-2EC63CE481A1}" dt="2021-09-05T15:02:07.053" v="37" actId="20577"/>
          <ac:graphicFrameMkLst>
            <pc:docMk/>
            <pc:sldMk cId="3788311144" sldId="572"/>
            <ac:graphicFrameMk id="3" creationId="{49E29B8F-8680-7448-B933-D5D971D23D49}"/>
          </ac:graphicFrameMkLst>
        </pc:graphicFrameChg>
      </pc:sldChg>
      <pc:sldChg chg="del">
        <pc:chgData name="Hasan" userId="c822c386-02ec-452f-9f8e-99a5f765bc4f" providerId="ADAL" clId="{C1AD1E90-A4AD-43F7-91F9-2EC63CE481A1}" dt="2021-09-05T14:59:37.302" v="0" actId="47"/>
        <pc:sldMkLst>
          <pc:docMk/>
          <pc:sldMk cId="3729116240" sldId="594"/>
        </pc:sldMkLst>
      </pc:sldChg>
      <pc:sldChg chg="del">
        <pc:chgData name="Hasan" userId="c822c386-02ec-452f-9f8e-99a5f765bc4f" providerId="ADAL" clId="{C1AD1E90-A4AD-43F7-91F9-2EC63CE481A1}" dt="2021-09-05T14:59:56.112" v="1" actId="47"/>
        <pc:sldMkLst>
          <pc:docMk/>
          <pc:sldMk cId="2896522222" sldId="5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311DD20-E6A3-443B-A927-6F15C1E15287}" type="datetimeFigureOut">
              <a:rPr lang="de-DE" smtClean="0"/>
              <a:t>22.10.24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2E20C56-BB2A-47DD-81E5-84B81C0F13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268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337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Common design flows for different IC types: </a:t>
            </a:r>
          </a:p>
          <a:p>
            <a:endParaRPr lang="en-GB" dirty="0"/>
          </a:p>
          <a:p>
            <a:pPr marL="228600" indent="-228600">
              <a:buAutoNum type="alphaLcParenR"/>
            </a:pPr>
            <a:r>
              <a:rPr lang="en-GB" dirty="0"/>
              <a:t>Digital designers first create a desired circuit</a:t>
            </a:r>
          </a:p>
          <a:p>
            <a:pPr marL="228600" indent="-228600">
              <a:buAutoNum type="alphaLcParenR"/>
            </a:pPr>
            <a:r>
              <a:rPr lang="en-GB" dirty="0"/>
              <a:t>Some IC types, like full-custom ICs or ASICs, involve manufacturing a new IC, requiring millions of dollars and many months</a:t>
            </a:r>
          </a:p>
          <a:p>
            <a:pPr marL="228600" indent="-228600">
              <a:buAutoNum type="alphaLcParenR"/>
            </a:pPr>
            <a:r>
              <a:rPr lang="en-GB" dirty="0"/>
              <a:t>A programmable IC type is pre-made and available off-the-shelf, costing tens of dollars and requiring just minutes, but resulting in bigger and slower circuit implementations.</a:t>
            </a:r>
          </a:p>
          <a:p>
            <a:pPr marL="228600" indent="-228600">
              <a:buAutoNum type="alphaLcParenR"/>
            </a:pPr>
            <a:endParaRPr lang="en-GB" dirty="0"/>
          </a:p>
          <a:p>
            <a:pPr marL="228600" indent="-228600">
              <a:buAutoNum type="alphaLcParenR"/>
            </a:pPr>
            <a:r>
              <a:rPr lang="en-GB" dirty="0"/>
              <a:t>Introduce dark room motion sensor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54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12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6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 about an in the dark motion sensor, the detector is the digital system (discuss)</a:t>
            </a:r>
          </a:p>
          <a:p>
            <a:endParaRPr lang="en-GB" dirty="0"/>
          </a:p>
          <a:p>
            <a:r>
              <a:rPr lang="en-GB" dirty="0"/>
              <a:t>MPU – Microprocessor unit is an IC which has only a Central Processing Unit (CPU)</a:t>
            </a:r>
          </a:p>
          <a:p>
            <a:r>
              <a:rPr lang="en-GB" dirty="0"/>
              <a:t>MCU – Microcontroller unit has an IC (like a MPU) as well as ROM, RAM and other peripherals on the same chip</a:t>
            </a:r>
          </a:p>
          <a:p>
            <a:endParaRPr lang="en-GB" dirty="0"/>
          </a:p>
          <a:p>
            <a:r>
              <a:rPr lang="en-GB" dirty="0"/>
              <a:t>MPU differ in performance, cost, power and other metrics.</a:t>
            </a:r>
          </a:p>
          <a:p>
            <a:endParaRPr lang="en-GB" dirty="0"/>
          </a:p>
          <a:p>
            <a:r>
              <a:rPr lang="en-GB" dirty="0"/>
              <a:t>MPU – Good option </a:t>
            </a:r>
          </a:p>
          <a:p>
            <a:r>
              <a:rPr lang="en-GB" dirty="0"/>
              <a:t>	readily available </a:t>
            </a:r>
          </a:p>
          <a:p>
            <a:r>
              <a:rPr lang="en-GB" dirty="0"/>
              <a:t>	inexpensive</a:t>
            </a:r>
          </a:p>
          <a:p>
            <a:r>
              <a:rPr lang="en-GB" dirty="0"/>
              <a:t>	easy to program</a:t>
            </a:r>
          </a:p>
          <a:p>
            <a:r>
              <a:rPr lang="en-GB" dirty="0"/>
              <a:t>	easy to reprogram</a:t>
            </a:r>
          </a:p>
          <a:p>
            <a:r>
              <a:rPr lang="en-GB" dirty="0"/>
              <a:t>MPU – the limit (aren’t good enough)</a:t>
            </a:r>
          </a:p>
          <a:p>
            <a:r>
              <a:rPr lang="en-GB" dirty="0"/>
              <a:t>	too slow (one or few instructions at a time), custom digital circuits can execute hundreds or thousands of computations in parallel</a:t>
            </a:r>
          </a:p>
          <a:p>
            <a:r>
              <a:rPr lang="en-GB" dirty="0"/>
              <a:t>	too big</a:t>
            </a:r>
          </a:p>
          <a:p>
            <a:r>
              <a:rPr lang="en-GB" dirty="0"/>
              <a:t>	consume too much power</a:t>
            </a:r>
          </a:p>
          <a:p>
            <a:r>
              <a:rPr lang="en-GB" dirty="0"/>
              <a:t>	too costly</a:t>
            </a:r>
          </a:p>
          <a:p>
            <a:r>
              <a:rPr lang="en-GB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200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14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0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16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17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73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18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Programmable Logic Devices (PLDs)</a:t>
            </a:r>
          </a:p>
          <a:p>
            <a:pPr eaLnBrk="1" hangingPunct="1"/>
            <a:r>
              <a:rPr lang="en-US" dirty="0"/>
              <a:t>	Simple Programmable Logic Device (SPLD)</a:t>
            </a:r>
          </a:p>
          <a:p>
            <a:pPr lvl="2" eaLnBrk="1" hangingPunct="1"/>
            <a:r>
              <a:rPr lang="en-US" dirty="0"/>
              <a:t>	Programmable Array Logic (PAL)</a:t>
            </a:r>
          </a:p>
          <a:p>
            <a:pPr lvl="2" eaLnBrk="1" hangingPunct="1"/>
            <a:r>
              <a:rPr lang="en-US" dirty="0"/>
              <a:t>	Programmable Logic Array (PLA)</a:t>
            </a:r>
          </a:p>
          <a:p>
            <a:pPr eaLnBrk="1" hangingPunct="1"/>
            <a:r>
              <a:rPr lang="en-US" dirty="0"/>
              <a:t>	Complex Programmable Logic Device (CPLD)</a:t>
            </a:r>
          </a:p>
          <a:p>
            <a:pPr eaLnBrk="1" hangingPunct="1"/>
            <a:r>
              <a:rPr lang="en-US" dirty="0"/>
              <a:t>	Field Programmable Gate Array (FPGA)</a:t>
            </a:r>
          </a:p>
        </p:txBody>
      </p:sp>
    </p:spTree>
    <p:extLst>
      <p:ext uri="{BB962C8B-B14F-4D97-AF65-F5344CB8AC3E}">
        <p14:creationId xmlns:p14="http://schemas.microsoft.com/office/powerpoint/2010/main" val="424530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361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22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97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26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17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 : D flip-flop acts as memory, i.e. outputs the value on D when the clock is high, output Q remains unchanged until input D changes AND clock transitions high or is already high.</a:t>
            </a:r>
          </a:p>
          <a:p>
            <a:endParaRPr lang="en-GB" dirty="0"/>
          </a:p>
          <a:p>
            <a:r>
              <a:rPr lang="en-GB" dirty="0"/>
              <a:t>‘Select’ gives choice of asynchronous or synchronous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406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154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30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5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When designing a digital circuit, physically implementing a circuit on an IC presents designers with numerous trade-offs among design metrics – Performance, size, power, cost and time to availability.</a:t>
            </a:r>
          </a:p>
          <a:p>
            <a:endParaRPr lang="en-GB"/>
          </a:p>
          <a:p>
            <a:r>
              <a:rPr lang="en-GB"/>
              <a:t>Fig. Trade-offs among various IC types. Sample values for various metrics are also shown. E.g.  Performance for an SPLD/CPLD might be 0.05 GHz, but 3 GHz for a standard cell ASIC. Actual values can vary from those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212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695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One-time programmable (OTP) memory is a type of non-volatile memory (NVM) that commonly comprises of electrical fuse (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eFuse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</a:t>
            </a:r>
            <a:r>
              <a:rPr lang="en-GB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antifuse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advantages of OTP memory over multi-time programmable (MTP) memory, such as EEPROM or flash memory, are smaller area and no additional wafer processing steps. Therefore, for many low-cost applications, the OTP memory is used to replace the MTP memory.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9724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163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2"/>
          <p:cNvSpPr>
            <a:spLocks noChangeShapeType="1"/>
          </p:cNvSpPr>
          <p:nvPr userDrawn="1"/>
        </p:nvSpPr>
        <p:spPr bwMode="auto">
          <a:xfrm>
            <a:off x="460375" y="476250"/>
            <a:ext cx="82232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460375" y="2457450"/>
            <a:ext cx="822325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0375" y="534988"/>
            <a:ext cx="8223250" cy="1044575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0375" y="1754188"/>
            <a:ext cx="8223250" cy="53975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Picture 2" descr="C:\Backup\Lancaster University\Templates\scitech_logo_27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D8DBFA-909A-DF42-BAF7-E6C472B564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4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90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0375" y="1773238"/>
            <a:ext cx="4035425" cy="4092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35425" cy="4092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0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78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59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36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192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99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59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7813" y="382588"/>
            <a:ext cx="2055812" cy="54832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0375" y="382588"/>
            <a:ext cx="6015038" cy="54832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091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70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07253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957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0375" y="1906588"/>
            <a:ext cx="4035425" cy="3959225"/>
          </a:xfrm>
        </p:spPr>
        <p:txBody>
          <a:bodyPr/>
          <a:lstStyle>
            <a:lvl1pPr>
              <a:buClr>
                <a:srgbClr val="00B050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06588"/>
            <a:ext cx="4035425" cy="3959225"/>
          </a:xfrm>
        </p:spPr>
        <p:txBody>
          <a:bodyPr/>
          <a:lstStyle>
            <a:lvl1pPr>
              <a:buClr>
                <a:srgbClr val="00B050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595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rgbClr val="00B050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00B050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10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553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573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8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Clr>
                <a:srgbClr val="00B050"/>
              </a:buCl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641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923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0014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7813" y="534988"/>
            <a:ext cx="2055812" cy="53308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0375" y="534988"/>
            <a:ext cx="6015038" cy="5330825"/>
          </a:xfrm>
        </p:spPr>
        <p:txBody>
          <a:bodyPr vert="eaVert"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791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382588"/>
            <a:ext cx="82232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773238"/>
            <a:ext cx="8223250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Picture 2" descr="C:\Backup\Lancaster University\Templates\scitech_logo_275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105E2-302B-AF4B-B8E9-2720EFFE4C8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lr>
          <a:schemeClr val="tx2"/>
        </a:buClr>
        <a:buFont typeface="Wingdings" pitchFamily="1" charset="2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6700" algn="l" rtl="0" eaLnBrk="0" fontAlgn="base" hangingPunct="0">
        <a:spcBef>
          <a:spcPct val="0"/>
        </a:spcBef>
        <a:spcAft>
          <a:spcPct val="40000"/>
        </a:spcAft>
        <a:buClr>
          <a:srgbClr val="FF0000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2pPr>
      <a:lvl3pPr marL="531813" indent="-26193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3pPr>
      <a:lvl4pPr marL="800100" indent="-266700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4pPr>
      <a:lvl5pPr marL="1079500" indent="-277813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5pPr>
      <a:lvl6pPr marL="15367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6pPr>
      <a:lvl7pPr marL="19939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7pPr>
      <a:lvl8pPr marL="24511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8pPr>
      <a:lvl9pPr marL="29083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906588"/>
            <a:ext cx="822325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54" name="Line 7"/>
          <p:cNvSpPr>
            <a:spLocks noChangeShapeType="1"/>
          </p:cNvSpPr>
          <p:nvPr/>
        </p:nvSpPr>
        <p:spPr bwMode="auto">
          <a:xfrm>
            <a:off x="460375" y="1601788"/>
            <a:ext cx="822325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460375" y="476250"/>
            <a:ext cx="82232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69634" name="Picture 2" descr="C:\Backup\Lancaster University\Templates\scitech_logo_275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357FE5-762B-0447-9197-B26B473D62F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9pPr>
    </p:titleStyle>
    <p:bodyStyle>
      <a:lvl1pPr marL="268288" indent="-268288" algn="l" rtl="0" eaLnBrk="0" fontAlgn="base" hangingPunct="0">
        <a:spcBef>
          <a:spcPct val="0"/>
        </a:spcBef>
        <a:spcAft>
          <a:spcPct val="40000"/>
        </a:spcAft>
        <a:buClr>
          <a:srgbClr val="FF0000"/>
        </a:buClr>
        <a:buFont typeface="Wingdings" pitchFamily="1" charset="2"/>
        <a:buChar char="n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1219200" indent="-234950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2pPr>
      <a:lvl3pPr marL="1644650" indent="-246063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3pPr>
      <a:lvl4pPr marL="2066925" indent="-24288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4pPr>
      <a:lvl5pPr marL="2489200" indent="-24288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5pPr>
      <a:lvl6pPr marL="29464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6pPr>
      <a:lvl7pPr marL="34036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7pPr>
      <a:lvl8pPr marL="38608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8pPr>
      <a:lvl9pPr marL="43180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211.png"/><Relationship Id="rId5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2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</a:t>
            </a:fld>
            <a:endParaRPr lang="de-DE" dirty="0"/>
          </a:p>
        </p:txBody>
      </p:sp>
      <p:pic>
        <p:nvPicPr>
          <p:cNvPr id="8" name="Picture 6" descr="http://4.bp.blogspot.com/-PI_-NJNOn60/TmEqROo13lI/AAAAAAAAAN8/0iOW3EG9WnA/s1600/7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25" y="971622"/>
            <a:ext cx="2124000" cy="1192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756" y="523356"/>
            <a:ext cx="2279223" cy="1959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585" y="3971511"/>
            <a:ext cx="2732244" cy="1979887"/>
          </a:xfrm>
          <a:prstGeom prst="rect">
            <a:avLst/>
          </a:prstGeom>
        </p:spPr>
      </p:pic>
      <p:sp>
        <p:nvSpPr>
          <p:cNvPr id="10" name="Plus 9"/>
          <p:cNvSpPr/>
          <p:nvPr/>
        </p:nvSpPr>
        <p:spPr>
          <a:xfrm>
            <a:off x="4115506" y="1567956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Striped Right Arrow 11"/>
          <p:cNvSpPr/>
          <p:nvPr/>
        </p:nvSpPr>
        <p:spPr>
          <a:xfrm rot="5400000">
            <a:off x="4196389" y="3109230"/>
            <a:ext cx="752635" cy="50598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603895" y="2411185"/>
            <a:ext cx="2885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Any logic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756" y="2411186"/>
            <a:ext cx="3186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Any processing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1887" y="5394125"/>
            <a:ext cx="1130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FPGA</a:t>
            </a:r>
          </a:p>
        </p:txBody>
      </p:sp>
    </p:spTree>
    <p:extLst>
      <p:ext uri="{BB962C8B-B14F-4D97-AF65-F5344CB8AC3E}">
        <p14:creationId xmlns:p14="http://schemas.microsoft.com/office/powerpoint/2010/main" val="372490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13"/>
    </mc:Choice>
    <mc:Fallback xmlns="">
      <p:transition spd="slow" advTm="105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EFCD99AF-5675-1D4C-9E87-B98AFCA7B139}"/>
              </a:ext>
            </a:extLst>
          </p:cNvPr>
          <p:cNvSpPr txBox="1">
            <a:spLocks/>
          </p:cNvSpPr>
          <p:nvPr/>
        </p:nvSpPr>
        <p:spPr bwMode="auto">
          <a:xfrm>
            <a:off x="1371600" y="3276701"/>
            <a:ext cx="6400800" cy="243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tx2"/>
              </a:buClr>
              <a:buFont typeface="Wingdings" pitchFamily="1" charset="2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531813" indent="-26193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800100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1079500" indent="-27781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15367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19939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24511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29083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Dr </a:t>
            </a:r>
            <a:r>
              <a:rPr lang="en-US" sz="2400" b="1" kern="0" dirty="0" err="1">
                <a:solidFill>
                  <a:schemeClr val="bg1">
                    <a:lumMod val="50000"/>
                  </a:schemeClr>
                </a:solidFill>
              </a:rPr>
              <a:t>Zhongming</a:t>
            </a:r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 Zhang</a:t>
            </a:r>
          </a:p>
          <a:p>
            <a:pPr algn="ctr"/>
            <a:endParaRPr lang="en-US" sz="2400" kern="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kern="0" dirty="0">
                <a:solidFill>
                  <a:schemeClr val="bg1">
                    <a:lumMod val="50000"/>
                  </a:schemeClr>
                </a:solidFill>
              </a:rPr>
              <a:t>School of Engineering</a:t>
            </a:r>
          </a:p>
          <a:p>
            <a:pPr algn="ctr"/>
            <a:r>
              <a:rPr lang="en-US" sz="2400" kern="0" dirty="0">
                <a:solidFill>
                  <a:schemeClr val="bg1">
                    <a:lumMod val="50000"/>
                  </a:schemeClr>
                </a:solidFill>
              </a:rPr>
              <a:t>Lancaster University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E0EA773-7867-0142-8630-EDF536D41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535319"/>
            <a:ext cx="8223250" cy="106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pPr algn="ctr" eaLnBrk="1" hangingPunct="1"/>
            <a:r>
              <a:rPr lang="de-DE" kern="0"/>
              <a:t>CNENGR 228</a:t>
            </a:r>
            <a:br>
              <a:rPr lang="de-DE" kern="0"/>
            </a:br>
            <a:r>
              <a:rPr lang="de-DE" kern="0"/>
              <a:t>Digital Electronics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D01DE07-8DF1-FF4D-B79A-D333221D2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0375" y="1601412"/>
            <a:ext cx="8223250" cy="913794"/>
          </a:xfrm>
        </p:spPr>
        <p:txBody>
          <a:bodyPr/>
          <a:lstStyle/>
          <a:p>
            <a:pPr algn="ctr">
              <a:spcAft>
                <a:spcPts val="0"/>
              </a:spcAft>
            </a:pPr>
            <a:r>
              <a:rPr lang="en-GB" sz="2400" b="1"/>
              <a:t>Lecture</a:t>
            </a:r>
            <a:r>
              <a:rPr lang="de-DE" sz="2400" b="1"/>
              <a:t> 1 </a:t>
            </a:r>
            <a:r>
              <a:rPr lang="en-GB" sz="2400" b="1" kern="1200">
                <a:latin typeface="Frutiger LT Com 55 Roman" pitchFamily="1" charset="0"/>
              </a:rPr>
              <a:t>– Course Introduction &amp; </a:t>
            </a:r>
          </a:p>
          <a:p>
            <a:pPr algn="ctr"/>
            <a:r>
              <a:rPr lang="en-GB" sz="2400" b="1" kern="1200">
                <a:latin typeface="Frutiger LT Com 55 Roman" pitchFamily="1" charset="0"/>
              </a:rPr>
              <a:t>Digital System Design Strategies</a:t>
            </a:r>
            <a:endParaRPr lang="en-GB" sz="2200" b="1"/>
          </a:p>
          <a:p>
            <a:endParaRPr lang="en-GB" sz="2400" b="1" kern="1200">
              <a:latin typeface="Frutiger LT Com 55 Roman" pitchFamily="1" charset="0"/>
            </a:endParaRPr>
          </a:p>
          <a:p>
            <a:endParaRPr lang="en-GB" sz="2400" b="1" kern="1200">
              <a:latin typeface="Frutiger LT Com 55 Roman" pitchFamily="1" charset="0"/>
            </a:endParaRP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10B3DA9-BA61-EC45-A89C-E8288D343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20"/>
    </mc:Choice>
    <mc:Fallback xmlns="">
      <p:transition spd="slow" advTm="336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Course </a:t>
            </a:r>
            <a:r>
              <a:rPr lang="en-GB"/>
              <a:t>Objectives</a:t>
            </a:r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>
          <a:xfrm>
            <a:off x="459927" y="2058309"/>
            <a:ext cx="8223250" cy="4111495"/>
          </a:xfrm>
        </p:spPr>
        <p:txBody>
          <a:bodyPr/>
          <a:lstStyle/>
          <a:p>
            <a:endParaRPr lang="de-DE" b="1"/>
          </a:p>
          <a:p>
            <a:pPr marL="0" indent="0">
              <a:buNone/>
            </a:pPr>
            <a:r>
              <a:rPr lang="de-DE"/>
              <a:t>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460375" y="1908000"/>
            <a:ext cx="822325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sz="2400" b="1"/>
              <a:t>Hardware:</a:t>
            </a:r>
            <a:r>
              <a:rPr lang="en-US" sz="2400"/>
              <a:t> Get familiar with the architecture. Understand and explore the benefits and the limitations of FPGAs.</a:t>
            </a:r>
          </a:p>
          <a:p>
            <a:pPr eaLnBrk="1" hangingPunct="1">
              <a:defRPr/>
            </a:pPr>
            <a:r>
              <a:rPr lang="en-US" sz="2400" b="1"/>
              <a:t>Software: </a:t>
            </a:r>
            <a:r>
              <a:rPr lang="en-US" sz="2400"/>
              <a:t>Learn to use Electronic Design Automation (EDA) Tools in digital design.</a:t>
            </a:r>
          </a:p>
          <a:p>
            <a:pPr eaLnBrk="1" hangingPunct="1">
              <a:defRPr/>
            </a:pPr>
            <a:r>
              <a:rPr lang="en-US" sz="2400" b="1"/>
              <a:t>Programming Language: </a:t>
            </a:r>
            <a:r>
              <a:rPr lang="en-US" sz="2400"/>
              <a:t>Get familiar with VHDL design methods (constructs and syntaxes). Understand the digital design flow for FPGA boards.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5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77"/>
    </mc:Choice>
    <mc:Fallback xmlns="">
      <p:transition spd="slow" advTm="5077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About this module</a:t>
            </a:r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>
          <a:xfrm>
            <a:off x="459927" y="2058309"/>
            <a:ext cx="8223250" cy="4111495"/>
          </a:xfrm>
        </p:spPr>
        <p:txBody>
          <a:bodyPr/>
          <a:lstStyle/>
          <a:p>
            <a:endParaRPr lang="de-DE" b="1"/>
          </a:p>
          <a:p>
            <a:pPr marL="0" indent="0">
              <a:buNone/>
            </a:pPr>
            <a:r>
              <a:rPr lang="de-DE"/>
              <a:t>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460374" y="1753712"/>
            <a:ext cx="8683625" cy="4416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2000" b="1" dirty="0"/>
              <a:t>10-week module</a:t>
            </a:r>
          </a:p>
          <a:p>
            <a:pPr lvl="1"/>
            <a:r>
              <a:rPr lang="en-GB" dirty="0"/>
              <a:t>1x 2 hour lecture/fortnight</a:t>
            </a:r>
          </a:p>
          <a:p>
            <a:pPr lvl="1"/>
            <a:r>
              <a:rPr lang="en-GB" dirty="0"/>
              <a:t>1x 2 hour practical/week</a:t>
            </a:r>
            <a:endParaRPr lang="en-GB" dirty="0">
              <a:solidFill>
                <a:srgbClr val="FF0000"/>
              </a:solidFill>
            </a:endParaRPr>
          </a:p>
          <a:p>
            <a:pPr lvl="1"/>
            <a:r>
              <a:rPr lang="en-GB" dirty="0"/>
              <a:t>1x 2 hour tutorial/fortnight</a:t>
            </a:r>
          </a:p>
          <a:p>
            <a:pPr lvl="1"/>
            <a:endParaRPr lang="en-GB" sz="2000" b="1" dirty="0"/>
          </a:p>
          <a:p>
            <a:pPr lvl="1"/>
            <a:r>
              <a:rPr lang="en-GB" sz="2000" b="1" dirty="0"/>
              <a:t>Assessments</a:t>
            </a:r>
          </a:p>
          <a:p>
            <a:pPr lvl="1"/>
            <a:r>
              <a:rPr lang="en-GB" dirty="0"/>
              <a:t>7 x practical exercises (6% each), </a:t>
            </a:r>
            <a:r>
              <a:rPr lang="en-GB" dirty="0">
                <a:solidFill>
                  <a:srgbClr val="FF0000"/>
                </a:solidFill>
              </a:rPr>
              <a:t>assessed via seven Moodle Quizzes</a:t>
            </a:r>
            <a:endParaRPr lang="en-GB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lvl="1"/>
            <a:r>
              <a:rPr lang="en-GB" dirty="0"/>
              <a:t>1x class test (40%), </a:t>
            </a:r>
            <a:r>
              <a:rPr lang="en-GB" dirty="0">
                <a:solidFill>
                  <a:srgbClr val="FF0000"/>
                </a:solidFill>
              </a:rPr>
              <a:t>TBC</a:t>
            </a:r>
          </a:p>
          <a:p>
            <a:pPr lvl="1"/>
            <a:r>
              <a:rPr lang="en-GB" dirty="0"/>
              <a:t>1 x coursework (18%) –</a:t>
            </a:r>
            <a:r>
              <a:rPr lang="de-DE" dirty="0"/>
              <a:t> Design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Altera FPGA </a:t>
            </a:r>
            <a:r>
              <a:rPr lang="de-DE" dirty="0" err="1"/>
              <a:t>board</a:t>
            </a:r>
            <a:r>
              <a:rPr lang="de-DE" dirty="0"/>
              <a:t>, 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428"/>
    </mc:Choice>
    <mc:Fallback xmlns="">
      <p:transition spd="slow" advTm="15042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About this module</a:t>
            </a:r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>
          <a:xfrm>
            <a:off x="459927" y="2058309"/>
            <a:ext cx="8223250" cy="4111495"/>
          </a:xfrm>
        </p:spPr>
        <p:txBody>
          <a:bodyPr/>
          <a:lstStyle/>
          <a:p>
            <a:endParaRPr lang="de-DE" b="1"/>
          </a:p>
          <a:p>
            <a:pPr marL="0" indent="0">
              <a:buNone/>
            </a:pPr>
            <a:r>
              <a:rPr lang="de-DE"/>
              <a:t>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460375" y="1753712"/>
            <a:ext cx="8223250" cy="60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/>
              <a:t>Prerequisites: CNENGR 116 Fundamentals of Digital Electronics</a:t>
            </a:r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A7EF1E-F4EF-0340-AD9C-89F45C8FD2E0}"/>
              </a:ext>
            </a:extLst>
          </p:cNvPr>
          <p:cNvSpPr/>
          <p:nvPr/>
        </p:nvSpPr>
        <p:spPr>
          <a:xfrm>
            <a:off x="459927" y="2667231"/>
            <a:ext cx="82236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/>
              <a:t>Xunzi </a:t>
            </a:r>
          </a:p>
          <a:p>
            <a:pPr marL="0" indent="0" algn="ctr">
              <a:buNone/>
            </a:pPr>
            <a:r>
              <a:rPr lang="en-GB" sz="3600" b="1" dirty="0"/>
              <a:t>I hear and I forget. </a:t>
            </a:r>
          </a:p>
          <a:p>
            <a:pPr marL="0" indent="0" algn="ctr">
              <a:buNone/>
            </a:pPr>
            <a:r>
              <a:rPr lang="en-GB" sz="3600" b="1" dirty="0"/>
              <a:t>I see and I remember. </a:t>
            </a:r>
          </a:p>
          <a:p>
            <a:pPr marL="0" indent="0" algn="ctr">
              <a:buNone/>
            </a:pPr>
            <a:r>
              <a:rPr lang="en-GB" sz="3600" b="1" dirty="0"/>
              <a:t>I do and I understand.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749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33"/>
    </mc:Choice>
    <mc:Fallback xmlns="">
      <p:transition spd="slow" advTm="54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E4C2-B11E-9F47-8B98-CDDB7F6D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 expect from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F572-D9AD-ED4F-AFAA-0283EAD9C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GB" sz="2400"/>
              <a:t>Come to lectures and practical labs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Complete assessments on time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Interact in class </a:t>
            </a:r>
            <a:r>
              <a:rPr lang="mr-IN" sz="2400"/>
              <a:t>–</a:t>
            </a:r>
            <a:r>
              <a:rPr lang="en-GB" sz="2400"/>
              <a:t> ask and answer questions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Understand, no need to memorise 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Apply yourselves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Become interested and do private study</a:t>
            </a:r>
          </a:p>
          <a:p>
            <a:pPr>
              <a:buFont typeface="Wingdings" pitchFamily="2" charset="2"/>
              <a:buChar char="§"/>
            </a:pPr>
            <a:r>
              <a:rPr lang="en-GB" sz="2400"/>
              <a:t>Limit the time you spend on your phone in class, unless you are supplementing your learning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42063-04FC-5A45-85CF-D1BDD7BB1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10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555"/>
    </mc:Choice>
    <mc:Fallback xmlns="">
      <p:transition spd="slow" advTm="825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Recommended Reading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530" y="2455268"/>
            <a:ext cx="2603564" cy="325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962174" y="1778940"/>
            <a:ext cx="3350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Frank Vahid, </a:t>
            </a:r>
          </a:p>
          <a:p>
            <a:pPr algn="ctr"/>
            <a:r>
              <a:rPr lang="en-GB"/>
              <a:t>2</a:t>
            </a:r>
            <a:r>
              <a:rPr lang="en-GB" baseline="30000"/>
              <a:t>nd</a:t>
            </a:r>
            <a:r>
              <a:rPr lang="en-GB"/>
              <a:t> Edition,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770" y="1776570"/>
            <a:ext cx="2323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Frank Vahid, </a:t>
            </a:r>
          </a:p>
          <a:p>
            <a:pPr algn="ctr"/>
            <a:r>
              <a:rPr lang="en-GB"/>
              <a:t>2007</a:t>
            </a:r>
          </a:p>
        </p:txBody>
      </p:sp>
      <p:pic>
        <p:nvPicPr>
          <p:cNvPr id="12" name="Picture 2" descr="F:\ENGR116_Digital Domain\A Montazeri_ENGR116\Fig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25" y="2455268"/>
            <a:ext cx="2787483" cy="325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Backup\Lancaster University\Teaching\ENGR228_Digital Electronic\A Montazeri_ENGR228\Pics\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317" y="2455268"/>
            <a:ext cx="2622308" cy="325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48087" y="1781310"/>
            <a:ext cx="3365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William </a:t>
            </a:r>
            <a:r>
              <a:rPr lang="en-GB" err="1"/>
              <a:t>Kleitz</a:t>
            </a:r>
            <a:r>
              <a:rPr lang="en-GB"/>
              <a:t>, </a:t>
            </a:r>
          </a:p>
          <a:p>
            <a:pPr algn="ctr"/>
            <a:r>
              <a:rPr lang="en-GB"/>
              <a:t>9</a:t>
            </a:r>
            <a:r>
              <a:rPr lang="en-GB" baseline="30000"/>
              <a:t>th </a:t>
            </a:r>
            <a:r>
              <a:rPr lang="en-GB"/>
              <a:t>Edition, 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824" y="5728787"/>
            <a:ext cx="1827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(Altera based product)</a:t>
            </a:r>
          </a:p>
        </p:txBody>
      </p:sp>
    </p:spTree>
    <p:extLst>
      <p:ext uri="{BB962C8B-B14F-4D97-AF65-F5344CB8AC3E}">
        <p14:creationId xmlns:p14="http://schemas.microsoft.com/office/powerpoint/2010/main" val="403568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1"/>
    </mc:Choice>
    <mc:Fallback xmlns="">
      <p:transition spd="slow" advTm="1174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Recommended Reading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050" name="Picture 2" descr="C:\Backup\Lancaster University\Teaching\ENGR228_Digital Electronic\A Montazeri_ENGR228\Pics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93" y="2251509"/>
            <a:ext cx="2520000" cy="352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68001" y="1589693"/>
            <a:ext cx="243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Pong P. Chu,</a:t>
            </a:r>
          </a:p>
          <a:p>
            <a:pPr algn="ctr"/>
            <a:r>
              <a:rPr lang="en-GB"/>
              <a:t>2006</a:t>
            </a:r>
          </a:p>
        </p:txBody>
      </p:sp>
      <p:pic>
        <p:nvPicPr>
          <p:cNvPr id="2052" name="Picture 4" descr="C:\Backup\Lancaster University\Teaching\ENGR228_Digital Electronic\A Montazeri_ENGR228\Pics\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881" y="2251507"/>
            <a:ext cx="2434335" cy="352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502128" y="1589692"/>
            <a:ext cx="19798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/>
              <a:t>James O. </a:t>
            </a:r>
            <a:r>
              <a:rPr lang="en-GB" err="1"/>
              <a:t>Hamblen</a:t>
            </a:r>
            <a:r>
              <a:rPr lang="en-GB"/>
              <a:t>,</a:t>
            </a:r>
          </a:p>
          <a:p>
            <a:pPr algn="ctr"/>
            <a:r>
              <a:rPr lang="en-GB"/>
              <a:t>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2524" y="5806517"/>
            <a:ext cx="1739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(Altera based product)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720" y="1591678"/>
            <a:ext cx="3876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V. A. </a:t>
            </a:r>
            <a:r>
              <a:rPr lang="en-GB" err="1"/>
              <a:t>Pedroni</a:t>
            </a:r>
            <a:r>
              <a:rPr lang="en-GB"/>
              <a:t>, </a:t>
            </a:r>
          </a:p>
          <a:p>
            <a:pPr algn="ctr"/>
            <a:r>
              <a:rPr lang="en-GB"/>
              <a:t>2</a:t>
            </a:r>
            <a:r>
              <a:rPr lang="en-GB" baseline="30000"/>
              <a:t>nd</a:t>
            </a:r>
            <a:r>
              <a:rPr lang="en-GB"/>
              <a:t> Edition, 2010</a:t>
            </a:r>
          </a:p>
        </p:txBody>
      </p:sp>
      <p:pic>
        <p:nvPicPr>
          <p:cNvPr id="2055" name="Picture 7" descr="C:\Backup\Lancaster University\Teaching\ENGR228_Digital Electronic\A Montazeri_ENGR228\Pics\8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238" y="2251506"/>
            <a:ext cx="2744798" cy="352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702476" y="5806517"/>
            <a:ext cx="1739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(Altera based product)</a:t>
            </a:r>
          </a:p>
        </p:txBody>
      </p:sp>
    </p:spTree>
    <p:extLst>
      <p:ext uri="{BB962C8B-B14F-4D97-AF65-F5344CB8AC3E}">
        <p14:creationId xmlns:p14="http://schemas.microsoft.com/office/powerpoint/2010/main" val="148884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71"/>
    </mc:Choice>
    <mc:Fallback xmlns="">
      <p:transition spd="slow" advTm="1077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437B-97DC-9945-83DF-8FEA112F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So, on to today’s lecture….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775EE-E5B3-3E49-9E3C-62BEE40C6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1E212C6-9DF5-5242-9F29-0DF5171A5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2819804"/>
            <a:ext cx="8223250" cy="121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GB" sz="3600" b="1" kern="1200">
                <a:latin typeface="Frutiger LT Com 55 Roman" pitchFamily="1" charset="0"/>
              </a:rPr>
              <a:t>Digital System Design Strategies</a:t>
            </a:r>
            <a:endParaRPr lang="en-GB" sz="3200" b="1" kern="0"/>
          </a:p>
          <a:p>
            <a:endParaRPr lang="en-GB" sz="2400" b="1" kern="1200">
              <a:latin typeface="Frutiger LT Com 55 Roman" pitchFamily="1" charset="0"/>
            </a:endParaRPr>
          </a:p>
          <a:p>
            <a:endParaRPr lang="en-GB" sz="2400" b="1" kern="1200">
              <a:latin typeface="Frutiger LT Com 55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3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06"/>
    </mc:Choice>
    <mc:Fallback xmlns="">
      <p:transition spd="slow" advTm="103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0000"/>
                </a:solidFill>
              </a:rPr>
              <a:t>Objectives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Clr>
                <a:srgbClr val="00B050"/>
              </a:buClr>
              <a:buNone/>
            </a:pPr>
            <a:r>
              <a:rPr lang="en-US" sz="2000"/>
              <a:t> </a:t>
            </a:r>
            <a:endParaRPr lang="en-US" sz="2000" b="1"/>
          </a:p>
          <a:p>
            <a:pPr marL="268288" lvl="1" indent="-268288">
              <a:buClr>
                <a:srgbClr val="00B050"/>
              </a:buClr>
            </a:pPr>
            <a:r>
              <a:rPr lang="en-US" sz="2000"/>
              <a:t>Recognize different digital system design techniques</a:t>
            </a:r>
          </a:p>
          <a:p>
            <a:pPr marL="268288" lvl="1" indent="-268288">
              <a:buClr>
                <a:srgbClr val="00B050"/>
              </a:buClr>
            </a:pPr>
            <a:r>
              <a:rPr lang="en-US" sz="2000"/>
              <a:t>Understand the structure of programmable logic devices (PLDs)</a:t>
            </a:r>
          </a:p>
          <a:p>
            <a:pPr marL="268288" lvl="1" indent="-268288">
              <a:buClr>
                <a:srgbClr val="00B050"/>
              </a:buClr>
            </a:pPr>
            <a:r>
              <a:rPr lang="en-US" sz="2000"/>
              <a:t>Identify the differences of PLDs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10</a:t>
            </a:fld>
            <a:endParaRPr lang="de-DE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55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92"/>
    </mc:Choice>
    <mc:Fallback xmlns="">
      <p:transition spd="slow" advTm="2019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From Design to Implementation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872000"/>
            <a:ext cx="8222400" cy="396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/>
              <a:t>Different IC types</a:t>
            </a:r>
          </a:p>
          <a:p>
            <a:pPr marL="820738" lvl="1" eaLnBrk="1" hangingPunct="1">
              <a:lnSpc>
                <a:spcPct val="80000"/>
              </a:lnSpc>
            </a:pPr>
            <a:r>
              <a:rPr lang="en-US"/>
              <a:t>Some fast but expensive</a:t>
            </a:r>
          </a:p>
          <a:p>
            <a:pPr marL="820738" lvl="1" eaLnBrk="1" hangingPunct="1">
              <a:lnSpc>
                <a:spcPct val="80000"/>
              </a:lnSpc>
            </a:pPr>
            <a:r>
              <a:rPr lang="en-US" sz="1800"/>
              <a:t>Others cheaper but slower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1800"/>
          </a:p>
        </p:txBody>
      </p:sp>
      <p:grpSp>
        <p:nvGrpSpPr>
          <p:cNvPr id="4101" name="Group 6"/>
          <p:cNvGrpSpPr>
            <a:grpSpLocks noChangeAspect="1"/>
          </p:cNvGrpSpPr>
          <p:nvPr/>
        </p:nvGrpSpPr>
        <p:grpSpPr bwMode="auto">
          <a:xfrm>
            <a:off x="2896711" y="2210608"/>
            <a:ext cx="5976000" cy="4021615"/>
            <a:chOff x="1383" y="774"/>
            <a:chExt cx="4183" cy="2815"/>
          </a:xfrm>
        </p:grpSpPr>
        <p:sp>
          <p:nvSpPr>
            <p:cNvPr id="4102" name="AutoShape 5"/>
            <p:cNvSpPr>
              <a:spLocks noChangeAspect="1" noChangeArrowheads="1" noTextEdit="1"/>
            </p:cNvSpPr>
            <p:nvPr/>
          </p:nvSpPr>
          <p:spPr bwMode="auto">
            <a:xfrm>
              <a:off x="1386" y="786"/>
              <a:ext cx="4180" cy="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103" name="Group 207"/>
            <p:cNvGrpSpPr>
              <a:grpSpLocks/>
            </p:cNvGrpSpPr>
            <p:nvPr/>
          </p:nvGrpSpPr>
          <p:grpSpPr bwMode="auto">
            <a:xfrm>
              <a:off x="2007" y="774"/>
              <a:ext cx="2830" cy="2249"/>
              <a:chOff x="2007" y="774"/>
              <a:chExt cx="2830" cy="2249"/>
            </a:xfrm>
          </p:grpSpPr>
          <p:sp>
            <p:nvSpPr>
              <p:cNvPr id="4439" name="Rectangle 7"/>
              <p:cNvSpPr>
                <a:spLocks noChangeArrowheads="1"/>
              </p:cNvSpPr>
              <p:nvPr/>
            </p:nvSpPr>
            <p:spPr bwMode="auto">
              <a:xfrm>
                <a:off x="3876" y="820"/>
                <a:ext cx="732" cy="1013"/>
              </a:xfrm>
              <a:prstGeom prst="rect">
                <a:avLst/>
              </a:prstGeom>
              <a:noFill/>
              <a:ln w="1587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0" name="Line 8"/>
              <p:cNvSpPr>
                <a:spLocks noChangeShapeType="1"/>
              </p:cNvSpPr>
              <p:nvPr/>
            </p:nvSpPr>
            <p:spPr bwMode="auto">
              <a:xfrm>
                <a:off x="4516" y="1311"/>
                <a:ext cx="250" cy="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41" name="Freeform 9"/>
              <p:cNvSpPr>
                <a:spLocks/>
              </p:cNvSpPr>
              <p:nvPr/>
            </p:nvSpPr>
            <p:spPr bwMode="auto">
              <a:xfrm>
                <a:off x="3607" y="1027"/>
                <a:ext cx="624" cy="222"/>
              </a:xfrm>
              <a:custGeom>
                <a:avLst/>
                <a:gdLst>
                  <a:gd name="T0" fmla="*/ 624 w 624"/>
                  <a:gd name="T1" fmla="*/ 222 h 222"/>
                  <a:gd name="T2" fmla="*/ 368 w 624"/>
                  <a:gd name="T3" fmla="*/ 222 h 222"/>
                  <a:gd name="T4" fmla="*/ 368 w 624"/>
                  <a:gd name="T5" fmla="*/ 0 h 222"/>
                  <a:gd name="T6" fmla="*/ 0 w 624"/>
                  <a:gd name="T7" fmla="*/ 0 h 2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222"/>
                  <a:gd name="T14" fmla="*/ 624 w 624"/>
                  <a:gd name="T15" fmla="*/ 222 h 2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222">
                    <a:moveTo>
                      <a:pt x="624" y="222"/>
                    </a:moveTo>
                    <a:lnTo>
                      <a:pt x="368" y="222"/>
                    </a:lnTo>
                    <a:lnTo>
                      <a:pt x="368" y="0"/>
                    </a:lnTo>
                    <a:lnTo>
                      <a:pt x="0" y="0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2" name="Line 10"/>
              <p:cNvSpPr>
                <a:spLocks noChangeShapeType="1"/>
              </p:cNvSpPr>
              <p:nvPr/>
            </p:nvSpPr>
            <p:spPr bwMode="auto">
              <a:xfrm>
                <a:off x="3604" y="1311"/>
                <a:ext cx="627" cy="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43" name="Freeform 11"/>
              <p:cNvSpPr>
                <a:spLocks/>
              </p:cNvSpPr>
              <p:nvPr/>
            </p:nvSpPr>
            <p:spPr bwMode="auto">
              <a:xfrm>
                <a:off x="4139" y="1373"/>
                <a:ext cx="92" cy="312"/>
              </a:xfrm>
              <a:custGeom>
                <a:avLst/>
                <a:gdLst>
                  <a:gd name="T0" fmla="*/ 0 w 92"/>
                  <a:gd name="T1" fmla="*/ 312 h 312"/>
                  <a:gd name="T2" fmla="*/ 43 w 92"/>
                  <a:gd name="T3" fmla="*/ 312 h 312"/>
                  <a:gd name="T4" fmla="*/ 43 w 92"/>
                  <a:gd name="T5" fmla="*/ 0 h 312"/>
                  <a:gd name="T6" fmla="*/ 92 w 92"/>
                  <a:gd name="T7" fmla="*/ 0 h 3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312"/>
                  <a:gd name="T14" fmla="*/ 92 w 92"/>
                  <a:gd name="T15" fmla="*/ 312 h 3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312">
                    <a:moveTo>
                      <a:pt x="0" y="312"/>
                    </a:moveTo>
                    <a:lnTo>
                      <a:pt x="43" y="312"/>
                    </a:lnTo>
                    <a:lnTo>
                      <a:pt x="43" y="0"/>
                    </a:lnTo>
                    <a:lnTo>
                      <a:pt x="92" y="0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4" name="Line 12"/>
              <p:cNvSpPr>
                <a:spLocks noChangeShapeType="1"/>
              </p:cNvSpPr>
              <p:nvPr/>
            </p:nvSpPr>
            <p:spPr bwMode="auto">
              <a:xfrm>
                <a:off x="3607" y="1685"/>
                <a:ext cx="328" cy="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45" name="Freeform 13"/>
              <p:cNvSpPr>
                <a:spLocks/>
              </p:cNvSpPr>
              <p:nvPr/>
            </p:nvSpPr>
            <p:spPr bwMode="auto">
              <a:xfrm>
                <a:off x="4738" y="1287"/>
                <a:ext cx="99" cy="49"/>
              </a:xfrm>
              <a:custGeom>
                <a:avLst/>
                <a:gdLst>
                  <a:gd name="T0" fmla="*/ 99 w 99"/>
                  <a:gd name="T1" fmla="*/ 24 h 49"/>
                  <a:gd name="T2" fmla="*/ 0 w 99"/>
                  <a:gd name="T3" fmla="*/ 0 h 49"/>
                  <a:gd name="T4" fmla="*/ 0 w 99"/>
                  <a:gd name="T5" fmla="*/ 49 h 49"/>
                  <a:gd name="T6" fmla="*/ 99 w 99"/>
                  <a:gd name="T7" fmla="*/ 24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49"/>
                  <a:gd name="T14" fmla="*/ 99 w 99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49">
                    <a:moveTo>
                      <a:pt x="99" y="24"/>
                    </a:moveTo>
                    <a:lnTo>
                      <a:pt x="0" y="0"/>
                    </a:lnTo>
                    <a:lnTo>
                      <a:pt x="0" y="49"/>
                    </a:lnTo>
                    <a:lnTo>
                      <a:pt x="99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6" name="Freeform 14"/>
              <p:cNvSpPr>
                <a:spLocks/>
              </p:cNvSpPr>
              <p:nvPr/>
            </p:nvSpPr>
            <p:spPr bwMode="auto">
              <a:xfrm>
                <a:off x="3774" y="1002"/>
                <a:ext cx="99" cy="50"/>
              </a:xfrm>
              <a:custGeom>
                <a:avLst/>
                <a:gdLst>
                  <a:gd name="T0" fmla="*/ 99 w 99"/>
                  <a:gd name="T1" fmla="*/ 25 h 50"/>
                  <a:gd name="T2" fmla="*/ 0 w 99"/>
                  <a:gd name="T3" fmla="*/ 0 h 50"/>
                  <a:gd name="T4" fmla="*/ 0 w 99"/>
                  <a:gd name="T5" fmla="*/ 50 h 50"/>
                  <a:gd name="T6" fmla="*/ 99 w 99"/>
                  <a:gd name="T7" fmla="*/ 25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50"/>
                  <a:gd name="T14" fmla="*/ 99 w 9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50">
                    <a:moveTo>
                      <a:pt x="99" y="25"/>
                    </a:moveTo>
                    <a:lnTo>
                      <a:pt x="0" y="0"/>
                    </a:lnTo>
                    <a:lnTo>
                      <a:pt x="0" y="50"/>
                    </a:lnTo>
                    <a:lnTo>
                      <a:pt x="99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7" name="Freeform 15"/>
              <p:cNvSpPr>
                <a:spLocks/>
              </p:cNvSpPr>
              <p:nvPr/>
            </p:nvSpPr>
            <p:spPr bwMode="auto">
              <a:xfrm>
                <a:off x="3774" y="1287"/>
                <a:ext cx="99" cy="49"/>
              </a:xfrm>
              <a:custGeom>
                <a:avLst/>
                <a:gdLst>
                  <a:gd name="T0" fmla="*/ 99 w 99"/>
                  <a:gd name="T1" fmla="*/ 24 h 49"/>
                  <a:gd name="T2" fmla="*/ 0 w 99"/>
                  <a:gd name="T3" fmla="*/ 0 h 49"/>
                  <a:gd name="T4" fmla="*/ 0 w 99"/>
                  <a:gd name="T5" fmla="*/ 49 h 49"/>
                  <a:gd name="T6" fmla="*/ 99 w 99"/>
                  <a:gd name="T7" fmla="*/ 24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49"/>
                  <a:gd name="T14" fmla="*/ 99 w 99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49">
                    <a:moveTo>
                      <a:pt x="99" y="24"/>
                    </a:moveTo>
                    <a:lnTo>
                      <a:pt x="0" y="0"/>
                    </a:lnTo>
                    <a:lnTo>
                      <a:pt x="0" y="49"/>
                    </a:lnTo>
                    <a:lnTo>
                      <a:pt x="99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8" name="Freeform 16"/>
              <p:cNvSpPr>
                <a:spLocks/>
              </p:cNvSpPr>
              <p:nvPr/>
            </p:nvSpPr>
            <p:spPr bwMode="auto">
              <a:xfrm>
                <a:off x="3774" y="1660"/>
                <a:ext cx="99" cy="50"/>
              </a:xfrm>
              <a:custGeom>
                <a:avLst/>
                <a:gdLst>
                  <a:gd name="T0" fmla="*/ 99 w 99"/>
                  <a:gd name="T1" fmla="*/ 25 h 50"/>
                  <a:gd name="T2" fmla="*/ 0 w 99"/>
                  <a:gd name="T3" fmla="*/ 0 h 50"/>
                  <a:gd name="T4" fmla="*/ 0 w 99"/>
                  <a:gd name="T5" fmla="*/ 50 h 50"/>
                  <a:gd name="T6" fmla="*/ 99 w 99"/>
                  <a:gd name="T7" fmla="*/ 25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50"/>
                  <a:gd name="T14" fmla="*/ 99 w 9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50">
                    <a:moveTo>
                      <a:pt x="99" y="25"/>
                    </a:moveTo>
                    <a:lnTo>
                      <a:pt x="0" y="0"/>
                    </a:lnTo>
                    <a:lnTo>
                      <a:pt x="0" y="50"/>
                    </a:lnTo>
                    <a:lnTo>
                      <a:pt x="99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49" name="Rectangle 17"/>
              <p:cNvSpPr>
                <a:spLocks noChangeArrowheads="1"/>
              </p:cNvSpPr>
              <p:nvPr/>
            </p:nvSpPr>
            <p:spPr bwMode="auto">
              <a:xfrm>
                <a:off x="3611" y="90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k</a:t>
                </a:r>
                <a:endParaRPr lang="en-US"/>
              </a:p>
            </p:txBody>
          </p:sp>
          <p:sp>
            <p:nvSpPr>
              <p:cNvPr id="4450" name="Rectangle 18"/>
              <p:cNvSpPr>
                <a:spLocks noChangeArrowheads="1"/>
              </p:cNvSpPr>
              <p:nvPr/>
            </p:nvSpPr>
            <p:spPr bwMode="auto">
              <a:xfrm>
                <a:off x="3611" y="1167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p</a:t>
                </a:r>
                <a:endParaRPr lang="en-US"/>
              </a:p>
            </p:txBody>
          </p:sp>
          <p:sp>
            <p:nvSpPr>
              <p:cNvPr id="4451" name="Rectangle 19"/>
              <p:cNvSpPr>
                <a:spLocks noChangeArrowheads="1"/>
              </p:cNvSpPr>
              <p:nvPr/>
            </p:nvSpPr>
            <p:spPr bwMode="auto">
              <a:xfrm>
                <a:off x="3611" y="1569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s</a:t>
                </a:r>
                <a:endParaRPr lang="en-US"/>
              </a:p>
            </p:txBody>
          </p:sp>
          <p:sp>
            <p:nvSpPr>
              <p:cNvPr id="4452" name="Rectangle 20"/>
              <p:cNvSpPr>
                <a:spLocks noChangeArrowheads="1"/>
              </p:cNvSpPr>
              <p:nvPr/>
            </p:nvSpPr>
            <p:spPr bwMode="auto">
              <a:xfrm>
                <a:off x="4658" y="1180"/>
                <a:ext cx="6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w</a:t>
                </a:r>
                <a:endParaRPr lang="en-US"/>
              </a:p>
            </p:txBody>
          </p:sp>
          <p:sp>
            <p:nvSpPr>
              <p:cNvPr id="4453" name="Rectangle 21"/>
              <p:cNvSpPr>
                <a:spLocks noChangeArrowheads="1"/>
              </p:cNvSpPr>
              <p:nvPr/>
            </p:nvSpPr>
            <p:spPr bwMode="auto">
              <a:xfrm>
                <a:off x="4039" y="860"/>
                <a:ext cx="165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Belt</a:t>
                </a:r>
                <a:endParaRPr lang="en-US"/>
              </a:p>
            </p:txBody>
          </p:sp>
          <p:sp>
            <p:nvSpPr>
              <p:cNvPr id="4454" name="Rectangle 22"/>
              <p:cNvSpPr>
                <a:spLocks noChangeArrowheads="1"/>
              </p:cNvSpPr>
              <p:nvPr/>
            </p:nvSpPr>
            <p:spPr bwMode="auto">
              <a:xfrm>
                <a:off x="4209" y="860"/>
                <a:ext cx="9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W</a:t>
                </a:r>
                <a:endParaRPr lang="en-US"/>
              </a:p>
            </p:txBody>
          </p:sp>
          <p:sp>
            <p:nvSpPr>
              <p:cNvPr id="4455" name="Rectangle 23"/>
              <p:cNvSpPr>
                <a:spLocks noChangeArrowheads="1"/>
              </p:cNvSpPr>
              <p:nvPr/>
            </p:nvSpPr>
            <p:spPr bwMode="auto">
              <a:xfrm>
                <a:off x="4299" y="860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a</a:t>
                </a:r>
                <a:endParaRPr lang="en-US"/>
              </a:p>
            </p:txBody>
          </p:sp>
          <p:sp>
            <p:nvSpPr>
              <p:cNvPr id="4456" name="Rectangle 24"/>
              <p:cNvSpPr>
                <a:spLocks noChangeArrowheads="1"/>
              </p:cNvSpPr>
              <p:nvPr/>
            </p:nvSpPr>
            <p:spPr bwMode="auto">
              <a:xfrm>
                <a:off x="4354" y="860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r</a:t>
                </a:r>
                <a:endParaRPr lang="en-US"/>
              </a:p>
            </p:txBody>
          </p:sp>
          <p:sp>
            <p:nvSpPr>
              <p:cNvPr id="4457" name="Rectangle 25"/>
              <p:cNvSpPr>
                <a:spLocks noChangeArrowheads="1"/>
              </p:cNvSpPr>
              <p:nvPr/>
            </p:nvSpPr>
            <p:spPr bwMode="auto">
              <a:xfrm>
                <a:off x="4389" y="860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n</a:t>
                </a:r>
                <a:endParaRPr lang="en-US"/>
              </a:p>
            </p:txBody>
          </p:sp>
          <p:sp>
            <p:nvSpPr>
              <p:cNvPr id="4458" name="Freeform 26"/>
              <p:cNvSpPr>
                <a:spLocks/>
              </p:cNvSpPr>
              <p:nvPr/>
            </p:nvSpPr>
            <p:spPr bwMode="auto">
              <a:xfrm>
                <a:off x="4231" y="1188"/>
                <a:ext cx="285" cy="247"/>
              </a:xfrm>
              <a:custGeom>
                <a:avLst/>
                <a:gdLst>
                  <a:gd name="T0" fmla="*/ 0 w 92"/>
                  <a:gd name="T1" fmla="*/ 247 h 80"/>
                  <a:gd name="T2" fmla="*/ 161 w 92"/>
                  <a:gd name="T3" fmla="*/ 247 h 80"/>
                  <a:gd name="T4" fmla="*/ 285 w 92"/>
                  <a:gd name="T5" fmla="*/ 124 h 80"/>
                  <a:gd name="T6" fmla="*/ 161 w 92"/>
                  <a:gd name="T7" fmla="*/ 0 h 80"/>
                  <a:gd name="T8" fmla="*/ 0 w 92"/>
                  <a:gd name="T9" fmla="*/ 0 h 80"/>
                  <a:gd name="T10" fmla="*/ 0 w 92"/>
                  <a:gd name="T11" fmla="*/ 247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"/>
                  <a:gd name="T19" fmla="*/ 0 h 80"/>
                  <a:gd name="T20" fmla="*/ 92 w 92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" h="80">
                    <a:moveTo>
                      <a:pt x="0" y="80"/>
                    </a:moveTo>
                    <a:cubicBezTo>
                      <a:pt x="52" y="80"/>
                      <a:pt x="52" y="80"/>
                      <a:pt x="52" y="80"/>
                    </a:cubicBezTo>
                    <a:cubicBezTo>
                      <a:pt x="74" y="80"/>
                      <a:pt x="92" y="62"/>
                      <a:pt x="92" y="40"/>
                    </a:cubicBezTo>
                    <a:cubicBezTo>
                      <a:pt x="92" y="18"/>
                      <a:pt x="74" y="0"/>
                      <a:pt x="5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5875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59" name="Freeform 27"/>
              <p:cNvSpPr>
                <a:spLocks/>
              </p:cNvSpPr>
              <p:nvPr/>
            </p:nvSpPr>
            <p:spPr bwMode="auto">
              <a:xfrm>
                <a:off x="3935" y="1589"/>
                <a:ext cx="151" cy="192"/>
              </a:xfrm>
              <a:custGeom>
                <a:avLst/>
                <a:gdLst>
                  <a:gd name="T0" fmla="*/ 0 w 151"/>
                  <a:gd name="T1" fmla="*/ 192 h 192"/>
                  <a:gd name="T2" fmla="*/ 151 w 151"/>
                  <a:gd name="T3" fmla="*/ 96 h 192"/>
                  <a:gd name="T4" fmla="*/ 0 w 151"/>
                  <a:gd name="T5" fmla="*/ 0 h 192"/>
                  <a:gd name="T6" fmla="*/ 0 w 151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1"/>
                  <a:gd name="T13" fmla="*/ 0 h 192"/>
                  <a:gd name="T14" fmla="*/ 151 w 151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1" h="192">
                    <a:moveTo>
                      <a:pt x="0" y="192"/>
                    </a:moveTo>
                    <a:lnTo>
                      <a:pt x="151" y="96"/>
                    </a:lnTo>
                    <a:lnTo>
                      <a:pt x="0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60" name="Oval 28"/>
              <p:cNvSpPr>
                <a:spLocks noChangeArrowheads="1"/>
              </p:cNvSpPr>
              <p:nvPr/>
            </p:nvSpPr>
            <p:spPr bwMode="auto">
              <a:xfrm>
                <a:off x="4089" y="1660"/>
                <a:ext cx="50" cy="4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61" name="Line 29"/>
              <p:cNvSpPr>
                <a:spLocks noChangeShapeType="1"/>
              </p:cNvSpPr>
              <p:nvPr/>
            </p:nvSpPr>
            <p:spPr bwMode="auto">
              <a:xfrm>
                <a:off x="3351" y="2535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2" name="Line 30"/>
              <p:cNvSpPr>
                <a:spLocks noChangeShapeType="1"/>
              </p:cNvSpPr>
              <p:nvPr/>
            </p:nvSpPr>
            <p:spPr bwMode="auto">
              <a:xfrm>
                <a:off x="3351" y="2597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3" name="Line 31"/>
              <p:cNvSpPr>
                <a:spLocks noChangeShapeType="1"/>
              </p:cNvSpPr>
              <p:nvPr/>
            </p:nvSpPr>
            <p:spPr bwMode="auto">
              <a:xfrm>
                <a:off x="3351" y="2662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4" name="Line 32"/>
              <p:cNvSpPr>
                <a:spLocks noChangeShapeType="1"/>
              </p:cNvSpPr>
              <p:nvPr/>
            </p:nvSpPr>
            <p:spPr bwMode="auto">
              <a:xfrm>
                <a:off x="3351" y="2723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5" name="Line 33"/>
              <p:cNvSpPr>
                <a:spLocks noChangeShapeType="1"/>
              </p:cNvSpPr>
              <p:nvPr/>
            </p:nvSpPr>
            <p:spPr bwMode="auto">
              <a:xfrm>
                <a:off x="3351" y="2788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6" name="Line 34"/>
              <p:cNvSpPr>
                <a:spLocks noChangeShapeType="1"/>
              </p:cNvSpPr>
              <p:nvPr/>
            </p:nvSpPr>
            <p:spPr bwMode="auto">
              <a:xfrm>
                <a:off x="3351" y="2850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7" name="Line 35"/>
              <p:cNvSpPr>
                <a:spLocks noChangeShapeType="1"/>
              </p:cNvSpPr>
              <p:nvPr/>
            </p:nvSpPr>
            <p:spPr bwMode="auto">
              <a:xfrm>
                <a:off x="3351" y="2915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8" name="Line 36"/>
              <p:cNvSpPr>
                <a:spLocks noChangeShapeType="1"/>
              </p:cNvSpPr>
              <p:nvPr/>
            </p:nvSpPr>
            <p:spPr bwMode="auto">
              <a:xfrm>
                <a:off x="3351" y="2977"/>
                <a:ext cx="74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69" name="Line 37"/>
              <p:cNvSpPr>
                <a:spLocks noChangeShapeType="1"/>
              </p:cNvSpPr>
              <p:nvPr/>
            </p:nvSpPr>
            <p:spPr bwMode="auto">
              <a:xfrm>
                <a:off x="3128" y="2535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0" name="Line 38"/>
              <p:cNvSpPr>
                <a:spLocks noChangeShapeType="1"/>
              </p:cNvSpPr>
              <p:nvPr/>
            </p:nvSpPr>
            <p:spPr bwMode="auto">
              <a:xfrm>
                <a:off x="3128" y="2597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1" name="Line 39"/>
              <p:cNvSpPr>
                <a:spLocks noChangeShapeType="1"/>
              </p:cNvSpPr>
              <p:nvPr/>
            </p:nvSpPr>
            <p:spPr bwMode="auto">
              <a:xfrm>
                <a:off x="3128" y="2662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2" name="Line 40"/>
              <p:cNvSpPr>
                <a:spLocks noChangeShapeType="1"/>
              </p:cNvSpPr>
              <p:nvPr/>
            </p:nvSpPr>
            <p:spPr bwMode="auto">
              <a:xfrm>
                <a:off x="3128" y="2723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3" name="Line 41"/>
              <p:cNvSpPr>
                <a:spLocks noChangeShapeType="1"/>
              </p:cNvSpPr>
              <p:nvPr/>
            </p:nvSpPr>
            <p:spPr bwMode="auto">
              <a:xfrm>
                <a:off x="3128" y="2788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4" name="Line 42"/>
              <p:cNvSpPr>
                <a:spLocks noChangeShapeType="1"/>
              </p:cNvSpPr>
              <p:nvPr/>
            </p:nvSpPr>
            <p:spPr bwMode="auto">
              <a:xfrm>
                <a:off x="3128" y="2850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5" name="Line 43"/>
              <p:cNvSpPr>
                <a:spLocks noChangeShapeType="1"/>
              </p:cNvSpPr>
              <p:nvPr/>
            </p:nvSpPr>
            <p:spPr bwMode="auto">
              <a:xfrm>
                <a:off x="3128" y="2915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6" name="Line 44"/>
              <p:cNvSpPr>
                <a:spLocks noChangeShapeType="1"/>
              </p:cNvSpPr>
              <p:nvPr/>
            </p:nvSpPr>
            <p:spPr bwMode="auto">
              <a:xfrm>
                <a:off x="3128" y="2977"/>
                <a:ext cx="71" cy="0"/>
              </a:xfrm>
              <a:prstGeom prst="line">
                <a:avLst/>
              </a:prstGeom>
              <a:noFill/>
              <a:ln w="5873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77" name="Rectangle 45"/>
              <p:cNvSpPr>
                <a:spLocks noChangeArrowheads="1"/>
              </p:cNvSpPr>
              <p:nvPr/>
            </p:nvSpPr>
            <p:spPr bwMode="auto">
              <a:xfrm>
                <a:off x="3199" y="2485"/>
                <a:ext cx="155" cy="538"/>
              </a:xfrm>
              <a:prstGeom prst="rect">
                <a:avLst/>
              </a:pr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78" name="Rectangle 46"/>
              <p:cNvSpPr>
                <a:spLocks noChangeArrowheads="1"/>
              </p:cNvSpPr>
              <p:nvPr/>
            </p:nvSpPr>
            <p:spPr bwMode="auto">
              <a:xfrm>
                <a:off x="4278" y="2070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endParaRPr lang="en-US"/>
              </a:p>
            </p:txBody>
          </p:sp>
          <p:sp>
            <p:nvSpPr>
              <p:cNvPr id="4479" name="Rectangle 47"/>
              <p:cNvSpPr>
                <a:spLocks noChangeArrowheads="1"/>
              </p:cNvSpPr>
              <p:nvPr/>
            </p:nvSpPr>
            <p:spPr bwMode="auto">
              <a:xfrm>
                <a:off x="4311" y="2067"/>
                <a:ext cx="5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b</a:t>
                </a:r>
                <a:endParaRPr lang="en-US"/>
              </a:p>
            </p:txBody>
          </p:sp>
          <p:sp>
            <p:nvSpPr>
              <p:cNvPr id="4480" name="Rectangle 48"/>
              <p:cNvSpPr>
                <a:spLocks noChangeArrowheads="1"/>
              </p:cNvSpPr>
              <p:nvPr/>
            </p:nvSpPr>
            <p:spPr bwMode="auto">
              <a:xfrm>
                <a:off x="4372" y="2070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</a:t>
                </a:r>
                <a:endParaRPr lang="en-US"/>
              </a:p>
            </p:txBody>
          </p:sp>
          <p:sp>
            <p:nvSpPr>
              <p:cNvPr id="4481" name="Rectangle 49"/>
              <p:cNvSpPr>
                <a:spLocks noChangeArrowheads="1"/>
              </p:cNvSpPr>
              <p:nvPr/>
            </p:nvSpPr>
            <p:spPr bwMode="auto">
              <a:xfrm>
                <a:off x="3391" y="777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endParaRPr lang="en-US"/>
              </a:p>
            </p:txBody>
          </p:sp>
          <p:sp>
            <p:nvSpPr>
              <p:cNvPr id="4482" name="Rectangle 50"/>
              <p:cNvSpPr>
                <a:spLocks noChangeArrowheads="1"/>
              </p:cNvSpPr>
              <p:nvPr/>
            </p:nvSpPr>
            <p:spPr bwMode="auto">
              <a:xfrm>
                <a:off x="3424" y="774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a</a:t>
                </a:r>
                <a:endParaRPr lang="en-US"/>
              </a:p>
            </p:txBody>
          </p:sp>
          <p:sp>
            <p:nvSpPr>
              <p:cNvPr id="4483" name="Rectangle 51"/>
              <p:cNvSpPr>
                <a:spLocks noChangeArrowheads="1"/>
              </p:cNvSpPr>
              <p:nvPr/>
            </p:nvSpPr>
            <p:spPr bwMode="auto">
              <a:xfrm>
                <a:off x="3479" y="777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</a:t>
                </a:r>
                <a:endParaRPr lang="en-US"/>
              </a:p>
            </p:txBody>
          </p:sp>
          <p:sp>
            <p:nvSpPr>
              <p:cNvPr id="4484" name="Freeform 52"/>
              <p:cNvSpPr>
                <a:spLocks/>
              </p:cNvSpPr>
              <p:nvPr/>
            </p:nvSpPr>
            <p:spPr bwMode="auto">
              <a:xfrm>
                <a:off x="3474" y="1849"/>
                <a:ext cx="325" cy="414"/>
              </a:xfrm>
              <a:custGeom>
                <a:avLst/>
                <a:gdLst>
                  <a:gd name="T0" fmla="*/ 170 w 325"/>
                  <a:gd name="T1" fmla="*/ 65 h 414"/>
                  <a:gd name="T2" fmla="*/ 180 w 325"/>
                  <a:gd name="T3" fmla="*/ 62 h 414"/>
                  <a:gd name="T4" fmla="*/ 186 w 325"/>
                  <a:gd name="T5" fmla="*/ 52 h 414"/>
                  <a:gd name="T6" fmla="*/ 192 w 325"/>
                  <a:gd name="T7" fmla="*/ 43 h 414"/>
                  <a:gd name="T8" fmla="*/ 192 w 325"/>
                  <a:gd name="T9" fmla="*/ 34 h 414"/>
                  <a:gd name="T10" fmla="*/ 192 w 325"/>
                  <a:gd name="T11" fmla="*/ 22 h 414"/>
                  <a:gd name="T12" fmla="*/ 183 w 325"/>
                  <a:gd name="T13" fmla="*/ 9 h 414"/>
                  <a:gd name="T14" fmla="*/ 173 w 325"/>
                  <a:gd name="T15" fmla="*/ 3 h 414"/>
                  <a:gd name="T16" fmla="*/ 161 w 325"/>
                  <a:gd name="T17" fmla="*/ 0 h 414"/>
                  <a:gd name="T18" fmla="*/ 149 w 325"/>
                  <a:gd name="T19" fmla="*/ 3 h 414"/>
                  <a:gd name="T20" fmla="*/ 136 w 325"/>
                  <a:gd name="T21" fmla="*/ 9 h 414"/>
                  <a:gd name="T22" fmla="*/ 130 w 325"/>
                  <a:gd name="T23" fmla="*/ 22 h 414"/>
                  <a:gd name="T24" fmla="*/ 127 w 325"/>
                  <a:gd name="T25" fmla="*/ 34 h 414"/>
                  <a:gd name="T26" fmla="*/ 130 w 325"/>
                  <a:gd name="T27" fmla="*/ 43 h 414"/>
                  <a:gd name="T28" fmla="*/ 136 w 325"/>
                  <a:gd name="T29" fmla="*/ 52 h 414"/>
                  <a:gd name="T30" fmla="*/ 143 w 325"/>
                  <a:gd name="T31" fmla="*/ 62 h 414"/>
                  <a:gd name="T32" fmla="*/ 152 w 325"/>
                  <a:gd name="T33" fmla="*/ 65 h 414"/>
                  <a:gd name="T34" fmla="*/ 136 w 325"/>
                  <a:gd name="T35" fmla="*/ 89 h 414"/>
                  <a:gd name="T36" fmla="*/ 105 w 325"/>
                  <a:gd name="T37" fmla="*/ 96 h 414"/>
                  <a:gd name="T38" fmla="*/ 78 w 325"/>
                  <a:gd name="T39" fmla="*/ 111 h 414"/>
                  <a:gd name="T40" fmla="*/ 56 w 325"/>
                  <a:gd name="T41" fmla="*/ 127 h 414"/>
                  <a:gd name="T42" fmla="*/ 34 w 325"/>
                  <a:gd name="T43" fmla="*/ 148 h 414"/>
                  <a:gd name="T44" fmla="*/ 19 w 325"/>
                  <a:gd name="T45" fmla="*/ 176 h 414"/>
                  <a:gd name="T46" fmla="*/ 7 w 325"/>
                  <a:gd name="T47" fmla="*/ 204 h 414"/>
                  <a:gd name="T48" fmla="*/ 0 w 325"/>
                  <a:gd name="T49" fmla="*/ 235 h 414"/>
                  <a:gd name="T50" fmla="*/ 0 w 325"/>
                  <a:gd name="T51" fmla="*/ 269 h 414"/>
                  <a:gd name="T52" fmla="*/ 7 w 325"/>
                  <a:gd name="T53" fmla="*/ 300 h 414"/>
                  <a:gd name="T54" fmla="*/ 19 w 325"/>
                  <a:gd name="T55" fmla="*/ 327 h 414"/>
                  <a:gd name="T56" fmla="*/ 37 w 325"/>
                  <a:gd name="T57" fmla="*/ 355 h 414"/>
                  <a:gd name="T58" fmla="*/ 59 w 325"/>
                  <a:gd name="T59" fmla="*/ 377 h 414"/>
                  <a:gd name="T60" fmla="*/ 84 w 325"/>
                  <a:gd name="T61" fmla="*/ 395 h 414"/>
                  <a:gd name="T62" fmla="*/ 115 w 325"/>
                  <a:gd name="T63" fmla="*/ 408 h 414"/>
                  <a:gd name="T64" fmla="*/ 146 w 325"/>
                  <a:gd name="T65" fmla="*/ 414 h 414"/>
                  <a:gd name="T66" fmla="*/ 180 w 325"/>
                  <a:gd name="T67" fmla="*/ 414 h 414"/>
                  <a:gd name="T68" fmla="*/ 210 w 325"/>
                  <a:gd name="T69" fmla="*/ 408 h 414"/>
                  <a:gd name="T70" fmla="*/ 238 w 325"/>
                  <a:gd name="T71" fmla="*/ 395 h 414"/>
                  <a:gd name="T72" fmla="*/ 266 w 325"/>
                  <a:gd name="T73" fmla="*/ 377 h 414"/>
                  <a:gd name="T74" fmla="*/ 288 w 325"/>
                  <a:gd name="T75" fmla="*/ 355 h 414"/>
                  <a:gd name="T76" fmla="*/ 306 w 325"/>
                  <a:gd name="T77" fmla="*/ 327 h 414"/>
                  <a:gd name="T78" fmla="*/ 319 w 325"/>
                  <a:gd name="T79" fmla="*/ 300 h 414"/>
                  <a:gd name="T80" fmla="*/ 325 w 325"/>
                  <a:gd name="T81" fmla="*/ 269 h 414"/>
                  <a:gd name="T82" fmla="*/ 325 w 325"/>
                  <a:gd name="T83" fmla="*/ 235 h 414"/>
                  <a:gd name="T84" fmla="*/ 319 w 325"/>
                  <a:gd name="T85" fmla="*/ 204 h 414"/>
                  <a:gd name="T86" fmla="*/ 306 w 325"/>
                  <a:gd name="T87" fmla="*/ 173 h 414"/>
                  <a:gd name="T88" fmla="*/ 291 w 325"/>
                  <a:gd name="T89" fmla="*/ 148 h 414"/>
                  <a:gd name="T90" fmla="*/ 269 w 325"/>
                  <a:gd name="T91" fmla="*/ 127 h 414"/>
                  <a:gd name="T92" fmla="*/ 244 w 325"/>
                  <a:gd name="T93" fmla="*/ 108 h 414"/>
                  <a:gd name="T94" fmla="*/ 217 w 325"/>
                  <a:gd name="T95" fmla="*/ 96 h 414"/>
                  <a:gd name="T96" fmla="*/ 186 w 325"/>
                  <a:gd name="T97" fmla="*/ 89 h 414"/>
                  <a:gd name="T98" fmla="*/ 170 w 325"/>
                  <a:gd name="T99" fmla="*/ 86 h 41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25"/>
                  <a:gd name="T151" fmla="*/ 0 h 414"/>
                  <a:gd name="T152" fmla="*/ 325 w 325"/>
                  <a:gd name="T153" fmla="*/ 414 h 41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25" h="414">
                    <a:moveTo>
                      <a:pt x="170" y="86"/>
                    </a:moveTo>
                    <a:lnTo>
                      <a:pt x="170" y="65"/>
                    </a:lnTo>
                    <a:lnTo>
                      <a:pt x="173" y="62"/>
                    </a:lnTo>
                    <a:lnTo>
                      <a:pt x="180" y="62"/>
                    </a:lnTo>
                    <a:lnTo>
                      <a:pt x="183" y="56"/>
                    </a:lnTo>
                    <a:lnTo>
                      <a:pt x="186" y="52"/>
                    </a:lnTo>
                    <a:lnTo>
                      <a:pt x="189" y="49"/>
                    </a:lnTo>
                    <a:lnTo>
                      <a:pt x="192" y="43"/>
                    </a:lnTo>
                    <a:lnTo>
                      <a:pt x="192" y="40"/>
                    </a:lnTo>
                    <a:lnTo>
                      <a:pt x="192" y="34"/>
                    </a:lnTo>
                    <a:lnTo>
                      <a:pt x="192" y="28"/>
                    </a:lnTo>
                    <a:lnTo>
                      <a:pt x="192" y="22"/>
                    </a:lnTo>
                    <a:lnTo>
                      <a:pt x="189" y="15"/>
                    </a:lnTo>
                    <a:lnTo>
                      <a:pt x="183" y="9"/>
                    </a:lnTo>
                    <a:lnTo>
                      <a:pt x="180" y="6"/>
                    </a:lnTo>
                    <a:lnTo>
                      <a:pt x="173" y="3"/>
                    </a:lnTo>
                    <a:lnTo>
                      <a:pt x="167" y="3"/>
                    </a:lnTo>
                    <a:lnTo>
                      <a:pt x="161" y="0"/>
                    </a:lnTo>
                    <a:lnTo>
                      <a:pt x="155" y="3"/>
                    </a:lnTo>
                    <a:lnTo>
                      <a:pt x="149" y="3"/>
                    </a:lnTo>
                    <a:lnTo>
                      <a:pt x="143" y="6"/>
                    </a:lnTo>
                    <a:lnTo>
                      <a:pt x="136" y="9"/>
                    </a:lnTo>
                    <a:lnTo>
                      <a:pt x="133" y="15"/>
                    </a:lnTo>
                    <a:lnTo>
                      <a:pt x="130" y="22"/>
                    </a:lnTo>
                    <a:lnTo>
                      <a:pt x="130" y="28"/>
                    </a:lnTo>
                    <a:lnTo>
                      <a:pt x="127" y="34"/>
                    </a:lnTo>
                    <a:lnTo>
                      <a:pt x="130" y="40"/>
                    </a:lnTo>
                    <a:lnTo>
                      <a:pt x="130" y="43"/>
                    </a:lnTo>
                    <a:lnTo>
                      <a:pt x="133" y="49"/>
                    </a:lnTo>
                    <a:lnTo>
                      <a:pt x="136" y="52"/>
                    </a:lnTo>
                    <a:lnTo>
                      <a:pt x="139" y="56"/>
                    </a:lnTo>
                    <a:lnTo>
                      <a:pt x="143" y="62"/>
                    </a:lnTo>
                    <a:lnTo>
                      <a:pt x="149" y="62"/>
                    </a:lnTo>
                    <a:lnTo>
                      <a:pt x="152" y="65"/>
                    </a:lnTo>
                    <a:lnTo>
                      <a:pt x="152" y="86"/>
                    </a:lnTo>
                    <a:lnTo>
                      <a:pt x="136" y="89"/>
                    </a:lnTo>
                    <a:lnTo>
                      <a:pt x="121" y="93"/>
                    </a:lnTo>
                    <a:lnTo>
                      <a:pt x="105" y="96"/>
                    </a:lnTo>
                    <a:lnTo>
                      <a:pt x="93" y="102"/>
                    </a:lnTo>
                    <a:lnTo>
                      <a:pt x="78" y="111"/>
                    </a:lnTo>
                    <a:lnTo>
                      <a:pt x="65" y="117"/>
                    </a:lnTo>
                    <a:lnTo>
                      <a:pt x="56" y="127"/>
                    </a:lnTo>
                    <a:lnTo>
                      <a:pt x="44" y="139"/>
                    </a:lnTo>
                    <a:lnTo>
                      <a:pt x="34" y="148"/>
                    </a:lnTo>
                    <a:lnTo>
                      <a:pt x="25" y="161"/>
                    </a:lnTo>
                    <a:lnTo>
                      <a:pt x="19" y="176"/>
                    </a:lnTo>
                    <a:lnTo>
                      <a:pt x="13" y="188"/>
                    </a:lnTo>
                    <a:lnTo>
                      <a:pt x="7" y="204"/>
                    </a:lnTo>
                    <a:lnTo>
                      <a:pt x="3" y="219"/>
                    </a:lnTo>
                    <a:lnTo>
                      <a:pt x="0" y="235"/>
                    </a:lnTo>
                    <a:lnTo>
                      <a:pt x="0" y="250"/>
                    </a:lnTo>
                    <a:lnTo>
                      <a:pt x="0" y="269"/>
                    </a:lnTo>
                    <a:lnTo>
                      <a:pt x="3" y="284"/>
                    </a:lnTo>
                    <a:lnTo>
                      <a:pt x="7" y="300"/>
                    </a:lnTo>
                    <a:lnTo>
                      <a:pt x="13" y="315"/>
                    </a:lnTo>
                    <a:lnTo>
                      <a:pt x="19" y="327"/>
                    </a:lnTo>
                    <a:lnTo>
                      <a:pt x="28" y="343"/>
                    </a:lnTo>
                    <a:lnTo>
                      <a:pt x="37" y="355"/>
                    </a:lnTo>
                    <a:lnTo>
                      <a:pt x="47" y="368"/>
                    </a:lnTo>
                    <a:lnTo>
                      <a:pt x="59" y="377"/>
                    </a:lnTo>
                    <a:lnTo>
                      <a:pt x="71" y="386"/>
                    </a:lnTo>
                    <a:lnTo>
                      <a:pt x="84" y="395"/>
                    </a:lnTo>
                    <a:lnTo>
                      <a:pt x="99" y="402"/>
                    </a:lnTo>
                    <a:lnTo>
                      <a:pt x="115" y="408"/>
                    </a:lnTo>
                    <a:lnTo>
                      <a:pt x="130" y="411"/>
                    </a:lnTo>
                    <a:lnTo>
                      <a:pt x="146" y="414"/>
                    </a:lnTo>
                    <a:lnTo>
                      <a:pt x="161" y="414"/>
                    </a:lnTo>
                    <a:lnTo>
                      <a:pt x="180" y="414"/>
                    </a:lnTo>
                    <a:lnTo>
                      <a:pt x="195" y="411"/>
                    </a:lnTo>
                    <a:lnTo>
                      <a:pt x="210" y="408"/>
                    </a:lnTo>
                    <a:lnTo>
                      <a:pt x="226" y="402"/>
                    </a:lnTo>
                    <a:lnTo>
                      <a:pt x="238" y="395"/>
                    </a:lnTo>
                    <a:lnTo>
                      <a:pt x="254" y="386"/>
                    </a:lnTo>
                    <a:lnTo>
                      <a:pt x="266" y="377"/>
                    </a:lnTo>
                    <a:lnTo>
                      <a:pt x="278" y="368"/>
                    </a:lnTo>
                    <a:lnTo>
                      <a:pt x="288" y="355"/>
                    </a:lnTo>
                    <a:lnTo>
                      <a:pt x="297" y="343"/>
                    </a:lnTo>
                    <a:lnTo>
                      <a:pt x="306" y="327"/>
                    </a:lnTo>
                    <a:lnTo>
                      <a:pt x="312" y="315"/>
                    </a:lnTo>
                    <a:lnTo>
                      <a:pt x="319" y="300"/>
                    </a:lnTo>
                    <a:lnTo>
                      <a:pt x="322" y="284"/>
                    </a:lnTo>
                    <a:lnTo>
                      <a:pt x="325" y="269"/>
                    </a:lnTo>
                    <a:lnTo>
                      <a:pt x="325" y="250"/>
                    </a:lnTo>
                    <a:lnTo>
                      <a:pt x="325" y="235"/>
                    </a:lnTo>
                    <a:lnTo>
                      <a:pt x="322" y="219"/>
                    </a:lnTo>
                    <a:lnTo>
                      <a:pt x="319" y="204"/>
                    </a:lnTo>
                    <a:lnTo>
                      <a:pt x="312" y="188"/>
                    </a:lnTo>
                    <a:lnTo>
                      <a:pt x="306" y="173"/>
                    </a:lnTo>
                    <a:lnTo>
                      <a:pt x="300" y="161"/>
                    </a:lnTo>
                    <a:lnTo>
                      <a:pt x="291" y="148"/>
                    </a:lnTo>
                    <a:lnTo>
                      <a:pt x="278" y="136"/>
                    </a:lnTo>
                    <a:lnTo>
                      <a:pt x="269" y="127"/>
                    </a:lnTo>
                    <a:lnTo>
                      <a:pt x="257" y="117"/>
                    </a:lnTo>
                    <a:lnTo>
                      <a:pt x="244" y="108"/>
                    </a:lnTo>
                    <a:lnTo>
                      <a:pt x="229" y="102"/>
                    </a:lnTo>
                    <a:lnTo>
                      <a:pt x="217" y="96"/>
                    </a:lnTo>
                    <a:lnTo>
                      <a:pt x="201" y="93"/>
                    </a:lnTo>
                    <a:lnTo>
                      <a:pt x="186" y="89"/>
                    </a:lnTo>
                    <a:lnTo>
                      <a:pt x="170" y="8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85" name="Freeform 53"/>
              <p:cNvSpPr>
                <a:spLocks/>
              </p:cNvSpPr>
              <p:nvPr/>
            </p:nvSpPr>
            <p:spPr bwMode="auto">
              <a:xfrm>
                <a:off x="3490" y="1954"/>
                <a:ext cx="293" cy="293"/>
              </a:xfrm>
              <a:custGeom>
                <a:avLst/>
                <a:gdLst>
                  <a:gd name="T0" fmla="*/ 133 w 293"/>
                  <a:gd name="T1" fmla="*/ 290 h 293"/>
                  <a:gd name="T2" fmla="*/ 102 w 293"/>
                  <a:gd name="T3" fmla="*/ 287 h 293"/>
                  <a:gd name="T4" fmla="*/ 77 w 293"/>
                  <a:gd name="T5" fmla="*/ 275 h 293"/>
                  <a:gd name="T6" fmla="*/ 52 w 293"/>
                  <a:gd name="T7" fmla="*/ 259 h 293"/>
                  <a:gd name="T8" fmla="*/ 34 w 293"/>
                  <a:gd name="T9" fmla="*/ 238 h 293"/>
                  <a:gd name="T10" fmla="*/ 18 w 293"/>
                  <a:gd name="T11" fmla="*/ 216 h 293"/>
                  <a:gd name="T12" fmla="*/ 6 w 293"/>
                  <a:gd name="T13" fmla="*/ 188 h 293"/>
                  <a:gd name="T14" fmla="*/ 3 w 293"/>
                  <a:gd name="T15" fmla="*/ 161 h 293"/>
                  <a:gd name="T16" fmla="*/ 3 w 293"/>
                  <a:gd name="T17" fmla="*/ 130 h 293"/>
                  <a:gd name="T18" fmla="*/ 6 w 293"/>
                  <a:gd name="T19" fmla="*/ 102 h 293"/>
                  <a:gd name="T20" fmla="*/ 18 w 293"/>
                  <a:gd name="T21" fmla="*/ 74 h 293"/>
                  <a:gd name="T22" fmla="*/ 34 w 293"/>
                  <a:gd name="T23" fmla="*/ 52 h 293"/>
                  <a:gd name="T24" fmla="*/ 52 w 293"/>
                  <a:gd name="T25" fmla="*/ 34 h 293"/>
                  <a:gd name="T26" fmla="*/ 77 w 293"/>
                  <a:gd name="T27" fmla="*/ 15 h 293"/>
                  <a:gd name="T28" fmla="*/ 102 w 293"/>
                  <a:gd name="T29" fmla="*/ 6 h 293"/>
                  <a:gd name="T30" fmla="*/ 133 w 293"/>
                  <a:gd name="T31" fmla="*/ 0 h 293"/>
                  <a:gd name="T32" fmla="*/ 161 w 293"/>
                  <a:gd name="T33" fmla="*/ 0 h 293"/>
                  <a:gd name="T34" fmla="*/ 188 w 293"/>
                  <a:gd name="T35" fmla="*/ 6 h 293"/>
                  <a:gd name="T36" fmla="*/ 216 w 293"/>
                  <a:gd name="T37" fmla="*/ 15 h 293"/>
                  <a:gd name="T38" fmla="*/ 241 w 293"/>
                  <a:gd name="T39" fmla="*/ 34 h 293"/>
                  <a:gd name="T40" fmla="*/ 259 w 293"/>
                  <a:gd name="T41" fmla="*/ 52 h 293"/>
                  <a:gd name="T42" fmla="*/ 275 w 293"/>
                  <a:gd name="T43" fmla="*/ 74 h 293"/>
                  <a:gd name="T44" fmla="*/ 284 w 293"/>
                  <a:gd name="T45" fmla="*/ 102 h 293"/>
                  <a:gd name="T46" fmla="*/ 290 w 293"/>
                  <a:gd name="T47" fmla="*/ 130 h 293"/>
                  <a:gd name="T48" fmla="*/ 290 w 293"/>
                  <a:gd name="T49" fmla="*/ 161 h 293"/>
                  <a:gd name="T50" fmla="*/ 284 w 293"/>
                  <a:gd name="T51" fmla="*/ 188 h 293"/>
                  <a:gd name="T52" fmla="*/ 275 w 293"/>
                  <a:gd name="T53" fmla="*/ 216 h 293"/>
                  <a:gd name="T54" fmla="*/ 259 w 293"/>
                  <a:gd name="T55" fmla="*/ 238 h 293"/>
                  <a:gd name="T56" fmla="*/ 241 w 293"/>
                  <a:gd name="T57" fmla="*/ 259 h 293"/>
                  <a:gd name="T58" fmla="*/ 216 w 293"/>
                  <a:gd name="T59" fmla="*/ 275 h 293"/>
                  <a:gd name="T60" fmla="*/ 188 w 293"/>
                  <a:gd name="T61" fmla="*/ 287 h 293"/>
                  <a:gd name="T62" fmla="*/ 161 w 293"/>
                  <a:gd name="T63" fmla="*/ 290 h 293"/>
                  <a:gd name="T64" fmla="*/ 145 w 293"/>
                  <a:gd name="T65" fmla="*/ 293 h 29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93"/>
                  <a:gd name="T100" fmla="*/ 0 h 293"/>
                  <a:gd name="T101" fmla="*/ 293 w 293"/>
                  <a:gd name="T102" fmla="*/ 293 h 29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93" h="293">
                    <a:moveTo>
                      <a:pt x="145" y="293"/>
                    </a:moveTo>
                    <a:lnTo>
                      <a:pt x="133" y="290"/>
                    </a:lnTo>
                    <a:lnTo>
                      <a:pt x="117" y="290"/>
                    </a:lnTo>
                    <a:lnTo>
                      <a:pt x="102" y="287"/>
                    </a:lnTo>
                    <a:lnTo>
                      <a:pt x="89" y="281"/>
                    </a:lnTo>
                    <a:lnTo>
                      <a:pt x="77" y="275"/>
                    </a:lnTo>
                    <a:lnTo>
                      <a:pt x="65" y="269"/>
                    </a:lnTo>
                    <a:lnTo>
                      <a:pt x="52" y="259"/>
                    </a:lnTo>
                    <a:lnTo>
                      <a:pt x="43" y="250"/>
                    </a:lnTo>
                    <a:lnTo>
                      <a:pt x="34" y="238"/>
                    </a:lnTo>
                    <a:lnTo>
                      <a:pt x="25" y="229"/>
                    </a:lnTo>
                    <a:lnTo>
                      <a:pt x="18" y="216"/>
                    </a:lnTo>
                    <a:lnTo>
                      <a:pt x="12" y="204"/>
                    </a:lnTo>
                    <a:lnTo>
                      <a:pt x="6" y="188"/>
                    </a:lnTo>
                    <a:lnTo>
                      <a:pt x="3" y="176"/>
                    </a:lnTo>
                    <a:lnTo>
                      <a:pt x="3" y="161"/>
                    </a:lnTo>
                    <a:lnTo>
                      <a:pt x="0" y="145"/>
                    </a:lnTo>
                    <a:lnTo>
                      <a:pt x="3" y="130"/>
                    </a:lnTo>
                    <a:lnTo>
                      <a:pt x="3" y="117"/>
                    </a:lnTo>
                    <a:lnTo>
                      <a:pt x="6" y="102"/>
                    </a:lnTo>
                    <a:lnTo>
                      <a:pt x="12" y="90"/>
                    </a:lnTo>
                    <a:lnTo>
                      <a:pt x="18" y="74"/>
                    </a:lnTo>
                    <a:lnTo>
                      <a:pt x="25" y="65"/>
                    </a:lnTo>
                    <a:lnTo>
                      <a:pt x="34" y="52"/>
                    </a:lnTo>
                    <a:lnTo>
                      <a:pt x="43" y="43"/>
                    </a:lnTo>
                    <a:lnTo>
                      <a:pt x="52" y="34"/>
                    </a:lnTo>
                    <a:lnTo>
                      <a:pt x="65" y="25"/>
                    </a:lnTo>
                    <a:lnTo>
                      <a:pt x="77" y="15"/>
                    </a:lnTo>
                    <a:lnTo>
                      <a:pt x="89" y="9"/>
                    </a:lnTo>
                    <a:lnTo>
                      <a:pt x="102" y="6"/>
                    </a:lnTo>
                    <a:lnTo>
                      <a:pt x="117" y="3"/>
                    </a:lnTo>
                    <a:lnTo>
                      <a:pt x="133" y="0"/>
                    </a:lnTo>
                    <a:lnTo>
                      <a:pt x="145" y="0"/>
                    </a:lnTo>
                    <a:lnTo>
                      <a:pt x="161" y="0"/>
                    </a:lnTo>
                    <a:lnTo>
                      <a:pt x="176" y="3"/>
                    </a:lnTo>
                    <a:lnTo>
                      <a:pt x="188" y="6"/>
                    </a:lnTo>
                    <a:lnTo>
                      <a:pt x="204" y="9"/>
                    </a:lnTo>
                    <a:lnTo>
                      <a:pt x="216" y="15"/>
                    </a:lnTo>
                    <a:lnTo>
                      <a:pt x="228" y="25"/>
                    </a:lnTo>
                    <a:lnTo>
                      <a:pt x="241" y="34"/>
                    </a:lnTo>
                    <a:lnTo>
                      <a:pt x="250" y="43"/>
                    </a:lnTo>
                    <a:lnTo>
                      <a:pt x="259" y="52"/>
                    </a:lnTo>
                    <a:lnTo>
                      <a:pt x="269" y="65"/>
                    </a:lnTo>
                    <a:lnTo>
                      <a:pt x="275" y="74"/>
                    </a:lnTo>
                    <a:lnTo>
                      <a:pt x="281" y="90"/>
                    </a:lnTo>
                    <a:lnTo>
                      <a:pt x="284" y="102"/>
                    </a:lnTo>
                    <a:lnTo>
                      <a:pt x="290" y="117"/>
                    </a:lnTo>
                    <a:lnTo>
                      <a:pt x="290" y="130"/>
                    </a:lnTo>
                    <a:lnTo>
                      <a:pt x="293" y="145"/>
                    </a:lnTo>
                    <a:lnTo>
                      <a:pt x="290" y="161"/>
                    </a:lnTo>
                    <a:lnTo>
                      <a:pt x="290" y="176"/>
                    </a:lnTo>
                    <a:lnTo>
                      <a:pt x="284" y="188"/>
                    </a:lnTo>
                    <a:lnTo>
                      <a:pt x="281" y="204"/>
                    </a:lnTo>
                    <a:lnTo>
                      <a:pt x="275" y="216"/>
                    </a:lnTo>
                    <a:lnTo>
                      <a:pt x="269" y="229"/>
                    </a:lnTo>
                    <a:lnTo>
                      <a:pt x="259" y="238"/>
                    </a:lnTo>
                    <a:lnTo>
                      <a:pt x="250" y="250"/>
                    </a:lnTo>
                    <a:lnTo>
                      <a:pt x="241" y="259"/>
                    </a:lnTo>
                    <a:lnTo>
                      <a:pt x="228" y="269"/>
                    </a:lnTo>
                    <a:lnTo>
                      <a:pt x="216" y="275"/>
                    </a:lnTo>
                    <a:lnTo>
                      <a:pt x="204" y="281"/>
                    </a:lnTo>
                    <a:lnTo>
                      <a:pt x="188" y="287"/>
                    </a:lnTo>
                    <a:lnTo>
                      <a:pt x="176" y="290"/>
                    </a:lnTo>
                    <a:lnTo>
                      <a:pt x="161" y="290"/>
                    </a:lnTo>
                    <a:lnTo>
                      <a:pt x="145" y="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86" name="Freeform 54"/>
              <p:cNvSpPr>
                <a:spLocks/>
              </p:cNvSpPr>
              <p:nvPr/>
            </p:nvSpPr>
            <p:spPr bwMode="auto">
              <a:xfrm>
                <a:off x="3620" y="1979"/>
                <a:ext cx="31" cy="31"/>
              </a:xfrm>
              <a:custGeom>
                <a:avLst/>
                <a:gdLst>
                  <a:gd name="T0" fmla="*/ 15 w 31"/>
                  <a:gd name="T1" fmla="*/ 31 h 31"/>
                  <a:gd name="T2" fmla="*/ 18 w 31"/>
                  <a:gd name="T3" fmla="*/ 27 h 31"/>
                  <a:gd name="T4" fmla="*/ 21 w 31"/>
                  <a:gd name="T5" fmla="*/ 27 h 31"/>
                  <a:gd name="T6" fmla="*/ 24 w 31"/>
                  <a:gd name="T7" fmla="*/ 27 h 31"/>
                  <a:gd name="T8" fmla="*/ 27 w 31"/>
                  <a:gd name="T9" fmla="*/ 24 h 31"/>
                  <a:gd name="T10" fmla="*/ 27 w 31"/>
                  <a:gd name="T11" fmla="*/ 21 h 31"/>
                  <a:gd name="T12" fmla="*/ 31 w 31"/>
                  <a:gd name="T13" fmla="*/ 21 h 31"/>
                  <a:gd name="T14" fmla="*/ 31 w 31"/>
                  <a:gd name="T15" fmla="*/ 18 h 31"/>
                  <a:gd name="T16" fmla="*/ 31 w 31"/>
                  <a:gd name="T17" fmla="*/ 15 h 31"/>
                  <a:gd name="T18" fmla="*/ 31 w 31"/>
                  <a:gd name="T19" fmla="*/ 12 h 31"/>
                  <a:gd name="T20" fmla="*/ 31 w 31"/>
                  <a:gd name="T21" fmla="*/ 9 h 31"/>
                  <a:gd name="T22" fmla="*/ 27 w 31"/>
                  <a:gd name="T23" fmla="*/ 6 h 31"/>
                  <a:gd name="T24" fmla="*/ 27 w 31"/>
                  <a:gd name="T25" fmla="*/ 3 h 31"/>
                  <a:gd name="T26" fmla="*/ 24 w 31"/>
                  <a:gd name="T27" fmla="*/ 3 h 31"/>
                  <a:gd name="T28" fmla="*/ 21 w 31"/>
                  <a:gd name="T29" fmla="*/ 0 h 31"/>
                  <a:gd name="T30" fmla="*/ 18 w 31"/>
                  <a:gd name="T31" fmla="*/ 0 h 31"/>
                  <a:gd name="T32" fmla="*/ 15 w 31"/>
                  <a:gd name="T33" fmla="*/ 0 h 31"/>
                  <a:gd name="T34" fmla="*/ 12 w 31"/>
                  <a:gd name="T35" fmla="*/ 0 h 31"/>
                  <a:gd name="T36" fmla="*/ 9 w 31"/>
                  <a:gd name="T37" fmla="*/ 0 h 31"/>
                  <a:gd name="T38" fmla="*/ 6 w 31"/>
                  <a:gd name="T39" fmla="*/ 3 h 31"/>
                  <a:gd name="T40" fmla="*/ 6 w 31"/>
                  <a:gd name="T41" fmla="*/ 3 h 31"/>
                  <a:gd name="T42" fmla="*/ 3 w 31"/>
                  <a:gd name="T43" fmla="*/ 6 h 31"/>
                  <a:gd name="T44" fmla="*/ 3 w 31"/>
                  <a:gd name="T45" fmla="*/ 9 h 31"/>
                  <a:gd name="T46" fmla="*/ 3 w 31"/>
                  <a:gd name="T47" fmla="*/ 12 h 31"/>
                  <a:gd name="T48" fmla="*/ 0 w 31"/>
                  <a:gd name="T49" fmla="*/ 15 h 31"/>
                  <a:gd name="T50" fmla="*/ 3 w 31"/>
                  <a:gd name="T51" fmla="*/ 18 h 31"/>
                  <a:gd name="T52" fmla="*/ 3 w 31"/>
                  <a:gd name="T53" fmla="*/ 21 h 31"/>
                  <a:gd name="T54" fmla="*/ 3 w 31"/>
                  <a:gd name="T55" fmla="*/ 21 h 31"/>
                  <a:gd name="T56" fmla="*/ 6 w 31"/>
                  <a:gd name="T57" fmla="*/ 24 h 31"/>
                  <a:gd name="T58" fmla="*/ 6 w 31"/>
                  <a:gd name="T59" fmla="*/ 27 h 31"/>
                  <a:gd name="T60" fmla="*/ 9 w 31"/>
                  <a:gd name="T61" fmla="*/ 27 h 31"/>
                  <a:gd name="T62" fmla="*/ 12 w 31"/>
                  <a:gd name="T63" fmla="*/ 27 h 31"/>
                  <a:gd name="T64" fmla="*/ 15 w 31"/>
                  <a:gd name="T65" fmla="*/ 31 h 31"/>
                  <a:gd name="T66" fmla="*/ 15 w 31"/>
                  <a:gd name="T67" fmla="*/ 31 h 3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1"/>
                  <a:gd name="T103" fmla="*/ 0 h 31"/>
                  <a:gd name="T104" fmla="*/ 31 w 31"/>
                  <a:gd name="T105" fmla="*/ 31 h 3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1" h="31">
                    <a:moveTo>
                      <a:pt x="15" y="31"/>
                    </a:moveTo>
                    <a:lnTo>
                      <a:pt x="18" y="27"/>
                    </a:lnTo>
                    <a:lnTo>
                      <a:pt x="21" y="27"/>
                    </a:lnTo>
                    <a:lnTo>
                      <a:pt x="24" y="27"/>
                    </a:lnTo>
                    <a:lnTo>
                      <a:pt x="27" y="24"/>
                    </a:lnTo>
                    <a:lnTo>
                      <a:pt x="27" y="21"/>
                    </a:lnTo>
                    <a:lnTo>
                      <a:pt x="31" y="21"/>
                    </a:lnTo>
                    <a:lnTo>
                      <a:pt x="31" y="18"/>
                    </a:lnTo>
                    <a:lnTo>
                      <a:pt x="31" y="15"/>
                    </a:lnTo>
                    <a:lnTo>
                      <a:pt x="31" y="12"/>
                    </a:lnTo>
                    <a:lnTo>
                      <a:pt x="31" y="9"/>
                    </a:lnTo>
                    <a:lnTo>
                      <a:pt x="27" y="6"/>
                    </a:lnTo>
                    <a:lnTo>
                      <a:pt x="27" y="3"/>
                    </a:lnTo>
                    <a:lnTo>
                      <a:pt x="24" y="3"/>
                    </a:lnTo>
                    <a:lnTo>
                      <a:pt x="21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0" y="15"/>
                    </a:lnTo>
                    <a:lnTo>
                      <a:pt x="3" y="18"/>
                    </a:lnTo>
                    <a:lnTo>
                      <a:pt x="3" y="21"/>
                    </a:lnTo>
                    <a:lnTo>
                      <a:pt x="6" y="24"/>
                    </a:lnTo>
                    <a:lnTo>
                      <a:pt x="6" y="27"/>
                    </a:lnTo>
                    <a:lnTo>
                      <a:pt x="9" y="27"/>
                    </a:lnTo>
                    <a:lnTo>
                      <a:pt x="12" y="27"/>
                    </a:lnTo>
                    <a:lnTo>
                      <a:pt x="15" y="3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87" name="Freeform 55"/>
              <p:cNvSpPr>
                <a:spLocks/>
              </p:cNvSpPr>
              <p:nvPr/>
            </p:nvSpPr>
            <p:spPr bwMode="auto">
              <a:xfrm>
                <a:off x="3672" y="1991"/>
                <a:ext cx="31" cy="31"/>
              </a:xfrm>
              <a:custGeom>
                <a:avLst/>
                <a:gdLst>
                  <a:gd name="T0" fmla="*/ 9 w 31"/>
                  <a:gd name="T1" fmla="*/ 31 h 31"/>
                  <a:gd name="T2" fmla="*/ 12 w 31"/>
                  <a:gd name="T3" fmla="*/ 31 h 31"/>
                  <a:gd name="T4" fmla="*/ 16 w 31"/>
                  <a:gd name="T5" fmla="*/ 31 h 31"/>
                  <a:gd name="T6" fmla="*/ 19 w 31"/>
                  <a:gd name="T7" fmla="*/ 31 h 31"/>
                  <a:gd name="T8" fmla="*/ 22 w 31"/>
                  <a:gd name="T9" fmla="*/ 31 h 31"/>
                  <a:gd name="T10" fmla="*/ 22 w 31"/>
                  <a:gd name="T11" fmla="*/ 31 h 31"/>
                  <a:gd name="T12" fmla="*/ 25 w 31"/>
                  <a:gd name="T13" fmla="*/ 28 h 31"/>
                  <a:gd name="T14" fmla="*/ 28 w 31"/>
                  <a:gd name="T15" fmla="*/ 25 h 31"/>
                  <a:gd name="T16" fmla="*/ 28 w 31"/>
                  <a:gd name="T17" fmla="*/ 25 h 31"/>
                  <a:gd name="T18" fmla="*/ 31 w 31"/>
                  <a:gd name="T19" fmla="*/ 19 h 31"/>
                  <a:gd name="T20" fmla="*/ 31 w 31"/>
                  <a:gd name="T21" fmla="*/ 12 h 31"/>
                  <a:gd name="T22" fmla="*/ 28 w 31"/>
                  <a:gd name="T23" fmla="*/ 6 h 31"/>
                  <a:gd name="T24" fmla="*/ 25 w 31"/>
                  <a:gd name="T25" fmla="*/ 3 h 31"/>
                  <a:gd name="T26" fmla="*/ 22 w 31"/>
                  <a:gd name="T27" fmla="*/ 3 h 31"/>
                  <a:gd name="T28" fmla="*/ 19 w 31"/>
                  <a:gd name="T29" fmla="*/ 0 h 31"/>
                  <a:gd name="T30" fmla="*/ 16 w 31"/>
                  <a:gd name="T31" fmla="*/ 0 h 31"/>
                  <a:gd name="T32" fmla="*/ 12 w 31"/>
                  <a:gd name="T33" fmla="*/ 3 h 31"/>
                  <a:gd name="T34" fmla="*/ 9 w 31"/>
                  <a:gd name="T35" fmla="*/ 3 h 31"/>
                  <a:gd name="T36" fmla="*/ 6 w 31"/>
                  <a:gd name="T37" fmla="*/ 6 h 31"/>
                  <a:gd name="T38" fmla="*/ 6 w 31"/>
                  <a:gd name="T39" fmla="*/ 6 h 31"/>
                  <a:gd name="T40" fmla="*/ 3 w 31"/>
                  <a:gd name="T41" fmla="*/ 9 h 31"/>
                  <a:gd name="T42" fmla="*/ 0 w 31"/>
                  <a:gd name="T43" fmla="*/ 15 h 31"/>
                  <a:gd name="T44" fmla="*/ 3 w 31"/>
                  <a:gd name="T45" fmla="*/ 22 h 31"/>
                  <a:gd name="T46" fmla="*/ 3 w 31"/>
                  <a:gd name="T47" fmla="*/ 25 h 31"/>
                  <a:gd name="T48" fmla="*/ 9 w 31"/>
                  <a:gd name="T49" fmla="*/ 31 h 31"/>
                  <a:gd name="T50" fmla="*/ 9 w 31"/>
                  <a:gd name="T51" fmla="*/ 31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31"/>
                  <a:gd name="T80" fmla="*/ 31 w 31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31">
                    <a:moveTo>
                      <a:pt x="9" y="31"/>
                    </a:moveTo>
                    <a:lnTo>
                      <a:pt x="12" y="31"/>
                    </a:lnTo>
                    <a:lnTo>
                      <a:pt x="16" y="31"/>
                    </a:lnTo>
                    <a:lnTo>
                      <a:pt x="19" y="31"/>
                    </a:lnTo>
                    <a:lnTo>
                      <a:pt x="22" y="31"/>
                    </a:lnTo>
                    <a:lnTo>
                      <a:pt x="25" y="28"/>
                    </a:lnTo>
                    <a:lnTo>
                      <a:pt x="28" y="25"/>
                    </a:lnTo>
                    <a:lnTo>
                      <a:pt x="31" y="19"/>
                    </a:lnTo>
                    <a:lnTo>
                      <a:pt x="31" y="12"/>
                    </a:lnTo>
                    <a:lnTo>
                      <a:pt x="28" y="6"/>
                    </a:lnTo>
                    <a:lnTo>
                      <a:pt x="25" y="3"/>
                    </a:lnTo>
                    <a:lnTo>
                      <a:pt x="22" y="3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6"/>
                    </a:lnTo>
                    <a:lnTo>
                      <a:pt x="3" y="9"/>
                    </a:lnTo>
                    <a:lnTo>
                      <a:pt x="0" y="15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88" name="Freeform 56"/>
              <p:cNvSpPr>
                <a:spLocks/>
              </p:cNvSpPr>
              <p:nvPr/>
            </p:nvSpPr>
            <p:spPr bwMode="auto">
              <a:xfrm>
                <a:off x="3712" y="2031"/>
                <a:ext cx="31" cy="31"/>
              </a:xfrm>
              <a:custGeom>
                <a:avLst/>
                <a:gdLst>
                  <a:gd name="T0" fmla="*/ 3 w 31"/>
                  <a:gd name="T1" fmla="*/ 22 h 31"/>
                  <a:gd name="T2" fmla="*/ 3 w 31"/>
                  <a:gd name="T3" fmla="*/ 25 h 31"/>
                  <a:gd name="T4" fmla="*/ 6 w 31"/>
                  <a:gd name="T5" fmla="*/ 28 h 31"/>
                  <a:gd name="T6" fmla="*/ 10 w 31"/>
                  <a:gd name="T7" fmla="*/ 28 h 31"/>
                  <a:gd name="T8" fmla="*/ 13 w 31"/>
                  <a:gd name="T9" fmla="*/ 31 h 31"/>
                  <a:gd name="T10" fmla="*/ 16 w 31"/>
                  <a:gd name="T11" fmla="*/ 31 h 31"/>
                  <a:gd name="T12" fmla="*/ 19 w 31"/>
                  <a:gd name="T13" fmla="*/ 31 h 31"/>
                  <a:gd name="T14" fmla="*/ 19 w 31"/>
                  <a:gd name="T15" fmla="*/ 28 h 31"/>
                  <a:gd name="T16" fmla="*/ 22 w 31"/>
                  <a:gd name="T17" fmla="*/ 28 h 31"/>
                  <a:gd name="T18" fmla="*/ 28 w 31"/>
                  <a:gd name="T19" fmla="*/ 25 h 31"/>
                  <a:gd name="T20" fmla="*/ 31 w 31"/>
                  <a:gd name="T21" fmla="*/ 19 h 31"/>
                  <a:gd name="T22" fmla="*/ 31 w 31"/>
                  <a:gd name="T23" fmla="*/ 13 h 31"/>
                  <a:gd name="T24" fmla="*/ 28 w 31"/>
                  <a:gd name="T25" fmla="*/ 9 h 31"/>
                  <a:gd name="T26" fmla="*/ 28 w 31"/>
                  <a:gd name="T27" fmla="*/ 6 h 31"/>
                  <a:gd name="T28" fmla="*/ 25 w 31"/>
                  <a:gd name="T29" fmla="*/ 3 h 31"/>
                  <a:gd name="T30" fmla="*/ 22 w 31"/>
                  <a:gd name="T31" fmla="*/ 3 h 31"/>
                  <a:gd name="T32" fmla="*/ 19 w 31"/>
                  <a:gd name="T33" fmla="*/ 0 h 31"/>
                  <a:gd name="T34" fmla="*/ 16 w 31"/>
                  <a:gd name="T35" fmla="*/ 0 h 31"/>
                  <a:gd name="T36" fmla="*/ 13 w 31"/>
                  <a:gd name="T37" fmla="*/ 0 h 31"/>
                  <a:gd name="T38" fmla="*/ 10 w 31"/>
                  <a:gd name="T39" fmla="*/ 0 h 31"/>
                  <a:gd name="T40" fmla="*/ 6 w 31"/>
                  <a:gd name="T41" fmla="*/ 3 h 31"/>
                  <a:gd name="T42" fmla="*/ 3 w 31"/>
                  <a:gd name="T43" fmla="*/ 6 h 31"/>
                  <a:gd name="T44" fmla="*/ 0 w 31"/>
                  <a:gd name="T45" fmla="*/ 13 h 31"/>
                  <a:gd name="T46" fmla="*/ 0 w 31"/>
                  <a:gd name="T47" fmla="*/ 16 h 31"/>
                  <a:gd name="T48" fmla="*/ 3 w 31"/>
                  <a:gd name="T49" fmla="*/ 22 h 31"/>
                  <a:gd name="T50" fmla="*/ 3 w 31"/>
                  <a:gd name="T51" fmla="*/ 22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31"/>
                  <a:gd name="T80" fmla="*/ 31 w 31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31">
                    <a:moveTo>
                      <a:pt x="3" y="22"/>
                    </a:moveTo>
                    <a:lnTo>
                      <a:pt x="3" y="25"/>
                    </a:lnTo>
                    <a:lnTo>
                      <a:pt x="6" y="28"/>
                    </a:lnTo>
                    <a:lnTo>
                      <a:pt x="10" y="28"/>
                    </a:lnTo>
                    <a:lnTo>
                      <a:pt x="13" y="31"/>
                    </a:lnTo>
                    <a:lnTo>
                      <a:pt x="16" y="31"/>
                    </a:lnTo>
                    <a:lnTo>
                      <a:pt x="19" y="31"/>
                    </a:lnTo>
                    <a:lnTo>
                      <a:pt x="19" y="28"/>
                    </a:lnTo>
                    <a:lnTo>
                      <a:pt x="22" y="28"/>
                    </a:lnTo>
                    <a:lnTo>
                      <a:pt x="28" y="25"/>
                    </a:lnTo>
                    <a:lnTo>
                      <a:pt x="31" y="19"/>
                    </a:lnTo>
                    <a:lnTo>
                      <a:pt x="31" y="13"/>
                    </a:lnTo>
                    <a:lnTo>
                      <a:pt x="28" y="9"/>
                    </a:lnTo>
                    <a:lnTo>
                      <a:pt x="28" y="6"/>
                    </a:lnTo>
                    <a:lnTo>
                      <a:pt x="25" y="3"/>
                    </a:lnTo>
                    <a:lnTo>
                      <a:pt x="22" y="3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0" y="0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89" name="Freeform 57"/>
              <p:cNvSpPr>
                <a:spLocks/>
              </p:cNvSpPr>
              <p:nvPr/>
            </p:nvSpPr>
            <p:spPr bwMode="auto">
              <a:xfrm>
                <a:off x="3728" y="2084"/>
                <a:ext cx="31" cy="31"/>
              </a:xfrm>
              <a:custGeom>
                <a:avLst/>
                <a:gdLst>
                  <a:gd name="T0" fmla="*/ 0 w 31"/>
                  <a:gd name="T1" fmla="*/ 15 h 31"/>
                  <a:gd name="T2" fmla="*/ 0 w 31"/>
                  <a:gd name="T3" fmla="*/ 18 h 31"/>
                  <a:gd name="T4" fmla="*/ 0 w 31"/>
                  <a:gd name="T5" fmla="*/ 21 h 31"/>
                  <a:gd name="T6" fmla="*/ 3 w 31"/>
                  <a:gd name="T7" fmla="*/ 24 h 31"/>
                  <a:gd name="T8" fmla="*/ 3 w 31"/>
                  <a:gd name="T9" fmla="*/ 24 h 31"/>
                  <a:gd name="T10" fmla="*/ 6 w 31"/>
                  <a:gd name="T11" fmla="*/ 28 h 31"/>
                  <a:gd name="T12" fmla="*/ 9 w 31"/>
                  <a:gd name="T13" fmla="*/ 31 h 31"/>
                  <a:gd name="T14" fmla="*/ 12 w 31"/>
                  <a:gd name="T15" fmla="*/ 31 h 31"/>
                  <a:gd name="T16" fmla="*/ 15 w 31"/>
                  <a:gd name="T17" fmla="*/ 31 h 31"/>
                  <a:gd name="T18" fmla="*/ 18 w 31"/>
                  <a:gd name="T19" fmla="*/ 31 h 31"/>
                  <a:gd name="T20" fmla="*/ 18 w 31"/>
                  <a:gd name="T21" fmla="*/ 31 h 31"/>
                  <a:gd name="T22" fmla="*/ 21 w 31"/>
                  <a:gd name="T23" fmla="*/ 28 h 31"/>
                  <a:gd name="T24" fmla="*/ 24 w 31"/>
                  <a:gd name="T25" fmla="*/ 24 h 31"/>
                  <a:gd name="T26" fmla="*/ 28 w 31"/>
                  <a:gd name="T27" fmla="*/ 24 h 31"/>
                  <a:gd name="T28" fmla="*/ 28 w 31"/>
                  <a:gd name="T29" fmla="*/ 21 h 31"/>
                  <a:gd name="T30" fmla="*/ 28 w 31"/>
                  <a:gd name="T31" fmla="*/ 18 h 31"/>
                  <a:gd name="T32" fmla="*/ 31 w 31"/>
                  <a:gd name="T33" fmla="*/ 15 h 31"/>
                  <a:gd name="T34" fmla="*/ 28 w 31"/>
                  <a:gd name="T35" fmla="*/ 12 h 31"/>
                  <a:gd name="T36" fmla="*/ 28 w 31"/>
                  <a:gd name="T37" fmla="*/ 9 h 31"/>
                  <a:gd name="T38" fmla="*/ 28 w 31"/>
                  <a:gd name="T39" fmla="*/ 6 h 31"/>
                  <a:gd name="T40" fmla="*/ 24 w 31"/>
                  <a:gd name="T41" fmla="*/ 6 h 31"/>
                  <a:gd name="T42" fmla="*/ 21 w 31"/>
                  <a:gd name="T43" fmla="*/ 3 h 31"/>
                  <a:gd name="T44" fmla="*/ 18 w 31"/>
                  <a:gd name="T45" fmla="*/ 0 h 31"/>
                  <a:gd name="T46" fmla="*/ 18 w 31"/>
                  <a:gd name="T47" fmla="*/ 0 h 31"/>
                  <a:gd name="T48" fmla="*/ 15 w 31"/>
                  <a:gd name="T49" fmla="*/ 0 h 31"/>
                  <a:gd name="T50" fmla="*/ 12 w 31"/>
                  <a:gd name="T51" fmla="*/ 0 h 31"/>
                  <a:gd name="T52" fmla="*/ 9 w 31"/>
                  <a:gd name="T53" fmla="*/ 0 h 31"/>
                  <a:gd name="T54" fmla="*/ 6 w 31"/>
                  <a:gd name="T55" fmla="*/ 3 h 31"/>
                  <a:gd name="T56" fmla="*/ 3 w 31"/>
                  <a:gd name="T57" fmla="*/ 6 h 31"/>
                  <a:gd name="T58" fmla="*/ 3 w 31"/>
                  <a:gd name="T59" fmla="*/ 6 h 31"/>
                  <a:gd name="T60" fmla="*/ 0 w 31"/>
                  <a:gd name="T61" fmla="*/ 9 h 31"/>
                  <a:gd name="T62" fmla="*/ 0 w 31"/>
                  <a:gd name="T63" fmla="*/ 12 h 31"/>
                  <a:gd name="T64" fmla="*/ 0 w 31"/>
                  <a:gd name="T65" fmla="*/ 15 h 31"/>
                  <a:gd name="T66" fmla="*/ 0 w 31"/>
                  <a:gd name="T67" fmla="*/ 15 h 3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1"/>
                  <a:gd name="T103" fmla="*/ 0 h 31"/>
                  <a:gd name="T104" fmla="*/ 31 w 31"/>
                  <a:gd name="T105" fmla="*/ 31 h 3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1" h="31">
                    <a:moveTo>
                      <a:pt x="0" y="15"/>
                    </a:moveTo>
                    <a:lnTo>
                      <a:pt x="0" y="18"/>
                    </a:lnTo>
                    <a:lnTo>
                      <a:pt x="0" y="21"/>
                    </a:lnTo>
                    <a:lnTo>
                      <a:pt x="3" y="24"/>
                    </a:lnTo>
                    <a:lnTo>
                      <a:pt x="6" y="28"/>
                    </a:lnTo>
                    <a:lnTo>
                      <a:pt x="9" y="31"/>
                    </a:lnTo>
                    <a:lnTo>
                      <a:pt x="12" y="31"/>
                    </a:lnTo>
                    <a:lnTo>
                      <a:pt x="15" y="31"/>
                    </a:lnTo>
                    <a:lnTo>
                      <a:pt x="18" y="31"/>
                    </a:lnTo>
                    <a:lnTo>
                      <a:pt x="21" y="28"/>
                    </a:lnTo>
                    <a:lnTo>
                      <a:pt x="24" y="24"/>
                    </a:lnTo>
                    <a:lnTo>
                      <a:pt x="28" y="24"/>
                    </a:lnTo>
                    <a:lnTo>
                      <a:pt x="28" y="21"/>
                    </a:lnTo>
                    <a:lnTo>
                      <a:pt x="28" y="18"/>
                    </a:lnTo>
                    <a:lnTo>
                      <a:pt x="31" y="15"/>
                    </a:lnTo>
                    <a:lnTo>
                      <a:pt x="28" y="12"/>
                    </a:lnTo>
                    <a:lnTo>
                      <a:pt x="28" y="9"/>
                    </a:lnTo>
                    <a:lnTo>
                      <a:pt x="28" y="6"/>
                    </a:lnTo>
                    <a:lnTo>
                      <a:pt x="24" y="6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0" name="Freeform 58"/>
              <p:cNvSpPr>
                <a:spLocks/>
              </p:cNvSpPr>
              <p:nvPr/>
            </p:nvSpPr>
            <p:spPr bwMode="auto">
              <a:xfrm>
                <a:off x="3712" y="2136"/>
                <a:ext cx="31" cy="31"/>
              </a:xfrm>
              <a:custGeom>
                <a:avLst/>
                <a:gdLst>
                  <a:gd name="T0" fmla="*/ 3 w 31"/>
                  <a:gd name="T1" fmla="*/ 10 h 31"/>
                  <a:gd name="T2" fmla="*/ 0 w 31"/>
                  <a:gd name="T3" fmla="*/ 16 h 31"/>
                  <a:gd name="T4" fmla="*/ 0 w 31"/>
                  <a:gd name="T5" fmla="*/ 22 h 31"/>
                  <a:gd name="T6" fmla="*/ 3 w 31"/>
                  <a:gd name="T7" fmla="*/ 25 h 31"/>
                  <a:gd name="T8" fmla="*/ 10 w 31"/>
                  <a:gd name="T9" fmla="*/ 31 h 31"/>
                  <a:gd name="T10" fmla="*/ 13 w 31"/>
                  <a:gd name="T11" fmla="*/ 31 h 31"/>
                  <a:gd name="T12" fmla="*/ 16 w 31"/>
                  <a:gd name="T13" fmla="*/ 31 h 31"/>
                  <a:gd name="T14" fmla="*/ 19 w 31"/>
                  <a:gd name="T15" fmla="*/ 31 h 31"/>
                  <a:gd name="T16" fmla="*/ 19 w 31"/>
                  <a:gd name="T17" fmla="*/ 31 h 31"/>
                  <a:gd name="T18" fmla="*/ 22 w 31"/>
                  <a:gd name="T19" fmla="*/ 31 h 31"/>
                  <a:gd name="T20" fmla="*/ 25 w 31"/>
                  <a:gd name="T21" fmla="*/ 28 h 31"/>
                  <a:gd name="T22" fmla="*/ 28 w 31"/>
                  <a:gd name="T23" fmla="*/ 28 h 31"/>
                  <a:gd name="T24" fmla="*/ 28 w 31"/>
                  <a:gd name="T25" fmla="*/ 25 h 31"/>
                  <a:gd name="T26" fmla="*/ 31 w 31"/>
                  <a:gd name="T27" fmla="*/ 19 h 31"/>
                  <a:gd name="T28" fmla="*/ 31 w 31"/>
                  <a:gd name="T29" fmla="*/ 13 h 31"/>
                  <a:gd name="T30" fmla="*/ 28 w 31"/>
                  <a:gd name="T31" fmla="*/ 6 h 31"/>
                  <a:gd name="T32" fmla="*/ 25 w 31"/>
                  <a:gd name="T33" fmla="*/ 3 h 31"/>
                  <a:gd name="T34" fmla="*/ 22 w 31"/>
                  <a:gd name="T35" fmla="*/ 3 h 31"/>
                  <a:gd name="T36" fmla="*/ 19 w 31"/>
                  <a:gd name="T37" fmla="*/ 0 h 31"/>
                  <a:gd name="T38" fmla="*/ 16 w 31"/>
                  <a:gd name="T39" fmla="*/ 0 h 31"/>
                  <a:gd name="T40" fmla="*/ 13 w 31"/>
                  <a:gd name="T41" fmla="*/ 0 h 31"/>
                  <a:gd name="T42" fmla="*/ 10 w 31"/>
                  <a:gd name="T43" fmla="*/ 3 h 31"/>
                  <a:gd name="T44" fmla="*/ 6 w 31"/>
                  <a:gd name="T45" fmla="*/ 3 h 31"/>
                  <a:gd name="T46" fmla="*/ 3 w 31"/>
                  <a:gd name="T47" fmla="*/ 6 h 31"/>
                  <a:gd name="T48" fmla="*/ 3 w 31"/>
                  <a:gd name="T49" fmla="*/ 10 h 31"/>
                  <a:gd name="T50" fmla="*/ 3 w 31"/>
                  <a:gd name="T51" fmla="*/ 10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31"/>
                  <a:gd name="T80" fmla="*/ 31 w 31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31">
                    <a:moveTo>
                      <a:pt x="3" y="10"/>
                    </a:moveTo>
                    <a:lnTo>
                      <a:pt x="0" y="16"/>
                    </a:lnTo>
                    <a:lnTo>
                      <a:pt x="0" y="22"/>
                    </a:lnTo>
                    <a:lnTo>
                      <a:pt x="3" y="25"/>
                    </a:lnTo>
                    <a:lnTo>
                      <a:pt x="10" y="31"/>
                    </a:lnTo>
                    <a:lnTo>
                      <a:pt x="13" y="31"/>
                    </a:lnTo>
                    <a:lnTo>
                      <a:pt x="16" y="31"/>
                    </a:lnTo>
                    <a:lnTo>
                      <a:pt x="19" y="31"/>
                    </a:lnTo>
                    <a:lnTo>
                      <a:pt x="22" y="31"/>
                    </a:lnTo>
                    <a:lnTo>
                      <a:pt x="25" y="28"/>
                    </a:lnTo>
                    <a:lnTo>
                      <a:pt x="28" y="28"/>
                    </a:lnTo>
                    <a:lnTo>
                      <a:pt x="28" y="25"/>
                    </a:lnTo>
                    <a:lnTo>
                      <a:pt x="31" y="19"/>
                    </a:lnTo>
                    <a:lnTo>
                      <a:pt x="31" y="13"/>
                    </a:lnTo>
                    <a:lnTo>
                      <a:pt x="28" y="6"/>
                    </a:lnTo>
                    <a:lnTo>
                      <a:pt x="25" y="3"/>
                    </a:lnTo>
                    <a:lnTo>
                      <a:pt x="22" y="3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10" y="3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1" name="Freeform 59"/>
              <p:cNvSpPr>
                <a:spLocks/>
              </p:cNvSpPr>
              <p:nvPr/>
            </p:nvSpPr>
            <p:spPr bwMode="auto">
              <a:xfrm>
                <a:off x="3675" y="2176"/>
                <a:ext cx="28" cy="31"/>
              </a:xfrm>
              <a:custGeom>
                <a:avLst/>
                <a:gdLst>
                  <a:gd name="T0" fmla="*/ 6 w 28"/>
                  <a:gd name="T1" fmla="*/ 4 h 31"/>
                  <a:gd name="T2" fmla="*/ 3 w 28"/>
                  <a:gd name="T3" fmla="*/ 7 h 31"/>
                  <a:gd name="T4" fmla="*/ 0 w 28"/>
                  <a:gd name="T5" fmla="*/ 13 h 31"/>
                  <a:gd name="T6" fmla="*/ 0 w 28"/>
                  <a:gd name="T7" fmla="*/ 19 h 31"/>
                  <a:gd name="T8" fmla="*/ 0 w 28"/>
                  <a:gd name="T9" fmla="*/ 22 h 31"/>
                  <a:gd name="T10" fmla="*/ 3 w 28"/>
                  <a:gd name="T11" fmla="*/ 25 h 31"/>
                  <a:gd name="T12" fmla="*/ 6 w 28"/>
                  <a:gd name="T13" fmla="*/ 28 h 31"/>
                  <a:gd name="T14" fmla="*/ 9 w 28"/>
                  <a:gd name="T15" fmla="*/ 28 h 31"/>
                  <a:gd name="T16" fmla="*/ 9 w 28"/>
                  <a:gd name="T17" fmla="*/ 31 h 31"/>
                  <a:gd name="T18" fmla="*/ 13 w 28"/>
                  <a:gd name="T19" fmla="*/ 31 h 31"/>
                  <a:gd name="T20" fmla="*/ 16 w 28"/>
                  <a:gd name="T21" fmla="*/ 31 h 31"/>
                  <a:gd name="T22" fmla="*/ 19 w 28"/>
                  <a:gd name="T23" fmla="*/ 28 h 31"/>
                  <a:gd name="T24" fmla="*/ 22 w 28"/>
                  <a:gd name="T25" fmla="*/ 28 h 31"/>
                  <a:gd name="T26" fmla="*/ 25 w 28"/>
                  <a:gd name="T27" fmla="*/ 25 h 31"/>
                  <a:gd name="T28" fmla="*/ 28 w 28"/>
                  <a:gd name="T29" fmla="*/ 19 h 31"/>
                  <a:gd name="T30" fmla="*/ 28 w 28"/>
                  <a:gd name="T31" fmla="*/ 13 h 31"/>
                  <a:gd name="T32" fmla="*/ 28 w 28"/>
                  <a:gd name="T33" fmla="*/ 7 h 31"/>
                  <a:gd name="T34" fmla="*/ 25 w 28"/>
                  <a:gd name="T35" fmla="*/ 7 h 31"/>
                  <a:gd name="T36" fmla="*/ 25 w 28"/>
                  <a:gd name="T37" fmla="*/ 4 h 31"/>
                  <a:gd name="T38" fmla="*/ 22 w 28"/>
                  <a:gd name="T39" fmla="*/ 4 h 31"/>
                  <a:gd name="T40" fmla="*/ 19 w 28"/>
                  <a:gd name="T41" fmla="*/ 0 h 31"/>
                  <a:gd name="T42" fmla="*/ 16 w 28"/>
                  <a:gd name="T43" fmla="*/ 0 h 31"/>
                  <a:gd name="T44" fmla="*/ 13 w 28"/>
                  <a:gd name="T45" fmla="*/ 0 h 31"/>
                  <a:gd name="T46" fmla="*/ 9 w 28"/>
                  <a:gd name="T47" fmla="*/ 0 h 31"/>
                  <a:gd name="T48" fmla="*/ 6 w 28"/>
                  <a:gd name="T49" fmla="*/ 4 h 31"/>
                  <a:gd name="T50" fmla="*/ 6 w 28"/>
                  <a:gd name="T51" fmla="*/ 4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8"/>
                  <a:gd name="T79" fmla="*/ 0 h 31"/>
                  <a:gd name="T80" fmla="*/ 28 w 28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8" h="31">
                    <a:moveTo>
                      <a:pt x="6" y="4"/>
                    </a:moveTo>
                    <a:lnTo>
                      <a:pt x="3" y="7"/>
                    </a:lnTo>
                    <a:lnTo>
                      <a:pt x="0" y="13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3" y="25"/>
                    </a:lnTo>
                    <a:lnTo>
                      <a:pt x="6" y="28"/>
                    </a:lnTo>
                    <a:lnTo>
                      <a:pt x="9" y="28"/>
                    </a:lnTo>
                    <a:lnTo>
                      <a:pt x="9" y="31"/>
                    </a:lnTo>
                    <a:lnTo>
                      <a:pt x="13" y="31"/>
                    </a:lnTo>
                    <a:lnTo>
                      <a:pt x="16" y="31"/>
                    </a:lnTo>
                    <a:lnTo>
                      <a:pt x="19" y="28"/>
                    </a:lnTo>
                    <a:lnTo>
                      <a:pt x="22" y="28"/>
                    </a:lnTo>
                    <a:lnTo>
                      <a:pt x="25" y="25"/>
                    </a:lnTo>
                    <a:lnTo>
                      <a:pt x="28" y="19"/>
                    </a:lnTo>
                    <a:lnTo>
                      <a:pt x="28" y="13"/>
                    </a:lnTo>
                    <a:lnTo>
                      <a:pt x="28" y="7"/>
                    </a:lnTo>
                    <a:lnTo>
                      <a:pt x="25" y="7"/>
                    </a:lnTo>
                    <a:lnTo>
                      <a:pt x="25" y="4"/>
                    </a:lnTo>
                    <a:lnTo>
                      <a:pt x="22" y="4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2" name="Freeform 60"/>
              <p:cNvSpPr>
                <a:spLocks/>
              </p:cNvSpPr>
              <p:nvPr/>
            </p:nvSpPr>
            <p:spPr bwMode="auto">
              <a:xfrm>
                <a:off x="3623" y="2192"/>
                <a:ext cx="28" cy="28"/>
              </a:xfrm>
              <a:custGeom>
                <a:avLst/>
                <a:gdLst>
                  <a:gd name="T0" fmla="*/ 15 w 28"/>
                  <a:gd name="T1" fmla="*/ 0 h 28"/>
                  <a:gd name="T2" fmla="*/ 12 w 28"/>
                  <a:gd name="T3" fmla="*/ 0 h 28"/>
                  <a:gd name="T4" fmla="*/ 9 w 28"/>
                  <a:gd name="T5" fmla="*/ 0 h 28"/>
                  <a:gd name="T6" fmla="*/ 6 w 28"/>
                  <a:gd name="T7" fmla="*/ 3 h 28"/>
                  <a:gd name="T8" fmla="*/ 3 w 28"/>
                  <a:gd name="T9" fmla="*/ 3 h 28"/>
                  <a:gd name="T10" fmla="*/ 0 w 28"/>
                  <a:gd name="T11" fmla="*/ 6 h 28"/>
                  <a:gd name="T12" fmla="*/ 0 w 28"/>
                  <a:gd name="T13" fmla="*/ 9 h 28"/>
                  <a:gd name="T14" fmla="*/ 0 w 28"/>
                  <a:gd name="T15" fmla="*/ 12 h 28"/>
                  <a:gd name="T16" fmla="*/ 0 w 28"/>
                  <a:gd name="T17" fmla="*/ 15 h 28"/>
                  <a:gd name="T18" fmla="*/ 0 w 28"/>
                  <a:gd name="T19" fmla="*/ 18 h 28"/>
                  <a:gd name="T20" fmla="*/ 0 w 28"/>
                  <a:gd name="T21" fmla="*/ 21 h 28"/>
                  <a:gd name="T22" fmla="*/ 0 w 28"/>
                  <a:gd name="T23" fmla="*/ 21 h 28"/>
                  <a:gd name="T24" fmla="*/ 3 w 28"/>
                  <a:gd name="T25" fmla="*/ 25 h 28"/>
                  <a:gd name="T26" fmla="*/ 6 w 28"/>
                  <a:gd name="T27" fmla="*/ 28 h 28"/>
                  <a:gd name="T28" fmla="*/ 9 w 28"/>
                  <a:gd name="T29" fmla="*/ 28 h 28"/>
                  <a:gd name="T30" fmla="*/ 12 w 28"/>
                  <a:gd name="T31" fmla="*/ 28 h 28"/>
                  <a:gd name="T32" fmla="*/ 15 w 28"/>
                  <a:gd name="T33" fmla="*/ 28 h 28"/>
                  <a:gd name="T34" fmla="*/ 15 w 28"/>
                  <a:gd name="T35" fmla="*/ 28 h 28"/>
                  <a:gd name="T36" fmla="*/ 18 w 28"/>
                  <a:gd name="T37" fmla="*/ 28 h 28"/>
                  <a:gd name="T38" fmla="*/ 21 w 28"/>
                  <a:gd name="T39" fmla="*/ 28 h 28"/>
                  <a:gd name="T40" fmla="*/ 24 w 28"/>
                  <a:gd name="T41" fmla="*/ 25 h 28"/>
                  <a:gd name="T42" fmla="*/ 28 w 28"/>
                  <a:gd name="T43" fmla="*/ 21 h 28"/>
                  <a:gd name="T44" fmla="*/ 28 w 28"/>
                  <a:gd name="T45" fmla="*/ 21 h 28"/>
                  <a:gd name="T46" fmla="*/ 28 w 28"/>
                  <a:gd name="T47" fmla="*/ 18 h 28"/>
                  <a:gd name="T48" fmla="*/ 28 w 28"/>
                  <a:gd name="T49" fmla="*/ 15 h 28"/>
                  <a:gd name="T50" fmla="*/ 28 w 28"/>
                  <a:gd name="T51" fmla="*/ 12 h 28"/>
                  <a:gd name="T52" fmla="*/ 28 w 28"/>
                  <a:gd name="T53" fmla="*/ 9 h 28"/>
                  <a:gd name="T54" fmla="*/ 28 w 28"/>
                  <a:gd name="T55" fmla="*/ 6 h 28"/>
                  <a:gd name="T56" fmla="*/ 24 w 28"/>
                  <a:gd name="T57" fmla="*/ 3 h 28"/>
                  <a:gd name="T58" fmla="*/ 21 w 28"/>
                  <a:gd name="T59" fmla="*/ 3 h 28"/>
                  <a:gd name="T60" fmla="*/ 18 w 28"/>
                  <a:gd name="T61" fmla="*/ 0 h 28"/>
                  <a:gd name="T62" fmla="*/ 15 w 28"/>
                  <a:gd name="T63" fmla="*/ 0 h 28"/>
                  <a:gd name="T64" fmla="*/ 15 w 28"/>
                  <a:gd name="T65" fmla="*/ 0 h 28"/>
                  <a:gd name="T66" fmla="*/ 15 w 28"/>
                  <a:gd name="T67" fmla="*/ 0 h 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"/>
                  <a:gd name="T103" fmla="*/ 0 h 28"/>
                  <a:gd name="T104" fmla="*/ 28 w 28"/>
                  <a:gd name="T105" fmla="*/ 28 h 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" h="28">
                    <a:moveTo>
                      <a:pt x="15" y="0"/>
                    </a:moveTo>
                    <a:lnTo>
                      <a:pt x="12" y="0"/>
                    </a:lnTo>
                    <a:lnTo>
                      <a:pt x="9" y="0"/>
                    </a:lnTo>
                    <a:lnTo>
                      <a:pt x="6" y="3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0" y="21"/>
                    </a:lnTo>
                    <a:lnTo>
                      <a:pt x="3" y="25"/>
                    </a:lnTo>
                    <a:lnTo>
                      <a:pt x="6" y="28"/>
                    </a:lnTo>
                    <a:lnTo>
                      <a:pt x="9" y="28"/>
                    </a:lnTo>
                    <a:lnTo>
                      <a:pt x="12" y="28"/>
                    </a:lnTo>
                    <a:lnTo>
                      <a:pt x="15" y="28"/>
                    </a:lnTo>
                    <a:lnTo>
                      <a:pt x="18" y="28"/>
                    </a:lnTo>
                    <a:lnTo>
                      <a:pt x="21" y="28"/>
                    </a:lnTo>
                    <a:lnTo>
                      <a:pt x="24" y="25"/>
                    </a:lnTo>
                    <a:lnTo>
                      <a:pt x="28" y="21"/>
                    </a:lnTo>
                    <a:lnTo>
                      <a:pt x="28" y="18"/>
                    </a:lnTo>
                    <a:lnTo>
                      <a:pt x="28" y="15"/>
                    </a:lnTo>
                    <a:lnTo>
                      <a:pt x="28" y="12"/>
                    </a:lnTo>
                    <a:lnTo>
                      <a:pt x="28" y="9"/>
                    </a:lnTo>
                    <a:lnTo>
                      <a:pt x="28" y="6"/>
                    </a:lnTo>
                    <a:lnTo>
                      <a:pt x="24" y="3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3" name="Freeform 61"/>
              <p:cNvSpPr>
                <a:spLocks/>
              </p:cNvSpPr>
              <p:nvPr/>
            </p:nvSpPr>
            <p:spPr bwMode="auto">
              <a:xfrm>
                <a:off x="3570" y="2176"/>
                <a:ext cx="28" cy="31"/>
              </a:xfrm>
              <a:custGeom>
                <a:avLst/>
                <a:gdLst>
                  <a:gd name="T0" fmla="*/ 22 w 28"/>
                  <a:gd name="T1" fmla="*/ 4 h 31"/>
                  <a:gd name="T2" fmla="*/ 19 w 28"/>
                  <a:gd name="T3" fmla="*/ 0 h 31"/>
                  <a:gd name="T4" fmla="*/ 16 w 28"/>
                  <a:gd name="T5" fmla="*/ 0 h 31"/>
                  <a:gd name="T6" fmla="*/ 13 w 28"/>
                  <a:gd name="T7" fmla="*/ 0 h 31"/>
                  <a:gd name="T8" fmla="*/ 9 w 28"/>
                  <a:gd name="T9" fmla="*/ 0 h 31"/>
                  <a:gd name="T10" fmla="*/ 9 w 28"/>
                  <a:gd name="T11" fmla="*/ 4 h 31"/>
                  <a:gd name="T12" fmla="*/ 6 w 28"/>
                  <a:gd name="T13" fmla="*/ 4 h 31"/>
                  <a:gd name="T14" fmla="*/ 3 w 28"/>
                  <a:gd name="T15" fmla="*/ 7 h 31"/>
                  <a:gd name="T16" fmla="*/ 0 w 28"/>
                  <a:gd name="T17" fmla="*/ 10 h 31"/>
                  <a:gd name="T18" fmla="*/ 0 w 28"/>
                  <a:gd name="T19" fmla="*/ 13 h 31"/>
                  <a:gd name="T20" fmla="*/ 0 w 28"/>
                  <a:gd name="T21" fmla="*/ 19 h 31"/>
                  <a:gd name="T22" fmla="*/ 3 w 28"/>
                  <a:gd name="T23" fmla="*/ 25 h 31"/>
                  <a:gd name="T24" fmla="*/ 6 w 28"/>
                  <a:gd name="T25" fmla="*/ 28 h 31"/>
                  <a:gd name="T26" fmla="*/ 9 w 28"/>
                  <a:gd name="T27" fmla="*/ 31 h 31"/>
                  <a:gd name="T28" fmla="*/ 13 w 28"/>
                  <a:gd name="T29" fmla="*/ 31 h 31"/>
                  <a:gd name="T30" fmla="*/ 16 w 28"/>
                  <a:gd name="T31" fmla="*/ 31 h 31"/>
                  <a:gd name="T32" fmla="*/ 19 w 28"/>
                  <a:gd name="T33" fmla="*/ 31 h 31"/>
                  <a:gd name="T34" fmla="*/ 22 w 28"/>
                  <a:gd name="T35" fmla="*/ 28 h 31"/>
                  <a:gd name="T36" fmla="*/ 25 w 28"/>
                  <a:gd name="T37" fmla="*/ 28 h 31"/>
                  <a:gd name="T38" fmla="*/ 25 w 28"/>
                  <a:gd name="T39" fmla="*/ 25 h 31"/>
                  <a:gd name="T40" fmla="*/ 28 w 28"/>
                  <a:gd name="T41" fmla="*/ 25 h 31"/>
                  <a:gd name="T42" fmla="*/ 28 w 28"/>
                  <a:gd name="T43" fmla="*/ 19 h 31"/>
                  <a:gd name="T44" fmla="*/ 28 w 28"/>
                  <a:gd name="T45" fmla="*/ 13 h 31"/>
                  <a:gd name="T46" fmla="*/ 25 w 28"/>
                  <a:gd name="T47" fmla="*/ 7 h 31"/>
                  <a:gd name="T48" fmla="*/ 22 w 28"/>
                  <a:gd name="T49" fmla="*/ 4 h 31"/>
                  <a:gd name="T50" fmla="*/ 22 w 28"/>
                  <a:gd name="T51" fmla="*/ 4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8"/>
                  <a:gd name="T79" fmla="*/ 0 h 31"/>
                  <a:gd name="T80" fmla="*/ 28 w 28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8" h="31">
                    <a:moveTo>
                      <a:pt x="22" y="4"/>
                    </a:moveTo>
                    <a:lnTo>
                      <a:pt x="19" y="0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3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0" y="19"/>
                    </a:lnTo>
                    <a:lnTo>
                      <a:pt x="3" y="25"/>
                    </a:lnTo>
                    <a:lnTo>
                      <a:pt x="6" y="28"/>
                    </a:lnTo>
                    <a:lnTo>
                      <a:pt x="9" y="31"/>
                    </a:lnTo>
                    <a:lnTo>
                      <a:pt x="13" y="31"/>
                    </a:lnTo>
                    <a:lnTo>
                      <a:pt x="16" y="31"/>
                    </a:lnTo>
                    <a:lnTo>
                      <a:pt x="19" y="31"/>
                    </a:lnTo>
                    <a:lnTo>
                      <a:pt x="22" y="28"/>
                    </a:lnTo>
                    <a:lnTo>
                      <a:pt x="25" y="28"/>
                    </a:lnTo>
                    <a:lnTo>
                      <a:pt x="25" y="25"/>
                    </a:lnTo>
                    <a:lnTo>
                      <a:pt x="28" y="25"/>
                    </a:lnTo>
                    <a:lnTo>
                      <a:pt x="28" y="19"/>
                    </a:lnTo>
                    <a:lnTo>
                      <a:pt x="28" y="13"/>
                    </a:lnTo>
                    <a:lnTo>
                      <a:pt x="25" y="7"/>
                    </a:ln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4" name="Freeform 62"/>
              <p:cNvSpPr>
                <a:spLocks/>
              </p:cNvSpPr>
              <p:nvPr/>
            </p:nvSpPr>
            <p:spPr bwMode="auto">
              <a:xfrm>
                <a:off x="3530" y="2139"/>
                <a:ext cx="31" cy="28"/>
              </a:xfrm>
              <a:custGeom>
                <a:avLst/>
                <a:gdLst>
                  <a:gd name="T0" fmla="*/ 28 w 31"/>
                  <a:gd name="T1" fmla="*/ 7 h 28"/>
                  <a:gd name="T2" fmla="*/ 28 w 31"/>
                  <a:gd name="T3" fmla="*/ 3 h 28"/>
                  <a:gd name="T4" fmla="*/ 25 w 31"/>
                  <a:gd name="T5" fmla="*/ 3 h 28"/>
                  <a:gd name="T6" fmla="*/ 22 w 31"/>
                  <a:gd name="T7" fmla="*/ 0 h 28"/>
                  <a:gd name="T8" fmla="*/ 19 w 31"/>
                  <a:gd name="T9" fmla="*/ 0 h 28"/>
                  <a:gd name="T10" fmla="*/ 15 w 31"/>
                  <a:gd name="T11" fmla="*/ 0 h 28"/>
                  <a:gd name="T12" fmla="*/ 12 w 31"/>
                  <a:gd name="T13" fmla="*/ 0 h 28"/>
                  <a:gd name="T14" fmla="*/ 9 w 31"/>
                  <a:gd name="T15" fmla="*/ 0 h 28"/>
                  <a:gd name="T16" fmla="*/ 6 w 31"/>
                  <a:gd name="T17" fmla="*/ 0 h 28"/>
                  <a:gd name="T18" fmla="*/ 3 w 31"/>
                  <a:gd name="T19" fmla="*/ 3 h 28"/>
                  <a:gd name="T20" fmla="*/ 0 w 31"/>
                  <a:gd name="T21" fmla="*/ 10 h 28"/>
                  <a:gd name="T22" fmla="*/ 0 w 31"/>
                  <a:gd name="T23" fmla="*/ 16 h 28"/>
                  <a:gd name="T24" fmla="*/ 3 w 31"/>
                  <a:gd name="T25" fmla="*/ 22 h 28"/>
                  <a:gd name="T26" fmla="*/ 3 w 31"/>
                  <a:gd name="T27" fmla="*/ 25 h 28"/>
                  <a:gd name="T28" fmla="*/ 6 w 31"/>
                  <a:gd name="T29" fmla="*/ 25 h 28"/>
                  <a:gd name="T30" fmla="*/ 9 w 31"/>
                  <a:gd name="T31" fmla="*/ 28 h 28"/>
                  <a:gd name="T32" fmla="*/ 12 w 31"/>
                  <a:gd name="T33" fmla="*/ 28 h 28"/>
                  <a:gd name="T34" fmla="*/ 15 w 31"/>
                  <a:gd name="T35" fmla="*/ 28 h 28"/>
                  <a:gd name="T36" fmla="*/ 19 w 31"/>
                  <a:gd name="T37" fmla="*/ 28 h 28"/>
                  <a:gd name="T38" fmla="*/ 19 w 31"/>
                  <a:gd name="T39" fmla="*/ 28 h 28"/>
                  <a:gd name="T40" fmla="*/ 22 w 31"/>
                  <a:gd name="T41" fmla="*/ 28 h 28"/>
                  <a:gd name="T42" fmla="*/ 28 w 31"/>
                  <a:gd name="T43" fmla="*/ 25 h 28"/>
                  <a:gd name="T44" fmla="*/ 31 w 31"/>
                  <a:gd name="T45" fmla="*/ 19 h 28"/>
                  <a:gd name="T46" fmla="*/ 31 w 31"/>
                  <a:gd name="T47" fmla="*/ 13 h 28"/>
                  <a:gd name="T48" fmla="*/ 28 w 31"/>
                  <a:gd name="T49" fmla="*/ 7 h 28"/>
                  <a:gd name="T50" fmla="*/ 28 w 31"/>
                  <a:gd name="T51" fmla="*/ 7 h 2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28"/>
                  <a:gd name="T80" fmla="*/ 31 w 31"/>
                  <a:gd name="T81" fmla="*/ 28 h 2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28">
                    <a:moveTo>
                      <a:pt x="28" y="7"/>
                    </a:moveTo>
                    <a:lnTo>
                      <a:pt x="28" y="3"/>
                    </a:lnTo>
                    <a:lnTo>
                      <a:pt x="25" y="3"/>
                    </a:lnTo>
                    <a:lnTo>
                      <a:pt x="22" y="0"/>
                    </a:lnTo>
                    <a:lnTo>
                      <a:pt x="19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10"/>
                    </a:lnTo>
                    <a:lnTo>
                      <a:pt x="0" y="16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6" y="25"/>
                    </a:lnTo>
                    <a:lnTo>
                      <a:pt x="9" y="28"/>
                    </a:lnTo>
                    <a:lnTo>
                      <a:pt x="12" y="28"/>
                    </a:lnTo>
                    <a:lnTo>
                      <a:pt x="15" y="28"/>
                    </a:lnTo>
                    <a:lnTo>
                      <a:pt x="19" y="28"/>
                    </a:lnTo>
                    <a:lnTo>
                      <a:pt x="22" y="28"/>
                    </a:lnTo>
                    <a:lnTo>
                      <a:pt x="28" y="25"/>
                    </a:lnTo>
                    <a:lnTo>
                      <a:pt x="31" y="19"/>
                    </a:lnTo>
                    <a:lnTo>
                      <a:pt x="31" y="13"/>
                    </a:lnTo>
                    <a:lnTo>
                      <a:pt x="28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5" name="Freeform 63"/>
              <p:cNvSpPr>
                <a:spLocks/>
              </p:cNvSpPr>
              <p:nvPr/>
            </p:nvSpPr>
            <p:spPr bwMode="auto">
              <a:xfrm>
                <a:off x="3515" y="2084"/>
                <a:ext cx="30" cy="31"/>
              </a:xfrm>
              <a:custGeom>
                <a:avLst/>
                <a:gdLst>
                  <a:gd name="T0" fmla="*/ 30 w 30"/>
                  <a:gd name="T1" fmla="*/ 15 h 31"/>
                  <a:gd name="T2" fmla="*/ 30 w 30"/>
                  <a:gd name="T3" fmla="*/ 12 h 31"/>
                  <a:gd name="T4" fmla="*/ 30 w 30"/>
                  <a:gd name="T5" fmla="*/ 9 h 31"/>
                  <a:gd name="T6" fmla="*/ 27 w 30"/>
                  <a:gd name="T7" fmla="*/ 9 h 31"/>
                  <a:gd name="T8" fmla="*/ 27 w 30"/>
                  <a:gd name="T9" fmla="*/ 6 h 31"/>
                  <a:gd name="T10" fmla="*/ 24 w 30"/>
                  <a:gd name="T11" fmla="*/ 3 h 31"/>
                  <a:gd name="T12" fmla="*/ 21 w 30"/>
                  <a:gd name="T13" fmla="*/ 3 h 31"/>
                  <a:gd name="T14" fmla="*/ 18 w 30"/>
                  <a:gd name="T15" fmla="*/ 3 h 31"/>
                  <a:gd name="T16" fmla="*/ 15 w 30"/>
                  <a:gd name="T17" fmla="*/ 0 h 31"/>
                  <a:gd name="T18" fmla="*/ 12 w 30"/>
                  <a:gd name="T19" fmla="*/ 3 h 31"/>
                  <a:gd name="T20" fmla="*/ 9 w 30"/>
                  <a:gd name="T21" fmla="*/ 3 h 31"/>
                  <a:gd name="T22" fmla="*/ 6 w 30"/>
                  <a:gd name="T23" fmla="*/ 3 h 31"/>
                  <a:gd name="T24" fmla="*/ 6 w 30"/>
                  <a:gd name="T25" fmla="*/ 6 h 31"/>
                  <a:gd name="T26" fmla="*/ 3 w 30"/>
                  <a:gd name="T27" fmla="*/ 9 h 31"/>
                  <a:gd name="T28" fmla="*/ 3 w 30"/>
                  <a:gd name="T29" fmla="*/ 9 h 31"/>
                  <a:gd name="T30" fmla="*/ 3 w 30"/>
                  <a:gd name="T31" fmla="*/ 12 h 31"/>
                  <a:gd name="T32" fmla="*/ 0 w 30"/>
                  <a:gd name="T33" fmla="*/ 15 h 31"/>
                  <a:gd name="T34" fmla="*/ 3 w 30"/>
                  <a:gd name="T35" fmla="*/ 18 h 31"/>
                  <a:gd name="T36" fmla="*/ 3 w 30"/>
                  <a:gd name="T37" fmla="*/ 21 h 31"/>
                  <a:gd name="T38" fmla="*/ 3 w 30"/>
                  <a:gd name="T39" fmla="*/ 24 h 31"/>
                  <a:gd name="T40" fmla="*/ 6 w 30"/>
                  <a:gd name="T41" fmla="*/ 28 h 31"/>
                  <a:gd name="T42" fmla="*/ 6 w 30"/>
                  <a:gd name="T43" fmla="*/ 28 h 31"/>
                  <a:gd name="T44" fmla="*/ 9 w 30"/>
                  <a:gd name="T45" fmla="*/ 31 h 31"/>
                  <a:gd name="T46" fmla="*/ 12 w 30"/>
                  <a:gd name="T47" fmla="*/ 31 h 31"/>
                  <a:gd name="T48" fmla="*/ 15 w 30"/>
                  <a:gd name="T49" fmla="*/ 31 h 31"/>
                  <a:gd name="T50" fmla="*/ 18 w 30"/>
                  <a:gd name="T51" fmla="*/ 31 h 31"/>
                  <a:gd name="T52" fmla="*/ 21 w 30"/>
                  <a:gd name="T53" fmla="*/ 31 h 31"/>
                  <a:gd name="T54" fmla="*/ 24 w 30"/>
                  <a:gd name="T55" fmla="*/ 28 h 31"/>
                  <a:gd name="T56" fmla="*/ 27 w 30"/>
                  <a:gd name="T57" fmla="*/ 28 h 31"/>
                  <a:gd name="T58" fmla="*/ 27 w 30"/>
                  <a:gd name="T59" fmla="*/ 24 h 31"/>
                  <a:gd name="T60" fmla="*/ 30 w 30"/>
                  <a:gd name="T61" fmla="*/ 21 h 31"/>
                  <a:gd name="T62" fmla="*/ 30 w 30"/>
                  <a:gd name="T63" fmla="*/ 18 h 31"/>
                  <a:gd name="T64" fmla="*/ 30 w 30"/>
                  <a:gd name="T65" fmla="*/ 15 h 31"/>
                  <a:gd name="T66" fmla="*/ 30 w 30"/>
                  <a:gd name="T67" fmla="*/ 15 h 3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0"/>
                  <a:gd name="T103" fmla="*/ 0 h 31"/>
                  <a:gd name="T104" fmla="*/ 30 w 30"/>
                  <a:gd name="T105" fmla="*/ 31 h 3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0" h="31">
                    <a:moveTo>
                      <a:pt x="30" y="15"/>
                    </a:moveTo>
                    <a:lnTo>
                      <a:pt x="30" y="12"/>
                    </a:lnTo>
                    <a:lnTo>
                      <a:pt x="30" y="9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24" y="3"/>
                    </a:lnTo>
                    <a:lnTo>
                      <a:pt x="21" y="3"/>
                    </a:lnTo>
                    <a:lnTo>
                      <a:pt x="18" y="3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0" y="15"/>
                    </a:lnTo>
                    <a:lnTo>
                      <a:pt x="3" y="18"/>
                    </a:lnTo>
                    <a:lnTo>
                      <a:pt x="3" y="21"/>
                    </a:lnTo>
                    <a:lnTo>
                      <a:pt x="3" y="24"/>
                    </a:lnTo>
                    <a:lnTo>
                      <a:pt x="6" y="28"/>
                    </a:lnTo>
                    <a:lnTo>
                      <a:pt x="9" y="31"/>
                    </a:lnTo>
                    <a:lnTo>
                      <a:pt x="12" y="31"/>
                    </a:lnTo>
                    <a:lnTo>
                      <a:pt x="15" y="31"/>
                    </a:lnTo>
                    <a:lnTo>
                      <a:pt x="18" y="31"/>
                    </a:lnTo>
                    <a:lnTo>
                      <a:pt x="21" y="31"/>
                    </a:lnTo>
                    <a:lnTo>
                      <a:pt x="24" y="28"/>
                    </a:lnTo>
                    <a:lnTo>
                      <a:pt x="27" y="28"/>
                    </a:lnTo>
                    <a:lnTo>
                      <a:pt x="27" y="24"/>
                    </a:lnTo>
                    <a:lnTo>
                      <a:pt x="30" y="21"/>
                    </a:lnTo>
                    <a:lnTo>
                      <a:pt x="30" y="18"/>
                    </a:lnTo>
                    <a:lnTo>
                      <a:pt x="30" y="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6" name="Freeform 64"/>
              <p:cNvSpPr>
                <a:spLocks/>
              </p:cNvSpPr>
              <p:nvPr/>
            </p:nvSpPr>
            <p:spPr bwMode="auto">
              <a:xfrm>
                <a:off x="3530" y="2031"/>
                <a:ext cx="31" cy="31"/>
              </a:xfrm>
              <a:custGeom>
                <a:avLst/>
                <a:gdLst>
                  <a:gd name="T0" fmla="*/ 28 w 31"/>
                  <a:gd name="T1" fmla="*/ 25 h 31"/>
                  <a:gd name="T2" fmla="*/ 31 w 31"/>
                  <a:gd name="T3" fmla="*/ 19 h 31"/>
                  <a:gd name="T4" fmla="*/ 28 w 31"/>
                  <a:gd name="T5" fmla="*/ 13 h 31"/>
                  <a:gd name="T6" fmla="*/ 28 w 31"/>
                  <a:gd name="T7" fmla="*/ 6 h 31"/>
                  <a:gd name="T8" fmla="*/ 22 w 31"/>
                  <a:gd name="T9" fmla="*/ 3 h 31"/>
                  <a:gd name="T10" fmla="*/ 19 w 31"/>
                  <a:gd name="T11" fmla="*/ 3 h 31"/>
                  <a:gd name="T12" fmla="*/ 15 w 31"/>
                  <a:gd name="T13" fmla="*/ 0 h 31"/>
                  <a:gd name="T14" fmla="*/ 12 w 31"/>
                  <a:gd name="T15" fmla="*/ 0 h 31"/>
                  <a:gd name="T16" fmla="*/ 9 w 31"/>
                  <a:gd name="T17" fmla="*/ 0 h 31"/>
                  <a:gd name="T18" fmla="*/ 9 w 31"/>
                  <a:gd name="T19" fmla="*/ 3 h 31"/>
                  <a:gd name="T20" fmla="*/ 6 w 31"/>
                  <a:gd name="T21" fmla="*/ 3 h 31"/>
                  <a:gd name="T22" fmla="*/ 3 w 31"/>
                  <a:gd name="T23" fmla="*/ 6 h 31"/>
                  <a:gd name="T24" fmla="*/ 3 w 31"/>
                  <a:gd name="T25" fmla="*/ 9 h 31"/>
                  <a:gd name="T26" fmla="*/ 0 w 31"/>
                  <a:gd name="T27" fmla="*/ 13 h 31"/>
                  <a:gd name="T28" fmla="*/ 0 w 31"/>
                  <a:gd name="T29" fmla="*/ 19 h 31"/>
                  <a:gd name="T30" fmla="*/ 3 w 31"/>
                  <a:gd name="T31" fmla="*/ 25 h 31"/>
                  <a:gd name="T32" fmla="*/ 6 w 31"/>
                  <a:gd name="T33" fmla="*/ 28 h 31"/>
                  <a:gd name="T34" fmla="*/ 9 w 31"/>
                  <a:gd name="T35" fmla="*/ 31 h 31"/>
                  <a:gd name="T36" fmla="*/ 12 w 31"/>
                  <a:gd name="T37" fmla="*/ 31 h 31"/>
                  <a:gd name="T38" fmla="*/ 15 w 31"/>
                  <a:gd name="T39" fmla="*/ 31 h 31"/>
                  <a:gd name="T40" fmla="*/ 19 w 31"/>
                  <a:gd name="T41" fmla="*/ 31 h 31"/>
                  <a:gd name="T42" fmla="*/ 22 w 31"/>
                  <a:gd name="T43" fmla="*/ 28 h 31"/>
                  <a:gd name="T44" fmla="*/ 25 w 31"/>
                  <a:gd name="T45" fmla="*/ 28 h 31"/>
                  <a:gd name="T46" fmla="*/ 25 w 31"/>
                  <a:gd name="T47" fmla="*/ 25 h 31"/>
                  <a:gd name="T48" fmla="*/ 28 w 31"/>
                  <a:gd name="T49" fmla="*/ 25 h 31"/>
                  <a:gd name="T50" fmla="*/ 28 w 31"/>
                  <a:gd name="T51" fmla="*/ 25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31"/>
                  <a:gd name="T80" fmla="*/ 31 w 31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31">
                    <a:moveTo>
                      <a:pt x="28" y="25"/>
                    </a:moveTo>
                    <a:lnTo>
                      <a:pt x="31" y="19"/>
                    </a:lnTo>
                    <a:lnTo>
                      <a:pt x="28" y="13"/>
                    </a:lnTo>
                    <a:lnTo>
                      <a:pt x="28" y="6"/>
                    </a:lnTo>
                    <a:lnTo>
                      <a:pt x="22" y="3"/>
                    </a:lnTo>
                    <a:lnTo>
                      <a:pt x="19" y="3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0" y="13"/>
                    </a:lnTo>
                    <a:lnTo>
                      <a:pt x="0" y="19"/>
                    </a:lnTo>
                    <a:lnTo>
                      <a:pt x="3" y="25"/>
                    </a:lnTo>
                    <a:lnTo>
                      <a:pt x="6" y="28"/>
                    </a:lnTo>
                    <a:lnTo>
                      <a:pt x="9" y="31"/>
                    </a:lnTo>
                    <a:lnTo>
                      <a:pt x="12" y="31"/>
                    </a:lnTo>
                    <a:lnTo>
                      <a:pt x="15" y="31"/>
                    </a:lnTo>
                    <a:lnTo>
                      <a:pt x="19" y="31"/>
                    </a:lnTo>
                    <a:lnTo>
                      <a:pt x="22" y="28"/>
                    </a:lnTo>
                    <a:lnTo>
                      <a:pt x="25" y="28"/>
                    </a:lnTo>
                    <a:lnTo>
                      <a:pt x="25" y="25"/>
                    </a:lnTo>
                    <a:lnTo>
                      <a:pt x="28" y="2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7" name="Freeform 65"/>
              <p:cNvSpPr>
                <a:spLocks/>
              </p:cNvSpPr>
              <p:nvPr/>
            </p:nvSpPr>
            <p:spPr bwMode="auto">
              <a:xfrm>
                <a:off x="3567" y="1994"/>
                <a:ext cx="31" cy="28"/>
              </a:xfrm>
              <a:custGeom>
                <a:avLst/>
                <a:gdLst>
                  <a:gd name="T0" fmla="*/ 25 w 31"/>
                  <a:gd name="T1" fmla="*/ 28 h 28"/>
                  <a:gd name="T2" fmla="*/ 28 w 31"/>
                  <a:gd name="T3" fmla="*/ 22 h 28"/>
                  <a:gd name="T4" fmla="*/ 31 w 31"/>
                  <a:gd name="T5" fmla="*/ 19 h 28"/>
                  <a:gd name="T6" fmla="*/ 31 w 31"/>
                  <a:gd name="T7" fmla="*/ 12 h 28"/>
                  <a:gd name="T8" fmla="*/ 28 w 31"/>
                  <a:gd name="T9" fmla="*/ 6 h 28"/>
                  <a:gd name="T10" fmla="*/ 28 w 31"/>
                  <a:gd name="T11" fmla="*/ 3 h 28"/>
                  <a:gd name="T12" fmla="*/ 25 w 31"/>
                  <a:gd name="T13" fmla="*/ 3 h 28"/>
                  <a:gd name="T14" fmla="*/ 22 w 31"/>
                  <a:gd name="T15" fmla="*/ 0 h 28"/>
                  <a:gd name="T16" fmla="*/ 19 w 31"/>
                  <a:gd name="T17" fmla="*/ 0 h 28"/>
                  <a:gd name="T18" fmla="*/ 19 w 31"/>
                  <a:gd name="T19" fmla="*/ 0 h 28"/>
                  <a:gd name="T20" fmla="*/ 16 w 31"/>
                  <a:gd name="T21" fmla="*/ 0 h 28"/>
                  <a:gd name="T22" fmla="*/ 12 w 31"/>
                  <a:gd name="T23" fmla="*/ 0 h 28"/>
                  <a:gd name="T24" fmla="*/ 9 w 31"/>
                  <a:gd name="T25" fmla="*/ 0 h 28"/>
                  <a:gd name="T26" fmla="*/ 3 w 31"/>
                  <a:gd name="T27" fmla="*/ 3 h 28"/>
                  <a:gd name="T28" fmla="*/ 3 w 31"/>
                  <a:gd name="T29" fmla="*/ 9 h 28"/>
                  <a:gd name="T30" fmla="*/ 0 w 31"/>
                  <a:gd name="T31" fmla="*/ 16 h 28"/>
                  <a:gd name="T32" fmla="*/ 3 w 31"/>
                  <a:gd name="T33" fmla="*/ 22 h 28"/>
                  <a:gd name="T34" fmla="*/ 6 w 31"/>
                  <a:gd name="T35" fmla="*/ 25 h 28"/>
                  <a:gd name="T36" fmla="*/ 6 w 31"/>
                  <a:gd name="T37" fmla="*/ 25 h 28"/>
                  <a:gd name="T38" fmla="*/ 9 w 31"/>
                  <a:gd name="T39" fmla="*/ 28 h 28"/>
                  <a:gd name="T40" fmla="*/ 12 w 31"/>
                  <a:gd name="T41" fmla="*/ 28 h 28"/>
                  <a:gd name="T42" fmla="*/ 16 w 31"/>
                  <a:gd name="T43" fmla="*/ 28 h 28"/>
                  <a:gd name="T44" fmla="*/ 19 w 31"/>
                  <a:gd name="T45" fmla="*/ 28 h 28"/>
                  <a:gd name="T46" fmla="*/ 22 w 31"/>
                  <a:gd name="T47" fmla="*/ 28 h 28"/>
                  <a:gd name="T48" fmla="*/ 25 w 31"/>
                  <a:gd name="T49" fmla="*/ 28 h 28"/>
                  <a:gd name="T50" fmla="*/ 25 w 31"/>
                  <a:gd name="T51" fmla="*/ 28 h 2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28"/>
                  <a:gd name="T80" fmla="*/ 31 w 31"/>
                  <a:gd name="T81" fmla="*/ 28 h 2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28">
                    <a:moveTo>
                      <a:pt x="25" y="28"/>
                    </a:moveTo>
                    <a:lnTo>
                      <a:pt x="28" y="22"/>
                    </a:lnTo>
                    <a:lnTo>
                      <a:pt x="31" y="19"/>
                    </a:lnTo>
                    <a:lnTo>
                      <a:pt x="31" y="12"/>
                    </a:lnTo>
                    <a:lnTo>
                      <a:pt x="28" y="6"/>
                    </a:lnTo>
                    <a:lnTo>
                      <a:pt x="28" y="3"/>
                    </a:lnTo>
                    <a:lnTo>
                      <a:pt x="25" y="3"/>
                    </a:lnTo>
                    <a:lnTo>
                      <a:pt x="22" y="0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3" y="3"/>
                    </a:lnTo>
                    <a:lnTo>
                      <a:pt x="3" y="9"/>
                    </a:lnTo>
                    <a:lnTo>
                      <a:pt x="0" y="16"/>
                    </a:lnTo>
                    <a:lnTo>
                      <a:pt x="3" y="22"/>
                    </a:lnTo>
                    <a:lnTo>
                      <a:pt x="6" y="25"/>
                    </a:lnTo>
                    <a:lnTo>
                      <a:pt x="9" y="28"/>
                    </a:lnTo>
                    <a:lnTo>
                      <a:pt x="12" y="28"/>
                    </a:lnTo>
                    <a:lnTo>
                      <a:pt x="16" y="28"/>
                    </a:lnTo>
                    <a:lnTo>
                      <a:pt x="19" y="28"/>
                    </a:lnTo>
                    <a:lnTo>
                      <a:pt x="22" y="28"/>
                    </a:lnTo>
                    <a:lnTo>
                      <a:pt x="25" y="2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8" name="Freeform 66"/>
              <p:cNvSpPr>
                <a:spLocks/>
              </p:cNvSpPr>
              <p:nvPr/>
            </p:nvSpPr>
            <p:spPr bwMode="auto">
              <a:xfrm>
                <a:off x="3567" y="2050"/>
                <a:ext cx="133" cy="68"/>
              </a:xfrm>
              <a:custGeom>
                <a:avLst/>
                <a:gdLst>
                  <a:gd name="T0" fmla="*/ 124 w 133"/>
                  <a:gd name="T1" fmla="*/ 0 h 68"/>
                  <a:gd name="T2" fmla="*/ 68 w 133"/>
                  <a:gd name="T3" fmla="*/ 46 h 68"/>
                  <a:gd name="T4" fmla="*/ 9 w 133"/>
                  <a:gd name="T5" fmla="*/ 3 h 68"/>
                  <a:gd name="T6" fmla="*/ 0 w 133"/>
                  <a:gd name="T7" fmla="*/ 15 h 68"/>
                  <a:gd name="T8" fmla="*/ 68 w 133"/>
                  <a:gd name="T9" fmla="*/ 68 h 68"/>
                  <a:gd name="T10" fmla="*/ 133 w 133"/>
                  <a:gd name="T11" fmla="*/ 12 h 68"/>
                  <a:gd name="T12" fmla="*/ 124 w 133"/>
                  <a:gd name="T13" fmla="*/ 0 h 68"/>
                  <a:gd name="T14" fmla="*/ 124 w 133"/>
                  <a:gd name="T15" fmla="*/ 0 h 6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33"/>
                  <a:gd name="T25" fmla="*/ 0 h 68"/>
                  <a:gd name="T26" fmla="*/ 133 w 133"/>
                  <a:gd name="T27" fmla="*/ 68 h 6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33" h="68">
                    <a:moveTo>
                      <a:pt x="124" y="0"/>
                    </a:moveTo>
                    <a:lnTo>
                      <a:pt x="68" y="46"/>
                    </a:lnTo>
                    <a:lnTo>
                      <a:pt x="9" y="3"/>
                    </a:lnTo>
                    <a:lnTo>
                      <a:pt x="0" y="15"/>
                    </a:lnTo>
                    <a:lnTo>
                      <a:pt x="68" y="68"/>
                    </a:lnTo>
                    <a:lnTo>
                      <a:pt x="133" y="12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99" name="Freeform 67"/>
              <p:cNvSpPr>
                <a:spLocks/>
              </p:cNvSpPr>
              <p:nvPr/>
            </p:nvSpPr>
            <p:spPr bwMode="auto">
              <a:xfrm>
                <a:off x="4275" y="2411"/>
                <a:ext cx="194" cy="213"/>
              </a:xfrm>
              <a:custGeom>
                <a:avLst/>
                <a:gdLst>
                  <a:gd name="T0" fmla="*/ 148 w 194"/>
                  <a:gd name="T1" fmla="*/ 71 h 213"/>
                  <a:gd name="T2" fmla="*/ 194 w 194"/>
                  <a:gd name="T3" fmla="*/ 71 h 213"/>
                  <a:gd name="T4" fmla="*/ 92 w 194"/>
                  <a:gd name="T5" fmla="*/ 0 h 213"/>
                  <a:gd name="T6" fmla="*/ 0 w 194"/>
                  <a:gd name="T7" fmla="*/ 71 h 213"/>
                  <a:gd name="T8" fmla="*/ 49 w 194"/>
                  <a:gd name="T9" fmla="*/ 71 h 213"/>
                  <a:gd name="T10" fmla="*/ 49 w 194"/>
                  <a:gd name="T11" fmla="*/ 155 h 213"/>
                  <a:gd name="T12" fmla="*/ 18 w 194"/>
                  <a:gd name="T13" fmla="*/ 204 h 213"/>
                  <a:gd name="T14" fmla="*/ 34 w 194"/>
                  <a:gd name="T15" fmla="*/ 213 h 213"/>
                  <a:gd name="T16" fmla="*/ 61 w 194"/>
                  <a:gd name="T17" fmla="*/ 167 h 213"/>
                  <a:gd name="T18" fmla="*/ 89 w 194"/>
                  <a:gd name="T19" fmla="*/ 167 h 213"/>
                  <a:gd name="T20" fmla="*/ 89 w 194"/>
                  <a:gd name="T21" fmla="*/ 207 h 213"/>
                  <a:gd name="T22" fmla="*/ 108 w 194"/>
                  <a:gd name="T23" fmla="*/ 207 h 213"/>
                  <a:gd name="T24" fmla="*/ 108 w 194"/>
                  <a:gd name="T25" fmla="*/ 167 h 213"/>
                  <a:gd name="T26" fmla="*/ 132 w 194"/>
                  <a:gd name="T27" fmla="*/ 167 h 213"/>
                  <a:gd name="T28" fmla="*/ 160 w 194"/>
                  <a:gd name="T29" fmla="*/ 210 h 213"/>
                  <a:gd name="T30" fmla="*/ 176 w 194"/>
                  <a:gd name="T31" fmla="*/ 201 h 213"/>
                  <a:gd name="T32" fmla="*/ 148 w 194"/>
                  <a:gd name="T33" fmla="*/ 155 h 213"/>
                  <a:gd name="T34" fmla="*/ 148 w 194"/>
                  <a:gd name="T35" fmla="*/ 71 h 213"/>
                  <a:gd name="T36" fmla="*/ 148 w 194"/>
                  <a:gd name="T37" fmla="*/ 71 h 21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94"/>
                  <a:gd name="T58" fmla="*/ 0 h 213"/>
                  <a:gd name="T59" fmla="*/ 194 w 194"/>
                  <a:gd name="T60" fmla="*/ 213 h 21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94" h="213">
                    <a:moveTo>
                      <a:pt x="148" y="71"/>
                    </a:moveTo>
                    <a:lnTo>
                      <a:pt x="194" y="71"/>
                    </a:lnTo>
                    <a:lnTo>
                      <a:pt x="92" y="0"/>
                    </a:lnTo>
                    <a:lnTo>
                      <a:pt x="0" y="71"/>
                    </a:lnTo>
                    <a:lnTo>
                      <a:pt x="49" y="71"/>
                    </a:lnTo>
                    <a:lnTo>
                      <a:pt x="49" y="155"/>
                    </a:lnTo>
                    <a:lnTo>
                      <a:pt x="18" y="204"/>
                    </a:lnTo>
                    <a:lnTo>
                      <a:pt x="34" y="213"/>
                    </a:lnTo>
                    <a:lnTo>
                      <a:pt x="61" y="167"/>
                    </a:lnTo>
                    <a:lnTo>
                      <a:pt x="89" y="167"/>
                    </a:lnTo>
                    <a:lnTo>
                      <a:pt x="89" y="207"/>
                    </a:lnTo>
                    <a:lnTo>
                      <a:pt x="108" y="207"/>
                    </a:lnTo>
                    <a:lnTo>
                      <a:pt x="108" y="167"/>
                    </a:lnTo>
                    <a:lnTo>
                      <a:pt x="132" y="167"/>
                    </a:lnTo>
                    <a:lnTo>
                      <a:pt x="160" y="210"/>
                    </a:lnTo>
                    <a:lnTo>
                      <a:pt x="176" y="201"/>
                    </a:lnTo>
                    <a:lnTo>
                      <a:pt x="148" y="155"/>
                    </a:lnTo>
                    <a:lnTo>
                      <a:pt x="148" y="7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0" name="Freeform 68"/>
              <p:cNvSpPr>
                <a:spLocks/>
              </p:cNvSpPr>
              <p:nvPr/>
            </p:nvSpPr>
            <p:spPr bwMode="auto">
              <a:xfrm>
                <a:off x="4339" y="2485"/>
                <a:ext cx="65" cy="75"/>
              </a:xfrm>
              <a:custGeom>
                <a:avLst/>
                <a:gdLst>
                  <a:gd name="T0" fmla="*/ 0 w 65"/>
                  <a:gd name="T1" fmla="*/ 0 h 75"/>
                  <a:gd name="T2" fmla="*/ 0 w 65"/>
                  <a:gd name="T3" fmla="*/ 75 h 75"/>
                  <a:gd name="T4" fmla="*/ 65 w 65"/>
                  <a:gd name="T5" fmla="*/ 75 h 75"/>
                  <a:gd name="T6" fmla="*/ 65 w 65"/>
                  <a:gd name="T7" fmla="*/ 0 h 75"/>
                  <a:gd name="T8" fmla="*/ 0 w 65"/>
                  <a:gd name="T9" fmla="*/ 0 h 75"/>
                  <a:gd name="T10" fmla="*/ 0 w 65"/>
                  <a:gd name="T11" fmla="*/ 0 h 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"/>
                  <a:gd name="T19" fmla="*/ 0 h 75"/>
                  <a:gd name="T20" fmla="*/ 65 w 65"/>
                  <a:gd name="T21" fmla="*/ 75 h 7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" h="75">
                    <a:moveTo>
                      <a:pt x="0" y="0"/>
                    </a:moveTo>
                    <a:lnTo>
                      <a:pt x="0" y="75"/>
                    </a:lnTo>
                    <a:lnTo>
                      <a:pt x="65" y="75"/>
                    </a:lnTo>
                    <a:lnTo>
                      <a:pt x="6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1" name="Freeform 69"/>
              <p:cNvSpPr>
                <a:spLocks/>
              </p:cNvSpPr>
              <p:nvPr/>
            </p:nvSpPr>
            <p:spPr bwMode="auto">
              <a:xfrm>
                <a:off x="4327" y="2433"/>
                <a:ext cx="90" cy="34"/>
              </a:xfrm>
              <a:custGeom>
                <a:avLst/>
                <a:gdLst>
                  <a:gd name="T0" fmla="*/ 40 w 90"/>
                  <a:gd name="T1" fmla="*/ 0 h 34"/>
                  <a:gd name="T2" fmla="*/ 90 w 90"/>
                  <a:gd name="T3" fmla="*/ 34 h 34"/>
                  <a:gd name="T4" fmla="*/ 0 w 90"/>
                  <a:gd name="T5" fmla="*/ 34 h 34"/>
                  <a:gd name="T6" fmla="*/ 40 w 90"/>
                  <a:gd name="T7" fmla="*/ 0 h 34"/>
                  <a:gd name="T8" fmla="*/ 40 w 9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34"/>
                  <a:gd name="T17" fmla="*/ 90 w 9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34">
                    <a:moveTo>
                      <a:pt x="40" y="0"/>
                    </a:moveTo>
                    <a:lnTo>
                      <a:pt x="90" y="34"/>
                    </a:lnTo>
                    <a:lnTo>
                      <a:pt x="0" y="3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2" name="Freeform 70"/>
              <p:cNvSpPr>
                <a:spLocks/>
              </p:cNvSpPr>
              <p:nvPr/>
            </p:nvSpPr>
            <p:spPr bwMode="auto">
              <a:xfrm>
                <a:off x="3786" y="2399"/>
                <a:ext cx="927" cy="602"/>
              </a:xfrm>
              <a:custGeom>
                <a:avLst/>
                <a:gdLst>
                  <a:gd name="T0" fmla="*/ 865 w 927"/>
                  <a:gd name="T1" fmla="*/ 318 h 602"/>
                  <a:gd name="T2" fmla="*/ 822 w 927"/>
                  <a:gd name="T3" fmla="*/ 358 h 602"/>
                  <a:gd name="T4" fmla="*/ 822 w 927"/>
                  <a:gd name="T5" fmla="*/ 256 h 602"/>
                  <a:gd name="T6" fmla="*/ 850 w 927"/>
                  <a:gd name="T7" fmla="*/ 210 h 602"/>
                  <a:gd name="T8" fmla="*/ 387 w 927"/>
                  <a:gd name="T9" fmla="*/ 210 h 602"/>
                  <a:gd name="T10" fmla="*/ 387 w 927"/>
                  <a:gd name="T11" fmla="*/ 368 h 602"/>
                  <a:gd name="T12" fmla="*/ 322 w 927"/>
                  <a:gd name="T13" fmla="*/ 368 h 602"/>
                  <a:gd name="T14" fmla="*/ 300 w 927"/>
                  <a:gd name="T15" fmla="*/ 0 h 602"/>
                  <a:gd name="T16" fmla="*/ 229 w 927"/>
                  <a:gd name="T17" fmla="*/ 0 h 602"/>
                  <a:gd name="T18" fmla="*/ 214 w 927"/>
                  <a:gd name="T19" fmla="*/ 368 h 602"/>
                  <a:gd name="T20" fmla="*/ 198 w 927"/>
                  <a:gd name="T21" fmla="*/ 368 h 602"/>
                  <a:gd name="T22" fmla="*/ 177 w 927"/>
                  <a:gd name="T23" fmla="*/ 0 h 602"/>
                  <a:gd name="T24" fmla="*/ 109 w 927"/>
                  <a:gd name="T25" fmla="*/ 0 h 602"/>
                  <a:gd name="T26" fmla="*/ 90 w 927"/>
                  <a:gd name="T27" fmla="*/ 368 h 602"/>
                  <a:gd name="T28" fmla="*/ 0 w 927"/>
                  <a:gd name="T29" fmla="*/ 368 h 602"/>
                  <a:gd name="T30" fmla="*/ 28 w 927"/>
                  <a:gd name="T31" fmla="*/ 420 h 602"/>
                  <a:gd name="T32" fmla="*/ 28 w 927"/>
                  <a:gd name="T33" fmla="*/ 602 h 602"/>
                  <a:gd name="T34" fmla="*/ 927 w 927"/>
                  <a:gd name="T35" fmla="*/ 602 h 602"/>
                  <a:gd name="T36" fmla="*/ 927 w 927"/>
                  <a:gd name="T37" fmla="*/ 383 h 602"/>
                  <a:gd name="T38" fmla="*/ 865 w 927"/>
                  <a:gd name="T39" fmla="*/ 318 h 602"/>
                  <a:gd name="T40" fmla="*/ 865 w 927"/>
                  <a:gd name="T41" fmla="*/ 318 h 60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27"/>
                  <a:gd name="T64" fmla="*/ 0 h 602"/>
                  <a:gd name="T65" fmla="*/ 927 w 927"/>
                  <a:gd name="T66" fmla="*/ 602 h 60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27" h="602">
                    <a:moveTo>
                      <a:pt x="865" y="318"/>
                    </a:moveTo>
                    <a:lnTo>
                      <a:pt x="822" y="358"/>
                    </a:lnTo>
                    <a:lnTo>
                      <a:pt x="822" y="256"/>
                    </a:lnTo>
                    <a:lnTo>
                      <a:pt x="850" y="210"/>
                    </a:lnTo>
                    <a:lnTo>
                      <a:pt x="387" y="210"/>
                    </a:lnTo>
                    <a:lnTo>
                      <a:pt x="387" y="368"/>
                    </a:lnTo>
                    <a:lnTo>
                      <a:pt x="322" y="368"/>
                    </a:lnTo>
                    <a:lnTo>
                      <a:pt x="300" y="0"/>
                    </a:lnTo>
                    <a:lnTo>
                      <a:pt x="229" y="0"/>
                    </a:lnTo>
                    <a:lnTo>
                      <a:pt x="214" y="368"/>
                    </a:lnTo>
                    <a:lnTo>
                      <a:pt x="198" y="368"/>
                    </a:lnTo>
                    <a:lnTo>
                      <a:pt x="177" y="0"/>
                    </a:lnTo>
                    <a:lnTo>
                      <a:pt x="109" y="0"/>
                    </a:lnTo>
                    <a:lnTo>
                      <a:pt x="90" y="368"/>
                    </a:lnTo>
                    <a:lnTo>
                      <a:pt x="0" y="368"/>
                    </a:lnTo>
                    <a:lnTo>
                      <a:pt x="28" y="420"/>
                    </a:lnTo>
                    <a:lnTo>
                      <a:pt x="28" y="602"/>
                    </a:lnTo>
                    <a:lnTo>
                      <a:pt x="927" y="602"/>
                    </a:lnTo>
                    <a:lnTo>
                      <a:pt x="927" y="383"/>
                    </a:lnTo>
                    <a:lnTo>
                      <a:pt x="865" y="31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3" name="Freeform 71"/>
              <p:cNvSpPr>
                <a:spLocks/>
              </p:cNvSpPr>
              <p:nvPr/>
            </p:nvSpPr>
            <p:spPr bwMode="auto">
              <a:xfrm>
                <a:off x="4302" y="2739"/>
                <a:ext cx="393" cy="247"/>
              </a:xfrm>
              <a:custGeom>
                <a:avLst/>
                <a:gdLst>
                  <a:gd name="T0" fmla="*/ 393 w 393"/>
                  <a:gd name="T1" fmla="*/ 49 h 247"/>
                  <a:gd name="T2" fmla="*/ 393 w 393"/>
                  <a:gd name="T3" fmla="*/ 247 h 247"/>
                  <a:gd name="T4" fmla="*/ 0 w 393"/>
                  <a:gd name="T5" fmla="*/ 247 h 247"/>
                  <a:gd name="T6" fmla="*/ 0 w 393"/>
                  <a:gd name="T7" fmla="*/ 65 h 247"/>
                  <a:gd name="T8" fmla="*/ 53 w 393"/>
                  <a:gd name="T9" fmla="*/ 6 h 247"/>
                  <a:gd name="T10" fmla="*/ 99 w 393"/>
                  <a:gd name="T11" fmla="*/ 58 h 247"/>
                  <a:gd name="T12" fmla="*/ 152 w 393"/>
                  <a:gd name="T13" fmla="*/ 6 h 247"/>
                  <a:gd name="T14" fmla="*/ 195 w 393"/>
                  <a:gd name="T15" fmla="*/ 46 h 247"/>
                  <a:gd name="T16" fmla="*/ 248 w 393"/>
                  <a:gd name="T17" fmla="*/ 0 h 247"/>
                  <a:gd name="T18" fmla="*/ 300 w 393"/>
                  <a:gd name="T19" fmla="*/ 49 h 247"/>
                  <a:gd name="T20" fmla="*/ 349 w 393"/>
                  <a:gd name="T21" fmla="*/ 3 h 247"/>
                  <a:gd name="T22" fmla="*/ 393 w 393"/>
                  <a:gd name="T23" fmla="*/ 49 h 247"/>
                  <a:gd name="T24" fmla="*/ 393 w 393"/>
                  <a:gd name="T25" fmla="*/ 49 h 24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93"/>
                  <a:gd name="T40" fmla="*/ 0 h 247"/>
                  <a:gd name="T41" fmla="*/ 393 w 393"/>
                  <a:gd name="T42" fmla="*/ 247 h 24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93" h="247">
                    <a:moveTo>
                      <a:pt x="393" y="49"/>
                    </a:moveTo>
                    <a:lnTo>
                      <a:pt x="393" y="247"/>
                    </a:lnTo>
                    <a:lnTo>
                      <a:pt x="0" y="247"/>
                    </a:lnTo>
                    <a:lnTo>
                      <a:pt x="0" y="65"/>
                    </a:lnTo>
                    <a:lnTo>
                      <a:pt x="53" y="6"/>
                    </a:lnTo>
                    <a:lnTo>
                      <a:pt x="99" y="58"/>
                    </a:lnTo>
                    <a:lnTo>
                      <a:pt x="152" y="6"/>
                    </a:lnTo>
                    <a:lnTo>
                      <a:pt x="195" y="46"/>
                    </a:lnTo>
                    <a:lnTo>
                      <a:pt x="248" y="0"/>
                    </a:lnTo>
                    <a:lnTo>
                      <a:pt x="300" y="49"/>
                    </a:lnTo>
                    <a:lnTo>
                      <a:pt x="349" y="3"/>
                    </a:lnTo>
                    <a:lnTo>
                      <a:pt x="393" y="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4" name="Freeform 72"/>
              <p:cNvSpPr>
                <a:spLocks/>
              </p:cNvSpPr>
              <p:nvPr/>
            </p:nvSpPr>
            <p:spPr bwMode="auto">
              <a:xfrm>
                <a:off x="4191" y="2628"/>
                <a:ext cx="414" cy="358"/>
              </a:xfrm>
              <a:custGeom>
                <a:avLst/>
                <a:gdLst>
                  <a:gd name="T0" fmla="*/ 402 w 414"/>
                  <a:gd name="T1" fmla="*/ 24 h 358"/>
                  <a:gd name="T2" fmla="*/ 402 w 414"/>
                  <a:gd name="T3" fmla="*/ 126 h 358"/>
                  <a:gd name="T4" fmla="*/ 359 w 414"/>
                  <a:gd name="T5" fmla="*/ 89 h 358"/>
                  <a:gd name="T6" fmla="*/ 306 w 414"/>
                  <a:gd name="T7" fmla="*/ 136 h 358"/>
                  <a:gd name="T8" fmla="*/ 263 w 414"/>
                  <a:gd name="T9" fmla="*/ 92 h 358"/>
                  <a:gd name="T10" fmla="*/ 210 w 414"/>
                  <a:gd name="T11" fmla="*/ 145 h 358"/>
                  <a:gd name="T12" fmla="*/ 164 w 414"/>
                  <a:gd name="T13" fmla="*/ 92 h 358"/>
                  <a:gd name="T14" fmla="*/ 96 w 414"/>
                  <a:gd name="T15" fmla="*/ 166 h 358"/>
                  <a:gd name="T16" fmla="*/ 96 w 414"/>
                  <a:gd name="T17" fmla="*/ 358 h 358"/>
                  <a:gd name="T18" fmla="*/ 0 w 414"/>
                  <a:gd name="T19" fmla="*/ 358 h 358"/>
                  <a:gd name="T20" fmla="*/ 0 w 414"/>
                  <a:gd name="T21" fmla="*/ 0 h 358"/>
                  <a:gd name="T22" fmla="*/ 414 w 414"/>
                  <a:gd name="T23" fmla="*/ 0 h 358"/>
                  <a:gd name="T24" fmla="*/ 402 w 414"/>
                  <a:gd name="T25" fmla="*/ 24 h 358"/>
                  <a:gd name="T26" fmla="*/ 402 w 414"/>
                  <a:gd name="T27" fmla="*/ 24 h 35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14"/>
                  <a:gd name="T43" fmla="*/ 0 h 358"/>
                  <a:gd name="T44" fmla="*/ 414 w 414"/>
                  <a:gd name="T45" fmla="*/ 358 h 35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14" h="358">
                    <a:moveTo>
                      <a:pt x="402" y="24"/>
                    </a:moveTo>
                    <a:lnTo>
                      <a:pt x="402" y="126"/>
                    </a:lnTo>
                    <a:lnTo>
                      <a:pt x="359" y="89"/>
                    </a:lnTo>
                    <a:lnTo>
                      <a:pt x="306" y="136"/>
                    </a:lnTo>
                    <a:lnTo>
                      <a:pt x="263" y="92"/>
                    </a:lnTo>
                    <a:lnTo>
                      <a:pt x="210" y="145"/>
                    </a:lnTo>
                    <a:lnTo>
                      <a:pt x="164" y="92"/>
                    </a:lnTo>
                    <a:lnTo>
                      <a:pt x="96" y="166"/>
                    </a:lnTo>
                    <a:lnTo>
                      <a:pt x="96" y="358"/>
                    </a:lnTo>
                    <a:lnTo>
                      <a:pt x="0" y="358"/>
                    </a:lnTo>
                    <a:lnTo>
                      <a:pt x="0" y="0"/>
                    </a:lnTo>
                    <a:lnTo>
                      <a:pt x="414" y="0"/>
                    </a:lnTo>
                    <a:lnTo>
                      <a:pt x="402" y="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5" name="Freeform 73"/>
              <p:cNvSpPr>
                <a:spLocks/>
              </p:cNvSpPr>
              <p:nvPr/>
            </p:nvSpPr>
            <p:spPr bwMode="auto">
              <a:xfrm>
                <a:off x="4018" y="2417"/>
                <a:ext cx="71" cy="350"/>
              </a:xfrm>
              <a:custGeom>
                <a:avLst/>
                <a:gdLst>
                  <a:gd name="T0" fmla="*/ 16 w 71"/>
                  <a:gd name="T1" fmla="*/ 0 h 350"/>
                  <a:gd name="T2" fmla="*/ 53 w 71"/>
                  <a:gd name="T3" fmla="*/ 0 h 350"/>
                  <a:gd name="T4" fmla="*/ 71 w 71"/>
                  <a:gd name="T5" fmla="*/ 350 h 350"/>
                  <a:gd name="T6" fmla="*/ 0 w 71"/>
                  <a:gd name="T7" fmla="*/ 350 h 350"/>
                  <a:gd name="T8" fmla="*/ 16 w 71"/>
                  <a:gd name="T9" fmla="*/ 0 h 350"/>
                  <a:gd name="T10" fmla="*/ 16 w 71"/>
                  <a:gd name="T11" fmla="*/ 0 h 3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1"/>
                  <a:gd name="T19" fmla="*/ 0 h 350"/>
                  <a:gd name="T20" fmla="*/ 71 w 71"/>
                  <a:gd name="T21" fmla="*/ 350 h 3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1" h="350">
                    <a:moveTo>
                      <a:pt x="16" y="0"/>
                    </a:moveTo>
                    <a:lnTo>
                      <a:pt x="53" y="0"/>
                    </a:lnTo>
                    <a:lnTo>
                      <a:pt x="71" y="350"/>
                    </a:lnTo>
                    <a:lnTo>
                      <a:pt x="0" y="35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6" name="Freeform 74"/>
              <p:cNvSpPr>
                <a:spLocks/>
              </p:cNvSpPr>
              <p:nvPr/>
            </p:nvSpPr>
            <p:spPr bwMode="auto">
              <a:xfrm>
                <a:off x="3895" y="2417"/>
                <a:ext cx="71" cy="350"/>
              </a:xfrm>
              <a:custGeom>
                <a:avLst/>
                <a:gdLst>
                  <a:gd name="T0" fmla="*/ 15 w 71"/>
                  <a:gd name="T1" fmla="*/ 0 h 350"/>
                  <a:gd name="T2" fmla="*/ 52 w 71"/>
                  <a:gd name="T3" fmla="*/ 0 h 350"/>
                  <a:gd name="T4" fmla="*/ 71 w 71"/>
                  <a:gd name="T5" fmla="*/ 350 h 350"/>
                  <a:gd name="T6" fmla="*/ 0 w 71"/>
                  <a:gd name="T7" fmla="*/ 350 h 350"/>
                  <a:gd name="T8" fmla="*/ 15 w 71"/>
                  <a:gd name="T9" fmla="*/ 0 h 350"/>
                  <a:gd name="T10" fmla="*/ 15 w 71"/>
                  <a:gd name="T11" fmla="*/ 0 h 3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1"/>
                  <a:gd name="T19" fmla="*/ 0 h 350"/>
                  <a:gd name="T20" fmla="*/ 71 w 71"/>
                  <a:gd name="T21" fmla="*/ 350 h 3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1" h="350">
                    <a:moveTo>
                      <a:pt x="15" y="0"/>
                    </a:moveTo>
                    <a:lnTo>
                      <a:pt x="52" y="0"/>
                    </a:lnTo>
                    <a:lnTo>
                      <a:pt x="71" y="350"/>
                    </a:lnTo>
                    <a:lnTo>
                      <a:pt x="0" y="35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7" name="Freeform 75"/>
              <p:cNvSpPr>
                <a:spLocks/>
              </p:cNvSpPr>
              <p:nvPr/>
            </p:nvSpPr>
            <p:spPr bwMode="auto">
              <a:xfrm>
                <a:off x="3817" y="2785"/>
                <a:ext cx="356" cy="201"/>
              </a:xfrm>
              <a:custGeom>
                <a:avLst/>
                <a:gdLst>
                  <a:gd name="T0" fmla="*/ 0 w 356"/>
                  <a:gd name="T1" fmla="*/ 0 h 201"/>
                  <a:gd name="T2" fmla="*/ 356 w 356"/>
                  <a:gd name="T3" fmla="*/ 0 h 201"/>
                  <a:gd name="T4" fmla="*/ 356 w 356"/>
                  <a:gd name="T5" fmla="*/ 201 h 201"/>
                  <a:gd name="T6" fmla="*/ 16 w 356"/>
                  <a:gd name="T7" fmla="*/ 201 h 201"/>
                  <a:gd name="T8" fmla="*/ 16 w 356"/>
                  <a:gd name="T9" fmla="*/ 31 h 201"/>
                  <a:gd name="T10" fmla="*/ 0 w 356"/>
                  <a:gd name="T11" fmla="*/ 0 h 201"/>
                  <a:gd name="T12" fmla="*/ 0 w 356"/>
                  <a:gd name="T13" fmla="*/ 0 h 20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56"/>
                  <a:gd name="T22" fmla="*/ 0 h 201"/>
                  <a:gd name="T23" fmla="*/ 356 w 356"/>
                  <a:gd name="T24" fmla="*/ 201 h 20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56" h="201">
                    <a:moveTo>
                      <a:pt x="0" y="0"/>
                    </a:moveTo>
                    <a:lnTo>
                      <a:pt x="356" y="0"/>
                    </a:lnTo>
                    <a:lnTo>
                      <a:pt x="356" y="201"/>
                    </a:lnTo>
                    <a:lnTo>
                      <a:pt x="16" y="201"/>
                    </a:lnTo>
                    <a:lnTo>
                      <a:pt x="16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8" name="Freeform 76"/>
              <p:cNvSpPr>
                <a:spLocks/>
              </p:cNvSpPr>
              <p:nvPr/>
            </p:nvSpPr>
            <p:spPr bwMode="auto">
              <a:xfrm>
                <a:off x="4095" y="2810"/>
                <a:ext cx="31" cy="34"/>
              </a:xfrm>
              <a:custGeom>
                <a:avLst/>
                <a:gdLst>
                  <a:gd name="T0" fmla="*/ 0 w 31"/>
                  <a:gd name="T1" fmla="*/ 15 h 34"/>
                  <a:gd name="T2" fmla="*/ 0 w 31"/>
                  <a:gd name="T3" fmla="*/ 12 h 34"/>
                  <a:gd name="T4" fmla="*/ 0 w 31"/>
                  <a:gd name="T5" fmla="*/ 12 h 34"/>
                  <a:gd name="T6" fmla="*/ 3 w 31"/>
                  <a:gd name="T7" fmla="*/ 9 h 34"/>
                  <a:gd name="T8" fmla="*/ 3 w 31"/>
                  <a:gd name="T9" fmla="*/ 6 h 34"/>
                  <a:gd name="T10" fmla="*/ 7 w 31"/>
                  <a:gd name="T11" fmla="*/ 3 h 34"/>
                  <a:gd name="T12" fmla="*/ 10 w 31"/>
                  <a:gd name="T13" fmla="*/ 3 h 34"/>
                  <a:gd name="T14" fmla="*/ 13 w 31"/>
                  <a:gd name="T15" fmla="*/ 3 h 34"/>
                  <a:gd name="T16" fmla="*/ 16 w 31"/>
                  <a:gd name="T17" fmla="*/ 0 h 34"/>
                  <a:gd name="T18" fmla="*/ 19 w 31"/>
                  <a:gd name="T19" fmla="*/ 3 h 34"/>
                  <a:gd name="T20" fmla="*/ 22 w 31"/>
                  <a:gd name="T21" fmla="*/ 3 h 34"/>
                  <a:gd name="T22" fmla="*/ 25 w 31"/>
                  <a:gd name="T23" fmla="*/ 3 h 34"/>
                  <a:gd name="T24" fmla="*/ 28 w 31"/>
                  <a:gd name="T25" fmla="*/ 6 h 34"/>
                  <a:gd name="T26" fmla="*/ 28 w 31"/>
                  <a:gd name="T27" fmla="*/ 9 h 34"/>
                  <a:gd name="T28" fmla="*/ 31 w 31"/>
                  <a:gd name="T29" fmla="*/ 12 h 34"/>
                  <a:gd name="T30" fmla="*/ 31 w 31"/>
                  <a:gd name="T31" fmla="*/ 12 h 34"/>
                  <a:gd name="T32" fmla="*/ 31 w 31"/>
                  <a:gd name="T33" fmla="*/ 15 h 34"/>
                  <a:gd name="T34" fmla="*/ 31 w 31"/>
                  <a:gd name="T35" fmla="*/ 21 h 34"/>
                  <a:gd name="T36" fmla="*/ 31 w 31"/>
                  <a:gd name="T37" fmla="*/ 25 h 34"/>
                  <a:gd name="T38" fmla="*/ 28 w 31"/>
                  <a:gd name="T39" fmla="*/ 25 h 34"/>
                  <a:gd name="T40" fmla="*/ 28 w 31"/>
                  <a:gd name="T41" fmla="*/ 28 h 34"/>
                  <a:gd name="T42" fmla="*/ 25 w 31"/>
                  <a:gd name="T43" fmla="*/ 31 h 34"/>
                  <a:gd name="T44" fmla="*/ 22 w 31"/>
                  <a:gd name="T45" fmla="*/ 31 h 34"/>
                  <a:gd name="T46" fmla="*/ 19 w 31"/>
                  <a:gd name="T47" fmla="*/ 31 h 34"/>
                  <a:gd name="T48" fmla="*/ 16 w 31"/>
                  <a:gd name="T49" fmla="*/ 34 h 34"/>
                  <a:gd name="T50" fmla="*/ 13 w 31"/>
                  <a:gd name="T51" fmla="*/ 31 h 34"/>
                  <a:gd name="T52" fmla="*/ 10 w 31"/>
                  <a:gd name="T53" fmla="*/ 31 h 34"/>
                  <a:gd name="T54" fmla="*/ 7 w 31"/>
                  <a:gd name="T55" fmla="*/ 31 h 34"/>
                  <a:gd name="T56" fmla="*/ 3 w 31"/>
                  <a:gd name="T57" fmla="*/ 28 h 34"/>
                  <a:gd name="T58" fmla="*/ 3 w 31"/>
                  <a:gd name="T59" fmla="*/ 25 h 34"/>
                  <a:gd name="T60" fmla="*/ 0 w 31"/>
                  <a:gd name="T61" fmla="*/ 25 h 34"/>
                  <a:gd name="T62" fmla="*/ 0 w 31"/>
                  <a:gd name="T63" fmla="*/ 21 h 34"/>
                  <a:gd name="T64" fmla="*/ 0 w 31"/>
                  <a:gd name="T65" fmla="*/ 15 h 34"/>
                  <a:gd name="T66" fmla="*/ 0 w 31"/>
                  <a:gd name="T67" fmla="*/ 15 h 3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1"/>
                  <a:gd name="T103" fmla="*/ 0 h 34"/>
                  <a:gd name="T104" fmla="*/ 31 w 31"/>
                  <a:gd name="T105" fmla="*/ 34 h 3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1" h="34">
                    <a:moveTo>
                      <a:pt x="0" y="15"/>
                    </a:moveTo>
                    <a:lnTo>
                      <a:pt x="0" y="12"/>
                    </a:lnTo>
                    <a:lnTo>
                      <a:pt x="3" y="9"/>
                    </a:lnTo>
                    <a:lnTo>
                      <a:pt x="3" y="6"/>
                    </a:lnTo>
                    <a:lnTo>
                      <a:pt x="7" y="3"/>
                    </a:lnTo>
                    <a:lnTo>
                      <a:pt x="10" y="3"/>
                    </a:lnTo>
                    <a:lnTo>
                      <a:pt x="13" y="3"/>
                    </a:lnTo>
                    <a:lnTo>
                      <a:pt x="16" y="0"/>
                    </a:lnTo>
                    <a:lnTo>
                      <a:pt x="19" y="3"/>
                    </a:lnTo>
                    <a:lnTo>
                      <a:pt x="22" y="3"/>
                    </a:lnTo>
                    <a:lnTo>
                      <a:pt x="25" y="3"/>
                    </a:lnTo>
                    <a:lnTo>
                      <a:pt x="28" y="6"/>
                    </a:lnTo>
                    <a:lnTo>
                      <a:pt x="28" y="9"/>
                    </a:lnTo>
                    <a:lnTo>
                      <a:pt x="31" y="12"/>
                    </a:lnTo>
                    <a:lnTo>
                      <a:pt x="31" y="15"/>
                    </a:lnTo>
                    <a:lnTo>
                      <a:pt x="31" y="21"/>
                    </a:lnTo>
                    <a:lnTo>
                      <a:pt x="31" y="25"/>
                    </a:lnTo>
                    <a:lnTo>
                      <a:pt x="28" y="25"/>
                    </a:lnTo>
                    <a:lnTo>
                      <a:pt x="28" y="28"/>
                    </a:lnTo>
                    <a:lnTo>
                      <a:pt x="25" y="31"/>
                    </a:lnTo>
                    <a:lnTo>
                      <a:pt x="22" y="31"/>
                    </a:lnTo>
                    <a:lnTo>
                      <a:pt x="19" y="31"/>
                    </a:lnTo>
                    <a:lnTo>
                      <a:pt x="16" y="34"/>
                    </a:lnTo>
                    <a:lnTo>
                      <a:pt x="13" y="31"/>
                    </a:lnTo>
                    <a:lnTo>
                      <a:pt x="10" y="31"/>
                    </a:lnTo>
                    <a:lnTo>
                      <a:pt x="7" y="31"/>
                    </a:lnTo>
                    <a:lnTo>
                      <a:pt x="3" y="28"/>
                    </a:lnTo>
                    <a:lnTo>
                      <a:pt x="3" y="25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09" name="Freeform 77"/>
              <p:cNvSpPr>
                <a:spLocks/>
              </p:cNvSpPr>
              <p:nvPr/>
            </p:nvSpPr>
            <p:spPr bwMode="auto">
              <a:xfrm>
                <a:off x="3901" y="2247"/>
                <a:ext cx="547" cy="170"/>
              </a:xfrm>
              <a:custGeom>
                <a:avLst/>
                <a:gdLst>
                  <a:gd name="T0" fmla="*/ 534 w 547"/>
                  <a:gd name="T1" fmla="*/ 115 h 170"/>
                  <a:gd name="T2" fmla="*/ 528 w 547"/>
                  <a:gd name="T3" fmla="*/ 106 h 170"/>
                  <a:gd name="T4" fmla="*/ 513 w 547"/>
                  <a:gd name="T5" fmla="*/ 90 h 170"/>
                  <a:gd name="T6" fmla="*/ 494 w 547"/>
                  <a:gd name="T7" fmla="*/ 75 h 170"/>
                  <a:gd name="T8" fmla="*/ 469 w 547"/>
                  <a:gd name="T9" fmla="*/ 62 h 170"/>
                  <a:gd name="T10" fmla="*/ 445 w 547"/>
                  <a:gd name="T11" fmla="*/ 56 h 170"/>
                  <a:gd name="T12" fmla="*/ 426 w 547"/>
                  <a:gd name="T13" fmla="*/ 59 h 170"/>
                  <a:gd name="T14" fmla="*/ 408 w 547"/>
                  <a:gd name="T15" fmla="*/ 65 h 170"/>
                  <a:gd name="T16" fmla="*/ 401 w 547"/>
                  <a:gd name="T17" fmla="*/ 56 h 170"/>
                  <a:gd name="T18" fmla="*/ 395 w 547"/>
                  <a:gd name="T19" fmla="*/ 38 h 170"/>
                  <a:gd name="T20" fmla="*/ 386 w 547"/>
                  <a:gd name="T21" fmla="*/ 25 h 170"/>
                  <a:gd name="T22" fmla="*/ 370 w 547"/>
                  <a:gd name="T23" fmla="*/ 10 h 170"/>
                  <a:gd name="T24" fmla="*/ 349 w 547"/>
                  <a:gd name="T25" fmla="*/ 0 h 170"/>
                  <a:gd name="T26" fmla="*/ 324 w 547"/>
                  <a:gd name="T27" fmla="*/ 0 h 170"/>
                  <a:gd name="T28" fmla="*/ 296 w 547"/>
                  <a:gd name="T29" fmla="*/ 7 h 170"/>
                  <a:gd name="T30" fmla="*/ 269 w 547"/>
                  <a:gd name="T31" fmla="*/ 19 h 170"/>
                  <a:gd name="T32" fmla="*/ 253 w 547"/>
                  <a:gd name="T33" fmla="*/ 16 h 170"/>
                  <a:gd name="T34" fmla="*/ 231 w 547"/>
                  <a:gd name="T35" fmla="*/ 7 h 170"/>
                  <a:gd name="T36" fmla="*/ 210 w 547"/>
                  <a:gd name="T37" fmla="*/ 4 h 170"/>
                  <a:gd name="T38" fmla="*/ 191 w 547"/>
                  <a:gd name="T39" fmla="*/ 7 h 170"/>
                  <a:gd name="T40" fmla="*/ 173 w 547"/>
                  <a:gd name="T41" fmla="*/ 13 h 170"/>
                  <a:gd name="T42" fmla="*/ 154 w 547"/>
                  <a:gd name="T43" fmla="*/ 22 h 170"/>
                  <a:gd name="T44" fmla="*/ 136 w 547"/>
                  <a:gd name="T45" fmla="*/ 31 h 170"/>
                  <a:gd name="T46" fmla="*/ 123 w 547"/>
                  <a:gd name="T47" fmla="*/ 47 h 170"/>
                  <a:gd name="T48" fmla="*/ 108 w 547"/>
                  <a:gd name="T49" fmla="*/ 50 h 170"/>
                  <a:gd name="T50" fmla="*/ 96 w 547"/>
                  <a:gd name="T51" fmla="*/ 50 h 170"/>
                  <a:gd name="T52" fmla="*/ 86 w 547"/>
                  <a:gd name="T53" fmla="*/ 50 h 170"/>
                  <a:gd name="T54" fmla="*/ 58 w 547"/>
                  <a:gd name="T55" fmla="*/ 56 h 170"/>
                  <a:gd name="T56" fmla="*/ 37 w 547"/>
                  <a:gd name="T57" fmla="*/ 68 h 170"/>
                  <a:gd name="T58" fmla="*/ 18 w 547"/>
                  <a:gd name="T59" fmla="*/ 87 h 170"/>
                  <a:gd name="T60" fmla="*/ 6 w 547"/>
                  <a:gd name="T61" fmla="*/ 118 h 170"/>
                  <a:gd name="T62" fmla="*/ 0 w 547"/>
                  <a:gd name="T63" fmla="*/ 146 h 170"/>
                  <a:gd name="T64" fmla="*/ 0 w 547"/>
                  <a:gd name="T65" fmla="*/ 170 h 170"/>
                  <a:gd name="T66" fmla="*/ 49 w 547"/>
                  <a:gd name="T67" fmla="*/ 152 h 170"/>
                  <a:gd name="T68" fmla="*/ 55 w 547"/>
                  <a:gd name="T69" fmla="*/ 143 h 170"/>
                  <a:gd name="T70" fmla="*/ 62 w 547"/>
                  <a:gd name="T71" fmla="*/ 140 h 170"/>
                  <a:gd name="T72" fmla="*/ 83 w 547"/>
                  <a:gd name="T73" fmla="*/ 136 h 170"/>
                  <a:gd name="T74" fmla="*/ 123 w 547"/>
                  <a:gd name="T75" fmla="*/ 133 h 170"/>
                  <a:gd name="T76" fmla="*/ 120 w 547"/>
                  <a:gd name="T77" fmla="*/ 149 h 170"/>
                  <a:gd name="T78" fmla="*/ 120 w 547"/>
                  <a:gd name="T79" fmla="*/ 170 h 170"/>
                  <a:gd name="T80" fmla="*/ 173 w 547"/>
                  <a:gd name="T81" fmla="*/ 152 h 170"/>
                  <a:gd name="T82" fmla="*/ 179 w 547"/>
                  <a:gd name="T83" fmla="*/ 143 h 170"/>
                  <a:gd name="T84" fmla="*/ 188 w 547"/>
                  <a:gd name="T85" fmla="*/ 140 h 170"/>
                  <a:gd name="T86" fmla="*/ 204 w 547"/>
                  <a:gd name="T87" fmla="*/ 136 h 170"/>
                  <a:gd name="T88" fmla="*/ 228 w 547"/>
                  <a:gd name="T89" fmla="*/ 133 h 170"/>
                  <a:gd name="T90" fmla="*/ 256 w 547"/>
                  <a:gd name="T91" fmla="*/ 133 h 170"/>
                  <a:gd name="T92" fmla="*/ 293 w 547"/>
                  <a:gd name="T93" fmla="*/ 133 h 170"/>
                  <a:gd name="T94" fmla="*/ 330 w 547"/>
                  <a:gd name="T95" fmla="*/ 130 h 170"/>
                  <a:gd name="T96" fmla="*/ 370 w 547"/>
                  <a:gd name="T97" fmla="*/ 130 h 170"/>
                  <a:gd name="T98" fmla="*/ 414 w 547"/>
                  <a:gd name="T99" fmla="*/ 130 h 170"/>
                  <a:gd name="T100" fmla="*/ 454 w 547"/>
                  <a:gd name="T101" fmla="*/ 130 h 170"/>
                  <a:gd name="T102" fmla="*/ 494 w 547"/>
                  <a:gd name="T103" fmla="*/ 130 h 170"/>
                  <a:gd name="T104" fmla="*/ 531 w 547"/>
                  <a:gd name="T105" fmla="*/ 133 h 170"/>
                  <a:gd name="T106" fmla="*/ 537 w 547"/>
                  <a:gd name="T107" fmla="*/ 118 h 17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547"/>
                  <a:gd name="T163" fmla="*/ 0 h 170"/>
                  <a:gd name="T164" fmla="*/ 547 w 547"/>
                  <a:gd name="T165" fmla="*/ 170 h 170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547" h="170">
                    <a:moveTo>
                      <a:pt x="537" y="118"/>
                    </a:moveTo>
                    <a:lnTo>
                      <a:pt x="537" y="118"/>
                    </a:lnTo>
                    <a:lnTo>
                      <a:pt x="534" y="115"/>
                    </a:lnTo>
                    <a:lnTo>
                      <a:pt x="531" y="109"/>
                    </a:lnTo>
                    <a:lnTo>
                      <a:pt x="528" y="106"/>
                    </a:lnTo>
                    <a:lnTo>
                      <a:pt x="522" y="102"/>
                    </a:lnTo>
                    <a:lnTo>
                      <a:pt x="519" y="96"/>
                    </a:lnTo>
                    <a:lnTo>
                      <a:pt x="513" y="90"/>
                    </a:lnTo>
                    <a:lnTo>
                      <a:pt x="506" y="87"/>
                    </a:lnTo>
                    <a:lnTo>
                      <a:pt x="500" y="81"/>
                    </a:lnTo>
                    <a:lnTo>
                      <a:pt x="494" y="75"/>
                    </a:lnTo>
                    <a:lnTo>
                      <a:pt x="485" y="72"/>
                    </a:lnTo>
                    <a:lnTo>
                      <a:pt x="479" y="65"/>
                    </a:lnTo>
                    <a:lnTo>
                      <a:pt x="469" y="62"/>
                    </a:lnTo>
                    <a:lnTo>
                      <a:pt x="460" y="59"/>
                    </a:lnTo>
                    <a:lnTo>
                      <a:pt x="451" y="56"/>
                    </a:lnTo>
                    <a:lnTo>
                      <a:pt x="445" y="56"/>
                    </a:lnTo>
                    <a:lnTo>
                      <a:pt x="442" y="56"/>
                    </a:lnTo>
                    <a:lnTo>
                      <a:pt x="432" y="59"/>
                    </a:lnTo>
                    <a:lnTo>
                      <a:pt x="426" y="59"/>
                    </a:lnTo>
                    <a:lnTo>
                      <a:pt x="420" y="62"/>
                    </a:lnTo>
                    <a:lnTo>
                      <a:pt x="414" y="62"/>
                    </a:lnTo>
                    <a:lnTo>
                      <a:pt x="408" y="65"/>
                    </a:lnTo>
                    <a:lnTo>
                      <a:pt x="401" y="68"/>
                    </a:lnTo>
                    <a:lnTo>
                      <a:pt x="401" y="62"/>
                    </a:lnTo>
                    <a:lnTo>
                      <a:pt x="401" y="56"/>
                    </a:lnTo>
                    <a:lnTo>
                      <a:pt x="401" y="50"/>
                    </a:lnTo>
                    <a:lnTo>
                      <a:pt x="398" y="44"/>
                    </a:lnTo>
                    <a:lnTo>
                      <a:pt x="395" y="38"/>
                    </a:lnTo>
                    <a:lnTo>
                      <a:pt x="392" y="34"/>
                    </a:lnTo>
                    <a:lnTo>
                      <a:pt x="389" y="28"/>
                    </a:lnTo>
                    <a:lnTo>
                      <a:pt x="386" y="25"/>
                    </a:lnTo>
                    <a:lnTo>
                      <a:pt x="380" y="19"/>
                    </a:lnTo>
                    <a:lnTo>
                      <a:pt x="377" y="13"/>
                    </a:lnTo>
                    <a:lnTo>
                      <a:pt x="370" y="10"/>
                    </a:lnTo>
                    <a:lnTo>
                      <a:pt x="361" y="7"/>
                    </a:lnTo>
                    <a:lnTo>
                      <a:pt x="355" y="4"/>
                    </a:lnTo>
                    <a:lnTo>
                      <a:pt x="349" y="0"/>
                    </a:lnTo>
                    <a:lnTo>
                      <a:pt x="340" y="0"/>
                    </a:lnTo>
                    <a:lnTo>
                      <a:pt x="330" y="0"/>
                    </a:lnTo>
                    <a:lnTo>
                      <a:pt x="324" y="0"/>
                    </a:lnTo>
                    <a:lnTo>
                      <a:pt x="315" y="0"/>
                    </a:lnTo>
                    <a:lnTo>
                      <a:pt x="306" y="4"/>
                    </a:lnTo>
                    <a:lnTo>
                      <a:pt x="296" y="7"/>
                    </a:lnTo>
                    <a:lnTo>
                      <a:pt x="287" y="10"/>
                    </a:lnTo>
                    <a:lnTo>
                      <a:pt x="278" y="16"/>
                    </a:lnTo>
                    <a:lnTo>
                      <a:pt x="269" y="19"/>
                    </a:lnTo>
                    <a:lnTo>
                      <a:pt x="262" y="25"/>
                    </a:lnTo>
                    <a:lnTo>
                      <a:pt x="256" y="19"/>
                    </a:lnTo>
                    <a:lnTo>
                      <a:pt x="253" y="16"/>
                    </a:lnTo>
                    <a:lnTo>
                      <a:pt x="247" y="13"/>
                    </a:lnTo>
                    <a:lnTo>
                      <a:pt x="241" y="10"/>
                    </a:lnTo>
                    <a:lnTo>
                      <a:pt x="231" y="7"/>
                    </a:lnTo>
                    <a:lnTo>
                      <a:pt x="225" y="7"/>
                    </a:lnTo>
                    <a:lnTo>
                      <a:pt x="219" y="4"/>
                    </a:lnTo>
                    <a:lnTo>
                      <a:pt x="210" y="4"/>
                    </a:lnTo>
                    <a:lnTo>
                      <a:pt x="204" y="4"/>
                    </a:lnTo>
                    <a:lnTo>
                      <a:pt x="197" y="7"/>
                    </a:lnTo>
                    <a:lnTo>
                      <a:pt x="191" y="7"/>
                    </a:lnTo>
                    <a:lnTo>
                      <a:pt x="185" y="7"/>
                    </a:lnTo>
                    <a:lnTo>
                      <a:pt x="179" y="10"/>
                    </a:lnTo>
                    <a:lnTo>
                      <a:pt x="173" y="13"/>
                    </a:lnTo>
                    <a:lnTo>
                      <a:pt x="167" y="16"/>
                    </a:lnTo>
                    <a:lnTo>
                      <a:pt x="160" y="16"/>
                    </a:lnTo>
                    <a:lnTo>
                      <a:pt x="154" y="22"/>
                    </a:lnTo>
                    <a:lnTo>
                      <a:pt x="148" y="25"/>
                    </a:lnTo>
                    <a:lnTo>
                      <a:pt x="142" y="28"/>
                    </a:lnTo>
                    <a:lnTo>
                      <a:pt x="136" y="31"/>
                    </a:lnTo>
                    <a:lnTo>
                      <a:pt x="133" y="38"/>
                    </a:lnTo>
                    <a:lnTo>
                      <a:pt x="126" y="41"/>
                    </a:lnTo>
                    <a:lnTo>
                      <a:pt x="123" y="47"/>
                    </a:lnTo>
                    <a:lnTo>
                      <a:pt x="117" y="53"/>
                    </a:lnTo>
                    <a:lnTo>
                      <a:pt x="114" y="53"/>
                    </a:lnTo>
                    <a:lnTo>
                      <a:pt x="108" y="50"/>
                    </a:lnTo>
                    <a:lnTo>
                      <a:pt x="105" y="50"/>
                    </a:lnTo>
                    <a:lnTo>
                      <a:pt x="102" y="50"/>
                    </a:lnTo>
                    <a:lnTo>
                      <a:pt x="96" y="50"/>
                    </a:lnTo>
                    <a:lnTo>
                      <a:pt x="92" y="50"/>
                    </a:lnTo>
                    <a:lnTo>
                      <a:pt x="89" y="50"/>
                    </a:lnTo>
                    <a:lnTo>
                      <a:pt x="86" y="50"/>
                    </a:lnTo>
                    <a:lnTo>
                      <a:pt x="77" y="53"/>
                    </a:lnTo>
                    <a:lnTo>
                      <a:pt x="68" y="53"/>
                    </a:lnTo>
                    <a:lnTo>
                      <a:pt x="58" y="56"/>
                    </a:lnTo>
                    <a:lnTo>
                      <a:pt x="52" y="59"/>
                    </a:lnTo>
                    <a:lnTo>
                      <a:pt x="43" y="62"/>
                    </a:lnTo>
                    <a:lnTo>
                      <a:pt x="37" y="68"/>
                    </a:lnTo>
                    <a:lnTo>
                      <a:pt x="31" y="72"/>
                    </a:lnTo>
                    <a:lnTo>
                      <a:pt x="24" y="78"/>
                    </a:lnTo>
                    <a:lnTo>
                      <a:pt x="18" y="87"/>
                    </a:lnTo>
                    <a:lnTo>
                      <a:pt x="12" y="96"/>
                    </a:lnTo>
                    <a:lnTo>
                      <a:pt x="9" y="109"/>
                    </a:lnTo>
                    <a:lnTo>
                      <a:pt x="6" y="118"/>
                    </a:lnTo>
                    <a:lnTo>
                      <a:pt x="3" y="127"/>
                    </a:lnTo>
                    <a:lnTo>
                      <a:pt x="0" y="136"/>
                    </a:lnTo>
                    <a:lnTo>
                      <a:pt x="0" y="146"/>
                    </a:lnTo>
                    <a:lnTo>
                      <a:pt x="0" y="152"/>
                    </a:lnTo>
                    <a:lnTo>
                      <a:pt x="0" y="170"/>
                    </a:lnTo>
                    <a:lnTo>
                      <a:pt x="52" y="170"/>
                    </a:lnTo>
                    <a:lnTo>
                      <a:pt x="52" y="152"/>
                    </a:lnTo>
                    <a:lnTo>
                      <a:pt x="49" y="152"/>
                    </a:lnTo>
                    <a:lnTo>
                      <a:pt x="52" y="149"/>
                    </a:lnTo>
                    <a:lnTo>
                      <a:pt x="55" y="146"/>
                    </a:lnTo>
                    <a:lnTo>
                      <a:pt x="55" y="143"/>
                    </a:lnTo>
                    <a:lnTo>
                      <a:pt x="58" y="140"/>
                    </a:lnTo>
                    <a:lnTo>
                      <a:pt x="62" y="140"/>
                    </a:lnTo>
                    <a:lnTo>
                      <a:pt x="68" y="140"/>
                    </a:lnTo>
                    <a:lnTo>
                      <a:pt x="74" y="136"/>
                    </a:lnTo>
                    <a:lnTo>
                      <a:pt x="83" y="136"/>
                    </a:lnTo>
                    <a:lnTo>
                      <a:pt x="92" y="136"/>
                    </a:lnTo>
                    <a:lnTo>
                      <a:pt x="105" y="136"/>
                    </a:lnTo>
                    <a:lnTo>
                      <a:pt x="123" y="133"/>
                    </a:lnTo>
                    <a:lnTo>
                      <a:pt x="120" y="140"/>
                    </a:lnTo>
                    <a:lnTo>
                      <a:pt x="120" y="143"/>
                    </a:lnTo>
                    <a:lnTo>
                      <a:pt x="120" y="149"/>
                    </a:lnTo>
                    <a:lnTo>
                      <a:pt x="120" y="152"/>
                    </a:lnTo>
                    <a:lnTo>
                      <a:pt x="120" y="170"/>
                    </a:lnTo>
                    <a:lnTo>
                      <a:pt x="176" y="170"/>
                    </a:lnTo>
                    <a:lnTo>
                      <a:pt x="176" y="152"/>
                    </a:lnTo>
                    <a:lnTo>
                      <a:pt x="173" y="152"/>
                    </a:lnTo>
                    <a:lnTo>
                      <a:pt x="176" y="149"/>
                    </a:lnTo>
                    <a:lnTo>
                      <a:pt x="179" y="146"/>
                    </a:lnTo>
                    <a:lnTo>
                      <a:pt x="179" y="143"/>
                    </a:lnTo>
                    <a:lnTo>
                      <a:pt x="182" y="140"/>
                    </a:lnTo>
                    <a:lnTo>
                      <a:pt x="185" y="140"/>
                    </a:lnTo>
                    <a:lnTo>
                      <a:pt x="188" y="140"/>
                    </a:lnTo>
                    <a:lnTo>
                      <a:pt x="191" y="136"/>
                    </a:lnTo>
                    <a:lnTo>
                      <a:pt x="197" y="136"/>
                    </a:lnTo>
                    <a:lnTo>
                      <a:pt x="204" y="136"/>
                    </a:lnTo>
                    <a:lnTo>
                      <a:pt x="213" y="136"/>
                    </a:lnTo>
                    <a:lnTo>
                      <a:pt x="219" y="136"/>
                    </a:lnTo>
                    <a:lnTo>
                      <a:pt x="228" y="133"/>
                    </a:lnTo>
                    <a:lnTo>
                      <a:pt x="238" y="133"/>
                    </a:lnTo>
                    <a:lnTo>
                      <a:pt x="247" y="133"/>
                    </a:lnTo>
                    <a:lnTo>
                      <a:pt x="256" y="133"/>
                    </a:lnTo>
                    <a:lnTo>
                      <a:pt x="269" y="133"/>
                    </a:lnTo>
                    <a:lnTo>
                      <a:pt x="281" y="133"/>
                    </a:lnTo>
                    <a:lnTo>
                      <a:pt x="293" y="133"/>
                    </a:lnTo>
                    <a:lnTo>
                      <a:pt x="306" y="133"/>
                    </a:lnTo>
                    <a:lnTo>
                      <a:pt x="318" y="133"/>
                    </a:lnTo>
                    <a:lnTo>
                      <a:pt x="330" y="130"/>
                    </a:lnTo>
                    <a:lnTo>
                      <a:pt x="343" y="130"/>
                    </a:lnTo>
                    <a:lnTo>
                      <a:pt x="358" y="130"/>
                    </a:lnTo>
                    <a:lnTo>
                      <a:pt x="370" y="130"/>
                    </a:lnTo>
                    <a:lnTo>
                      <a:pt x="386" y="130"/>
                    </a:lnTo>
                    <a:lnTo>
                      <a:pt x="398" y="130"/>
                    </a:lnTo>
                    <a:lnTo>
                      <a:pt x="414" y="130"/>
                    </a:lnTo>
                    <a:lnTo>
                      <a:pt x="426" y="130"/>
                    </a:lnTo>
                    <a:lnTo>
                      <a:pt x="438" y="130"/>
                    </a:lnTo>
                    <a:lnTo>
                      <a:pt x="454" y="130"/>
                    </a:lnTo>
                    <a:lnTo>
                      <a:pt x="466" y="130"/>
                    </a:lnTo>
                    <a:lnTo>
                      <a:pt x="479" y="130"/>
                    </a:lnTo>
                    <a:lnTo>
                      <a:pt x="494" y="130"/>
                    </a:lnTo>
                    <a:lnTo>
                      <a:pt x="506" y="130"/>
                    </a:lnTo>
                    <a:lnTo>
                      <a:pt x="519" y="133"/>
                    </a:lnTo>
                    <a:lnTo>
                      <a:pt x="531" y="133"/>
                    </a:lnTo>
                    <a:lnTo>
                      <a:pt x="547" y="133"/>
                    </a:lnTo>
                    <a:lnTo>
                      <a:pt x="537" y="11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0" name="Freeform 78"/>
              <p:cNvSpPr>
                <a:spLocks/>
              </p:cNvSpPr>
              <p:nvPr/>
            </p:nvSpPr>
            <p:spPr bwMode="auto">
              <a:xfrm>
                <a:off x="3916" y="2269"/>
                <a:ext cx="235" cy="130"/>
              </a:xfrm>
              <a:custGeom>
                <a:avLst/>
                <a:gdLst>
                  <a:gd name="T0" fmla="*/ 28 w 235"/>
                  <a:gd name="T1" fmla="*/ 111 h 130"/>
                  <a:gd name="T2" fmla="*/ 22 w 235"/>
                  <a:gd name="T3" fmla="*/ 121 h 130"/>
                  <a:gd name="T4" fmla="*/ 16 w 235"/>
                  <a:gd name="T5" fmla="*/ 127 h 130"/>
                  <a:gd name="T6" fmla="*/ 16 w 235"/>
                  <a:gd name="T7" fmla="*/ 130 h 130"/>
                  <a:gd name="T8" fmla="*/ 16 w 235"/>
                  <a:gd name="T9" fmla="*/ 130 h 130"/>
                  <a:gd name="T10" fmla="*/ 3 w 235"/>
                  <a:gd name="T11" fmla="*/ 124 h 130"/>
                  <a:gd name="T12" fmla="*/ 3 w 235"/>
                  <a:gd name="T13" fmla="*/ 108 h 130"/>
                  <a:gd name="T14" fmla="*/ 9 w 235"/>
                  <a:gd name="T15" fmla="*/ 93 h 130"/>
                  <a:gd name="T16" fmla="*/ 19 w 235"/>
                  <a:gd name="T17" fmla="*/ 74 h 130"/>
                  <a:gd name="T18" fmla="*/ 28 w 235"/>
                  <a:gd name="T19" fmla="*/ 62 h 130"/>
                  <a:gd name="T20" fmla="*/ 37 w 235"/>
                  <a:gd name="T21" fmla="*/ 56 h 130"/>
                  <a:gd name="T22" fmla="*/ 50 w 235"/>
                  <a:gd name="T23" fmla="*/ 50 h 130"/>
                  <a:gd name="T24" fmla="*/ 65 w 235"/>
                  <a:gd name="T25" fmla="*/ 46 h 130"/>
                  <a:gd name="T26" fmla="*/ 74 w 235"/>
                  <a:gd name="T27" fmla="*/ 46 h 130"/>
                  <a:gd name="T28" fmla="*/ 84 w 235"/>
                  <a:gd name="T29" fmla="*/ 46 h 130"/>
                  <a:gd name="T30" fmla="*/ 93 w 235"/>
                  <a:gd name="T31" fmla="*/ 46 h 130"/>
                  <a:gd name="T32" fmla="*/ 102 w 235"/>
                  <a:gd name="T33" fmla="*/ 46 h 130"/>
                  <a:gd name="T34" fmla="*/ 108 w 235"/>
                  <a:gd name="T35" fmla="*/ 50 h 130"/>
                  <a:gd name="T36" fmla="*/ 118 w 235"/>
                  <a:gd name="T37" fmla="*/ 40 h 130"/>
                  <a:gd name="T38" fmla="*/ 124 w 235"/>
                  <a:gd name="T39" fmla="*/ 31 h 130"/>
                  <a:gd name="T40" fmla="*/ 136 w 235"/>
                  <a:gd name="T41" fmla="*/ 22 h 130"/>
                  <a:gd name="T42" fmla="*/ 145 w 235"/>
                  <a:gd name="T43" fmla="*/ 16 h 130"/>
                  <a:gd name="T44" fmla="*/ 155 w 235"/>
                  <a:gd name="T45" fmla="*/ 9 h 130"/>
                  <a:gd name="T46" fmla="*/ 167 w 235"/>
                  <a:gd name="T47" fmla="*/ 6 h 130"/>
                  <a:gd name="T48" fmla="*/ 179 w 235"/>
                  <a:gd name="T49" fmla="*/ 3 h 130"/>
                  <a:gd name="T50" fmla="*/ 189 w 235"/>
                  <a:gd name="T51" fmla="*/ 0 h 130"/>
                  <a:gd name="T52" fmla="*/ 201 w 235"/>
                  <a:gd name="T53" fmla="*/ 0 h 130"/>
                  <a:gd name="T54" fmla="*/ 210 w 235"/>
                  <a:gd name="T55" fmla="*/ 3 h 130"/>
                  <a:gd name="T56" fmla="*/ 223 w 235"/>
                  <a:gd name="T57" fmla="*/ 6 h 130"/>
                  <a:gd name="T58" fmla="*/ 229 w 235"/>
                  <a:gd name="T59" fmla="*/ 9 h 130"/>
                  <a:gd name="T60" fmla="*/ 232 w 235"/>
                  <a:gd name="T61" fmla="*/ 16 h 130"/>
                  <a:gd name="T62" fmla="*/ 226 w 235"/>
                  <a:gd name="T63" fmla="*/ 22 h 130"/>
                  <a:gd name="T64" fmla="*/ 220 w 235"/>
                  <a:gd name="T65" fmla="*/ 25 h 130"/>
                  <a:gd name="T66" fmla="*/ 210 w 235"/>
                  <a:gd name="T67" fmla="*/ 25 h 130"/>
                  <a:gd name="T68" fmla="*/ 201 w 235"/>
                  <a:gd name="T69" fmla="*/ 25 h 130"/>
                  <a:gd name="T70" fmla="*/ 195 w 235"/>
                  <a:gd name="T71" fmla="*/ 25 h 130"/>
                  <a:gd name="T72" fmla="*/ 182 w 235"/>
                  <a:gd name="T73" fmla="*/ 25 h 130"/>
                  <a:gd name="T74" fmla="*/ 164 w 235"/>
                  <a:gd name="T75" fmla="*/ 28 h 130"/>
                  <a:gd name="T76" fmla="*/ 152 w 235"/>
                  <a:gd name="T77" fmla="*/ 37 h 130"/>
                  <a:gd name="T78" fmla="*/ 136 w 235"/>
                  <a:gd name="T79" fmla="*/ 46 h 130"/>
                  <a:gd name="T80" fmla="*/ 127 w 235"/>
                  <a:gd name="T81" fmla="*/ 56 h 130"/>
                  <a:gd name="T82" fmla="*/ 121 w 235"/>
                  <a:gd name="T83" fmla="*/ 68 h 130"/>
                  <a:gd name="T84" fmla="*/ 114 w 235"/>
                  <a:gd name="T85" fmla="*/ 77 h 130"/>
                  <a:gd name="T86" fmla="*/ 111 w 235"/>
                  <a:gd name="T87" fmla="*/ 90 h 130"/>
                  <a:gd name="T88" fmla="*/ 99 w 235"/>
                  <a:gd name="T89" fmla="*/ 96 h 130"/>
                  <a:gd name="T90" fmla="*/ 77 w 235"/>
                  <a:gd name="T91" fmla="*/ 96 h 130"/>
                  <a:gd name="T92" fmla="*/ 62 w 235"/>
                  <a:gd name="T93" fmla="*/ 99 h 130"/>
                  <a:gd name="T94" fmla="*/ 50 w 235"/>
                  <a:gd name="T95" fmla="*/ 99 h 130"/>
                  <a:gd name="T96" fmla="*/ 40 w 235"/>
                  <a:gd name="T97" fmla="*/ 102 h 130"/>
                  <a:gd name="T98" fmla="*/ 37 w 235"/>
                  <a:gd name="T99" fmla="*/ 102 h 130"/>
                  <a:gd name="T100" fmla="*/ 34 w 235"/>
                  <a:gd name="T101" fmla="*/ 105 h 130"/>
                  <a:gd name="T102" fmla="*/ 31 w 235"/>
                  <a:gd name="T103" fmla="*/ 105 h 130"/>
                  <a:gd name="T104" fmla="*/ 31 w 235"/>
                  <a:gd name="T105" fmla="*/ 108 h 13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35"/>
                  <a:gd name="T160" fmla="*/ 0 h 130"/>
                  <a:gd name="T161" fmla="*/ 235 w 235"/>
                  <a:gd name="T162" fmla="*/ 130 h 130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35" h="130">
                    <a:moveTo>
                      <a:pt x="31" y="108"/>
                    </a:moveTo>
                    <a:lnTo>
                      <a:pt x="28" y="111"/>
                    </a:lnTo>
                    <a:lnTo>
                      <a:pt x="25" y="118"/>
                    </a:lnTo>
                    <a:lnTo>
                      <a:pt x="22" y="121"/>
                    </a:lnTo>
                    <a:lnTo>
                      <a:pt x="19" y="124"/>
                    </a:lnTo>
                    <a:lnTo>
                      <a:pt x="16" y="127"/>
                    </a:lnTo>
                    <a:lnTo>
                      <a:pt x="16" y="130"/>
                    </a:lnTo>
                    <a:lnTo>
                      <a:pt x="0" y="130"/>
                    </a:lnTo>
                    <a:lnTo>
                      <a:pt x="3" y="124"/>
                    </a:lnTo>
                    <a:lnTo>
                      <a:pt x="3" y="118"/>
                    </a:lnTo>
                    <a:lnTo>
                      <a:pt x="3" y="108"/>
                    </a:lnTo>
                    <a:lnTo>
                      <a:pt x="6" y="99"/>
                    </a:lnTo>
                    <a:lnTo>
                      <a:pt x="9" y="93"/>
                    </a:lnTo>
                    <a:lnTo>
                      <a:pt x="13" y="84"/>
                    </a:lnTo>
                    <a:lnTo>
                      <a:pt x="19" y="74"/>
                    </a:lnTo>
                    <a:lnTo>
                      <a:pt x="25" y="68"/>
                    </a:lnTo>
                    <a:lnTo>
                      <a:pt x="28" y="62"/>
                    </a:lnTo>
                    <a:lnTo>
                      <a:pt x="34" y="59"/>
                    </a:lnTo>
                    <a:lnTo>
                      <a:pt x="37" y="56"/>
                    </a:lnTo>
                    <a:lnTo>
                      <a:pt x="43" y="53"/>
                    </a:lnTo>
                    <a:lnTo>
                      <a:pt x="50" y="50"/>
                    </a:lnTo>
                    <a:lnTo>
                      <a:pt x="56" y="46"/>
                    </a:lnTo>
                    <a:lnTo>
                      <a:pt x="65" y="46"/>
                    </a:lnTo>
                    <a:lnTo>
                      <a:pt x="71" y="46"/>
                    </a:lnTo>
                    <a:lnTo>
                      <a:pt x="74" y="46"/>
                    </a:lnTo>
                    <a:lnTo>
                      <a:pt x="81" y="46"/>
                    </a:lnTo>
                    <a:lnTo>
                      <a:pt x="84" y="46"/>
                    </a:lnTo>
                    <a:lnTo>
                      <a:pt x="90" y="46"/>
                    </a:lnTo>
                    <a:lnTo>
                      <a:pt x="93" y="46"/>
                    </a:lnTo>
                    <a:lnTo>
                      <a:pt x="96" y="46"/>
                    </a:lnTo>
                    <a:lnTo>
                      <a:pt x="102" y="46"/>
                    </a:lnTo>
                    <a:lnTo>
                      <a:pt x="108" y="50"/>
                    </a:lnTo>
                    <a:lnTo>
                      <a:pt x="111" y="43"/>
                    </a:lnTo>
                    <a:lnTo>
                      <a:pt x="118" y="40"/>
                    </a:lnTo>
                    <a:lnTo>
                      <a:pt x="121" y="34"/>
                    </a:lnTo>
                    <a:lnTo>
                      <a:pt x="124" y="31"/>
                    </a:lnTo>
                    <a:lnTo>
                      <a:pt x="130" y="25"/>
                    </a:lnTo>
                    <a:lnTo>
                      <a:pt x="136" y="22"/>
                    </a:lnTo>
                    <a:lnTo>
                      <a:pt x="139" y="19"/>
                    </a:lnTo>
                    <a:lnTo>
                      <a:pt x="145" y="16"/>
                    </a:lnTo>
                    <a:lnTo>
                      <a:pt x="152" y="12"/>
                    </a:lnTo>
                    <a:lnTo>
                      <a:pt x="155" y="9"/>
                    </a:lnTo>
                    <a:lnTo>
                      <a:pt x="161" y="6"/>
                    </a:lnTo>
                    <a:lnTo>
                      <a:pt x="167" y="6"/>
                    </a:lnTo>
                    <a:lnTo>
                      <a:pt x="173" y="3"/>
                    </a:lnTo>
                    <a:lnTo>
                      <a:pt x="179" y="3"/>
                    </a:lnTo>
                    <a:lnTo>
                      <a:pt x="182" y="0"/>
                    </a:lnTo>
                    <a:lnTo>
                      <a:pt x="189" y="0"/>
                    </a:lnTo>
                    <a:lnTo>
                      <a:pt x="195" y="0"/>
                    </a:lnTo>
                    <a:lnTo>
                      <a:pt x="201" y="0"/>
                    </a:lnTo>
                    <a:lnTo>
                      <a:pt x="207" y="0"/>
                    </a:lnTo>
                    <a:lnTo>
                      <a:pt x="210" y="3"/>
                    </a:lnTo>
                    <a:lnTo>
                      <a:pt x="216" y="3"/>
                    </a:lnTo>
                    <a:lnTo>
                      <a:pt x="223" y="6"/>
                    </a:lnTo>
                    <a:lnTo>
                      <a:pt x="226" y="6"/>
                    </a:lnTo>
                    <a:lnTo>
                      <a:pt x="229" y="9"/>
                    </a:lnTo>
                    <a:lnTo>
                      <a:pt x="235" y="12"/>
                    </a:lnTo>
                    <a:lnTo>
                      <a:pt x="232" y="16"/>
                    </a:lnTo>
                    <a:lnTo>
                      <a:pt x="229" y="19"/>
                    </a:lnTo>
                    <a:lnTo>
                      <a:pt x="226" y="22"/>
                    </a:lnTo>
                    <a:lnTo>
                      <a:pt x="223" y="25"/>
                    </a:lnTo>
                    <a:lnTo>
                      <a:pt x="220" y="25"/>
                    </a:lnTo>
                    <a:lnTo>
                      <a:pt x="213" y="25"/>
                    </a:lnTo>
                    <a:lnTo>
                      <a:pt x="210" y="25"/>
                    </a:lnTo>
                    <a:lnTo>
                      <a:pt x="207" y="25"/>
                    </a:lnTo>
                    <a:lnTo>
                      <a:pt x="201" y="25"/>
                    </a:lnTo>
                    <a:lnTo>
                      <a:pt x="198" y="25"/>
                    </a:lnTo>
                    <a:lnTo>
                      <a:pt x="195" y="25"/>
                    </a:lnTo>
                    <a:lnTo>
                      <a:pt x="192" y="25"/>
                    </a:lnTo>
                    <a:lnTo>
                      <a:pt x="182" y="25"/>
                    </a:lnTo>
                    <a:lnTo>
                      <a:pt x="173" y="28"/>
                    </a:lnTo>
                    <a:lnTo>
                      <a:pt x="164" y="28"/>
                    </a:lnTo>
                    <a:lnTo>
                      <a:pt x="158" y="31"/>
                    </a:lnTo>
                    <a:lnTo>
                      <a:pt x="152" y="37"/>
                    </a:lnTo>
                    <a:lnTo>
                      <a:pt x="145" y="40"/>
                    </a:lnTo>
                    <a:lnTo>
                      <a:pt x="136" y="46"/>
                    </a:lnTo>
                    <a:lnTo>
                      <a:pt x="133" y="53"/>
                    </a:lnTo>
                    <a:lnTo>
                      <a:pt x="127" y="56"/>
                    </a:lnTo>
                    <a:lnTo>
                      <a:pt x="124" y="62"/>
                    </a:lnTo>
                    <a:lnTo>
                      <a:pt x="121" y="68"/>
                    </a:lnTo>
                    <a:lnTo>
                      <a:pt x="118" y="71"/>
                    </a:lnTo>
                    <a:lnTo>
                      <a:pt x="114" y="77"/>
                    </a:lnTo>
                    <a:lnTo>
                      <a:pt x="114" y="84"/>
                    </a:lnTo>
                    <a:lnTo>
                      <a:pt x="111" y="90"/>
                    </a:lnTo>
                    <a:lnTo>
                      <a:pt x="111" y="96"/>
                    </a:lnTo>
                    <a:lnTo>
                      <a:pt x="99" y="96"/>
                    </a:lnTo>
                    <a:lnTo>
                      <a:pt x="87" y="96"/>
                    </a:lnTo>
                    <a:lnTo>
                      <a:pt x="77" y="96"/>
                    </a:lnTo>
                    <a:lnTo>
                      <a:pt x="68" y="99"/>
                    </a:lnTo>
                    <a:lnTo>
                      <a:pt x="62" y="99"/>
                    </a:lnTo>
                    <a:lnTo>
                      <a:pt x="56" y="99"/>
                    </a:lnTo>
                    <a:lnTo>
                      <a:pt x="50" y="99"/>
                    </a:lnTo>
                    <a:lnTo>
                      <a:pt x="43" y="102"/>
                    </a:lnTo>
                    <a:lnTo>
                      <a:pt x="40" y="102"/>
                    </a:lnTo>
                    <a:lnTo>
                      <a:pt x="37" y="102"/>
                    </a:lnTo>
                    <a:lnTo>
                      <a:pt x="34" y="105"/>
                    </a:lnTo>
                    <a:lnTo>
                      <a:pt x="31" y="105"/>
                    </a:lnTo>
                    <a:lnTo>
                      <a:pt x="31" y="1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1" name="Freeform 79"/>
              <p:cNvSpPr>
                <a:spLocks/>
              </p:cNvSpPr>
              <p:nvPr/>
            </p:nvSpPr>
            <p:spPr bwMode="auto">
              <a:xfrm>
                <a:off x="4040" y="2263"/>
                <a:ext cx="374" cy="136"/>
              </a:xfrm>
              <a:custGeom>
                <a:avLst/>
                <a:gdLst>
                  <a:gd name="T0" fmla="*/ 188 w 374"/>
                  <a:gd name="T1" fmla="*/ 99 h 136"/>
                  <a:gd name="T2" fmla="*/ 136 w 374"/>
                  <a:gd name="T3" fmla="*/ 99 h 136"/>
                  <a:gd name="T4" fmla="*/ 96 w 374"/>
                  <a:gd name="T5" fmla="*/ 102 h 136"/>
                  <a:gd name="T6" fmla="*/ 68 w 374"/>
                  <a:gd name="T7" fmla="*/ 102 h 136"/>
                  <a:gd name="T8" fmla="*/ 52 w 374"/>
                  <a:gd name="T9" fmla="*/ 105 h 136"/>
                  <a:gd name="T10" fmla="*/ 40 w 374"/>
                  <a:gd name="T11" fmla="*/ 108 h 136"/>
                  <a:gd name="T12" fmla="*/ 34 w 374"/>
                  <a:gd name="T13" fmla="*/ 111 h 136"/>
                  <a:gd name="T14" fmla="*/ 34 w 374"/>
                  <a:gd name="T15" fmla="*/ 111 h 136"/>
                  <a:gd name="T16" fmla="*/ 28 w 374"/>
                  <a:gd name="T17" fmla="*/ 117 h 136"/>
                  <a:gd name="T18" fmla="*/ 21 w 374"/>
                  <a:gd name="T19" fmla="*/ 127 h 136"/>
                  <a:gd name="T20" fmla="*/ 18 w 374"/>
                  <a:gd name="T21" fmla="*/ 133 h 136"/>
                  <a:gd name="T22" fmla="*/ 15 w 374"/>
                  <a:gd name="T23" fmla="*/ 136 h 136"/>
                  <a:gd name="T24" fmla="*/ 15 w 374"/>
                  <a:gd name="T25" fmla="*/ 136 h 136"/>
                  <a:gd name="T26" fmla="*/ 0 w 374"/>
                  <a:gd name="T27" fmla="*/ 130 h 136"/>
                  <a:gd name="T28" fmla="*/ 0 w 374"/>
                  <a:gd name="T29" fmla="*/ 114 h 136"/>
                  <a:gd name="T30" fmla="*/ 6 w 374"/>
                  <a:gd name="T31" fmla="*/ 96 h 136"/>
                  <a:gd name="T32" fmla="*/ 15 w 374"/>
                  <a:gd name="T33" fmla="*/ 77 h 136"/>
                  <a:gd name="T34" fmla="*/ 24 w 374"/>
                  <a:gd name="T35" fmla="*/ 65 h 136"/>
                  <a:gd name="T36" fmla="*/ 37 w 374"/>
                  <a:gd name="T37" fmla="*/ 56 h 136"/>
                  <a:gd name="T38" fmla="*/ 49 w 374"/>
                  <a:gd name="T39" fmla="*/ 49 h 136"/>
                  <a:gd name="T40" fmla="*/ 62 w 374"/>
                  <a:gd name="T41" fmla="*/ 49 h 136"/>
                  <a:gd name="T42" fmla="*/ 71 w 374"/>
                  <a:gd name="T43" fmla="*/ 46 h 136"/>
                  <a:gd name="T44" fmla="*/ 80 w 374"/>
                  <a:gd name="T45" fmla="*/ 46 h 136"/>
                  <a:gd name="T46" fmla="*/ 89 w 374"/>
                  <a:gd name="T47" fmla="*/ 49 h 136"/>
                  <a:gd name="T48" fmla="*/ 99 w 374"/>
                  <a:gd name="T49" fmla="*/ 49 h 136"/>
                  <a:gd name="T50" fmla="*/ 105 w 374"/>
                  <a:gd name="T51" fmla="*/ 49 h 136"/>
                  <a:gd name="T52" fmla="*/ 114 w 374"/>
                  <a:gd name="T53" fmla="*/ 40 h 136"/>
                  <a:gd name="T54" fmla="*/ 123 w 374"/>
                  <a:gd name="T55" fmla="*/ 31 h 136"/>
                  <a:gd name="T56" fmla="*/ 133 w 374"/>
                  <a:gd name="T57" fmla="*/ 25 h 136"/>
                  <a:gd name="T58" fmla="*/ 142 w 374"/>
                  <a:gd name="T59" fmla="*/ 15 h 136"/>
                  <a:gd name="T60" fmla="*/ 154 w 374"/>
                  <a:gd name="T61" fmla="*/ 12 h 136"/>
                  <a:gd name="T62" fmla="*/ 164 w 374"/>
                  <a:gd name="T63" fmla="*/ 6 h 136"/>
                  <a:gd name="T64" fmla="*/ 176 w 374"/>
                  <a:gd name="T65" fmla="*/ 3 h 136"/>
                  <a:gd name="T66" fmla="*/ 188 w 374"/>
                  <a:gd name="T67" fmla="*/ 0 h 136"/>
                  <a:gd name="T68" fmla="*/ 197 w 374"/>
                  <a:gd name="T69" fmla="*/ 3 h 136"/>
                  <a:gd name="T70" fmla="*/ 210 w 374"/>
                  <a:gd name="T71" fmla="*/ 3 h 136"/>
                  <a:gd name="T72" fmla="*/ 222 w 374"/>
                  <a:gd name="T73" fmla="*/ 9 h 136"/>
                  <a:gd name="T74" fmla="*/ 231 w 374"/>
                  <a:gd name="T75" fmla="*/ 15 h 136"/>
                  <a:gd name="T76" fmla="*/ 241 w 374"/>
                  <a:gd name="T77" fmla="*/ 28 h 136"/>
                  <a:gd name="T78" fmla="*/ 247 w 374"/>
                  <a:gd name="T79" fmla="*/ 49 h 136"/>
                  <a:gd name="T80" fmla="*/ 244 w 374"/>
                  <a:gd name="T81" fmla="*/ 77 h 136"/>
                  <a:gd name="T82" fmla="*/ 262 w 374"/>
                  <a:gd name="T83" fmla="*/ 71 h 136"/>
                  <a:gd name="T84" fmla="*/ 278 w 374"/>
                  <a:gd name="T85" fmla="*/ 65 h 136"/>
                  <a:gd name="T86" fmla="*/ 293 w 374"/>
                  <a:gd name="T87" fmla="*/ 62 h 136"/>
                  <a:gd name="T88" fmla="*/ 306 w 374"/>
                  <a:gd name="T89" fmla="*/ 59 h 136"/>
                  <a:gd name="T90" fmla="*/ 318 w 374"/>
                  <a:gd name="T91" fmla="*/ 62 h 136"/>
                  <a:gd name="T92" fmla="*/ 340 w 374"/>
                  <a:gd name="T93" fmla="*/ 71 h 136"/>
                  <a:gd name="T94" fmla="*/ 355 w 374"/>
                  <a:gd name="T95" fmla="*/ 80 h 136"/>
                  <a:gd name="T96" fmla="*/ 367 w 374"/>
                  <a:gd name="T97" fmla="*/ 93 h 136"/>
                  <a:gd name="T98" fmla="*/ 367 w 374"/>
                  <a:gd name="T99" fmla="*/ 99 h 136"/>
                  <a:gd name="T100" fmla="*/ 352 w 374"/>
                  <a:gd name="T101" fmla="*/ 99 h 136"/>
                  <a:gd name="T102" fmla="*/ 337 w 374"/>
                  <a:gd name="T103" fmla="*/ 99 h 136"/>
                  <a:gd name="T104" fmla="*/ 318 w 374"/>
                  <a:gd name="T105" fmla="*/ 99 h 136"/>
                  <a:gd name="T106" fmla="*/ 296 w 374"/>
                  <a:gd name="T107" fmla="*/ 99 h 136"/>
                  <a:gd name="T108" fmla="*/ 278 w 374"/>
                  <a:gd name="T109" fmla="*/ 99 h 136"/>
                  <a:gd name="T110" fmla="*/ 253 w 374"/>
                  <a:gd name="T111" fmla="*/ 99 h 136"/>
                  <a:gd name="T112" fmla="*/ 231 w 374"/>
                  <a:gd name="T113" fmla="*/ 99 h 136"/>
                  <a:gd name="T114" fmla="*/ 219 w 374"/>
                  <a:gd name="T115" fmla="*/ 99 h 1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374"/>
                  <a:gd name="T175" fmla="*/ 0 h 136"/>
                  <a:gd name="T176" fmla="*/ 374 w 374"/>
                  <a:gd name="T177" fmla="*/ 136 h 1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374" h="136">
                    <a:moveTo>
                      <a:pt x="219" y="99"/>
                    </a:moveTo>
                    <a:lnTo>
                      <a:pt x="188" y="99"/>
                    </a:lnTo>
                    <a:lnTo>
                      <a:pt x="160" y="99"/>
                    </a:lnTo>
                    <a:lnTo>
                      <a:pt x="136" y="99"/>
                    </a:lnTo>
                    <a:lnTo>
                      <a:pt x="114" y="102"/>
                    </a:lnTo>
                    <a:lnTo>
                      <a:pt x="96" y="102"/>
                    </a:lnTo>
                    <a:lnTo>
                      <a:pt x="83" y="102"/>
                    </a:lnTo>
                    <a:lnTo>
                      <a:pt x="68" y="102"/>
                    </a:lnTo>
                    <a:lnTo>
                      <a:pt x="58" y="105"/>
                    </a:lnTo>
                    <a:lnTo>
                      <a:pt x="52" y="105"/>
                    </a:lnTo>
                    <a:lnTo>
                      <a:pt x="46" y="108"/>
                    </a:lnTo>
                    <a:lnTo>
                      <a:pt x="40" y="108"/>
                    </a:lnTo>
                    <a:lnTo>
                      <a:pt x="37" y="108"/>
                    </a:lnTo>
                    <a:lnTo>
                      <a:pt x="34" y="111"/>
                    </a:lnTo>
                    <a:lnTo>
                      <a:pt x="31" y="114"/>
                    </a:lnTo>
                    <a:lnTo>
                      <a:pt x="28" y="117"/>
                    </a:lnTo>
                    <a:lnTo>
                      <a:pt x="24" y="124"/>
                    </a:lnTo>
                    <a:lnTo>
                      <a:pt x="21" y="127"/>
                    </a:lnTo>
                    <a:lnTo>
                      <a:pt x="18" y="130"/>
                    </a:lnTo>
                    <a:lnTo>
                      <a:pt x="18" y="133"/>
                    </a:lnTo>
                    <a:lnTo>
                      <a:pt x="15" y="136"/>
                    </a:lnTo>
                    <a:lnTo>
                      <a:pt x="0" y="136"/>
                    </a:lnTo>
                    <a:lnTo>
                      <a:pt x="0" y="130"/>
                    </a:lnTo>
                    <a:lnTo>
                      <a:pt x="0" y="124"/>
                    </a:lnTo>
                    <a:lnTo>
                      <a:pt x="0" y="114"/>
                    </a:lnTo>
                    <a:lnTo>
                      <a:pt x="3" y="105"/>
                    </a:lnTo>
                    <a:lnTo>
                      <a:pt x="6" y="96"/>
                    </a:lnTo>
                    <a:lnTo>
                      <a:pt x="9" y="86"/>
                    </a:lnTo>
                    <a:lnTo>
                      <a:pt x="15" y="77"/>
                    </a:lnTo>
                    <a:lnTo>
                      <a:pt x="21" y="71"/>
                    </a:lnTo>
                    <a:lnTo>
                      <a:pt x="24" y="65"/>
                    </a:lnTo>
                    <a:lnTo>
                      <a:pt x="31" y="62"/>
                    </a:lnTo>
                    <a:lnTo>
                      <a:pt x="37" y="56"/>
                    </a:lnTo>
                    <a:lnTo>
                      <a:pt x="40" y="52"/>
                    </a:lnTo>
                    <a:lnTo>
                      <a:pt x="49" y="49"/>
                    </a:lnTo>
                    <a:lnTo>
                      <a:pt x="55" y="49"/>
                    </a:lnTo>
                    <a:lnTo>
                      <a:pt x="62" y="49"/>
                    </a:lnTo>
                    <a:lnTo>
                      <a:pt x="68" y="46"/>
                    </a:lnTo>
                    <a:lnTo>
                      <a:pt x="71" y="46"/>
                    </a:lnTo>
                    <a:lnTo>
                      <a:pt x="77" y="46"/>
                    </a:lnTo>
                    <a:lnTo>
                      <a:pt x="80" y="46"/>
                    </a:lnTo>
                    <a:lnTo>
                      <a:pt x="86" y="46"/>
                    </a:lnTo>
                    <a:lnTo>
                      <a:pt x="89" y="49"/>
                    </a:lnTo>
                    <a:lnTo>
                      <a:pt x="96" y="49"/>
                    </a:lnTo>
                    <a:lnTo>
                      <a:pt x="99" y="49"/>
                    </a:lnTo>
                    <a:lnTo>
                      <a:pt x="105" y="49"/>
                    </a:lnTo>
                    <a:lnTo>
                      <a:pt x="108" y="46"/>
                    </a:lnTo>
                    <a:lnTo>
                      <a:pt x="114" y="40"/>
                    </a:lnTo>
                    <a:lnTo>
                      <a:pt x="117" y="37"/>
                    </a:lnTo>
                    <a:lnTo>
                      <a:pt x="123" y="31"/>
                    </a:lnTo>
                    <a:lnTo>
                      <a:pt x="126" y="28"/>
                    </a:lnTo>
                    <a:lnTo>
                      <a:pt x="133" y="25"/>
                    </a:lnTo>
                    <a:lnTo>
                      <a:pt x="136" y="22"/>
                    </a:lnTo>
                    <a:lnTo>
                      <a:pt x="142" y="15"/>
                    </a:lnTo>
                    <a:lnTo>
                      <a:pt x="148" y="12"/>
                    </a:lnTo>
                    <a:lnTo>
                      <a:pt x="154" y="12"/>
                    </a:lnTo>
                    <a:lnTo>
                      <a:pt x="157" y="9"/>
                    </a:lnTo>
                    <a:lnTo>
                      <a:pt x="164" y="6"/>
                    </a:lnTo>
                    <a:lnTo>
                      <a:pt x="170" y="3"/>
                    </a:lnTo>
                    <a:lnTo>
                      <a:pt x="176" y="3"/>
                    </a:lnTo>
                    <a:lnTo>
                      <a:pt x="182" y="3"/>
                    </a:lnTo>
                    <a:lnTo>
                      <a:pt x="188" y="0"/>
                    </a:lnTo>
                    <a:lnTo>
                      <a:pt x="191" y="0"/>
                    </a:lnTo>
                    <a:lnTo>
                      <a:pt x="197" y="3"/>
                    </a:lnTo>
                    <a:lnTo>
                      <a:pt x="204" y="3"/>
                    </a:lnTo>
                    <a:lnTo>
                      <a:pt x="210" y="3"/>
                    </a:lnTo>
                    <a:lnTo>
                      <a:pt x="216" y="6"/>
                    </a:lnTo>
                    <a:lnTo>
                      <a:pt x="222" y="9"/>
                    </a:lnTo>
                    <a:lnTo>
                      <a:pt x="225" y="12"/>
                    </a:lnTo>
                    <a:lnTo>
                      <a:pt x="231" y="15"/>
                    </a:lnTo>
                    <a:lnTo>
                      <a:pt x="235" y="18"/>
                    </a:lnTo>
                    <a:lnTo>
                      <a:pt x="241" y="28"/>
                    </a:lnTo>
                    <a:lnTo>
                      <a:pt x="244" y="37"/>
                    </a:lnTo>
                    <a:lnTo>
                      <a:pt x="247" y="49"/>
                    </a:lnTo>
                    <a:lnTo>
                      <a:pt x="247" y="62"/>
                    </a:lnTo>
                    <a:lnTo>
                      <a:pt x="244" y="77"/>
                    </a:lnTo>
                    <a:lnTo>
                      <a:pt x="259" y="71"/>
                    </a:lnTo>
                    <a:lnTo>
                      <a:pt x="262" y="71"/>
                    </a:lnTo>
                    <a:lnTo>
                      <a:pt x="269" y="68"/>
                    </a:lnTo>
                    <a:lnTo>
                      <a:pt x="278" y="65"/>
                    </a:lnTo>
                    <a:lnTo>
                      <a:pt x="284" y="62"/>
                    </a:lnTo>
                    <a:lnTo>
                      <a:pt x="293" y="62"/>
                    </a:lnTo>
                    <a:lnTo>
                      <a:pt x="299" y="59"/>
                    </a:lnTo>
                    <a:lnTo>
                      <a:pt x="306" y="59"/>
                    </a:lnTo>
                    <a:lnTo>
                      <a:pt x="309" y="59"/>
                    </a:lnTo>
                    <a:lnTo>
                      <a:pt x="318" y="62"/>
                    </a:lnTo>
                    <a:lnTo>
                      <a:pt x="330" y="65"/>
                    </a:lnTo>
                    <a:lnTo>
                      <a:pt x="340" y="71"/>
                    </a:lnTo>
                    <a:lnTo>
                      <a:pt x="346" y="74"/>
                    </a:lnTo>
                    <a:lnTo>
                      <a:pt x="355" y="80"/>
                    </a:lnTo>
                    <a:lnTo>
                      <a:pt x="361" y="86"/>
                    </a:lnTo>
                    <a:lnTo>
                      <a:pt x="367" y="93"/>
                    </a:lnTo>
                    <a:lnTo>
                      <a:pt x="374" y="99"/>
                    </a:lnTo>
                    <a:lnTo>
                      <a:pt x="367" y="99"/>
                    </a:lnTo>
                    <a:lnTo>
                      <a:pt x="361" y="99"/>
                    </a:lnTo>
                    <a:lnTo>
                      <a:pt x="352" y="99"/>
                    </a:lnTo>
                    <a:lnTo>
                      <a:pt x="346" y="99"/>
                    </a:lnTo>
                    <a:lnTo>
                      <a:pt x="337" y="99"/>
                    </a:lnTo>
                    <a:lnTo>
                      <a:pt x="327" y="99"/>
                    </a:lnTo>
                    <a:lnTo>
                      <a:pt x="318" y="99"/>
                    </a:lnTo>
                    <a:lnTo>
                      <a:pt x="309" y="99"/>
                    </a:lnTo>
                    <a:lnTo>
                      <a:pt x="296" y="99"/>
                    </a:lnTo>
                    <a:lnTo>
                      <a:pt x="287" y="99"/>
                    </a:lnTo>
                    <a:lnTo>
                      <a:pt x="278" y="99"/>
                    </a:lnTo>
                    <a:lnTo>
                      <a:pt x="265" y="99"/>
                    </a:lnTo>
                    <a:lnTo>
                      <a:pt x="253" y="99"/>
                    </a:lnTo>
                    <a:lnTo>
                      <a:pt x="241" y="99"/>
                    </a:lnTo>
                    <a:lnTo>
                      <a:pt x="231" y="99"/>
                    </a:lnTo>
                    <a:lnTo>
                      <a:pt x="219" y="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2" name="Rectangle 80"/>
              <p:cNvSpPr>
                <a:spLocks noChangeArrowheads="1"/>
              </p:cNvSpPr>
              <p:nvPr/>
            </p:nvSpPr>
            <p:spPr bwMode="auto">
              <a:xfrm>
                <a:off x="2517" y="2046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</a:t>
                </a:r>
                <a:endParaRPr lang="en-US"/>
              </a:p>
            </p:txBody>
          </p:sp>
          <p:sp>
            <p:nvSpPr>
              <p:cNvPr id="4513" name="Rectangle 81"/>
              <p:cNvSpPr>
                <a:spLocks noChangeArrowheads="1"/>
              </p:cNvSpPr>
              <p:nvPr/>
            </p:nvSpPr>
            <p:spPr bwMode="auto">
              <a:xfrm>
                <a:off x="2550" y="2043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c</a:t>
                </a:r>
                <a:endParaRPr lang="en-US"/>
              </a:p>
            </p:txBody>
          </p:sp>
          <p:sp>
            <p:nvSpPr>
              <p:cNvPr id="4514" name="Rectangle 82"/>
              <p:cNvSpPr>
                <a:spLocks noChangeArrowheads="1"/>
              </p:cNvSpPr>
              <p:nvPr/>
            </p:nvSpPr>
            <p:spPr bwMode="auto">
              <a:xfrm>
                <a:off x="2605" y="2046"/>
                <a:ext cx="3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)</a:t>
                </a:r>
                <a:endParaRPr lang="en-US"/>
              </a:p>
            </p:txBody>
          </p:sp>
          <p:sp>
            <p:nvSpPr>
              <p:cNvPr id="4515" name="Freeform 83"/>
              <p:cNvSpPr>
                <a:spLocks/>
              </p:cNvSpPr>
              <p:nvPr/>
            </p:nvSpPr>
            <p:spPr bwMode="auto">
              <a:xfrm>
                <a:off x="2007" y="1039"/>
                <a:ext cx="1331" cy="655"/>
              </a:xfrm>
              <a:custGeom>
                <a:avLst/>
                <a:gdLst>
                  <a:gd name="T0" fmla="*/ 365 w 1331"/>
                  <a:gd name="T1" fmla="*/ 13 h 655"/>
                  <a:gd name="T2" fmla="*/ 309 w 1331"/>
                  <a:gd name="T3" fmla="*/ 3 h 655"/>
                  <a:gd name="T4" fmla="*/ 256 w 1331"/>
                  <a:gd name="T5" fmla="*/ 13 h 655"/>
                  <a:gd name="T6" fmla="*/ 229 w 1331"/>
                  <a:gd name="T7" fmla="*/ 56 h 655"/>
                  <a:gd name="T8" fmla="*/ 244 w 1331"/>
                  <a:gd name="T9" fmla="*/ 99 h 655"/>
                  <a:gd name="T10" fmla="*/ 244 w 1331"/>
                  <a:gd name="T11" fmla="*/ 118 h 655"/>
                  <a:gd name="T12" fmla="*/ 253 w 1331"/>
                  <a:gd name="T13" fmla="*/ 155 h 655"/>
                  <a:gd name="T14" fmla="*/ 219 w 1331"/>
                  <a:gd name="T15" fmla="*/ 167 h 655"/>
                  <a:gd name="T16" fmla="*/ 158 w 1331"/>
                  <a:gd name="T17" fmla="*/ 195 h 655"/>
                  <a:gd name="T18" fmla="*/ 93 w 1331"/>
                  <a:gd name="T19" fmla="*/ 248 h 655"/>
                  <a:gd name="T20" fmla="*/ 62 w 1331"/>
                  <a:gd name="T21" fmla="*/ 365 h 655"/>
                  <a:gd name="T22" fmla="*/ 28 w 1331"/>
                  <a:gd name="T23" fmla="*/ 451 h 655"/>
                  <a:gd name="T24" fmla="*/ 0 w 1331"/>
                  <a:gd name="T25" fmla="*/ 473 h 655"/>
                  <a:gd name="T26" fmla="*/ 117 w 1331"/>
                  <a:gd name="T27" fmla="*/ 529 h 655"/>
                  <a:gd name="T28" fmla="*/ 575 w 1331"/>
                  <a:gd name="T29" fmla="*/ 655 h 655"/>
                  <a:gd name="T30" fmla="*/ 1013 w 1331"/>
                  <a:gd name="T31" fmla="*/ 637 h 655"/>
                  <a:gd name="T32" fmla="*/ 1304 w 1331"/>
                  <a:gd name="T33" fmla="*/ 541 h 655"/>
                  <a:gd name="T34" fmla="*/ 1319 w 1331"/>
                  <a:gd name="T35" fmla="*/ 498 h 655"/>
                  <a:gd name="T36" fmla="*/ 1322 w 1331"/>
                  <a:gd name="T37" fmla="*/ 473 h 655"/>
                  <a:gd name="T38" fmla="*/ 1301 w 1331"/>
                  <a:gd name="T39" fmla="*/ 377 h 655"/>
                  <a:gd name="T40" fmla="*/ 1202 w 1331"/>
                  <a:gd name="T41" fmla="*/ 235 h 655"/>
                  <a:gd name="T42" fmla="*/ 1165 w 1331"/>
                  <a:gd name="T43" fmla="*/ 204 h 655"/>
                  <a:gd name="T44" fmla="*/ 1177 w 1331"/>
                  <a:gd name="T45" fmla="*/ 155 h 655"/>
                  <a:gd name="T46" fmla="*/ 1183 w 1331"/>
                  <a:gd name="T47" fmla="*/ 105 h 655"/>
                  <a:gd name="T48" fmla="*/ 1152 w 1331"/>
                  <a:gd name="T49" fmla="*/ 59 h 655"/>
                  <a:gd name="T50" fmla="*/ 1078 w 1331"/>
                  <a:gd name="T51" fmla="*/ 37 h 655"/>
                  <a:gd name="T52" fmla="*/ 825 w 1331"/>
                  <a:gd name="T53" fmla="*/ 377 h 655"/>
                  <a:gd name="T54" fmla="*/ 785 w 1331"/>
                  <a:gd name="T55" fmla="*/ 396 h 655"/>
                  <a:gd name="T56" fmla="*/ 646 w 1331"/>
                  <a:gd name="T57" fmla="*/ 383 h 655"/>
                  <a:gd name="T58" fmla="*/ 664 w 1331"/>
                  <a:gd name="T59" fmla="*/ 306 h 655"/>
                  <a:gd name="T60" fmla="*/ 383 w 1331"/>
                  <a:gd name="T61" fmla="*/ 16 h 655"/>
                  <a:gd name="T62" fmla="*/ 383 w 1331"/>
                  <a:gd name="T63" fmla="*/ 16 h 65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331"/>
                  <a:gd name="T97" fmla="*/ 0 h 655"/>
                  <a:gd name="T98" fmla="*/ 1331 w 1331"/>
                  <a:gd name="T99" fmla="*/ 655 h 65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331" h="655">
                    <a:moveTo>
                      <a:pt x="383" y="16"/>
                    </a:moveTo>
                    <a:lnTo>
                      <a:pt x="365" y="13"/>
                    </a:lnTo>
                    <a:lnTo>
                      <a:pt x="334" y="3"/>
                    </a:lnTo>
                    <a:lnTo>
                      <a:pt x="309" y="3"/>
                    </a:lnTo>
                    <a:lnTo>
                      <a:pt x="281" y="0"/>
                    </a:lnTo>
                    <a:lnTo>
                      <a:pt x="256" y="13"/>
                    </a:lnTo>
                    <a:lnTo>
                      <a:pt x="232" y="28"/>
                    </a:lnTo>
                    <a:lnTo>
                      <a:pt x="229" y="56"/>
                    </a:lnTo>
                    <a:lnTo>
                      <a:pt x="232" y="87"/>
                    </a:lnTo>
                    <a:lnTo>
                      <a:pt x="244" y="99"/>
                    </a:lnTo>
                    <a:lnTo>
                      <a:pt x="238" y="108"/>
                    </a:lnTo>
                    <a:lnTo>
                      <a:pt x="244" y="118"/>
                    </a:lnTo>
                    <a:lnTo>
                      <a:pt x="263" y="149"/>
                    </a:lnTo>
                    <a:lnTo>
                      <a:pt x="253" y="155"/>
                    </a:lnTo>
                    <a:lnTo>
                      <a:pt x="238" y="164"/>
                    </a:lnTo>
                    <a:lnTo>
                      <a:pt x="219" y="167"/>
                    </a:lnTo>
                    <a:lnTo>
                      <a:pt x="182" y="186"/>
                    </a:lnTo>
                    <a:lnTo>
                      <a:pt x="158" y="195"/>
                    </a:lnTo>
                    <a:lnTo>
                      <a:pt x="124" y="223"/>
                    </a:lnTo>
                    <a:lnTo>
                      <a:pt x="93" y="248"/>
                    </a:lnTo>
                    <a:lnTo>
                      <a:pt x="77" y="300"/>
                    </a:lnTo>
                    <a:lnTo>
                      <a:pt x="62" y="365"/>
                    </a:lnTo>
                    <a:lnTo>
                      <a:pt x="37" y="402"/>
                    </a:lnTo>
                    <a:lnTo>
                      <a:pt x="28" y="451"/>
                    </a:lnTo>
                    <a:lnTo>
                      <a:pt x="12" y="455"/>
                    </a:lnTo>
                    <a:lnTo>
                      <a:pt x="0" y="473"/>
                    </a:lnTo>
                    <a:lnTo>
                      <a:pt x="31" y="498"/>
                    </a:lnTo>
                    <a:lnTo>
                      <a:pt x="117" y="529"/>
                    </a:lnTo>
                    <a:lnTo>
                      <a:pt x="303" y="581"/>
                    </a:lnTo>
                    <a:lnTo>
                      <a:pt x="575" y="655"/>
                    </a:lnTo>
                    <a:lnTo>
                      <a:pt x="763" y="652"/>
                    </a:lnTo>
                    <a:lnTo>
                      <a:pt x="1013" y="637"/>
                    </a:lnTo>
                    <a:lnTo>
                      <a:pt x="1165" y="609"/>
                    </a:lnTo>
                    <a:lnTo>
                      <a:pt x="1304" y="541"/>
                    </a:lnTo>
                    <a:lnTo>
                      <a:pt x="1331" y="513"/>
                    </a:lnTo>
                    <a:lnTo>
                      <a:pt x="1319" y="498"/>
                    </a:lnTo>
                    <a:lnTo>
                      <a:pt x="1325" y="489"/>
                    </a:lnTo>
                    <a:lnTo>
                      <a:pt x="1322" y="473"/>
                    </a:lnTo>
                    <a:lnTo>
                      <a:pt x="1322" y="458"/>
                    </a:lnTo>
                    <a:lnTo>
                      <a:pt x="1301" y="377"/>
                    </a:lnTo>
                    <a:lnTo>
                      <a:pt x="1254" y="300"/>
                    </a:lnTo>
                    <a:lnTo>
                      <a:pt x="1202" y="235"/>
                    </a:lnTo>
                    <a:lnTo>
                      <a:pt x="1174" y="210"/>
                    </a:lnTo>
                    <a:lnTo>
                      <a:pt x="1165" y="204"/>
                    </a:lnTo>
                    <a:lnTo>
                      <a:pt x="1165" y="186"/>
                    </a:lnTo>
                    <a:lnTo>
                      <a:pt x="1177" y="155"/>
                    </a:lnTo>
                    <a:lnTo>
                      <a:pt x="1189" y="142"/>
                    </a:lnTo>
                    <a:lnTo>
                      <a:pt x="1183" y="105"/>
                    </a:lnTo>
                    <a:lnTo>
                      <a:pt x="1177" y="81"/>
                    </a:lnTo>
                    <a:lnTo>
                      <a:pt x="1152" y="59"/>
                    </a:lnTo>
                    <a:lnTo>
                      <a:pt x="1134" y="40"/>
                    </a:lnTo>
                    <a:lnTo>
                      <a:pt x="1078" y="37"/>
                    </a:lnTo>
                    <a:lnTo>
                      <a:pt x="1066" y="44"/>
                    </a:lnTo>
                    <a:lnTo>
                      <a:pt x="825" y="377"/>
                    </a:lnTo>
                    <a:lnTo>
                      <a:pt x="806" y="402"/>
                    </a:lnTo>
                    <a:lnTo>
                      <a:pt x="785" y="396"/>
                    </a:lnTo>
                    <a:lnTo>
                      <a:pt x="754" y="408"/>
                    </a:lnTo>
                    <a:lnTo>
                      <a:pt x="646" y="383"/>
                    </a:lnTo>
                    <a:lnTo>
                      <a:pt x="615" y="371"/>
                    </a:lnTo>
                    <a:lnTo>
                      <a:pt x="664" y="306"/>
                    </a:lnTo>
                    <a:lnTo>
                      <a:pt x="575" y="217"/>
                    </a:lnTo>
                    <a:lnTo>
                      <a:pt x="383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6" name="Freeform 84"/>
              <p:cNvSpPr>
                <a:spLocks/>
              </p:cNvSpPr>
              <p:nvPr/>
            </p:nvSpPr>
            <p:spPr bwMode="auto">
              <a:xfrm>
                <a:off x="2381" y="832"/>
                <a:ext cx="695" cy="584"/>
              </a:xfrm>
              <a:custGeom>
                <a:avLst/>
                <a:gdLst>
                  <a:gd name="T0" fmla="*/ 28 w 695"/>
                  <a:gd name="T1" fmla="*/ 204 h 584"/>
                  <a:gd name="T2" fmla="*/ 55 w 695"/>
                  <a:gd name="T3" fmla="*/ 164 h 584"/>
                  <a:gd name="T4" fmla="*/ 65 w 695"/>
                  <a:gd name="T5" fmla="*/ 105 h 584"/>
                  <a:gd name="T6" fmla="*/ 92 w 695"/>
                  <a:gd name="T7" fmla="*/ 50 h 584"/>
                  <a:gd name="T8" fmla="*/ 154 w 695"/>
                  <a:gd name="T9" fmla="*/ 25 h 584"/>
                  <a:gd name="T10" fmla="*/ 197 w 695"/>
                  <a:gd name="T11" fmla="*/ 31 h 584"/>
                  <a:gd name="T12" fmla="*/ 231 w 695"/>
                  <a:gd name="T13" fmla="*/ 53 h 584"/>
                  <a:gd name="T14" fmla="*/ 238 w 695"/>
                  <a:gd name="T15" fmla="*/ 93 h 584"/>
                  <a:gd name="T16" fmla="*/ 250 w 695"/>
                  <a:gd name="T17" fmla="*/ 127 h 584"/>
                  <a:gd name="T18" fmla="*/ 238 w 695"/>
                  <a:gd name="T19" fmla="*/ 158 h 584"/>
                  <a:gd name="T20" fmla="*/ 287 w 695"/>
                  <a:gd name="T21" fmla="*/ 170 h 584"/>
                  <a:gd name="T22" fmla="*/ 312 w 695"/>
                  <a:gd name="T23" fmla="*/ 207 h 584"/>
                  <a:gd name="T24" fmla="*/ 358 w 695"/>
                  <a:gd name="T25" fmla="*/ 161 h 584"/>
                  <a:gd name="T26" fmla="*/ 349 w 695"/>
                  <a:gd name="T27" fmla="*/ 108 h 584"/>
                  <a:gd name="T28" fmla="*/ 330 w 695"/>
                  <a:gd name="T29" fmla="*/ 84 h 584"/>
                  <a:gd name="T30" fmla="*/ 364 w 695"/>
                  <a:gd name="T31" fmla="*/ 37 h 584"/>
                  <a:gd name="T32" fmla="*/ 386 w 695"/>
                  <a:gd name="T33" fmla="*/ 25 h 584"/>
                  <a:gd name="T34" fmla="*/ 429 w 695"/>
                  <a:gd name="T35" fmla="*/ 0 h 584"/>
                  <a:gd name="T36" fmla="*/ 479 w 695"/>
                  <a:gd name="T37" fmla="*/ 3 h 584"/>
                  <a:gd name="T38" fmla="*/ 513 w 695"/>
                  <a:gd name="T39" fmla="*/ 40 h 584"/>
                  <a:gd name="T40" fmla="*/ 506 w 695"/>
                  <a:gd name="T41" fmla="*/ 87 h 584"/>
                  <a:gd name="T42" fmla="*/ 516 w 695"/>
                  <a:gd name="T43" fmla="*/ 105 h 584"/>
                  <a:gd name="T44" fmla="*/ 581 w 695"/>
                  <a:gd name="T45" fmla="*/ 127 h 584"/>
                  <a:gd name="T46" fmla="*/ 639 w 695"/>
                  <a:gd name="T47" fmla="*/ 161 h 584"/>
                  <a:gd name="T48" fmla="*/ 670 w 695"/>
                  <a:gd name="T49" fmla="*/ 207 h 584"/>
                  <a:gd name="T50" fmla="*/ 479 w 695"/>
                  <a:gd name="T51" fmla="*/ 584 h 584"/>
                  <a:gd name="T52" fmla="*/ 423 w 695"/>
                  <a:gd name="T53" fmla="*/ 553 h 584"/>
                  <a:gd name="T54" fmla="*/ 426 w 695"/>
                  <a:gd name="T55" fmla="*/ 467 h 584"/>
                  <a:gd name="T56" fmla="*/ 370 w 695"/>
                  <a:gd name="T57" fmla="*/ 380 h 584"/>
                  <a:gd name="T58" fmla="*/ 352 w 695"/>
                  <a:gd name="T59" fmla="*/ 421 h 584"/>
                  <a:gd name="T60" fmla="*/ 349 w 695"/>
                  <a:gd name="T61" fmla="*/ 455 h 584"/>
                  <a:gd name="T62" fmla="*/ 312 w 695"/>
                  <a:gd name="T63" fmla="*/ 504 h 584"/>
                  <a:gd name="T64" fmla="*/ 0 w 695"/>
                  <a:gd name="T65" fmla="*/ 232 h 584"/>
                  <a:gd name="T66" fmla="*/ 0 w 695"/>
                  <a:gd name="T67" fmla="*/ 232 h 58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695"/>
                  <a:gd name="T103" fmla="*/ 0 h 584"/>
                  <a:gd name="T104" fmla="*/ 695 w 695"/>
                  <a:gd name="T105" fmla="*/ 584 h 58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695" h="584">
                    <a:moveTo>
                      <a:pt x="0" y="232"/>
                    </a:moveTo>
                    <a:lnTo>
                      <a:pt x="28" y="204"/>
                    </a:lnTo>
                    <a:lnTo>
                      <a:pt x="71" y="170"/>
                    </a:lnTo>
                    <a:lnTo>
                      <a:pt x="55" y="164"/>
                    </a:lnTo>
                    <a:lnTo>
                      <a:pt x="52" y="124"/>
                    </a:lnTo>
                    <a:lnTo>
                      <a:pt x="65" y="105"/>
                    </a:lnTo>
                    <a:lnTo>
                      <a:pt x="71" y="74"/>
                    </a:lnTo>
                    <a:lnTo>
                      <a:pt x="92" y="50"/>
                    </a:lnTo>
                    <a:lnTo>
                      <a:pt x="120" y="40"/>
                    </a:lnTo>
                    <a:lnTo>
                      <a:pt x="154" y="25"/>
                    </a:lnTo>
                    <a:lnTo>
                      <a:pt x="179" y="34"/>
                    </a:lnTo>
                    <a:lnTo>
                      <a:pt x="197" y="31"/>
                    </a:lnTo>
                    <a:lnTo>
                      <a:pt x="222" y="34"/>
                    </a:lnTo>
                    <a:lnTo>
                      <a:pt x="231" y="53"/>
                    </a:lnTo>
                    <a:lnTo>
                      <a:pt x="231" y="81"/>
                    </a:lnTo>
                    <a:lnTo>
                      <a:pt x="238" y="93"/>
                    </a:lnTo>
                    <a:lnTo>
                      <a:pt x="241" y="112"/>
                    </a:lnTo>
                    <a:lnTo>
                      <a:pt x="250" y="127"/>
                    </a:lnTo>
                    <a:lnTo>
                      <a:pt x="231" y="149"/>
                    </a:lnTo>
                    <a:lnTo>
                      <a:pt x="238" y="158"/>
                    </a:lnTo>
                    <a:lnTo>
                      <a:pt x="272" y="170"/>
                    </a:lnTo>
                    <a:lnTo>
                      <a:pt x="287" y="170"/>
                    </a:lnTo>
                    <a:lnTo>
                      <a:pt x="306" y="180"/>
                    </a:lnTo>
                    <a:lnTo>
                      <a:pt x="312" y="207"/>
                    </a:lnTo>
                    <a:lnTo>
                      <a:pt x="346" y="170"/>
                    </a:lnTo>
                    <a:lnTo>
                      <a:pt x="358" y="161"/>
                    </a:lnTo>
                    <a:lnTo>
                      <a:pt x="349" y="142"/>
                    </a:lnTo>
                    <a:lnTo>
                      <a:pt x="349" y="108"/>
                    </a:lnTo>
                    <a:lnTo>
                      <a:pt x="337" y="99"/>
                    </a:lnTo>
                    <a:lnTo>
                      <a:pt x="330" y="84"/>
                    </a:lnTo>
                    <a:lnTo>
                      <a:pt x="340" y="62"/>
                    </a:lnTo>
                    <a:lnTo>
                      <a:pt x="364" y="37"/>
                    </a:lnTo>
                    <a:lnTo>
                      <a:pt x="370" y="31"/>
                    </a:lnTo>
                    <a:lnTo>
                      <a:pt x="386" y="25"/>
                    </a:lnTo>
                    <a:lnTo>
                      <a:pt x="408" y="10"/>
                    </a:lnTo>
                    <a:lnTo>
                      <a:pt x="429" y="0"/>
                    </a:lnTo>
                    <a:lnTo>
                      <a:pt x="460" y="3"/>
                    </a:lnTo>
                    <a:lnTo>
                      <a:pt x="479" y="3"/>
                    </a:lnTo>
                    <a:lnTo>
                      <a:pt x="497" y="25"/>
                    </a:lnTo>
                    <a:lnTo>
                      <a:pt x="513" y="40"/>
                    </a:lnTo>
                    <a:lnTo>
                      <a:pt x="506" y="68"/>
                    </a:lnTo>
                    <a:lnTo>
                      <a:pt x="506" y="87"/>
                    </a:lnTo>
                    <a:lnTo>
                      <a:pt x="516" y="93"/>
                    </a:lnTo>
                    <a:lnTo>
                      <a:pt x="516" y="105"/>
                    </a:lnTo>
                    <a:lnTo>
                      <a:pt x="543" y="108"/>
                    </a:lnTo>
                    <a:lnTo>
                      <a:pt x="581" y="127"/>
                    </a:lnTo>
                    <a:lnTo>
                      <a:pt x="605" y="130"/>
                    </a:lnTo>
                    <a:lnTo>
                      <a:pt x="639" y="161"/>
                    </a:lnTo>
                    <a:lnTo>
                      <a:pt x="645" y="176"/>
                    </a:lnTo>
                    <a:lnTo>
                      <a:pt x="670" y="207"/>
                    </a:lnTo>
                    <a:lnTo>
                      <a:pt x="695" y="257"/>
                    </a:lnTo>
                    <a:lnTo>
                      <a:pt x="479" y="584"/>
                    </a:lnTo>
                    <a:lnTo>
                      <a:pt x="442" y="581"/>
                    </a:lnTo>
                    <a:lnTo>
                      <a:pt x="423" y="553"/>
                    </a:lnTo>
                    <a:lnTo>
                      <a:pt x="432" y="492"/>
                    </a:lnTo>
                    <a:lnTo>
                      <a:pt x="426" y="467"/>
                    </a:lnTo>
                    <a:lnTo>
                      <a:pt x="386" y="408"/>
                    </a:lnTo>
                    <a:lnTo>
                      <a:pt x="370" y="380"/>
                    </a:lnTo>
                    <a:lnTo>
                      <a:pt x="358" y="405"/>
                    </a:lnTo>
                    <a:lnTo>
                      <a:pt x="352" y="421"/>
                    </a:lnTo>
                    <a:lnTo>
                      <a:pt x="346" y="439"/>
                    </a:lnTo>
                    <a:lnTo>
                      <a:pt x="349" y="455"/>
                    </a:lnTo>
                    <a:lnTo>
                      <a:pt x="340" y="479"/>
                    </a:lnTo>
                    <a:lnTo>
                      <a:pt x="312" y="504"/>
                    </a:lnTo>
                    <a:lnTo>
                      <a:pt x="259" y="526"/>
                    </a:lnTo>
                    <a:lnTo>
                      <a:pt x="0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7" name="Freeform 85"/>
              <p:cNvSpPr>
                <a:spLocks/>
              </p:cNvSpPr>
              <p:nvPr/>
            </p:nvSpPr>
            <p:spPr bwMode="auto">
              <a:xfrm>
                <a:off x="3023" y="1086"/>
                <a:ext cx="173" cy="139"/>
              </a:xfrm>
              <a:custGeom>
                <a:avLst/>
                <a:gdLst>
                  <a:gd name="T0" fmla="*/ 22 w 173"/>
                  <a:gd name="T1" fmla="*/ 71 h 139"/>
                  <a:gd name="T2" fmla="*/ 0 w 173"/>
                  <a:gd name="T3" fmla="*/ 68 h 139"/>
                  <a:gd name="T4" fmla="*/ 3 w 173"/>
                  <a:gd name="T5" fmla="*/ 52 h 139"/>
                  <a:gd name="T6" fmla="*/ 10 w 173"/>
                  <a:gd name="T7" fmla="*/ 37 h 139"/>
                  <a:gd name="T8" fmla="*/ 28 w 173"/>
                  <a:gd name="T9" fmla="*/ 27 h 139"/>
                  <a:gd name="T10" fmla="*/ 34 w 173"/>
                  <a:gd name="T11" fmla="*/ 18 h 139"/>
                  <a:gd name="T12" fmla="*/ 65 w 173"/>
                  <a:gd name="T13" fmla="*/ 0 h 139"/>
                  <a:gd name="T14" fmla="*/ 84 w 173"/>
                  <a:gd name="T15" fmla="*/ 3 h 139"/>
                  <a:gd name="T16" fmla="*/ 102 w 173"/>
                  <a:gd name="T17" fmla="*/ 0 h 139"/>
                  <a:gd name="T18" fmla="*/ 96 w 173"/>
                  <a:gd name="T19" fmla="*/ 9 h 139"/>
                  <a:gd name="T20" fmla="*/ 90 w 173"/>
                  <a:gd name="T21" fmla="*/ 18 h 139"/>
                  <a:gd name="T22" fmla="*/ 96 w 173"/>
                  <a:gd name="T23" fmla="*/ 24 h 139"/>
                  <a:gd name="T24" fmla="*/ 84 w 173"/>
                  <a:gd name="T25" fmla="*/ 27 h 139"/>
                  <a:gd name="T26" fmla="*/ 84 w 173"/>
                  <a:gd name="T27" fmla="*/ 40 h 139"/>
                  <a:gd name="T28" fmla="*/ 96 w 173"/>
                  <a:gd name="T29" fmla="*/ 46 h 139"/>
                  <a:gd name="T30" fmla="*/ 108 w 173"/>
                  <a:gd name="T31" fmla="*/ 24 h 139"/>
                  <a:gd name="T32" fmla="*/ 108 w 173"/>
                  <a:gd name="T33" fmla="*/ 15 h 139"/>
                  <a:gd name="T34" fmla="*/ 124 w 173"/>
                  <a:gd name="T35" fmla="*/ 12 h 139"/>
                  <a:gd name="T36" fmla="*/ 133 w 173"/>
                  <a:gd name="T37" fmla="*/ 27 h 139"/>
                  <a:gd name="T38" fmla="*/ 155 w 173"/>
                  <a:gd name="T39" fmla="*/ 40 h 139"/>
                  <a:gd name="T40" fmla="*/ 155 w 173"/>
                  <a:gd name="T41" fmla="*/ 68 h 139"/>
                  <a:gd name="T42" fmla="*/ 173 w 173"/>
                  <a:gd name="T43" fmla="*/ 89 h 139"/>
                  <a:gd name="T44" fmla="*/ 158 w 173"/>
                  <a:gd name="T45" fmla="*/ 108 h 139"/>
                  <a:gd name="T46" fmla="*/ 161 w 173"/>
                  <a:gd name="T47" fmla="*/ 126 h 139"/>
                  <a:gd name="T48" fmla="*/ 146 w 173"/>
                  <a:gd name="T49" fmla="*/ 139 h 139"/>
                  <a:gd name="T50" fmla="*/ 136 w 173"/>
                  <a:gd name="T51" fmla="*/ 139 h 139"/>
                  <a:gd name="T52" fmla="*/ 149 w 173"/>
                  <a:gd name="T53" fmla="*/ 114 h 139"/>
                  <a:gd name="T54" fmla="*/ 146 w 173"/>
                  <a:gd name="T55" fmla="*/ 105 h 139"/>
                  <a:gd name="T56" fmla="*/ 127 w 173"/>
                  <a:gd name="T57" fmla="*/ 99 h 139"/>
                  <a:gd name="T58" fmla="*/ 115 w 173"/>
                  <a:gd name="T59" fmla="*/ 105 h 139"/>
                  <a:gd name="T60" fmla="*/ 118 w 173"/>
                  <a:gd name="T61" fmla="*/ 89 h 139"/>
                  <a:gd name="T62" fmla="*/ 105 w 173"/>
                  <a:gd name="T63" fmla="*/ 83 h 139"/>
                  <a:gd name="T64" fmla="*/ 108 w 173"/>
                  <a:gd name="T65" fmla="*/ 74 h 139"/>
                  <a:gd name="T66" fmla="*/ 96 w 173"/>
                  <a:gd name="T67" fmla="*/ 71 h 139"/>
                  <a:gd name="T68" fmla="*/ 71 w 173"/>
                  <a:gd name="T69" fmla="*/ 55 h 139"/>
                  <a:gd name="T70" fmla="*/ 50 w 173"/>
                  <a:gd name="T71" fmla="*/ 52 h 139"/>
                  <a:gd name="T72" fmla="*/ 28 w 173"/>
                  <a:gd name="T73" fmla="*/ 71 h 139"/>
                  <a:gd name="T74" fmla="*/ 22 w 173"/>
                  <a:gd name="T75" fmla="*/ 71 h 139"/>
                  <a:gd name="T76" fmla="*/ 22 w 173"/>
                  <a:gd name="T77" fmla="*/ 71 h 139"/>
                  <a:gd name="T78" fmla="*/ 22 w 173"/>
                  <a:gd name="T79" fmla="*/ 71 h 13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73"/>
                  <a:gd name="T121" fmla="*/ 0 h 139"/>
                  <a:gd name="T122" fmla="*/ 173 w 173"/>
                  <a:gd name="T123" fmla="*/ 139 h 13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73" h="139">
                    <a:moveTo>
                      <a:pt x="22" y="71"/>
                    </a:moveTo>
                    <a:lnTo>
                      <a:pt x="0" y="68"/>
                    </a:lnTo>
                    <a:lnTo>
                      <a:pt x="3" y="52"/>
                    </a:lnTo>
                    <a:lnTo>
                      <a:pt x="10" y="37"/>
                    </a:lnTo>
                    <a:lnTo>
                      <a:pt x="28" y="27"/>
                    </a:lnTo>
                    <a:lnTo>
                      <a:pt x="34" y="18"/>
                    </a:lnTo>
                    <a:lnTo>
                      <a:pt x="65" y="0"/>
                    </a:lnTo>
                    <a:lnTo>
                      <a:pt x="84" y="3"/>
                    </a:lnTo>
                    <a:lnTo>
                      <a:pt x="102" y="0"/>
                    </a:lnTo>
                    <a:lnTo>
                      <a:pt x="96" y="9"/>
                    </a:lnTo>
                    <a:lnTo>
                      <a:pt x="90" y="18"/>
                    </a:lnTo>
                    <a:lnTo>
                      <a:pt x="96" y="24"/>
                    </a:lnTo>
                    <a:lnTo>
                      <a:pt x="84" y="27"/>
                    </a:lnTo>
                    <a:lnTo>
                      <a:pt x="84" y="40"/>
                    </a:lnTo>
                    <a:lnTo>
                      <a:pt x="96" y="46"/>
                    </a:lnTo>
                    <a:lnTo>
                      <a:pt x="108" y="24"/>
                    </a:lnTo>
                    <a:lnTo>
                      <a:pt x="108" y="15"/>
                    </a:lnTo>
                    <a:lnTo>
                      <a:pt x="124" y="12"/>
                    </a:lnTo>
                    <a:lnTo>
                      <a:pt x="133" y="27"/>
                    </a:lnTo>
                    <a:lnTo>
                      <a:pt x="155" y="40"/>
                    </a:lnTo>
                    <a:lnTo>
                      <a:pt x="155" y="68"/>
                    </a:lnTo>
                    <a:lnTo>
                      <a:pt x="173" y="89"/>
                    </a:lnTo>
                    <a:lnTo>
                      <a:pt x="158" y="108"/>
                    </a:lnTo>
                    <a:lnTo>
                      <a:pt x="161" y="126"/>
                    </a:lnTo>
                    <a:lnTo>
                      <a:pt x="146" y="139"/>
                    </a:lnTo>
                    <a:lnTo>
                      <a:pt x="136" y="139"/>
                    </a:lnTo>
                    <a:lnTo>
                      <a:pt x="149" y="114"/>
                    </a:lnTo>
                    <a:lnTo>
                      <a:pt x="146" y="105"/>
                    </a:lnTo>
                    <a:lnTo>
                      <a:pt x="127" y="99"/>
                    </a:lnTo>
                    <a:lnTo>
                      <a:pt x="115" y="105"/>
                    </a:lnTo>
                    <a:lnTo>
                      <a:pt x="118" y="89"/>
                    </a:lnTo>
                    <a:lnTo>
                      <a:pt x="105" y="83"/>
                    </a:lnTo>
                    <a:lnTo>
                      <a:pt x="108" y="74"/>
                    </a:lnTo>
                    <a:lnTo>
                      <a:pt x="96" y="71"/>
                    </a:lnTo>
                    <a:lnTo>
                      <a:pt x="71" y="55"/>
                    </a:lnTo>
                    <a:lnTo>
                      <a:pt x="50" y="52"/>
                    </a:lnTo>
                    <a:lnTo>
                      <a:pt x="28" y="71"/>
                    </a:lnTo>
                    <a:lnTo>
                      <a:pt x="22" y="71"/>
                    </a:lnTo>
                    <a:close/>
                  </a:path>
                </a:pathLst>
              </a:custGeom>
              <a:solidFill>
                <a:srgbClr val="B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8" name="Freeform 86"/>
              <p:cNvSpPr>
                <a:spLocks/>
              </p:cNvSpPr>
              <p:nvPr/>
            </p:nvSpPr>
            <p:spPr bwMode="auto">
              <a:xfrm>
                <a:off x="2545" y="971"/>
                <a:ext cx="27" cy="13"/>
              </a:xfrm>
              <a:custGeom>
                <a:avLst/>
                <a:gdLst>
                  <a:gd name="T0" fmla="*/ 6 w 27"/>
                  <a:gd name="T1" fmla="*/ 0 h 13"/>
                  <a:gd name="T2" fmla="*/ 0 w 27"/>
                  <a:gd name="T3" fmla="*/ 3 h 13"/>
                  <a:gd name="T4" fmla="*/ 0 w 27"/>
                  <a:gd name="T5" fmla="*/ 10 h 13"/>
                  <a:gd name="T6" fmla="*/ 18 w 27"/>
                  <a:gd name="T7" fmla="*/ 13 h 13"/>
                  <a:gd name="T8" fmla="*/ 24 w 27"/>
                  <a:gd name="T9" fmla="*/ 10 h 13"/>
                  <a:gd name="T10" fmla="*/ 27 w 27"/>
                  <a:gd name="T11" fmla="*/ 0 h 13"/>
                  <a:gd name="T12" fmla="*/ 6 w 27"/>
                  <a:gd name="T13" fmla="*/ 0 h 13"/>
                  <a:gd name="T14" fmla="*/ 6 w 27"/>
                  <a:gd name="T15" fmla="*/ 0 h 13"/>
                  <a:gd name="T16" fmla="*/ 6 w 27"/>
                  <a:gd name="T17" fmla="*/ 0 h 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7"/>
                  <a:gd name="T28" fmla="*/ 0 h 13"/>
                  <a:gd name="T29" fmla="*/ 27 w 27"/>
                  <a:gd name="T30" fmla="*/ 13 h 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7" h="13">
                    <a:moveTo>
                      <a:pt x="6" y="0"/>
                    </a:moveTo>
                    <a:lnTo>
                      <a:pt x="0" y="3"/>
                    </a:lnTo>
                    <a:lnTo>
                      <a:pt x="0" y="10"/>
                    </a:lnTo>
                    <a:lnTo>
                      <a:pt x="18" y="13"/>
                    </a:lnTo>
                    <a:lnTo>
                      <a:pt x="24" y="10"/>
                    </a:lnTo>
                    <a:lnTo>
                      <a:pt x="27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19" name="Freeform 87"/>
              <p:cNvSpPr>
                <a:spLocks/>
              </p:cNvSpPr>
              <p:nvPr/>
            </p:nvSpPr>
            <p:spPr bwMode="auto">
              <a:xfrm>
                <a:off x="3119" y="1113"/>
                <a:ext cx="65" cy="84"/>
              </a:xfrm>
              <a:custGeom>
                <a:avLst/>
                <a:gdLst>
                  <a:gd name="T0" fmla="*/ 0 w 65"/>
                  <a:gd name="T1" fmla="*/ 44 h 84"/>
                  <a:gd name="T2" fmla="*/ 16 w 65"/>
                  <a:gd name="T3" fmla="*/ 38 h 84"/>
                  <a:gd name="T4" fmla="*/ 12 w 65"/>
                  <a:gd name="T5" fmla="*/ 19 h 84"/>
                  <a:gd name="T6" fmla="*/ 19 w 65"/>
                  <a:gd name="T7" fmla="*/ 0 h 84"/>
                  <a:gd name="T8" fmla="*/ 31 w 65"/>
                  <a:gd name="T9" fmla="*/ 13 h 84"/>
                  <a:gd name="T10" fmla="*/ 37 w 65"/>
                  <a:gd name="T11" fmla="*/ 0 h 84"/>
                  <a:gd name="T12" fmla="*/ 56 w 65"/>
                  <a:gd name="T13" fmla="*/ 19 h 84"/>
                  <a:gd name="T14" fmla="*/ 53 w 65"/>
                  <a:gd name="T15" fmla="*/ 41 h 84"/>
                  <a:gd name="T16" fmla="*/ 65 w 65"/>
                  <a:gd name="T17" fmla="*/ 65 h 84"/>
                  <a:gd name="T18" fmla="*/ 53 w 65"/>
                  <a:gd name="T19" fmla="*/ 75 h 84"/>
                  <a:gd name="T20" fmla="*/ 50 w 65"/>
                  <a:gd name="T21" fmla="*/ 84 h 84"/>
                  <a:gd name="T22" fmla="*/ 40 w 65"/>
                  <a:gd name="T23" fmla="*/ 72 h 84"/>
                  <a:gd name="T24" fmla="*/ 22 w 65"/>
                  <a:gd name="T25" fmla="*/ 72 h 84"/>
                  <a:gd name="T26" fmla="*/ 28 w 65"/>
                  <a:gd name="T27" fmla="*/ 59 h 84"/>
                  <a:gd name="T28" fmla="*/ 19 w 65"/>
                  <a:gd name="T29" fmla="*/ 53 h 84"/>
                  <a:gd name="T30" fmla="*/ 0 w 65"/>
                  <a:gd name="T31" fmla="*/ 44 h 84"/>
                  <a:gd name="T32" fmla="*/ 0 w 65"/>
                  <a:gd name="T33" fmla="*/ 44 h 84"/>
                  <a:gd name="T34" fmla="*/ 0 w 65"/>
                  <a:gd name="T35" fmla="*/ 44 h 8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5"/>
                  <a:gd name="T55" fmla="*/ 0 h 84"/>
                  <a:gd name="T56" fmla="*/ 65 w 65"/>
                  <a:gd name="T57" fmla="*/ 84 h 8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5" h="84">
                    <a:moveTo>
                      <a:pt x="0" y="44"/>
                    </a:moveTo>
                    <a:lnTo>
                      <a:pt x="16" y="38"/>
                    </a:lnTo>
                    <a:lnTo>
                      <a:pt x="12" y="19"/>
                    </a:lnTo>
                    <a:lnTo>
                      <a:pt x="19" y="0"/>
                    </a:lnTo>
                    <a:lnTo>
                      <a:pt x="31" y="13"/>
                    </a:lnTo>
                    <a:lnTo>
                      <a:pt x="37" y="0"/>
                    </a:lnTo>
                    <a:lnTo>
                      <a:pt x="56" y="19"/>
                    </a:lnTo>
                    <a:lnTo>
                      <a:pt x="53" y="41"/>
                    </a:lnTo>
                    <a:lnTo>
                      <a:pt x="65" y="65"/>
                    </a:lnTo>
                    <a:lnTo>
                      <a:pt x="53" y="75"/>
                    </a:lnTo>
                    <a:lnTo>
                      <a:pt x="50" y="84"/>
                    </a:lnTo>
                    <a:lnTo>
                      <a:pt x="40" y="72"/>
                    </a:lnTo>
                    <a:lnTo>
                      <a:pt x="22" y="72"/>
                    </a:lnTo>
                    <a:lnTo>
                      <a:pt x="28" y="59"/>
                    </a:lnTo>
                    <a:lnTo>
                      <a:pt x="19" y="5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857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0" name="Freeform 88"/>
              <p:cNvSpPr>
                <a:spLocks/>
              </p:cNvSpPr>
              <p:nvPr/>
            </p:nvSpPr>
            <p:spPr bwMode="auto">
              <a:xfrm>
                <a:off x="2538" y="1138"/>
                <a:ext cx="56" cy="87"/>
              </a:xfrm>
              <a:custGeom>
                <a:avLst/>
                <a:gdLst>
                  <a:gd name="T0" fmla="*/ 10 w 56"/>
                  <a:gd name="T1" fmla="*/ 53 h 87"/>
                  <a:gd name="T2" fmla="*/ 19 w 56"/>
                  <a:gd name="T3" fmla="*/ 25 h 87"/>
                  <a:gd name="T4" fmla="*/ 37 w 56"/>
                  <a:gd name="T5" fmla="*/ 6 h 87"/>
                  <a:gd name="T6" fmla="*/ 50 w 56"/>
                  <a:gd name="T7" fmla="*/ 0 h 87"/>
                  <a:gd name="T8" fmla="*/ 56 w 56"/>
                  <a:gd name="T9" fmla="*/ 6 h 87"/>
                  <a:gd name="T10" fmla="*/ 40 w 56"/>
                  <a:gd name="T11" fmla="*/ 31 h 87"/>
                  <a:gd name="T12" fmla="*/ 19 w 56"/>
                  <a:gd name="T13" fmla="*/ 59 h 87"/>
                  <a:gd name="T14" fmla="*/ 3 w 56"/>
                  <a:gd name="T15" fmla="*/ 87 h 87"/>
                  <a:gd name="T16" fmla="*/ 0 w 56"/>
                  <a:gd name="T17" fmla="*/ 40 h 87"/>
                  <a:gd name="T18" fmla="*/ 10 w 56"/>
                  <a:gd name="T19" fmla="*/ 53 h 87"/>
                  <a:gd name="T20" fmla="*/ 10 w 56"/>
                  <a:gd name="T21" fmla="*/ 53 h 87"/>
                  <a:gd name="T22" fmla="*/ 10 w 56"/>
                  <a:gd name="T23" fmla="*/ 53 h 8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6"/>
                  <a:gd name="T37" fmla="*/ 0 h 87"/>
                  <a:gd name="T38" fmla="*/ 56 w 56"/>
                  <a:gd name="T39" fmla="*/ 87 h 8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6" h="87">
                    <a:moveTo>
                      <a:pt x="10" y="53"/>
                    </a:moveTo>
                    <a:lnTo>
                      <a:pt x="19" y="25"/>
                    </a:lnTo>
                    <a:lnTo>
                      <a:pt x="37" y="6"/>
                    </a:lnTo>
                    <a:lnTo>
                      <a:pt x="50" y="0"/>
                    </a:lnTo>
                    <a:lnTo>
                      <a:pt x="56" y="6"/>
                    </a:lnTo>
                    <a:lnTo>
                      <a:pt x="40" y="31"/>
                    </a:lnTo>
                    <a:lnTo>
                      <a:pt x="19" y="59"/>
                    </a:lnTo>
                    <a:lnTo>
                      <a:pt x="3" y="87"/>
                    </a:lnTo>
                    <a:lnTo>
                      <a:pt x="0" y="40"/>
                    </a:lnTo>
                    <a:lnTo>
                      <a:pt x="10" y="53"/>
                    </a:lnTo>
                    <a:close/>
                  </a:path>
                </a:pathLst>
              </a:custGeom>
              <a:solidFill>
                <a:srgbClr val="FCF9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1" name="Freeform 89"/>
              <p:cNvSpPr>
                <a:spLocks/>
              </p:cNvSpPr>
              <p:nvPr/>
            </p:nvSpPr>
            <p:spPr bwMode="auto">
              <a:xfrm>
                <a:off x="2560" y="882"/>
                <a:ext cx="59" cy="96"/>
              </a:xfrm>
              <a:custGeom>
                <a:avLst/>
                <a:gdLst>
                  <a:gd name="T0" fmla="*/ 46 w 59"/>
                  <a:gd name="T1" fmla="*/ 96 h 96"/>
                  <a:gd name="T2" fmla="*/ 59 w 59"/>
                  <a:gd name="T3" fmla="*/ 80 h 96"/>
                  <a:gd name="T4" fmla="*/ 52 w 59"/>
                  <a:gd name="T5" fmla="*/ 62 h 96"/>
                  <a:gd name="T6" fmla="*/ 34 w 59"/>
                  <a:gd name="T7" fmla="*/ 49 h 96"/>
                  <a:gd name="T8" fmla="*/ 40 w 59"/>
                  <a:gd name="T9" fmla="*/ 40 h 96"/>
                  <a:gd name="T10" fmla="*/ 28 w 59"/>
                  <a:gd name="T11" fmla="*/ 31 h 96"/>
                  <a:gd name="T12" fmla="*/ 34 w 59"/>
                  <a:gd name="T13" fmla="*/ 12 h 96"/>
                  <a:gd name="T14" fmla="*/ 15 w 59"/>
                  <a:gd name="T15" fmla="*/ 0 h 96"/>
                  <a:gd name="T16" fmla="*/ 3 w 59"/>
                  <a:gd name="T17" fmla="*/ 3 h 96"/>
                  <a:gd name="T18" fmla="*/ 12 w 59"/>
                  <a:gd name="T19" fmla="*/ 9 h 96"/>
                  <a:gd name="T20" fmla="*/ 18 w 59"/>
                  <a:gd name="T21" fmla="*/ 18 h 96"/>
                  <a:gd name="T22" fmla="*/ 9 w 59"/>
                  <a:gd name="T23" fmla="*/ 37 h 96"/>
                  <a:gd name="T24" fmla="*/ 6 w 59"/>
                  <a:gd name="T25" fmla="*/ 18 h 96"/>
                  <a:gd name="T26" fmla="*/ 0 w 59"/>
                  <a:gd name="T27" fmla="*/ 40 h 96"/>
                  <a:gd name="T28" fmla="*/ 3 w 59"/>
                  <a:gd name="T29" fmla="*/ 62 h 96"/>
                  <a:gd name="T30" fmla="*/ 34 w 59"/>
                  <a:gd name="T31" fmla="*/ 68 h 96"/>
                  <a:gd name="T32" fmla="*/ 46 w 59"/>
                  <a:gd name="T33" fmla="*/ 96 h 96"/>
                  <a:gd name="T34" fmla="*/ 46 w 59"/>
                  <a:gd name="T35" fmla="*/ 96 h 96"/>
                  <a:gd name="T36" fmla="*/ 46 w 59"/>
                  <a:gd name="T37" fmla="*/ 96 h 9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9"/>
                  <a:gd name="T58" fmla="*/ 0 h 96"/>
                  <a:gd name="T59" fmla="*/ 59 w 59"/>
                  <a:gd name="T60" fmla="*/ 96 h 9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9" h="96">
                    <a:moveTo>
                      <a:pt x="46" y="96"/>
                    </a:moveTo>
                    <a:lnTo>
                      <a:pt x="59" y="80"/>
                    </a:lnTo>
                    <a:lnTo>
                      <a:pt x="52" y="62"/>
                    </a:lnTo>
                    <a:lnTo>
                      <a:pt x="34" y="49"/>
                    </a:lnTo>
                    <a:lnTo>
                      <a:pt x="40" y="40"/>
                    </a:lnTo>
                    <a:lnTo>
                      <a:pt x="28" y="31"/>
                    </a:lnTo>
                    <a:lnTo>
                      <a:pt x="34" y="12"/>
                    </a:lnTo>
                    <a:lnTo>
                      <a:pt x="15" y="0"/>
                    </a:lnTo>
                    <a:lnTo>
                      <a:pt x="3" y="3"/>
                    </a:lnTo>
                    <a:lnTo>
                      <a:pt x="12" y="9"/>
                    </a:lnTo>
                    <a:lnTo>
                      <a:pt x="18" y="18"/>
                    </a:lnTo>
                    <a:lnTo>
                      <a:pt x="9" y="37"/>
                    </a:lnTo>
                    <a:lnTo>
                      <a:pt x="6" y="18"/>
                    </a:lnTo>
                    <a:lnTo>
                      <a:pt x="0" y="40"/>
                    </a:lnTo>
                    <a:lnTo>
                      <a:pt x="3" y="62"/>
                    </a:lnTo>
                    <a:lnTo>
                      <a:pt x="34" y="68"/>
                    </a:lnTo>
                    <a:lnTo>
                      <a:pt x="46" y="96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2" name="Freeform 90"/>
              <p:cNvSpPr>
                <a:spLocks/>
              </p:cNvSpPr>
              <p:nvPr/>
            </p:nvSpPr>
            <p:spPr bwMode="auto">
              <a:xfrm>
                <a:off x="2449" y="882"/>
                <a:ext cx="105" cy="117"/>
              </a:xfrm>
              <a:custGeom>
                <a:avLst/>
                <a:gdLst>
                  <a:gd name="T0" fmla="*/ 105 w 105"/>
                  <a:gd name="T1" fmla="*/ 15 h 117"/>
                  <a:gd name="T2" fmla="*/ 83 w 105"/>
                  <a:gd name="T3" fmla="*/ 28 h 117"/>
                  <a:gd name="T4" fmla="*/ 65 w 105"/>
                  <a:gd name="T5" fmla="*/ 46 h 117"/>
                  <a:gd name="T6" fmla="*/ 65 w 105"/>
                  <a:gd name="T7" fmla="*/ 83 h 117"/>
                  <a:gd name="T8" fmla="*/ 52 w 105"/>
                  <a:gd name="T9" fmla="*/ 96 h 117"/>
                  <a:gd name="T10" fmla="*/ 31 w 105"/>
                  <a:gd name="T11" fmla="*/ 117 h 117"/>
                  <a:gd name="T12" fmla="*/ 9 w 105"/>
                  <a:gd name="T13" fmla="*/ 117 h 117"/>
                  <a:gd name="T14" fmla="*/ 0 w 105"/>
                  <a:gd name="T15" fmla="*/ 108 h 117"/>
                  <a:gd name="T16" fmla="*/ 9 w 105"/>
                  <a:gd name="T17" fmla="*/ 102 h 117"/>
                  <a:gd name="T18" fmla="*/ 3 w 105"/>
                  <a:gd name="T19" fmla="*/ 89 h 117"/>
                  <a:gd name="T20" fmla="*/ 6 w 105"/>
                  <a:gd name="T21" fmla="*/ 77 h 117"/>
                  <a:gd name="T22" fmla="*/ 15 w 105"/>
                  <a:gd name="T23" fmla="*/ 80 h 117"/>
                  <a:gd name="T24" fmla="*/ 28 w 105"/>
                  <a:gd name="T25" fmla="*/ 65 h 117"/>
                  <a:gd name="T26" fmla="*/ 24 w 105"/>
                  <a:gd name="T27" fmla="*/ 46 h 117"/>
                  <a:gd name="T28" fmla="*/ 18 w 105"/>
                  <a:gd name="T29" fmla="*/ 43 h 117"/>
                  <a:gd name="T30" fmla="*/ 24 w 105"/>
                  <a:gd name="T31" fmla="*/ 31 h 117"/>
                  <a:gd name="T32" fmla="*/ 40 w 105"/>
                  <a:gd name="T33" fmla="*/ 15 h 117"/>
                  <a:gd name="T34" fmla="*/ 65 w 105"/>
                  <a:gd name="T35" fmla="*/ 12 h 117"/>
                  <a:gd name="T36" fmla="*/ 83 w 105"/>
                  <a:gd name="T37" fmla="*/ 0 h 117"/>
                  <a:gd name="T38" fmla="*/ 99 w 105"/>
                  <a:gd name="T39" fmla="*/ 6 h 117"/>
                  <a:gd name="T40" fmla="*/ 105 w 105"/>
                  <a:gd name="T41" fmla="*/ 15 h 117"/>
                  <a:gd name="T42" fmla="*/ 105 w 105"/>
                  <a:gd name="T43" fmla="*/ 15 h 117"/>
                  <a:gd name="T44" fmla="*/ 105 w 105"/>
                  <a:gd name="T45" fmla="*/ 15 h 11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5"/>
                  <a:gd name="T70" fmla="*/ 0 h 117"/>
                  <a:gd name="T71" fmla="*/ 105 w 105"/>
                  <a:gd name="T72" fmla="*/ 117 h 11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5" h="117">
                    <a:moveTo>
                      <a:pt x="105" y="15"/>
                    </a:moveTo>
                    <a:lnTo>
                      <a:pt x="83" y="28"/>
                    </a:lnTo>
                    <a:lnTo>
                      <a:pt x="65" y="46"/>
                    </a:lnTo>
                    <a:lnTo>
                      <a:pt x="65" y="83"/>
                    </a:lnTo>
                    <a:lnTo>
                      <a:pt x="52" y="96"/>
                    </a:lnTo>
                    <a:lnTo>
                      <a:pt x="31" y="117"/>
                    </a:lnTo>
                    <a:lnTo>
                      <a:pt x="9" y="117"/>
                    </a:lnTo>
                    <a:lnTo>
                      <a:pt x="0" y="108"/>
                    </a:lnTo>
                    <a:lnTo>
                      <a:pt x="9" y="102"/>
                    </a:lnTo>
                    <a:lnTo>
                      <a:pt x="3" y="89"/>
                    </a:lnTo>
                    <a:lnTo>
                      <a:pt x="6" y="77"/>
                    </a:lnTo>
                    <a:lnTo>
                      <a:pt x="15" y="80"/>
                    </a:lnTo>
                    <a:lnTo>
                      <a:pt x="28" y="65"/>
                    </a:lnTo>
                    <a:lnTo>
                      <a:pt x="24" y="46"/>
                    </a:lnTo>
                    <a:lnTo>
                      <a:pt x="18" y="43"/>
                    </a:lnTo>
                    <a:lnTo>
                      <a:pt x="24" y="31"/>
                    </a:lnTo>
                    <a:lnTo>
                      <a:pt x="40" y="15"/>
                    </a:lnTo>
                    <a:lnTo>
                      <a:pt x="65" y="12"/>
                    </a:lnTo>
                    <a:lnTo>
                      <a:pt x="83" y="0"/>
                    </a:lnTo>
                    <a:lnTo>
                      <a:pt x="99" y="6"/>
                    </a:lnTo>
                    <a:lnTo>
                      <a:pt x="105" y="15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3" name="Freeform 91"/>
              <p:cNvSpPr>
                <a:spLocks/>
              </p:cNvSpPr>
              <p:nvPr/>
            </p:nvSpPr>
            <p:spPr bwMode="auto">
              <a:xfrm>
                <a:off x="2248" y="1058"/>
                <a:ext cx="145" cy="74"/>
              </a:xfrm>
              <a:custGeom>
                <a:avLst/>
                <a:gdLst>
                  <a:gd name="T0" fmla="*/ 9 w 145"/>
                  <a:gd name="T1" fmla="*/ 74 h 74"/>
                  <a:gd name="T2" fmla="*/ 22 w 145"/>
                  <a:gd name="T3" fmla="*/ 59 h 74"/>
                  <a:gd name="T4" fmla="*/ 34 w 145"/>
                  <a:gd name="T5" fmla="*/ 40 h 74"/>
                  <a:gd name="T6" fmla="*/ 71 w 145"/>
                  <a:gd name="T7" fmla="*/ 37 h 74"/>
                  <a:gd name="T8" fmla="*/ 96 w 145"/>
                  <a:gd name="T9" fmla="*/ 18 h 74"/>
                  <a:gd name="T10" fmla="*/ 120 w 145"/>
                  <a:gd name="T11" fmla="*/ 21 h 74"/>
                  <a:gd name="T12" fmla="*/ 145 w 145"/>
                  <a:gd name="T13" fmla="*/ 6 h 74"/>
                  <a:gd name="T14" fmla="*/ 124 w 145"/>
                  <a:gd name="T15" fmla="*/ 6 h 74"/>
                  <a:gd name="T16" fmla="*/ 108 w 145"/>
                  <a:gd name="T17" fmla="*/ 0 h 74"/>
                  <a:gd name="T18" fmla="*/ 86 w 145"/>
                  <a:gd name="T19" fmla="*/ 0 h 74"/>
                  <a:gd name="T20" fmla="*/ 71 w 145"/>
                  <a:gd name="T21" fmla="*/ 12 h 74"/>
                  <a:gd name="T22" fmla="*/ 52 w 145"/>
                  <a:gd name="T23" fmla="*/ 18 h 74"/>
                  <a:gd name="T24" fmla="*/ 37 w 145"/>
                  <a:gd name="T25" fmla="*/ 15 h 74"/>
                  <a:gd name="T26" fmla="*/ 49 w 145"/>
                  <a:gd name="T27" fmla="*/ 9 h 74"/>
                  <a:gd name="T28" fmla="*/ 65 w 145"/>
                  <a:gd name="T29" fmla="*/ 0 h 74"/>
                  <a:gd name="T30" fmla="*/ 46 w 145"/>
                  <a:gd name="T31" fmla="*/ 0 h 74"/>
                  <a:gd name="T32" fmla="*/ 31 w 145"/>
                  <a:gd name="T33" fmla="*/ 3 h 74"/>
                  <a:gd name="T34" fmla="*/ 18 w 145"/>
                  <a:gd name="T35" fmla="*/ 15 h 74"/>
                  <a:gd name="T36" fmla="*/ 6 w 145"/>
                  <a:gd name="T37" fmla="*/ 21 h 74"/>
                  <a:gd name="T38" fmla="*/ 3 w 145"/>
                  <a:gd name="T39" fmla="*/ 31 h 74"/>
                  <a:gd name="T40" fmla="*/ 12 w 145"/>
                  <a:gd name="T41" fmla="*/ 34 h 74"/>
                  <a:gd name="T42" fmla="*/ 6 w 145"/>
                  <a:gd name="T43" fmla="*/ 46 h 74"/>
                  <a:gd name="T44" fmla="*/ 3 w 145"/>
                  <a:gd name="T45" fmla="*/ 55 h 74"/>
                  <a:gd name="T46" fmla="*/ 0 w 145"/>
                  <a:gd name="T47" fmla="*/ 74 h 74"/>
                  <a:gd name="T48" fmla="*/ 9 w 145"/>
                  <a:gd name="T49" fmla="*/ 74 h 74"/>
                  <a:gd name="T50" fmla="*/ 9 w 145"/>
                  <a:gd name="T51" fmla="*/ 74 h 74"/>
                  <a:gd name="T52" fmla="*/ 9 w 145"/>
                  <a:gd name="T53" fmla="*/ 74 h 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45"/>
                  <a:gd name="T82" fmla="*/ 0 h 74"/>
                  <a:gd name="T83" fmla="*/ 145 w 145"/>
                  <a:gd name="T84" fmla="*/ 74 h 74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45" h="74">
                    <a:moveTo>
                      <a:pt x="9" y="74"/>
                    </a:moveTo>
                    <a:lnTo>
                      <a:pt x="22" y="59"/>
                    </a:lnTo>
                    <a:lnTo>
                      <a:pt x="34" y="40"/>
                    </a:lnTo>
                    <a:lnTo>
                      <a:pt x="71" y="37"/>
                    </a:lnTo>
                    <a:lnTo>
                      <a:pt x="96" y="18"/>
                    </a:lnTo>
                    <a:lnTo>
                      <a:pt x="120" y="21"/>
                    </a:lnTo>
                    <a:lnTo>
                      <a:pt x="145" y="6"/>
                    </a:lnTo>
                    <a:lnTo>
                      <a:pt x="124" y="6"/>
                    </a:lnTo>
                    <a:lnTo>
                      <a:pt x="108" y="0"/>
                    </a:lnTo>
                    <a:lnTo>
                      <a:pt x="86" y="0"/>
                    </a:lnTo>
                    <a:lnTo>
                      <a:pt x="71" y="12"/>
                    </a:lnTo>
                    <a:lnTo>
                      <a:pt x="52" y="18"/>
                    </a:lnTo>
                    <a:lnTo>
                      <a:pt x="37" y="15"/>
                    </a:lnTo>
                    <a:lnTo>
                      <a:pt x="49" y="9"/>
                    </a:lnTo>
                    <a:lnTo>
                      <a:pt x="65" y="0"/>
                    </a:lnTo>
                    <a:lnTo>
                      <a:pt x="46" y="0"/>
                    </a:lnTo>
                    <a:lnTo>
                      <a:pt x="31" y="3"/>
                    </a:lnTo>
                    <a:lnTo>
                      <a:pt x="18" y="15"/>
                    </a:lnTo>
                    <a:lnTo>
                      <a:pt x="6" y="21"/>
                    </a:lnTo>
                    <a:lnTo>
                      <a:pt x="3" y="31"/>
                    </a:lnTo>
                    <a:lnTo>
                      <a:pt x="12" y="34"/>
                    </a:lnTo>
                    <a:lnTo>
                      <a:pt x="6" y="46"/>
                    </a:lnTo>
                    <a:lnTo>
                      <a:pt x="3" y="55"/>
                    </a:lnTo>
                    <a:lnTo>
                      <a:pt x="0" y="74"/>
                    </a:lnTo>
                    <a:lnTo>
                      <a:pt x="9" y="74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4" name="Freeform 92"/>
              <p:cNvSpPr>
                <a:spLocks/>
              </p:cNvSpPr>
              <p:nvPr/>
            </p:nvSpPr>
            <p:spPr bwMode="auto">
              <a:xfrm>
                <a:off x="2798" y="1435"/>
                <a:ext cx="89" cy="74"/>
              </a:xfrm>
              <a:custGeom>
                <a:avLst/>
                <a:gdLst>
                  <a:gd name="T0" fmla="*/ 59 w 89"/>
                  <a:gd name="T1" fmla="*/ 0 h 74"/>
                  <a:gd name="T2" fmla="*/ 80 w 89"/>
                  <a:gd name="T3" fmla="*/ 6 h 74"/>
                  <a:gd name="T4" fmla="*/ 89 w 89"/>
                  <a:gd name="T5" fmla="*/ 25 h 74"/>
                  <a:gd name="T6" fmla="*/ 89 w 89"/>
                  <a:gd name="T7" fmla="*/ 37 h 74"/>
                  <a:gd name="T8" fmla="*/ 68 w 89"/>
                  <a:gd name="T9" fmla="*/ 43 h 74"/>
                  <a:gd name="T10" fmla="*/ 46 w 89"/>
                  <a:gd name="T11" fmla="*/ 52 h 74"/>
                  <a:gd name="T12" fmla="*/ 37 w 89"/>
                  <a:gd name="T13" fmla="*/ 71 h 74"/>
                  <a:gd name="T14" fmla="*/ 21 w 89"/>
                  <a:gd name="T15" fmla="*/ 74 h 74"/>
                  <a:gd name="T16" fmla="*/ 0 w 89"/>
                  <a:gd name="T17" fmla="*/ 71 h 74"/>
                  <a:gd name="T18" fmla="*/ 3 w 89"/>
                  <a:gd name="T19" fmla="*/ 52 h 74"/>
                  <a:gd name="T20" fmla="*/ 18 w 89"/>
                  <a:gd name="T21" fmla="*/ 46 h 74"/>
                  <a:gd name="T22" fmla="*/ 12 w 89"/>
                  <a:gd name="T23" fmla="*/ 40 h 74"/>
                  <a:gd name="T24" fmla="*/ 37 w 89"/>
                  <a:gd name="T25" fmla="*/ 6 h 74"/>
                  <a:gd name="T26" fmla="*/ 59 w 89"/>
                  <a:gd name="T27" fmla="*/ 0 h 74"/>
                  <a:gd name="T28" fmla="*/ 59 w 89"/>
                  <a:gd name="T29" fmla="*/ 0 h 74"/>
                  <a:gd name="T30" fmla="*/ 59 w 89"/>
                  <a:gd name="T31" fmla="*/ 0 h 7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9"/>
                  <a:gd name="T49" fmla="*/ 0 h 74"/>
                  <a:gd name="T50" fmla="*/ 89 w 89"/>
                  <a:gd name="T51" fmla="*/ 74 h 7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9" h="74">
                    <a:moveTo>
                      <a:pt x="59" y="0"/>
                    </a:moveTo>
                    <a:lnTo>
                      <a:pt x="80" y="6"/>
                    </a:lnTo>
                    <a:lnTo>
                      <a:pt x="89" y="25"/>
                    </a:lnTo>
                    <a:lnTo>
                      <a:pt x="89" y="37"/>
                    </a:lnTo>
                    <a:lnTo>
                      <a:pt x="68" y="43"/>
                    </a:lnTo>
                    <a:lnTo>
                      <a:pt x="46" y="52"/>
                    </a:lnTo>
                    <a:lnTo>
                      <a:pt x="37" y="71"/>
                    </a:lnTo>
                    <a:lnTo>
                      <a:pt x="21" y="74"/>
                    </a:lnTo>
                    <a:lnTo>
                      <a:pt x="0" y="71"/>
                    </a:lnTo>
                    <a:lnTo>
                      <a:pt x="3" y="52"/>
                    </a:lnTo>
                    <a:lnTo>
                      <a:pt x="18" y="46"/>
                    </a:lnTo>
                    <a:lnTo>
                      <a:pt x="12" y="40"/>
                    </a:lnTo>
                    <a:lnTo>
                      <a:pt x="37" y="6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5" name="Freeform 93"/>
              <p:cNvSpPr>
                <a:spLocks/>
              </p:cNvSpPr>
              <p:nvPr/>
            </p:nvSpPr>
            <p:spPr bwMode="auto">
              <a:xfrm>
                <a:off x="2742" y="1441"/>
                <a:ext cx="71" cy="90"/>
              </a:xfrm>
              <a:custGeom>
                <a:avLst/>
                <a:gdLst>
                  <a:gd name="T0" fmla="*/ 71 w 71"/>
                  <a:gd name="T1" fmla="*/ 0 h 90"/>
                  <a:gd name="T2" fmla="*/ 59 w 71"/>
                  <a:gd name="T3" fmla="*/ 22 h 90"/>
                  <a:gd name="T4" fmla="*/ 56 w 71"/>
                  <a:gd name="T5" fmla="*/ 37 h 90"/>
                  <a:gd name="T6" fmla="*/ 47 w 71"/>
                  <a:gd name="T7" fmla="*/ 46 h 90"/>
                  <a:gd name="T8" fmla="*/ 56 w 71"/>
                  <a:gd name="T9" fmla="*/ 65 h 90"/>
                  <a:gd name="T10" fmla="*/ 47 w 71"/>
                  <a:gd name="T11" fmla="*/ 80 h 90"/>
                  <a:gd name="T12" fmla="*/ 31 w 71"/>
                  <a:gd name="T13" fmla="*/ 90 h 90"/>
                  <a:gd name="T14" fmla="*/ 31 w 71"/>
                  <a:gd name="T15" fmla="*/ 80 h 90"/>
                  <a:gd name="T16" fmla="*/ 37 w 71"/>
                  <a:gd name="T17" fmla="*/ 59 h 90"/>
                  <a:gd name="T18" fmla="*/ 37 w 71"/>
                  <a:gd name="T19" fmla="*/ 34 h 90"/>
                  <a:gd name="T20" fmla="*/ 22 w 71"/>
                  <a:gd name="T21" fmla="*/ 74 h 90"/>
                  <a:gd name="T22" fmla="*/ 19 w 71"/>
                  <a:gd name="T23" fmla="*/ 49 h 90"/>
                  <a:gd name="T24" fmla="*/ 13 w 71"/>
                  <a:gd name="T25" fmla="*/ 71 h 90"/>
                  <a:gd name="T26" fmla="*/ 6 w 71"/>
                  <a:gd name="T27" fmla="*/ 68 h 90"/>
                  <a:gd name="T28" fmla="*/ 0 w 71"/>
                  <a:gd name="T29" fmla="*/ 43 h 90"/>
                  <a:gd name="T30" fmla="*/ 9 w 71"/>
                  <a:gd name="T31" fmla="*/ 34 h 90"/>
                  <a:gd name="T32" fmla="*/ 22 w 71"/>
                  <a:gd name="T33" fmla="*/ 22 h 90"/>
                  <a:gd name="T34" fmla="*/ 31 w 71"/>
                  <a:gd name="T35" fmla="*/ 12 h 90"/>
                  <a:gd name="T36" fmla="*/ 40 w 71"/>
                  <a:gd name="T37" fmla="*/ 15 h 90"/>
                  <a:gd name="T38" fmla="*/ 53 w 71"/>
                  <a:gd name="T39" fmla="*/ 3 h 90"/>
                  <a:gd name="T40" fmla="*/ 71 w 71"/>
                  <a:gd name="T41" fmla="*/ 0 h 90"/>
                  <a:gd name="T42" fmla="*/ 71 w 71"/>
                  <a:gd name="T43" fmla="*/ 0 h 90"/>
                  <a:gd name="T44" fmla="*/ 71 w 71"/>
                  <a:gd name="T45" fmla="*/ 0 h 9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1"/>
                  <a:gd name="T70" fmla="*/ 0 h 90"/>
                  <a:gd name="T71" fmla="*/ 71 w 71"/>
                  <a:gd name="T72" fmla="*/ 90 h 9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1" h="90">
                    <a:moveTo>
                      <a:pt x="71" y="0"/>
                    </a:moveTo>
                    <a:lnTo>
                      <a:pt x="59" y="22"/>
                    </a:lnTo>
                    <a:lnTo>
                      <a:pt x="56" y="37"/>
                    </a:lnTo>
                    <a:lnTo>
                      <a:pt x="47" y="46"/>
                    </a:lnTo>
                    <a:lnTo>
                      <a:pt x="56" y="65"/>
                    </a:lnTo>
                    <a:lnTo>
                      <a:pt x="47" y="80"/>
                    </a:lnTo>
                    <a:lnTo>
                      <a:pt x="31" y="90"/>
                    </a:lnTo>
                    <a:lnTo>
                      <a:pt x="31" y="80"/>
                    </a:lnTo>
                    <a:lnTo>
                      <a:pt x="37" y="59"/>
                    </a:lnTo>
                    <a:lnTo>
                      <a:pt x="37" y="34"/>
                    </a:lnTo>
                    <a:lnTo>
                      <a:pt x="22" y="74"/>
                    </a:lnTo>
                    <a:lnTo>
                      <a:pt x="19" y="49"/>
                    </a:lnTo>
                    <a:lnTo>
                      <a:pt x="13" y="71"/>
                    </a:lnTo>
                    <a:lnTo>
                      <a:pt x="6" y="68"/>
                    </a:lnTo>
                    <a:lnTo>
                      <a:pt x="0" y="43"/>
                    </a:lnTo>
                    <a:lnTo>
                      <a:pt x="9" y="34"/>
                    </a:lnTo>
                    <a:lnTo>
                      <a:pt x="22" y="22"/>
                    </a:lnTo>
                    <a:lnTo>
                      <a:pt x="31" y="12"/>
                    </a:lnTo>
                    <a:lnTo>
                      <a:pt x="40" y="15"/>
                    </a:lnTo>
                    <a:lnTo>
                      <a:pt x="53" y="3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6" name="Freeform 94"/>
              <p:cNvSpPr>
                <a:spLocks/>
              </p:cNvSpPr>
              <p:nvPr/>
            </p:nvSpPr>
            <p:spPr bwMode="auto">
              <a:xfrm>
                <a:off x="2965" y="1460"/>
                <a:ext cx="86" cy="64"/>
              </a:xfrm>
              <a:custGeom>
                <a:avLst/>
                <a:gdLst>
                  <a:gd name="T0" fmla="*/ 0 w 86"/>
                  <a:gd name="T1" fmla="*/ 43 h 64"/>
                  <a:gd name="T2" fmla="*/ 9 w 86"/>
                  <a:gd name="T3" fmla="*/ 24 h 64"/>
                  <a:gd name="T4" fmla="*/ 24 w 86"/>
                  <a:gd name="T5" fmla="*/ 21 h 64"/>
                  <a:gd name="T6" fmla="*/ 37 w 86"/>
                  <a:gd name="T7" fmla="*/ 9 h 64"/>
                  <a:gd name="T8" fmla="*/ 40 w 86"/>
                  <a:gd name="T9" fmla="*/ 3 h 64"/>
                  <a:gd name="T10" fmla="*/ 55 w 86"/>
                  <a:gd name="T11" fmla="*/ 0 h 64"/>
                  <a:gd name="T12" fmla="*/ 68 w 86"/>
                  <a:gd name="T13" fmla="*/ 6 h 64"/>
                  <a:gd name="T14" fmla="*/ 77 w 86"/>
                  <a:gd name="T15" fmla="*/ 0 h 64"/>
                  <a:gd name="T16" fmla="*/ 86 w 86"/>
                  <a:gd name="T17" fmla="*/ 6 h 64"/>
                  <a:gd name="T18" fmla="*/ 86 w 86"/>
                  <a:gd name="T19" fmla="*/ 24 h 64"/>
                  <a:gd name="T20" fmla="*/ 68 w 86"/>
                  <a:gd name="T21" fmla="*/ 34 h 64"/>
                  <a:gd name="T22" fmla="*/ 58 w 86"/>
                  <a:gd name="T23" fmla="*/ 49 h 64"/>
                  <a:gd name="T24" fmla="*/ 58 w 86"/>
                  <a:gd name="T25" fmla="*/ 61 h 64"/>
                  <a:gd name="T26" fmla="*/ 43 w 86"/>
                  <a:gd name="T27" fmla="*/ 64 h 64"/>
                  <a:gd name="T28" fmla="*/ 12 w 86"/>
                  <a:gd name="T29" fmla="*/ 55 h 64"/>
                  <a:gd name="T30" fmla="*/ 0 w 86"/>
                  <a:gd name="T31" fmla="*/ 43 h 64"/>
                  <a:gd name="T32" fmla="*/ 0 w 86"/>
                  <a:gd name="T33" fmla="*/ 43 h 64"/>
                  <a:gd name="T34" fmla="*/ 0 w 86"/>
                  <a:gd name="T35" fmla="*/ 43 h 6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6"/>
                  <a:gd name="T55" fmla="*/ 0 h 64"/>
                  <a:gd name="T56" fmla="*/ 86 w 86"/>
                  <a:gd name="T57" fmla="*/ 64 h 6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6" h="64">
                    <a:moveTo>
                      <a:pt x="0" y="43"/>
                    </a:moveTo>
                    <a:lnTo>
                      <a:pt x="9" y="24"/>
                    </a:lnTo>
                    <a:lnTo>
                      <a:pt x="24" y="21"/>
                    </a:lnTo>
                    <a:lnTo>
                      <a:pt x="37" y="9"/>
                    </a:lnTo>
                    <a:lnTo>
                      <a:pt x="40" y="3"/>
                    </a:lnTo>
                    <a:lnTo>
                      <a:pt x="55" y="0"/>
                    </a:lnTo>
                    <a:lnTo>
                      <a:pt x="68" y="6"/>
                    </a:lnTo>
                    <a:lnTo>
                      <a:pt x="77" y="0"/>
                    </a:lnTo>
                    <a:lnTo>
                      <a:pt x="86" y="6"/>
                    </a:lnTo>
                    <a:lnTo>
                      <a:pt x="86" y="24"/>
                    </a:lnTo>
                    <a:lnTo>
                      <a:pt x="68" y="34"/>
                    </a:lnTo>
                    <a:lnTo>
                      <a:pt x="58" y="49"/>
                    </a:lnTo>
                    <a:lnTo>
                      <a:pt x="58" y="61"/>
                    </a:lnTo>
                    <a:lnTo>
                      <a:pt x="43" y="64"/>
                    </a:lnTo>
                    <a:lnTo>
                      <a:pt x="12" y="5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7" name="Freeform 95"/>
              <p:cNvSpPr>
                <a:spLocks/>
              </p:cNvSpPr>
              <p:nvPr/>
            </p:nvSpPr>
            <p:spPr bwMode="auto">
              <a:xfrm>
                <a:off x="3039" y="1500"/>
                <a:ext cx="65" cy="68"/>
              </a:xfrm>
              <a:custGeom>
                <a:avLst/>
                <a:gdLst>
                  <a:gd name="T0" fmla="*/ 21 w 65"/>
                  <a:gd name="T1" fmla="*/ 0 h 68"/>
                  <a:gd name="T2" fmla="*/ 31 w 65"/>
                  <a:gd name="T3" fmla="*/ 12 h 68"/>
                  <a:gd name="T4" fmla="*/ 59 w 65"/>
                  <a:gd name="T5" fmla="*/ 21 h 68"/>
                  <a:gd name="T6" fmla="*/ 65 w 65"/>
                  <a:gd name="T7" fmla="*/ 21 h 68"/>
                  <a:gd name="T8" fmla="*/ 37 w 65"/>
                  <a:gd name="T9" fmla="*/ 68 h 68"/>
                  <a:gd name="T10" fmla="*/ 25 w 65"/>
                  <a:gd name="T11" fmla="*/ 58 h 68"/>
                  <a:gd name="T12" fmla="*/ 0 w 65"/>
                  <a:gd name="T13" fmla="*/ 37 h 68"/>
                  <a:gd name="T14" fmla="*/ 3 w 65"/>
                  <a:gd name="T15" fmla="*/ 24 h 68"/>
                  <a:gd name="T16" fmla="*/ 9 w 65"/>
                  <a:gd name="T17" fmla="*/ 3 h 68"/>
                  <a:gd name="T18" fmla="*/ 21 w 65"/>
                  <a:gd name="T19" fmla="*/ 0 h 68"/>
                  <a:gd name="T20" fmla="*/ 21 w 65"/>
                  <a:gd name="T21" fmla="*/ 0 h 68"/>
                  <a:gd name="T22" fmla="*/ 21 w 65"/>
                  <a:gd name="T23" fmla="*/ 0 h 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5"/>
                  <a:gd name="T37" fmla="*/ 0 h 68"/>
                  <a:gd name="T38" fmla="*/ 65 w 65"/>
                  <a:gd name="T39" fmla="*/ 68 h 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5" h="68">
                    <a:moveTo>
                      <a:pt x="21" y="0"/>
                    </a:moveTo>
                    <a:lnTo>
                      <a:pt x="31" y="12"/>
                    </a:lnTo>
                    <a:lnTo>
                      <a:pt x="59" y="21"/>
                    </a:lnTo>
                    <a:lnTo>
                      <a:pt x="65" y="21"/>
                    </a:lnTo>
                    <a:lnTo>
                      <a:pt x="37" y="68"/>
                    </a:lnTo>
                    <a:lnTo>
                      <a:pt x="25" y="58"/>
                    </a:lnTo>
                    <a:lnTo>
                      <a:pt x="0" y="37"/>
                    </a:lnTo>
                    <a:lnTo>
                      <a:pt x="3" y="24"/>
                    </a:lnTo>
                    <a:lnTo>
                      <a:pt x="9" y="3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8" name="Freeform 96"/>
              <p:cNvSpPr>
                <a:spLocks/>
              </p:cNvSpPr>
              <p:nvPr/>
            </p:nvSpPr>
            <p:spPr bwMode="auto">
              <a:xfrm>
                <a:off x="3023" y="1141"/>
                <a:ext cx="115" cy="189"/>
              </a:xfrm>
              <a:custGeom>
                <a:avLst/>
                <a:gdLst>
                  <a:gd name="T0" fmla="*/ 7 w 115"/>
                  <a:gd name="T1" fmla="*/ 16 h 189"/>
                  <a:gd name="T2" fmla="*/ 0 w 115"/>
                  <a:gd name="T3" fmla="*/ 40 h 189"/>
                  <a:gd name="T4" fmla="*/ 13 w 115"/>
                  <a:gd name="T5" fmla="*/ 59 h 189"/>
                  <a:gd name="T6" fmla="*/ 16 w 115"/>
                  <a:gd name="T7" fmla="*/ 74 h 189"/>
                  <a:gd name="T8" fmla="*/ 10 w 115"/>
                  <a:gd name="T9" fmla="*/ 93 h 189"/>
                  <a:gd name="T10" fmla="*/ 19 w 115"/>
                  <a:gd name="T11" fmla="*/ 115 h 189"/>
                  <a:gd name="T12" fmla="*/ 10 w 115"/>
                  <a:gd name="T13" fmla="*/ 121 h 189"/>
                  <a:gd name="T14" fmla="*/ 19 w 115"/>
                  <a:gd name="T15" fmla="*/ 136 h 189"/>
                  <a:gd name="T16" fmla="*/ 28 w 115"/>
                  <a:gd name="T17" fmla="*/ 139 h 189"/>
                  <a:gd name="T18" fmla="*/ 31 w 115"/>
                  <a:gd name="T19" fmla="*/ 155 h 189"/>
                  <a:gd name="T20" fmla="*/ 31 w 115"/>
                  <a:gd name="T21" fmla="*/ 170 h 189"/>
                  <a:gd name="T22" fmla="*/ 37 w 115"/>
                  <a:gd name="T23" fmla="*/ 176 h 189"/>
                  <a:gd name="T24" fmla="*/ 50 w 115"/>
                  <a:gd name="T25" fmla="*/ 173 h 189"/>
                  <a:gd name="T26" fmla="*/ 50 w 115"/>
                  <a:gd name="T27" fmla="*/ 189 h 189"/>
                  <a:gd name="T28" fmla="*/ 59 w 115"/>
                  <a:gd name="T29" fmla="*/ 189 h 189"/>
                  <a:gd name="T30" fmla="*/ 93 w 115"/>
                  <a:gd name="T31" fmla="*/ 161 h 189"/>
                  <a:gd name="T32" fmla="*/ 115 w 115"/>
                  <a:gd name="T33" fmla="*/ 142 h 189"/>
                  <a:gd name="T34" fmla="*/ 108 w 115"/>
                  <a:gd name="T35" fmla="*/ 124 h 189"/>
                  <a:gd name="T36" fmla="*/ 93 w 115"/>
                  <a:gd name="T37" fmla="*/ 136 h 189"/>
                  <a:gd name="T38" fmla="*/ 90 w 115"/>
                  <a:gd name="T39" fmla="*/ 121 h 189"/>
                  <a:gd name="T40" fmla="*/ 99 w 115"/>
                  <a:gd name="T41" fmla="*/ 102 h 189"/>
                  <a:gd name="T42" fmla="*/ 90 w 115"/>
                  <a:gd name="T43" fmla="*/ 81 h 189"/>
                  <a:gd name="T44" fmla="*/ 87 w 115"/>
                  <a:gd name="T45" fmla="*/ 65 h 189"/>
                  <a:gd name="T46" fmla="*/ 84 w 115"/>
                  <a:gd name="T47" fmla="*/ 56 h 189"/>
                  <a:gd name="T48" fmla="*/ 102 w 115"/>
                  <a:gd name="T49" fmla="*/ 37 h 189"/>
                  <a:gd name="T50" fmla="*/ 90 w 115"/>
                  <a:gd name="T51" fmla="*/ 28 h 189"/>
                  <a:gd name="T52" fmla="*/ 87 w 115"/>
                  <a:gd name="T53" fmla="*/ 10 h 189"/>
                  <a:gd name="T54" fmla="*/ 62 w 115"/>
                  <a:gd name="T55" fmla="*/ 0 h 189"/>
                  <a:gd name="T56" fmla="*/ 31 w 115"/>
                  <a:gd name="T57" fmla="*/ 19 h 189"/>
                  <a:gd name="T58" fmla="*/ 7 w 115"/>
                  <a:gd name="T59" fmla="*/ 16 h 189"/>
                  <a:gd name="T60" fmla="*/ 7 w 115"/>
                  <a:gd name="T61" fmla="*/ 16 h 189"/>
                  <a:gd name="T62" fmla="*/ 7 w 115"/>
                  <a:gd name="T63" fmla="*/ 16 h 18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"/>
                  <a:gd name="T97" fmla="*/ 0 h 189"/>
                  <a:gd name="T98" fmla="*/ 115 w 115"/>
                  <a:gd name="T99" fmla="*/ 189 h 18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" h="189">
                    <a:moveTo>
                      <a:pt x="7" y="16"/>
                    </a:moveTo>
                    <a:lnTo>
                      <a:pt x="0" y="40"/>
                    </a:lnTo>
                    <a:lnTo>
                      <a:pt x="13" y="59"/>
                    </a:lnTo>
                    <a:lnTo>
                      <a:pt x="16" y="74"/>
                    </a:lnTo>
                    <a:lnTo>
                      <a:pt x="10" y="93"/>
                    </a:lnTo>
                    <a:lnTo>
                      <a:pt x="19" y="115"/>
                    </a:lnTo>
                    <a:lnTo>
                      <a:pt x="10" y="121"/>
                    </a:lnTo>
                    <a:lnTo>
                      <a:pt x="19" y="136"/>
                    </a:lnTo>
                    <a:lnTo>
                      <a:pt x="28" y="139"/>
                    </a:lnTo>
                    <a:lnTo>
                      <a:pt x="31" y="155"/>
                    </a:lnTo>
                    <a:lnTo>
                      <a:pt x="31" y="170"/>
                    </a:lnTo>
                    <a:lnTo>
                      <a:pt x="37" y="176"/>
                    </a:lnTo>
                    <a:lnTo>
                      <a:pt x="50" y="173"/>
                    </a:lnTo>
                    <a:lnTo>
                      <a:pt x="50" y="189"/>
                    </a:lnTo>
                    <a:lnTo>
                      <a:pt x="59" y="189"/>
                    </a:lnTo>
                    <a:lnTo>
                      <a:pt x="93" y="161"/>
                    </a:lnTo>
                    <a:lnTo>
                      <a:pt x="115" y="142"/>
                    </a:lnTo>
                    <a:lnTo>
                      <a:pt x="108" y="124"/>
                    </a:lnTo>
                    <a:lnTo>
                      <a:pt x="93" y="136"/>
                    </a:lnTo>
                    <a:lnTo>
                      <a:pt x="90" y="121"/>
                    </a:lnTo>
                    <a:lnTo>
                      <a:pt x="99" y="102"/>
                    </a:lnTo>
                    <a:lnTo>
                      <a:pt x="90" y="81"/>
                    </a:lnTo>
                    <a:lnTo>
                      <a:pt x="87" y="65"/>
                    </a:lnTo>
                    <a:lnTo>
                      <a:pt x="84" y="56"/>
                    </a:lnTo>
                    <a:lnTo>
                      <a:pt x="102" y="37"/>
                    </a:lnTo>
                    <a:lnTo>
                      <a:pt x="90" y="28"/>
                    </a:lnTo>
                    <a:lnTo>
                      <a:pt x="87" y="10"/>
                    </a:lnTo>
                    <a:lnTo>
                      <a:pt x="62" y="0"/>
                    </a:lnTo>
                    <a:lnTo>
                      <a:pt x="31" y="19"/>
                    </a:lnTo>
                    <a:lnTo>
                      <a:pt x="7" y="16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29" name="Freeform 97"/>
              <p:cNvSpPr>
                <a:spLocks/>
              </p:cNvSpPr>
              <p:nvPr/>
            </p:nvSpPr>
            <p:spPr bwMode="auto">
              <a:xfrm>
                <a:off x="3135" y="1194"/>
                <a:ext cx="27" cy="52"/>
              </a:xfrm>
              <a:custGeom>
                <a:avLst/>
                <a:gdLst>
                  <a:gd name="T0" fmla="*/ 0 w 27"/>
                  <a:gd name="T1" fmla="*/ 18 h 52"/>
                  <a:gd name="T2" fmla="*/ 6 w 27"/>
                  <a:gd name="T3" fmla="*/ 6 h 52"/>
                  <a:gd name="T4" fmla="*/ 6 w 27"/>
                  <a:gd name="T5" fmla="*/ 0 h 52"/>
                  <a:gd name="T6" fmla="*/ 24 w 27"/>
                  <a:gd name="T7" fmla="*/ 0 h 52"/>
                  <a:gd name="T8" fmla="*/ 18 w 27"/>
                  <a:gd name="T9" fmla="*/ 12 h 52"/>
                  <a:gd name="T10" fmla="*/ 24 w 27"/>
                  <a:gd name="T11" fmla="*/ 28 h 52"/>
                  <a:gd name="T12" fmla="*/ 15 w 27"/>
                  <a:gd name="T13" fmla="*/ 37 h 52"/>
                  <a:gd name="T14" fmla="*/ 27 w 27"/>
                  <a:gd name="T15" fmla="*/ 40 h 52"/>
                  <a:gd name="T16" fmla="*/ 15 w 27"/>
                  <a:gd name="T17" fmla="*/ 52 h 52"/>
                  <a:gd name="T18" fmla="*/ 6 w 27"/>
                  <a:gd name="T19" fmla="*/ 52 h 52"/>
                  <a:gd name="T20" fmla="*/ 3 w 27"/>
                  <a:gd name="T21" fmla="*/ 34 h 52"/>
                  <a:gd name="T22" fmla="*/ 9 w 27"/>
                  <a:gd name="T23" fmla="*/ 21 h 52"/>
                  <a:gd name="T24" fmla="*/ 0 w 27"/>
                  <a:gd name="T25" fmla="*/ 18 h 52"/>
                  <a:gd name="T26" fmla="*/ 0 w 27"/>
                  <a:gd name="T27" fmla="*/ 18 h 52"/>
                  <a:gd name="T28" fmla="*/ 0 w 27"/>
                  <a:gd name="T29" fmla="*/ 18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7"/>
                  <a:gd name="T46" fmla="*/ 0 h 52"/>
                  <a:gd name="T47" fmla="*/ 27 w 27"/>
                  <a:gd name="T48" fmla="*/ 52 h 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7" h="52">
                    <a:moveTo>
                      <a:pt x="0" y="18"/>
                    </a:moveTo>
                    <a:lnTo>
                      <a:pt x="6" y="6"/>
                    </a:lnTo>
                    <a:lnTo>
                      <a:pt x="6" y="0"/>
                    </a:lnTo>
                    <a:lnTo>
                      <a:pt x="24" y="0"/>
                    </a:lnTo>
                    <a:lnTo>
                      <a:pt x="18" y="12"/>
                    </a:lnTo>
                    <a:lnTo>
                      <a:pt x="24" y="28"/>
                    </a:lnTo>
                    <a:lnTo>
                      <a:pt x="15" y="37"/>
                    </a:lnTo>
                    <a:lnTo>
                      <a:pt x="27" y="40"/>
                    </a:lnTo>
                    <a:lnTo>
                      <a:pt x="15" y="52"/>
                    </a:lnTo>
                    <a:lnTo>
                      <a:pt x="6" y="52"/>
                    </a:lnTo>
                    <a:lnTo>
                      <a:pt x="3" y="34"/>
                    </a:lnTo>
                    <a:lnTo>
                      <a:pt x="9" y="21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0" name="Freeform 98"/>
              <p:cNvSpPr>
                <a:spLocks/>
              </p:cNvSpPr>
              <p:nvPr/>
            </p:nvSpPr>
            <p:spPr bwMode="auto">
              <a:xfrm>
                <a:off x="3026" y="1089"/>
                <a:ext cx="84" cy="68"/>
              </a:xfrm>
              <a:custGeom>
                <a:avLst/>
                <a:gdLst>
                  <a:gd name="T0" fmla="*/ 16 w 84"/>
                  <a:gd name="T1" fmla="*/ 46 h 68"/>
                  <a:gd name="T2" fmla="*/ 0 w 84"/>
                  <a:gd name="T3" fmla="*/ 55 h 68"/>
                  <a:gd name="T4" fmla="*/ 4 w 84"/>
                  <a:gd name="T5" fmla="*/ 65 h 68"/>
                  <a:gd name="T6" fmla="*/ 19 w 84"/>
                  <a:gd name="T7" fmla="*/ 68 h 68"/>
                  <a:gd name="T8" fmla="*/ 41 w 84"/>
                  <a:gd name="T9" fmla="*/ 65 h 68"/>
                  <a:gd name="T10" fmla="*/ 50 w 84"/>
                  <a:gd name="T11" fmla="*/ 52 h 68"/>
                  <a:gd name="T12" fmla="*/ 65 w 84"/>
                  <a:gd name="T13" fmla="*/ 52 h 68"/>
                  <a:gd name="T14" fmla="*/ 56 w 84"/>
                  <a:gd name="T15" fmla="*/ 43 h 68"/>
                  <a:gd name="T16" fmla="*/ 68 w 84"/>
                  <a:gd name="T17" fmla="*/ 34 h 68"/>
                  <a:gd name="T18" fmla="*/ 59 w 84"/>
                  <a:gd name="T19" fmla="*/ 24 h 68"/>
                  <a:gd name="T20" fmla="*/ 84 w 84"/>
                  <a:gd name="T21" fmla="*/ 3 h 68"/>
                  <a:gd name="T22" fmla="*/ 65 w 84"/>
                  <a:gd name="T23" fmla="*/ 0 h 68"/>
                  <a:gd name="T24" fmla="*/ 47 w 84"/>
                  <a:gd name="T25" fmla="*/ 12 h 68"/>
                  <a:gd name="T26" fmla="*/ 38 w 84"/>
                  <a:gd name="T27" fmla="*/ 18 h 68"/>
                  <a:gd name="T28" fmla="*/ 41 w 84"/>
                  <a:gd name="T29" fmla="*/ 31 h 68"/>
                  <a:gd name="T30" fmla="*/ 10 w 84"/>
                  <a:gd name="T31" fmla="*/ 40 h 68"/>
                  <a:gd name="T32" fmla="*/ 16 w 84"/>
                  <a:gd name="T33" fmla="*/ 46 h 68"/>
                  <a:gd name="T34" fmla="*/ 16 w 84"/>
                  <a:gd name="T35" fmla="*/ 46 h 68"/>
                  <a:gd name="T36" fmla="*/ 16 w 84"/>
                  <a:gd name="T37" fmla="*/ 46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4"/>
                  <a:gd name="T58" fmla="*/ 0 h 68"/>
                  <a:gd name="T59" fmla="*/ 84 w 84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4" h="68">
                    <a:moveTo>
                      <a:pt x="16" y="46"/>
                    </a:moveTo>
                    <a:lnTo>
                      <a:pt x="0" y="55"/>
                    </a:lnTo>
                    <a:lnTo>
                      <a:pt x="4" y="65"/>
                    </a:lnTo>
                    <a:lnTo>
                      <a:pt x="19" y="68"/>
                    </a:lnTo>
                    <a:lnTo>
                      <a:pt x="41" y="65"/>
                    </a:lnTo>
                    <a:lnTo>
                      <a:pt x="50" y="52"/>
                    </a:lnTo>
                    <a:lnTo>
                      <a:pt x="65" y="52"/>
                    </a:lnTo>
                    <a:lnTo>
                      <a:pt x="56" y="43"/>
                    </a:lnTo>
                    <a:lnTo>
                      <a:pt x="68" y="34"/>
                    </a:lnTo>
                    <a:lnTo>
                      <a:pt x="59" y="24"/>
                    </a:lnTo>
                    <a:lnTo>
                      <a:pt x="84" y="3"/>
                    </a:lnTo>
                    <a:lnTo>
                      <a:pt x="65" y="0"/>
                    </a:lnTo>
                    <a:lnTo>
                      <a:pt x="47" y="12"/>
                    </a:lnTo>
                    <a:lnTo>
                      <a:pt x="38" y="18"/>
                    </a:lnTo>
                    <a:lnTo>
                      <a:pt x="41" y="31"/>
                    </a:lnTo>
                    <a:lnTo>
                      <a:pt x="10" y="40"/>
                    </a:lnTo>
                    <a:lnTo>
                      <a:pt x="16" y="46"/>
                    </a:lnTo>
                    <a:close/>
                  </a:path>
                </a:pathLst>
              </a:custGeom>
              <a:solidFill>
                <a:srgbClr val="857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1" name="Freeform 99"/>
              <p:cNvSpPr>
                <a:spLocks/>
              </p:cNvSpPr>
              <p:nvPr/>
            </p:nvSpPr>
            <p:spPr bwMode="auto">
              <a:xfrm>
                <a:off x="2551" y="971"/>
                <a:ext cx="12" cy="13"/>
              </a:xfrm>
              <a:custGeom>
                <a:avLst/>
                <a:gdLst>
                  <a:gd name="T0" fmla="*/ 3 w 12"/>
                  <a:gd name="T1" fmla="*/ 10 h 13"/>
                  <a:gd name="T2" fmla="*/ 6 w 12"/>
                  <a:gd name="T3" fmla="*/ 7 h 13"/>
                  <a:gd name="T4" fmla="*/ 12 w 12"/>
                  <a:gd name="T5" fmla="*/ 13 h 13"/>
                  <a:gd name="T6" fmla="*/ 12 w 12"/>
                  <a:gd name="T7" fmla="*/ 3 h 13"/>
                  <a:gd name="T8" fmla="*/ 0 w 12"/>
                  <a:gd name="T9" fmla="*/ 0 h 13"/>
                  <a:gd name="T10" fmla="*/ 3 w 12"/>
                  <a:gd name="T11" fmla="*/ 10 h 13"/>
                  <a:gd name="T12" fmla="*/ 3 w 12"/>
                  <a:gd name="T13" fmla="*/ 10 h 13"/>
                  <a:gd name="T14" fmla="*/ 3 w 12"/>
                  <a:gd name="T15" fmla="*/ 1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"/>
                  <a:gd name="T25" fmla="*/ 0 h 13"/>
                  <a:gd name="T26" fmla="*/ 12 w 12"/>
                  <a:gd name="T27" fmla="*/ 13 h 1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" h="13">
                    <a:moveTo>
                      <a:pt x="3" y="10"/>
                    </a:moveTo>
                    <a:lnTo>
                      <a:pt x="6" y="7"/>
                    </a:lnTo>
                    <a:lnTo>
                      <a:pt x="12" y="13"/>
                    </a:lnTo>
                    <a:lnTo>
                      <a:pt x="12" y="3"/>
                    </a:lnTo>
                    <a:lnTo>
                      <a:pt x="0" y="0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8B9D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2" name="Freeform 100"/>
              <p:cNvSpPr>
                <a:spLocks/>
              </p:cNvSpPr>
              <p:nvPr/>
            </p:nvSpPr>
            <p:spPr bwMode="auto">
              <a:xfrm>
                <a:off x="2569" y="863"/>
                <a:ext cx="65" cy="115"/>
              </a:xfrm>
              <a:custGeom>
                <a:avLst/>
                <a:gdLst>
                  <a:gd name="T0" fmla="*/ 3 w 65"/>
                  <a:gd name="T1" fmla="*/ 0 h 115"/>
                  <a:gd name="T2" fmla="*/ 25 w 65"/>
                  <a:gd name="T3" fmla="*/ 0 h 115"/>
                  <a:gd name="T4" fmla="*/ 34 w 65"/>
                  <a:gd name="T5" fmla="*/ 3 h 115"/>
                  <a:gd name="T6" fmla="*/ 40 w 65"/>
                  <a:gd name="T7" fmla="*/ 9 h 115"/>
                  <a:gd name="T8" fmla="*/ 47 w 65"/>
                  <a:gd name="T9" fmla="*/ 19 h 115"/>
                  <a:gd name="T10" fmla="*/ 47 w 65"/>
                  <a:gd name="T11" fmla="*/ 28 h 115"/>
                  <a:gd name="T12" fmla="*/ 47 w 65"/>
                  <a:gd name="T13" fmla="*/ 50 h 115"/>
                  <a:gd name="T14" fmla="*/ 56 w 65"/>
                  <a:gd name="T15" fmla="*/ 65 h 115"/>
                  <a:gd name="T16" fmla="*/ 56 w 65"/>
                  <a:gd name="T17" fmla="*/ 74 h 115"/>
                  <a:gd name="T18" fmla="*/ 59 w 65"/>
                  <a:gd name="T19" fmla="*/ 81 h 115"/>
                  <a:gd name="T20" fmla="*/ 65 w 65"/>
                  <a:gd name="T21" fmla="*/ 96 h 115"/>
                  <a:gd name="T22" fmla="*/ 62 w 65"/>
                  <a:gd name="T23" fmla="*/ 102 h 115"/>
                  <a:gd name="T24" fmla="*/ 59 w 65"/>
                  <a:gd name="T25" fmla="*/ 108 h 115"/>
                  <a:gd name="T26" fmla="*/ 56 w 65"/>
                  <a:gd name="T27" fmla="*/ 111 h 115"/>
                  <a:gd name="T28" fmla="*/ 50 w 65"/>
                  <a:gd name="T29" fmla="*/ 115 h 115"/>
                  <a:gd name="T30" fmla="*/ 47 w 65"/>
                  <a:gd name="T31" fmla="*/ 111 h 115"/>
                  <a:gd name="T32" fmla="*/ 56 w 65"/>
                  <a:gd name="T33" fmla="*/ 96 h 115"/>
                  <a:gd name="T34" fmla="*/ 53 w 65"/>
                  <a:gd name="T35" fmla="*/ 87 h 115"/>
                  <a:gd name="T36" fmla="*/ 50 w 65"/>
                  <a:gd name="T37" fmla="*/ 81 h 115"/>
                  <a:gd name="T38" fmla="*/ 47 w 65"/>
                  <a:gd name="T39" fmla="*/ 65 h 115"/>
                  <a:gd name="T40" fmla="*/ 43 w 65"/>
                  <a:gd name="T41" fmla="*/ 59 h 115"/>
                  <a:gd name="T42" fmla="*/ 37 w 65"/>
                  <a:gd name="T43" fmla="*/ 53 h 115"/>
                  <a:gd name="T44" fmla="*/ 37 w 65"/>
                  <a:gd name="T45" fmla="*/ 50 h 115"/>
                  <a:gd name="T46" fmla="*/ 37 w 65"/>
                  <a:gd name="T47" fmla="*/ 13 h 115"/>
                  <a:gd name="T48" fmla="*/ 34 w 65"/>
                  <a:gd name="T49" fmla="*/ 9 h 115"/>
                  <a:gd name="T50" fmla="*/ 28 w 65"/>
                  <a:gd name="T51" fmla="*/ 6 h 115"/>
                  <a:gd name="T52" fmla="*/ 22 w 65"/>
                  <a:gd name="T53" fmla="*/ 3 h 115"/>
                  <a:gd name="T54" fmla="*/ 3 w 65"/>
                  <a:gd name="T55" fmla="*/ 3 h 115"/>
                  <a:gd name="T56" fmla="*/ 0 w 65"/>
                  <a:gd name="T57" fmla="*/ 3 h 115"/>
                  <a:gd name="T58" fmla="*/ 3 w 65"/>
                  <a:gd name="T59" fmla="*/ 0 h 115"/>
                  <a:gd name="T60" fmla="*/ 3 w 65"/>
                  <a:gd name="T61" fmla="*/ 0 h 115"/>
                  <a:gd name="T62" fmla="*/ 3 w 65"/>
                  <a:gd name="T63" fmla="*/ 0 h 11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5"/>
                  <a:gd name="T97" fmla="*/ 0 h 115"/>
                  <a:gd name="T98" fmla="*/ 65 w 65"/>
                  <a:gd name="T99" fmla="*/ 115 h 11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5" h="115">
                    <a:moveTo>
                      <a:pt x="3" y="0"/>
                    </a:moveTo>
                    <a:lnTo>
                      <a:pt x="25" y="0"/>
                    </a:lnTo>
                    <a:lnTo>
                      <a:pt x="34" y="3"/>
                    </a:lnTo>
                    <a:lnTo>
                      <a:pt x="40" y="9"/>
                    </a:lnTo>
                    <a:lnTo>
                      <a:pt x="47" y="19"/>
                    </a:lnTo>
                    <a:lnTo>
                      <a:pt x="47" y="28"/>
                    </a:lnTo>
                    <a:lnTo>
                      <a:pt x="47" y="50"/>
                    </a:lnTo>
                    <a:lnTo>
                      <a:pt x="56" y="65"/>
                    </a:lnTo>
                    <a:lnTo>
                      <a:pt x="56" y="74"/>
                    </a:lnTo>
                    <a:lnTo>
                      <a:pt x="59" y="81"/>
                    </a:lnTo>
                    <a:lnTo>
                      <a:pt x="65" y="96"/>
                    </a:lnTo>
                    <a:lnTo>
                      <a:pt x="62" y="102"/>
                    </a:lnTo>
                    <a:lnTo>
                      <a:pt x="59" y="108"/>
                    </a:lnTo>
                    <a:lnTo>
                      <a:pt x="56" y="111"/>
                    </a:lnTo>
                    <a:lnTo>
                      <a:pt x="50" y="115"/>
                    </a:lnTo>
                    <a:lnTo>
                      <a:pt x="47" y="111"/>
                    </a:lnTo>
                    <a:lnTo>
                      <a:pt x="56" y="96"/>
                    </a:lnTo>
                    <a:lnTo>
                      <a:pt x="53" y="87"/>
                    </a:lnTo>
                    <a:lnTo>
                      <a:pt x="50" y="81"/>
                    </a:lnTo>
                    <a:lnTo>
                      <a:pt x="47" y="65"/>
                    </a:lnTo>
                    <a:lnTo>
                      <a:pt x="43" y="59"/>
                    </a:lnTo>
                    <a:lnTo>
                      <a:pt x="37" y="53"/>
                    </a:lnTo>
                    <a:lnTo>
                      <a:pt x="37" y="50"/>
                    </a:lnTo>
                    <a:lnTo>
                      <a:pt x="37" y="13"/>
                    </a:lnTo>
                    <a:lnTo>
                      <a:pt x="34" y="9"/>
                    </a:lnTo>
                    <a:lnTo>
                      <a:pt x="28" y="6"/>
                    </a:lnTo>
                    <a:lnTo>
                      <a:pt x="22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3" name="Freeform 101"/>
              <p:cNvSpPr>
                <a:spLocks/>
              </p:cNvSpPr>
              <p:nvPr/>
            </p:nvSpPr>
            <p:spPr bwMode="auto">
              <a:xfrm>
                <a:off x="2260" y="1067"/>
                <a:ext cx="133" cy="56"/>
              </a:xfrm>
              <a:custGeom>
                <a:avLst/>
                <a:gdLst>
                  <a:gd name="T0" fmla="*/ 133 w 133"/>
                  <a:gd name="T1" fmla="*/ 3 h 56"/>
                  <a:gd name="T2" fmla="*/ 121 w 133"/>
                  <a:gd name="T3" fmla="*/ 9 h 56"/>
                  <a:gd name="T4" fmla="*/ 118 w 133"/>
                  <a:gd name="T5" fmla="*/ 12 h 56"/>
                  <a:gd name="T6" fmla="*/ 112 w 133"/>
                  <a:gd name="T7" fmla="*/ 16 h 56"/>
                  <a:gd name="T8" fmla="*/ 99 w 133"/>
                  <a:gd name="T9" fmla="*/ 16 h 56"/>
                  <a:gd name="T10" fmla="*/ 87 w 133"/>
                  <a:gd name="T11" fmla="*/ 12 h 56"/>
                  <a:gd name="T12" fmla="*/ 78 w 133"/>
                  <a:gd name="T13" fmla="*/ 19 h 56"/>
                  <a:gd name="T14" fmla="*/ 68 w 133"/>
                  <a:gd name="T15" fmla="*/ 25 h 56"/>
                  <a:gd name="T16" fmla="*/ 62 w 133"/>
                  <a:gd name="T17" fmla="*/ 31 h 56"/>
                  <a:gd name="T18" fmla="*/ 53 w 133"/>
                  <a:gd name="T19" fmla="*/ 37 h 56"/>
                  <a:gd name="T20" fmla="*/ 37 w 133"/>
                  <a:gd name="T21" fmla="*/ 34 h 56"/>
                  <a:gd name="T22" fmla="*/ 22 w 133"/>
                  <a:gd name="T23" fmla="*/ 37 h 56"/>
                  <a:gd name="T24" fmla="*/ 16 w 133"/>
                  <a:gd name="T25" fmla="*/ 53 h 56"/>
                  <a:gd name="T26" fmla="*/ 10 w 133"/>
                  <a:gd name="T27" fmla="*/ 56 h 56"/>
                  <a:gd name="T28" fmla="*/ 3 w 133"/>
                  <a:gd name="T29" fmla="*/ 53 h 56"/>
                  <a:gd name="T30" fmla="*/ 0 w 133"/>
                  <a:gd name="T31" fmla="*/ 50 h 56"/>
                  <a:gd name="T32" fmla="*/ 3 w 133"/>
                  <a:gd name="T33" fmla="*/ 46 h 56"/>
                  <a:gd name="T34" fmla="*/ 6 w 133"/>
                  <a:gd name="T35" fmla="*/ 43 h 56"/>
                  <a:gd name="T36" fmla="*/ 16 w 133"/>
                  <a:gd name="T37" fmla="*/ 31 h 56"/>
                  <a:gd name="T38" fmla="*/ 25 w 133"/>
                  <a:gd name="T39" fmla="*/ 25 h 56"/>
                  <a:gd name="T40" fmla="*/ 31 w 133"/>
                  <a:gd name="T41" fmla="*/ 25 h 56"/>
                  <a:gd name="T42" fmla="*/ 53 w 133"/>
                  <a:gd name="T43" fmla="*/ 25 h 56"/>
                  <a:gd name="T44" fmla="*/ 68 w 133"/>
                  <a:gd name="T45" fmla="*/ 12 h 56"/>
                  <a:gd name="T46" fmla="*/ 74 w 133"/>
                  <a:gd name="T47" fmla="*/ 6 h 56"/>
                  <a:gd name="T48" fmla="*/ 84 w 133"/>
                  <a:gd name="T49" fmla="*/ 3 h 56"/>
                  <a:gd name="T50" fmla="*/ 96 w 133"/>
                  <a:gd name="T51" fmla="*/ 6 h 56"/>
                  <a:gd name="T52" fmla="*/ 108 w 133"/>
                  <a:gd name="T53" fmla="*/ 9 h 56"/>
                  <a:gd name="T54" fmla="*/ 121 w 133"/>
                  <a:gd name="T55" fmla="*/ 3 h 56"/>
                  <a:gd name="T56" fmla="*/ 133 w 133"/>
                  <a:gd name="T57" fmla="*/ 0 h 56"/>
                  <a:gd name="T58" fmla="*/ 133 w 133"/>
                  <a:gd name="T59" fmla="*/ 3 h 56"/>
                  <a:gd name="T60" fmla="*/ 133 w 133"/>
                  <a:gd name="T61" fmla="*/ 3 h 56"/>
                  <a:gd name="T62" fmla="*/ 133 w 133"/>
                  <a:gd name="T63" fmla="*/ 3 h 56"/>
                  <a:gd name="T64" fmla="*/ 133 w 133"/>
                  <a:gd name="T65" fmla="*/ 3 h 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3"/>
                  <a:gd name="T100" fmla="*/ 0 h 56"/>
                  <a:gd name="T101" fmla="*/ 133 w 133"/>
                  <a:gd name="T102" fmla="*/ 56 h 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3" h="56">
                    <a:moveTo>
                      <a:pt x="133" y="3"/>
                    </a:moveTo>
                    <a:lnTo>
                      <a:pt x="121" y="9"/>
                    </a:lnTo>
                    <a:lnTo>
                      <a:pt x="118" y="12"/>
                    </a:lnTo>
                    <a:lnTo>
                      <a:pt x="112" y="16"/>
                    </a:lnTo>
                    <a:lnTo>
                      <a:pt x="99" y="16"/>
                    </a:lnTo>
                    <a:lnTo>
                      <a:pt x="87" y="12"/>
                    </a:lnTo>
                    <a:lnTo>
                      <a:pt x="78" y="19"/>
                    </a:lnTo>
                    <a:lnTo>
                      <a:pt x="68" y="25"/>
                    </a:lnTo>
                    <a:lnTo>
                      <a:pt x="62" y="31"/>
                    </a:lnTo>
                    <a:lnTo>
                      <a:pt x="53" y="37"/>
                    </a:lnTo>
                    <a:lnTo>
                      <a:pt x="37" y="34"/>
                    </a:lnTo>
                    <a:lnTo>
                      <a:pt x="22" y="37"/>
                    </a:lnTo>
                    <a:lnTo>
                      <a:pt x="16" y="53"/>
                    </a:lnTo>
                    <a:lnTo>
                      <a:pt x="10" y="56"/>
                    </a:lnTo>
                    <a:lnTo>
                      <a:pt x="3" y="53"/>
                    </a:lnTo>
                    <a:lnTo>
                      <a:pt x="0" y="50"/>
                    </a:lnTo>
                    <a:lnTo>
                      <a:pt x="3" y="46"/>
                    </a:lnTo>
                    <a:lnTo>
                      <a:pt x="6" y="43"/>
                    </a:lnTo>
                    <a:lnTo>
                      <a:pt x="16" y="31"/>
                    </a:lnTo>
                    <a:lnTo>
                      <a:pt x="25" y="25"/>
                    </a:lnTo>
                    <a:lnTo>
                      <a:pt x="31" y="25"/>
                    </a:lnTo>
                    <a:lnTo>
                      <a:pt x="53" y="25"/>
                    </a:lnTo>
                    <a:lnTo>
                      <a:pt x="68" y="12"/>
                    </a:lnTo>
                    <a:lnTo>
                      <a:pt x="74" y="6"/>
                    </a:lnTo>
                    <a:lnTo>
                      <a:pt x="84" y="3"/>
                    </a:lnTo>
                    <a:lnTo>
                      <a:pt x="96" y="6"/>
                    </a:lnTo>
                    <a:lnTo>
                      <a:pt x="108" y="9"/>
                    </a:lnTo>
                    <a:lnTo>
                      <a:pt x="121" y="3"/>
                    </a:lnTo>
                    <a:lnTo>
                      <a:pt x="133" y="0"/>
                    </a:lnTo>
                    <a:lnTo>
                      <a:pt x="13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4" name="Freeform 102"/>
              <p:cNvSpPr>
                <a:spLocks/>
              </p:cNvSpPr>
              <p:nvPr/>
            </p:nvSpPr>
            <p:spPr bwMode="auto">
              <a:xfrm>
                <a:off x="2245" y="1036"/>
                <a:ext cx="148" cy="28"/>
              </a:xfrm>
              <a:custGeom>
                <a:avLst/>
                <a:gdLst>
                  <a:gd name="T0" fmla="*/ 145 w 148"/>
                  <a:gd name="T1" fmla="*/ 19 h 28"/>
                  <a:gd name="T2" fmla="*/ 123 w 148"/>
                  <a:gd name="T3" fmla="*/ 19 h 28"/>
                  <a:gd name="T4" fmla="*/ 105 w 148"/>
                  <a:gd name="T5" fmla="*/ 10 h 28"/>
                  <a:gd name="T6" fmla="*/ 86 w 148"/>
                  <a:gd name="T7" fmla="*/ 10 h 28"/>
                  <a:gd name="T8" fmla="*/ 68 w 148"/>
                  <a:gd name="T9" fmla="*/ 10 h 28"/>
                  <a:gd name="T10" fmla="*/ 55 w 148"/>
                  <a:gd name="T11" fmla="*/ 10 h 28"/>
                  <a:gd name="T12" fmla="*/ 43 w 148"/>
                  <a:gd name="T13" fmla="*/ 6 h 28"/>
                  <a:gd name="T14" fmla="*/ 21 w 148"/>
                  <a:gd name="T15" fmla="*/ 16 h 28"/>
                  <a:gd name="T16" fmla="*/ 6 w 148"/>
                  <a:gd name="T17" fmla="*/ 28 h 28"/>
                  <a:gd name="T18" fmla="*/ 3 w 148"/>
                  <a:gd name="T19" fmla="*/ 28 h 28"/>
                  <a:gd name="T20" fmla="*/ 0 w 148"/>
                  <a:gd name="T21" fmla="*/ 22 h 28"/>
                  <a:gd name="T22" fmla="*/ 6 w 148"/>
                  <a:gd name="T23" fmla="*/ 19 h 28"/>
                  <a:gd name="T24" fmla="*/ 9 w 148"/>
                  <a:gd name="T25" fmla="*/ 16 h 28"/>
                  <a:gd name="T26" fmla="*/ 18 w 148"/>
                  <a:gd name="T27" fmla="*/ 10 h 28"/>
                  <a:gd name="T28" fmla="*/ 25 w 148"/>
                  <a:gd name="T29" fmla="*/ 6 h 28"/>
                  <a:gd name="T30" fmla="*/ 31 w 148"/>
                  <a:gd name="T31" fmla="*/ 3 h 28"/>
                  <a:gd name="T32" fmla="*/ 43 w 148"/>
                  <a:gd name="T33" fmla="*/ 0 h 28"/>
                  <a:gd name="T34" fmla="*/ 71 w 148"/>
                  <a:gd name="T35" fmla="*/ 0 h 28"/>
                  <a:gd name="T36" fmla="*/ 108 w 148"/>
                  <a:gd name="T37" fmla="*/ 3 h 28"/>
                  <a:gd name="T38" fmla="*/ 127 w 148"/>
                  <a:gd name="T39" fmla="*/ 13 h 28"/>
                  <a:gd name="T40" fmla="*/ 136 w 148"/>
                  <a:gd name="T41" fmla="*/ 16 h 28"/>
                  <a:gd name="T42" fmla="*/ 145 w 148"/>
                  <a:gd name="T43" fmla="*/ 16 h 28"/>
                  <a:gd name="T44" fmla="*/ 148 w 148"/>
                  <a:gd name="T45" fmla="*/ 19 h 28"/>
                  <a:gd name="T46" fmla="*/ 145 w 148"/>
                  <a:gd name="T47" fmla="*/ 19 h 28"/>
                  <a:gd name="T48" fmla="*/ 145 w 148"/>
                  <a:gd name="T49" fmla="*/ 19 h 28"/>
                  <a:gd name="T50" fmla="*/ 145 w 148"/>
                  <a:gd name="T51" fmla="*/ 19 h 2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48"/>
                  <a:gd name="T79" fmla="*/ 0 h 28"/>
                  <a:gd name="T80" fmla="*/ 148 w 148"/>
                  <a:gd name="T81" fmla="*/ 28 h 2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48" h="28">
                    <a:moveTo>
                      <a:pt x="145" y="19"/>
                    </a:moveTo>
                    <a:lnTo>
                      <a:pt x="123" y="19"/>
                    </a:lnTo>
                    <a:lnTo>
                      <a:pt x="105" y="10"/>
                    </a:lnTo>
                    <a:lnTo>
                      <a:pt x="86" y="10"/>
                    </a:lnTo>
                    <a:lnTo>
                      <a:pt x="68" y="10"/>
                    </a:lnTo>
                    <a:lnTo>
                      <a:pt x="55" y="10"/>
                    </a:lnTo>
                    <a:lnTo>
                      <a:pt x="43" y="6"/>
                    </a:lnTo>
                    <a:lnTo>
                      <a:pt x="21" y="16"/>
                    </a:lnTo>
                    <a:lnTo>
                      <a:pt x="6" y="28"/>
                    </a:lnTo>
                    <a:lnTo>
                      <a:pt x="3" y="28"/>
                    </a:lnTo>
                    <a:lnTo>
                      <a:pt x="0" y="22"/>
                    </a:lnTo>
                    <a:lnTo>
                      <a:pt x="6" y="19"/>
                    </a:lnTo>
                    <a:lnTo>
                      <a:pt x="9" y="16"/>
                    </a:lnTo>
                    <a:lnTo>
                      <a:pt x="18" y="10"/>
                    </a:lnTo>
                    <a:lnTo>
                      <a:pt x="25" y="6"/>
                    </a:lnTo>
                    <a:lnTo>
                      <a:pt x="31" y="3"/>
                    </a:lnTo>
                    <a:lnTo>
                      <a:pt x="43" y="0"/>
                    </a:lnTo>
                    <a:lnTo>
                      <a:pt x="71" y="0"/>
                    </a:lnTo>
                    <a:lnTo>
                      <a:pt x="108" y="3"/>
                    </a:lnTo>
                    <a:lnTo>
                      <a:pt x="127" y="13"/>
                    </a:lnTo>
                    <a:lnTo>
                      <a:pt x="136" y="16"/>
                    </a:lnTo>
                    <a:lnTo>
                      <a:pt x="145" y="16"/>
                    </a:lnTo>
                    <a:lnTo>
                      <a:pt x="148" y="19"/>
                    </a:lnTo>
                    <a:lnTo>
                      <a:pt x="145" y="1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5" name="Freeform 103"/>
              <p:cNvSpPr>
                <a:spLocks/>
              </p:cNvSpPr>
              <p:nvPr/>
            </p:nvSpPr>
            <p:spPr bwMode="auto">
              <a:xfrm>
                <a:off x="2236" y="1067"/>
                <a:ext cx="9" cy="62"/>
              </a:xfrm>
              <a:custGeom>
                <a:avLst/>
                <a:gdLst>
                  <a:gd name="T0" fmla="*/ 6 w 9"/>
                  <a:gd name="T1" fmla="*/ 3 h 62"/>
                  <a:gd name="T2" fmla="*/ 3 w 9"/>
                  <a:gd name="T3" fmla="*/ 12 h 62"/>
                  <a:gd name="T4" fmla="*/ 6 w 9"/>
                  <a:gd name="T5" fmla="*/ 31 h 62"/>
                  <a:gd name="T6" fmla="*/ 9 w 9"/>
                  <a:gd name="T7" fmla="*/ 46 h 62"/>
                  <a:gd name="T8" fmla="*/ 9 w 9"/>
                  <a:gd name="T9" fmla="*/ 59 h 62"/>
                  <a:gd name="T10" fmla="*/ 9 w 9"/>
                  <a:gd name="T11" fmla="*/ 62 h 62"/>
                  <a:gd name="T12" fmla="*/ 6 w 9"/>
                  <a:gd name="T13" fmla="*/ 62 h 62"/>
                  <a:gd name="T14" fmla="*/ 3 w 9"/>
                  <a:gd name="T15" fmla="*/ 59 h 62"/>
                  <a:gd name="T16" fmla="*/ 0 w 9"/>
                  <a:gd name="T17" fmla="*/ 50 h 62"/>
                  <a:gd name="T18" fmla="*/ 0 w 9"/>
                  <a:gd name="T19" fmla="*/ 12 h 62"/>
                  <a:gd name="T20" fmla="*/ 0 w 9"/>
                  <a:gd name="T21" fmla="*/ 3 h 62"/>
                  <a:gd name="T22" fmla="*/ 3 w 9"/>
                  <a:gd name="T23" fmla="*/ 0 h 62"/>
                  <a:gd name="T24" fmla="*/ 6 w 9"/>
                  <a:gd name="T25" fmla="*/ 3 h 62"/>
                  <a:gd name="T26" fmla="*/ 6 w 9"/>
                  <a:gd name="T27" fmla="*/ 3 h 62"/>
                  <a:gd name="T28" fmla="*/ 6 w 9"/>
                  <a:gd name="T29" fmla="*/ 3 h 6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"/>
                  <a:gd name="T46" fmla="*/ 0 h 62"/>
                  <a:gd name="T47" fmla="*/ 9 w 9"/>
                  <a:gd name="T48" fmla="*/ 62 h 6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" h="62">
                    <a:moveTo>
                      <a:pt x="6" y="3"/>
                    </a:moveTo>
                    <a:lnTo>
                      <a:pt x="3" y="12"/>
                    </a:lnTo>
                    <a:lnTo>
                      <a:pt x="6" y="31"/>
                    </a:lnTo>
                    <a:lnTo>
                      <a:pt x="9" y="46"/>
                    </a:lnTo>
                    <a:lnTo>
                      <a:pt x="9" y="59"/>
                    </a:lnTo>
                    <a:lnTo>
                      <a:pt x="9" y="62"/>
                    </a:lnTo>
                    <a:lnTo>
                      <a:pt x="6" y="62"/>
                    </a:lnTo>
                    <a:lnTo>
                      <a:pt x="3" y="59"/>
                    </a:lnTo>
                    <a:lnTo>
                      <a:pt x="0" y="50"/>
                    </a:lnTo>
                    <a:lnTo>
                      <a:pt x="0" y="12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6" name="Freeform 104"/>
              <p:cNvSpPr>
                <a:spLocks/>
              </p:cNvSpPr>
              <p:nvPr/>
            </p:nvSpPr>
            <p:spPr bwMode="auto">
              <a:xfrm>
                <a:off x="2245" y="1138"/>
                <a:ext cx="25" cy="53"/>
              </a:xfrm>
              <a:custGeom>
                <a:avLst/>
                <a:gdLst>
                  <a:gd name="T0" fmla="*/ 9 w 25"/>
                  <a:gd name="T1" fmla="*/ 3 h 53"/>
                  <a:gd name="T2" fmla="*/ 3 w 25"/>
                  <a:gd name="T3" fmla="*/ 3 h 53"/>
                  <a:gd name="T4" fmla="*/ 3 w 25"/>
                  <a:gd name="T5" fmla="*/ 6 h 53"/>
                  <a:gd name="T6" fmla="*/ 6 w 25"/>
                  <a:gd name="T7" fmla="*/ 16 h 53"/>
                  <a:gd name="T8" fmla="*/ 9 w 25"/>
                  <a:gd name="T9" fmla="*/ 22 h 53"/>
                  <a:gd name="T10" fmla="*/ 12 w 25"/>
                  <a:gd name="T11" fmla="*/ 28 h 53"/>
                  <a:gd name="T12" fmla="*/ 18 w 25"/>
                  <a:gd name="T13" fmla="*/ 40 h 53"/>
                  <a:gd name="T14" fmla="*/ 21 w 25"/>
                  <a:gd name="T15" fmla="*/ 47 h 53"/>
                  <a:gd name="T16" fmla="*/ 25 w 25"/>
                  <a:gd name="T17" fmla="*/ 50 h 53"/>
                  <a:gd name="T18" fmla="*/ 25 w 25"/>
                  <a:gd name="T19" fmla="*/ 53 h 53"/>
                  <a:gd name="T20" fmla="*/ 25 w 25"/>
                  <a:gd name="T21" fmla="*/ 53 h 53"/>
                  <a:gd name="T22" fmla="*/ 12 w 25"/>
                  <a:gd name="T23" fmla="*/ 43 h 53"/>
                  <a:gd name="T24" fmla="*/ 6 w 25"/>
                  <a:gd name="T25" fmla="*/ 31 h 53"/>
                  <a:gd name="T26" fmla="*/ 0 w 25"/>
                  <a:gd name="T27" fmla="*/ 16 h 53"/>
                  <a:gd name="T28" fmla="*/ 0 w 25"/>
                  <a:gd name="T29" fmla="*/ 6 h 53"/>
                  <a:gd name="T30" fmla="*/ 3 w 25"/>
                  <a:gd name="T31" fmla="*/ 0 h 53"/>
                  <a:gd name="T32" fmla="*/ 9 w 25"/>
                  <a:gd name="T33" fmla="*/ 0 h 53"/>
                  <a:gd name="T34" fmla="*/ 9 w 25"/>
                  <a:gd name="T35" fmla="*/ 0 h 53"/>
                  <a:gd name="T36" fmla="*/ 9 w 25"/>
                  <a:gd name="T37" fmla="*/ 3 h 53"/>
                  <a:gd name="T38" fmla="*/ 9 w 25"/>
                  <a:gd name="T39" fmla="*/ 3 h 53"/>
                  <a:gd name="T40" fmla="*/ 9 w 25"/>
                  <a:gd name="T41" fmla="*/ 3 h 5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5"/>
                  <a:gd name="T64" fmla="*/ 0 h 53"/>
                  <a:gd name="T65" fmla="*/ 25 w 25"/>
                  <a:gd name="T66" fmla="*/ 53 h 5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5" h="53">
                    <a:moveTo>
                      <a:pt x="9" y="3"/>
                    </a:moveTo>
                    <a:lnTo>
                      <a:pt x="3" y="3"/>
                    </a:lnTo>
                    <a:lnTo>
                      <a:pt x="3" y="6"/>
                    </a:lnTo>
                    <a:lnTo>
                      <a:pt x="6" y="16"/>
                    </a:lnTo>
                    <a:lnTo>
                      <a:pt x="9" y="22"/>
                    </a:lnTo>
                    <a:lnTo>
                      <a:pt x="12" y="28"/>
                    </a:lnTo>
                    <a:lnTo>
                      <a:pt x="18" y="40"/>
                    </a:lnTo>
                    <a:lnTo>
                      <a:pt x="21" y="47"/>
                    </a:lnTo>
                    <a:lnTo>
                      <a:pt x="25" y="50"/>
                    </a:lnTo>
                    <a:lnTo>
                      <a:pt x="25" y="53"/>
                    </a:lnTo>
                    <a:lnTo>
                      <a:pt x="12" y="43"/>
                    </a:lnTo>
                    <a:lnTo>
                      <a:pt x="6" y="31"/>
                    </a:lnTo>
                    <a:lnTo>
                      <a:pt x="0" y="16"/>
                    </a:lnTo>
                    <a:lnTo>
                      <a:pt x="0" y="6"/>
                    </a:lnTo>
                    <a:lnTo>
                      <a:pt x="3" y="0"/>
                    </a:lnTo>
                    <a:lnTo>
                      <a:pt x="9" y="0"/>
                    </a:ln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7" name="Freeform 105"/>
              <p:cNvSpPr>
                <a:spLocks/>
              </p:cNvSpPr>
              <p:nvPr/>
            </p:nvSpPr>
            <p:spPr bwMode="auto">
              <a:xfrm>
                <a:off x="2378" y="1079"/>
                <a:ext cx="34" cy="164"/>
              </a:xfrm>
              <a:custGeom>
                <a:avLst/>
                <a:gdLst>
                  <a:gd name="T0" fmla="*/ 21 w 34"/>
                  <a:gd name="T1" fmla="*/ 0 h 164"/>
                  <a:gd name="T2" fmla="*/ 27 w 34"/>
                  <a:gd name="T3" fmla="*/ 47 h 164"/>
                  <a:gd name="T4" fmla="*/ 34 w 34"/>
                  <a:gd name="T5" fmla="*/ 65 h 164"/>
                  <a:gd name="T6" fmla="*/ 31 w 34"/>
                  <a:gd name="T7" fmla="*/ 84 h 164"/>
                  <a:gd name="T8" fmla="*/ 24 w 34"/>
                  <a:gd name="T9" fmla="*/ 124 h 164"/>
                  <a:gd name="T10" fmla="*/ 21 w 34"/>
                  <a:gd name="T11" fmla="*/ 136 h 164"/>
                  <a:gd name="T12" fmla="*/ 15 w 34"/>
                  <a:gd name="T13" fmla="*/ 149 h 164"/>
                  <a:gd name="T14" fmla="*/ 6 w 34"/>
                  <a:gd name="T15" fmla="*/ 161 h 164"/>
                  <a:gd name="T16" fmla="*/ 3 w 34"/>
                  <a:gd name="T17" fmla="*/ 164 h 164"/>
                  <a:gd name="T18" fmla="*/ 0 w 34"/>
                  <a:gd name="T19" fmla="*/ 158 h 164"/>
                  <a:gd name="T20" fmla="*/ 6 w 34"/>
                  <a:gd name="T21" fmla="*/ 152 h 164"/>
                  <a:gd name="T22" fmla="*/ 9 w 34"/>
                  <a:gd name="T23" fmla="*/ 146 h 164"/>
                  <a:gd name="T24" fmla="*/ 18 w 34"/>
                  <a:gd name="T25" fmla="*/ 121 h 164"/>
                  <a:gd name="T26" fmla="*/ 18 w 34"/>
                  <a:gd name="T27" fmla="*/ 102 h 164"/>
                  <a:gd name="T28" fmla="*/ 24 w 34"/>
                  <a:gd name="T29" fmla="*/ 81 h 164"/>
                  <a:gd name="T30" fmla="*/ 27 w 34"/>
                  <a:gd name="T31" fmla="*/ 65 h 164"/>
                  <a:gd name="T32" fmla="*/ 21 w 34"/>
                  <a:gd name="T33" fmla="*/ 47 h 164"/>
                  <a:gd name="T34" fmla="*/ 21 w 34"/>
                  <a:gd name="T35" fmla="*/ 25 h 164"/>
                  <a:gd name="T36" fmla="*/ 15 w 34"/>
                  <a:gd name="T37" fmla="*/ 4 h 164"/>
                  <a:gd name="T38" fmla="*/ 18 w 34"/>
                  <a:gd name="T39" fmla="*/ 0 h 164"/>
                  <a:gd name="T40" fmla="*/ 21 w 34"/>
                  <a:gd name="T41" fmla="*/ 0 h 164"/>
                  <a:gd name="T42" fmla="*/ 21 w 34"/>
                  <a:gd name="T43" fmla="*/ 0 h 164"/>
                  <a:gd name="T44" fmla="*/ 21 w 34"/>
                  <a:gd name="T45" fmla="*/ 0 h 16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4"/>
                  <a:gd name="T70" fmla="*/ 0 h 164"/>
                  <a:gd name="T71" fmla="*/ 34 w 34"/>
                  <a:gd name="T72" fmla="*/ 164 h 16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4" h="164">
                    <a:moveTo>
                      <a:pt x="21" y="0"/>
                    </a:moveTo>
                    <a:lnTo>
                      <a:pt x="27" y="47"/>
                    </a:lnTo>
                    <a:lnTo>
                      <a:pt x="34" y="65"/>
                    </a:lnTo>
                    <a:lnTo>
                      <a:pt x="31" y="84"/>
                    </a:lnTo>
                    <a:lnTo>
                      <a:pt x="24" y="124"/>
                    </a:lnTo>
                    <a:lnTo>
                      <a:pt x="21" y="136"/>
                    </a:lnTo>
                    <a:lnTo>
                      <a:pt x="15" y="149"/>
                    </a:lnTo>
                    <a:lnTo>
                      <a:pt x="6" y="161"/>
                    </a:lnTo>
                    <a:lnTo>
                      <a:pt x="3" y="164"/>
                    </a:lnTo>
                    <a:lnTo>
                      <a:pt x="0" y="158"/>
                    </a:lnTo>
                    <a:lnTo>
                      <a:pt x="6" y="152"/>
                    </a:lnTo>
                    <a:lnTo>
                      <a:pt x="9" y="146"/>
                    </a:lnTo>
                    <a:lnTo>
                      <a:pt x="18" y="121"/>
                    </a:lnTo>
                    <a:lnTo>
                      <a:pt x="18" y="102"/>
                    </a:lnTo>
                    <a:lnTo>
                      <a:pt x="24" y="81"/>
                    </a:lnTo>
                    <a:lnTo>
                      <a:pt x="27" y="65"/>
                    </a:lnTo>
                    <a:lnTo>
                      <a:pt x="21" y="47"/>
                    </a:lnTo>
                    <a:lnTo>
                      <a:pt x="21" y="25"/>
                    </a:lnTo>
                    <a:lnTo>
                      <a:pt x="15" y="4"/>
                    </a:lnTo>
                    <a:lnTo>
                      <a:pt x="18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8" name="Freeform 106"/>
              <p:cNvSpPr>
                <a:spLocks/>
              </p:cNvSpPr>
              <p:nvPr/>
            </p:nvSpPr>
            <p:spPr bwMode="auto">
              <a:xfrm>
                <a:off x="2291" y="1212"/>
                <a:ext cx="74" cy="37"/>
              </a:xfrm>
              <a:custGeom>
                <a:avLst/>
                <a:gdLst>
                  <a:gd name="T0" fmla="*/ 3 w 74"/>
                  <a:gd name="T1" fmla="*/ 0 h 37"/>
                  <a:gd name="T2" fmla="*/ 16 w 74"/>
                  <a:gd name="T3" fmla="*/ 7 h 37"/>
                  <a:gd name="T4" fmla="*/ 25 w 74"/>
                  <a:gd name="T5" fmla="*/ 13 h 37"/>
                  <a:gd name="T6" fmla="*/ 37 w 74"/>
                  <a:gd name="T7" fmla="*/ 19 h 37"/>
                  <a:gd name="T8" fmla="*/ 50 w 74"/>
                  <a:gd name="T9" fmla="*/ 25 h 37"/>
                  <a:gd name="T10" fmla="*/ 71 w 74"/>
                  <a:gd name="T11" fmla="*/ 28 h 37"/>
                  <a:gd name="T12" fmla="*/ 74 w 74"/>
                  <a:gd name="T13" fmla="*/ 31 h 37"/>
                  <a:gd name="T14" fmla="*/ 71 w 74"/>
                  <a:gd name="T15" fmla="*/ 34 h 37"/>
                  <a:gd name="T16" fmla="*/ 68 w 74"/>
                  <a:gd name="T17" fmla="*/ 37 h 37"/>
                  <a:gd name="T18" fmla="*/ 47 w 74"/>
                  <a:gd name="T19" fmla="*/ 31 h 37"/>
                  <a:gd name="T20" fmla="*/ 25 w 74"/>
                  <a:gd name="T21" fmla="*/ 19 h 37"/>
                  <a:gd name="T22" fmla="*/ 19 w 74"/>
                  <a:gd name="T23" fmla="*/ 16 h 37"/>
                  <a:gd name="T24" fmla="*/ 13 w 74"/>
                  <a:gd name="T25" fmla="*/ 10 h 37"/>
                  <a:gd name="T26" fmla="*/ 6 w 74"/>
                  <a:gd name="T27" fmla="*/ 7 h 37"/>
                  <a:gd name="T28" fmla="*/ 0 w 74"/>
                  <a:gd name="T29" fmla="*/ 3 h 37"/>
                  <a:gd name="T30" fmla="*/ 0 w 74"/>
                  <a:gd name="T31" fmla="*/ 0 h 37"/>
                  <a:gd name="T32" fmla="*/ 3 w 74"/>
                  <a:gd name="T33" fmla="*/ 0 h 37"/>
                  <a:gd name="T34" fmla="*/ 3 w 74"/>
                  <a:gd name="T35" fmla="*/ 0 h 37"/>
                  <a:gd name="T36" fmla="*/ 3 w 74"/>
                  <a:gd name="T37" fmla="*/ 0 h 3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4"/>
                  <a:gd name="T58" fmla="*/ 0 h 37"/>
                  <a:gd name="T59" fmla="*/ 74 w 74"/>
                  <a:gd name="T60" fmla="*/ 37 h 3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4" h="37">
                    <a:moveTo>
                      <a:pt x="3" y="0"/>
                    </a:moveTo>
                    <a:lnTo>
                      <a:pt x="16" y="7"/>
                    </a:lnTo>
                    <a:lnTo>
                      <a:pt x="25" y="13"/>
                    </a:lnTo>
                    <a:lnTo>
                      <a:pt x="37" y="19"/>
                    </a:lnTo>
                    <a:lnTo>
                      <a:pt x="50" y="25"/>
                    </a:lnTo>
                    <a:lnTo>
                      <a:pt x="71" y="28"/>
                    </a:lnTo>
                    <a:lnTo>
                      <a:pt x="74" y="31"/>
                    </a:lnTo>
                    <a:lnTo>
                      <a:pt x="71" y="34"/>
                    </a:lnTo>
                    <a:lnTo>
                      <a:pt x="68" y="37"/>
                    </a:lnTo>
                    <a:lnTo>
                      <a:pt x="47" y="31"/>
                    </a:lnTo>
                    <a:lnTo>
                      <a:pt x="25" y="19"/>
                    </a:lnTo>
                    <a:lnTo>
                      <a:pt x="19" y="16"/>
                    </a:lnTo>
                    <a:lnTo>
                      <a:pt x="13" y="10"/>
                    </a:lnTo>
                    <a:lnTo>
                      <a:pt x="6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39" name="Freeform 107"/>
              <p:cNvSpPr>
                <a:spLocks/>
              </p:cNvSpPr>
              <p:nvPr/>
            </p:nvSpPr>
            <p:spPr bwMode="auto">
              <a:xfrm>
                <a:off x="2297" y="1228"/>
                <a:ext cx="53" cy="49"/>
              </a:xfrm>
              <a:custGeom>
                <a:avLst/>
                <a:gdLst>
                  <a:gd name="T0" fmla="*/ 3 w 53"/>
                  <a:gd name="T1" fmla="*/ 0 h 49"/>
                  <a:gd name="T2" fmla="*/ 13 w 53"/>
                  <a:gd name="T3" fmla="*/ 9 h 49"/>
                  <a:gd name="T4" fmla="*/ 22 w 53"/>
                  <a:gd name="T5" fmla="*/ 21 h 49"/>
                  <a:gd name="T6" fmla="*/ 28 w 53"/>
                  <a:gd name="T7" fmla="*/ 31 h 49"/>
                  <a:gd name="T8" fmla="*/ 34 w 53"/>
                  <a:gd name="T9" fmla="*/ 37 h 49"/>
                  <a:gd name="T10" fmla="*/ 41 w 53"/>
                  <a:gd name="T11" fmla="*/ 40 h 49"/>
                  <a:gd name="T12" fmla="*/ 50 w 53"/>
                  <a:gd name="T13" fmla="*/ 43 h 49"/>
                  <a:gd name="T14" fmla="*/ 53 w 53"/>
                  <a:gd name="T15" fmla="*/ 49 h 49"/>
                  <a:gd name="T16" fmla="*/ 50 w 53"/>
                  <a:gd name="T17" fmla="*/ 49 h 49"/>
                  <a:gd name="T18" fmla="*/ 37 w 53"/>
                  <a:gd name="T19" fmla="*/ 49 h 49"/>
                  <a:gd name="T20" fmla="*/ 28 w 53"/>
                  <a:gd name="T21" fmla="*/ 37 h 49"/>
                  <a:gd name="T22" fmla="*/ 19 w 53"/>
                  <a:gd name="T23" fmla="*/ 28 h 49"/>
                  <a:gd name="T24" fmla="*/ 16 w 53"/>
                  <a:gd name="T25" fmla="*/ 21 h 49"/>
                  <a:gd name="T26" fmla="*/ 10 w 53"/>
                  <a:gd name="T27" fmla="*/ 15 h 49"/>
                  <a:gd name="T28" fmla="*/ 7 w 53"/>
                  <a:gd name="T29" fmla="*/ 6 h 49"/>
                  <a:gd name="T30" fmla="*/ 0 w 53"/>
                  <a:gd name="T31" fmla="*/ 0 h 49"/>
                  <a:gd name="T32" fmla="*/ 0 w 53"/>
                  <a:gd name="T33" fmla="*/ 0 h 49"/>
                  <a:gd name="T34" fmla="*/ 3 w 53"/>
                  <a:gd name="T35" fmla="*/ 0 h 49"/>
                  <a:gd name="T36" fmla="*/ 3 w 53"/>
                  <a:gd name="T37" fmla="*/ 0 h 49"/>
                  <a:gd name="T38" fmla="*/ 3 w 53"/>
                  <a:gd name="T39" fmla="*/ 0 h 4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3"/>
                  <a:gd name="T61" fmla="*/ 0 h 49"/>
                  <a:gd name="T62" fmla="*/ 53 w 53"/>
                  <a:gd name="T63" fmla="*/ 49 h 4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3" h="49">
                    <a:moveTo>
                      <a:pt x="3" y="0"/>
                    </a:moveTo>
                    <a:lnTo>
                      <a:pt x="13" y="9"/>
                    </a:lnTo>
                    <a:lnTo>
                      <a:pt x="22" y="21"/>
                    </a:lnTo>
                    <a:lnTo>
                      <a:pt x="28" y="31"/>
                    </a:lnTo>
                    <a:lnTo>
                      <a:pt x="34" y="37"/>
                    </a:lnTo>
                    <a:lnTo>
                      <a:pt x="41" y="40"/>
                    </a:lnTo>
                    <a:lnTo>
                      <a:pt x="50" y="43"/>
                    </a:lnTo>
                    <a:lnTo>
                      <a:pt x="53" y="49"/>
                    </a:lnTo>
                    <a:lnTo>
                      <a:pt x="50" y="49"/>
                    </a:lnTo>
                    <a:lnTo>
                      <a:pt x="37" y="49"/>
                    </a:lnTo>
                    <a:lnTo>
                      <a:pt x="28" y="37"/>
                    </a:lnTo>
                    <a:lnTo>
                      <a:pt x="19" y="28"/>
                    </a:lnTo>
                    <a:lnTo>
                      <a:pt x="16" y="21"/>
                    </a:lnTo>
                    <a:lnTo>
                      <a:pt x="10" y="15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0" name="Freeform 108"/>
              <p:cNvSpPr>
                <a:spLocks/>
              </p:cNvSpPr>
              <p:nvPr/>
            </p:nvSpPr>
            <p:spPr bwMode="auto">
              <a:xfrm>
                <a:off x="2266" y="1219"/>
                <a:ext cx="47" cy="83"/>
              </a:xfrm>
              <a:custGeom>
                <a:avLst/>
                <a:gdLst>
                  <a:gd name="T0" fmla="*/ 7 w 47"/>
                  <a:gd name="T1" fmla="*/ 3 h 83"/>
                  <a:gd name="T2" fmla="*/ 10 w 47"/>
                  <a:gd name="T3" fmla="*/ 9 h 83"/>
                  <a:gd name="T4" fmla="*/ 13 w 47"/>
                  <a:gd name="T5" fmla="*/ 15 h 83"/>
                  <a:gd name="T6" fmla="*/ 22 w 47"/>
                  <a:gd name="T7" fmla="*/ 30 h 83"/>
                  <a:gd name="T8" fmla="*/ 31 w 47"/>
                  <a:gd name="T9" fmla="*/ 49 h 83"/>
                  <a:gd name="T10" fmla="*/ 34 w 47"/>
                  <a:gd name="T11" fmla="*/ 58 h 83"/>
                  <a:gd name="T12" fmla="*/ 41 w 47"/>
                  <a:gd name="T13" fmla="*/ 68 h 83"/>
                  <a:gd name="T14" fmla="*/ 47 w 47"/>
                  <a:gd name="T15" fmla="*/ 80 h 83"/>
                  <a:gd name="T16" fmla="*/ 44 w 47"/>
                  <a:gd name="T17" fmla="*/ 83 h 83"/>
                  <a:gd name="T18" fmla="*/ 41 w 47"/>
                  <a:gd name="T19" fmla="*/ 83 h 83"/>
                  <a:gd name="T20" fmla="*/ 31 w 47"/>
                  <a:gd name="T21" fmla="*/ 74 h 83"/>
                  <a:gd name="T22" fmla="*/ 22 w 47"/>
                  <a:gd name="T23" fmla="*/ 52 h 83"/>
                  <a:gd name="T24" fmla="*/ 16 w 47"/>
                  <a:gd name="T25" fmla="*/ 34 h 83"/>
                  <a:gd name="T26" fmla="*/ 13 w 47"/>
                  <a:gd name="T27" fmla="*/ 24 h 83"/>
                  <a:gd name="T28" fmla="*/ 10 w 47"/>
                  <a:gd name="T29" fmla="*/ 18 h 83"/>
                  <a:gd name="T30" fmla="*/ 0 w 47"/>
                  <a:gd name="T31" fmla="*/ 3 h 83"/>
                  <a:gd name="T32" fmla="*/ 4 w 47"/>
                  <a:gd name="T33" fmla="*/ 0 h 83"/>
                  <a:gd name="T34" fmla="*/ 7 w 47"/>
                  <a:gd name="T35" fmla="*/ 3 h 83"/>
                  <a:gd name="T36" fmla="*/ 7 w 47"/>
                  <a:gd name="T37" fmla="*/ 3 h 83"/>
                  <a:gd name="T38" fmla="*/ 7 w 47"/>
                  <a:gd name="T39" fmla="*/ 3 h 8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7"/>
                  <a:gd name="T61" fmla="*/ 0 h 83"/>
                  <a:gd name="T62" fmla="*/ 47 w 47"/>
                  <a:gd name="T63" fmla="*/ 83 h 8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7" h="83">
                    <a:moveTo>
                      <a:pt x="7" y="3"/>
                    </a:moveTo>
                    <a:lnTo>
                      <a:pt x="10" y="9"/>
                    </a:lnTo>
                    <a:lnTo>
                      <a:pt x="13" y="15"/>
                    </a:lnTo>
                    <a:lnTo>
                      <a:pt x="22" y="30"/>
                    </a:lnTo>
                    <a:lnTo>
                      <a:pt x="31" y="49"/>
                    </a:lnTo>
                    <a:lnTo>
                      <a:pt x="34" y="58"/>
                    </a:lnTo>
                    <a:lnTo>
                      <a:pt x="41" y="68"/>
                    </a:lnTo>
                    <a:lnTo>
                      <a:pt x="47" y="80"/>
                    </a:lnTo>
                    <a:lnTo>
                      <a:pt x="44" y="83"/>
                    </a:lnTo>
                    <a:lnTo>
                      <a:pt x="41" y="83"/>
                    </a:lnTo>
                    <a:lnTo>
                      <a:pt x="31" y="74"/>
                    </a:lnTo>
                    <a:lnTo>
                      <a:pt x="22" y="52"/>
                    </a:lnTo>
                    <a:lnTo>
                      <a:pt x="16" y="34"/>
                    </a:lnTo>
                    <a:lnTo>
                      <a:pt x="13" y="24"/>
                    </a:lnTo>
                    <a:lnTo>
                      <a:pt x="10" y="18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1" name="Freeform 109"/>
              <p:cNvSpPr>
                <a:spLocks/>
              </p:cNvSpPr>
              <p:nvPr/>
            </p:nvSpPr>
            <p:spPr bwMode="auto">
              <a:xfrm>
                <a:off x="2316" y="1280"/>
                <a:ext cx="40" cy="44"/>
              </a:xfrm>
              <a:custGeom>
                <a:avLst/>
                <a:gdLst>
                  <a:gd name="T0" fmla="*/ 37 w 40"/>
                  <a:gd name="T1" fmla="*/ 3 h 44"/>
                  <a:gd name="T2" fmla="*/ 28 w 40"/>
                  <a:gd name="T3" fmla="*/ 13 h 44"/>
                  <a:gd name="T4" fmla="*/ 22 w 40"/>
                  <a:gd name="T5" fmla="*/ 25 h 44"/>
                  <a:gd name="T6" fmla="*/ 12 w 40"/>
                  <a:gd name="T7" fmla="*/ 34 h 44"/>
                  <a:gd name="T8" fmla="*/ 3 w 40"/>
                  <a:gd name="T9" fmla="*/ 44 h 44"/>
                  <a:gd name="T10" fmla="*/ 0 w 40"/>
                  <a:gd name="T11" fmla="*/ 44 h 44"/>
                  <a:gd name="T12" fmla="*/ 0 w 40"/>
                  <a:gd name="T13" fmla="*/ 41 h 44"/>
                  <a:gd name="T14" fmla="*/ 6 w 40"/>
                  <a:gd name="T15" fmla="*/ 28 h 44"/>
                  <a:gd name="T16" fmla="*/ 12 w 40"/>
                  <a:gd name="T17" fmla="*/ 19 h 44"/>
                  <a:gd name="T18" fmla="*/ 22 w 40"/>
                  <a:gd name="T19" fmla="*/ 7 h 44"/>
                  <a:gd name="T20" fmla="*/ 28 w 40"/>
                  <a:gd name="T21" fmla="*/ 3 h 44"/>
                  <a:gd name="T22" fmla="*/ 37 w 40"/>
                  <a:gd name="T23" fmla="*/ 0 h 44"/>
                  <a:gd name="T24" fmla="*/ 40 w 40"/>
                  <a:gd name="T25" fmla="*/ 0 h 44"/>
                  <a:gd name="T26" fmla="*/ 37 w 40"/>
                  <a:gd name="T27" fmla="*/ 3 h 44"/>
                  <a:gd name="T28" fmla="*/ 37 w 40"/>
                  <a:gd name="T29" fmla="*/ 3 h 44"/>
                  <a:gd name="T30" fmla="*/ 37 w 40"/>
                  <a:gd name="T31" fmla="*/ 3 h 4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0"/>
                  <a:gd name="T49" fmla="*/ 0 h 44"/>
                  <a:gd name="T50" fmla="*/ 40 w 40"/>
                  <a:gd name="T51" fmla="*/ 44 h 4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0" h="44">
                    <a:moveTo>
                      <a:pt x="37" y="3"/>
                    </a:moveTo>
                    <a:lnTo>
                      <a:pt x="28" y="13"/>
                    </a:lnTo>
                    <a:lnTo>
                      <a:pt x="22" y="25"/>
                    </a:lnTo>
                    <a:lnTo>
                      <a:pt x="12" y="34"/>
                    </a:lnTo>
                    <a:lnTo>
                      <a:pt x="3" y="44"/>
                    </a:lnTo>
                    <a:lnTo>
                      <a:pt x="0" y="44"/>
                    </a:lnTo>
                    <a:lnTo>
                      <a:pt x="0" y="41"/>
                    </a:lnTo>
                    <a:lnTo>
                      <a:pt x="6" y="28"/>
                    </a:lnTo>
                    <a:lnTo>
                      <a:pt x="12" y="19"/>
                    </a:lnTo>
                    <a:lnTo>
                      <a:pt x="22" y="7"/>
                    </a:lnTo>
                    <a:lnTo>
                      <a:pt x="28" y="3"/>
                    </a:lnTo>
                    <a:lnTo>
                      <a:pt x="37" y="0"/>
                    </a:lnTo>
                    <a:lnTo>
                      <a:pt x="40" y="0"/>
                    </a:lnTo>
                    <a:lnTo>
                      <a:pt x="3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2" name="Freeform 110"/>
              <p:cNvSpPr>
                <a:spLocks/>
              </p:cNvSpPr>
              <p:nvPr/>
            </p:nvSpPr>
            <p:spPr bwMode="auto">
              <a:xfrm>
                <a:off x="2353" y="1243"/>
                <a:ext cx="12" cy="37"/>
              </a:xfrm>
              <a:custGeom>
                <a:avLst/>
                <a:gdLst>
                  <a:gd name="T0" fmla="*/ 0 w 12"/>
                  <a:gd name="T1" fmla="*/ 34 h 37"/>
                  <a:gd name="T2" fmla="*/ 0 w 12"/>
                  <a:gd name="T3" fmla="*/ 19 h 37"/>
                  <a:gd name="T4" fmla="*/ 9 w 12"/>
                  <a:gd name="T5" fmla="*/ 3 h 37"/>
                  <a:gd name="T6" fmla="*/ 12 w 12"/>
                  <a:gd name="T7" fmla="*/ 0 h 37"/>
                  <a:gd name="T8" fmla="*/ 12 w 12"/>
                  <a:gd name="T9" fmla="*/ 3 h 37"/>
                  <a:gd name="T10" fmla="*/ 9 w 12"/>
                  <a:gd name="T11" fmla="*/ 22 h 37"/>
                  <a:gd name="T12" fmla="*/ 3 w 12"/>
                  <a:gd name="T13" fmla="*/ 34 h 37"/>
                  <a:gd name="T14" fmla="*/ 3 w 12"/>
                  <a:gd name="T15" fmla="*/ 37 h 37"/>
                  <a:gd name="T16" fmla="*/ 0 w 12"/>
                  <a:gd name="T17" fmla="*/ 34 h 37"/>
                  <a:gd name="T18" fmla="*/ 0 w 12"/>
                  <a:gd name="T19" fmla="*/ 34 h 37"/>
                  <a:gd name="T20" fmla="*/ 0 w 12"/>
                  <a:gd name="T21" fmla="*/ 34 h 3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"/>
                  <a:gd name="T34" fmla="*/ 0 h 37"/>
                  <a:gd name="T35" fmla="*/ 12 w 12"/>
                  <a:gd name="T36" fmla="*/ 37 h 3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" h="37">
                    <a:moveTo>
                      <a:pt x="0" y="34"/>
                    </a:moveTo>
                    <a:lnTo>
                      <a:pt x="0" y="19"/>
                    </a:lnTo>
                    <a:lnTo>
                      <a:pt x="9" y="3"/>
                    </a:lnTo>
                    <a:lnTo>
                      <a:pt x="12" y="0"/>
                    </a:lnTo>
                    <a:lnTo>
                      <a:pt x="12" y="3"/>
                    </a:lnTo>
                    <a:lnTo>
                      <a:pt x="9" y="22"/>
                    </a:lnTo>
                    <a:lnTo>
                      <a:pt x="3" y="34"/>
                    </a:lnTo>
                    <a:lnTo>
                      <a:pt x="3" y="37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3" name="Freeform 111"/>
              <p:cNvSpPr>
                <a:spLocks/>
              </p:cNvSpPr>
              <p:nvPr/>
            </p:nvSpPr>
            <p:spPr bwMode="auto">
              <a:xfrm>
                <a:off x="2232" y="1194"/>
                <a:ext cx="31" cy="31"/>
              </a:xfrm>
              <a:custGeom>
                <a:avLst/>
                <a:gdLst>
                  <a:gd name="T0" fmla="*/ 31 w 31"/>
                  <a:gd name="T1" fmla="*/ 3 h 31"/>
                  <a:gd name="T2" fmla="*/ 13 w 31"/>
                  <a:gd name="T3" fmla="*/ 15 h 31"/>
                  <a:gd name="T4" fmla="*/ 4 w 31"/>
                  <a:gd name="T5" fmla="*/ 28 h 31"/>
                  <a:gd name="T6" fmla="*/ 0 w 31"/>
                  <a:gd name="T7" fmla="*/ 31 h 31"/>
                  <a:gd name="T8" fmla="*/ 0 w 31"/>
                  <a:gd name="T9" fmla="*/ 28 h 31"/>
                  <a:gd name="T10" fmla="*/ 10 w 31"/>
                  <a:gd name="T11" fmla="*/ 12 h 31"/>
                  <a:gd name="T12" fmla="*/ 13 w 31"/>
                  <a:gd name="T13" fmla="*/ 9 h 31"/>
                  <a:gd name="T14" fmla="*/ 19 w 31"/>
                  <a:gd name="T15" fmla="*/ 6 h 31"/>
                  <a:gd name="T16" fmla="*/ 28 w 31"/>
                  <a:gd name="T17" fmla="*/ 0 h 31"/>
                  <a:gd name="T18" fmla="*/ 31 w 31"/>
                  <a:gd name="T19" fmla="*/ 0 h 31"/>
                  <a:gd name="T20" fmla="*/ 31 w 31"/>
                  <a:gd name="T21" fmla="*/ 3 h 31"/>
                  <a:gd name="T22" fmla="*/ 31 w 31"/>
                  <a:gd name="T23" fmla="*/ 3 h 31"/>
                  <a:gd name="T24" fmla="*/ 31 w 31"/>
                  <a:gd name="T25" fmla="*/ 3 h 3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31"/>
                  <a:gd name="T41" fmla="*/ 31 w 31"/>
                  <a:gd name="T42" fmla="*/ 31 h 3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31">
                    <a:moveTo>
                      <a:pt x="31" y="3"/>
                    </a:moveTo>
                    <a:lnTo>
                      <a:pt x="13" y="15"/>
                    </a:lnTo>
                    <a:lnTo>
                      <a:pt x="4" y="28"/>
                    </a:lnTo>
                    <a:lnTo>
                      <a:pt x="0" y="31"/>
                    </a:lnTo>
                    <a:lnTo>
                      <a:pt x="0" y="28"/>
                    </a:lnTo>
                    <a:lnTo>
                      <a:pt x="10" y="12"/>
                    </a:lnTo>
                    <a:lnTo>
                      <a:pt x="13" y="9"/>
                    </a:lnTo>
                    <a:lnTo>
                      <a:pt x="19" y="6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4" name="Freeform 112"/>
              <p:cNvSpPr>
                <a:spLocks/>
              </p:cNvSpPr>
              <p:nvPr/>
            </p:nvSpPr>
            <p:spPr bwMode="auto">
              <a:xfrm>
                <a:off x="2038" y="1203"/>
                <a:ext cx="194" cy="244"/>
              </a:xfrm>
              <a:custGeom>
                <a:avLst/>
                <a:gdLst>
                  <a:gd name="T0" fmla="*/ 194 w 194"/>
                  <a:gd name="T1" fmla="*/ 3 h 244"/>
                  <a:gd name="T2" fmla="*/ 179 w 194"/>
                  <a:gd name="T3" fmla="*/ 12 h 244"/>
                  <a:gd name="T4" fmla="*/ 164 w 194"/>
                  <a:gd name="T5" fmla="*/ 19 h 244"/>
                  <a:gd name="T6" fmla="*/ 148 w 194"/>
                  <a:gd name="T7" fmla="*/ 25 h 244"/>
                  <a:gd name="T8" fmla="*/ 142 w 194"/>
                  <a:gd name="T9" fmla="*/ 28 h 244"/>
                  <a:gd name="T10" fmla="*/ 136 w 194"/>
                  <a:gd name="T11" fmla="*/ 34 h 244"/>
                  <a:gd name="T12" fmla="*/ 120 w 194"/>
                  <a:gd name="T13" fmla="*/ 37 h 244"/>
                  <a:gd name="T14" fmla="*/ 114 w 194"/>
                  <a:gd name="T15" fmla="*/ 40 h 244"/>
                  <a:gd name="T16" fmla="*/ 108 w 194"/>
                  <a:gd name="T17" fmla="*/ 46 h 244"/>
                  <a:gd name="T18" fmla="*/ 105 w 194"/>
                  <a:gd name="T19" fmla="*/ 53 h 244"/>
                  <a:gd name="T20" fmla="*/ 99 w 194"/>
                  <a:gd name="T21" fmla="*/ 56 h 244"/>
                  <a:gd name="T22" fmla="*/ 93 w 194"/>
                  <a:gd name="T23" fmla="*/ 62 h 244"/>
                  <a:gd name="T24" fmla="*/ 86 w 194"/>
                  <a:gd name="T25" fmla="*/ 65 h 244"/>
                  <a:gd name="T26" fmla="*/ 80 w 194"/>
                  <a:gd name="T27" fmla="*/ 71 h 244"/>
                  <a:gd name="T28" fmla="*/ 74 w 194"/>
                  <a:gd name="T29" fmla="*/ 74 h 244"/>
                  <a:gd name="T30" fmla="*/ 65 w 194"/>
                  <a:gd name="T31" fmla="*/ 84 h 244"/>
                  <a:gd name="T32" fmla="*/ 62 w 194"/>
                  <a:gd name="T33" fmla="*/ 96 h 244"/>
                  <a:gd name="T34" fmla="*/ 59 w 194"/>
                  <a:gd name="T35" fmla="*/ 121 h 244"/>
                  <a:gd name="T36" fmla="*/ 55 w 194"/>
                  <a:gd name="T37" fmla="*/ 133 h 244"/>
                  <a:gd name="T38" fmla="*/ 49 w 194"/>
                  <a:gd name="T39" fmla="*/ 161 h 244"/>
                  <a:gd name="T40" fmla="*/ 43 w 194"/>
                  <a:gd name="T41" fmla="*/ 173 h 244"/>
                  <a:gd name="T42" fmla="*/ 40 w 194"/>
                  <a:gd name="T43" fmla="*/ 182 h 244"/>
                  <a:gd name="T44" fmla="*/ 37 w 194"/>
                  <a:gd name="T45" fmla="*/ 192 h 244"/>
                  <a:gd name="T46" fmla="*/ 31 w 194"/>
                  <a:gd name="T47" fmla="*/ 201 h 244"/>
                  <a:gd name="T48" fmla="*/ 25 w 194"/>
                  <a:gd name="T49" fmla="*/ 210 h 244"/>
                  <a:gd name="T50" fmla="*/ 21 w 194"/>
                  <a:gd name="T51" fmla="*/ 219 h 244"/>
                  <a:gd name="T52" fmla="*/ 9 w 194"/>
                  <a:gd name="T53" fmla="*/ 241 h 244"/>
                  <a:gd name="T54" fmla="*/ 6 w 194"/>
                  <a:gd name="T55" fmla="*/ 244 h 244"/>
                  <a:gd name="T56" fmla="*/ 3 w 194"/>
                  <a:gd name="T57" fmla="*/ 244 h 244"/>
                  <a:gd name="T58" fmla="*/ 0 w 194"/>
                  <a:gd name="T59" fmla="*/ 235 h 244"/>
                  <a:gd name="T60" fmla="*/ 3 w 194"/>
                  <a:gd name="T61" fmla="*/ 226 h 244"/>
                  <a:gd name="T62" fmla="*/ 9 w 194"/>
                  <a:gd name="T63" fmla="*/ 216 h 244"/>
                  <a:gd name="T64" fmla="*/ 15 w 194"/>
                  <a:gd name="T65" fmla="*/ 207 h 244"/>
                  <a:gd name="T66" fmla="*/ 18 w 194"/>
                  <a:gd name="T67" fmla="*/ 198 h 244"/>
                  <a:gd name="T68" fmla="*/ 31 w 194"/>
                  <a:gd name="T69" fmla="*/ 179 h 244"/>
                  <a:gd name="T70" fmla="*/ 37 w 194"/>
                  <a:gd name="T71" fmla="*/ 158 h 244"/>
                  <a:gd name="T72" fmla="*/ 43 w 194"/>
                  <a:gd name="T73" fmla="*/ 130 h 244"/>
                  <a:gd name="T74" fmla="*/ 43 w 194"/>
                  <a:gd name="T75" fmla="*/ 118 h 244"/>
                  <a:gd name="T76" fmla="*/ 46 w 194"/>
                  <a:gd name="T77" fmla="*/ 105 h 244"/>
                  <a:gd name="T78" fmla="*/ 52 w 194"/>
                  <a:gd name="T79" fmla="*/ 93 h 244"/>
                  <a:gd name="T80" fmla="*/ 62 w 194"/>
                  <a:gd name="T81" fmla="*/ 80 h 244"/>
                  <a:gd name="T82" fmla="*/ 65 w 194"/>
                  <a:gd name="T83" fmla="*/ 77 h 244"/>
                  <a:gd name="T84" fmla="*/ 71 w 194"/>
                  <a:gd name="T85" fmla="*/ 71 h 244"/>
                  <a:gd name="T86" fmla="*/ 77 w 194"/>
                  <a:gd name="T87" fmla="*/ 68 h 244"/>
                  <a:gd name="T88" fmla="*/ 83 w 194"/>
                  <a:gd name="T89" fmla="*/ 62 h 244"/>
                  <a:gd name="T90" fmla="*/ 89 w 194"/>
                  <a:gd name="T91" fmla="*/ 59 h 244"/>
                  <a:gd name="T92" fmla="*/ 96 w 194"/>
                  <a:gd name="T93" fmla="*/ 53 h 244"/>
                  <a:gd name="T94" fmla="*/ 102 w 194"/>
                  <a:gd name="T95" fmla="*/ 50 h 244"/>
                  <a:gd name="T96" fmla="*/ 108 w 194"/>
                  <a:gd name="T97" fmla="*/ 43 h 244"/>
                  <a:gd name="T98" fmla="*/ 111 w 194"/>
                  <a:gd name="T99" fmla="*/ 37 h 244"/>
                  <a:gd name="T100" fmla="*/ 117 w 194"/>
                  <a:gd name="T101" fmla="*/ 34 h 244"/>
                  <a:gd name="T102" fmla="*/ 123 w 194"/>
                  <a:gd name="T103" fmla="*/ 28 h 244"/>
                  <a:gd name="T104" fmla="*/ 133 w 194"/>
                  <a:gd name="T105" fmla="*/ 22 h 244"/>
                  <a:gd name="T106" fmla="*/ 145 w 194"/>
                  <a:gd name="T107" fmla="*/ 16 h 244"/>
                  <a:gd name="T108" fmla="*/ 151 w 194"/>
                  <a:gd name="T109" fmla="*/ 12 h 244"/>
                  <a:gd name="T110" fmla="*/ 157 w 194"/>
                  <a:gd name="T111" fmla="*/ 9 h 244"/>
                  <a:gd name="T112" fmla="*/ 191 w 194"/>
                  <a:gd name="T113" fmla="*/ 0 h 244"/>
                  <a:gd name="T114" fmla="*/ 194 w 194"/>
                  <a:gd name="T115" fmla="*/ 3 h 244"/>
                  <a:gd name="T116" fmla="*/ 194 w 194"/>
                  <a:gd name="T117" fmla="*/ 3 h 244"/>
                  <a:gd name="T118" fmla="*/ 194 w 194"/>
                  <a:gd name="T119" fmla="*/ 3 h 244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4"/>
                  <a:gd name="T181" fmla="*/ 0 h 244"/>
                  <a:gd name="T182" fmla="*/ 194 w 194"/>
                  <a:gd name="T183" fmla="*/ 244 h 244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4" h="244">
                    <a:moveTo>
                      <a:pt x="194" y="3"/>
                    </a:moveTo>
                    <a:lnTo>
                      <a:pt x="179" y="12"/>
                    </a:lnTo>
                    <a:lnTo>
                      <a:pt x="164" y="19"/>
                    </a:lnTo>
                    <a:lnTo>
                      <a:pt x="148" y="25"/>
                    </a:lnTo>
                    <a:lnTo>
                      <a:pt x="142" y="28"/>
                    </a:lnTo>
                    <a:lnTo>
                      <a:pt x="136" y="34"/>
                    </a:lnTo>
                    <a:lnTo>
                      <a:pt x="120" y="37"/>
                    </a:lnTo>
                    <a:lnTo>
                      <a:pt x="114" y="40"/>
                    </a:lnTo>
                    <a:lnTo>
                      <a:pt x="108" y="46"/>
                    </a:lnTo>
                    <a:lnTo>
                      <a:pt x="105" y="53"/>
                    </a:lnTo>
                    <a:lnTo>
                      <a:pt x="99" y="56"/>
                    </a:lnTo>
                    <a:lnTo>
                      <a:pt x="93" y="62"/>
                    </a:lnTo>
                    <a:lnTo>
                      <a:pt x="86" y="65"/>
                    </a:lnTo>
                    <a:lnTo>
                      <a:pt x="80" y="71"/>
                    </a:lnTo>
                    <a:lnTo>
                      <a:pt x="74" y="74"/>
                    </a:lnTo>
                    <a:lnTo>
                      <a:pt x="65" y="84"/>
                    </a:lnTo>
                    <a:lnTo>
                      <a:pt x="62" y="96"/>
                    </a:lnTo>
                    <a:lnTo>
                      <a:pt x="59" y="121"/>
                    </a:lnTo>
                    <a:lnTo>
                      <a:pt x="55" y="133"/>
                    </a:lnTo>
                    <a:lnTo>
                      <a:pt x="49" y="161"/>
                    </a:lnTo>
                    <a:lnTo>
                      <a:pt x="43" y="173"/>
                    </a:lnTo>
                    <a:lnTo>
                      <a:pt x="40" y="182"/>
                    </a:lnTo>
                    <a:lnTo>
                      <a:pt x="37" y="192"/>
                    </a:lnTo>
                    <a:lnTo>
                      <a:pt x="31" y="201"/>
                    </a:lnTo>
                    <a:lnTo>
                      <a:pt x="25" y="210"/>
                    </a:lnTo>
                    <a:lnTo>
                      <a:pt x="21" y="219"/>
                    </a:lnTo>
                    <a:lnTo>
                      <a:pt x="9" y="241"/>
                    </a:lnTo>
                    <a:lnTo>
                      <a:pt x="6" y="244"/>
                    </a:lnTo>
                    <a:lnTo>
                      <a:pt x="3" y="244"/>
                    </a:lnTo>
                    <a:lnTo>
                      <a:pt x="0" y="235"/>
                    </a:lnTo>
                    <a:lnTo>
                      <a:pt x="3" y="226"/>
                    </a:lnTo>
                    <a:lnTo>
                      <a:pt x="9" y="216"/>
                    </a:lnTo>
                    <a:lnTo>
                      <a:pt x="15" y="207"/>
                    </a:lnTo>
                    <a:lnTo>
                      <a:pt x="18" y="198"/>
                    </a:lnTo>
                    <a:lnTo>
                      <a:pt x="31" y="179"/>
                    </a:lnTo>
                    <a:lnTo>
                      <a:pt x="37" y="158"/>
                    </a:lnTo>
                    <a:lnTo>
                      <a:pt x="43" y="130"/>
                    </a:lnTo>
                    <a:lnTo>
                      <a:pt x="43" y="118"/>
                    </a:lnTo>
                    <a:lnTo>
                      <a:pt x="46" y="105"/>
                    </a:lnTo>
                    <a:lnTo>
                      <a:pt x="52" y="93"/>
                    </a:lnTo>
                    <a:lnTo>
                      <a:pt x="62" y="80"/>
                    </a:lnTo>
                    <a:lnTo>
                      <a:pt x="65" y="77"/>
                    </a:lnTo>
                    <a:lnTo>
                      <a:pt x="71" y="71"/>
                    </a:lnTo>
                    <a:lnTo>
                      <a:pt x="77" y="68"/>
                    </a:lnTo>
                    <a:lnTo>
                      <a:pt x="83" y="62"/>
                    </a:lnTo>
                    <a:lnTo>
                      <a:pt x="89" y="59"/>
                    </a:lnTo>
                    <a:lnTo>
                      <a:pt x="96" y="53"/>
                    </a:lnTo>
                    <a:lnTo>
                      <a:pt x="102" y="50"/>
                    </a:lnTo>
                    <a:lnTo>
                      <a:pt x="108" y="43"/>
                    </a:lnTo>
                    <a:lnTo>
                      <a:pt x="111" y="37"/>
                    </a:lnTo>
                    <a:lnTo>
                      <a:pt x="117" y="34"/>
                    </a:lnTo>
                    <a:lnTo>
                      <a:pt x="123" y="28"/>
                    </a:lnTo>
                    <a:lnTo>
                      <a:pt x="133" y="22"/>
                    </a:lnTo>
                    <a:lnTo>
                      <a:pt x="145" y="16"/>
                    </a:lnTo>
                    <a:lnTo>
                      <a:pt x="151" y="12"/>
                    </a:lnTo>
                    <a:lnTo>
                      <a:pt x="157" y="9"/>
                    </a:lnTo>
                    <a:lnTo>
                      <a:pt x="191" y="0"/>
                    </a:lnTo>
                    <a:lnTo>
                      <a:pt x="19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5" name="Freeform 113"/>
              <p:cNvSpPr>
                <a:spLocks/>
              </p:cNvSpPr>
              <p:nvPr/>
            </p:nvSpPr>
            <p:spPr bwMode="auto">
              <a:xfrm>
                <a:off x="2146" y="1302"/>
                <a:ext cx="161" cy="68"/>
              </a:xfrm>
              <a:custGeom>
                <a:avLst/>
                <a:gdLst>
                  <a:gd name="T0" fmla="*/ 3 w 161"/>
                  <a:gd name="T1" fmla="*/ 0 h 68"/>
                  <a:gd name="T2" fmla="*/ 9 w 161"/>
                  <a:gd name="T3" fmla="*/ 9 h 68"/>
                  <a:gd name="T4" fmla="*/ 19 w 161"/>
                  <a:gd name="T5" fmla="*/ 15 h 68"/>
                  <a:gd name="T6" fmla="*/ 37 w 161"/>
                  <a:gd name="T7" fmla="*/ 19 h 68"/>
                  <a:gd name="T8" fmla="*/ 80 w 161"/>
                  <a:gd name="T9" fmla="*/ 19 h 68"/>
                  <a:gd name="T10" fmla="*/ 108 w 161"/>
                  <a:gd name="T11" fmla="*/ 25 h 68"/>
                  <a:gd name="T12" fmla="*/ 120 w 161"/>
                  <a:gd name="T13" fmla="*/ 31 h 68"/>
                  <a:gd name="T14" fmla="*/ 133 w 161"/>
                  <a:gd name="T15" fmla="*/ 40 h 68"/>
                  <a:gd name="T16" fmla="*/ 142 w 161"/>
                  <a:gd name="T17" fmla="*/ 46 h 68"/>
                  <a:gd name="T18" fmla="*/ 148 w 161"/>
                  <a:gd name="T19" fmla="*/ 52 h 68"/>
                  <a:gd name="T20" fmla="*/ 154 w 161"/>
                  <a:gd name="T21" fmla="*/ 59 h 68"/>
                  <a:gd name="T22" fmla="*/ 161 w 161"/>
                  <a:gd name="T23" fmla="*/ 65 h 68"/>
                  <a:gd name="T24" fmla="*/ 161 w 161"/>
                  <a:gd name="T25" fmla="*/ 68 h 68"/>
                  <a:gd name="T26" fmla="*/ 161 w 161"/>
                  <a:gd name="T27" fmla="*/ 68 h 68"/>
                  <a:gd name="T28" fmla="*/ 151 w 161"/>
                  <a:gd name="T29" fmla="*/ 62 h 68"/>
                  <a:gd name="T30" fmla="*/ 145 w 161"/>
                  <a:gd name="T31" fmla="*/ 59 h 68"/>
                  <a:gd name="T32" fmla="*/ 127 w 161"/>
                  <a:gd name="T33" fmla="*/ 49 h 68"/>
                  <a:gd name="T34" fmla="*/ 117 w 161"/>
                  <a:gd name="T35" fmla="*/ 40 h 68"/>
                  <a:gd name="T36" fmla="*/ 105 w 161"/>
                  <a:gd name="T37" fmla="*/ 34 h 68"/>
                  <a:gd name="T38" fmla="*/ 93 w 161"/>
                  <a:gd name="T39" fmla="*/ 31 h 68"/>
                  <a:gd name="T40" fmla="*/ 80 w 161"/>
                  <a:gd name="T41" fmla="*/ 28 h 68"/>
                  <a:gd name="T42" fmla="*/ 34 w 161"/>
                  <a:gd name="T43" fmla="*/ 28 h 68"/>
                  <a:gd name="T44" fmla="*/ 15 w 161"/>
                  <a:gd name="T45" fmla="*/ 19 h 68"/>
                  <a:gd name="T46" fmla="*/ 0 w 161"/>
                  <a:gd name="T47" fmla="*/ 3 h 68"/>
                  <a:gd name="T48" fmla="*/ 0 w 161"/>
                  <a:gd name="T49" fmla="*/ 0 h 68"/>
                  <a:gd name="T50" fmla="*/ 3 w 161"/>
                  <a:gd name="T51" fmla="*/ 0 h 68"/>
                  <a:gd name="T52" fmla="*/ 3 w 161"/>
                  <a:gd name="T53" fmla="*/ 0 h 68"/>
                  <a:gd name="T54" fmla="*/ 3 w 161"/>
                  <a:gd name="T55" fmla="*/ 0 h 68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61"/>
                  <a:gd name="T85" fmla="*/ 0 h 68"/>
                  <a:gd name="T86" fmla="*/ 161 w 161"/>
                  <a:gd name="T87" fmla="*/ 68 h 68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61" h="68">
                    <a:moveTo>
                      <a:pt x="3" y="0"/>
                    </a:moveTo>
                    <a:lnTo>
                      <a:pt x="9" y="9"/>
                    </a:lnTo>
                    <a:lnTo>
                      <a:pt x="19" y="15"/>
                    </a:lnTo>
                    <a:lnTo>
                      <a:pt x="37" y="19"/>
                    </a:lnTo>
                    <a:lnTo>
                      <a:pt x="80" y="19"/>
                    </a:lnTo>
                    <a:lnTo>
                      <a:pt x="108" y="25"/>
                    </a:lnTo>
                    <a:lnTo>
                      <a:pt x="120" y="31"/>
                    </a:lnTo>
                    <a:lnTo>
                      <a:pt x="133" y="40"/>
                    </a:lnTo>
                    <a:lnTo>
                      <a:pt x="142" y="46"/>
                    </a:lnTo>
                    <a:lnTo>
                      <a:pt x="148" y="52"/>
                    </a:lnTo>
                    <a:lnTo>
                      <a:pt x="154" y="59"/>
                    </a:lnTo>
                    <a:lnTo>
                      <a:pt x="161" y="65"/>
                    </a:lnTo>
                    <a:lnTo>
                      <a:pt x="161" y="68"/>
                    </a:lnTo>
                    <a:lnTo>
                      <a:pt x="151" y="62"/>
                    </a:lnTo>
                    <a:lnTo>
                      <a:pt x="145" y="59"/>
                    </a:lnTo>
                    <a:lnTo>
                      <a:pt x="127" y="49"/>
                    </a:lnTo>
                    <a:lnTo>
                      <a:pt x="117" y="40"/>
                    </a:lnTo>
                    <a:lnTo>
                      <a:pt x="105" y="34"/>
                    </a:lnTo>
                    <a:lnTo>
                      <a:pt x="93" y="31"/>
                    </a:lnTo>
                    <a:lnTo>
                      <a:pt x="80" y="28"/>
                    </a:lnTo>
                    <a:lnTo>
                      <a:pt x="34" y="28"/>
                    </a:lnTo>
                    <a:lnTo>
                      <a:pt x="15" y="19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6" name="Freeform 114"/>
              <p:cNvSpPr>
                <a:spLocks/>
              </p:cNvSpPr>
              <p:nvPr/>
            </p:nvSpPr>
            <p:spPr bwMode="auto">
              <a:xfrm>
                <a:off x="2134" y="1243"/>
                <a:ext cx="89" cy="31"/>
              </a:xfrm>
              <a:custGeom>
                <a:avLst/>
                <a:gdLst>
                  <a:gd name="T0" fmla="*/ 0 w 89"/>
                  <a:gd name="T1" fmla="*/ 28 h 31"/>
                  <a:gd name="T2" fmla="*/ 9 w 89"/>
                  <a:gd name="T3" fmla="*/ 19 h 31"/>
                  <a:gd name="T4" fmla="*/ 15 w 89"/>
                  <a:gd name="T5" fmla="*/ 13 h 31"/>
                  <a:gd name="T6" fmla="*/ 21 w 89"/>
                  <a:gd name="T7" fmla="*/ 10 h 31"/>
                  <a:gd name="T8" fmla="*/ 27 w 89"/>
                  <a:gd name="T9" fmla="*/ 3 h 31"/>
                  <a:gd name="T10" fmla="*/ 58 w 89"/>
                  <a:gd name="T11" fmla="*/ 0 h 31"/>
                  <a:gd name="T12" fmla="*/ 86 w 89"/>
                  <a:gd name="T13" fmla="*/ 10 h 31"/>
                  <a:gd name="T14" fmla="*/ 89 w 89"/>
                  <a:gd name="T15" fmla="*/ 13 h 31"/>
                  <a:gd name="T16" fmla="*/ 86 w 89"/>
                  <a:gd name="T17" fmla="*/ 13 h 31"/>
                  <a:gd name="T18" fmla="*/ 71 w 89"/>
                  <a:gd name="T19" fmla="*/ 10 h 31"/>
                  <a:gd name="T20" fmla="*/ 58 w 89"/>
                  <a:gd name="T21" fmla="*/ 10 h 31"/>
                  <a:gd name="T22" fmla="*/ 34 w 89"/>
                  <a:gd name="T23" fmla="*/ 13 h 31"/>
                  <a:gd name="T24" fmla="*/ 6 w 89"/>
                  <a:gd name="T25" fmla="*/ 31 h 31"/>
                  <a:gd name="T26" fmla="*/ 0 w 89"/>
                  <a:gd name="T27" fmla="*/ 31 h 31"/>
                  <a:gd name="T28" fmla="*/ 0 w 89"/>
                  <a:gd name="T29" fmla="*/ 28 h 31"/>
                  <a:gd name="T30" fmla="*/ 0 w 89"/>
                  <a:gd name="T31" fmla="*/ 28 h 31"/>
                  <a:gd name="T32" fmla="*/ 0 w 89"/>
                  <a:gd name="T33" fmla="*/ 28 h 31"/>
                  <a:gd name="T34" fmla="*/ 0 w 89"/>
                  <a:gd name="T35" fmla="*/ 28 h 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9"/>
                  <a:gd name="T55" fmla="*/ 0 h 31"/>
                  <a:gd name="T56" fmla="*/ 89 w 89"/>
                  <a:gd name="T57" fmla="*/ 31 h 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9" h="31">
                    <a:moveTo>
                      <a:pt x="0" y="28"/>
                    </a:moveTo>
                    <a:lnTo>
                      <a:pt x="9" y="19"/>
                    </a:lnTo>
                    <a:lnTo>
                      <a:pt x="15" y="13"/>
                    </a:lnTo>
                    <a:lnTo>
                      <a:pt x="21" y="10"/>
                    </a:lnTo>
                    <a:lnTo>
                      <a:pt x="27" y="3"/>
                    </a:lnTo>
                    <a:lnTo>
                      <a:pt x="58" y="0"/>
                    </a:lnTo>
                    <a:lnTo>
                      <a:pt x="86" y="10"/>
                    </a:lnTo>
                    <a:lnTo>
                      <a:pt x="89" y="13"/>
                    </a:lnTo>
                    <a:lnTo>
                      <a:pt x="86" y="13"/>
                    </a:lnTo>
                    <a:lnTo>
                      <a:pt x="71" y="10"/>
                    </a:lnTo>
                    <a:lnTo>
                      <a:pt x="58" y="10"/>
                    </a:lnTo>
                    <a:lnTo>
                      <a:pt x="34" y="13"/>
                    </a:lnTo>
                    <a:lnTo>
                      <a:pt x="6" y="31"/>
                    </a:lnTo>
                    <a:lnTo>
                      <a:pt x="0" y="31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7" name="Freeform 115"/>
              <p:cNvSpPr>
                <a:spLocks/>
              </p:cNvSpPr>
              <p:nvPr/>
            </p:nvSpPr>
            <p:spPr bwMode="auto">
              <a:xfrm>
                <a:off x="2118" y="1302"/>
                <a:ext cx="90" cy="148"/>
              </a:xfrm>
              <a:custGeom>
                <a:avLst/>
                <a:gdLst>
                  <a:gd name="T0" fmla="*/ 6 w 90"/>
                  <a:gd name="T1" fmla="*/ 0 h 148"/>
                  <a:gd name="T2" fmla="*/ 9 w 90"/>
                  <a:gd name="T3" fmla="*/ 12 h 148"/>
                  <a:gd name="T4" fmla="*/ 16 w 90"/>
                  <a:gd name="T5" fmla="*/ 25 h 148"/>
                  <a:gd name="T6" fmla="*/ 22 w 90"/>
                  <a:gd name="T7" fmla="*/ 34 h 148"/>
                  <a:gd name="T8" fmla="*/ 28 w 90"/>
                  <a:gd name="T9" fmla="*/ 43 h 148"/>
                  <a:gd name="T10" fmla="*/ 34 w 90"/>
                  <a:gd name="T11" fmla="*/ 52 h 148"/>
                  <a:gd name="T12" fmla="*/ 40 w 90"/>
                  <a:gd name="T13" fmla="*/ 59 h 148"/>
                  <a:gd name="T14" fmla="*/ 47 w 90"/>
                  <a:gd name="T15" fmla="*/ 71 h 148"/>
                  <a:gd name="T16" fmla="*/ 56 w 90"/>
                  <a:gd name="T17" fmla="*/ 80 h 148"/>
                  <a:gd name="T18" fmla="*/ 65 w 90"/>
                  <a:gd name="T19" fmla="*/ 96 h 148"/>
                  <a:gd name="T20" fmla="*/ 71 w 90"/>
                  <a:gd name="T21" fmla="*/ 108 h 148"/>
                  <a:gd name="T22" fmla="*/ 77 w 90"/>
                  <a:gd name="T23" fmla="*/ 120 h 148"/>
                  <a:gd name="T24" fmla="*/ 80 w 90"/>
                  <a:gd name="T25" fmla="*/ 130 h 148"/>
                  <a:gd name="T26" fmla="*/ 84 w 90"/>
                  <a:gd name="T27" fmla="*/ 136 h 148"/>
                  <a:gd name="T28" fmla="*/ 90 w 90"/>
                  <a:gd name="T29" fmla="*/ 142 h 148"/>
                  <a:gd name="T30" fmla="*/ 90 w 90"/>
                  <a:gd name="T31" fmla="*/ 148 h 148"/>
                  <a:gd name="T32" fmla="*/ 84 w 90"/>
                  <a:gd name="T33" fmla="*/ 148 h 148"/>
                  <a:gd name="T34" fmla="*/ 74 w 90"/>
                  <a:gd name="T35" fmla="*/ 145 h 148"/>
                  <a:gd name="T36" fmla="*/ 65 w 90"/>
                  <a:gd name="T37" fmla="*/ 130 h 148"/>
                  <a:gd name="T38" fmla="*/ 59 w 90"/>
                  <a:gd name="T39" fmla="*/ 117 h 148"/>
                  <a:gd name="T40" fmla="*/ 53 w 90"/>
                  <a:gd name="T41" fmla="*/ 102 h 148"/>
                  <a:gd name="T42" fmla="*/ 50 w 90"/>
                  <a:gd name="T43" fmla="*/ 96 h 148"/>
                  <a:gd name="T44" fmla="*/ 43 w 90"/>
                  <a:gd name="T45" fmla="*/ 86 h 148"/>
                  <a:gd name="T46" fmla="*/ 37 w 90"/>
                  <a:gd name="T47" fmla="*/ 77 h 148"/>
                  <a:gd name="T48" fmla="*/ 31 w 90"/>
                  <a:gd name="T49" fmla="*/ 68 h 148"/>
                  <a:gd name="T50" fmla="*/ 22 w 90"/>
                  <a:gd name="T51" fmla="*/ 46 h 148"/>
                  <a:gd name="T52" fmla="*/ 16 w 90"/>
                  <a:gd name="T53" fmla="*/ 37 h 148"/>
                  <a:gd name="T54" fmla="*/ 13 w 90"/>
                  <a:gd name="T55" fmla="*/ 28 h 148"/>
                  <a:gd name="T56" fmla="*/ 6 w 90"/>
                  <a:gd name="T57" fmla="*/ 15 h 148"/>
                  <a:gd name="T58" fmla="*/ 0 w 90"/>
                  <a:gd name="T59" fmla="*/ 3 h 148"/>
                  <a:gd name="T60" fmla="*/ 3 w 90"/>
                  <a:gd name="T61" fmla="*/ 0 h 148"/>
                  <a:gd name="T62" fmla="*/ 6 w 90"/>
                  <a:gd name="T63" fmla="*/ 0 h 148"/>
                  <a:gd name="T64" fmla="*/ 6 w 90"/>
                  <a:gd name="T65" fmla="*/ 0 h 148"/>
                  <a:gd name="T66" fmla="*/ 6 w 90"/>
                  <a:gd name="T67" fmla="*/ 0 h 14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90"/>
                  <a:gd name="T103" fmla="*/ 0 h 148"/>
                  <a:gd name="T104" fmla="*/ 90 w 90"/>
                  <a:gd name="T105" fmla="*/ 148 h 14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90" h="148">
                    <a:moveTo>
                      <a:pt x="6" y="0"/>
                    </a:moveTo>
                    <a:lnTo>
                      <a:pt x="9" y="12"/>
                    </a:lnTo>
                    <a:lnTo>
                      <a:pt x="16" y="25"/>
                    </a:lnTo>
                    <a:lnTo>
                      <a:pt x="22" y="34"/>
                    </a:lnTo>
                    <a:lnTo>
                      <a:pt x="28" y="43"/>
                    </a:lnTo>
                    <a:lnTo>
                      <a:pt x="34" y="52"/>
                    </a:lnTo>
                    <a:lnTo>
                      <a:pt x="40" y="59"/>
                    </a:lnTo>
                    <a:lnTo>
                      <a:pt x="47" y="71"/>
                    </a:lnTo>
                    <a:lnTo>
                      <a:pt x="56" y="80"/>
                    </a:lnTo>
                    <a:lnTo>
                      <a:pt x="65" y="96"/>
                    </a:lnTo>
                    <a:lnTo>
                      <a:pt x="71" y="108"/>
                    </a:lnTo>
                    <a:lnTo>
                      <a:pt x="77" y="120"/>
                    </a:lnTo>
                    <a:lnTo>
                      <a:pt x="80" y="130"/>
                    </a:lnTo>
                    <a:lnTo>
                      <a:pt x="84" y="136"/>
                    </a:lnTo>
                    <a:lnTo>
                      <a:pt x="90" y="142"/>
                    </a:lnTo>
                    <a:lnTo>
                      <a:pt x="90" y="148"/>
                    </a:lnTo>
                    <a:lnTo>
                      <a:pt x="84" y="148"/>
                    </a:lnTo>
                    <a:lnTo>
                      <a:pt x="74" y="145"/>
                    </a:lnTo>
                    <a:lnTo>
                      <a:pt x="65" y="130"/>
                    </a:lnTo>
                    <a:lnTo>
                      <a:pt x="59" y="117"/>
                    </a:lnTo>
                    <a:lnTo>
                      <a:pt x="53" y="102"/>
                    </a:lnTo>
                    <a:lnTo>
                      <a:pt x="50" y="96"/>
                    </a:lnTo>
                    <a:lnTo>
                      <a:pt x="43" y="86"/>
                    </a:lnTo>
                    <a:lnTo>
                      <a:pt x="37" y="77"/>
                    </a:lnTo>
                    <a:lnTo>
                      <a:pt x="31" y="68"/>
                    </a:lnTo>
                    <a:lnTo>
                      <a:pt x="22" y="46"/>
                    </a:lnTo>
                    <a:lnTo>
                      <a:pt x="16" y="37"/>
                    </a:lnTo>
                    <a:lnTo>
                      <a:pt x="13" y="28"/>
                    </a:lnTo>
                    <a:lnTo>
                      <a:pt x="6" y="15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8" name="Freeform 116"/>
              <p:cNvSpPr>
                <a:spLocks/>
              </p:cNvSpPr>
              <p:nvPr/>
            </p:nvSpPr>
            <p:spPr bwMode="auto">
              <a:xfrm>
                <a:off x="2109" y="1385"/>
                <a:ext cx="62" cy="56"/>
              </a:xfrm>
              <a:custGeom>
                <a:avLst/>
                <a:gdLst>
                  <a:gd name="T0" fmla="*/ 62 w 62"/>
                  <a:gd name="T1" fmla="*/ 3 h 56"/>
                  <a:gd name="T2" fmla="*/ 49 w 62"/>
                  <a:gd name="T3" fmla="*/ 10 h 56"/>
                  <a:gd name="T4" fmla="*/ 43 w 62"/>
                  <a:gd name="T5" fmla="*/ 16 h 56"/>
                  <a:gd name="T6" fmla="*/ 40 w 62"/>
                  <a:gd name="T7" fmla="*/ 25 h 56"/>
                  <a:gd name="T8" fmla="*/ 34 w 62"/>
                  <a:gd name="T9" fmla="*/ 37 h 56"/>
                  <a:gd name="T10" fmla="*/ 28 w 62"/>
                  <a:gd name="T11" fmla="*/ 44 h 56"/>
                  <a:gd name="T12" fmla="*/ 18 w 62"/>
                  <a:gd name="T13" fmla="*/ 47 h 56"/>
                  <a:gd name="T14" fmla="*/ 3 w 62"/>
                  <a:gd name="T15" fmla="*/ 56 h 56"/>
                  <a:gd name="T16" fmla="*/ 0 w 62"/>
                  <a:gd name="T17" fmla="*/ 56 h 56"/>
                  <a:gd name="T18" fmla="*/ 0 w 62"/>
                  <a:gd name="T19" fmla="*/ 53 h 56"/>
                  <a:gd name="T20" fmla="*/ 12 w 62"/>
                  <a:gd name="T21" fmla="*/ 41 h 56"/>
                  <a:gd name="T22" fmla="*/ 25 w 62"/>
                  <a:gd name="T23" fmla="*/ 28 h 56"/>
                  <a:gd name="T24" fmla="*/ 31 w 62"/>
                  <a:gd name="T25" fmla="*/ 19 h 56"/>
                  <a:gd name="T26" fmla="*/ 40 w 62"/>
                  <a:gd name="T27" fmla="*/ 10 h 56"/>
                  <a:gd name="T28" fmla="*/ 46 w 62"/>
                  <a:gd name="T29" fmla="*/ 3 h 56"/>
                  <a:gd name="T30" fmla="*/ 59 w 62"/>
                  <a:gd name="T31" fmla="*/ 0 h 56"/>
                  <a:gd name="T32" fmla="*/ 62 w 62"/>
                  <a:gd name="T33" fmla="*/ 3 h 56"/>
                  <a:gd name="T34" fmla="*/ 62 w 62"/>
                  <a:gd name="T35" fmla="*/ 3 h 56"/>
                  <a:gd name="T36" fmla="*/ 62 w 62"/>
                  <a:gd name="T37" fmla="*/ 3 h 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2"/>
                  <a:gd name="T58" fmla="*/ 0 h 56"/>
                  <a:gd name="T59" fmla="*/ 62 w 62"/>
                  <a:gd name="T60" fmla="*/ 56 h 5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2" h="56">
                    <a:moveTo>
                      <a:pt x="62" y="3"/>
                    </a:moveTo>
                    <a:lnTo>
                      <a:pt x="49" y="10"/>
                    </a:lnTo>
                    <a:lnTo>
                      <a:pt x="43" y="16"/>
                    </a:lnTo>
                    <a:lnTo>
                      <a:pt x="40" y="25"/>
                    </a:lnTo>
                    <a:lnTo>
                      <a:pt x="34" y="37"/>
                    </a:lnTo>
                    <a:lnTo>
                      <a:pt x="28" y="44"/>
                    </a:lnTo>
                    <a:lnTo>
                      <a:pt x="18" y="47"/>
                    </a:lnTo>
                    <a:lnTo>
                      <a:pt x="3" y="56"/>
                    </a:lnTo>
                    <a:lnTo>
                      <a:pt x="0" y="56"/>
                    </a:lnTo>
                    <a:lnTo>
                      <a:pt x="0" y="53"/>
                    </a:lnTo>
                    <a:lnTo>
                      <a:pt x="12" y="41"/>
                    </a:lnTo>
                    <a:lnTo>
                      <a:pt x="25" y="28"/>
                    </a:lnTo>
                    <a:lnTo>
                      <a:pt x="31" y="19"/>
                    </a:lnTo>
                    <a:lnTo>
                      <a:pt x="40" y="10"/>
                    </a:lnTo>
                    <a:lnTo>
                      <a:pt x="46" y="3"/>
                    </a:lnTo>
                    <a:lnTo>
                      <a:pt x="59" y="0"/>
                    </a:lnTo>
                    <a:lnTo>
                      <a:pt x="6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49" name="Freeform 117"/>
              <p:cNvSpPr>
                <a:spLocks/>
              </p:cNvSpPr>
              <p:nvPr/>
            </p:nvSpPr>
            <p:spPr bwMode="auto">
              <a:xfrm>
                <a:off x="2409" y="1191"/>
                <a:ext cx="117" cy="160"/>
              </a:xfrm>
              <a:custGeom>
                <a:avLst/>
                <a:gdLst>
                  <a:gd name="T0" fmla="*/ 3 w 117"/>
                  <a:gd name="T1" fmla="*/ 0 h 160"/>
                  <a:gd name="T2" fmla="*/ 21 w 117"/>
                  <a:gd name="T3" fmla="*/ 9 h 160"/>
                  <a:gd name="T4" fmla="*/ 27 w 117"/>
                  <a:gd name="T5" fmla="*/ 15 h 160"/>
                  <a:gd name="T6" fmla="*/ 34 w 117"/>
                  <a:gd name="T7" fmla="*/ 21 h 160"/>
                  <a:gd name="T8" fmla="*/ 43 w 117"/>
                  <a:gd name="T9" fmla="*/ 37 h 160"/>
                  <a:gd name="T10" fmla="*/ 52 w 117"/>
                  <a:gd name="T11" fmla="*/ 55 h 160"/>
                  <a:gd name="T12" fmla="*/ 55 w 117"/>
                  <a:gd name="T13" fmla="*/ 68 h 160"/>
                  <a:gd name="T14" fmla="*/ 64 w 117"/>
                  <a:gd name="T15" fmla="*/ 80 h 160"/>
                  <a:gd name="T16" fmla="*/ 68 w 117"/>
                  <a:gd name="T17" fmla="*/ 89 h 160"/>
                  <a:gd name="T18" fmla="*/ 74 w 117"/>
                  <a:gd name="T19" fmla="*/ 96 h 160"/>
                  <a:gd name="T20" fmla="*/ 80 w 117"/>
                  <a:gd name="T21" fmla="*/ 108 h 160"/>
                  <a:gd name="T22" fmla="*/ 86 w 117"/>
                  <a:gd name="T23" fmla="*/ 117 h 160"/>
                  <a:gd name="T24" fmla="*/ 95 w 117"/>
                  <a:gd name="T25" fmla="*/ 126 h 160"/>
                  <a:gd name="T26" fmla="*/ 98 w 117"/>
                  <a:gd name="T27" fmla="*/ 130 h 160"/>
                  <a:gd name="T28" fmla="*/ 105 w 117"/>
                  <a:gd name="T29" fmla="*/ 136 h 160"/>
                  <a:gd name="T30" fmla="*/ 111 w 117"/>
                  <a:gd name="T31" fmla="*/ 145 h 160"/>
                  <a:gd name="T32" fmla="*/ 117 w 117"/>
                  <a:gd name="T33" fmla="*/ 157 h 160"/>
                  <a:gd name="T34" fmla="*/ 114 w 117"/>
                  <a:gd name="T35" fmla="*/ 160 h 160"/>
                  <a:gd name="T36" fmla="*/ 111 w 117"/>
                  <a:gd name="T37" fmla="*/ 160 h 160"/>
                  <a:gd name="T38" fmla="*/ 111 w 117"/>
                  <a:gd name="T39" fmla="*/ 154 h 160"/>
                  <a:gd name="T40" fmla="*/ 105 w 117"/>
                  <a:gd name="T41" fmla="*/ 151 h 160"/>
                  <a:gd name="T42" fmla="*/ 95 w 117"/>
                  <a:gd name="T43" fmla="*/ 145 h 160"/>
                  <a:gd name="T44" fmla="*/ 77 w 117"/>
                  <a:gd name="T45" fmla="*/ 123 h 160"/>
                  <a:gd name="T46" fmla="*/ 71 w 117"/>
                  <a:gd name="T47" fmla="*/ 114 h 160"/>
                  <a:gd name="T48" fmla="*/ 64 w 117"/>
                  <a:gd name="T49" fmla="*/ 102 h 160"/>
                  <a:gd name="T50" fmla="*/ 58 w 117"/>
                  <a:gd name="T51" fmla="*/ 96 h 160"/>
                  <a:gd name="T52" fmla="*/ 55 w 117"/>
                  <a:gd name="T53" fmla="*/ 86 h 160"/>
                  <a:gd name="T54" fmla="*/ 43 w 117"/>
                  <a:gd name="T55" fmla="*/ 74 h 160"/>
                  <a:gd name="T56" fmla="*/ 37 w 117"/>
                  <a:gd name="T57" fmla="*/ 62 h 160"/>
                  <a:gd name="T58" fmla="*/ 30 w 117"/>
                  <a:gd name="T59" fmla="*/ 43 h 160"/>
                  <a:gd name="T60" fmla="*/ 24 w 117"/>
                  <a:gd name="T61" fmla="*/ 28 h 160"/>
                  <a:gd name="T62" fmla="*/ 21 w 117"/>
                  <a:gd name="T63" fmla="*/ 18 h 160"/>
                  <a:gd name="T64" fmla="*/ 15 w 117"/>
                  <a:gd name="T65" fmla="*/ 12 h 160"/>
                  <a:gd name="T66" fmla="*/ 9 w 117"/>
                  <a:gd name="T67" fmla="*/ 6 h 160"/>
                  <a:gd name="T68" fmla="*/ 3 w 117"/>
                  <a:gd name="T69" fmla="*/ 3 h 160"/>
                  <a:gd name="T70" fmla="*/ 0 w 117"/>
                  <a:gd name="T71" fmla="*/ 0 h 160"/>
                  <a:gd name="T72" fmla="*/ 3 w 117"/>
                  <a:gd name="T73" fmla="*/ 0 h 160"/>
                  <a:gd name="T74" fmla="*/ 3 w 117"/>
                  <a:gd name="T75" fmla="*/ 0 h 160"/>
                  <a:gd name="T76" fmla="*/ 3 w 117"/>
                  <a:gd name="T77" fmla="*/ 0 h 16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7"/>
                  <a:gd name="T118" fmla="*/ 0 h 160"/>
                  <a:gd name="T119" fmla="*/ 117 w 117"/>
                  <a:gd name="T120" fmla="*/ 160 h 160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7" h="160">
                    <a:moveTo>
                      <a:pt x="3" y="0"/>
                    </a:moveTo>
                    <a:lnTo>
                      <a:pt x="21" y="9"/>
                    </a:lnTo>
                    <a:lnTo>
                      <a:pt x="27" y="15"/>
                    </a:lnTo>
                    <a:lnTo>
                      <a:pt x="34" y="21"/>
                    </a:lnTo>
                    <a:lnTo>
                      <a:pt x="43" y="37"/>
                    </a:lnTo>
                    <a:lnTo>
                      <a:pt x="52" y="55"/>
                    </a:lnTo>
                    <a:lnTo>
                      <a:pt x="55" y="68"/>
                    </a:lnTo>
                    <a:lnTo>
                      <a:pt x="64" y="80"/>
                    </a:lnTo>
                    <a:lnTo>
                      <a:pt x="68" y="89"/>
                    </a:lnTo>
                    <a:lnTo>
                      <a:pt x="74" y="96"/>
                    </a:lnTo>
                    <a:lnTo>
                      <a:pt x="80" y="108"/>
                    </a:lnTo>
                    <a:lnTo>
                      <a:pt x="86" y="117"/>
                    </a:lnTo>
                    <a:lnTo>
                      <a:pt x="95" y="126"/>
                    </a:lnTo>
                    <a:lnTo>
                      <a:pt x="98" y="130"/>
                    </a:lnTo>
                    <a:lnTo>
                      <a:pt x="105" y="136"/>
                    </a:lnTo>
                    <a:lnTo>
                      <a:pt x="111" y="145"/>
                    </a:lnTo>
                    <a:lnTo>
                      <a:pt x="117" y="157"/>
                    </a:lnTo>
                    <a:lnTo>
                      <a:pt x="114" y="160"/>
                    </a:lnTo>
                    <a:lnTo>
                      <a:pt x="111" y="160"/>
                    </a:lnTo>
                    <a:lnTo>
                      <a:pt x="111" y="154"/>
                    </a:lnTo>
                    <a:lnTo>
                      <a:pt x="105" y="151"/>
                    </a:lnTo>
                    <a:lnTo>
                      <a:pt x="95" y="145"/>
                    </a:lnTo>
                    <a:lnTo>
                      <a:pt x="77" y="123"/>
                    </a:lnTo>
                    <a:lnTo>
                      <a:pt x="71" y="114"/>
                    </a:lnTo>
                    <a:lnTo>
                      <a:pt x="64" y="102"/>
                    </a:lnTo>
                    <a:lnTo>
                      <a:pt x="58" y="96"/>
                    </a:lnTo>
                    <a:lnTo>
                      <a:pt x="55" y="86"/>
                    </a:lnTo>
                    <a:lnTo>
                      <a:pt x="43" y="74"/>
                    </a:lnTo>
                    <a:lnTo>
                      <a:pt x="37" y="62"/>
                    </a:lnTo>
                    <a:lnTo>
                      <a:pt x="30" y="43"/>
                    </a:lnTo>
                    <a:lnTo>
                      <a:pt x="24" y="28"/>
                    </a:lnTo>
                    <a:lnTo>
                      <a:pt x="21" y="18"/>
                    </a:lnTo>
                    <a:lnTo>
                      <a:pt x="15" y="12"/>
                    </a:lnTo>
                    <a:lnTo>
                      <a:pt x="9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0" name="Freeform 118"/>
              <p:cNvSpPr>
                <a:spLocks/>
              </p:cNvSpPr>
              <p:nvPr/>
            </p:nvSpPr>
            <p:spPr bwMode="auto">
              <a:xfrm>
                <a:off x="2341" y="1287"/>
                <a:ext cx="24" cy="27"/>
              </a:xfrm>
              <a:custGeom>
                <a:avLst/>
                <a:gdLst>
                  <a:gd name="T0" fmla="*/ 24 w 24"/>
                  <a:gd name="T1" fmla="*/ 0 h 27"/>
                  <a:gd name="T2" fmla="*/ 24 w 24"/>
                  <a:gd name="T3" fmla="*/ 9 h 27"/>
                  <a:gd name="T4" fmla="*/ 24 w 24"/>
                  <a:gd name="T5" fmla="*/ 15 h 27"/>
                  <a:gd name="T6" fmla="*/ 18 w 24"/>
                  <a:gd name="T7" fmla="*/ 21 h 27"/>
                  <a:gd name="T8" fmla="*/ 12 w 24"/>
                  <a:gd name="T9" fmla="*/ 24 h 27"/>
                  <a:gd name="T10" fmla="*/ 6 w 24"/>
                  <a:gd name="T11" fmla="*/ 27 h 27"/>
                  <a:gd name="T12" fmla="*/ 0 w 24"/>
                  <a:gd name="T13" fmla="*/ 27 h 27"/>
                  <a:gd name="T14" fmla="*/ 3 w 24"/>
                  <a:gd name="T15" fmla="*/ 21 h 27"/>
                  <a:gd name="T16" fmla="*/ 9 w 24"/>
                  <a:gd name="T17" fmla="*/ 15 h 27"/>
                  <a:gd name="T18" fmla="*/ 18 w 24"/>
                  <a:gd name="T19" fmla="*/ 9 h 27"/>
                  <a:gd name="T20" fmla="*/ 21 w 24"/>
                  <a:gd name="T21" fmla="*/ 0 h 27"/>
                  <a:gd name="T22" fmla="*/ 21 w 24"/>
                  <a:gd name="T23" fmla="*/ 0 h 27"/>
                  <a:gd name="T24" fmla="*/ 24 w 24"/>
                  <a:gd name="T25" fmla="*/ 0 h 27"/>
                  <a:gd name="T26" fmla="*/ 24 w 24"/>
                  <a:gd name="T27" fmla="*/ 0 h 27"/>
                  <a:gd name="T28" fmla="*/ 24 w 24"/>
                  <a:gd name="T29" fmla="*/ 0 h 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7"/>
                  <a:gd name="T47" fmla="*/ 24 w 24"/>
                  <a:gd name="T48" fmla="*/ 27 h 2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7">
                    <a:moveTo>
                      <a:pt x="24" y="0"/>
                    </a:moveTo>
                    <a:lnTo>
                      <a:pt x="24" y="9"/>
                    </a:lnTo>
                    <a:lnTo>
                      <a:pt x="24" y="15"/>
                    </a:lnTo>
                    <a:lnTo>
                      <a:pt x="18" y="21"/>
                    </a:lnTo>
                    <a:lnTo>
                      <a:pt x="12" y="24"/>
                    </a:lnTo>
                    <a:lnTo>
                      <a:pt x="6" y="27"/>
                    </a:lnTo>
                    <a:lnTo>
                      <a:pt x="0" y="27"/>
                    </a:lnTo>
                    <a:lnTo>
                      <a:pt x="3" y="21"/>
                    </a:lnTo>
                    <a:lnTo>
                      <a:pt x="9" y="15"/>
                    </a:lnTo>
                    <a:lnTo>
                      <a:pt x="18" y="9"/>
                    </a:lnTo>
                    <a:lnTo>
                      <a:pt x="21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1" name="Freeform 119"/>
              <p:cNvSpPr>
                <a:spLocks/>
              </p:cNvSpPr>
              <p:nvPr/>
            </p:nvSpPr>
            <p:spPr bwMode="auto">
              <a:xfrm>
                <a:off x="2362" y="1299"/>
                <a:ext cx="22" cy="15"/>
              </a:xfrm>
              <a:custGeom>
                <a:avLst/>
                <a:gdLst>
                  <a:gd name="T0" fmla="*/ 3 w 22"/>
                  <a:gd name="T1" fmla="*/ 0 h 15"/>
                  <a:gd name="T2" fmla="*/ 13 w 22"/>
                  <a:gd name="T3" fmla="*/ 6 h 15"/>
                  <a:gd name="T4" fmla="*/ 16 w 22"/>
                  <a:gd name="T5" fmla="*/ 9 h 15"/>
                  <a:gd name="T6" fmla="*/ 22 w 22"/>
                  <a:gd name="T7" fmla="*/ 12 h 15"/>
                  <a:gd name="T8" fmla="*/ 22 w 22"/>
                  <a:gd name="T9" fmla="*/ 12 h 15"/>
                  <a:gd name="T10" fmla="*/ 22 w 22"/>
                  <a:gd name="T11" fmla="*/ 15 h 15"/>
                  <a:gd name="T12" fmla="*/ 6 w 22"/>
                  <a:gd name="T13" fmla="*/ 9 h 15"/>
                  <a:gd name="T14" fmla="*/ 3 w 22"/>
                  <a:gd name="T15" fmla="*/ 3 h 15"/>
                  <a:gd name="T16" fmla="*/ 0 w 22"/>
                  <a:gd name="T17" fmla="*/ 0 h 15"/>
                  <a:gd name="T18" fmla="*/ 3 w 22"/>
                  <a:gd name="T19" fmla="*/ 0 h 15"/>
                  <a:gd name="T20" fmla="*/ 3 w 22"/>
                  <a:gd name="T21" fmla="*/ 0 h 15"/>
                  <a:gd name="T22" fmla="*/ 3 w 22"/>
                  <a:gd name="T23" fmla="*/ 0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"/>
                  <a:gd name="T37" fmla="*/ 0 h 15"/>
                  <a:gd name="T38" fmla="*/ 22 w 22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" h="15">
                    <a:moveTo>
                      <a:pt x="3" y="0"/>
                    </a:moveTo>
                    <a:lnTo>
                      <a:pt x="13" y="6"/>
                    </a:lnTo>
                    <a:lnTo>
                      <a:pt x="16" y="9"/>
                    </a:lnTo>
                    <a:lnTo>
                      <a:pt x="22" y="12"/>
                    </a:lnTo>
                    <a:lnTo>
                      <a:pt x="22" y="15"/>
                    </a:lnTo>
                    <a:lnTo>
                      <a:pt x="6" y="9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2" name="Freeform 120"/>
              <p:cNvSpPr>
                <a:spLocks/>
              </p:cNvSpPr>
              <p:nvPr/>
            </p:nvSpPr>
            <p:spPr bwMode="auto">
              <a:xfrm>
                <a:off x="2384" y="1293"/>
                <a:ext cx="18" cy="65"/>
              </a:xfrm>
              <a:custGeom>
                <a:avLst/>
                <a:gdLst>
                  <a:gd name="T0" fmla="*/ 18 w 18"/>
                  <a:gd name="T1" fmla="*/ 3 h 65"/>
                  <a:gd name="T2" fmla="*/ 18 w 18"/>
                  <a:gd name="T3" fmla="*/ 15 h 65"/>
                  <a:gd name="T4" fmla="*/ 15 w 18"/>
                  <a:gd name="T5" fmla="*/ 31 h 65"/>
                  <a:gd name="T6" fmla="*/ 15 w 18"/>
                  <a:gd name="T7" fmla="*/ 43 h 65"/>
                  <a:gd name="T8" fmla="*/ 18 w 18"/>
                  <a:gd name="T9" fmla="*/ 61 h 65"/>
                  <a:gd name="T10" fmla="*/ 18 w 18"/>
                  <a:gd name="T11" fmla="*/ 65 h 65"/>
                  <a:gd name="T12" fmla="*/ 15 w 18"/>
                  <a:gd name="T13" fmla="*/ 61 h 65"/>
                  <a:gd name="T14" fmla="*/ 0 w 18"/>
                  <a:gd name="T15" fmla="*/ 46 h 65"/>
                  <a:gd name="T16" fmla="*/ 0 w 18"/>
                  <a:gd name="T17" fmla="*/ 28 h 65"/>
                  <a:gd name="T18" fmla="*/ 3 w 18"/>
                  <a:gd name="T19" fmla="*/ 21 h 65"/>
                  <a:gd name="T20" fmla="*/ 9 w 18"/>
                  <a:gd name="T21" fmla="*/ 15 h 65"/>
                  <a:gd name="T22" fmla="*/ 12 w 18"/>
                  <a:gd name="T23" fmla="*/ 3 h 65"/>
                  <a:gd name="T24" fmla="*/ 15 w 18"/>
                  <a:gd name="T25" fmla="*/ 0 h 65"/>
                  <a:gd name="T26" fmla="*/ 18 w 18"/>
                  <a:gd name="T27" fmla="*/ 3 h 65"/>
                  <a:gd name="T28" fmla="*/ 18 w 18"/>
                  <a:gd name="T29" fmla="*/ 3 h 65"/>
                  <a:gd name="T30" fmla="*/ 18 w 18"/>
                  <a:gd name="T31" fmla="*/ 3 h 6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"/>
                  <a:gd name="T49" fmla="*/ 0 h 65"/>
                  <a:gd name="T50" fmla="*/ 18 w 18"/>
                  <a:gd name="T51" fmla="*/ 65 h 6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" h="65">
                    <a:moveTo>
                      <a:pt x="18" y="3"/>
                    </a:moveTo>
                    <a:lnTo>
                      <a:pt x="18" y="15"/>
                    </a:lnTo>
                    <a:lnTo>
                      <a:pt x="15" y="31"/>
                    </a:lnTo>
                    <a:lnTo>
                      <a:pt x="15" y="43"/>
                    </a:lnTo>
                    <a:lnTo>
                      <a:pt x="18" y="61"/>
                    </a:lnTo>
                    <a:lnTo>
                      <a:pt x="18" y="65"/>
                    </a:lnTo>
                    <a:lnTo>
                      <a:pt x="15" y="61"/>
                    </a:lnTo>
                    <a:lnTo>
                      <a:pt x="0" y="46"/>
                    </a:lnTo>
                    <a:lnTo>
                      <a:pt x="0" y="28"/>
                    </a:lnTo>
                    <a:lnTo>
                      <a:pt x="3" y="21"/>
                    </a:lnTo>
                    <a:lnTo>
                      <a:pt x="9" y="15"/>
                    </a:lnTo>
                    <a:lnTo>
                      <a:pt x="12" y="3"/>
                    </a:lnTo>
                    <a:lnTo>
                      <a:pt x="15" y="0"/>
                    </a:lnTo>
                    <a:lnTo>
                      <a:pt x="1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3" name="Freeform 121"/>
              <p:cNvSpPr>
                <a:spLocks/>
              </p:cNvSpPr>
              <p:nvPr/>
            </p:nvSpPr>
            <p:spPr bwMode="auto">
              <a:xfrm>
                <a:off x="2409" y="1345"/>
                <a:ext cx="74" cy="19"/>
              </a:xfrm>
              <a:custGeom>
                <a:avLst/>
                <a:gdLst>
                  <a:gd name="T0" fmla="*/ 0 w 74"/>
                  <a:gd name="T1" fmla="*/ 16 h 19"/>
                  <a:gd name="T2" fmla="*/ 9 w 74"/>
                  <a:gd name="T3" fmla="*/ 9 h 19"/>
                  <a:gd name="T4" fmla="*/ 15 w 74"/>
                  <a:gd name="T5" fmla="*/ 3 h 19"/>
                  <a:gd name="T6" fmla="*/ 24 w 74"/>
                  <a:gd name="T7" fmla="*/ 0 h 19"/>
                  <a:gd name="T8" fmla="*/ 34 w 74"/>
                  <a:gd name="T9" fmla="*/ 0 h 19"/>
                  <a:gd name="T10" fmla="*/ 52 w 74"/>
                  <a:gd name="T11" fmla="*/ 0 h 19"/>
                  <a:gd name="T12" fmla="*/ 61 w 74"/>
                  <a:gd name="T13" fmla="*/ 3 h 19"/>
                  <a:gd name="T14" fmla="*/ 74 w 74"/>
                  <a:gd name="T15" fmla="*/ 3 h 19"/>
                  <a:gd name="T16" fmla="*/ 74 w 74"/>
                  <a:gd name="T17" fmla="*/ 6 h 19"/>
                  <a:gd name="T18" fmla="*/ 74 w 74"/>
                  <a:gd name="T19" fmla="*/ 6 h 19"/>
                  <a:gd name="T20" fmla="*/ 61 w 74"/>
                  <a:gd name="T21" fmla="*/ 13 h 19"/>
                  <a:gd name="T22" fmla="*/ 49 w 74"/>
                  <a:gd name="T23" fmla="*/ 13 h 19"/>
                  <a:gd name="T24" fmla="*/ 34 w 74"/>
                  <a:gd name="T25" fmla="*/ 9 h 19"/>
                  <a:gd name="T26" fmla="*/ 18 w 74"/>
                  <a:gd name="T27" fmla="*/ 9 h 19"/>
                  <a:gd name="T28" fmla="*/ 3 w 74"/>
                  <a:gd name="T29" fmla="*/ 19 h 19"/>
                  <a:gd name="T30" fmla="*/ 0 w 74"/>
                  <a:gd name="T31" fmla="*/ 16 h 19"/>
                  <a:gd name="T32" fmla="*/ 0 w 74"/>
                  <a:gd name="T33" fmla="*/ 16 h 19"/>
                  <a:gd name="T34" fmla="*/ 0 w 74"/>
                  <a:gd name="T35" fmla="*/ 16 h 1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4"/>
                  <a:gd name="T55" fmla="*/ 0 h 19"/>
                  <a:gd name="T56" fmla="*/ 74 w 74"/>
                  <a:gd name="T57" fmla="*/ 19 h 1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4" h="19">
                    <a:moveTo>
                      <a:pt x="0" y="16"/>
                    </a:moveTo>
                    <a:lnTo>
                      <a:pt x="9" y="9"/>
                    </a:lnTo>
                    <a:lnTo>
                      <a:pt x="15" y="3"/>
                    </a:lnTo>
                    <a:lnTo>
                      <a:pt x="24" y="0"/>
                    </a:lnTo>
                    <a:lnTo>
                      <a:pt x="34" y="0"/>
                    </a:lnTo>
                    <a:lnTo>
                      <a:pt x="52" y="0"/>
                    </a:lnTo>
                    <a:lnTo>
                      <a:pt x="61" y="3"/>
                    </a:lnTo>
                    <a:lnTo>
                      <a:pt x="74" y="3"/>
                    </a:lnTo>
                    <a:lnTo>
                      <a:pt x="74" y="6"/>
                    </a:lnTo>
                    <a:lnTo>
                      <a:pt x="61" y="13"/>
                    </a:lnTo>
                    <a:lnTo>
                      <a:pt x="49" y="13"/>
                    </a:lnTo>
                    <a:lnTo>
                      <a:pt x="34" y="9"/>
                    </a:lnTo>
                    <a:lnTo>
                      <a:pt x="18" y="9"/>
                    </a:lnTo>
                    <a:lnTo>
                      <a:pt x="3" y="19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4" name="Freeform 122"/>
              <p:cNvSpPr>
                <a:spLocks/>
              </p:cNvSpPr>
              <p:nvPr/>
            </p:nvSpPr>
            <p:spPr bwMode="auto">
              <a:xfrm>
                <a:off x="2504" y="1345"/>
                <a:ext cx="41" cy="47"/>
              </a:xfrm>
              <a:custGeom>
                <a:avLst/>
                <a:gdLst>
                  <a:gd name="T0" fmla="*/ 3 w 41"/>
                  <a:gd name="T1" fmla="*/ 0 h 47"/>
                  <a:gd name="T2" fmla="*/ 19 w 41"/>
                  <a:gd name="T3" fmla="*/ 3 h 47"/>
                  <a:gd name="T4" fmla="*/ 31 w 41"/>
                  <a:gd name="T5" fmla="*/ 9 h 47"/>
                  <a:gd name="T6" fmla="*/ 37 w 41"/>
                  <a:gd name="T7" fmla="*/ 22 h 47"/>
                  <a:gd name="T8" fmla="*/ 41 w 41"/>
                  <a:gd name="T9" fmla="*/ 37 h 47"/>
                  <a:gd name="T10" fmla="*/ 37 w 41"/>
                  <a:gd name="T11" fmla="*/ 47 h 47"/>
                  <a:gd name="T12" fmla="*/ 34 w 41"/>
                  <a:gd name="T13" fmla="*/ 47 h 47"/>
                  <a:gd name="T14" fmla="*/ 28 w 41"/>
                  <a:gd name="T15" fmla="*/ 37 h 47"/>
                  <a:gd name="T16" fmla="*/ 28 w 41"/>
                  <a:gd name="T17" fmla="*/ 25 h 47"/>
                  <a:gd name="T18" fmla="*/ 22 w 41"/>
                  <a:gd name="T19" fmla="*/ 16 h 47"/>
                  <a:gd name="T20" fmla="*/ 19 w 41"/>
                  <a:gd name="T21" fmla="*/ 13 h 47"/>
                  <a:gd name="T22" fmla="*/ 13 w 41"/>
                  <a:gd name="T23" fmla="*/ 9 h 47"/>
                  <a:gd name="T24" fmla="*/ 10 w 41"/>
                  <a:gd name="T25" fmla="*/ 6 h 47"/>
                  <a:gd name="T26" fmla="*/ 3 w 41"/>
                  <a:gd name="T27" fmla="*/ 3 h 47"/>
                  <a:gd name="T28" fmla="*/ 0 w 41"/>
                  <a:gd name="T29" fmla="*/ 0 h 47"/>
                  <a:gd name="T30" fmla="*/ 3 w 41"/>
                  <a:gd name="T31" fmla="*/ 0 h 47"/>
                  <a:gd name="T32" fmla="*/ 3 w 41"/>
                  <a:gd name="T33" fmla="*/ 0 h 47"/>
                  <a:gd name="T34" fmla="*/ 3 w 41"/>
                  <a:gd name="T35" fmla="*/ 0 h 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1"/>
                  <a:gd name="T55" fmla="*/ 0 h 47"/>
                  <a:gd name="T56" fmla="*/ 41 w 41"/>
                  <a:gd name="T57" fmla="*/ 47 h 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1" h="47">
                    <a:moveTo>
                      <a:pt x="3" y="0"/>
                    </a:moveTo>
                    <a:lnTo>
                      <a:pt x="19" y="3"/>
                    </a:lnTo>
                    <a:lnTo>
                      <a:pt x="31" y="9"/>
                    </a:lnTo>
                    <a:lnTo>
                      <a:pt x="37" y="22"/>
                    </a:lnTo>
                    <a:lnTo>
                      <a:pt x="41" y="37"/>
                    </a:lnTo>
                    <a:lnTo>
                      <a:pt x="37" y="47"/>
                    </a:lnTo>
                    <a:lnTo>
                      <a:pt x="34" y="47"/>
                    </a:lnTo>
                    <a:lnTo>
                      <a:pt x="28" y="37"/>
                    </a:lnTo>
                    <a:lnTo>
                      <a:pt x="28" y="25"/>
                    </a:lnTo>
                    <a:lnTo>
                      <a:pt x="22" y="16"/>
                    </a:lnTo>
                    <a:lnTo>
                      <a:pt x="19" y="13"/>
                    </a:lnTo>
                    <a:lnTo>
                      <a:pt x="13" y="9"/>
                    </a:lnTo>
                    <a:lnTo>
                      <a:pt x="10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5" name="Freeform 123"/>
              <p:cNvSpPr>
                <a:spLocks/>
              </p:cNvSpPr>
              <p:nvPr/>
            </p:nvSpPr>
            <p:spPr bwMode="auto">
              <a:xfrm>
                <a:off x="2205" y="1379"/>
                <a:ext cx="145" cy="59"/>
              </a:xfrm>
              <a:custGeom>
                <a:avLst/>
                <a:gdLst>
                  <a:gd name="T0" fmla="*/ 0 w 145"/>
                  <a:gd name="T1" fmla="*/ 56 h 59"/>
                  <a:gd name="T2" fmla="*/ 6 w 145"/>
                  <a:gd name="T3" fmla="*/ 50 h 59"/>
                  <a:gd name="T4" fmla="*/ 12 w 145"/>
                  <a:gd name="T5" fmla="*/ 43 h 59"/>
                  <a:gd name="T6" fmla="*/ 15 w 145"/>
                  <a:gd name="T7" fmla="*/ 37 h 59"/>
                  <a:gd name="T8" fmla="*/ 21 w 145"/>
                  <a:gd name="T9" fmla="*/ 34 h 59"/>
                  <a:gd name="T10" fmla="*/ 34 w 145"/>
                  <a:gd name="T11" fmla="*/ 28 h 59"/>
                  <a:gd name="T12" fmla="*/ 49 w 145"/>
                  <a:gd name="T13" fmla="*/ 22 h 59"/>
                  <a:gd name="T14" fmla="*/ 55 w 145"/>
                  <a:gd name="T15" fmla="*/ 16 h 59"/>
                  <a:gd name="T16" fmla="*/ 58 w 145"/>
                  <a:gd name="T17" fmla="*/ 13 h 59"/>
                  <a:gd name="T18" fmla="*/ 61 w 145"/>
                  <a:gd name="T19" fmla="*/ 9 h 59"/>
                  <a:gd name="T20" fmla="*/ 68 w 145"/>
                  <a:gd name="T21" fmla="*/ 6 h 59"/>
                  <a:gd name="T22" fmla="*/ 86 w 145"/>
                  <a:gd name="T23" fmla="*/ 3 h 59"/>
                  <a:gd name="T24" fmla="*/ 111 w 145"/>
                  <a:gd name="T25" fmla="*/ 0 h 59"/>
                  <a:gd name="T26" fmla="*/ 120 w 145"/>
                  <a:gd name="T27" fmla="*/ 3 h 59"/>
                  <a:gd name="T28" fmla="*/ 129 w 145"/>
                  <a:gd name="T29" fmla="*/ 9 h 59"/>
                  <a:gd name="T30" fmla="*/ 142 w 145"/>
                  <a:gd name="T31" fmla="*/ 25 h 59"/>
                  <a:gd name="T32" fmla="*/ 145 w 145"/>
                  <a:gd name="T33" fmla="*/ 34 h 59"/>
                  <a:gd name="T34" fmla="*/ 145 w 145"/>
                  <a:gd name="T35" fmla="*/ 37 h 59"/>
                  <a:gd name="T36" fmla="*/ 142 w 145"/>
                  <a:gd name="T37" fmla="*/ 37 h 59"/>
                  <a:gd name="T38" fmla="*/ 133 w 145"/>
                  <a:gd name="T39" fmla="*/ 28 h 59"/>
                  <a:gd name="T40" fmla="*/ 129 w 145"/>
                  <a:gd name="T41" fmla="*/ 22 h 59"/>
                  <a:gd name="T42" fmla="*/ 123 w 145"/>
                  <a:gd name="T43" fmla="*/ 16 h 59"/>
                  <a:gd name="T44" fmla="*/ 120 w 145"/>
                  <a:gd name="T45" fmla="*/ 13 h 59"/>
                  <a:gd name="T46" fmla="*/ 114 w 145"/>
                  <a:gd name="T47" fmla="*/ 9 h 59"/>
                  <a:gd name="T48" fmla="*/ 108 w 145"/>
                  <a:gd name="T49" fmla="*/ 9 h 59"/>
                  <a:gd name="T50" fmla="*/ 86 w 145"/>
                  <a:gd name="T51" fmla="*/ 9 h 59"/>
                  <a:gd name="T52" fmla="*/ 74 w 145"/>
                  <a:gd name="T53" fmla="*/ 13 h 59"/>
                  <a:gd name="T54" fmla="*/ 65 w 145"/>
                  <a:gd name="T55" fmla="*/ 22 h 59"/>
                  <a:gd name="T56" fmla="*/ 58 w 145"/>
                  <a:gd name="T57" fmla="*/ 28 h 59"/>
                  <a:gd name="T58" fmla="*/ 52 w 145"/>
                  <a:gd name="T59" fmla="*/ 31 h 59"/>
                  <a:gd name="T60" fmla="*/ 24 w 145"/>
                  <a:gd name="T61" fmla="*/ 40 h 59"/>
                  <a:gd name="T62" fmla="*/ 12 w 145"/>
                  <a:gd name="T63" fmla="*/ 47 h 59"/>
                  <a:gd name="T64" fmla="*/ 3 w 145"/>
                  <a:gd name="T65" fmla="*/ 56 h 59"/>
                  <a:gd name="T66" fmla="*/ 3 w 145"/>
                  <a:gd name="T67" fmla="*/ 59 h 59"/>
                  <a:gd name="T68" fmla="*/ 0 w 145"/>
                  <a:gd name="T69" fmla="*/ 56 h 59"/>
                  <a:gd name="T70" fmla="*/ 0 w 145"/>
                  <a:gd name="T71" fmla="*/ 56 h 59"/>
                  <a:gd name="T72" fmla="*/ 0 w 145"/>
                  <a:gd name="T73" fmla="*/ 56 h 5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45"/>
                  <a:gd name="T112" fmla="*/ 0 h 59"/>
                  <a:gd name="T113" fmla="*/ 145 w 145"/>
                  <a:gd name="T114" fmla="*/ 59 h 5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45" h="59">
                    <a:moveTo>
                      <a:pt x="0" y="56"/>
                    </a:moveTo>
                    <a:lnTo>
                      <a:pt x="6" y="50"/>
                    </a:lnTo>
                    <a:lnTo>
                      <a:pt x="12" y="43"/>
                    </a:lnTo>
                    <a:lnTo>
                      <a:pt x="15" y="37"/>
                    </a:lnTo>
                    <a:lnTo>
                      <a:pt x="21" y="34"/>
                    </a:lnTo>
                    <a:lnTo>
                      <a:pt x="34" y="28"/>
                    </a:lnTo>
                    <a:lnTo>
                      <a:pt x="49" y="22"/>
                    </a:lnTo>
                    <a:lnTo>
                      <a:pt x="55" y="16"/>
                    </a:lnTo>
                    <a:lnTo>
                      <a:pt x="58" y="13"/>
                    </a:lnTo>
                    <a:lnTo>
                      <a:pt x="61" y="9"/>
                    </a:lnTo>
                    <a:lnTo>
                      <a:pt x="68" y="6"/>
                    </a:lnTo>
                    <a:lnTo>
                      <a:pt x="86" y="3"/>
                    </a:lnTo>
                    <a:lnTo>
                      <a:pt x="111" y="0"/>
                    </a:lnTo>
                    <a:lnTo>
                      <a:pt x="120" y="3"/>
                    </a:lnTo>
                    <a:lnTo>
                      <a:pt x="129" y="9"/>
                    </a:lnTo>
                    <a:lnTo>
                      <a:pt x="142" y="25"/>
                    </a:lnTo>
                    <a:lnTo>
                      <a:pt x="145" y="34"/>
                    </a:lnTo>
                    <a:lnTo>
                      <a:pt x="145" y="37"/>
                    </a:lnTo>
                    <a:lnTo>
                      <a:pt x="142" y="37"/>
                    </a:lnTo>
                    <a:lnTo>
                      <a:pt x="133" y="28"/>
                    </a:lnTo>
                    <a:lnTo>
                      <a:pt x="129" y="22"/>
                    </a:lnTo>
                    <a:lnTo>
                      <a:pt x="123" y="16"/>
                    </a:lnTo>
                    <a:lnTo>
                      <a:pt x="120" y="13"/>
                    </a:lnTo>
                    <a:lnTo>
                      <a:pt x="114" y="9"/>
                    </a:lnTo>
                    <a:lnTo>
                      <a:pt x="108" y="9"/>
                    </a:lnTo>
                    <a:lnTo>
                      <a:pt x="86" y="9"/>
                    </a:lnTo>
                    <a:lnTo>
                      <a:pt x="74" y="13"/>
                    </a:lnTo>
                    <a:lnTo>
                      <a:pt x="65" y="22"/>
                    </a:lnTo>
                    <a:lnTo>
                      <a:pt x="58" y="28"/>
                    </a:lnTo>
                    <a:lnTo>
                      <a:pt x="52" y="31"/>
                    </a:lnTo>
                    <a:lnTo>
                      <a:pt x="24" y="40"/>
                    </a:lnTo>
                    <a:lnTo>
                      <a:pt x="12" y="47"/>
                    </a:lnTo>
                    <a:lnTo>
                      <a:pt x="3" y="56"/>
                    </a:lnTo>
                    <a:lnTo>
                      <a:pt x="3" y="59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6" name="Freeform 124"/>
              <p:cNvSpPr>
                <a:spLocks/>
              </p:cNvSpPr>
              <p:nvPr/>
            </p:nvSpPr>
            <p:spPr bwMode="auto">
              <a:xfrm>
                <a:off x="2260" y="1407"/>
                <a:ext cx="59" cy="56"/>
              </a:xfrm>
              <a:custGeom>
                <a:avLst/>
                <a:gdLst>
                  <a:gd name="T0" fmla="*/ 59 w 59"/>
                  <a:gd name="T1" fmla="*/ 3 h 56"/>
                  <a:gd name="T2" fmla="*/ 47 w 59"/>
                  <a:gd name="T3" fmla="*/ 6 h 56"/>
                  <a:gd name="T4" fmla="*/ 44 w 59"/>
                  <a:gd name="T5" fmla="*/ 12 h 56"/>
                  <a:gd name="T6" fmla="*/ 37 w 59"/>
                  <a:gd name="T7" fmla="*/ 15 h 56"/>
                  <a:gd name="T8" fmla="*/ 25 w 59"/>
                  <a:gd name="T9" fmla="*/ 22 h 56"/>
                  <a:gd name="T10" fmla="*/ 19 w 59"/>
                  <a:gd name="T11" fmla="*/ 31 h 56"/>
                  <a:gd name="T12" fmla="*/ 10 w 59"/>
                  <a:gd name="T13" fmla="*/ 43 h 56"/>
                  <a:gd name="T14" fmla="*/ 3 w 59"/>
                  <a:gd name="T15" fmla="*/ 53 h 56"/>
                  <a:gd name="T16" fmla="*/ 0 w 59"/>
                  <a:gd name="T17" fmla="*/ 56 h 56"/>
                  <a:gd name="T18" fmla="*/ 0 w 59"/>
                  <a:gd name="T19" fmla="*/ 53 h 56"/>
                  <a:gd name="T20" fmla="*/ 13 w 59"/>
                  <a:gd name="T21" fmla="*/ 25 h 56"/>
                  <a:gd name="T22" fmla="*/ 19 w 59"/>
                  <a:gd name="T23" fmla="*/ 12 h 56"/>
                  <a:gd name="T24" fmla="*/ 22 w 59"/>
                  <a:gd name="T25" fmla="*/ 6 h 56"/>
                  <a:gd name="T26" fmla="*/ 28 w 59"/>
                  <a:gd name="T27" fmla="*/ 3 h 56"/>
                  <a:gd name="T28" fmla="*/ 44 w 59"/>
                  <a:gd name="T29" fmla="*/ 0 h 56"/>
                  <a:gd name="T30" fmla="*/ 59 w 59"/>
                  <a:gd name="T31" fmla="*/ 0 h 56"/>
                  <a:gd name="T32" fmla="*/ 59 w 59"/>
                  <a:gd name="T33" fmla="*/ 0 h 56"/>
                  <a:gd name="T34" fmla="*/ 59 w 59"/>
                  <a:gd name="T35" fmla="*/ 3 h 56"/>
                  <a:gd name="T36" fmla="*/ 59 w 59"/>
                  <a:gd name="T37" fmla="*/ 3 h 56"/>
                  <a:gd name="T38" fmla="*/ 59 w 59"/>
                  <a:gd name="T39" fmla="*/ 3 h 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9"/>
                  <a:gd name="T61" fmla="*/ 0 h 56"/>
                  <a:gd name="T62" fmla="*/ 59 w 59"/>
                  <a:gd name="T63" fmla="*/ 56 h 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9" h="56">
                    <a:moveTo>
                      <a:pt x="59" y="3"/>
                    </a:moveTo>
                    <a:lnTo>
                      <a:pt x="47" y="6"/>
                    </a:lnTo>
                    <a:lnTo>
                      <a:pt x="44" y="12"/>
                    </a:lnTo>
                    <a:lnTo>
                      <a:pt x="37" y="15"/>
                    </a:lnTo>
                    <a:lnTo>
                      <a:pt x="25" y="22"/>
                    </a:lnTo>
                    <a:lnTo>
                      <a:pt x="19" y="31"/>
                    </a:lnTo>
                    <a:lnTo>
                      <a:pt x="10" y="43"/>
                    </a:lnTo>
                    <a:lnTo>
                      <a:pt x="3" y="53"/>
                    </a:lnTo>
                    <a:lnTo>
                      <a:pt x="0" y="56"/>
                    </a:lnTo>
                    <a:lnTo>
                      <a:pt x="0" y="53"/>
                    </a:lnTo>
                    <a:lnTo>
                      <a:pt x="13" y="25"/>
                    </a:lnTo>
                    <a:lnTo>
                      <a:pt x="19" y="12"/>
                    </a:lnTo>
                    <a:lnTo>
                      <a:pt x="22" y="6"/>
                    </a:lnTo>
                    <a:lnTo>
                      <a:pt x="28" y="3"/>
                    </a:lnTo>
                    <a:lnTo>
                      <a:pt x="44" y="0"/>
                    </a:lnTo>
                    <a:lnTo>
                      <a:pt x="59" y="0"/>
                    </a:lnTo>
                    <a:lnTo>
                      <a:pt x="5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7" name="Freeform 125"/>
              <p:cNvSpPr>
                <a:spLocks/>
              </p:cNvSpPr>
              <p:nvPr/>
            </p:nvSpPr>
            <p:spPr bwMode="auto">
              <a:xfrm>
                <a:off x="2202" y="1447"/>
                <a:ext cx="80" cy="47"/>
              </a:xfrm>
              <a:custGeom>
                <a:avLst/>
                <a:gdLst>
                  <a:gd name="T0" fmla="*/ 9 w 80"/>
                  <a:gd name="T1" fmla="*/ 0 h 47"/>
                  <a:gd name="T2" fmla="*/ 12 w 80"/>
                  <a:gd name="T3" fmla="*/ 9 h 47"/>
                  <a:gd name="T4" fmla="*/ 12 w 80"/>
                  <a:gd name="T5" fmla="*/ 19 h 47"/>
                  <a:gd name="T6" fmla="*/ 15 w 80"/>
                  <a:gd name="T7" fmla="*/ 22 h 47"/>
                  <a:gd name="T8" fmla="*/ 24 w 80"/>
                  <a:gd name="T9" fmla="*/ 28 h 47"/>
                  <a:gd name="T10" fmla="*/ 34 w 80"/>
                  <a:gd name="T11" fmla="*/ 34 h 47"/>
                  <a:gd name="T12" fmla="*/ 43 w 80"/>
                  <a:gd name="T13" fmla="*/ 37 h 47"/>
                  <a:gd name="T14" fmla="*/ 52 w 80"/>
                  <a:gd name="T15" fmla="*/ 40 h 47"/>
                  <a:gd name="T16" fmla="*/ 64 w 80"/>
                  <a:gd name="T17" fmla="*/ 43 h 47"/>
                  <a:gd name="T18" fmla="*/ 77 w 80"/>
                  <a:gd name="T19" fmla="*/ 37 h 47"/>
                  <a:gd name="T20" fmla="*/ 80 w 80"/>
                  <a:gd name="T21" fmla="*/ 37 h 47"/>
                  <a:gd name="T22" fmla="*/ 80 w 80"/>
                  <a:gd name="T23" fmla="*/ 40 h 47"/>
                  <a:gd name="T24" fmla="*/ 77 w 80"/>
                  <a:gd name="T25" fmla="*/ 43 h 47"/>
                  <a:gd name="T26" fmla="*/ 74 w 80"/>
                  <a:gd name="T27" fmla="*/ 43 h 47"/>
                  <a:gd name="T28" fmla="*/ 64 w 80"/>
                  <a:gd name="T29" fmla="*/ 47 h 47"/>
                  <a:gd name="T30" fmla="*/ 43 w 80"/>
                  <a:gd name="T31" fmla="*/ 47 h 47"/>
                  <a:gd name="T32" fmla="*/ 21 w 80"/>
                  <a:gd name="T33" fmla="*/ 37 h 47"/>
                  <a:gd name="T34" fmla="*/ 9 w 80"/>
                  <a:gd name="T35" fmla="*/ 34 h 47"/>
                  <a:gd name="T36" fmla="*/ 6 w 80"/>
                  <a:gd name="T37" fmla="*/ 31 h 47"/>
                  <a:gd name="T38" fmla="*/ 0 w 80"/>
                  <a:gd name="T39" fmla="*/ 19 h 47"/>
                  <a:gd name="T40" fmla="*/ 3 w 80"/>
                  <a:gd name="T41" fmla="*/ 0 h 47"/>
                  <a:gd name="T42" fmla="*/ 9 w 80"/>
                  <a:gd name="T43" fmla="*/ 0 h 47"/>
                  <a:gd name="T44" fmla="*/ 9 w 80"/>
                  <a:gd name="T45" fmla="*/ 0 h 47"/>
                  <a:gd name="T46" fmla="*/ 9 w 80"/>
                  <a:gd name="T47" fmla="*/ 0 h 4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0"/>
                  <a:gd name="T73" fmla="*/ 0 h 47"/>
                  <a:gd name="T74" fmla="*/ 80 w 80"/>
                  <a:gd name="T75" fmla="*/ 47 h 4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0" h="47">
                    <a:moveTo>
                      <a:pt x="9" y="0"/>
                    </a:moveTo>
                    <a:lnTo>
                      <a:pt x="12" y="9"/>
                    </a:lnTo>
                    <a:lnTo>
                      <a:pt x="12" y="19"/>
                    </a:lnTo>
                    <a:lnTo>
                      <a:pt x="15" y="22"/>
                    </a:lnTo>
                    <a:lnTo>
                      <a:pt x="24" y="28"/>
                    </a:lnTo>
                    <a:lnTo>
                      <a:pt x="34" y="34"/>
                    </a:lnTo>
                    <a:lnTo>
                      <a:pt x="43" y="37"/>
                    </a:lnTo>
                    <a:lnTo>
                      <a:pt x="52" y="40"/>
                    </a:lnTo>
                    <a:lnTo>
                      <a:pt x="64" y="43"/>
                    </a:lnTo>
                    <a:lnTo>
                      <a:pt x="77" y="37"/>
                    </a:lnTo>
                    <a:lnTo>
                      <a:pt x="80" y="37"/>
                    </a:lnTo>
                    <a:lnTo>
                      <a:pt x="80" y="40"/>
                    </a:lnTo>
                    <a:lnTo>
                      <a:pt x="77" y="43"/>
                    </a:lnTo>
                    <a:lnTo>
                      <a:pt x="74" y="43"/>
                    </a:lnTo>
                    <a:lnTo>
                      <a:pt x="64" y="47"/>
                    </a:lnTo>
                    <a:lnTo>
                      <a:pt x="43" y="47"/>
                    </a:lnTo>
                    <a:lnTo>
                      <a:pt x="21" y="37"/>
                    </a:lnTo>
                    <a:lnTo>
                      <a:pt x="9" y="34"/>
                    </a:lnTo>
                    <a:lnTo>
                      <a:pt x="6" y="31"/>
                    </a:lnTo>
                    <a:lnTo>
                      <a:pt x="0" y="19"/>
                    </a:lnTo>
                    <a:lnTo>
                      <a:pt x="3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8" name="Freeform 126"/>
              <p:cNvSpPr>
                <a:spLocks/>
              </p:cNvSpPr>
              <p:nvPr/>
            </p:nvSpPr>
            <p:spPr bwMode="auto">
              <a:xfrm>
                <a:off x="2279" y="1481"/>
                <a:ext cx="111" cy="19"/>
              </a:xfrm>
              <a:custGeom>
                <a:avLst/>
                <a:gdLst>
                  <a:gd name="T0" fmla="*/ 0 w 111"/>
                  <a:gd name="T1" fmla="*/ 0 h 19"/>
                  <a:gd name="T2" fmla="*/ 43 w 111"/>
                  <a:gd name="T3" fmla="*/ 6 h 19"/>
                  <a:gd name="T4" fmla="*/ 68 w 111"/>
                  <a:gd name="T5" fmla="*/ 6 h 19"/>
                  <a:gd name="T6" fmla="*/ 108 w 111"/>
                  <a:gd name="T7" fmla="*/ 9 h 19"/>
                  <a:gd name="T8" fmla="*/ 111 w 111"/>
                  <a:gd name="T9" fmla="*/ 13 h 19"/>
                  <a:gd name="T10" fmla="*/ 111 w 111"/>
                  <a:gd name="T11" fmla="*/ 13 h 19"/>
                  <a:gd name="T12" fmla="*/ 108 w 111"/>
                  <a:gd name="T13" fmla="*/ 16 h 19"/>
                  <a:gd name="T14" fmla="*/ 65 w 111"/>
                  <a:gd name="T15" fmla="*/ 19 h 19"/>
                  <a:gd name="T16" fmla="*/ 49 w 111"/>
                  <a:gd name="T17" fmla="*/ 16 h 19"/>
                  <a:gd name="T18" fmla="*/ 25 w 111"/>
                  <a:gd name="T19" fmla="*/ 9 h 19"/>
                  <a:gd name="T20" fmla="*/ 12 w 111"/>
                  <a:gd name="T21" fmla="*/ 6 h 19"/>
                  <a:gd name="T22" fmla="*/ 0 w 111"/>
                  <a:gd name="T23" fmla="*/ 6 h 19"/>
                  <a:gd name="T24" fmla="*/ 0 w 111"/>
                  <a:gd name="T25" fmla="*/ 3 h 19"/>
                  <a:gd name="T26" fmla="*/ 0 w 111"/>
                  <a:gd name="T27" fmla="*/ 0 h 19"/>
                  <a:gd name="T28" fmla="*/ 0 w 111"/>
                  <a:gd name="T29" fmla="*/ 0 h 19"/>
                  <a:gd name="T30" fmla="*/ 0 w 111"/>
                  <a:gd name="T31" fmla="*/ 0 h 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11"/>
                  <a:gd name="T49" fmla="*/ 0 h 19"/>
                  <a:gd name="T50" fmla="*/ 111 w 111"/>
                  <a:gd name="T51" fmla="*/ 19 h 1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11" h="19">
                    <a:moveTo>
                      <a:pt x="0" y="0"/>
                    </a:moveTo>
                    <a:lnTo>
                      <a:pt x="43" y="6"/>
                    </a:lnTo>
                    <a:lnTo>
                      <a:pt x="68" y="6"/>
                    </a:lnTo>
                    <a:lnTo>
                      <a:pt x="108" y="9"/>
                    </a:lnTo>
                    <a:lnTo>
                      <a:pt x="111" y="13"/>
                    </a:lnTo>
                    <a:lnTo>
                      <a:pt x="108" y="16"/>
                    </a:lnTo>
                    <a:lnTo>
                      <a:pt x="65" y="19"/>
                    </a:lnTo>
                    <a:lnTo>
                      <a:pt x="49" y="16"/>
                    </a:lnTo>
                    <a:lnTo>
                      <a:pt x="25" y="9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59" name="Freeform 127"/>
              <p:cNvSpPr>
                <a:spLocks/>
              </p:cNvSpPr>
              <p:nvPr/>
            </p:nvSpPr>
            <p:spPr bwMode="auto">
              <a:xfrm>
                <a:off x="2325" y="1410"/>
                <a:ext cx="59" cy="25"/>
              </a:xfrm>
              <a:custGeom>
                <a:avLst/>
                <a:gdLst>
                  <a:gd name="T0" fmla="*/ 3 w 59"/>
                  <a:gd name="T1" fmla="*/ 0 h 25"/>
                  <a:gd name="T2" fmla="*/ 56 w 59"/>
                  <a:gd name="T3" fmla="*/ 12 h 25"/>
                  <a:gd name="T4" fmla="*/ 59 w 59"/>
                  <a:gd name="T5" fmla="*/ 16 h 25"/>
                  <a:gd name="T6" fmla="*/ 59 w 59"/>
                  <a:gd name="T7" fmla="*/ 22 h 25"/>
                  <a:gd name="T8" fmla="*/ 56 w 59"/>
                  <a:gd name="T9" fmla="*/ 25 h 25"/>
                  <a:gd name="T10" fmla="*/ 50 w 59"/>
                  <a:gd name="T11" fmla="*/ 25 h 25"/>
                  <a:gd name="T12" fmla="*/ 37 w 59"/>
                  <a:gd name="T13" fmla="*/ 19 h 25"/>
                  <a:gd name="T14" fmla="*/ 25 w 59"/>
                  <a:gd name="T15" fmla="*/ 12 h 25"/>
                  <a:gd name="T16" fmla="*/ 16 w 59"/>
                  <a:gd name="T17" fmla="*/ 6 h 25"/>
                  <a:gd name="T18" fmla="*/ 3 w 59"/>
                  <a:gd name="T19" fmla="*/ 3 h 25"/>
                  <a:gd name="T20" fmla="*/ 0 w 59"/>
                  <a:gd name="T21" fmla="*/ 0 h 25"/>
                  <a:gd name="T22" fmla="*/ 3 w 59"/>
                  <a:gd name="T23" fmla="*/ 0 h 25"/>
                  <a:gd name="T24" fmla="*/ 3 w 59"/>
                  <a:gd name="T25" fmla="*/ 0 h 25"/>
                  <a:gd name="T26" fmla="*/ 3 w 59"/>
                  <a:gd name="T27" fmla="*/ 0 h 2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9"/>
                  <a:gd name="T43" fmla="*/ 0 h 25"/>
                  <a:gd name="T44" fmla="*/ 59 w 59"/>
                  <a:gd name="T45" fmla="*/ 25 h 2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9" h="25">
                    <a:moveTo>
                      <a:pt x="3" y="0"/>
                    </a:moveTo>
                    <a:lnTo>
                      <a:pt x="56" y="12"/>
                    </a:lnTo>
                    <a:lnTo>
                      <a:pt x="59" y="16"/>
                    </a:lnTo>
                    <a:lnTo>
                      <a:pt x="59" y="22"/>
                    </a:lnTo>
                    <a:lnTo>
                      <a:pt x="56" y="25"/>
                    </a:lnTo>
                    <a:lnTo>
                      <a:pt x="50" y="25"/>
                    </a:lnTo>
                    <a:lnTo>
                      <a:pt x="37" y="19"/>
                    </a:lnTo>
                    <a:lnTo>
                      <a:pt x="25" y="12"/>
                    </a:lnTo>
                    <a:lnTo>
                      <a:pt x="16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0" name="Freeform 128"/>
              <p:cNvSpPr>
                <a:spLocks/>
              </p:cNvSpPr>
              <p:nvPr/>
            </p:nvSpPr>
            <p:spPr bwMode="auto">
              <a:xfrm>
                <a:off x="2347" y="1317"/>
                <a:ext cx="21" cy="50"/>
              </a:xfrm>
              <a:custGeom>
                <a:avLst/>
                <a:gdLst>
                  <a:gd name="T0" fmla="*/ 6 w 21"/>
                  <a:gd name="T1" fmla="*/ 0 h 50"/>
                  <a:gd name="T2" fmla="*/ 6 w 21"/>
                  <a:gd name="T3" fmla="*/ 7 h 50"/>
                  <a:gd name="T4" fmla="*/ 12 w 21"/>
                  <a:gd name="T5" fmla="*/ 13 h 50"/>
                  <a:gd name="T6" fmla="*/ 21 w 21"/>
                  <a:gd name="T7" fmla="*/ 25 h 50"/>
                  <a:gd name="T8" fmla="*/ 21 w 21"/>
                  <a:gd name="T9" fmla="*/ 34 h 50"/>
                  <a:gd name="T10" fmla="*/ 21 w 21"/>
                  <a:gd name="T11" fmla="*/ 47 h 50"/>
                  <a:gd name="T12" fmla="*/ 21 w 21"/>
                  <a:gd name="T13" fmla="*/ 50 h 50"/>
                  <a:gd name="T14" fmla="*/ 18 w 21"/>
                  <a:gd name="T15" fmla="*/ 47 h 50"/>
                  <a:gd name="T16" fmla="*/ 15 w 21"/>
                  <a:gd name="T17" fmla="*/ 37 h 50"/>
                  <a:gd name="T18" fmla="*/ 9 w 21"/>
                  <a:gd name="T19" fmla="*/ 28 h 50"/>
                  <a:gd name="T20" fmla="*/ 0 w 21"/>
                  <a:gd name="T21" fmla="*/ 0 h 50"/>
                  <a:gd name="T22" fmla="*/ 6 w 21"/>
                  <a:gd name="T23" fmla="*/ 0 h 50"/>
                  <a:gd name="T24" fmla="*/ 6 w 21"/>
                  <a:gd name="T25" fmla="*/ 0 h 50"/>
                  <a:gd name="T26" fmla="*/ 6 w 21"/>
                  <a:gd name="T27" fmla="*/ 0 h 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1"/>
                  <a:gd name="T43" fmla="*/ 0 h 50"/>
                  <a:gd name="T44" fmla="*/ 21 w 21"/>
                  <a:gd name="T45" fmla="*/ 50 h 5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1" h="50">
                    <a:moveTo>
                      <a:pt x="6" y="0"/>
                    </a:moveTo>
                    <a:lnTo>
                      <a:pt x="6" y="7"/>
                    </a:lnTo>
                    <a:lnTo>
                      <a:pt x="12" y="13"/>
                    </a:lnTo>
                    <a:lnTo>
                      <a:pt x="21" y="25"/>
                    </a:lnTo>
                    <a:lnTo>
                      <a:pt x="21" y="34"/>
                    </a:lnTo>
                    <a:lnTo>
                      <a:pt x="21" y="47"/>
                    </a:lnTo>
                    <a:lnTo>
                      <a:pt x="21" y="50"/>
                    </a:lnTo>
                    <a:lnTo>
                      <a:pt x="18" y="47"/>
                    </a:lnTo>
                    <a:lnTo>
                      <a:pt x="15" y="37"/>
                    </a:lnTo>
                    <a:lnTo>
                      <a:pt x="9" y="28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1" name="Freeform 129"/>
              <p:cNvSpPr>
                <a:spLocks/>
              </p:cNvSpPr>
              <p:nvPr/>
            </p:nvSpPr>
            <p:spPr bwMode="auto">
              <a:xfrm>
                <a:off x="2307" y="1314"/>
                <a:ext cx="21" cy="65"/>
              </a:xfrm>
              <a:custGeom>
                <a:avLst/>
                <a:gdLst>
                  <a:gd name="T0" fmla="*/ 21 w 21"/>
                  <a:gd name="T1" fmla="*/ 0 h 65"/>
                  <a:gd name="T2" fmla="*/ 12 w 21"/>
                  <a:gd name="T3" fmla="*/ 40 h 65"/>
                  <a:gd name="T4" fmla="*/ 6 w 21"/>
                  <a:gd name="T5" fmla="*/ 62 h 65"/>
                  <a:gd name="T6" fmla="*/ 6 w 21"/>
                  <a:gd name="T7" fmla="*/ 65 h 65"/>
                  <a:gd name="T8" fmla="*/ 3 w 21"/>
                  <a:gd name="T9" fmla="*/ 65 h 65"/>
                  <a:gd name="T10" fmla="*/ 0 w 21"/>
                  <a:gd name="T11" fmla="*/ 59 h 65"/>
                  <a:gd name="T12" fmla="*/ 0 w 21"/>
                  <a:gd name="T13" fmla="*/ 47 h 65"/>
                  <a:gd name="T14" fmla="*/ 3 w 21"/>
                  <a:gd name="T15" fmla="*/ 34 h 65"/>
                  <a:gd name="T16" fmla="*/ 15 w 21"/>
                  <a:gd name="T17" fmla="*/ 0 h 65"/>
                  <a:gd name="T18" fmla="*/ 18 w 21"/>
                  <a:gd name="T19" fmla="*/ 0 h 65"/>
                  <a:gd name="T20" fmla="*/ 21 w 21"/>
                  <a:gd name="T21" fmla="*/ 0 h 65"/>
                  <a:gd name="T22" fmla="*/ 21 w 21"/>
                  <a:gd name="T23" fmla="*/ 0 h 65"/>
                  <a:gd name="T24" fmla="*/ 21 w 21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"/>
                  <a:gd name="T40" fmla="*/ 0 h 65"/>
                  <a:gd name="T41" fmla="*/ 21 w 21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" h="65">
                    <a:moveTo>
                      <a:pt x="21" y="0"/>
                    </a:moveTo>
                    <a:lnTo>
                      <a:pt x="12" y="40"/>
                    </a:lnTo>
                    <a:lnTo>
                      <a:pt x="6" y="62"/>
                    </a:lnTo>
                    <a:lnTo>
                      <a:pt x="6" y="65"/>
                    </a:lnTo>
                    <a:lnTo>
                      <a:pt x="3" y="65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3" y="34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2" name="Freeform 130"/>
              <p:cNvSpPr>
                <a:spLocks/>
              </p:cNvSpPr>
              <p:nvPr/>
            </p:nvSpPr>
            <p:spPr bwMode="auto">
              <a:xfrm>
                <a:off x="2325" y="1327"/>
                <a:ext cx="28" cy="40"/>
              </a:xfrm>
              <a:custGeom>
                <a:avLst/>
                <a:gdLst>
                  <a:gd name="T0" fmla="*/ 3 w 28"/>
                  <a:gd name="T1" fmla="*/ 37 h 40"/>
                  <a:gd name="T2" fmla="*/ 0 w 28"/>
                  <a:gd name="T3" fmla="*/ 21 h 40"/>
                  <a:gd name="T4" fmla="*/ 3 w 28"/>
                  <a:gd name="T5" fmla="*/ 9 h 40"/>
                  <a:gd name="T6" fmla="*/ 13 w 28"/>
                  <a:gd name="T7" fmla="*/ 0 h 40"/>
                  <a:gd name="T8" fmla="*/ 16 w 28"/>
                  <a:gd name="T9" fmla="*/ 0 h 40"/>
                  <a:gd name="T10" fmla="*/ 22 w 28"/>
                  <a:gd name="T11" fmla="*/ 9 h 40"/>
                  <a:gd name="T12" fmla="*/ 28 w 28"/>
                  <a:gd name="T13" fmla="*/ 24 h 40"/>
                  <a:gd name="T14" fmla="*/ 25 w 28"/>
                  <a:gd name="T15" fmla="*/ 24 h 40"/>
                  <a:gd name="T16" fmla="*/ 22 w 28"/>
                  <a:gd name="T17" fmla="*/ 24 h 40"/>
                  <a:gd name="T18" fmla="*/ 19 w 28"/>
                  <a:gd name="T19" fmla="*/ 18 h 40"/>
                  <a:gd name="T20" fmla="*/ 16 w 28"/>
                  <a:gd name="T21" fmla="*/ 12 h 40"/>
                  <a:gd name="T22" fmla="*/ 13 w 28"/>
                  <a:gd name="T23" fmla="*/ 9 h 40"/>
                  <a:gd name="T24" fmla="*/ 9 w 28"/>
                  <a:gd name="T25" fmla="*/ 21 h 40"/>
                  <a:gd name="T26" fmla="*/ 9 w 28"/>
                  <a:gd name="T27" fmla="*/ 37 h 40"/>
                  <a:gd name="T28" fmla="*/ 6 w 28"/>
                  <a:gd name="T29" fmla="*/ 40 h 40"/>
                  <a:gd name="T30" fmla="*/ 3 w 28"/>
                  <a:gd name="T31" fmla="*/ 37 h 40"/>
                  <a:gd name="T32" fmla="*/ 3 w 28"/>
                  <a:gd name="T33" fmla="*/ 37 h 40"/>
                  <a:gd name="T34" fmla="*/ 3 w 28"/>
                  <a:gd name="T35" fmla="*/ 37 h 4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"/>
                  <a:gd name="T55" fmla="*/ 0 h 40"/>
                  <a:gd name="T56" fmla="*/ 28 w 28"/>
                  <a:gd name="T57" fmla="*/ 40 h 4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" h="40">
                    <a:moveTo>
                      <a:pt x="3" y="37"/>
                    </a:moveTo>
                    <a:lnTo>
                      <a:pt x="0" y="21"/>
                    </a:lnTo>
                    <a:lnTo>
                      <a:pt x="3" y="9"/>
                    </a:lnTo>
                    <a:lnTo>
                      <a:pt x="13" y="0"/>
                    </a:lnTo>
                    <a:lnTo>
                      <a:pt x="16" y="0"/>
                    </a:lnTo>
                    <a:lnTo>
                      <a:pt x="22" y="9"/>
                    </a:lnTo>
                    <a:lnTo>
                      <a:pt x="28" y="24"/>
                    </a:lnTo>
                    <a:lnTo>
                      <a:pt x="25" y="24"/>
                    </a:lnTo>
                    <a:lnTo>
                      <a:pt x="22" y="24"/>
                    </a:lnTo>
                    <a:lnTo>
                      <a:pt x="19" y="18"/>
                    </a:lnTo>
                    <a:lnTo>
                      <a:pt x="16" y="12"/>
                    </a:lnTo>
                    <a:lnTo>
                      <a:pt x="13" y="9"/>
                    </a:lnTo>
                    <a:lnTo>
                      <a:pt x="9" y="21"/>
                    </a:lnTo>
                    <a:lnTo>
                      <a:pt x="9" y="37"/>
                    </a:lnTo>
                    <a:lnTo>
                      <a:pt x="6" y="40"/>
                    </a:lnTo>
                    <a:lnTo>
                      <a:pt x="3" y="3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3" name="Freeform 131"/>
              <p:cNvSpPr>
                <a:spLocks/>
              </p:cNvSpPr>
              <p:nvPr/>
            </p:nvSpPr>
            <p:spPr bwMode="auto">
              <a:xfrm>
                <a:off x="2263" y="1126"/>
                <a:ext cx="25" cy="15"/>
              </a:xfrm>
              <a:custGeom>
                <a:avLst/>
                <a:gdLst>
                  <a:gd name="T0" fmla="*/ 0 w 25"/>
                  <a:gd name="T1" fmla="*/ 12 h 15"/>
                  <a:gd name="T2" fmla="*/ 3 w 25"/>
                  <a:gd name="T3" fmla="*/ 9 h 15"/>
                  <a:gd name="T4" fmla="*/ 7 w 25"/>
                  <a:gd name="T5" fmla="*/ 6 h 15"/>
                  <a:gd name="T6" fmla="*/ 16 w 25"/>
                  <a:gd name="T7" fmla="*/ 0 h 15"/>
                  <a:gd name="T8" fmla="*/ 22 w 25"/>
                  <a:gd name="T9" fmla="*/ 0 h 15"/>
                  <a:gd name="T10" fmla="*/ 25 w 25"/>
                  <a:gd name="T11" fmla="*/ 3 h 15"/>
                  <a:gd name="T12" fmla="*/ 22 w 25"/>
                  <a:gd name="T13" fmla="*/ 9 h 15"/>
                  <a:gd name="T14" fmla="*/ 13 w 25"/>
                  <a:gd name="T15" fmla="*/ 9 h 15"/>
                  <a:gd name="T16" fmla="*/ 3 w 25"/>
                  <a:gd name="T17" fmla="*/ 15 h 15"/>
                  <a:gd name="T18" fmla="*/ 0 w 25"/>
                  <a:gd name="T19" fmla="*/ 15 h 15"/>
                  <a:gd name="T20" fmla="*/ 0 w 25"/>
                  <a:gd name="T21" fmla="*/ 12 h 15"/>
                  <a:gd name="T22" fmla="*/ 0 w 25"/>
                  <a:gd name="T23" fmla="*/ 12 h 15"/>
                  <a:gd name="T24" fmla="*/ 0 w 25"/>
                  <a:gd name="T25" fmla="*/ 12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5"/>
                  <a:gd name="T40" fmla="*/ 0 h 15"/>
                  <a:gd name="T41" fmla="*/ 25 w 25"/>
                  <a:gd name="T42" fmla="*/ 15 h 1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5" h="15">
                    <a:moveTo>
                      <a:pt x="0" y="12"/>
                    </a:moveTo>
                    <a:lnTo>
                      <a:pt x="3" y="9"/>
                    </a:lnTo>
                    <a:lnTo>
                      <a:pt x="7" y="6"/>
                    </a:lnTo>
                    <a:lnTo>
                      <a:pt x="16" y="0"/>
                    </a:lnTo>
                    <a:lnTo>
                      <a:pt x="22" y="0"/>
                    </a:lnTo>
                    <a:lnTo>
                      <a:pt x="25" y="3"/>
                    </a:lnTo>
                    <a:lnTo>
                      <a:pt x="22" y="9"/>
                    </a:lnTo>
                    <a:lnTo>
                      <a:pt x="13" y="9"/>
                    </a:lnTo>
                    <a:lnTo>
                      <a:pt x="3" y="15"/>
                    </a:lnTo>
                    <a:lnTo>
                      <a:pt x="0" y="15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4" name="Freeform 132"/>
              <p:cNvSpPr>
                <a:spLocks/>
              </p:cNvSpPr>
              <p:nvPr/>
            </p:nvSpPr>
            <p:spPr bwMode="auto">
              <a:xfrm>
                <a:off x="2263" y="1141"/>
                <a:ext cx="22" cy="13"/>
              </a:xfrm>
              <a:custGeom>
                <a:avLst/>
                <a:gdLst>
                  <a:gd name="T0" fmla="*/ 0 w 22"/>
                  <a:gd name="T1" fmla="*/ 10 h 13"/>
                  <a:gd name="T2" fmla="*/ 3 w 22"/>
                  <a:gd name="T3" fmla="*/ 6 h 13"/>
                  <a:gd name="T4" fmla="*/ 7 w 22"/>
                  <a:gd name="T5" fmla="*/ 3 h 13"/>
                  <a:gd name="T6" fmla="*/ 16 w 22"/>
                  <a:gd name="T7" fmla="*/ 0 h 13"/>
                  <a:gd name="T8" fmla="*/ 22 w 22"/>
                  <a:gd name="T9" fmla="*/ 3 h 13"/>
                  <a:gd name="T10" fmla="*/ 22 w 22"/>
                  <a:gd name="T11" fmla="*/ 6 h 13"/>
                  <a:gd name="T12" fmla="*/ 19 w 22"/>
                  <a:gd name="T13" fmla="*/ 10 h 13"/>
                  <a:gd name="T14" fmla="*/ 3 w 22"/>
                  <a:gd name="T15" fmla="*/ 13 h 13"/>
                  <a:gd name="T16" fmla="*/ 0 w 22"/>
                  <a:gd name="T17" fmla="*/ 13 h 13"/>
                  <a:gd name="T18" fmla="*/ 0 w 22"/>
                  <a:gd name="T19" fmla="*/ 10 h 13"/>
                  <a:gd name="T20" fmla="*/ 0 w 22"/>
                  <a:gd name="T21" fmla="*/ 10 h 13"/>
                  <a:gd name="T22" fmla="*/ 0 w 22"/>
                  <a:gd name="T23" fmla="*/ 10 h 1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"/>
                  <a:gd name="T37" fmla="*/ 0 h 13"/>
                  <a:gd name="T38" fmla="*/ 22 w 22"/>
                  <a:gd name="T39" fmla="*/ 13 h 1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" h="13">
                    <a:moveTo>
                      <a:pt x="0" y="10"/>
                    </a:moveTo>
                    <a:lnTo>
                      <a:pt x="3" y="6"/>
                    </a:lnTo>
                    <a:lnTo>
                      <a:pt x="7" y="3"/>
                    </a:lnTo>
                    <a:lnTo>
                      <a:pt x="16" y="0"/>
                    </a:lnTo>
                    <a:lnTo>
                      <a:pt x="22" y="3"/>
                    </a:lnTo>
                    <a:lnTo>
                      <a:pt x="22" y="6"/>
                    </a:lnTo>
                    <a:lnTo>
                      <a:pt x="19" y="10"/>
                    </a:lnTo>
                    <a:lnTo>
                      <a:pt x="3" y="13"/>
                    </a:lnTo>
                    <a:lnTo>
                      <a:pt x="0" y="13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5" name="Freeform 133"/>
              <p:cNvSpPr>
                <a:spLocks/>
              </p:cNvSpPr>
              <p:nvPr/>
            </p:nvSpPr>
            <p:spPr bwMode="auto">
              <a:xfrm>
                <a:off x="2307" y="1113"/>
                <a:ext cx="40" cy="19"/>
              </a:xfrm>
              <a:custGeom>
                <a:avLst/>
                <a:gdLst>
                  <a:gd name="T0" fmla="*/ 0 w 40"/>
                  <a:gd name="T1" fmla="*/ 19 h 19"/>
                  <a:gd name="T2" fmla="*/ 6 w 40"/>
                  <a:gd name="T3" fmla="*/ 10 h 19"/>
                  <a:gd name="T4" fmla="*/ 6 w 40"/>
                  <a:gd name="T5" fmla="*/ 7 h 19"/>
                  <a:gd name="T6" fmla="*/ 12 w 40"/>
                  <a:gd name="T7" fmla="*/ 7 h 19"/>
                  <a:gd name="T8" fmla="*/ 24 w 40"/>
                  <a:gd name="T9" fmla="*/ 0 h 19"/>
                  <a:gd name="T10" fmla="*/ 37 w 40"/>
                  <a:gd name="T11" fmla="*/ 7 h 19"/>
                  <a:gd name="T12" fmla="*/ 40 w 40"/>
                  <a:gd name="T13" fmla="*/ 7 h 19"/>
                  <a:gd name="T14" fmla="*/ 37 w 40"/>
                  <a:gd name="T15" fmla="*/ 10 h 19"/>
                  <a:gd name="T16" fmla="*/ 24 w 40"/>
                  <a:gd name="T17" fmla="*/ 10 h 19"/>
                  <a:gd name="T18" fmla="*/ 15 w 40"/>
                  <a:gd name="T19" fmla="*/ 13 h 19"/>
                  <a:gd name="T20" fmla="*/ 3 w 40"/>
                  <a:gd name="T21" fmla="*/ 19 h 19"/>
                  <a:gd name="T22" fmla="*/ 0 w 40"/>
                  <a:gd name="T23" fmla="*/ 19 h 19"/>
                  <a:gd name="T24" fmla="*/ 0 w 40"/>
                  <a:gd name="T25" fmla="*/ 19 h 19"/>
                  <a:gd name="T26" fmla="*/ 0 w 40"/>
                  <a:gd name="T27" fmla="*/ 19 h 19"/>
                  <a:gd name="T28" fmla="*/ 0 w 40"/>
                  <a:gd name="T29" fmla="*/ 19 h 1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0"/>
                  <a:gd name="T46" fmla="*/ 0 h 19"/>
                  <a:gd name="T47" fmla="*/ 40 w 40"/>
                  <a:gd name="T48" fmla="*/ 19 h 1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0" h="19">
                    <a:moveTo>
                      <a:pt x="0" y="19"/>
                    </a:moveTo>
                    <a:lnTo>
                      <a:pt x="6" y="10"/>
                    </a:lnTo>
                    <a:lnTo>
                      <a:pt x="6" y="7"/>
                    </a:lnTo>
                    <a:lnTo>
                      <a:pt x="12" y="7"/>
                    </a:lnTo>
                    <a:lnTo>
                      <a:pt x="24" y="0"/>
                    </a:lnTo>
                    <a:lnTo>
                      <a:pt x="37" y="7"/>
                    </a:lnTo>
                    <a:lnTo>
                      <a:pt x="40" y="7"/>
                    </a:lnTo>
                    <a:lnTo>
                      <a:pt x="37" y="10"/>
                    </a:lnTo>
                    <a:lnTo>
                      <a:pt x="24" y="10"/>
                    </a:lnTo>
                    <a:lnTo>
                      <a:pt x="15" y="13"/>
                    </a:lnTo>
                    <a:lnTo>
                      <a:pt x="3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6" name="Freeform 134"/>
              <p:cNvSpPr>
                <a:spLocks/>
              </p:cNvSpPr>
              <p:nvPr/>
            </p:nvSpPr>
            <p:spPr bwMode="auto">
              <a:xfrm>
                <a:off x="2402" y="1361"/>
                <a:ext cx="189" cy="46"/>
              </a:xfrm>
              <a:custGeom>
                <a:avLst/>
                <a:gdLst>
                  <a:gd name="T0" fmla="*/ 3 w 189"/>
                  <a:gd name="T1" fmla="*/ 0 h 46"/>
                  <a:gd name="T2" fmla="*/ 28 w 189"/>
                  <a:gd name="T3" fmla="*/ 3 h 46"/>
                  <a:gd name="T4" fmla="*/ 53 w 189"/>
                  <a:gd name="T5" fmla="*/ 9 h 46"/>
                  <a:gd name="T6" fmla="*/ 81 w 189"/>
                  <a:gd name="T7" fmla="*/ 15 h 46"/>
                  <a:gd name="T8" fmla="*/ 105 w 189"/>
                  <a:gd name="T9" fmla="*/ 15 h 46"/>
                  <a:gd name="T10" fmla="*/ 161 w 189"/>
                  <a:gd name="T11" fmla="*/ 24 h 46"/>
                  <a:gd name="T12" fmla="*/ 180 w 189"/>
                  <a:gd name="T13" fmla="*/ 31 h 46"/>
                  <a:gd name="T14" fmla="*/ 189 w 189"/>
                  <a:gd name="T15" fmla="*/ 37 h 46"/>
                  <a:gd name="T16" fmla="*/ 189 w 189"/>
                  <a:gd name="T17" fmla="*/ 43 h 46"/>
                  <a:gd name="T18" fmla="*/ 186 w 189"/>
                  <a:gd name="T19" fmla="*/ 46 h 46"/>
                  <a:gd name="T20" fmla="*/ 183 w 189"/>
                  <a:gd name="T21" fmla="*/ 46 h 46"/>
                  <a:gd name="T22" fmla="*/ 176 w 189"/>
                  <a:gd name="T23" fmla="*/ 43 h 46"/>
                  <a:gd name="T24" fmla="*/ 158 w 189"/>
                  <a:gd name="T25" fmla="*/ 37 h 46"/>
                  <a:gd name="T26" fmla="*/ 130 w 189"/>
                  <a:gd name="T27" fmla="*/ 31 h 46"/>
                  <a:gd name="T28" fmla="*/ 105 w 189"/>
                  <a:gd name="T29" fmla="*/ 24 h 46"/>
                  <a:gd name="T30" fmla="*/ 81 w 189"/>
                  <a:gd name="T31" fmla="*/ 21 h 46"/>
                  <a:gd name="T32" fmla="*/ 50 w 189"/>
                  <a:gd name="T33" fmla="*/ 15 h 46"/>
                  <a:gd name="T34" fmla="*/ 25 w 189"/>
                  <a:gd name="T35" fmla="*/ 9 h 46"/>
                  <a:gd name="T36" fmla="*/ 3 w 189"/>
                  <a:gd name="T37" fmla="*/ 6 h 46"/>
                  <a:gd name="T38" fmla="*/ 0 w 189"/>
                  <a:gd name="T39" fmla="*/ 3 h 46"/>
                  <a:gd name="T40" fmla="*/ 3 w 189"/>
                  <a:gd name="T41" fmla="*/ 0 h 46"/>
                  <a:gd name="T42" fmla="*/ 3 w 189"/>
                  <a:gd name="T43" fmla="*/ 0 h 46"/>
                  <a:gd name="T44" fmla="*/ 3 w 189"/>
                  <a:gd name="T45" fmla="*/ 0 h 4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89"/>
                  <a:gd name="T70" fmla="*/ 0 h 46"/>
                  <a:gd name="T71" fmla="*/ 189 w 189"/>
                  <a:gd name="T72" fmla="*/ 46 h 4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89" h="46">
                    <a:moveTo>
                      <a:pt x="3" y="0"/>
                    </a:moveTo>
                    <a:lnTo>
                      <a:pt x="28" y="3"/>
                    </a:lnTo>
                    <a:lnTo>
                      <a:pt x="53" y="9"/>
                    </a:lnTo>
                    <a:lnTo>
                      <a:pt x="81" y="15"/>
                    </a:lnTo>
                    <a:lnTo>
                      <a:pt x="105" y="15"/>
                    </a:lnTo>
                    <a:lnTo>
                      <a:pt x="161" y="24"/>
                    </a:lnTo>
                    <a:lnTo>
                      <a:pt x="180" y="31"/>
                    </a:lnTo>
                    <a:lnTo>
                      <a:pt x="189" y="37"/>
                    </a:lnTo>
                    <a:lnTo>
                      <a:pt x="189" y="43"/>
                    </a:lnTo>
                    <a:lnTo>
                      <a:pt x="186" y="46"/>
                    </a:lnTo>
                    <a:lnTo>
                      <a:pt x="183" y="46"/>
                    </a:lnTo>
                    <a:lnTo>
                      <a:pt x="176" y="43"/>
                    </a:lnTo>
                    <a:lnTo>
                      <a:pt x="158" y="37"/>
                    </a:lnTo>
                    <a:lnTo>
                      <a:pt x="130" y="31"/>
                    </a:lnTo>
                    <a:lnTo>
                      <a:pt x="105" y="24"/>
                    </a:lnTo>
                    <a:lnTo>
                      <a:pt x="81" y="21"/>
                    </a:lnTo>
                    <a:lnTo>
                      <a:pt x="50" y="15"/>
                    </a:lnTo>
                    <a:lnTo>
                      <a:pt x="25" y="9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7" name="Freeform 135"/>
              <p:cNvSpPr>
                <a:spLocks/>
              </p:cNvSpPr>
              <p:nvPr/>
            </p:nvSpPr>
            <p:spPr bwMode="auto">
              <a:xfrm>
                <a:off x="2359" y="1361"/>
                <a:ext cx="34" cy="15"/>
              </a:xfrm>
              <a:custGeom>
                <a:avLst/>
                <a:gdLst>
                  <a:gd name="T0" fmla="*/ 34 w 34"/>
                  <a:gd name="T1" fmla="*/ 3 h 15"/>
                  <a:gd name="T2" fmla="*/ 19 w 34"/>
                  <a:gd name="T3" fmla="*/ 6 h 15"/>
                  <a:gd name="T4" fmla="*/ 13 w 34"/>
                  <a:gd name="T5" fmla="*/ 12 h 15"/>
                  <a:gd name="T6" fmla="*/ 6 w 34"/>
                  <a:gd name="T7" fmla="*/ 15 h 15"/>
                  <a:gd name="T8" fmla="*/ 0 w 34"/>
                  <a:gd name="T9" fmla="*/ 12 h 15"/>
                  <a:gd name="T10" fmla="*/ 3 w 34"/>
                  <a:gd name="T11" fmla="*/ 6 h 15"/>
                  <a:gd name="T12" fmla="*/ 19 w 34"/>
                  <a:gd name="T13" fmla="*/ 0 h 15"/>
                  <a:gd name="T14" fmla="*/ 34 w 34"/>
                  <a:gd name="T15" fmla="*/ 0 h 15"/>
                  <a:gd name="T16" fmla="*/ 34 w 34"/>
                  <a:gd name="T17" fmla="*/ 0 h 15"/>
                  <a:gd name="T18" fmla="*/ 34 w 34"/>
                  <a:gd name="T19" fmla="*/ 3 h 15"/>
                  <a:gd name="T20" fmla="*/ 34 w 34"/>
                  <a:gd name="T21" fmla="*/ 3 h 15"/>
                  <a:gd name="T22" fmla="*/ 34 w 34"/>
                  <a:gd name="T23" fmla="*/ 3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"/>
                  <a:gd name="T37" fmla="*/ 0 h 15"/>
                  <a:gd name="T38" fmla="*/ 34 w 34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" h="15">
                    <a:moveTo>
                      <a:pt x="34" y="3"/>
                    </a:moveTo>
                    <a:lnTo>
                      <a:pt x="19" y="6"/>
                    </a:lnTo>
                    <a:lnTo>
                      <a:pt x="13" y="12"/>
                    </a:lnTo>
                    <a:lnTo>
                      <a:pt x="6" y="15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19" y="0"/>
                    </a:lnTo>
                    <a:lnTo>
                      <a:pt x="34" y="0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8" name="Freeform 136"/>
              <p:cNvSpPr>
                <a:spLocks/>
              </p:cNvSpPr>
              <p:nvPr/>
            </p:nvSpPr>
            <p:spPr bwMode="auto">
              <a:xfrm>
                <a:off x="2375" y="1382"/>
                <a:ext cx="182" cy="47"/>
              </a:xfrm>
              <a:custGeom>
                <a:avLst/>
                <a:gdLst>
                  <a:gd name="T0" fmla="*/ 0 w 182"/>
                  <a:gd name="T1" fmla="*/ 0 h 47"/>
                  <a:gd name="T2" fmla="*/ 43 w 182"/>
                  <a:gd name="T3" fmla="*/ 3 h 47"/>
                  <a:gd name="T4" fmla="*/ 64 w 182"/>
                  <a:gd name="T5" fmla="*/ 10 h 47"/>
                  <a:gd name="T6" fmla="*/ 86 w 182"/>
                  <a:gd name="T7" fmla="*/ 16 h 47"/>
                  <a:gd name="T8" fmla="*/ 108 w 182"/>
                  <a:gd name="T9" fmla="*/ 22 h 47"/>
                  <a:gd name="T10" fmla="*/ 129 w 182"/>
                  <a:gd name="T11" fmla="*/ 28 h 47"/>
                  <a:gd name="T12" fmla="*/ 148 w 182"/>
                  <a:gd name="T13" fmla="*/ 31 h 47"/>
                  <a:gd name="T14" fmla="*/ 170 w 182"/>
                  <a:gd name="T15" fmla="*/ 37 h 47"/>
                  <a:gd name="T16" fmla="*/ 182 w 182"/>
                  <a:gd name="T17" fmla="*/ 44 h 47"/>
                  <a:gd name="T18" fmla="*/ 182 w 182"/>
                  <a:gd name="T19" fmla="*/ 47 h 47"/>
                  <a:gd name="T20" fmla="*/ 179 w 182"/>
                  <a:gd name="T21" fmla="*/ 47 h 47"/>
                  <a:gd name="T22" fmla="*/ 170 w 182"/>
                  <a:gd name="T23" fmla="*/ 47 h 47"/>
                  <a:gd name="T24" fmla="*/ 145 w 182"/>
                  <a:gd name="T25" fmla="*/ 40 h 47"/>
                  <a:gd name="T26" fmla="*/ 126 w 182"/>
                  <a:gd name="T27" fmla="*/ 37 h 47"/>
                  <a:gd name="T28" fmla="*/ 108 w 182"/>
                  <a:gd name="T29" fmla="*/ 31 h 47"/>
                  <a:gd name="T30" fmla="*/ 83 w 182"/>
                  <a:gd name="T31" fmla="*/ 25 h 47"/>
                  <a:gd name="T32" fmla="*/ 61 w 182"/>
                  <a:gd name="T33" fmla="*/ 16 h 47"/>
                  <a:gd name="T34" fmla="*/ 43 w 182"/>
                  <a:gd name="T35" fmla="*/ 10 h 47"/>
                  <a:gd name="T36" fmla="*/ 24 w 182"/>
                  <a:gd name="T37" fmla="*/ 6 h 47"/>
                  <a:gd name="T38" fmla="*/ 0 w 182"/>
                  <a:gd name="T39" fmla="*/ 3 h 47"/>
                  <a:gd name="T40" fmla="*/ 0 w 182"/>
                  <a:gd name="T41" fmla="*/ 0 h 47"/>
                  <a:gd name="T42" fmla="*/ 0 w 182"/>
                  <a:gd name="T43" fmla="*/ 0 h 47"/>
                  <a:gd name="T44" fmla="*/ 0 w 182"/>
                  <a:gd name="T45" fmla="*/ 0 h 47"/>
                  <a:gd name="T46" fmla="*/ 0 w 182"/>
                  <a:gd name="T47" fmla="*/ 0 h 4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2"/>
                  <a:gd name="T73" fmla="*/ 0 h 47"/>
                  <a:gd name="T74" fmla="*/ 182 w 182"/>
                  <a:gd name="T75" fmla="*/ 47 h 4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2" h="47">
                    <a:moveTo>
                      <a:pt x="0" y="0"/>
                    </a:moveTo>
                    <a:lnTo>
                      <a:pt x="43" y="3"/>
                    </a:lnTo>
                    <a:lnTo>
                      <a:pt x="64" y="10"/>
                    </a:lnTo>
                    <a:lnTo>
                      <a:pt x="86" y="16"/>
                    </a:lnTo>
                    <a:lnTo>
                      <a:pt x="108" y="22"/>
                    </a:lnTo>
                    <a:lnTo>
                      <a:pt x="129" y="28"/>
                    </a:lnTo>
                    <a:lnTo>
                      <a:pt x="148" y="31"/>
                    </a:lnTo>
                    <a:lnTo>
                      <a:pt x="170" y="37"/>
                    </a:lnTo>
                    <a:lnTo>
                      <a:pt x="182" y="44"/>
                    </a:lnTo>
                    <a:lnTo>
                      <a:pt x="182" y="47"/>
                    </a:lnTo>
                    <a:lnTo>
                      <a:pt x="179" y="47"/>
                    </a:lnTo>
                    <a:lnTo>
                      <a:pt x="170" y="47"/>
                    </a:lnTo>
                    <a:lnTo>
                      <a:pt x="145" y="40"/>
                    </a:lnTo>
                    <a:lnTo>
                      <a:pt x="126" y="37"/>
                    </a:lnTo>
                    <a:lnTo>
                      <a:pt x="108" y="31"/>
                    </a:lnTo>
                    <a:lnTo>
                      <a:pt x="83" y="25"/>
                    </a:lnTo>
                    <a:lnTo>
                      <a:pt x="61" y="16"/>
                    </a:lnTo>
                    <a:lnTo>
                      <a:pt x="43" y="10"/>
                    </a:lnTo>
                    <a:lnTo>
                      <a:pt x="24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69" name="Freeform 137"/>
              <p:cNvSpPr>
                <a:spLocks/>
              </p:cNvSpPr>
              <p:nvPr/>
            </p:nvSpPr>
            <p:spPr bwMode="auto">
              <a:xfrm>
                <a:off x="2365" y="1385"/>
                <a:ext cx="53" cy="143"/>
              </a:xfrm>
              <a:custGeom>
                <a:avLst/>
                <a:gdLst>
                  <a:gd name="T0" fmla="*/ 7 w 53"/>
                  <a:gd name="T1" fmla="*/ 0 h 143"/>
                  <a:gd name="T2" fmla="*/ 13 w 53"/>
                  <a:gd name="T3" fmla="*/ 16 h 143"/>
                  <a:gd name="T4" fmla="*/ 19 w 53"/>
                  <a:gd name="T5" fmla="*/ 31 h 143"/>
                  <a:gd name="T6" fmla="*/ 28 w 53"/>
                  <a:gd name="T7" fmla="*/ 62 h 143"/>
                  <a:gd name="T8" fmla="*/ 34 w 53"/>
                  <a:gd name="T9" fmla="*/ 84 h 143"/>
                  <a:gd name="T10" fmla="*/ 40 w 53"/>
                  <a:gd name="T11" fmla="*/ 99 h 143"/>
                  <a:gd name="T12" fmla="*/ 47 w 53"/>
                  <a:gd name="T13" fmla="*/ 118 h 143"/>
                  <a:gd name="T14" fmla="*/ 53 w 53"/>
                  <a:gd name="T15" fmla="*/ 139 h 143"/>
                  <a:gd name="T16" fmla="*/ 50 w 53"/>
                  <a:gd name="T17" fmla="*/ 143 h 143"/>
                  <a:gd name="T18" fmla="*/ 47 w 53"/>
                  <a:gd name="T19" fmla="*/ 139 h 143"/>
                  <a:gd name="T20" fmla="*/ 37 w 53"/>
                  <a:gd name="T21" fmla="*/ 121 h 143"/>
                  <a:gd name="T22" fmla="*/ 31 w 53"/>
                  <a:gd name="T23" fmla="*/ 102 h 143"/>
                  <a:gd name="T24" fmla="*/ 25 w 53"/>
                  <a:gd name="T25" fmla="*/ 84 h 143"/>
                  <a:gd name="T26" fmla="*/ 19 w 53"/>
                  <a:gd name="T27" fmla="*/ 65 h 143"/>
                  <a:gd name="T28" fmla="*/ 13 w 53"/>
                  <a:gd name="T29" fmla="*/ 31 h 143"/>
                  <a:gd name="T30" fmla="*/ 10 w 53"/>
                  <a:gd name="T31" fmla="*/ 19 h 143"/>
                  <a:gd name="T32" fmla="*/ 7 w 53"/>
                  <a:gd name="T33" fmla="*/ 10 h 143"/>
                  <a:gd name="T34" fmla="*/ 0 w 53"/>
                  <a:gd name="T35" fmla="*/ 3 h 143"/>
                  <a:gd name="T36" fmla="*/ 3 w 53"/>
                  <a:gd name="T37" fmla="*/ 0 h 143"/>
                  <a:gd name="T38" fmla="*/ 7 w 53"/>
                  <a:gd name="T39" fmla="*/ 0 h 143"/>
                  <a:gd name="T40" fmla="*/ 7 w 53"/>
                  <a:gd name="T41" fmla="*/ 0 h 143"/>
                  <a:gd name="T42" fmla="*/ 7 w 53"/>
                  <a:gd name="T43" fmla="*/ 0 h 14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3"/>
                  <a:gd name="T67" fmla="*/ 0 h 143"/>
                  <a:gd name="T68" fmla="*/ 53 w 53"/>
                  <a:gd name="T69" fmla="*/ 143 h 14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3" h="143">
                    <a:moveTo>
                      <a:pt x="7" y="0"/>
                    </a:moveTo>
                    <a:lnTo>
                      <a:pt x="13" y="16"/>
                    </a:lnTo>
                    <a:lnTo>
                      <a:pt x="19" y="31"/>
                    </a:lnTo>
                    <a:lnTo>
                      <a:pt x="28" y="62"/>
                    </a:lnTo>
                    <a:lnTo>
                      <a:pt x="34" y="84"/>
                    </a:lnTo>
                    <a:lnTo>
                      <a:pt x="40" y="99"/>
                    </a:lnTo>
                    <a:lnTo>
                      <a:pt x="47" y="118"/>
                    </a:lnTo>
                    <a:lnTo>
                      <a:pt x="53" y="139"/>
                    </a:lnTo>
                    <a:lnTo>
                      <a:pt x="50" y="143"/>
                    </a:lnTo>
                    <a:lnTo>
                      <a:pt x="47" y="139"/>
                    </a:lnTo>
                    <a:lnTo>
                      <a:pt x="37" y="121"/>
                    </a:lnTo>
                    <a:lnTo>
                      <a:pt x="31" y="102"/>
                    </a:lnTo>
                    <a:lnTo>
                      <a:pt x="25" y="84"/>
                    </a:lnTo>
                    <a:lnTo>
                      <a:pt x="19" y="65"/>
                    </a:lnTo>
                    <a:lnTo>
                      <a:pt x="13" y="31"/>
                    </a:lnTo>
                    <a:lnTo>
                      <a:pt x="10" y="19"/>
                    </a:lnTo>
                    <a:lnTo>
                      <a:pt x="7" y="10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0" name="Freeform 138"/>
              <p:cNvSpPr>
                <a:spLocks/>
              </p:cNvSpPr>
              <p:nvPr/>
            </p:nvSpPr>
            <p:spPr bwMode="auto">
              <a:xfrm>
                <a:off x="2415" y="1521"/>
                <a:ext cx="151" cy="68"/>
              </a:xfrm>
              <a:custGeom>
                <a:avLst/>
                <a:gdLst>
                  <a:gd name="T0" fmla="*/ 6 w 151"/>
                  <a:gd name="T1" fmla="*/ 0 h 68"/>
                  <a:gd name="T2" fmla="*/ 34 w 151"/>
                  <a:gd name="T3" fmla="*/ 13 h 68"/>
                  <a:gd name="T4" fmla="*/ 43 w 151"/>
                  <a:gd name="T5" fmla="*/ 19 h 68"/>
                  <a:gd name="T6" fmla="*/ 58 w 151"/>
                  <a:gd name="T7" fmla="*/ 25 h 68"/>
                  <a:gd name="T8" fmla="*/ 71 w 151"/>
                  <a:gd name="T9" fmla="*/ 28 h 68"/>
                  <a:gd name="T10" fmla="*/ 80 w 151"/>
                  <a:gd name="T11" fmla="*/ 34 h 68"/>
                  <a:gd name="T12" fmla="*/ 92 w 151"/>
                  <a:gd name="T13" fmla="*/ 41 h 68"/>
                  <a:gd name="T14" fmla="*/ 102 w 151"/>
                  <a:gd name="T15" fmla="*/ 47 h 68"/>
                  <a:gd name="T16" fmla="*/ 114 w 151"/>
                  <a:gd name="T17" fmla="*/ 50 h 68"/>
                  <a:gd name="T18" fmla="*/ 126 w 151"/>
                  <a:gd name="T19" fmla="*/ 56 h 68"/>
                  <a:gd name="T20" fmla="*/ 139 w 151"/>
                  <a:gd name="T21" fmla="*/ 62 h 68"/>
                  <a:gd name="T22" fmla="*/ 151 w 151"/>
                  <a:gd name="T23" fmla="*/ 65 h 68"/>
                  <a:gd name="T24" fmla="*/ 151 w 151"/>
                  <a:gd name="T25" fmla="*/ 68 h 68"/>
                  <a:gd name="T26" fmla="*/ 151 w 151"/>
                  <a:gd name="T27" fmla="*/ 68 h 68"/>
                  <a:gd name="T28" fmla="*/ 123 w 151"/>
                  <a:gd name="T29" fmla="*/ 59 h 68"/>
                  <a:gd name="T30" fmla="*/ 102 w 151"/>
                  <a:gd name="T31" fmla="*/ 53 h 68"/>
                  <a:gd name="T32" fmla="*/ 89 w 151"/>
                  <a:gd name="T33" fmla="*/ 50 h 68"/>
                  <a:gd name="T34" fmla="*/ 77 w 151"/>
                  <a:gd name="T35" fmla="*/ 44 h 68"/>
                  <a:gd name="T36" fmla="*/ 68 w 151"/>
                  <a:gd name="T37" fmla="*/ 37 h 68"/>
                  <a:gd name="T38" fmla="*/ 52 w 151"/>
                  <a:gd name="T39" fmla="*/ 31 h 68"/>
                  <a:gd name="T40" fmla="*/ 28 w 151"/>
                  <a:gd name="T41" fmla="*/ 22 h 68"/>
                  <a:gd name="T42" fmla="*/ 15 w 151"/>
                  <a:gd name="T43" fmla="*/ 16 h 68"/>
                  <a:gd name="T44" fmla="*/ 3 w 151"/>
                  <a:gd name="T45" fmla="*/ 13 h 68"/>
                  <a:gd name="T46" fmla="*/ 0 w 151"/>
                  <a:gd name="T47" fmla="*/ 7 h 68"/>
                  <a:gd name="T48" fmla="*/ 0 w 151"/>
                  <a:gd name="T49" fmla="*/ 3 h 68"/>
                  <a:gd name="T50" fmla="*/ 6 w 151"/>
                  <a:gd name="T51" fmla="*/ 0 h 68"/>
                  <a:gd name="T52" fmla="*/ 6 w 151"/>
                  <a:gd name="T53" fmla="*/ 0 h 68"/>
                  <a:gd name="T54" fmla="*/ 6 w 151"/>
                  <a:gd name="T55" fmla="*/ 0 h 68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51"/>
                  <a:gd name="T85" fmla="*/ 0 h 68"/>
                  <a:gd name="T86" fmla="*/ 151 w 151"/>
                  <a:gd name="T87" fmla="*/ 68 h 68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51" h="68">
                    <a:moveTo>
                      <a:pt x="6" y="0"/>
                    </a:moveTo>
                    <a:lnTo>
                      <a:pt x="34" y="13"/>
                    </a:lnTo>
                    <a:lnTo>
                      <a:pt x="43" y="19"/>
                    </a:lnTo>
                    <a:lnTo>
                      <a:pt x="58" y="25"/>
                    </a:lnTo>
                    <a:lnTo>
                      <a:pt x="71" y="28"/>
                    </a:lnTo>
                    <a:lnTo>
                      <a:pt x="80" y="34"/>
                    </a:lnTo>
                    <a:lnTo>
                      <a:pt x="92" y="41"/>
                    </a:lnTo>
                    <a:lnTo>
                      <a:pt x="102" y="47"/>
                    </a:lnTo>
                    <a:lnTo>
                      <a:pt x="114" y="50"/>
                    </a:lnTo>
                    <a:lnTo>
                      <a:pt x="126" y="56"/>
                    </a:lnTo>
                    <a:lnTo>
                      <a:pt x="139" y="62"/>
                    </a:lnTo>
                    <a:lnTo>
                      <a:pt x="151" y="65"/>
                    </a:lnTo>
                    <a:lnTo>
                      <a:pt x="151" y="68"/>
                    </a:lnTo>
                    <a:lnTo>
                      <a:pt x="123" y="59"/>
                    </a:lnTo>
                    <a:lnTo>
                      <a:pt x="102" y="53"/>
                    </a:lnTo>
                    <a:lnTo>
                      <a:pt x="89" y="50"/>
                    </a:lnTo>
                    <a:lnTo>
                      <a:pt x="77" y="44"/>
                    </a:lnTo>
                    <a:lnTo>
                      <a:pt x="68" y="37"/>
                    </a:lnTo>
                    <a:lnTo>
                      <a:pt x="52" y="31"/>
                    </a:lnTo>
                    <a:lnTo>
                      <a:pt x="28" y="22"/>
                    </a:lnTo>
                    <a:lnTo>
                      <a:pt x="15" y="16"/>
                    </a:lnTo>
                    <a:lnTo>
                      <a:pt x="3" y="13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1" name="Freeform 139"/>
              <p:cNvSpPr>
                <a:spLocks/>
              </p:cNvSpPr>
              <p:nvPr/>
            </p:nvSpPr>
            <p:spPr bwMode="auto">
              <a:xfrm>
                <a:off x="2439" y="1537"/>
                <a:ext cx="10" cy="31"/>
              </a:xfrm>
              <a:custGeom>
                <a:avLst/>
                <a:gdLst>
                  <a:gd name="T0" fmla="*/ 10 w 10"/>
                  <a:gd name="T1" fmla="*/ 3 h 31"/>
                  <a:gd name="T2" fmla="*/ 10 w 10"/>
                  <a:gd name="T3" fmla="*/ 15 h 31"/>
                  <a:gd name="T4" fmla="*/ 10 w 10"/>
                  <a:gd name="T5" fmla="*/ 25 h 31"/>
                  <a:gd name="T6" fmla="*/ 7 w 10"/>
                  <a:gd name="T7" fmla="*/ 31 h 31"/>
                  <a:gd name="T8" fmla="*/ 7 w 10"/>
                  <a:gd name="T9" fmla="*/ 31 h 31"/>
                  <a:gd name="T10" fmla="*/ 4 w 10"/>
                  <a:gd name="T11" fmla="*/ 31 h 31"/>
                  <a:gd name="T12" fmla="*/ 0 w 10"/>
                  <a:gd name="T13" fmla="*/ 25 h 31"/>
                  <a:gd name="T14" fmla="*/ 0 w 10"/>
                  <a:gd name="T15" fmla="*/ 12 h 31"/>
                  <a:gd name="T16" fmla="*/ 4 w 10"/>
                  <a:gd name="T17" fmla="*/ 3 h 31"/>
                  <a:gd name="T18" fmla="*/ 4 w 10"/>
                  <a:gd name="T19" fmla="*/ 0 h 31"/>
                  <a:gd name="T20" fmla="*/ 7 w 10"/>
                  <a:gd name="T21" fmla="*/ 0 h 31"/>
                  <a:gd name="T22" fmla="*/ 10 w 10"/>
                  <a:gd name="T23" fmla="*/ 3 h 31"/>
                  <a:gd name="T24" fmla="*/ 10 w 10"/>
                  <a:gd name="T25" fmla="*/ 3 h 31"/>
                  <a:gd name="T26" fmla="*/ 10 w 10"/>
                  <a:gd name="T27" fmla="*/ 3 h 3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"/>
                  <a:gd name="T43" fmla="*/ 0 h 31"/>
                  <a:gd name="T44" fmla="*/ 10 w 10"/>
                  <a:gd name="T45" fmla="*/ 31 h 3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" h="31">
                    <a:moveTo>
                      <a:pt x="10" y="3"/>
                    </a:moveTo>
                    <a:lnTo>
                      <a:pt x="10" y="15"/>
                    </a:lnTo>
                    <a:lnTo>
                      <a:pt x="10" y="25"/>
                    </a:lnTo>
                    <a:lnTo>
                      <a:pt x="7" y="31"/>
                    </a:lnTo>
                    <a:lnTo>
                      <a:pt x="4" y="31"/>
                    </a:lnTo>
                    <a:lnTo>
                      <a:pt x="0" y="25"/>
                    </a:lnTo>
                    <a:lnTo>
                      <a:pt x="0" y="12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2" name="Freeform 140"/>
              <p:cNvSpPr>
                <a:spLocks/>
              </p:cNvSpPr>
              <p:nvPr/>
            </p:nvSpPr>
            <p:spPr bwMode="auto">
              <a:xfrm>
                <a:off x="2609" y="1589"/>
                <a:ext cx="13" cy="28"/>
              </a:xfrm>
              <a:custGeom>
                <a:avLst/>
                <a:gdLst>
                  <a:gd name="T0" fmla="*/ 13 w 13"/>
                  <a:gd name="T1" fmla="*/ 7 h 28"/>
                  <a:gd name="T2" fmla="*/ 10 w 13"/>
                  <a:gd name="T3" fmla="*/ 19 h 28"/>
                  <a:gd name="T4" fmla="*/ 10 w 13"/>
                  <a:gd name="T5" fmla="*/ 28 h 28"/>
                  <a:gd name="T6" fmla="*/ 3 w 13"/>
                  <a:gd name="T7" fmla="*/ 28 h 28"/>
                  <a:gd name="T8" fmla="*/ 3 w 13"/>
                  <a:gd name="T9" fmla="*/ 19 h 28"/>
                  <a:gd name="T10" fmla="*/ 0 w 13"/>
                  <a:gd name="T11" fmla="*/ 7 h 28"/>
                  <a:gd name="T12" fmla="*/ 3 w 13"/>
                  <a:gd name="T13" fmla="*/ 0 h 28"/>
                  <a:gd name="T14" fmla="*/ 7 w 13"/>
                  <a:gd name="T15" fmla="*/ 0 h 28"/>
                  <a:gd name="T16" fmla="*/ 13 w 13"/>
                  <a:gd name="T17" fmla="*/ 0 h 28"/>
                  <a:gd name="T18" fmla="*/ 13 w 13"/>
                  <a:gd name="T19" fmla="*/ 7 h 28"/>
                  <a:gd name="T20" fmla="*/ 13 w 13"/>
                  <a:gd name="T21" fmla="*/ 7 h 28"/>
                  <a:gd name="T22" fmla="*/ 13 w 13"/>
                  <a:gd name="T23" fmla="*/ 7 h 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"/>
                  <a:gd name="T37" fmla="*/ 0 h 28"/>
                  <a:gd name="T38" fmla="*/ 13 w 13"/>
                  <a:gd name="T39" fmla="*/ 28 h 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" h="28">
                    <a:moveTo>
                      <a:pt x="13" y="7"/>
                    </a:moveTo>
                    <a:lnTo>
                      <a:pt x="10" y="19"/>
                    </a:lnTo>
                    <a:lnTo>
                      <a:pt x="10" y="28"/>
                    </a:lnTo>
                    <a:lnTo>
                      <a:pt x="3" y="28"/>
                    </a:lnTo>
                    <a:lnTo>
                      <a:pt x="3" y="19"/>
                    </a:lnTo>
                    <a:lnTo>
                      <a:pt x="0" y="7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3" name="Freeform 141"/>
              <p:cNvSpPr>
                <a:spLocks/>
              </p:cNvSpPr>
              <p:nvPr/>
            </p:nvSpPr>
            <p:spPr bwMode="auto">
              <a:xfrm>
                <a:off x="2758" y="1540"/>
                <a:ext cx="12" cy="34"/>
              </a:xfrm>
              <a:custGeom>
                <a:avLst/>
                <a:gdLst>
                  <a:gd name="T0" fmla="*/ 6 w 12"/>
                  <a:gd name="T1" fmla="*/ 0 h 34"/>
                  <a:gd name="T2" fmla="*/ 9 w 12"/>
                  <a:gd name="T3" fmla="*/ 9 h 34"/>
                  <a:gd name="T4" fmla="*/ 12 w 12"/>
                  <a:gd name="T5" fmla="*/ 22 h 34"/>
                  <a:gd name="T6" fmla="*/ 9 w 12"/>
                  <a:gd name="T7" fmla="*/ 34 h 34"/>
                  <a:gd name="T8" fmla="*/ 6 w 12"/>
                  <a:gd name="T9" fmla="*/ 34 h 34"/>
                  <a:gd name="T10" fmla="*/ 3 w 12"/>
                  <a:gd name="T11" fmla="*/ 25 h 34"/>
                  <a:gd name="T12" fmla="*/ 0 w 12"/>
                  <a:gd name="T13" fmla="*/ 9 h 34"/>
                  <a:gd name="T14" fmla="*/ 0 w 12"/>
                  <a:gd name="T15" fmla="*/ 3 h 34"/>
                  <a:gd name="T16" fmla="*/ 3 w 12"/>
                  <a:gd name="T17" fmla="*/ 0 h 34"/>
                  <a:gd name="T18" fmla="*/ 6 w 12"/>
                  <a:gd name="T19" fmla="*/ 0 h 34"/>
                  <a:gd name="T20" fmla="*/ 6 w 12"/>
                  <a:gd name="T21" fmla="*/ 0 h 34"/>
                  <a:gd name="T22" fmla="*/ 6 w 12"/>
                  <a:gd name="T23" fmla="*/ 0 h 3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34"/>
                  <a:gd name="T38" fmla="*/ 12 w 12"/>
                  <a:gd name="T39" fmla="*/ 34 h 3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34">
                    <a:moveTo>
                      <a:pt x="6" y="0"/>
                    </a:moveTo>
                    <a:lnTo>
                      <a:pt x="9" y="9"/>
                    </a:lnTo>
                    <a:lnTo>
                      <a:pt x="12" y="22"/>
                    </a:lnTo>
                    <a:lnTo>
                      <a:pt x="9" y="34"/>
                    </a:lnTo>
                    <a:lnTo>
                      <a:pt x="6" y="34"/>
                    </a:lnTo>
                    <a:lnTo>
                      <a:pt x="3" y="25"/>
                    </a:lnTo>
                    <a:lnTo>
                      <a:pt x="0" y="9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4" name="Freeform 142"/>
              <p:cNvSpPr>
                <a:spLocks/>
              </p:cNvSpPr>
              <p:nvPr/>
            </p:nvSpPr>
            <p:spPr bwMode="auto">
              <a:xfrm>
                <a:off x="2578" y="1234"/>
                <a:ext cx="90" cy="111"/>
              </a:xfrm>
              <a:custGeom>
                <a:avLst/>
                <a:gdLst>
                  <a:gd name="T0" fmla="*/ 22 w 90"/>
                  <a:gd name="T1" fmla="*/ 6 h 111"/>
                  <a:gd name="T2" fmla="*/ 19 w 90"/>
                  <a:gd name="T3" fmla="*/ 6 h 111"/>
                  <a:gd name="T4" fmla="*/ 10 w 90"/>
                  <a:gd name="T5" fmla="*/ 25 h 111"/>
                  <a:gd name="T6" fmla="*/ 13 w 90"/>
                  <a:gd name="T7" fmla="*/ 40 h 111"/>
                  <a:gd name="T8" fmla="*/ 10 w 90"/>
                  <a:gd name="T9" fmla="*/ 74 h 111"/>
                  <a:gd name="T10" fmla="*/ 10 w 90"/>
                  <a:gd name="T11" fmla="*/ 77 h 111"/>
                  <a:gd name="T12" fmla="*/ 10 w 90"/>
                  <a:gd name="T13" fmla="*/ 80 h 111"/>
                  <a:gd name="T14" fmla="*/ 22 w 90"/>
                  <a:gd name="T15" fmla="*/ 87 h 111"/>
                  <a:gd name="T16" fmla="*/ 38 w 90"/>
                  <a:gd name="T17" fmla="*/ 90 h 111"/>
                  <a:gd name="T18" fmla="*/ 50 w 90"/>
                  <a:gd name="T19" fmla="*/ 96 h 111"/>
                  <a:gd name="T20" fmla="*/ 56 w 90"/>
                  <a:gd name="T21" fmla="*/ 99 h 111"/>
                  <a:gd name="T22" fmla="*/ 65 w 90"/>
                  <a:gd name="T23" fmla="*/ 102 h 111"/>
                  <a:gd name="T24" fmla="*/ 78 w 90"/>
                  <a:gd name="T25" fmla="*/ 105 h 111"/>
                  <a:gd name="T26" fmla="*/ 87 w 90"/>
                  <a:gd name="T27" fmla="*/ 102 h 111"/>
                  <a:gd name="T28" fmla="*/ 90 w 90"/>
                  <a:gd name="T29" fmla="*/ 105 h 111"/>
                  <a:gd name="T30" fmla="*/ 78 w 90"/>
                  <a:gd name="T31" fmla="*/ 111 h 111"/>
                  <a:gd name="T32" fmla="*/ 62 w 90"/>
                  <a:gd name="T33" fmla="*/ 111 h 111"/>
                  <a:gd name="T34" fmla="*/ 31 w 90"/>
                  <a:gd name="T35" fmla="*/ 102 h 111"/>
                  <a:gd name="T36" fmla="*/ 19 w 90"/>
                  <a:gd name="T37" fmla="*/ 93 h 111"/>
                  <a:gd name="T38" fmla="*/ 7 w 90"/>
                  <a:gd name="T39" fmla="*/ 87 h 111"/>
                  <a:gd name="T40" fmla="*/ 0 w 90"/>
                  <a:gd name="T41" fmla="*/ 74 h 111"/>
                  <a:gd name="T42" fmla="*/ 0 w 90"/>
                  <a:gd name="T43" fmla="*/ 59 h 111"/>
                  <a:gd name="T44" fmla="*/ 4 w 90"/>
                  <a:gd name="T45" fmla="*/ 40 h 111"/>
                  <a:gd name="T46" fmla="*/ 7 w 90"/>
                  <a:gd name="T47" fmla="*/ 25 h 111"/>
                  <a:gd name="T48" fmla="*/ 10 w 90"/>
                  <a:gd name="T49" fmla="*/ 12 h 111"/>
                  <a:gd name="T50" fmla="*/ 16 w 90"/>
                  <a:gd name="T51" fmla="*/ 3 h 111"/>
                  <a:gd name="T52" fmla="*/ 19 w 90"/>
                  <a:gd name="T53" fmla="*/ 0 h 111"/>
                  <a:gd name="T54" fmla="*/ 22 w 90"/>
                  <a:gd name="T55" fmla="*/ 0 h 111"/>
                  <a:gd name="T56" fmla="*/ 22 w 90"/>
                  <a:gd name="T57" fmla="*/ 6 h 111"/>
                  <a:gd name="T58" fmla="*/ 22 w 90"/>
                  <a:gd name="T59" fmla="*/ 6 h 111"/>
                  <a:gd name="T60" fmla="*/ 22 w 90"/>
                  <a:gd name="T61" fmla="*/ 6 h 11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90"/>
                  <a:gd name="T94" fmla="*/ 0 h 111"/>
                  <a:gd name="T95" fmla="*/ 90 w 90"/>
                  <a:gd name="T96" fmla="*/ 111 h 11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90" h="111">
                    <a:moveTo>
                      <a:pt x="22" y="6"/>
                    </a:moveTo>
                    <a:lnTo>
                      <a:pt x="19" y="6"/>
                    </a:lnTo>
                    <a:lnTo>
                      <a:pt x="10" y="25"/>
                    </a:lnTo>
                    <a:lnTo>
                      <a:pt x="13" y="40"/>
                    </a:lnTo>
                    <a:lnTo>
                      <a:pt x="10" y="74"/>
                    </a:lnTo>
                    <a:lnTo>
                      <a:pt x="10" y="77"/>
                    </a:lnTo>
                    <a:lnTo>
                      <a:pt x="10" y="80"/>
                    </a:lnTo>
                    <a:lnTo>
                      <a:pt x="22" y="87"/>
                    </a:lnTo>
                    <a:lnTo>
                      <a:pt x="38" y="90"/>
                    </a:lnTo>
                    <a:lnTo>
                      <a:pt x="50" y="96"/>
                    </a:lnTo>
                    <a:lnTo>
                      <a:pt x="56" y="99"/>
                    </a:lnTo>
                    <a:lnTo>
                      <a:pt x="65" y="102"/>
                    </a:lnTo>
                    <a:lnTo>
                      <a:pt x="78" y="105"/>
                    </a:lnTo>
                    <a:lnTo>
                      <a:pt x="87" y="102"/>
                    </a:lnTo>
                    <a:lnTo>
                      <a:pt x="90" y="105"/>
                    </a:lnTo>
                    <a:lnTo>
                      <a:pt x="78" y="111"/>
                    </a:lnTo>
                    <a:lnTo>
                      <a:pt x="62" y="111"/>
                    </a:lnTo>
                    <a:lnTo>
                      <a:pt x="31" y="102"/>
                    </a:lnTo>
                    <a:lnTo>
                      <a:pt x="19" y="93"/>
                    </a:lnTo>
                    <a:lnTo>
                      <a:pt x="7" y="87"/>
                    </a:lnTo>
                    <a:lnTo>
                      <a:pt x="0" y="74"/>
                    </a:lnTo>
                    <a:lnTo>
                      <a:pt x="0" y="59"/>
                    </a:lnTo>
                    <a:lnTo>
                      <a:pt x="4" y="40"/>
                    </a:lnTo>
                    <a:lnTo>
                      <a:pt x="7" y="25"/>
                    </a:lnTo>
                    <a:lnTo>
                      <a:pt x="10" y="12"/>
                    </a:lnTo>
                    <a:lnTo>
                      <a:pt x="16" y="3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2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5" name="Freeform 143"/>
              <p:cNvSpPr>
                <a:spLocks/>
              </p:cNvSpPr>
              <p:nvPr/>
            </p:nvSpPr>
            <p:spPr bwMode="auto">
              <a:xfrm>
                <a:off x="2612" y="1253"/>
                <a:ext cx="99" cy="34"/>
              </a:xfrm>
              <a:custGeom>
                <a:avLst/>
                <a:gdLst>
                  <a:gd name="T0" fmla="*/ 4 w 99"/>
                  <a:gd name="T1" fmla="*/ 0 h 34"/>
                  <a:gd name="T2" fmla="*/ 22 w 99"/>
                  <a:gd name="T3" fmla="*/ 9 h 34"/>
                  <a:gd name="T4" fmla="*/ 38 w 99"/>
                  <a:gd name="T5" fmla="*/ 15 h 34"/>
                  <a:gd name="T6" fmla="*/ 53 w 99"/>
                  <a:gd name="T7" fmla="*/ 21 h 34"/>
                  <a:gd name="T8" fmla="*/ 75 w 99"/>
                  <a:gd name="T9" fmla="*/ 24 h 34"/>
                  <a:gd name="T10" fmla="*/ 96 w 99"/>
                  <a:gd name="T11" fmla="*/ 24 h 34"/>
                  <a:gd name="T12" fmla="*/ 99 w 99"/>
                  <a:gd name="T13" fmla="*/ 24 h 34"/>
                  <a:gd name="T14" fmla="*/ 96 w 99"/>
                  <a:gd name="T15" fmla="*/ 27 h 34"/>
                  <a:gd name="T16" fmla="*/ 75 w 99"/>
                  <a:gd name="T17" fmla="*/ 34 h 34"/>
                  <a:gd name="T18" fmla="*/ 50 w 99"/>
                  <a:gd name="T19" fmla="*/ 34 h 34"/>
                  <a:gd name="T20" fmla="*/ 16 w 99"/>
                  <a:gd name="T21" fmla="*/ 21 h 34"/>
                  <a:gd name="T22" fmla="*/ 10 w 99"/>
                  <a:gd name="T23" fmla="*/ 12 h 34"/>
                  <a:gd name="T24" fmla="*/ 7 w 99"/>
                  <a:gd name="T25" fmla="*/ 6 h 34"/>
                  <a:gd name="T26" fmla="*/ 0 w 99"/>
                  <a:gd name="T27" fmla="*/ 3 h 34"/>
                  <a:gd name="T28" fmla="*/ 0 w 99"/>
                  <a:gd name="T29" fmla="*/ 0 h 34"/>
                  <a:gd name="T30" fmla="*/ 4 w 99"/>
                  <a:gd name="T31" fmla="*/ 0 h 34"/>
                  <a:gd name="T32" fmla="*/ 4 w 99"/>
                  <a:gd name="T33" fmla="*/ 0 h 34"/>
                  <a:gd name="T34" fmla="*/ 4 w 99"/>
                  <a:gd name="T35" fmla="*/ 0 h 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9"/>
                  <a:gd name="T55" fmla="*/ 0 h 34"/>
                  <a:gd name="T56" fmla="*/ 99 w 99"/>
                  <a:gd name="T57" fmla="*/ 34 h 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9" h="34">
                    <a:moveTo>
                      <a:pt x="4" y="0"/>
                    </a:moveTo>
                    <a:lnTo>
                      <a:pt x="22" y="9"/>
                    </a:lnTo>
                    <a:lnTo>
                      <a:pt x="38" y="15"/>
                    </a:lnTo>
                    <a:lnTo>
                      <a:pt x="53" y="21"/>
                    </a:lnTo>
                    <a:lnTo>
                      <a:pt x="75" y="24"/>
                    </a:lnTo>
                    <a:lnTo>
                      <a:pt x="96" y="24"/>
                    </a:lnTo>
                    <a:lnTo>
                      <a:pt x="99" y="24"/>
                    </a:lnTo>
                    <a:lnTo>
                      <a:pt x="96" y="27"/>
                    </a:lnTo>
                    <a:lnTo>
                      <a:pt x="75" y="34"/>
                    </a:lnTo>
                    <a:lnTo>
                      <a:pt x="50" y="34"/>
                    </a:lnTo>
                    <a:lnTo>
                      <a:pt x="16" y="21"/>
                    </a:lnTo>
                    <a:lnTo>
                      <a:pt x="10" y="12"/>
                    </a:lnTo>
                    <a:lnTo>
                      <a:pt x="7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6" name="Freeform 144"/>
              <p:cNvSpPr>
                <a:spLocks/>
              </p:cNvSpPr>
              <p:nvPr/>
            </p:nvSpPr>
            <p:spPr bwMode="auto">
              <a:xfrm>
                <a:off x="2718" y="1219"/>
                <a:ext cx="33" cy="64"/>
              </a:xfrm>
              <a:custGeom>
                <a:avLst/>
                <a:gdLst>
                  <a:gd name="T0" fmla="*/ 33 w 33"/>
                  <a:gd name="T1" fmla="*/ 3 h 64"/>
                  <a:gd name="T2" fmla="*/ 30 w 33"/>
                  <a:gd name="T3" fmla="*/ 12 h 64"/>
                  <a:gd name="T4" fmla="*/ 27 w 33"/>
                  <a:gd name="T5" fmla="*/ 24 h 64"/>
                  <a:gd name="T6" fmla="*/ 24 w 33"/>
                  <a:gd name="T7" fmla="*/ 34 h 64"/>
                  <a:gd name="T8" fmla="*/ 18 w 33"/>
                  <a:gd name="T9" fmla="*/ 46 h 64"/>
                  <a:gd name="T10" fmla="*/ 9 w 33"/>
                  <a:gd name="T11" fmla="*/ 55 h 64"/>
                  <a:gd name="T12" fmla="*/ 3 w 33"/>
                  <a:gd name="T13" fmla="*/ 64 h 64"/>
                  <a:gd name="T14" fmla="*/ 0 w 33"/>
                  <a:gd name="T15" fmla="*/ 64 h 64"/>
                  <a:gd name="T16" fmla="*/ 0 w 33"/>
                  <a:gd name="T17" fmla="*/ 61 h 64"/>
                  <a:gd name="T18" fmla="*/ 9 w 33"/>
                  <a:gd name="T19" fmla="*/ 43 h 64"/>
                  <a:gd name="T20" fmla="*/ 15 w 33"/>
                  <a:gd name="T21" fmla="*/ 21 h 64"/>
                  <a:gd name="T22" fmla="*/ 15 w 33"/>
                  <a:gd name="T23" fmla="*/ 15 h 64"/>
                  <a:gd name="T24" fmla="*/ 21 w 33"/>
                  <a:gd name="T25" fmla="*/ 9 h 64"/>
                  <a:gd name="T26" fmla="*/ 24 w 33"/>
                  <a:gd name="T27" fmla="*/ 6 h 64"/>
                  <a:gd name="T28" fmla="*/ 30 w 33"/>
                  <a:gd name="T29" fmla="*/ 0 h 64"/>
                  <a:gd name="T30" fmla="*/ 33 w 33"/>
                  <a:gd name="T31" fmla="*/ 0 h 64"/>
                  <a:gd name="T32" fmla="*/ 33 w 33"/>
                  <a:gd name="T33" fmla="*/ 0 h 64"/>
                  <a:gd name="T34" fmla="*/ 33 w 33"/>
                  <a:gd name="T35" fmla="*/ 3 h 64"/>
                  <a:gd name="T36" fmla="*/ 33 w 33"/>
                  <a:gd name="T37" fmla="*/ 3 h 64"/>
                  <a:gd name="T38" fmla="*/ 33 w 33"/>
                  <a:gd name="T39" fmla="*/ 3 h 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"/>
                  <a:gd name="T61" fmla="*/ 0 h 64"/>
                  <a:gd name="T62" fmla="*/ 33 w 33"/>
                  <a:gd name="T63" fmla="*/ 64 h 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" h="64">
                    <a:moveTo>
                      <a:pt x="33" y="3"/>
                    </a:moveTo>
                    <a:lnTo>
                      <a:pt x="30" y="12"/>
                    </a:lnTo>
                    <a:lnTo>
                      <a:pt x="27" y="24"/>
                    </a:lnTo>
                    <a:lnTo>
                      <a:pt x="24" y="34"/>
                    </a:lnTo>
                    <a:lnTo>
                      <a:pt x="18" y="46"/>
                    </a:lnTo>
                    <a:lnTo>
                      <a:pt x="9" y="55"/>
                    </a:lnTo>
                    <a:lnTo>
                      <a:pt x="3" y="64"/>
                    </a:lnTo>
                    <a:lnTo>
                      <a:pt x="0" y="64"/>
                    </a:lnTo>
                    <a:lnTo>
                      <a:pt x="0" y="61"/>
                    </a:lnTo>
                    <a:lnTo>
                      <a:pt x="9" y="43"/>
                    </a:lnTo>
                    <a:lnTo>
                      <a:pt x="15" y="21"/>
                    </a:lnTo>
                    <a:lnTo>
                      <a:pt x="15" y="15"/>
                    </a:lnTo>
                    <a:lnTo>
                      <a:pt x="21" y="9"/>
                    </a:lnTo>
                    <a:lnTo>
                      <a:pt x="24" y="6"/>
                    </a:lnTo>
                    <a:lnTo>
                      <a:pt x="30" y="0"/>
                    </a:lnTo>
                    <a:lnTo>
                      <a:pt x="33" y="0"/>
                    </a:lnTo>
                    <a:lnTo>
                      <a:pt x="3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7" name="Freeform 145"/>
              <p:cNvSpPr>
                <a:spLocks/>
              </p:cNvSpPr>
              <p:nvPr/>
            </p:nvSpPr>
            <p:spPr bwMode="auto">
              <a:xfrm>
                <a:off x="2668" y="1280"/>
                <a:ext cx="65" cy="65"/>
              </a:xfrm>
              <a:custGeom>
                <a:avLst/>
                <a:gdLst>
                  <a:gd name="T0" fmla="*/ 65 w 65"/>
                  <a:gd name="T1" fmla="*/ 0 h 65"/>
                  <a:gd name="T2" fmla="*/ 62 w 65"/>
                  <a:gd name="T3" fmla="*/ 22 h 65"/>
                  <a:gd name="T4" fmla="*/ 59 w 65"/>
                  <a:gd name="T5" fmla="*/ 28 h 65"/>
                  <a:gd name="T6" fmla="*/ 53 w 65"/>
                  <a:gd name="T7" fmla="*/ 37 h 65"/>
                  <a:gd name="T8" fmla="*/ 46 w 65"/>
                  <a:gd name="T9" fmla="*/ 44 h 65"/>
                  <a:gd name="T10" fmla="*/ 40 w 65"/>
                  <a:gd name="T11" fmla="*/ 50 h 65"/>
                  <a:gd name="T12" fmla="*/ 34 w 65"/>
                  <a:gd name="T13" fmla="*/ 56 h 65"/>
                  <a:gd name="T14" fmla="*/ 25 w 65"/>
                  <a:gd name="T15" fmla="*/ 62 h 65"/>
                  <a:gd name="T16" fmla="*/ 12 w 65"/>
                  <a:gd name="T17" fmla="*/ 65 h 65"/>
                  <a:gd name="T18" fmla="*/ 0 w 65"/>
                  <a:gd name="T19" fmla="*/ 65 h 65"/>
                  <a:gd name="T20" fmla="*/ 0 w 65"/>
                  <a:gd name="T21" fmla="*/ 62 h 65"/>
                  <a:gd name="T22" fmla="*/ 0 w 65"/>
                  <a:gd name="T23" fmla="*/ 59 h 65"/>
                  <a:gd name="T24" fmla="*/ 9 w 65"/>
                  <a:gd name="T25" fmla="*/ 56 h 65"/>
                  <a:gd name="T26" fmla="*/ 19 w 65"/>
                  <a:gd name="T27" fmla="*/ 50 h 65"/>
                  <a:gd name="T28" fmla="*/ 25 w 65"/>
                  <a:gd name="T29" fmla="*/ 47 h 65"/>
                  <a:gd name="T30" fmla="*/ 34 w 65"/>
                  <a:gd name="T31" fmla="*/ 41 h 65"/>
                  <a:gd name="T32" fmla="*/ 40 w 65"/>
                  <a:gd name="T33" fmla="*/ 37 h 65"/>
                  <a:gd name="T34" fmla="*/ 46 w 65"/>
                  <a:gd name="T35" fmla="*/ 31 h 65"/>
                  <a:gd name="T36" fmla="*/ 56 w 65"/>
                  <a:gd name="T37" fmla="*/ 19 h 65"/>
                  <a:gd name="T38" fmla="*/ 59 w 65"/>
                  <a:gd name="T39" fmla="*/ 0 h 65"/>
                  <a:gd name="T40" fmla="*/ 65 w 65"/>
                  <a:gd name="T41" fmla="*/ 0 h 65"/>
                  <a:gd name="T42" fmla="*/ 65 w 65"/>
                  <a:gd name="T43" fmla="*/ 0 h 65"/>
                  <a:gd name="T44" fmla="*/ 65 w 65"/>
                  <a:gd name="T45" fmla="*/ 0 h 6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5"/>
                  <a:gd name="T70" fmla="*/ 0 h 65"/>
                  <a:gd name="T71" fmla="*/ 65 w 65"/>
                  <a:gd name="T72" fmla="*/ 65 h 6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5" h="65">
                    <a:moveTo>
                      <a:pt x="65" y="0"/>
                    </a:moveTo>
                    <a:lnTo>
                      <a:pt x="62" y="22"/>
                    </a:lnTo>
                    <a:lnTo>
                      <a:pt x="59" y="28"/>
                    </a:lnTo>
                    <a:lnTo>
                      <a:pt x="53" y="37"/>
                    </a:lnTo>
                    <a:lnTo>
                      <a:pt x="46" y="44"/>
                    </a:lnTo>
                    <a:lnTo>
                      <a:pt x="40" y="50"/>
                    </a:lnTo>
                    <a:lnTo>
                      <a:pt x="34" y="56"/>
                    </a:lnTo>
                    <a:lnTo>
                      <a:pt x="25" y="62"/>
                    </a:lnTo>
                    <a:lnTo>
                      <a:pt x="12" y="65"/>
                    </a:lnTo>
                    <a:lnTo>
                      <a:pt x="0" y="65"/>
                    </a:lnTo>
                    <a:lnTo>
                      <a:pt x="0" y="62"/>
                    </a:lnTo>
                    <a:lnTo>
                      <a:pt x="0" y="59"/>
                    </a:lnTo>
                    <a:lnTo>
                      <a:pt x="9" y="56"/>
                    </a:lnTo>
                    <a:lnTo>
                      <a:pt x="19" y="50"/>
                    </a:lnTo>
                    <a:lnTo>
                      <a:pt x="25" y="47"/>
                    </a:lnTo>
                    <a:lnTo>
                      <a:pt x="34" y="41"/>
                    </a:lnTo>
                    <a:lnTo>
                      <a:pt x="40" y="37"/>
                    </a:lnTo>
                    <a:lnTo>
                      <a:pt x="46" y="31"/>
                    </a:lnTo>
                    <a:lnTo>
                      <a:pt x="56" y="19"/>
                    </a:lnTo>
                    <a:lnTo>
                      <a:pt x="59" y="0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8" name="Freeform 146"/>
              <p:cNvSpPr>
                <a:spLocks/>
              </p:cNvSpPr>
              <p:nvPr/>
            </p:nvSpPr>
            <p:spPr bwMode="auto">
              <a:xfrm>
                <a:off x="2560" y="1324"/>
                <a:ext cx="34" cy="68"/>
              </a:xfrm>
              <a:custGeom>
                <a:avLst/>
                <a:gdLst>
                  <a:gd name="T0" fmla="*/ 34 w 34"/>
                  <a:gd name="T1" fmla="*/ 0 h 68"/>
                  <a:gd name="T2" fmla="*/ 34 w 34"/>
                  <a:gd name="T3" fmla="*/ 18 h 68"/>
                  <a:gd name="T4" fmla="*/ 28 w 34"/>
                  <a:gd name="T5" fmla="*/ 27 h 68"/>
                  <a:gd name="T6" fmla="*/ 25 w 34"/>
                  <a:gd name="T7" fmla="*/ 34 h 68"/>
                  <a:gd name="T8" fmla="*/ 22 w 34"/>
                  <a:gd name="T9" fmla="*/ 43 h 68"/>
                  <a:gd name="T10" fmla="*/ 15 w 34"/>
                  <a:gd name="T11" fmla="*/ 52 h 68"/>
                  <a:gd name="T12" fmla="*/ 12 w 34"/>
                  <a:gd name="T13" fmla="*/ 58 h 68"/>
                  <a:gd name="T14" fmla="*/ 6 w 34"/>
                  <a:gd name="T15" fmla="*/ 68 h 68"/>
                  <a:gd name="T16" fmla="*/ 3 w 34"/>
                  <a:gd name="T17" fmla="*/ 68 h 68"/>
                  <a:gd name="T18" fmla="*/ 0 w 34"/>
                  <a:gd name="T19" fmla="*/ 64 h 68"/>
                  <a:gd name="T20" fmla="*/ 9 w 34"/>
                  <a:gd name="T21" fmla="*/ 49 h 68"/>
                  <a:gd name="T22" fmla="*/ 15 w 34"/>
                  <a:gd name="T23" fmla="*/ 30 h 68"/>
                  <a:gd name="T24" fmla="*/ 15 w 34"/>
                  <a:gd name="T25" fmla="*/ 24 h 68"/>
                  <a:gd name="T26" fmla="*/ 22 w 34"/>
                  <a:gd name="T27" fmla="*/ 12 h 68"/>
                  <a:gd name="T28" fmla="*/ 28 w 34"/>
                  <a:gd name="T29" fmla="*/ 6 h 68"/>
                  <a:gd name="T30" fmla="*/ 31 w 34"/>
                  <a:gd name="T31" fmla="*/ 0 h 68"/>
                  <a:gd name="T32" fmla="*/ 34 w 34"/>
                  <a:gd name="T33" fmla="*/ 0 h 68"/>
                  <a:gd name="T34" fmla="*/ 34 w 34"/>
                  <a:gd name="T35" fmla="*/ 0 h 68"/>
                  <a:gd name="T36" fmla="*/ 34 w 34"/>
                  <a:gd name="T37" fmla="*/ 0 h 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4"/>
                  <a:gd name="T58" fmla="*/ 0 h 68"/>
                  <a:gd name="T59" fmla="*/ 34 w 34"/>
                  <a:gd name="T60" fmla="*/ 68 h 6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4" h="68">
                    <a:moveTo>
                      <a:pt x="34" y="0"/>
                    </a:moveTo>
                    <a:lnTo>
                      <a:pt x="34" y="18"/>
                    </a:lnTo>
                    <a:lnTo>
                      <a:pt x="28" y="27"/>
                    </a:lnTo>
                    <a:lnTo>
                      <a:pt x="25" y="34"/>
                    </a:lnTo>
                    <a:lnTo>
                      <a:pt x="22" y="43"/>
                    </a:lnTo>
                    <a:lnTo>
                      <a:pt x="15" y="52"/>
                    </a:lnTo>
                    <a:lnTo>
                      <a:pt x="12" y="58"/>
                    </a:lnTo>
                    <a:lnTo>
                      <a:pt x="6" y="68"/>
                    </a:lnTo>
                    <a:lnTo>
                      <a:pt x="3" y="68"/>
                    </a:lnTo>
                    <a:lnTo>
                      <a:pt x="0" y="64"/>
                    </a:lnTo>
                    <a:lnTo>
                      <a:pt x="9" y="49"/>
                    </a:lnTo>
                    <a:lnTo>
                      <a:pt x="15" y="30"/>
                    </a:lnTo>
                    <a:lnTo>
                      <a:pt x="15" y="24"/>
                    </a:lnTo>
                    <a:lnTo>
                      <a:pt x="22" y="12"/>
                    </a:lnTo>
                    <a:lnTo>
                      <a:pt x="28" y="6"/>
                    </a:lnTo>
                    <a:lnTo>
                      <a:pt x="31" y="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79" name="Freeform 147"/>
              <p:cNvSpPr>
                <a:spLocks/>
              </p:cNvSpPr>
              <p:nvPr/>
            </p:nvSpPr>
            <p:spPr bwMode="auto">
              <a:xfrm>
                <a:off x="2609" y="1345"/>
                <a:ext cx="68" cy="74"/>
              </a:xfrm>
              <a:custGeom>
                <a:avLst/>
                <a:gdLst>
                  <a:gd name="T0" fmla="*/ 68 w 68"/>
                  <a:gd name="T1" fmla="*/ 0 h 74"/>
                  <a:gd name="T2" fmla="*/ 62 w 68"/>
                  <a:gd name="T3" fmla="*/ 9 h 74"/>
                  <a:gd name="T4" fmla="*/ 56 w 68"/>
                  <a:gd name="T5" fmla="*/ 13 h 74"/>
                  <a:gd name="T6" fmla="*/ 44 w 68"/>
                  <a:gd name="T7" fmla="*/ 25 h 74"/>
                  <a:gd name="T8" fmla="*/ 34 w 68"/>
                  <a:gd name="T9" fmla="*/ 47 h 74"/>
                  <a:gd name="T10" fmla="*/ 28 w 68"/>
                  <a:gd name="T11" fmla="*/ 56 h 74"/>
                  <a:gd name="T12" fmla="*/ 22 w 68"/>
                  <a:gd name="T13" fmla="*/ 65 h 74"/>
                  <a:gd name="T14" fmla="*/ 3 w 68"/>
                  <a:gd name="T15" fmla="*/ 74 h 74"/>
                  <a:gd name="T16" fmla="*/ 0 w 68"/>
                  <a:gd name="T17" fmla="*/ 71 h 74"/>
                  <a:gd name="T18" fmla="*/ 10 w 68"/>
                  <a:gd name="T19" fmla="*/ 65 h 74"/>
                  <a:gd name="T20" fmla="*/ 13 w 68"/>
                  <a:gd name="T21" fmla="*/ 62 h 74"/>
                  <a:gd name="T22" fmla="*/ 16 w 68"/>
                  <a:gd name="T23" fmla="*/ 56 h 74"/>
                  <a:gd name="T24" fmla="*/ 28 w 68"/>
                  <a:gd name="T25" fmla="*/ 40 h 74"/>
                  <a:gd name="T26" fmla="*/ 34 w 68"/>
                  <a:gd name="T27" fmla="*/ 31 h 74"/>
                  <a:gd name="T28" fmla="*/ 37 w 68"/>
                  <a:gd name="T29" fmla="*/ 22 h 74"/>
                  <a:gd name="T30" fmla="*/ 44 w 68"/>
                  <a:gd name="T31" fmla="*/ 16 h 74"/>
                  <a:gd name="T32" fmla="*/ 50 w 68"/>
                  <a:gd name="T33" fmla="*/ 9 h 74"/>
                  <a:gd name="T34" fmla="*/ 62 w 68"/>
                  <a:gd name="T35" fmla="*/ 0 h 74"/>
                  <a:gd name="T36" fmla="*/ 65 w 68"/>
                  <a:gd name="T37" fmla="*/ 0 h 74"/>
                  <a:gd name="T38" fmla="*/ 68 w 68"/>
                  <a:gd name="T39" fmla="*/ 0 h 74"/>
                  <a:gd name="T40" fmla="*/ 68 w 68"/>
                  <a:gd name="T41" fmla="*/ 0 h 74"/>
                  <a:gd name="T42" fmla="*/ 68 w 68"/>
                  <a:gd name="T43" fmla="*/ 0 h 7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8"/>
                  <a:gd name="T67" fmla="*/ 0 h 74"/>
                  <a:gd name="T68" fmla="*/ 68 w 68"/>
                  <a:gd name="T69" fmla="*/ 74 h 7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8" h="74">
                    <a:moveTo>
                      <a:pt x="68" y="0"/>
                    </a:moveTo>
                    <a:lnTo>
                      <a:pt x="62" y="9"/>
                    </a:lnTo>
                    <a:lnTo>
                      <a:pt x="56" y="13"/>
                    </a:lnTo>
                    <a:lnTo>
                      <a:pt x="44" y="25"/>
                    </a:lnTo>
                    <a:lnTo>
                      <a:pt x="34" y="47"/>
                    </a:lnTo>
                    <a:lnTo>
                      <a:pt x="28" y="56"/>
                    </a:lnTo>
                    <a:lnTo>
                      <a:pt x="22" y="65"/>
                    </a:lnTo>
                    <a:lnTo>
                      <a:pt x="3" y="74"/>
                    </a:lnTo>
                    <a:lnTo>
                      <a:pt x="0" y="71"/>
                    </a:lnTo>
                    <a:lnTo>
                      <a:pt x="10" y="65"/>
                    </a:lnTo>
                    <a:lnTo>
                      <a:pt x="13" y="62"/>
                    </a:lnTo>
                    <a:lnTo>
                      <a:pt x="16" y="56"/>
                    </a:lnTo>
                    <a:lnTo>
                      <a:pt x="28" y="40"/>
                    </a:lnTo>
                    <a:lnTo>
                      <a:pt x="34" y="31"/>
                    </a:lnTo>
                    <a:lnTo>
                      <a:pt x="37" y="22"/>
                    </a:lnTo>
                    <a:lnTo>
                      <a:pt x="44" y="16"/>
                    </a:lnTo>
                    <a:lnTo>
                      <a:pt x="50" y="9"/>
                    </a:lnTo>
                    <a:lnTo>
                      <a:pt x="62" y="0"/>
                    </a:lnTo>
                    <a:lnTo>
                      <a:pt x="65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0" name="Freeform 148"/>
              <p:cNvSpPr>
                <a:spLocks/>
              </p:cNvSpPr>
              <p:nvPr/>
            </p:nvSpPr>
            <p:spPr bwMode="auto">
              <a:xfrm>
                <a:off x="2739" y="1432"/>
                <a:ext cx="68" cy="80"/>
              </a:xfrm>
              <a:custGeom>
                <a:avLst/>
                <a:gdLst>
                  <a:gd name="T0" fmla="*/ 68 w 68"/>
                  <a:gd name="T1" fmla="*/ 9 h 80"/>
                  <a:gd name="T2" fmla="*/ 56 w 68"/>
                  <a:gd name="T3" fmla="*/ 9 h 80"/>
                  <a:gd name="T4" fmla="*/ 46 w 68"/>
                  <a:gd name="T5" fmla="*/ 15 h 80"/>
                  <a:gd name="T6" fmla="*/ 43 w 68"/>
                  <a:gd name="T7" fmla="*/ 18 h 80"/>
                  <a:gd name="T8" fmla="*/ 31 w 68"/>
                  <a:gd name="T9" fmla="*/ 15 h 80"/>
                  <a:gd name="T10" fmla="*/ 25 w 68"/>
                  <a:gd name="T11" fmla="*/ 18 h 80"/>
                  <a:gd name="T12" fmla="*/ 25 w 68"/>
                  <a:gd name="T13" fmla="*/ 24 h 80"/>
                  <a:gd name="T14" fmla="*/ 19 w 68"/>
                  <a:gd name="T15" fmla="*/ 31 h 80"/>
                  <a:gd name="T16" fmla="*/ 6 w 68"/>
                  <a:gd name="T17" fmla="*/ 40 h 80"/>
                  <a:gd name="T18" fmla="*/ 3 w 68"/>
                  <a:gd name="T19" fmla="*/ 52 h 80"/>
                  <a:gd name="T20" fmla="*/ 3 w 68"/>
                  <a:gd name="T21" fmla="*/ 65 h 80"/>
                  <a:gd name="T22" fmla="*/ 6 w 68"/>
                  <a:gd name="T23" fmla="*/ 71 h 80"/>
                  <a:gd name="T24" fmla="*/ 12 w 68"/>
                  <a:gd name="T25" fmla="*/ 77 h 80"/>
                  <a:gd name="T26" fmla="*/ 12 w 68"/>
                  <a:gd name="T27" fmla="*/ 77 h 80"/>
                  <a:gd name="T28" fmla="*/ 12 w 68"/>
                  <a:gd name="T29" fmla="*/ 80 h 80"/>
                  <a:gd name="T30" fmla="*/ 9 w 68"/>
                  <a:gd name="T31" fmla="*/ 80 h 80"/>
                  <a:gd name="T32" fmla="*/ 0 w 68"/>
                  <a:gd name="T33" fmla="*/ 65 h 80"/>
                  <a:gd name="T34" fmla="*/ 0 w 68"/>
                  <a:gd name="T35" fmla="*/ 37 h 80"/>
                  <a:gd name="T36" fmla="*/ 6 w 68"/>
                  <a:gd name="T37" fmla="*/ 31 h 80"/>
                  <a:gd name="T38" fmla="*/ 12 w 68"/>
                  <a:gd name="T39" fmla="*/ 24 h 80"/>
                  <a:gd name="T40" fmla="*/ 19 w 68"/>
                  <a:gd name="T41" fmla="*/ 15 h 80"/>
                  <a:gd name="T42" fmla="*/ 22 w 68"/>
                  <a:gd name="T43" fmla="*/ 12 h 80"/>
                  <a:gd name="T44" fmla="*/ 28 w 68"/>
                  <a:gd name="T45" fmla="*/ 9 h 80"/>
                  <a:gd name="T46" fmla="*/ 40 w 68"/>
                  <a:gd name="T47" fmla="*/ 6 h 80"/>
                  <a:gd name="T48" fmla="*/ 46 w 68"/>
                  <a:gd name="T49" fmla="*/ 3 h 80"/>
                  <a:gd name="T50" fmla="*/ 53 w 68"/>
                  <a:gd name="T51" fmla="*/ 0 h 80"/>
                  <a:gd name="T52" fmla="*/ 68 w 68"/>
                  <a:gd name="T53" fmla="*/ 6 h 80"/>
                  <a:gd name="T54" fmla="*/ 68 w 68"/>
                  <a:gd name="T55" fmla="*/ 9 h 80"/>
                  <a:gd name="T56" fmla="*/ 68 w 68"/>
                  <a:gd name="T57" fmla="*/ 9 h 80"/>
                  <a:gd name="T58" fmla="*/ 68 w 68"/>
                  <a:gd name="T59" fmla="*/ 9 h 80"/>
                  <a:gd name="T60" fmla="*/ 68 w 68"/>
                  <a:gd name="T61" fmla="*/ 9 h 8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68"/>
                  <a:gd name="T94" fmla="*/ 0 h 80"/>
                  <a:gd name="T95" fmla="*/ 68 w 68"/>
                  <a:gd name="T96" fmla="*/ 80 h 8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68" h="80">
                    <a:moveTo>
                      <a:pt x="68" y="9"/>
                    </a:moveTo>
                    <a:lnTo>
                      <a:pt x="56" y="9"/>
                    </a:lnTo>
                    <a:lnTo>
                      <a:pt x="46" y="15"/>
                    </a:lnTo>
                    <a:lnTo>
                      <a:pt x="43" y="18"/>
                    </a:lnTo>
                    <a:lnTo>
                      <a:pt x="31" y="15"/>
                    </a:lnTo>
                    <a:lnTo>
                      <a:pt x="25" y="18"/>
                    </a:lnTo>
                    <a:lnTo>
                      <a:pt x="25" y="24"/>
                    </a:lnTo>
                    <a:lnTo>
                      <a:pt x="19" y="31"/>
                    </a:lnTo>
                    <a:lnTo>
                      <a:pt x="6" y="40"/>
                    </a:lnTo>
                    <a:lnTo>
                      <a:pt x="3" y="52"/>
                    </a:lnTo>
                    <a:lnTo>
                      <a:pt x="3" y="65"/>
                    </a:lnTo>
                    <a:lnTo>
                      <a:pt x="6" y="71"/>
                    </a:lnTo>
                    <a:lnTo>
                      <a:pt x="12" y="77"/>
                    </a:lnTo>
                    <a:lnTo>
                      <a:pt x="12" y="80"/>
                    </a:lnTo>
                    <a:lnTo>
                      <a:pt x="9" y="80"/>
                    </a:lnTo>
                    <a:lnTo>
                      <a:pt x="0" y="65"/>
                    </a:lnTo>
                    <a:lnTo>
                      <a:pt x="0" y="37"/>
                    </a:lnTo>
                    <a:lnTo>
                      <a:pt x="6" y="31"/>
                    </a:lnTo>
                    <a:lnTo>
                      <a:pt x="12" y="24"/>
                    </a:lnTo>
                    <a:lnTo>
                      <a:pt x="19" y="15"/>
                    </a:lnTo>
                    <a:lnTo>
                      <a:pt x="22" y="12"/>
                    </a:lnTo>
                    <a:lnTo>
                      <a:pt x="28" y="9"/>
                    </a:lnTo>
                    <a:lnTo>
                      <a:pt x="40" y="6"/>
                    </a:lnTo>
                    <a:lnTo>
                      <a:pt x="46" y="3"/>
                    </a:lnTo>
                    <a:lnTo>
                      <a:pt x="53" y="0"/>
                    </a:lnTo>
                    <a:lnTo>
                      <a:pt x="68" y="6"/>
                    </a:lnTo>
                    <a:lnTo>
                      <a:pt x="68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1" name="Freeform 149"/>
              <p:cNvSpPr>
                <a:spLocks/>
              </p:cNvSpPr>
              <p:nvPr/>
            </p:nvSpPr>
            <p:spPr bwMode="auto">
              <a:xfrm>
                <a:off x="2758" y="1463"/>
                <a:ext cx="9" cy="61"/>
              </a:xfrm>
              <a:custGeom>
                <a:avLst/>
                <a:gdLst>
                  <a:gd name="T0" fmla="*/ 9 w 9"/>
                  <a:gd name="T1" fmla="*/ 3 h 61"/>
                  <a:gd name="T2" fmla="*/ 6 w 9"/>
                  <a:gd name="T3" fmla="*/ 40 h 61"/>
                  <a:gd name="T4" fmla="*/ 6 w 9"/>
                  <a:gd name="T5" fmla="*/ 52 h 61"/>
                  <a:gd name="T6" fmla="*/ 9 w 9"/>
                  <a:gd name="T7" fmla="*/ 58 h 61"/>
                  <a:gd name="T8" fmla="*/ 9 w 9"/>
                  <a:gd name="T9" fmla="*/ 61 h 61"/>
                  <a:gd name="T10" fmla="*/ 6 w 9"/>
                  <a:gd name="T11" fmla="*/ 61 h 61"/>
                  <a:gd name="T12" fmla="*/ 0 w 9"/>
                  <a:gd name="T13" fmla="*/ 55 h 61"/>
                  <a:gd name="T14" fmla="*/ 0 w 9"/>
                  <a:gd name="T15" fmla="*/ 40 h 61"/>
                  <a:gd name="T16" fmla="*/ 3 w 9"/>
                  <a:gd name="T17" fmla="*/ 21 h 61"/>
                  <a:gd name="T18" fmla="*/ 6 w 9"/>
                  <a:gd name="T19" fmla="*/ 3 h 61"/>
                  <a:gd name="T20" fmla="*/ 9 w 9"/>
                  <a:gd name="T21" fmla="*/ 0 h 61"/>
                  <a:gd name="T22" fmla="*/ 9 w 9"/>
                  <a:gd name="T23" fmla="*/ 3 h 61"/>
                  <a:gd name="T24" fmla="*/ 9 w 9"/>
                  <a:gd name="T25" fmla="*/ 3 h 61"/>
                  <a:gd name="T26" fmla="*/ 9 w 9"/>
                  <a:gd name="T27" fmla="*/ 3 h 6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"/>
                  <a:gd name="T43" fmla="*/ 0 h 61"/>
                  <a:gd name="T44" fmla="*/ 9 w 9"/>
                  <a:gd name="T45" fmla="*/ 61 h 6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" h="61">
                    <a:moveTo>
                      <a:pt x="9" y="3"/>
                    </a:moveTo>
                    <a:lnTo>
                      <a:pt x="6" y="40"/>
                    </a:lnTo>
                    <a:lnTo>
                      <a:pt x="6" y="52"/>
                    </a:lnTo>
                    <a:lnTo>
                      <a:pt x="9" y="58"/>
                    </a:lnTo>
                    <a:lnTo>
                      <a:pt x="9" y="61"/>
                    </a:lnTo>
                    <a:lnTo>
                      <a:pt x="6" y="61"/>
                    </a:lnTo>
                    <a:lnTo>
                      <a:pt x="0" y="55"/>
                    </a:lnTo>
                    <a:lnTo>
                      <a:pt x="0" y="40"/>
                    </a:lnTo>
                    <a:lnTo>
                      <a:pt x="3" y="21"/>
                    </a:lnTo>
                    <a:lnTo>
                      <a:pt x="6" y="3"/>
                    </a:lnTo>
                    <a:lnTo>
                      <a:pt x="9" y="0"/>
                    </a:ln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2" name="Freeform 150"/>
              <p:cNvSpPr>
                <a:spLocks/>
              </p:cNvSpPr>
              <p:nvPr/>
            </p:nvSpPr>
            <p:spPr bwMode="auto">
              <a:xfrm>
                <a:off x="2798" y="1413"/>
                <a:ext cx="37" cy="59"/>
              </a:xfrm>
              <a:custGeom>
                <a:avLst/>
                <a:gdLst>
                  <a:gd name="T0" fmla="*/ 0 w 37"/>
                  <a:gd name="T1" fmla="*/ 59 h 59"/>
                  <a:gd name="T2" fmla="*/ 9 w 37"/>
                  <a:gd name="T3" fmla="*/ 31 h 59"/>
                  <a:gd name="T4" fmla="*/ 15 w 37"/>
                  <a:gd name="T5" fmla="*/ 22 h 59"/>
                  <a:gd name="T6" fmla="*/ 25 w 37"/>
                  <a:gd name="T7" fmla="*/ 9 h 59"/>
                  <a:gd name="T8" fmla="*/ 34 w 37"/>
                  <a:gd name="T9" fmla="*/ 0 h 59"/>
                  <a:gd name="T10" fmla="*/ 37 w 37"/>
                  <a:gd name="T11" fmla="*/ 0 h 59"/>
                  <a:gd name="T12" fmla="*/ 37 w 37"/>
                  <a:gd name="T13" fmla="*/ 3 h 59"/>
                  <a:gd name="T14" fmla="*/ 31 w 37"/>
                  <a:gd name="T15" fmla="*/ 16 h 59"/>
                  <a:gd name="T16" fmla="*/ 15 w 37"/>
                  <a:gd name="T17" fmla="*/ 37 h 59"/>
                  <a:gd name="T18" fmla="*/ 9 w 37"/>
                  <a:gd name="T19" fmla="*/ 47 h 59"/>
                  <a:gd name="T20" fmla="*/ 3 w 37"/>
                  <a:gd name="T21" fmla="*/ 59 h 59"/>
                  <a:gd name="T22" fmla="*/ 0 w 37"/>
                  <a:gd name="T23" fmla="*/ 59 h 59"/>
                  <a:gd name="T24" fmla="*/ 0 w 37"/>
                  <a:gd name="T25" fmla="*/ 59 h 59"/>
                  <a:gd name="T26" fmla="*/ 0 w 37"/>
                  <a:gd name="T27" fmla="*/ 59 h 59"/>
                  <a:gd name="T28" fmla="*/ 0 w 37"/>
                  <a:gd name="T29" fmla="*/ 59 h 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7"/>
                  <a:gd name="T46" fmla="*/ 0 h 59"/>
                  <a:gd name="T47" fmla="*/ 37 w 37"/>
                  <a:gd name="T48" fmla="*/ 59 h 5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7" h="59">
                    <a:moveTo>
                      <a:pt x="0" y="59"/>
                    </a:moveTo>
                    <a:lnTo>
                      <a:pt x="9" y="31"/>
                    </a:lnTo>
                    <a:lnTo>
                      <a:pt x="15" y="22"/>
                    </a:lnTo>
                    <a:lnTo>
                      <a:pt x="25" y="9"/>
                    </a:lnTo>
                    <a:lnTo>
                      <a:pt x="34" y="0"/>
                    </a:lnTo>
                    <a:lnTo>
                      <a:pt x="37" y="0"/>
                    </a:lnTo>
                    <a:lnTo>
                      <a:pt x="37" y="3"/>
                    </a:lnTo>
                    <a:lnTo>
                      <a:pt x="31" y="16"/>
                    </a:lnTo>
                    <a:lnTo>
                      <a:pt x="15" y="37"/>
                    </a:lnTo>
                    <a:lnTo>
                      <a:pt x="9" y="47"/>
                    </a:lnTo>
                    <a:lnTo>
                      <a:pt x="3" y="59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3" name="Freeform 151"/>
              <p:cNvSpPr>
                <a:spLocks/>
              </p:cNvSpPr>
              <p:nvPr/>
            </p:nvSpPr>
            <p:spPr bwMode="auto">
              <a:xfrm>
                <a:off x="2807" y="1401"/>
                <a:ext cx="46" cy="77"/>
              </a:xfrm>
              <a:custGeom>
                <a:avLst/>
                <a:gdLst>
                  <a:gd name="T0" fmla="*/ 43 w 46"/>
                  <a:gd name="T1" fmla="*/ 0 h 77"/>
                  <a:gd name="T2" fmla="*/ 46 w 46"/>
                  <a:gd name="T3" fmla="*/ 6 h 77"/>
                  <a:gd name="T4" fmla="*/ 46 w 46"/>
                  <a:gd name="T5" fmla="*/ 12 h 77"/>
                  <a:gd name="T6" fmla="*/ 40 w 46"/>
                  <a:gd name="T7" fmla="*/ 25 h 77"/>
                  <a:gd name="T8" fmla="*/ 37 w 46"/>
                  <a:gd name="T9" fmla="*/ 31 h 77"/>
                  <a:gd name="T10" fmla="*/ 34 w 46"/>
                  <a:gd name="T11" fmla="*/ 37 h 77"/>
                  <a:gd name="T12" fmla="*/ 25 w 46"/>
                  <a:gd name="T13" fmla="*/ 49 h 77"/>
                  <a:gd name="T14" fmla="*/ 19 w 46"/>
                  <a:gd name="T15" fmla="*/ 59 h 77"/>
                  <a:gd name="T16" fmla="*/ 9 w 46"/>
                  <a:gd name="T17" fmla="*/ 71 h 77"/>
                  <a:gd name="T18" fmla="*/ 6 w 46"/>
                  <a:gd name="T19" fmla="*/ 77 h 77"/>
                  <a:gd name="T20" fmla="*/ 0 w 46"/>
                  <a:gd name="T21" fmla="*/ 77 h 77"/>
                  <a:gd name="T22" fmla="*/ 0 w 46"/>
                  <a:gd name="T23" fmla="*/ 74 h 77"/>
                  <a:gd name="T24" fmla="*/ 3 w 46"/>
                  <a:gd name="T25" fmla="*/ 68 h 77"/>
                  <a:gd name="T26" fmla="*/ 12 w 46"/>
                  <a:gd name="T27" fmla="*/ 55 h 77"/>
                  <a:gd name="T28" fmla="*/ 22 w 46"/>
                  <a:gd name="T29" fmla="*/ 46 h 77"/>
                  <a:gd name="T30" fmla="*/ 28 w 46"/>
                  <a:gd name="T31" fmla="*/ 34 h 77"/>
                  <a:gd name="T32" fmla="*/ 37 w 46"/>
                  <a:gd name="T33" fmla="*/ 21 h 77"/>
                  <a:gd name="T34" fmla="*/ 40 w 46"/>
                  <a:gd name="T35" fmla="*/ 3 h 77"/>
                  <a:gd name="T36" fmla="*/ 40 w 46"/>
                  <a:gd name="T37" fmla="*/ 3 h 77"/>
                  <a:gd name="T38" fmla="*/ 43 w 46"/>
                  <a:gd name="T39" fmla="*/ 0 h 77"/>
                  <a:gd name="T40" fmla="*/ 43 w 46"/>
                  <a:gd name="T41" fmla="*/ 0 h 77"/>
                  <a:gd name="T42" fmla="*/ 43 w 46"/>
                  <a:gd name="T43" fmla="*/ 0 h 7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6"/>
                  <a:gd name="T67" fmla="*/ 0 h 77"/>
                  <a:gd name="T68" fmla="*/ 46 w 46"/>
                  <a:gd name="T69" fmla="*/ 77 h 7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6" h="77">
                    <a:moveTo>
                      <a:pt x="43" y="0"/>
                    </a:moveTo>
                    <a:lnTo>
                      <a:pt x="46" y="6"/>
                    </a:lnTo>
                    <a:lnTo>
                      <a:pt x="46" y="12"/>
                    </a:lnTo>
                    <a:lnTo>
                      <a:pt x="40" y="25"/>
                    </a:lnTo>
                    <a:lnTo>
                      <a:pt x="37" y="31"/>
                    </a:lnTo>
                    <a:lnTo>
                      <a:pt x="34" y="37"/>
                    </a:lnTo>
                    <a:lnTo>
                      <a:pt x="25" y="49"/>
                    </a:lnTo>
                    <a:lnTo>
                      <a:pt x="19" y="59"/>
                    </a:lnTo>
                    <a:lnTo>
                      <a:pt x="9" y="71"/>
                    </a:lnTo>
                    <a:lnTo>
                      <a:pt x="6" y="77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3" y="68"/>
                    </a:lnTo>
                    <a:lnTo>
                      <a:pt x="12" y="55"/>
                    </a:lnTo>
                    <a:lnTo>
                      <a:pt x="22" y="46"/>
                    </a:lnTo>
                    <a:lnTo>
                      <a:pt x="28" y="34"/>
                    </a:lnTo>
                    <a:lnTo>
                      <a:pt x="37" y="21"/>
                    </a:lnTo>
                    <a:lnTo>
                      <a:pt x="40" y="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4" name="Freeform 152"/>
              <p:cNvSpPr>
                <a:spLocks/>
              </p:cNvSpPr>
              <p:nvPr/>
            </p:nvSpPr>
            <p:spPr bwMode="auto">
              <a:xfrm>
                <a:off x="2785" y="1475"/>
                <a:ext cx="41" cy="37"/>
              </a:xfrm>
              <a:custGeom>
                <a:avLst/>
                <a:gdLst>
                  <a:gd name="T0" fmla="*/ 31 w 41"/>
                  <a:gd name="T1" fmla="*/ 3 h 37"/>
                  <a:gd name="T2" fmla="*/ 10 w 41"/>
                  <a:gd name="T3" fmla="*/ 15 h 37"/>
                  <a:gd name="T4" fmla="*/ 13 w 41"/>
                  <a:gd name="T5" fmla="*/ 22 h 37"/>
                  <a:gd name="T6" fmla="*/ 19 w 41"/>
                  <a:gd name="T7" fmla="*/ 25 h 37"/>
                  <a:gd name="T8" fmla="*/ 41 w 41"/>
                  <a:gd name="T9" fmla="*/ 19 h 37"/>
                  <a:gd name="T10" fmla="*/ 41 w 41"/>
                  <a:gd name="T11" fmla="*/ 22 h 37"/>
                  <a:gd name="T12" fmla="*/ 31 w 41"/>
                  <a:gd name="T13" fmla="*/ 31 h 37"/>
                  <a:gd name="T14" fmla="*/ 28 w 41"/>
                  <a:gd name="T15" fmla="*/ 34 h 37"/>
                  <a:gd name="T16" fmla="*/ 22 w 41"/>
                  <a:gd name="T17" fmla="*/ 37 h 37"/>
                  <a:gd name="T18" fmla="*/ 19 w 41"/>
                  <a:gd name="T19" fmla="*/ 37 h 37"/>
                  <a:gd name="T20" fmla="*/ 7 w 41"/>
                  <a:gd name="T21" fmla="*/ 28 h 37"/>
                  <a:gd name="T22" fmla="*/ 0 w 41"/>
                  <a:gd name="T23" fmla="*/ 19 h 37"/>
                  <a:gd name="T24" fmla="*/ 0 w 41"/>
                  <a:gd name="T25" fmla="*/ 12 h 37"/>
                  <a:gd name="T26" fmla="*/ 4 w 41"/>
                  <a:gd name="T27" fmla="*/ 9 h 37"/>
                  <a:gd name="T28" fmla="*/ 7 w 41"/>
                  <a:gd name="T29" fmla="*/ 6 h 37"/>
                  <a:gd name="T30" fmla="*/ 13 w 41"/>
                  <a:gd name="T31" fmla="*/ 3 h 37"/>
                  <a:gd name="T32" fmla="*/ 31 w 41"/>
                  <a:gd name="T33" fmla="*/ 0 h 37"/>
                  <a:gd name="T34" fmla="*/ 34 w 41"/>
                  <a:gd name="T35" fmla="*/ 0 h 37"/>
                  <a:gd name="T36" fmla="*/ 31 w 41"/>
                  <a:gd name="T37" fmla="*/ 3 h 37"/>
                  <a:gd name="T38" fmla="*/ 31 w 41"/>
                  <a:gd name="T39" fmla="*/ 3 h 37"/>
                  <a:gd name="T40" fmla="*/ 31 w 41"/>
                  <a:gd name="T41" fmla="*/ 3 h 3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1"/>
                  <a:gd name="T64" fmla="*/ 0 h 37"/>
                  <a:gd name="T65" fmla="*/ 41 w 41"/>
                  <a:gd name="T66" fmla="*/ 37 h 3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1" h="37">
                    <a:moveTo>
                      <a:pt x="31" y="3"/>
                    </a:moveTo>
                    <a:lnTo>
                      <a:pt x="10" y="15"/>
                    </a:lnTo>
                    <a:lnTo>
                      <a:pt x="13" y="22"/>
                    </a:lnTo>
                    <a:lnTo>
                      <a:pt x="19" y="25"/>
                    </a:lnTo>
                    <a:lnTo>
                      <a:pt x="41" y="19"/>
                    </a:lnTo>
                    <a:lnTo>
                      <a:pt x="41" y="22"/>
                    </a:lnTo>
                    <a:lnTo>
                      <a:pt x="31" y="31"/>
                    </a:lnTo>
                    <a:lnTo>
                      <a:pt x="28" y="34"/>
                    </a:lnTo>
                    <a:lnTo>
                      <a:pt x="22" y="37"/>
                    </a:lnTo>
                    <a:lnTo>
                      <a:pt x="19" y="37"/>
                    </a:lnTo>
                    <a:lnTo>
                      <a:pt x="7" y="28"/>
                    </a:lnTo>
                    <a:lnTo>
                      <a:pt x="0" y="19"/>
                    </a:lnTo>
                    <a:lnTo>
                      <a:pt x="0" y="12"/>
                    </a:lnTo>
                    <a:lnTo>
                      <a:pt x="4" y="9"/>
                    </a:lnTo>
                    <a:lnTo>
                      <a:pt x="7" y="6"/>
                    </a:lnTo>
                    <a:lnTo>
                      <a:pt x="13" y="3"/>
                    </a:lnTo>
                    <a:lnTo>
                      <a:pt x="31" y="0"/>
                    </a:lnTo>
                    <a:lnTo>
                      <a:pt x="34" y="0"/>
                    </a:lnTo>
                    <a:lnTo>
                      <a:pt x="3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5" name="Freeform 153"/>
              <p:cNvSpPr>
                <a:spLocks/>
              </p:cNvSpPr>
              <p:nvPr/>
            </p:nvSpPr>
            <p:spPr bwMode="auto">
              <a:xfrm>
                <a:off x="2816" y="1469"/>
                <a:ext cx="28" cy="40"/>
              </a:xfrm>
              <a:custGeom>
                <a:avLst/>
                <a:gdLst>
                  <a:gd name="T0" fmla="*/ 25 w 28"/>
                  <a:gd name="T1" fmla="*/ 3 h 40"/>
                  <a:gd name="T2" fmla="*/ 28 w 28"/>
                  <a:gd name="T3" fmla="*/ 31 h 40"/>
                  <a:gd name="T4" fmla="*/ 22 w 28"/>
                  <a:gd name="T5" fmla="*/ 37 h 40"/>
                  <a:gd name="T6" fmla="*/ 16 w 28"/>
                  <a:gd name="T7" fmla="*/ 40 h 40"/>
                  <a:gd name="T8" fmla="*/ 0 w 28"/>
                  <a:gd name="T9" fmla="*/ 40 h 40"/>
                  <a:gd name="T10" fmla="*/ 0 w 28"/>
                  <a:gd name="T11" fmla="*/ 40 h 40"/>
                  <a:gd name="T12" fmla="*/ 0 w 28"/>
                  <a:gd name="T13" fmla="*/ 37 h 40"/>
                  <a:gd name="T14" fmla="*/ 13 w 28"/>
                  <a:gd name="T15" fmla="*/ 34 h 40"/>
                  <a:gd name="T16" fmla="*/ 19 w 28"/>
                  <a:gd name="T17" fmla="*/ 25 h 40"/>
                  <a:gd name="T18" fmla="*/ 22 w 28"/>
                  <a:gd name="T19" fmla="*/ 15 h 40"/>
                  <a:gd name="T20" fmla="*/ 22 w 28"/>
                  <a:gd name="T21" fmla="*/ 3 h 40"/>
                  <a:gd name="T22" fmla="*/ 22 w 28"/>
                  <a:gd name="T23" fmla="*/ 0 h 40"/>
                  <a:gd name="T24" fmla="*/ 25 w 28"/>
                  <a:gd name="T25" fmla="*/ 3 h 40"/>
                  <a:gd name="T26" fmla="*/ 25 w 28"/>
                  <a:gd name="T27" fmla="*/ 3 h 40"/>
                  <a:gd name="T28" fmla="*/ 25 w 28"/>
                  <a:gd name="T29" fmla="*/ 3 h 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8"/>
                  <a:gd name="T46" fmla="*/ 0 h 40"/>
                  <a:gd name="T47" fmla="*/ 28 w 28"/>
                  <a:gd name="T48" fmla="*/ 40 h 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8" h="40">
                    <a:moveTo>
                      <a:pt x="25" y="3"/>
                    </a:moveTo>
                    <a:lnTo>
                      <a:pt x="28" y="31"/>
                    </a:lnTo>
                    <a:lnTo>
                      <a:pt x="22" y="37"/>
                    </a:lnTo>
                    <a:lnTo>
                      <a:pt x="16" y="40"/>
                    </a:lnTo>
                    <a:lnTo>
                      <a:pt x="0" y="40"/>
                    </a:lnTo>
                    <a:lnTo>
                      <a:pt x="0" y="37"/>
                    </a:lnTo>
                    <a:lnTo>
                      <a:pt x="13" y="34"/>
                    </a:lnTo>
                    <a:lnTo>
                      <a:pt x="19" y="25"/>
                    </a:lnTo>
                    <a:lnTo>
                      <a:pt x="22" y="15"/>
                    </a:lnTo>
                    <a:lnTo>
                      <a:pt x="22" y="3"/>
                    </a:lnTo>
                    <a:lnTo>
                      <a:pt x="22" y="0"/>
                    </a:lnTo>
                    <a:lnTo>
                      <a:pt x="2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6" name="Freeform 154"/>
              <p:cNvSpPr>
                <a:spLocks/>
              </p:cNvSpPr>
              <p:nvPr/>
            </p:nvSpPr>
            <p:spPr bwMode="auto">
              <a:xfrm>
                <a:off x="2847" y="1472"/>
                <a:ext cx="68" cy="15"/>
              </a:xfrm>
              <a:custGeom>
                <a:avLst/>
                <a:gdLst>
                  <a:gd name="T0" fmla="*/ 0 w 68"/>
                  <a:gd name="T1" fmla="*/ 12 h 15"/>
                  <a:gd name="T2" fmla="*/ 16 w 68"/>
                  <a:gd name="T3" fmla="*/ 6 h 15"/>
                  <a:gd name="T4" fmla="*/ 31 w 68"/>
                  <a:gd name="T5" fmla="*/ 0 h 15"/>
                  <a:gd name="T6" fmla="*/ 65 w 68"/>
                  <a:gd name="T7" fmla="*/ 3 h 15"/>
                  <a:gd name="T8" fmla="*/ 68 w 68"/>
                  <a:gd name="T9" fmla="*/ 3 h 15"/>
                  <a:gd name="T10" fmla="*/ 65 w 68"/>
                  <a:gd name="T11" fmla="*/ 6 h 15"/>
                  <a:gd name="T12" fmla="*/ 50 w 68"/>
                  <a:gd name="T13" fmla="*/ 9 h 15"/>
                  <a:gd name="T14" fmla="*/ 34 w 68"/>
                  <a:gd name="T15" fmla="*/ 12 h 15"/>
                  <a:gd name="T16" fmla="*/ 3 w 68"/>
                  <a:gd name="T17" fmla="*/ 15 h 15"/>
                  <a:gd name="T18" fmla="*/ 0 w 68"/>
                  <a:gd name="T19" fmla="*/ 12 h 15"/>
                  <a:gd name="T20" fmla="*/ 0 w 68"/>
                  <a:gd name="T21" fmla="*/ 12 h 15"/>
                  <a:gd name="T22" fmla="*/ 0 w 68"/>
                  <a:gd name="T23" fmla="*/ 12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8"/>
                  <a:gd name="T37" fmla="*/ 0 h 15"/>
                  <a:gd name="T38" fmla="*/ 68 w 68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8" h="15">
                    <a:moveTo>
                      <a:pt x="0" y="12"/>
                    </a:moveTo>
                    <a:lnTo>
                      <a:pt x="16" y="6"/>
                    </a:lnTo>
                    <a:lnTo>
                      <a:pt x="31" y="0"/>
                    </a:lnTo>
                    <a:lnTo>
                      <a:pt x="65" y="3"/>
                    </a:lnTo>
                    <a:lnTo>
                      <a:pt x="68" y="3"/>
                    </a:lnTo>
                    <a:lnTo>
                      <a:pt x="65" y="6"/>
                    </a:lnTo>
                    <a:lnTo>
                      <a:pt x="50" y="9"/>
                    </a:lnTo>
                    <a:lnTo>
                      <a:pt x="34" y="12"/>
                    </a:lnTo>
                    <a:lnTo>
                      <a:pt x="3" y="15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7" name="Freeform 155"/>
              <p:cNvSpPr>
                <a:spLocks/>
              </p:cNvSpPr>
              <p:nvPr/>
            </p:nvSpPr>
            <p:spPr bwMode="auto">
              <a:xfrm>
                <a:off x="2829" y="1435"/>
                <a:ext cx="31" cy="12"/>
              </a:xfrm>
              <a:custGeom>
                <a:avLst/>
                <a:gdLst>
                  <a:gd name="T0" fmla="*/ 0 w 31"/>
                  <a:gd name="T1" fmla="*/ 9 h 12"/>
                  <a:gd name="T2" fmla="*/ 9 w 31"/>
                  <a:gd name="T3" fmla="*/ 3 h 12"/>
                  <a:gd name="T4" fmla="*/ 15 w 31"/>
                  <a:gd name="T5" fmla="*/ 0 h 12"/>
                  <a:gd name="T6" fmla="*/ 28 w 31"/>
                  <a:gd name="T7" fmla="*/ 0 h 12"/>
                  <a:gd name="T8" fmla="*/ 31 w 31"/>
                  <a:gd name="T9" fmla="*/ 0 h 12"/>
                  <a:gd name="T10" fmla="*/ 28 w 31"/>
                  <a:gd name="T11" fmla="*/ 3 h 12"/>
                  <a:gd name="T12" fmla="*/ 21 w 31"/>
                  <a:gd name="T13" fmla="*/ 9 h 12"/>
                  <a:gd name="T14" fmla="*/ 3 w 31"/>
                  <a:gd name="T15" fmla="*/ 12 h 12"/>
                  <a:gd name="T16" fmla="*/ 0 w 31"/>
                  <a:gd name="T17" fmla="*/ 9 h 12"/>
                  <a:gd name="T18" fmla="*/ 0 w 31"/>
                  <a:gd name="T19" fmla="*/ 9 h 12"/>
                  <a:gd name="T20" fmla="*/ 0 w 31"/>
                  <a:gd name="T21" fmla="*/ 9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1"/>
                  <a:gd name="T34" fmla="*/ 0 h 12"/>
                  <a:gd name="T35" fmla="*/ 31 w 31"/>
                  <a:gd name="T36" fmla="*/ 12 h 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1" h="12">
                    <a:moveTo>
                      <a:pt x="0" y="9"/>
                    </a:moveTo>
                    <a:lnTo>
                      <a:pt x="9" y="3"/>
                    </a:lnTo>
                    <a:lnTo>
                      <a:pt x="15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28" y="3"/>
                    </a:lnTo>
                    <a:lnTo>
                      <a:pt x="21" y="9"/>
                    </a:lnTo>
                    <a:lnTo>
                      <a:pt x="3" y="12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8" name="Freeform 156"/>
              <p:cNvSpPr>
                <a:spLocks/>
              </p:cNvSpPr>
              <p:nvPr/>
            </p:nvSpPr>
            <p:spPr bwMode="auto">
              <a:xfrm>
                <a:off x="2853" y="1435"/>
                <a:ext cx="34" cy="21"/>
              </a:xfrm>
              <a:custGeom>
                <a:avLst/>
                <a:gdLst>
                  <a:gd name="T0" fmla="*/ 4 w 34"/>
                  <a:gd name="T1" fmla="*/ 0 h 21"/>
                  <a:gd name="T2" fmla="*/ 16 w 34"/>
                  <a:gd name="T3" fmla="*/ 0 h 21"/>
                  <a:gd name="T4" fmla="*/ 28 w 34"/>
                  <a:gd name="T5" fmla="*/ 6 h 21"/>
                  <a:gd name="T6" fmla="*/ 34 w 34"/>
                  <a:gd name="T7" fmla="*/ 18 h 21"/>
                  <a:gd name="T8" fmla="*/ 34 w 34"/>
                  <a:gd name="T9" fmla="*/ 21 h 21"/>
                  <a:gd name="T10" fmla="*/ 31 w 34"/>
                  <a:gd name="T11" fmla="*/ 21 h 21"/>
                  <a:gd name="T12" fmla="*/ 25 w 34"/>
                  <a:gd name="T13" fmla="*/ 12 h 21"/>
                  <a:gd name="T14" fmla="*/ 16 w 34"/>
                  <a:gd name="T15" fmla="*/ 6 h 21"/>
                  <a:gd name="T16" fmla="*/ 4 w 34"/>
                  <a:gd name="T17" fmla="*/ 3 h 21"/>
                  <a:gd name="T18" fmla="*/ 0 w 34"/>
                  <a:gd name="T19" fmla="*/ 3 h 21"/>
                  <a:gd name="T20" fmla="*/ 4 w 34"/>
                  <a:gd name="T21" fmla="*/ 0 h 21"/>
                  <a:gd name="T22" fmla="*/ 4 w 34"/>
                  <a:gd name="T23" fmla="*/ 0 h 21"/>
                  <a:gd name="T24" fmla="*/ 4 w 34"/>
                  <a:gd name="T25" fmla="*/ 0 h 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4"/>
                  <a:gd name="T40" fmla="*/ 0 h 21"/>
                  <a:gd name="T41" fmla="*/ 34 w 34"/>
                  <a:gd name="T42" fmla="*/ 21 h 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4" h="21">
                    <a:moveTo>
                      <a:pt x="4" y="0"/>
                    </a:moveTo>
                    <a:lnTo>
                      <a:pt x="16" y="0"/>
                    </a:lnTo>
                    <a:lnTo>
                      <a:pt x="28" y="6"/>
                    </a:lnTo>
                    <a:lnTo>
                      <a:pt x="34" y="18"/>
                    </a:lnTo>
                    <a:lnTo>
                      <a:pt x="34" y="21"/>
                    </a:lnTo>
                    <a:lnTo>
                      <a:pt x="31" y="21"/>
                    </a:lnTo>
                    <a:lnTo>
                      <a:pt x="25" y="12"/>
                    </a:lnTo>
                    <a:lnTo>
                      <a:pt x="16" y="6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89" name="Freeform 157"/>
              <p:cNvSpPr>
                <a:spLocks/>
              </p:cNvSpPr>
              <p:nvPr/>
            </p:nvSpPr>
            <p:spPr bwMode="auto">
              <a:xfrm>
                <a:off x="2847" y="1398"/>
                <a:ext cx="93" cy="80"/>
              </a:xfrm>
              <a:custGeom>
                <a:avLst/>
                <a:gdLst>
                  <a:gd name="T0" fmla="*/ 3 w 93"/>
                  <a:gd name="T1" fmla="*/ 15 h 80"/>
                  <a:gd name="T2" fmla="*/ 13 w 93"/>
                  <a:gd name="T3" fmla="*/ 6 h 80"/>
                  <a:gd name="T4" fmla="*/ 16 w 93"/>
                  <a:gd name="T5" fmla="*/ 3 h 80"/>
                  <a:gd name="T6" fmla="*/ 25 w 93"/>
                  <a:gd name="T7" fmla="*/ 0 h 80"/>
                  <a:gd name="T8" fmla="*/ 50 w 93"/>
                  <a:gd name="T9" fmla="*/ 3 h 80"/>
                  <a:gd name="T10" fmla="*/ 65 w 93"/>
                  <a:gd name="T11" fmla="*/ 12 h 80"/>
                  <a:gd name="T12" fmla="*/ 81 w 93"/>
                  <a:gd name="T13" fmla="*/ 28 h 80"/>
                  <a:gd name="T14" fmla="*/ 87 w 93"/>
                  <a:gd name="T15" fmla="*/ 40 h 80"/>
                  <a:gd name="T16" fmla="*/ 90 w 93"/>
                  <a:gd name="T17" fmla="*/ 49 h 80"/>
                  <a:gd name="T18" fmla="*/ 93 w 93"/>
                  <a:gd name="T19" fmla="*/ 77 h 80"/>
                  <a:gd name="T20" fmla="*/ 90 w 93"/>
                  <a:gd name="T21" fmla="*/ 80 h 80"/>
                  <a:gd name="T22" fmla="*/ 87 w 93"/>
                  <a:gd name="T23" fmla="*/ 77 h 80"/>
                  <a:gd name="T24" fmla="*/ 84 w 93"/>
                  <a:gd name="T25" fmla="*/ 52 h 80"/>
                  <a:gd name="T26" fmla="*/ 77 w 93"/>
                  <a:gd name="T27" fmla="*/ 43 h 80"/>
                  <a:gd name="T28" fmla="*/ 74 w 93"/>
                  <a:gd name="T29" fmla="*/ 37 h 80"/>
                  <a:gd name="T30" fmla="*/ 71 w 93"/>
                  <a:gd name="T31" fmla="*/ 34 h 80"/>
                  <a:gd name="T32" fmla="*/ 62 w 93"/>
                  <a:gd name="T33" fmla="*/ 21 h 80"/>
                  <a:gd name="T34" fmla="*/ 59 w 93"/>
                  <a:gd name="T35" fmla="*/ 18 h 80"/>
                  <a:gd name="T36" fmla="*/ 53 w 93"/>
                  <a:gd name="T37" fmla="*/ 12 h 80"/>
                  <a:gd name="T38" fmla="*/ 37 w 93"/>
                  <a:gd name="T39" fmla="*/ 9 h 80"/>
                  <a:gd name="T40" fmla="*/ 31 w 93"/>
                  <a:gd name="T41" fmla="*/ 6 h 80"/>
                  <a:gd name="T42" fmla="*/ 25 w 93"/>
                  <a:gd name="T43" fmla="*/ 6 h 80"/>
                  <a:gd name="T44" fmla="*/ 13 w 93"/>
                  <a:gd name="T45" fmla="*/ 12 h 80"/>
                  <a:gd name="T46" fmla="*/ 3 w 93"/>
                  <a:gd name="T47" fmla="*/ 24 h 80"/>
                  <a:gd name="T48" fmla="*/ 0 w 93"/>
                  <a:gd name="T49" fmla="*/ 21 h 80"/>
                  <a:gd name="T50" fmla="*/ 3 w 93"/>
                  <a:gd name="T51" fmla="*/ 15 h 80"/>
                  <a:gd name="T52" fmla="*/ 3 w 93"/>
                  <a:gd name="T53" fmla="*/ 15 h 80"/>
                  <a:gd name="T54" fmla="*/ 3 w 93"/>
                  <a:gd name="T55" fmla="*/ 15 h 8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93"/>
                  <a:gd name="T85" fmla="*/ 0 h 80"/>
                  <a:gd name="T86" fmla="*/ 93 w 93"/>
                  <a:gd name="T87" fmla="*/ 80 h 80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93" h="80">
                    <a:moveTo>
                      <a:pt x="3" y="15"/>
                    </a:moveTo>
                    <a:lnTo>
                      <a:pt x="13" y="6"/>
                    </a:lnTo>
                    <a:lnTo>
                      <a:pt x="16" y="3"/>
                    </a:lnTo>
                    <a:lnTo>
                      <a:pt x="25" y="0"/>
                    </a:lnTo>
                    <a:lnTo>
                      <a:pt x="50" y="3"/>
                    </a:lnTo>
                    <a:lnTo>
                      <a:pt x="65" y="12"/>
                    </a:lnTo>
                    <a:lnTo>
                      <a:pt x="81" y="28"/>
                    </a:lnTo>
                    <a:lnTo>
                      <a:pt x="87" y="40"/>
                    </a:lnTo>
                    <a:lnTo>
                      <a:pt x="90" y="49"/>
                    </a:lnTo>
                    <a:lnTo>
                      <a:pt x="93" y="77"/>
                    </a:lnTo>
                    <a:lnTo>
                      <a:pt x="90" y="80"/>
                    </a:lnTo>
                    <a:lnTo>
                      <a:pt x="87" y="77"/>
                    </a:lnTo>
                    <a:lnTo>
                      <a:pt x="84" y="52"/>
                    </a:lnTo>
                    <a:lnTo>
                      <a:pt x="77" y="43"/>
                    </a:lnTo>
                    <a:lnTo>
                      <a:pt x="74" y="37"/>
                    </a:lnTo>
                    <a:lnTo>
                      <a:pt x="71" y="34"/>
                    </a:lnTo>
                    <a:lnTo>
                      <a:pt x="62" y="21"/>
                    </a:lnTo>
                    <a:lnTo>
                      <a:pt x="59" y="18"/>
                    </a:lnTo>
                    <a:lnTo>
                      <a:pt x="53" y="12"/>
                    </a:lnTo>
                    <a:lnTo>
                      <a:pt x="37" y="9"/>
                    </a:lnTo>
                    <a:lnTo>
                      <a:pt x="31" y="6"/>
                    </a:lnTo>
                    <a:lnTo>
                      <a:pt x="25" y="6"/>
                    </a:lnTo>
                    <a:lnTo>
                      <a:pt x="13" y="12"/>
                    </a:lnTo>
                    <a:lnTo>
                      <a:pt x="3" y="24"/>
                    </a:lnTo>
                    <a:lnTo>
                      <a:pt x="0" y="21"/>
                    </a:lnTo>
                    <a:lnTo>
                      <a:pt x="3" y="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0" name="Freeform 158"/>
              <p:cNvSpPr>
                <a:spLocks/>
              </p:cNvSpPr>
              <p:nvPr/>
            </p:nvSpPr>
            <p:spPr bwMode="auto">
              <a:xfrm>
                <a:off x="2955" y="1327"/>
                <a:ext cx="37" cy="120"/>
              </a:xfrm>
              <a:custGeom>
                <a:avLst/>
                <a:gdLst>
                  <a:gd name="T0" fmla="*/ 37 w 37"/>
                  <a:gd name="T1" fmla="*/ 3 h 120"/>
                  <a:gd name="T2" fmla="*/ 31 w 37"/>
                  <a:gd name="T3" fmla="*/ 9 h 120"/>
                  <a:gd name="T4" fmla="*/ 22 w 37"/>
                  <a:gd name="T5" fmla="*/ 15 h 120"/>
                  <a:gd name="T6" fmla="*/ 13 w 37"/>
                  <a:gd name="T7" fmla="*/ 34 h 120"/>
                  <a:gd name="T8" fmla="*/ 10 w 37"/>
                  <a:gd name="T9" fmla="*/ 55 h 120"/>
                  <a:gd name="T10" fmla="*/ 13 w 37"/>
                  <a:gd name="T11" fmla="*/ 77 h 120"/>
                  <a:gd name="T12" fmla="*/ 13 w 37"/>
                  <a:gd name="T13" fmla="*/ 99 h 120"/>
                  <a:gd name="T14" fmla="*/ 10 w 37"/>
                  <a:gd name="T15" fmla="*/ 120 h 120"/>
                  <a:gd name="T16" fmla="*/ 7 w 37"/>
                  <a:gd name="T17" fmla="*/ 120 h 120"/>
                  <a:gd name="T18" fmla="*/ 3 w 37"/>
                  <a:gd name="T19" fmla="*/ 120 h 120"/>
                  <a:gd name="T20" fmla="*/ 3 w 37"/>
                  <a:gd name="T21" fmla="*/ 99 h 120"/>
                  <a:gd name="T22" fmla="*/ 0 w 37"/>
                  <a:gd name="T23" fmla="*/ 77 h 120"/>
                  <a:gd name="T24" fmla="*/ 0 w 37"/>
                  <a:gd name="T25" fmla="*/ 52 h 120"/>
                  <a:gd name="T26" fmla="*/ 0 w 37"/>
                  <a:gd name="T27" fmla="*/ 43 h 120"/>
                  <a:gd name="T28" fmla="*/ 7 w 37"/>
                  <a:gd name="T29" fmla="*/ 34 h 120"/>
                  <a:gd name="T30" fmla="*/ 10 w 37"/>
                  <a:gd name="T31" fmla="*/ 24 h 120"/>
                  <a:gd name="T32" fmla="*/ 19 w 37"/>
                  <a:gd name="T33" fmla="*/ 15 h 120"/>
                  <a:gd name="T34" fmla="*/ 22 w 37"/>
                  <a:gd name="T35" fmla="*/ 9 h 120"/>
                  <a:gd name="T36" fmla="*/ 25 w 37"/>
                  <a:gd name="T37" fmla="*/ 6 h 120"/>
                  <a:gd name="T38" fmla="*/ 31 w 37"/>
                  <a:gd name="T39" fmla="*/ 3 h 120"/>
                  <a:gd name="T40" fmla="*/ 37 w 37"/>
                  <a:gd name="T41" fmla="*/ 0 h 120"/>
                  <a:gd name="T42" fmla="*/ 37 w 37"/>
                  <a:gd name="T43" fmla="*/ 0 h 120"/>
                  <a:gd name="T44" fmla="*/ 37 w 37"/>
                  <a:gd name="T45" fmla="*/ 3 h 120"/>
                  <a:gd name="T46" fmla="*/ 37 w 37"/>
                  <a:gd name="T47" fmla="*/ 3 h 120"/>
                  <a:gd name="T48" fmla="*/ 37 w 37"/>
                  <a:gd name="T49" fmla="*/ 3 h 12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7"/>
                  <a:gd name="T76" fmla="*/ 0 h 120"/>
                  <a:gd name="T77" fmla="*/ 37 w 37"/>
                  <a:gd name="T78" fmla="*/ 120 h 12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7" h="120">
                    <a:moveTo>
                      <a:pt x="37" y="3"/>
                    </a:moveTo>
                    <a:lnTo>
                      <a:pt x="31" y="9"/>
                    </a:lnTo>
                    <a:lnTo>
                      <a:pt x="22" y="15"/>
                    </a:lnTo>
                    <a:lnTo>
                      <a:pt x="13" y="34"/>
                    </a:lnTo>
                    <a:lnTo>
                      <a:pt x="10" y="55"/>
                    </a:lnTo>
                    <a:lnTo>
                      <a:pt x="13" y="77"/>
                    </a:lnTo>
                    <a:lnTo>
                      <a:pt x="13" y="99"/>
                    </a:lnTo>
                    <a:lnTo>
                      <a:pt x="10" y="120"/>
                    </a:lnTo>
                    <a:lnTo>
                      <a:pt x="7" y="120"/>
                    </a:lnTo>
                    <a:lnTo>
                      <a:pt x="3" y="120"/>
                    </a:lnTo>
                    <a:lnTo>
                      <a:pt x="3" y="99"/>
                    </a:lnTo>
                    <a:lnTo>
                      <a:pt x="0" y="77"/>
                    </a:lnTo>
                    <a:lnTo>
                      <a:pt x="0" y="52"/>
                    </a:lnTo>
                    <a:lnTo>
                      <a:pt x="0" y="43"/>
                    </a:lnTo>
                    <a:lnTo>
                      <a:pt x="7" y="34"/>
                    </a:lnTo>
                    <a:lnTo>
                      <a:pt x="10" y="24"/>
                    </a:lnTo>
                    <a:lnTo>
                      <a:pt x="19" y="15"/>
                    </a:lnTo>
                    <a:lnTo>
                      <a:pt x="22" y="9"/>
                    </a:lnTo>
                    <a:lnTo>
                      <a:pt x="25" y="6"/>
                    </a:lnTo>
                    <a:lnTo>
                      <a:pt x="31" y="3"/>
                    </a:lnTo>
                    <a:lnTo>
                      <a:pt x="37" y="0"/>
                    </a:lnTo>
                    <a:lnTo>
                      <a:pt x="3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1" name="Freeform 159"/>
              <p:cNvSpPr>
                <a:spLocks/>
              </p:cNvSpPr>
              <p:nvPr/>
            </p:nvSpPr>
            <p:spPr bwMode="auto">
              <a:xfrm>
                <a:off x="2891" y="1280"/>
                <a:ext cx="135" cy="121"/>
              </a:xfrm>
              <a:custGeom>
                <a:avLst/>
                <a:gdLst>
                  <a:gd name="T0" fmla="*/ 0 w 135"/>
                  <a:gd name="T1" fmla="*/ 118 h 121"/>
                  <a:gd name="T2" fmla="*/ 18 w 135"/>
                  <a:gd name="T3" fmla="*/ 108 h 121"/>
                  <a:gd name="T4" fmla="*/ 30 w 135"/>
                  <a:gd name="T5" fmla="*/ 90 h 121"/>
                  <a:gd name="T6" fmla="*/ 40 w 135"/>
                  <a:gd name="T7" fmla="*/ 81 h 121"/>
                  <a:gd name="T8" fmla="*/ 49 w 135"/>
                  <a:gd name="T9" fmla="*/ 62 h 121"/>
                  <a:gd name="T10" fmla="*/ 61 w 135"/>
                  <a:gd name="T11" fmla="*/ 50 h 121"/>
                  <a:gd name="T12" fmla="*/ 67 w 135"/>
                  <a:gd name="T13" fmla="*/ 44 h 121"/>
                  <a:gd name="T14" fmla="*/ 74 w 135"/>
                  <a:gd name="T15" fmla="*/ 41 h 121"/>
                  <a:gd name="T16" fmla="*/ 77 w 135"/>
                  <a:gd name="T17" fmla="*/ 34 h 121"/>
                  <a:gd name="T18" fmla="*/ 83 w 135"/>
                  <a:gd name="T19" fmla="*/ 31 h 121"/>
                  <a:gd name="T20" fmla="*/ 89 w 135"/>
                  <a:gd name="T21" fmla="*/ 25 h 121"/>
                  <a:gd name="T22" fmla="*/ 95 w 135"/>
                  <a:gd name="T23" fmla="*/ 22 h 121"/>
                  <a:gd name="T24" fmla="*/ 101 w 135"/>
                  <a:gd name="T25" fmla="*/ 16 h 121"/>
                  <a:gd name="T26" fmla="*/ 108 w 135"/>
                  <a:gd name="T27" fmla="*/ 13 h 121"/>
                  <a:gd name="T28" fmla="*/ 111 w 135"/>
                  <a:gd name="T29" fmla="*/ 7 h 121"/>
                  <a:gd name="T30" fmla="*/ 132 w 135"/>
                  <a:gd name="T31" fmla="*/ 0 h 121"/>
                  <a:gd name="T32" fmla="*/ 135 w 135"/>
                  <a:gd name="T33" fmla="*/ 3 h 121"/>
                  <a:gd name="T34" fmla="*/ 132 w 135"/>
                  <a:gd name="T35" fmla="*/ 3 h 121"/>
                  <a:gd name="T36" fmla="*/ 123 w 135"/>
                  <a:gd name="T37" fmla="*/ 10 h 121"/>
                  <a:gd name="T38" fmla="*/ 117 w 135"/>
                  <a:gd name="T39" fmla="*/ 16 h 121"/>
                  <a:gd name="T40" fmla="*/ 114 w 135"/>
                  <a:gd name="T41" fmla="*/ 19 h 121"/>
                  <a:gd name="T42" fmla="*/ 105 w 135"/>
                  <a:gd name="T43" fmla="*/ 22 h 121"/>
                  <a:gd name="T44" fmla="*/ 101 w 135"/>
                  <a:gd name="T45" fmla="*/ 28 h 121"/>
                  <a:gd name="T46" fmla="*/ 95 w 135"/>
                  <a:gd name="T47" fmla="*/ 31 h 121"/>
                  <a:gd name="T48" fmla="*/ 89 w 135"/>
                  <a:gd name="T49" fmla="*/ 37 h 121"/>
                  <a:gd name="T50" fmla="*/ 86 w 135"/>
                  <a:gd name="T51" fmla="*/ 41 h 121"/>
                  <a:gd name="T52" fmla="*/ 80 w 135"/>
                  <a:gd name="T53" fmla="*/ 47 h 121"/>
                  <a:gd name="T54" fmla="*/ 74 w 135"/>
                  <a:gd name="T55" fmla="*/ 50 h 121"/>
                  <a:gd name="T56" fmla="*/ 67 w 135"/>
                  <a:gd name="T57" fmla="*/ 56 h 121"/>
                  <a:gd name="T58" fmla="*/ 58 w 135"/>
                  <a:gd name="T59" fmla="*/ 68 h 121"/>
                  <a:gd name="T60" fmla="*/ 43 w 135"/>
                  <a:gd name="T61" fmla="*/ 84 h 121"/>
                  <a:gd name="T62" fmla="*/ 37 w 135"/>
                  <a:gd name="T63" fmla="*/ 96 h 121"/>
                  <a:gd name="T64" fmla="*/ 30 w 135"/>
                  <a:gd name="T65" fmla="*/ 105 h 121"/>
                  <a:gd name="T66" fmla="*/ 27 w 135"/>
                  <a:gd name="T67" fmla="*/ 108 h 121"/>
                  <a:gd name="T68" fmla="*/ 24 w 135"/>
                  <a:gd name="T69" fmla="*/ 112 h 121"/>
                  <a:gd name="T70" fmla="*/ 12 w 135"/>
                  <a:gd name="T71" fmla="*/ 118 h 121"/>
                  <a:gd name="T72" fmla="*/ 3 w 135"/>
                  <a:gd name="T73" fmla="*/ 121 h 121"/>
                  <a:gd name="T74" fmla="*/ 0 w 135"/>
                  <a:gd name="T75" fmla="*/ 121 h 121"/>
                  <a:gd name="T76" fmla="*/ 0 w 135"/>
                  <a:gd name="T77" fmla="*/ 118 h 121"/>
                  <a:gd name="T78" fmla="*/ 0 w 135"/>
                  <a:gd name="T79" fmla="*/ 118 h 121"/>
                  <a:gd name="T80" fmla="*/ 0 w 135"/>
                  <a:gd name="T81" fmla="*/ 118 h 12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5"/>
                  <a:gd name="T124" fmla="*/ 0 h 121"/>
                  <a:gd name="T125" fmla="*/ 135 w 135"/>
                  <a:gd name="T126" fmla="*/ 121 h 12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5" h="121">
                    <a:moveTo>
                      <a:pt x="0" y="118"/>
                    </a:moveTo>
                    <a:lnTo>
                      <a:pt x="18" y="108"/>
                    </a:lnTo>
                    <a:lnTo>
                      <a:pt x="30" y="90"/>
                    </a:lnTo>
                    <a:lnTo>
                      <a:pt x="40" y="81"/>
                    </a:lnTo>
                    <a:lnTo>
                      <a:pt x="49" y="62"/>
                    </a:lnTo>
                    <a:lnTo>
                      <a:pt x="61" y="50"/>
                    </a:lnTo>
                    <a:lnTo>
                      <a:pt x="67" y="44"/>
                    </a:lnTo>
                    <a:lnTo>
                      <a:pt x="74" y="41"/>
                    </a:lnTo>
                    <a:lnTo>
                      <a:pt x="77" y="34"/>
                    </a:lnTo>
                    <a:lnTo>
                      <a:pt x="83" y="31"/>
                    </a:lnTo>
                    <a:lnTo>
                      <a:pt x="89" y="25"/>
                    </a:lnTo>
                    <a:lnTo>
                      <a:pt x="95" y="22"/>
                    </a:lnTo>
                    <a:lnTo>
                      <a:pt x="101" y="16"/>
                    </a:lnTo>
                    <a:lnTo>
                      <a:pt x="108" y="13"/>
                    </a:lnTo>
                    <a:lnTo>
                      <a:pt x="111" y="7"/>
                    </a:lnTo>
                    <a:lnTo>
                      <a:pt x="132" y="0"/>
                    </a:lnTo>
                    <a:lnTo>
                      <a:pt x="135" y="3"/>
                    </a:lnTo>
                    <a:lnTo>
                      <a:pt x="132" y="3"/>
                    </a:lnTo>
                    <a:lnTo>
                      <a:pt x="123" y="10"/>
                    </a:lnTo>
                    <a:lnTo>
                      <a:pt x="117" y="16"/>
                    </a:lnTo>
                    <a:lnTo>
                      <a:pt x="114" y="19"/>
                    </a:lnTo>
                    <a:lnTo>
                      <a:pt x="105" y="22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9" y="37"/>
                    </a:lnTo>
                    <a:lnTo>
                      <a:pt x="86" y="41"/>
                    </a:lnTo>
                    <a:lnTo>
                      <a:pt x="80" y="47"/>
                    </a:lnTo>
                    <a:lnTo>
                      <a:pt x="74" y="50"/>
                    </a:lnTo>
                    <a:lnTo>
                      <a:pt x="67" y="56"/>
                    </a:lnTo>
                    <a:lnTo>
                      <a:pt x="58" y="68"/>
                    </a:lnTo>
                    <a:lnTo>
                      <a:pt x="43" y="84"/>
                    </a:lnTo>
                    <a:lnTo>
                      <a:pt x="37" y="96"/>
                    </a:lnTo>
                    <a:lnTo>
                      <a:pt x="30" y="105"/>
                    </a:lnTo>
                    <a:lnTo>
                      <a:pt x="27" y="108"/>
                    </a:lnTo>
                    <a:lnTo>
                      <a:pt x="24" y="112"/>
                    </a:lnTo>
                    <a:lnTo>
                      <a:pt x="12" y="118"/>
                    </a:lnTo>
                    <a:lnTo>
                      <a:pt x="3" y="121"/>
                    </a:lnTo>
                    <a:lnTo>
                      <a:pt x="0" y="121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2" name="Freeform 160"/>
              <p:cNvSpPr>
                <a:spLocks/>
              </p:cNvSpPr>
              <p:nvPr/>
            </p:nvSpPr>
            <p:spPr bwMode="auto">
              <a:xfrm>
                <a:off x="3008" y="1345"/>
                <a:ext cx="15" cy="105"/>
              </a:xfrm>
              <a:custGeom>
                <a:avLst/>
                <a:gdLst>
                  <a:gd name="T0" fmla="*/ 12 w 15"/>
                  <a:gd name="T1" fmla="*/ 3 h 105"/>
                  <a:gd name="T2" fmla="*/ 6 w 15"/>
                  <a:gd name="T3" fmla="*/ 19 h 105"/>
                  <a:gd name="T4" fmla="*/ 6 w 15"/>
                  <a:gd name="T5" fmla="*/ 31 h 105"/>
                  <a:gd name="T6" fmla="*/ 9 w 15"/>
                  <a:gd name="T7" fmla="*/ 47 h 105"/>
                  <a:gd name="T8" fmla="*/ 15 w 15"/>
                  <a:gd name="T9" fmla="*/ 62 h 105"/>
                  <a:gd name="T10" fmla="*/ 15 w 15"/>
                  <a:gd name="T11" fmla="*/ 84 h 105"/>
                  <a:gd name="T12" fmla="*/ 12 w 15"/>
                  <a:gd name="T13" fmla="*/ 105 h 105"/>
                  <a:gd name="T14" fmla="*/ 9 w 15"/>
                  <a:gd name="T15" fmla="*/ 105 h 105"/>
                  <a:gd name="T16" fmla="*/ 9 w 15"/>
                  <a:gd name="T17" fmla="*/ 87 h 105"/>
                  <a:gd name="T18" fmla="*/ 6 w 15"/>
                  <a:gd name="T19" fmla="*/ 65 h 105"/>
                  <a:gd name="T20" fmla="*/ 0 w 15"/>
                  <a:gd name="T21" fmla="*/ 31 h 105"/>
                  <a:gd name="T22" fmla="*/ 3 w 15"/>
                  <a:gd name="T23" fmla="*/ 16 h 105"/>
                  <a:gd name="T24" fmla="*/ 6 w 15"/>
                  <a:gd name="T25" fmla="*/ 9 h 105"/>
                  <a:gd name="T26" fmla="*/ 9 w 15"/>
                  <a:gd name="T27" fmla="*/ 3 h 105"/>
                  <a:gd name="T28" fmla="*/ 12 w 15"/>
                  <a:gd name="T29" fmla="*/ 0 h 105"/>
                  <a:gd name="T30" fmla="*/ 12 w 15"/>
                  <a:gd name="T31" fmla="*/ 3 h 105"/>
                  <a:gd name="T32" fmla="*/ 12 w 15"/>
                  <a:gd name="T33" fmla="*/ 3 h 105"/>
                  <a:gd name="T34" fmla="*/ 12 w 15"/>
                  <a:gd name="T35" fmla="*/ 3 h 10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"/>
                  <a:gd name="T55" fmla="*/ 0 h 105"/>
                  <a:gd name="T56" fmla="*/ 15 w 15"/>
                  <a:gd name="T57" fmla="*/ 105 h 10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" h="105">
                    <a:moveTo>
                      <a:pt x="12" y="3"/>
                    </a:moveTo>
                    <a:lnTo>
                      <a:pt x="6" y="19"/>
                    </a:lnTo>
                    <a:lnTo>
                      <a:pt x="6" y="31"/>
                    </a:lnTo>
                    <a:lnTo>
                      <a:pt x="9" y="47"/>
                    </a:lnTo>
                    <a:lnTo>
                      <a:pt x="15" y="62"/>
                    </a:lnTo>
                    <a:lnTo>
                      <a:pt x="15" y="84"/>
                    </a:lnTo>
                    <a:lnTo>
                      <a:pt x="12" y="105"/>
                    </a:lnTo>
                    <a:lnTo>
                      <a:pt x="9" y="105"/>
                    </a:lnTo>
                    <a:lnTo>
                      <a:pt x="9" y="87"/>
                    </a:lnTo>
                    <a:lnTo>
                      <a:pt x="6" y="65"/>
                    </a:lnTo>
                    <a:lnTo>
                      <a:pt x="0" y="31"/>
                    </a:lnTo>
                    <a:lnTo>
                      <a:pt x="3" y="16"/>
                    </a:lnTo>
                    <a:lnTo>
                      <a:pt x="6" y="9"/>
                    </a:lnTo>
                    <a:lnTo>
                      <a:pt x="9" y="3"/>
                    </a:lnTo>
                    <a:lnTo>
                      <a:pt x="12" y="0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3" name="Freeform 161"/>
              <p:cNvSpPr>
                <a:spLocks/>
              </p:cNvSpPr>
              <p:nvPr/>
            </p:nvSpPr>
            <p:spPr bwMode="auto">
              <a:xfrm>
                <a:off x="2968" y="1422"/>
                <a:ext cx="52" cy="47"/>
              </a:xfrm>
              <a:custGeom>
                <a:avLst/>
                <a:gdLst>
                  <a:gd name="T0" fmla="*/ 52 w 52"/>
                  <a:gd name="T1" fmla="*/ 4 h 47"/>
                  <a:gd name="T2" fmla="*/ 40 w 52"/>
                  <a:gd name="T3" fmla="*/ 10 h 47"/>
                  <a:gd name="T4" fmla="*/ 37 w 52"/>
                  <a:gd name="T5" fmla="*/ 16 h 47"/>
                  <a:gd name="T6" fmla="*/ 31 w 52"/>
                  <a:gd name="T7" fmla="*/ 19 h 47"/>
                  <a:gd name="T8" fmla="*/ 18 w 52"/>
                  <a:gd name="T9" fmla="*/ 31 h 47"/>
                  <a:gd name="T10" fmla="*/ 12 w 52"/>
                  <a:gd name="T11" fmla="*/ 41 h 47"/>
                  <a:gd name="T12" fmla="*/ 6 w 52"/>
                  <a:gd name="T13" fmla="*/ 47 h 47"/>
                  <a:gd name="T14" fmla="*/ 3 w 52"/>
                  <a:gd name="T15" fmla="*/ 47 h 47"/>
                  <a:gd name="T16" fmla="*/ 0 w 52"/>
                  <a:gd name="T17" fmla="*/ 47 h 47"/>
                  <a:gd name="T18" fmla="*/ 3 w 52"/>
                  <a:gd name="T19" fmla="*/ 44 h 47"/>
                  <a:gd name="T20" fmla="*/ 15 w 52"/>
                  <a:gd name="T21" fmla="*/ 28 h 47"/>
                  <a:gd name="T22" fmla="*/ 18 w 52"/>
                  <a:gd name="T23" fmla="*/ 22 h 47"/>
                  <a:gd name="T24" fmla="*/ 28 w 52"/>
                  <a:gd name="T25" fmla="*/ 13 h 47"/>
                  <a:gd name="T26" fmla="*/ 40 w 52"/>
                  <a:gd name="T27" fmla="*/ 7 h 47"/>
                  <a:gd name="T28" fmla="*/ 52 w 52"/>
                  <a:gd name="T29" fmla="*/ 0 h 47"/>
                  <a:gd name="T30" fmla="*/ 52 w 52"/>
                  <a:gd name="T31" fmla="*/ 0 h 47"/>
                  <a:gd name="T32" fmla="*/ 52 w 52"/>
                  <a:gd name="T33" fmla="*/ 4 h 47"/>
                  <a:gd name="T34" fmla="*/ 52 w 52"/>
                  <a:gd name="T35" fmla="*/ 4 h 47"/>
                  <a:gd name="T36" fmla="*/ 52 w 52"/>
                  <a:gd name="T37" fmla="*/ 4 h 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"/>
                  <a:gd name="T58" fmla="*/ 0 h 47"/>
                  <a:gd name="T59" fmla="*/ 52 w 52"/>
                  <a:gd name="T60" fmla="*/ 47 h 4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" h="47">
                    <a:moveTo>
                      <a:pt x="52" y="4"/>
                    </a:moveTo>
                    <a:lnTo>
                      <a:pt x="40" y="10"/>
                    </a:lnTo>
                    <a:lnTo>
                      <a:pt x="37" y="16"/>
                    </a:lnTo>
                    <a:lnTo>
                      <a:pt x="31" y="19"/>
                    </a:lnTo>
                    <a:lnTo>
                      <a:pt x="18" y="31"/>
                    </a:lnTo>
                    <a:lnTo>
                      <a:pt x="12" y="41"/>
                    </a:lnTo>
                    <a:lnTo>
                      <a:pt x="6" y="47"/>
                    </a:lnTo>
                    <a:lnTo>
                      <a:pt x="3" y="47"/>
                    </a:lnTo>
                    <a:lnTo>
                      <a:pt x="0" y="47"/>
                    </a:lnTo>
                    <a:lnTo>
                      <a:pt x="3" y="44"/>
                    </a:lnTo>
                    <a:lnTo>
                      <a:pt x="15" y="28"/>
                    </a:lnTo>
                    <a:lnTo>
                      <a:pt x="18" y="22"/>
                    </a:lnTo>
                    <a:lnTo>
                      <a:pt x="28" y="13"/>
                    </a:lnTo>
                    <a:lnTo>
                      <a:pt x="40" y="7"/>
                    </a:lnTo>
                    <a:lnTo>
                      <a:pt x="52" y="0"/>
                    </a:lnTo>
                    <a:lnTo>
                      <a:pt x="52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4" name="Freeform 162"/>
              <p:cNvSpPr>
                <a:spLocks/>
              </p:cNvSpPr>
              <p:nvPr/>
            </p:nvSpPr>
            <p:spPr bwMode="auto">
              <a:xfrm>
                <a:off x="3036" y="1453"/>
                <a:ext cx="21" cy="37"/>
              </a:xfrm>
              <a:custGeom>
                <a:avLst/>
                <a:gdLst>
                  <a:gd name="T0" fmla="*/ 12 w 21"/>
                  <a:gd name="T1" fmla="*/ 34 h 37"/>
                  <a:gd name="T2" fmla="*/ 15 w 21"/>
                  <a:gd name="T3" fmla="*/ 25 h 37"/>
                  <a:gd name="T4" fmla="*/ 12 w 21"/>
                  <a:gd name="T5" fmla="*/ 16 h 37"/>
                  <a:gd name="T6" fmla="*/ 9 w 21"/>
                  <a:gd name="T7" fmla="*/ 10 h 37"/>
                  <a:gd name="T8" fmla="*/ 3 w 21"/>
                  <a:gd name="T9" fmla="*/ 7 h 37"/>
                  <a:gd name="T10" fmla="*/ 0 w 21"/>
                  <a:gd name="T11" fmla="*/ 3 h 37"/>
                  <a:gd name="T12" fmla="*/ 3 w 21"/>
                  <a:gd name="T13" fmla="*/ 0 h 37"/>
                  <a:gd name="T14" fmla="*/ 12 w 21"/>
                  <a:gd name="T15" fmla="*/ 7 h 37"/>
                  <a:gd name="T16" fmla="*/ 21 w 21"/>
                  <a:gd name="T17" fmla="*/ 13 h 37"/>
                  <a:gd name="T18" fmla="*/ 18 w 21"/>
                  <a:gd name="T19" fmla="*/ 37 h 37"/>
                  <a:gd name="T20" fmla="*/ 15 w 21"/>
                  <a:gd name="T21" fmla="*/ 37 h 37"/>
                  <a:gd name="T22" fmla="*/ 12 w 21"/>
                  <a:gd name="T23" fmla="*/ 34 h 37"/>
                  <a:gd name="T24" fmla="*/ 12 w 21"/>
                  <a:gd name="T25" fmla="*/ 34 h 37"/>
                  <a:gd name="T26" fmla="*/ 12 w 21"/>
                  <a:gd name="T27" fmla="*/ 34 h 3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1"/>
                  <a:gd name="T43" fmla="*/ 0 h 37"/>
                  <a:gd name="T44" fmla="*/ 21 w 21"/>
                  <a:gd name="T45" fmla="*/ 37 h 3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1" h="37">
                    <a:moveTo>
                      <a:pt x="12" y="34"/>
                    </a:moveTo>
                    <a:lnTo>
                      <a:pt x="15" y="25"/>
                    </a:lnTo>
                    <a:lnTo>
                      <a:pt x="12" y="16"/>
                    </a:lnTo>
                    <a:lnTo>
                      <a:pt x="9" y="10"/>
                    </a:lnTo>
                    <a:lnTo>
                      <a:pt x="3" y="7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12" y="7"/>
                    </a:lnTo>
                    <a:lnTo>
                      <a:pt x="21" y="13"/>
                    </a:lnTo>
                    <a:lnTo>
                      <a:pt x="18" y="37"/>
                    </a:lnTo>
                    <a:lnTo>
                      <a:pt x="15" y="37"/>
                    </a:lnTo>
                    <a:lnTo>
                      <a:pt x="12" y="3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5" name="Freeform 163"/>
              <p:cNvSpPr>
                <a:spLocks/>
              </p:cNvSpPr>
              <p:nvPr/>
            </p:nvSpPr>
            <p:spPr bwMode="auto">
              <a:xfrm>
                <a:off x="2958" y="1441"/>
                <a:ext cx="84" cy="87"/>
              </a:xfrm>
              <a:custGeom>
                <a:avLst/>
                <a:gdLst>
                  <a:gd name="T0" fmla="*/ 81 w 84"/>
                  <a:gd name="T1" fmla="*/ 28 h 87"/>
                  <a:gd name="T2" fmla="*/ 78 w 84"/>
                  <a:gd name="T3" fmla="*/ 19 h 87"/>
                  <a:gd name="T4" fmla="*/ 75 w 84"/>
                  <a:gd name="T5" fmla="*/ 12 h 87"/>
                  <a:gd name="T6" fmla="*/ 72 w 84"/>
                  <a:gd name="T7" fmla="*/ 9 h 87"/>
                  <a:gd name="T8" fmla="*/ 65 w 84"/>
                  <a:gd name="T9" fmla="*/ 9 h 87"/>
                  <a:gd name="T10" fmla="*/ 53 w 84"/>
                  <a:gd name="T11" fmla="*/ 12 h 87"/>
                  <a:gd name="T12" fmla="*/ 38 w 84"/>
                  <a:gd name="T13" fmla="*/ 19 h 87"/>
                  <a:gd name="T14" fmla="*/ 34 w 84"/>
                  <a:gd name="T15" fmla="*/ 22 h 87"/>
                  <a:gd name="T16" fmla="*/ 31 w 84"/>
                  <a:gd name="T17" fmla="*/ 25 h 87"/>
                  <a:gd name="T18" fmla="*/ 13 w 84"/>
                  <a:gd name="T19" fmla="*/ 31 h 87"/>
                  <a:gd name="T20" fmla="*/ 7 w 84"/>
                  <a:gd name="T21" fmla="*/ 46 h 87"/>
                  <a:gd name="T22" fmla="*/ 4 w 84"/>
                  <a:gd name="T23" fmla="*/ 59 h 87"/>
                  <a:gd name="T24" fmla="*/ 7 w 84"/>
                  <a:gd name="T25" fmla="*/ 65 h 87"/>
                  <a:gd name="T26" fmla="*/ 13 w 84"/>
                  <a:gd name="T27" fmla="*/ 68 h 87"/>
                  <a:gd name="T28" fmla="*/ 19 w 84"/>
                  <a:gd name="T29" fmla="*/ 71 h 87"/>
                  <a:gd name="T30" fmla="*/ 41 w 84"/>
                  <a:gd name="T31" fmla="*/ 77 h 87"/>
                  <a:gd name="T32" fmla="*/ 50 w 84"/>
                  <a:gd name="T33" fmla="*/ 80 h 87"/>
                  <a:gd name="T34" fmla="*/ 62 w 84"/>
                  <a:gd name="T35" fmla="*/ 80 h 87"/>
                  <a:gd name="T36" fmla="*/ 65 w 84"/>
                  <a:gd name="T37" fmla="*/ 83 h 87"/>
                  <a:gd name="T38" fmla="*/ 62 w 84"/>
                  <a:gd name="T39" fmla="*/ 87 h 87"/>
                  <a:gd name="T40" fmla="*/ 41 w 84"/>
                  <a:gd name="T41" fmla="*/ 83 h 87"/>
                  <a:gd name="T42" fmla="*/ 19 w 84"/>
                  <a:gd name="T43" fmla="*/ 77 h 87"/>
                  <a:gd name="T44" fmla="*/ 10 w 84"/>
                  <a:gd name="T45" fmla="*/ 71 h 87"/>
                  <a:gd name="T46" fmla="*/ 0 w 84"/>
                  <a:gd name="T47" fmla="*/ 62 h 87"/>
                  <a:gd name="T48" fmla="*/ 0 w 84"/>
                  <a:gd name="T49" fmla="*/ 43 h 87"/>
                  <a:gd name="T50" fmla="*/ 4 w 84"/>
                  <a:gd name="T51" fmla="*/ 37 h 87"/>
                  <a:gd name="T52" fmla="*/ 10 w 84"/>
                  <a:gd name="T53" fmla="*/ 28 h 87"/>
                  <a:gd name="T54" fmla="*/ 25 w 84"/>
                  <a:gd name="T55" fmla="*/ 19 h 87"/>
                  <a:gd name="T56" fmla="*/ 31 w 84"/>
                  <a:gd name="T57" fmla="*/ 12 h 87"/>
                  <a:gd name="T58" fmla="*/ 38 w 84"/>
                  <a:gd name="T59" fmla="*/ 9 h 87"/>
                  <a:gd name="T60" fmla="*/ 41 w 84"/>
                  <a:gd name="T61" fmla="*/ 6 h 87"/>
                  <a:gd name="T62" fmla="*/ 53 w 84"/>
                  <a:gd name="T63" fmla="*/ 3 h 87"/>
                  <a:gd name="T64" fmla="*/ 68 w 84"/>
                  <a:gd name="T65" fmla="*/ 0 h 87"/>
                  <a:gd name="T66" fmla="*/ 81 w 84"/>
                  <a:gd name="T67" fmla="*/ 6 h 87"/>
                  <a:gd name="T68" fmla="*/ 84 w 84"/>
                  <a:gd name="T69" fmla="*/ 15 h 87"/>
                  <a:gd name="T70" fmla="*/ 84 w 84"/>
                  <a:gd name="T71" fmla="*/ 22 h 87"/>
                  <a:gd name="T72" fmla="*/ 84 w 84"/>
                  <a:gd name="T73" fmla="*/ 28 h 87"/>
                  <a:gd name="T74" fmla="*/ 81 w 84"/>
                  <a:gd name="T75" fmla="*/ 28 h 87"/>
                  <a:gd name="T76" fmla="*/ 81 w 84"/>
                  <a:gd name="T77" fmla="*/ 28 h 87"/>
                  <a:gd name="T78" fmla="*/ 81 w 84"/>
                  <a:gd name="T79" fmla="*/ 28 h 8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4"/>
                  <a:gd name="T121" fmla="*/ 0 h 87"/>
                  <a:gd name="T122" fmla="*/ 84 w 84"/>
                  <a:gd name="T123" fmla="*/ 87 h 87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4" h="87">
                    <a:moveTo>
                      <a:pt x="81" y="28"/>
                    </a:moveTo>
                    <a:lnTo>
                      <a:pt x="78" y="19"/>
                    </a:lnTo>
                    <a:lnTo>
                      <a:pt x="75" y="12"/>
                    </a:lnTo>
                    <a:lnTo>
                      <a:pt x="72" y="9"/>
                    </a:lnTo>
                    <a:lnTo>
                      <a:pt x="65" y="9"/>
                    </a:lnTo>
                    <a:lnTo>
                      <a:pt x="53" y="12"/>
                    </a:lnTo>
                    <a:lnTo>
                      <a:pt x="38" y="19"/>
                    </a:lnTo>
                    <a:lnTo>
                      <a:pt x="34" y="22"/>
                    </a:lnTo>
                    <a:lnTo>
                      <a:pt x="31" y="25"/>
                    </a:lnTo>
                    <a:lnTo>
                      <a:pt x="13" y="31"/>
                    </a:lnTo>
                    <a:lnTo>
                      <a:pt x="7" y="46"/>
                    </a:lnTo>
                    <a:lnTo>
                      <a:pt x="4" y="59"/>
                    </a:lnTo>
                    <a:lnTo>
                      <a:pt x="7" y="65"/>
                    </a:lnTo>
                    <a:lnTo>
                      <a:pt x="13" y="68"/>
                    </a:lnTo>
                    <a:lnTo>
                      <a:pt x="19" y="71"/>
                    </a:lnTo>
                    <a:lnTo>
                      <a:pt x="41" y="77"/>
                    </a:lnTo>
                    <a:lnTo>
                      <a:pt x="50" y="80"/>
                    </a:lnTo>
                    <a:lnTo>
                      <a:pt x="62" y="80"/>
                    </a:lnTo>
                    <a:lnTo>
                      <a:pt x="65" y="83"/>
                    </a:lnTo>
                    <a:lnTo>
                      <a:pt x="62" y="87"/>
                    </a:lnTo>
                    <a:lnTo>
                      <a:pt x="41" y="83"/>
                    </a:lnTo>
                    <a:lnTo>
                      <a:pt x="19" y="77"/>
                    </a:lnTo>
                    <a:lnTo>
                      <a:pt x="10" y="71"/>
                    </a:lnTo>
                    <a:lnTo>
                      <a:pt x="0" y="62"/>
                    </a:lnTo>
                    <a:lnTo>
                      <a:pt x="0" y="43"/>
                    </a:lnTo>
                    <a:lnTo>
                      <a:pt x="4" y="37"/>
                    </a:lnTo>
                    <a:lnTo>
                      <a:pt x="10" y="28"/>
                    </a:lnTo>
                    <a:lnTo>
                      <a:pt x="25" y="19"/>
                    </a:lnTo>
                    <a:lnTo>
                      <a:pt x="31" y="12"/>
                    </a:lnTo>
                    <a:lnTo>
                      <a:pt x="38" y="9"/>
                    </a:lnTo>
                    <a:lnTo>
                      <a:pt x="41" y="6"/>
                    </a:lnTo>
                    <a:lnTo>
                      <a:pt x="53" y="3"/>
                    </a:lnTo>
                    <a:lnTo>
                      <a:pt x="68" y="0"/>
                    </a:lnTo>
                    <a:lnTo>
                      <a:pt x="81" y="6"/>
                    </a:lnTo>
                    <a:lnTo>
                      <a:pt x="84" y="15"/>
                    </a:lnTo>
                    <a:lnTo>
                      <a:pt x="84" y="22"/>
                    </a:lnTo>
                    <a:lnTo>
                      <a:pt x="84" y="28"/>
                    </a:lnTo>
                    <a:lnTo>
                      <a:pt x="81" y="2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6" name="Freeform 164"/>
              <p:cNvSpPr>
                <a:spLocks/>
              </p:cNvSpPr>
              <p:nvPr/>
            </p:nvSpPr>
            <p:spPr bwMode="auto">
              <a:xfrm>
                <a:off x="3036" y="1497"/>
                <a:ext cx="31" cy="34"/>
              </a:xfrm>
              <a:custGeom>
                <a:avLst/>
                <a:gdLst>
                  <a:gd name="T0" fmla="*/ 28 w 31"/>
                  <a:gd name="T1" fmla="*/ 3 h 34"/>
                  <a:gd name="T2" fmla="*/ 18 w 31"/>
                  <a:gd name="T3" fmla="*/ 9 h 34"/>
                  <a:gd name="T4" fmla="*/ 15 w 31"/>
                  <a:gd name="T5" fmla="*/ 15 h 34"/>
                  <a:gd name="T6" fmla="*/ 6 w 31"/>
                  <a:gd name="T7" fmla="*/ 31 h 34"/>
                  <a:gd name="T8" fmla="*/ 6 w 31"/>
                  <a:gd name="T9" fmla="*/ 34 h 34"/>
                  <a:gd name="T10" fmla="*/ 3 w 31"/>
                  <a:gd name="T11" fmla="*/ 34 h 34"/>
                  <a:gd name="T12" fmla="*/ 0 w 31"/>
                  <a:gd name="T13" fmla="*/ 27 h 34"/>
                  <a:gd name="T14" fmla="*/ 3 w 31"/>
                  <a:gd name="T15" fmla="*/ 18 h 34"/>
                  <a:gd name="T16" fmla="*/ 9 w 31"/>
                  <a:gd name="T17" fmla="*/ 9 h 34"/>
                  <a:gd name="T18" fmla="*/ 12 w 31"/>
                  <a:gd name="T19" fmla="*/ 6 h 34"/>
                  <a:gd name="T20" fmla="*/ 15 w 31"/>
                  <a:gd name="T21" fmla="*/ 3 h 34"/>
                  <a:gd name="T22" fmla="*/ 28 w 31"/>
                  <a:gd name="T23" fmla="*/ 0 h 34"/>
                  <a:gd name="T24" fmla="*/ 31 w 31"/>
                  <a:gd name="T25" fmla="*/ 0 h 34"/>
                  <a:gd name="T26" fmla="*/ 28 w 31"/>
                  <a:gd name="T27" fmla="*/ 3 h 34"/>
                  <a:gd name="T28" fmla="*/ 28 w 31"/>
                  <a:gd name="T29" fmla="*/ 3 h 34"/>
                  <a:gd name="T30" fmla="*/ 28 w 31"/>
                  <a:gd name="T31" fmla="*/ 3 h 3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"/>
                  <a:gd name="T49" fmla="*/ 0 h 34"/>
                  <a:gd name="T50" fmla="*/ 31 w 31"/>
                  <a:gd name="T51" fmla="*/ 34 h 3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" h="34">
                    <a:moveTo>
                      <a:pt x="28" y="3"/>
                    </a:moveTo>
                    <a:lnTo>
                      <a:pt x="18" y="9"/>
                    </a:lnTo>
                    <a:lnTo>
                      <a:pt x="15" y="15"/>
                    </a:lnTo>
                    <a:lnTo>
                      <a:pt x="6" y="31"/>
                    </a:lnTo>
                    <a:lnTo>
                      <a:pt x="6" y="34"/>
                    </a:lnTo>
                    <a:lnTo>
                      <a:pt x="3" y="34"/>
                    </a:lnTo>
                    <a:lnTo>
                      <a:pt x="0" y="27"/>
                    </a:lnTo>
                    <a:lnTo>
                      <a:pt x="3" y="18"/>
                    </a:lnTo>
                    <a:lnTo>
                      <a:pt x="9" y="9"/>
                    </a:lnTo>
                    <a:lnTo>
                      <a:pt x="12" y="6"/>
                    </a:lnTo>
                    <a:lnTo>
                      <a:pt x="15" y="3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7" name="Freeform 165"/>
              <p:cNvSpPr>
                <a:spLocks/>
              </p:cNvSpPr>
              <p:nvPr/>
            </p:nvSpPr>
            <p:spPr bwMode="auto">
              <a:xfrm>
                <a:off x="3023" y="1506"/>
                <a:ext cx="19" cy="12"/>
              </a:xfrm>
              <a:custGeom>
                <a:avLst/>
                <a:gdLst>
                  <a:gd name="T0" fmla="*/ 7 w 19"/>
                  <a:gd name="T1" fmla="*/ 0 h 12"/>
                  <a:gd name="T2" fmla="*/ 13 w 19"/>
                  <a:gd name="T3" fmla="*/ 3 h 12"/>
                  <a:gd name="T4" fmla="*/ 16 w 19"/>
                  <a:gd name="T5" fmla="*/ 9 h 12"/>
                  <a:gd name="T6" fmla="*/ 19 w 19"/>
                  <a:gd name="T7" fmla="*/ 12 h 12"/>
                  <a:gd name="T8" fmla="*/ 16 w 19"/>
                  <a:gd name="T9" fmla="*/ 12 h 12"/>
                  <a:gd name="T10" fmla="*/ 3 w 19"/>
                  <a:gd name="T11" fmla="*/ 3 h 12"/>
                  <a:gd name="T12" fmla="*/ 0 w 19"/>
                  <a:gd name="T13" fmla="*/ 0 h 12"/>
                  <a:gd name="T14" fmla="*/ 7 w 19"/>
                  <a:gd name="T15" fmla="*/ 0 h 12"/>
                  <a:gd name="T16" fmla="*/ 7 w 19"/>
                  <a:gd name="T17" fmla="*/ 0 h 12"/>
                  <a:gd name="T18" fmla="*/ 7 w 19"/>
                  <a:gd name="T19" fmla="*/ 0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"/>
                  <a:gd name="T31" fmla="*/ 0 h 12"/>
                  <a:gd name="T32" fmla="*/ 19 w 1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" h="12">
                    <a:moveTo>
                      <a:pt x="7" y="0"/>
                    </a:moveTo>
                    <a:lnTo>
                      <a:pt x="13" y="3"/>
                    </a:lnTo>
                    <a:lnTo>
                      <a:pt x="16" y="9"/>
                    </a:lnTo>
                    <a:lnTo>
                      <a:pt x="19" y="12"/>
                    </a:lnTo>
                    <a:lnTo>
                      <a:pt x="16" y="12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8" name="Freeform 166"/>
              <p:cNvSpPr>
                <a:spLocks/>
              </p:cNvSpPr>
              <p:nvPr/>
            </p:nvSpPr>
            <p:spPr bwMode="auto">
              <a:xfrm>
                <a:off x="3054" y="1330"/>
                <a:ext cx="19" cy="49"/>
              </a:xfrm>
              <a:custGeom>
                <a:avLst/>
                <a:gdLst>
                  <a:gd name="T0" fmla="*/ 19 w 19"/>
                  <a:gd name="T1" fmla="*/ 3 h 49"/>
                  <a:gd name="T2" fmla="*/ 10 w 19"/>
                  <a:gd name="T3" fmla="*/ 31 h 49"/>
                  <a:gd name="T4" fmla="*/ 3 w 19"/>
                  <a:gd name="T5" fmla="*/ 49 h 49"/>
                  <a:gd name="T6" fmla="*/ 0 w 19"/>
                  <a:gd name="T7" fmla="*/ 49 h 49"/>
                  <a:gd name="T8" fmla="*/ 0 w 19"/>
                  <a:gd name="T9" fmla="*/ 28 h 49"/>
                  <a:gd name="T10" fmla="*/ 3 w 19"/>
                  <a:gd name="T11" fmla="*/ 18 h 49"/>
                  <a:gd name="T12" fmla="*/ 6 w 19"/>
                  <a:gd name="T13" fmla="*/ 15 h 49"/>
                  <a:gd name="T14" fmla="*/ 16 w 19"/>
                  <a:gd name="T15" fmla="*/ 0 h 49"/>
                  <a:gd name="T16" fmla="*/ 19 w 19"/>
                  <a:gd name="T17" fmla="*/ 0 h 49"/>
                  <a:gd name="T18" fmla="*/ 19 w 19"/>
                  <a:gd name="T19" fmla="*/ 3 h 49"/>
                  <a:gd name="T20" fmla="*/ 19 w 19"/>
                  <a:gd name="T21" fmla="*/ 3 h 49"/>
                  <a:gd name="T22" fmla="*/ 19 w 19"/>
                  <a:gd name="T23" fmla="*/ 3 h 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"/>
                  <a:gd name="T37" fmla="*/ 0 h 49"/>
                  <a:gd name="T38" fmla="*/ 19 w 19"/>
                  <a:gd name="T39" fmla="*/ 49 h 4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" h="49">
                    <a:moveTo>
                      <a:pt x="19" y="3"/>
                    </a:moveTo>
                    <a:lnTo>
                      <a:pt x="10" y="31"/>
                    </a:lnTo>
                    <a:lnTo>
                      <a:pt x="3" y="49"/>
                    </a:lnTo>
                    <a:lnTo>
                      <a:pt x="0" y="49"/>
                    </a:lnTo>
                    <a:lnTo>
                      <a:pt x="0" y="28"/>
                    </a:lnTo>
                    <a:lnTo>
                      <a:pt x="3" y="18"/>
                    </a:lnTo>
                    <a:lnTo>
                      <a:pt x="6" y="15"/>
                    </a:lnTo>
                    <a:lnTo>
                      <a:pt x="16" y="0"/>
                    </a:lnTo>
                    <a:lnTo>
                      <a:pt x="19" y="0"/>
                    </a:lnTo>
                    <a:lnTo>
                      <a:pt x="1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599" name="Freeform 167"/>
              <p:cNvSpPr>
                <a:spLocks/>
              </p:cNvSpPr>
              <p:nvPr/>
            </p:nvSpPr>
            <p:spPr bwMode="auto">
              <a:xfrm>
                <a:off x="3079" y="1333"/>
                <a:ext cx="28" cy="40"/>
              </a:xfrm>
              <a:custGeom>
                <a:avLst/>
                <a:gdLst>
                  <a:gd name="T0" fmla="*/ 3 w 28"/>
                  <a:gd name="T1" fmla="*/ 0 h 40"/>
                  <a:gd name="T2" fmla="*/ 9 w 28"/>
                  <a:gd name="T3" fmla="*/ 3 h 40"/>
                  <a:gd name="T4" fmla="*/ 15 w 28"/>
                  <a:gd name="T5" fmla="*/ 6 h 40"/>
                  <a:gd name="T6" fmla="*/ 22 w 28"/>
                  <a:gd name="T7" fmla="*/ 21 h 40"/>
                  <a:gd name="T8" fmla="*/ 28 w 28"/>
                  <a:gd name="T9" fmla="*/ 37 h 40"/>
                  <a:gd name="T10" fmla="*/ 28 w 28"/>
                  <a:gd name="T11" fmla="*/ 40 h 40"/>
                  <a:gd name="T12" fmla="*/ 25 w 28"/>
                  <a:gd name="T13" fmla="*/ 40 h 40"/>
                  <a:gd name="T14" fmla="*/ 22 w 28"/>
                  <a:gd name="T15" fmla="*/ 37 h 40"/>
                  <a:gd name="T16" fmla="*/ 19 w 28"/>
                  <a:gd name="T17" fmla="*/ 34 h 40"/>
                  <a:gd name="T18" fmla="*/ 12 w 28"/>
                  <a:gd name="T19" fmla="*/ 28 h 40"/>
                  <a:gd name="T20" fmla="*/ 9 w 28"/>
                  <a:gd name="T21" fmla="*/ 12 h 40"/>
                  <a:gd name="T22" fmla="*/ 6 w 28"/>
                  <a:gd name="T23" fmla="*/ 6 h 40"/>
                  <a:gd name="T24" fmla="*/ 3 w 28"/>
                  <a:gd name="T25" fmla="*/ 6 h 40"/>
                  <a:gd name="T26" fmla="*/ 0 w 28"/>
                  <a:gd name="T27" fmla="*/ 3 h 40"/>
                  <a:gd name="T28" fmla="*/ 3 w 28"/>
                  <a:gd name="T29" fmla="*/ 0 h 40"/>
                  <a:gd name="T30" fmla="*/ 3 w 28"/>
                  <a:gd name="T31" fmla="*/ 0 h 40"/>
                  <a:gd name="T32" fmla="*/ 3 w 28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"/>
                  <a:gd name="T52" fmla="*/ 0 h 40"/>
                  <a:gd name="T53" fmla="*/ 28 w 28"/>
                  <a:gd name="T54" fmla="*/ 40 h 4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" h="40">
                    <a:moveTo>
                      <a:pt x="3" y="0"/>
                    </a:moveTo>
                    <a:lnTo>
                      <a:pt x="9" y="3"/>
                    </a:lnTo>
                    <a:lnTo>
                      <a:pt x="15" y="6"/>
                    </a:lnTo>
                    <a:lnTo>
                      <a:pt x="22" y="21"/>
                    </a:lnTo>
                    <a:lnTo>
                      <a:pt x="28" y="37"/>
                    </a:lnTo>
                    <a:lnTo>
                      <a:pt x="28" y="40"/>
                    </a:lnTo>
                    <a:lnTo>
                      <a:pt x="25" y="40"/>
                    </a:lnTo>
                    <a:lnTo>
                      <a:pt x="22" y="37"/>
                    </a:lnTo>
                    <a:lnTo>
                      <a:pt x="19" y="34"/>
                    </a:lnTo>
                    <a:lnTo>
                      <a:pt x="12" y="28"/>
                    </a:lnTo>
                    <a:lnTo>
                      <a:pt x="9" y="12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0" name="Freeform 168"/>
              <p:cNvSpPr>
                <a:spLocks/>
              </p:cNvSpPr>
              <p:nvPr/>
            </p:nvSpPr>
            <p:spPr bwMode="auto">
              <a:xfrm>
                <a:off x="3079" y="1271"/>
                <a:ext cx="74" cy="62"/>
              </a:xfrm>
              <a:custGeom>
                <a:avLst/>
                <a:gdLst>
                  <a:gd name="T0" fmla="*/ 0 w 74"/>
                  <a:gd name="T1" fmla="*/ 59 h 62"/>
                  <a:gd name="T2" fmla="*/ 9 w 74"/>
                  <a:gd name="T3" fmla="*/ 50 h 62"/>
                  <a:gd name="T4" fmla="*/ 15 w 74"/>
                  <a:gd name="T5" fmla="*/ 46 h 62"/>
                  <a:gd name="T6" fmla="*/ 22 w 74"/>
                  <a:gd name="T7" fmla="*/ 43 h 62"/>
                  <a:gd name="T8" fmla="*/ 28 w 74"/>
                  <a:gd name="T9" fmla="*/ 34 h 62"/>
                  <a:gd name="T10" fmla="*/ 34 w 74"/>
                  <a:gd name="T11" fmla="*/ 31 h 62"/>
                  <a:gd name="T12" fmla="*/ 40 w 74"/>
                  <a:gd name="T13" fmla="*/ 25 h 62"/>
                  <a:gd name="T14" fmla="*/ 46 w 74"/>
                  <a:gd name="T15" fmla="*/ 22 h 62"/>
                  <a:gd name="T16" fmla="*/ 52 w 74"/>
                  <a:gd name="T17" fmla="*/ 16 h 62"/>
                  <a:gd name="T18" fmla="*/ 59 w 74"/>
                  <a:gd name="T19" fmla="*/ 12 h 62"/>
                  <a:gd name="T20" fmla="*/ 65 w 74"/>
                  <a:gd name="T21" fmla="*/ 6 h 62"/>
                  <a:gd name="T22" fmla="*/ 71 w 74"/>
                  <a:gd name="T23" fmla="*/ 0 h 62"/>
                  <a:gd name="T24" fmla="*/ 74 w 74"/>
                  <a:gd name="T25" fmla="*/ 0 h 62"/>
                  <a:gd name="T26" fmla="*/ 74 w 74"/>
                  <a:gd name="T27" fmla="*/ 0 h 62"/>
                  <a:gd name="T28" fmla="*/ 74 w 74"/>
                  <a:gd name="T29" fmla="*/ 0 h 62"/>
                  <a:gd name="T30" fmla="*/ 62 w 74"/>
                  <a:gd name="T31" fmla="*/ 16 h 62"/>
                  <a:gd name="T32" fmla="*/ 52 w 74"/>
                  <a:gd name="T33" fmla="*/ 28 h 62"/>
                  <a:gd name="T34" fmla="*/ 40 w 74"/>
                  <a:gd name="T35" fmla="*/ 37 h 62"/>
                  <a:gd name="T36" fmla="*/ 34 w 74"/>
                  <a:gd name="T37" fmla="*/ 43 h 62"/>
                  <a:gd name="T38" fmla="*/ 28 w 74"/>
                  <a:gd name="T39" fmla="*/ 53 h 62"/>
                  <a:gd name="T40" fmla="*/ 0 w 74"/>
                  <a:gd name="T41" fmla="*/ 62 h 62"/>
                  <a:gd name="T42" fmla="*/ 0 w 74"/>
                  <a:gd name="T43" fmla="*/ 62 h 62"/>
                  <a:gd name="T44" fmla="*/ 0 w 74"/>
                  <a:gd name="T45" fmla="*/ 59 h 62"/>
                  <a:gd name="T46" fmla="*/ 0 w 74"/>
                  <a:gd name="T47" fmla="*/ 59 h 62"/>
                  <a:gd name="T48" fmla="*/ 0 w 74"/>
                  <a:gd name="T49" fmla="*/ 59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4"/>
                  <a:gd name="T76" fmla="*/ 0 h 62"/>
                  <a:gd name="T77" fmla="*/ 74 w 74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4" h="62">
                    <a:moveTo>
                      <a:pt x="0" y="59"/>
                    </a:moveTo>
                    <a:lnTo>
                      <a:pt x="9" y="50"/>
                    </a:lnTo>
                    <a:lnTo>
                      <a:pt x="15" y="46"/>
                    </a:lnTo>
                    <a:lnTo>
                      <a:pt x="22" y="43"/>
                    </a:lnTo>
                    <a:lnTo>
                      <a:pt x="28" y="34"/>
                    </a:lnTo>
                    <a:lnTo>
                      <a:pt x="34" y="31"/>
                    </a:lnTo>
                    <a:lnTo>
                      <a:pt x="40" y="25"/>
                    </a:lnTo>
                    <a:lnTo>
                      <a:pt x="46" y="22"/>
                    </a:lnTo>
                    <a:lnTo>
                      <a:pt x="52" y="16"/>
                    </a:lnTo>
                    <a:lnTo>
                      <a:pt x="59" y="12"/>
                    </a:lnTo>
                    <a:lnTo>
                      <a:pt x="65" y="6"/>
                    </a:lnTo>
                    <a:lnTo>
                      <a:pt x="71" y="0"/>
                    </a:lnTo>
                    <a:lnTo>
                      <a:pt x="74" y="0"/>
                    </a:lnTo>
                    <a:lnTo>
                      <a:pt x="62" y="16"/>
                    </a:lnTo>
                    <a:lnTo>
                      <a:pt x="52" y="28"/>
                    </a:lnTo>
                    <a:lnTo>
                      <a:pt x="40" y="37"/>
                    </a:lnTo>
                    <a:lnTo>
                      <a:pt x="34" y="43"/>
                    </a:lnTo>
                    <a:lnTo>
                      <a:pt x="28" y="53"/>
                    </a:lnTo>
                    <a:lnTo>
                      <a:pt x="0" y="62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1" name="Freeform 169"/>
              <p:cNvSpPr>
                <a:spLocks/>
              </p:cNvSpPr>
              <p:nvPr/>
            </p:nvSpPr>
            <p:spPr bwMode="auto">
              <a:xfrm>
                <a:off x="3119" y="1277"/>
                <a:ext cx="62" cy="105"/>
              </a:xfrm>
              <a:custGeom>
                <a:avLst/>
                <a:gdLst>
                  <a:gd name="T0" fmla="*/ 62 w 62"/>
                  <a:gd name="T1" fmla="*/ 3 h 105"/>
                  <a:gd name="T2" fmla="*/ 46 w 62"/>
                  <a:gd name="T3" fmla="*/ 16 h 105"/>
                  <a:gd name="T4" fmla="*/ 40 w 62"/>
                  <a:gd name="T5" fmla="*/ 22 h 105"/>
                  <a:gd name="T6" fmla="*/ 34 w 62"/>
                  <a:gd name="T7" fmla="*/ 31 h 105"/>
                  <a:gd name="T8" fmla="*/ 28 w 62"/>
                  <a:gd name="T9" fmla="*/ 50 h 105"/>
                  <a:gd name="T10" fmla="*/ 22 w 62"/>
                  <a:gd name="T11" fmla="*/ 65 h 105"/>
                  <a:gd name="T12" fmla="*/ 16 w 62"/>
                  <a:gd name="T13" fmla="*/ 77 h 105"/>
                  <a:gd name="T14" fmla="*/ 9 w 62"/>
                  <a:gd name="T15" fmla="*/ 90 h 105"/>
                  <a:gd name="T16" fmla="*/ 3 w 62"/>
                  <a:gd name="T17" fmla="*/ 105 h 105"/>
                  <a:gd name="T18" fmla="*/ 0 w 62"/>
                  <a:gd name="T19" fmla="*/ 105 h 105"/>
                  <a:gd name="T20" fmla="*/ 0 w 62"/>
                  <a:gd name="T21" fmla="*/ 102 h 105"/>
                  <a:gd name="T22" fmla="*/ 9 w 62"/>
                  <a:gd name="T23" fmla="*/ 74 h 105"/>
                  <a:gd name="T24" fmla="*/ 19 w 62"/>
                  <a:gd name="T25" fmla="*/ 47 h 105"/>
                  <a:gd name="T26" fmla="*/ 22 w 62"/>
                  <a:gd name="T27" fmla="*/ 37 h 105"/>
                  <a:gd name="T28" fmla="*/ 28 w 62"/>
                  <a:gd name="T29" fmla="*/ 28 h 105"/>
                  <a:gd name="T30" fmla="*/ 34 w 62"/>
                  <a:gd name="T31" fmla="*/ 19 h 105"/>
                  <a:gd name="T32" fmla="*/ 37 w 62"/>
                  <a:gd name="T33" fmla="*/ 16 h 105"/>
                  <a:gd name="T34" fmla="*/ 40 w 62"/>
                  <a:gd name="T35" fmla="*/ 10 h 105"/>
                  <a:gd name="T36" fmla="*/ 50 w 62"/>
                  <a:gd name="T37" fmla="*/ 6 h 105"/>
                  <a:gd name="T38" fmla="*/ 62 w 62"/>
                  <a:gd name="T39" fmla="*/ 0 h 105"/>
                  <a:gd name="T40" fmla="*/ 62 w 62"/>
                  <a:gd name="T41" fmla="*/ 3 h 105"/>
                  <a:gd name="T42" fmla="*/ 62 w 62"/>
                  <a:gd name="T43" fmla="*/ 3 h 105"/>
                  <a:gd name="T44" fmla="*/ 62 w 62"/>
                  <a:gd name="T45" fmla="*/ 3 h 10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2"/>
                  <a:gd name="T70" fmla="*/ 0 h 105"/>
                  <a:gd name="T71" fmla="*/ 62 w 62"/>
                  <a:gd name="T72" fmla="*/ 105 h 10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2" h="105">
                    <a:moveTo>
                      <a:pt x="62" y="3"/>
                    </a:moveTo>
                    <a:lnTo>
                      <a:pt x="46" y="16"/>
                    </a:lnTo>
                    <a:lnTo>
                      <a:pt x="40" y="22"/>
                    </a:lnTo>
                    <a:lnTo>
                      <a:pt x="34" y="31"/>
                    </a:lnTo>
                    <a:lnTo>
                      <a:pt x="28" y="50"/>
                    </a:lnTo>
                    <a:lnTo>
                      <a:pt x="22" y="65"/>
                    </a:lnTo>
                    <a:lnTo>
                      <a:pt x="16" y="77"/>
                    </a:lnTo>
                    <a:lnTo>
                      <a:pt x="9" y="90"/>
                    </a:lnTo>
                    <a:lnTo>
                      <a:pt x="3" y="105"/>
                    </a:lnTo>
                    <a:lnTo>
                      <a:pt x="0" y="105"/>
                    </a:lnTo>
                    <a:lnTo>
                      <a:pt x="0" y="102"/>
                    </a:lnTo>
                    <a:lnTo>
                      <a:pt x="9" y="74"/>
                    </a:lnTo>
                    <a:lnTo>
                      <a:pt x="19" y="47"/>
                    </a:lnTo>
                    <a:lnTo>
                      <a:pt x="22" y="37"/>
                    </a:lnTo>
                    <a:lnTo>
                      <a:pt x="28" y="28"/>
                    </a:lnTo>
                    <a:lnTo>
                      <a:pt x="34" y="19"/>
                    </a:lnTo>
                    <a:lnTo>
                      <a:pt x="37" y="16"/>
                    </a:lnTo>
                    <a:lnTo>
                      <a:pt x="40" y="10"/>
                    </a:lnTo>
                    <a:lnTo>
                      <a:pt x="50" y="6"/>
                    </a:lnTo>
                    <a:lnTo>
                      <a:pt x="62" y="0"/>
                    </a:lnTo>
                    <a:lnTo>
                      <a:pt x="6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2" name="Freeform 170"/>
              <p:cNvSpPr>
                <a:spLocks/>
              </p:cNvSpPr>
              <p:nvPr/>
            </p:nvSpPr>
            <p:spPr bwMode="auto">
              <a:xfrm>
                <a:off x="3082" y="1358"/>
                <a:ext cx="19" cy="27"/>
              </a:xfrm>
              <a:custGeom>
                <a:avLst/>
                <a:gdLst>
                  <a:gd name="T0" fmla="*/ 19 w 19"/>
                  <a:gd name="T1" fmla="*/ 6 h 27"/>
                  <a:gd name="T2" fmla="*/ 9 w 19"/>
                  <a:gd name="T3" fmla="*/ 24 h 27"/>
                  <a:gd name="T4" fmla="*/ 3 w 19"/>
                  <a:gd name="T5" fmla="*/ 27 h 27"/>
                  <a:gd name="T6" fmla="*/ 0 w 19"/>
                  <a:gd name="T7" fmla="*/ 27 h 27"/>
                  <a:gd name="T8" fmla="*/ 0 w 19"/>
                  <a:gd name="T9" fmla="*/ 24 h 27"/>
                  <a:gd name="T10" fmla="*/ 3 w 19"/>
                  <a:gd name="T11" fmla="*/ 18 h 27"/>
                  <a:gd name="T12" fmla="*/ 12 w 19"/>
                  <a:gd name="T13" fmla="*/ 3 h 27"/>
                  <a:gd name="T14" fmla="*/ 16 w 19"/>
                  <a:gd name="T15" fmla="*/ 0 h 27"/>
                  <a:gd name="T16" fmla="*/ 19 w 19"/>
                  <a:gd name="T17" fmla="*/ 6 h 27"/>
                  <a:gd name="T18" fmla="*/ 19 w 19"/>
                  <a:gd name="T19" fmla="*/ 6 h 27"/>
                  <a:gd name="T20" fmla="*/ 19 w 19"/>
                  <a:gd name="T21" fmla="*/ 6 h 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"/>
                  <a:gd name="T34" fmla="*/ 0 h 27"/>
                  <a:gd name="T35" fmla="*/ 19 w 19"/>
                  <a:gd name="T36" fmla="*/ 27 h 2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" h="27">
                    <a:moveTo>
                      <a:pt x="19" y="6"/>
                    </a:moveTo>
                    <a:lnTo>
                      <a:pt x="9" y="24"/>
                    </a:lnTo>
                    <a:lnTo>
                      <a:pt x="3" y="27"/>
                    </a:lnTo>
                    <a:lnTo>
                      <a:pt x="0" y="27"/>
                    </a:lnTo>
                    <a:lnTo>
                      <a:pt x="0" y="24"/>
                    </a:lnTo>
                    <a:lnTo>
                      <a:pt x="3" y="18"/>
                    </a:lnTo>
                    <a:lnTo>
                      <a:pt x="12" y="3"/>
                    </a:lnTo>
                    <a:lnTo>
                      <a:pt x="16" y="0"/>
                    </a:lnTo>
                    <a:lnTo>
                      <a:pt x="19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3" name="Freeform 171"/>
              <p:cNvSpPr>
                <a:spLocks/>
              </p:cNvSpPr>
              <p:nvPr/>
            </p:nvSpPr>
            <p:spPr bwMode="auto">
              <a:xfrm>
                <a:off x="3082" y="1385"/>
                <a:ext cx="31" cy="99"/>
              </a:xfrm>
              <a:custGeom>
                <a:avLst/>
                <a:gdLst>
                  <a:gd name="T0" fmla="*/ 3 w 31"/>
                  <a:gd name="T1" fmla="*/ 0 h 99"/>
                  <a:gd name="T2" fmla="*/ 12 w 31"/>
                  <a:gd name="T3" fmla="*/ 13 h 99"/>
                  <a:gd name="T4" fmla="*/ 22 w 31"/>
                  <a:gd name="T5" fmla="*/ 25 h 99"/>
                  <a:gd name="T6" fmla="*/ 28 w 31"/>
                  <a:gd name="T7" fmla="*/ 53 h 99"/>
                  <a:gd name="T8" fmla="*/ 31 w 31"/>
                  <a:gd name="T9" fmla="*/ 68 h 99"/>
                  <a:gd name="T10" fmla="*/ 28 w 31"/>
                  <a:gd name="T11" fmla="*/ 99 h 99"/>
                  <a:gd name="T12" fmla="*/ 25 w 31"/>
                  <a:gd name="T13" fmla="*/ 99 h 99"/>
                  <a:gd name="T14" fmla="*/ 25 w 31"/>
                  <a:gd name="T15" fmla="*/ 84 h 99"/>
                  <a:gd name="T16" fmla="*/ 22 w 31"/>
                  <a:gd name="T17" fmla="*/ 68 h 99"/>
                  <a:gd name="T18" fmla="*/ 19 w 31"/>
                  <a:gd name="T19" fmla="*/ 53 h 99"/>
                  <a:gd name="T20" fmla="*/ 19 w 31"/>
                  <a:gd name="T21" fmla="*/ 37 h 99"/>
                  <a:gd name="T22" fmla="*/ 16 w 31"/>
                  <a:gd name="T23" fmla="*/ 25 h 99"/>
                  <a:gd name="T24" fmla="*/ 9 w 31"/>
                  <a:gd name="T25" fmla="*/ 13 h 99"/>
                  <a:gd name="T26" fmla="*/ 0 w 31"/>
                  <a:gd name="T27" fmla="*/ 3 h 99"/>
                  <a:gd name="T28" fmla="*/ 0 w 31"/>
                  <a:gd name="T29" fmla="*/ 0 h 99"/>
                  <a:gd name="T30" fmla="*/ 3 w 31"/>
                  <a:gd name="T31" fmla="*/ 0 h 99"/>
                  <a:gd name="T32" fmla="*/ 3 w 31"/>
                  <a:gd name="T33" fmla="*/ 0 h 99"/>
                  <a:gd name="T34" fmla="*/ 3 w 31"/>
                  <a:gd name="T35" fmla="*/ 0 h 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1"/>
                  <a:gd name="T55" fmla="*/ 0 h 99"/>
                  <a:gd name="T56" fmla="*/ 31 w 31"/>
                  <a:gd name="T57" fmla="*/ 99 h 9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1" h="99">
                    <a:moveTo>
                      <a:pt x="3" y="0"/>
                    </a:moveTo>
                    <a:lnTo>
                      <a:pt x="12" y="13"/>
                    </a:lnTo>
                    <a:lnTo>
                      <a:pt x="22" y="25"/>
                    </a:lnTo>
                    <a:lnTo>
                      <a:pt x="28" y="53"/>
                    </a:lnTo>
                    <a:lnTo>
                      <a:pt x="31" y="68"/>
                    </a:lnTo>
                    <a:lnTo>
                      <a:pt x="28" y="99"/>
                    </a:lnTo>
                    <a:lnTo>
                      <a:pt x="25" y="99"/>
                    </a:lnTo>
                    <a:lnTo>
                      <a:pt x="25" y="84"/>
                    </a:lnTo>
                    <a:lnTo>
                      <a:pt x="22" y="68"/>
                    </a:lnTo>
                    <a:lnTo>
                      <a:pt x="19" y="53"/>
                    </a:lnTo>
                    <a:lnTo>
                      <a:pt x="19" y="37"/>
                    </a:lnTo>
                    <a:lnTo>
                      <a:pt x="16" y="25"/>
                    </a:lnTo>
                    <a:lnTo>
                      <a:pt x="9" y="1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4" name="Freeform 172"/>
              <p:cNvSpPr>
                <a:spLocks/>
              </p:cNvSpPr>
              <p:nvPr/>
            </p:nvSpPr>
            <p:spPr bwMode="auto">
              <a:xfrm>
                <a:off x="3051" y="1385"/>
                <a:ext cx="34" cy="78"/>
              </a:xfrm>
              <a:custGeom>
                <a:avLst/>
                <a:gdLst>
                  <a:gd name="T0" fmla="*/ 0 w 34"/>
                  <a:gd name="T1" fmla="*/ 78 h 78"/>
                  <a:gd name="T2" fmla="*/ 3 w 34"/>
                  <a:gd name="T3" fmla="*/ 16 h 78"/>
                  <a:gd name="T4" fmla="*/ 6 w 34"/>
                  <a:gd name="T5" fmla="*/ 7 h 78"/>
                  <a:gd name="T6" fmla="*/ 9 w 34"/>
                  <a:gd name="T7" fmla="*/ 3 h 78"/>
                  <a:gd name="T8" fmla="*/ 16 w 34"/>
                  <a:gd name="T9" fmla="*/ 0 h 78"/>
                  <a:gd name="T10" fmla="*/ 19 w 34"/>
                  <a:gd name="T11" fmla="*/ 0 h 78"/>
                  <a:gd name="T12" fmla="*/ 28 w 34"/>
                  <a:gd name="T13" fmla="*/ 13 h 78"/>
                  <a:gd name="T14" fmla="*/ 34 w 34"/>
                  <a:gd name="T15" fmla="*/ 34 h 78"/>
                  <a:gd name="T16" fmla="*/ 31 w 34"/>
                  <a:gd name="T17" fmla="*/ 53 h 78"/>
                  <a:gd name="T18" fmla="*/ 28 w 34"/>
                  <a:gd name="T19" fmla="*/ 53 h 78"/>
                  <a:gd name="T20" fmla="*/ 22 w 34"/>
                  <a:gd name="T21" fmla="*/ 34 h 78"/>
                  <a:gd name="T22" fmla="*/ 22 w 34"/>
                  <a:gd name="T23" fmla="*/ 25 h 78"/>
                  <a:gd name="T24" fmla="*/ 19 w 34"/>
                  <a:gd name="T25" fmla="*/ 13 h 78"/>
                  <a:gd name="T26" fmla="*/ 16 w 34"/>
                  <a:gd name="T27" fmla="*/ 3 h 78"/>
                  <a:gd name="T28" fmla="*/ 13 w 34"/>
                  <a:gd name="T29" fmla="*/ 10 h 78"/>
                  <a:gd name="T30" fmla="*/ 13 w 34"/>
                  <a:gd name="T31" fmla="*/ 19 h 78"/>
                  <a:gd name="T32" fmla="*/ 6 w 34"/>
                  <a:gd name="T33" fmla="*/ 47 h 78"/>
                  <a:gd name="T34" fmla="*/ 3 w 34"/>
                  <a:gd name="T35" fmla="*/ 78 h 78"/>
                  <a:gd name="T36" fmla="*/ 0 w 34"/>
                  <a:gd name="T37" fmla="*/ 78 h 78"/>
                  <a:gd name="T38" fmla="*/ 0 w 34"/>
                  <a:gd name="T39" fmla="*/ 78 h 78"/>
                  <a:gd name="T40" fmla="*/ 0 w 34"/>
                  <a:gd name="T41" fmla="*/ 78 h 7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4"/>
                  <a:gd name="T64" fmla="*/ 0 h 78"/>
                  <a:gd name="T65" fmla="*/ 34 w 34"/>
                  <a:gd name="T66" fmla="*/ 78 h 7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4" h="78">
                    <a:moveTo>
                      <a:pt x="0" y="78"/>
                    </a:moveTo>
                    <a:lnTo>
                      <a:pt x="3" y="16"/>
                    </a:lnTo>
                    <a:lnTo>
                      <a:pt x="6" y="7"/>
                    </a:lnTo>
                    <a:lnTo>
                      <a:pt x="9" y="3"/>
                    </a:lnTo>
                    <a:lnTo>
                      <a:pt x="16" y="0"/>
                    </a:lnTo>
                    <a:lnTo>
                      <a:pt x="19" y="0"/>
                    </a:lnTo>
                    <a:lnTo>
                      <a:pt x="28" y="13"/>
                    </a:lnTo>
                    <a:lnTo>
                      <a:pt x="34" y="34"/>
                    </a:lnTo>
                    <a:lnTo>
                      <a:pt x="31" y="53"/>
                    </a:lnTo>
                    <a:lnTo>
                      <a:pt x="28" y="53"/>
                    </a:lnTo>
                    <a:lnTo>
                      <a:pt x="22" y="34"/>
                    </a:lnTo>
                    <a:lnTo>
                      <a:pt x="22" y="25"/>
                    </a:lnTo>
                    <a:lnTo>
                      <a:pt x="19" y="13"/>
                    </a:lnTo>
                    <a:lnTo>
                      <a:pt x="16" y="3"/>
                    </a:lnTo>
                    <a:lnTo>
                      <a:pt x="13" y="10"/>
                    </a:lnTo>
                    <a:lnTo>
                      <a:pt x="13" y="19"/>
                    </a:lnTo>
                    <a:lnTo>
                      <a:pt x="6" y="47"/>
                    </a:lnTo>
                    <a:lnTo>
                      <a:pt x="3" y="78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5" name="Freeform 173"/>
              <p:cNvSpPr>
                <a:spLocks/>
              </p:cNvSpPr>
              <p:nvPr/>
            </p:nvSpPr>
            <p:spPr bwMode="auto">
              <a:xfrm>
                <a:off x="3060" y="1358"/>
                <a:ext cx="10" cy="24"/>
              </a:xfrm>
              <a:custGeom>
                <a:avLst/>
                <a:gdLst>
                  <a:gd name="T0" fmla="*/ 4 w 10"/>
                  <a:gd name="T1" fmla="*/ 0 h 24"/>
                  <a:gd name="T2" fmla="*/ 7 w 10"/>
                  <a:gd name="T3" fmla="*/ 3 h 24"/>
                  <a:gd name="T4" fmla="*/ 10 w 10"/>
                  <a:gd name="T5" fmla="*/ 21 h 24"/>
                  <a:gd name="T6" fmla="*/ 7 w 10"/>
                  <a:gd name="T7" fmla="*/ 24 h 24"/>
                  <a:gd name="T8" fmla="*/ 7 w 10"/>
                  <a:gd name="T9" fmla="*/ 21 h 24"/>
                  <a:gd name="T10" fmla="*/ 4 w 10"/>
                  <a:gd name="T11" fmla="*/ 15 h 24"/>
                  <a:gd name="T12" fmla="*/ 0 w 10"/>
                  <a:gd name="T13" fmla="*/ 6 h 24"/>
                  <a:gd name="T14" fmla="*/ 0 w 10"/>
                  <a:gd name="T15" fmla="*/ 0 h 24"/>
                  <a:gd name="T16" fmla="*/ 0 w 10"/>
                  <a:gd name="T17" fmla="*/ 0 h 24"/>
                  <a:gd name="T18" fmla="*/ 4 w 10"/>
                  <a:gd name="T19" fmla="*/ 0 h 24"/>
                  <a:gd name="T20" fmla="*/ 4 w 10"/>
                  <a:gd name="T21" fmla="*/ 0 h 24"/>
                  <a:gd name="T22" fmla="*/ 4 w 10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"/>
                  <a:gd name="T37" fmla="*/ 0 h 24"/>
                  <a:gd name="T38" fmla="*/ 10 w 10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" h="24">
                    <a:moveTo>
                      <a:pt x="4" y="0"/>
                    </a:moveTo>
                    <a:lnTo>
                      <a:pt x="7" y="3"/>
                    </a:lnTo>
                    <a:lnTo>
                      <a:pt x="10" y="21"/>
                    </a:lnTo>
                    <a:lnTo>
                      <a:pt x="7" y="24"/>
                    </a:lnTo>
                    <a:lnTo>
                      <a:pt x="7" y="21"/>
                    </a:lnTo>
                    <a:lnTo>
                      <a:pt x="4" y="15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6" name="Freeform 174"/>
              <p:cNvSpPr>
                <a:spLocks/>
              </p:cNvSpPr>
              <p:nvPr/>
            </p:nvSpPr>
            <p:spPr bwMode="auto">
              <a:xfrm>
                <a:off x="3060" y="1253"/>
                <a:ext cx="78" cy="68"/>
              </a:xfrm>
              <a:custGeom>
                <a:avLst/>
                <a:gdLst>
                  <a:gd name="T0" fmla="*/ 78 w 78"/>
                  <a:gd name="T1" fmla="*/ 3 h 68"/>
                  <a:gd name="T2" fmla="*/ 75 w 78"/>
                  <a:gd name="T3" fmla="*/ 9 h 68"/>
                  <a:gd name="T4" fmla="*/ 75 w 78"/>
                  <a:gd name="T5" fmla="*/ 15 h 68"/>
                  <a:gd name="T6" fmla="*/ 65 w 78"/>
                  <a:gd name="T7" fmla="*/ 24 h 68"/>
                  <a:gd name="T8" fmla="*/ 62 w 78"/>
                  <a:gd name="T9" fmla="*/ 27 h 68"/>
                  <a:gd name="T10" fmla="*/ 56 w 78"/>
                  <a:gd name="T11" fmla="*/ 30 h 68"/>
                  <a:gd name="T12" fmla="*/ 47 w 78"/>
                  <a:gd name="T13" fmla="*/ 43 h 68"/>
                  <a:gd name="T14" fmla="*/ 38 w 78"/>
                  <a:gd name="T15" fmla="*/ 49 h 68"/>
                  <a:gd name="T16" fmla="*/ 28 w 78"/>
                  <a:gd name="T17" fmla="*/ 55 h 68"/>
                  <a:gd name="T18" fmla="*/ 16 w 78"/>
                  <a:gd name="T19" fmla="*/ 61 h 68"/>
                  <a:gd name="T20" fmla="*/ 7 w 78"/>
                  <a:gd name="T21" fmla="*/ 68 h 68"/>
                  <a:gd name="T22" fmla="*/ 0 w 78"/>
                  <a:gd name="T23" fmla="*/ 64 h 68"/>
                  <a:gd name="T24" fmla="*/ 4 w 78"/>
                  <a:gd name="T25" fmla="*/ 58 h 68"/>
                  <a:gd name="T26" fmla="*/ 22 w 78"/>
                  <a:gd name="T27" fmla="*/ 49 h 68"/>
                  <a:gd name="T28" fmla="*/ 31 w 78"/>
                  <a:gd name="T29" fmla="*/ 43 h 68"/>
                  <a:gd name="T30" fmla="*/ 41 w 78"/>
                  <a:gd name="T31" fmla="*/ 34 h 68"/>
                  <a:gd name="T32" fmla="*/ 44 w 78"/>
                  <a:gd name="T33" fmla="*/ 30 h 68"/>
                  <a:gd name="T34" fmla="*/ 50 w 78"/>
                  <a:gd name="T35" fmla="*/ 24 h 68"/>
                  <a:gd name="T36" fmla="*/ 59 w 78"/>
                  <a:gd name="T37" fmla="*/ 18 h 68"/>
                  <a:gd name="T38" fmla="*/ 75 w 78"/>
                  <a:gd name="T39" fmla="*/ 3 h 68"/>
                  <a:gd name="T40" fmla="*/ 78 w 78"/>
                  <a:gd name="T41" fmla="*/ 0 h 68"/>
                  <a:gd name="T42" fmla="*/ 78 w 78"/>
                  <a:gd name="T43" fmla="*/ 3 h 68"/>
                  <a:gd name="T44" fmla="*/ 78 w 78"/>
                  <a:gd name="T45" fmla="*/ 3 h 68"/>
                  <a:gd name="T46" fmla="*/ 78 w 78"/>
                  <a:gd name="T47" fmla="*/ 3 h 6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8"/>
                  <a:gd name="T73" fmla="*/ 0 h 68"/>
                  <a:gd name="T74" fmla="*/ 78 w 78"/>
                  <a:gd name="T75" fmla="*/ 68 h 6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8" h="68">
                    <a:moveTo>
                      <a:pt x="78" y="3"/>
                    </a:moveTo>
                    <a:lnTo>
                      <a:pt x="75" y="9"/>
                    </a:lnTo>
                    <a:lnTo>
                      <a:pt x="75" y="15"/>
                    </a:lnTo>
                    <a:lnTo>
                      <a:pt x="65" y="24"/>
                    </a:lnTo>
                    <a:lnTo>
                      <a:pt x="62" y="27"/>
                    </a:lnTo>
                    <a:lnTo>
                      <a:pt x="56" y="30"/>
                    </a:lnTo>
                    <a:lnTo>
                      <a:pt x="47" y="43"/>
                    </a:lnTo>
                    <a:lnTo>
                      <a:pt x="38" y="49"/>
                    </a:lnTo>
                    <a:lnTo>
                      <a:pt x="28" y="55"/>
                    </a:lnTo>
                    <a:lnTo>
                      <a:pt x="16" y="61"/>
                    </a:lnTo>
                    <a:lnTo>
                      <a:pt x="7" y="68"/>
                    </a:lnTo>
                    <a:lnTo>
                      <a:pt x="0" y="64"/>
                    </a:lnTo>
                    <a:lnTo>
                      <a:pt x="4" y="58"/>
                    </a:lnTo>
                    <a:lnTo>
                      <a:pt x="22" y="49"/>
                    </a:lnTo>
                    <a:lnTo>
                      <a:pt x="31" y="43"/>
                    </a:lnTo>
                    <a:lnTo>
                      <a:pt x="41" y="34"/>
                    </a:lnTo>
                    <a:lnTo>
                      <a:pt x="44" y="30"/>
                    </a:lnTo>
                    <a:lnTo>
                      <a:pt x="50" y="24"/>
                    </a:lnTo>
                    <a:lnTo>
                      <a:pt x="59" y="18"/>
                    </a:lnTo>
                    <a:lnTo>
                      <a:pt x="75" y="3"/>
                    </a:lnTo>
                    <a:lnTo>
                      <a:pt x="78" y="0"/>
                    </a:lnTo>
                    <a:lnTo>
                      <a:pt x="7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7" name="Freeform 175"/>
              <p:cNvSpPr>
                <a:spLocks/>
              </p:cNvSpPr>
              <p:nvPr/>
            </p:nvSpPr>
            <p:spPr bwMode="auto">
              <a:xfrm>
                <a:off x="3054" y="1188"/>
                <a:ext cx="40" cy="18"/>
              </a:xfrm>
              <a:custGeom>
                <a:avLst/>
                <a:gdLst>
                  <a:gd name="T0" fmla="*/ 3 w 40"/>
                  <a:gd name="T1" fmla="*/ 3 h 18"/>
                  <a:gd name="T2" fmla="*/ 10 w 40"/>
                  <a:gd name="T3" fmla="*/ 0 h 18"/>
                  <a:gd name="T4" fmla="*/ 19 w 40"/>
                  <a:gd name="T5" fmla="*/ 0 h 18"/>
                  <a:gd name="T6" fmla="*/ 34 w 40"/>
                  <a:gd name="T7" fmla="*/ 3 h 18"/>
                  <a:gd name="T8" fmla="*/ 40 w 40"/>
                  <a:gd name="T9" fmla="*/ 15 h 18"/>
                  <a:gd name="T10" fmla="*/ 40 w 40"/>
                  <a:gd name="T11" fmla="*/ 18 h 18"/>
                  <a:gd name="T12" fmla="*/ 40 w 40"/>
                  <a:gd name="T13" fmla="*/ 18 h 18"/>
                  <a:gd name="T14" fmla="*/ 28 w 40"/>
                  <a:gd name="T15" fmla="*/ 12 h 18"/>
                  <a:gd name="T16" fmla="*/ 16 w 40"/>
                  <a:gd name="T17" fmla="*/ 9 h 18"/>
                  <a:gd name="T18" fmla="*/ 3 w 40"/>
                  <a:gd name="T19" fmla="*/ 6 h 18"/>
                  <a:gd name="T20" fmla="*/ 0 w 40"/>
                  <a:gd name="T21" fmla="*/ 6 h 18"/>
                  <a:gd name="T22" fmla="*/ 3 w 40"/>
                  <a:gd name="T23" fmla="*/ 3 h 18"/>
                  <a:gd name="T24" fmla="*/ 3 w 40"/>
                  <a:gd name="T25" fmla="*/ 3 h 18"/>
                  <a:gd name="T26" fmla="*/ 3 w 40"/>
                  <a:gd name="T27" fmla="*/ 3 h 1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0"/>
                  <a:gd name="T43" fmla="*/ 0 h 18"/>
                  <a:gd name="T44" fmla="*/ 40 w 40"/>
                  <a:gd name="T45" fmla="*/ 18 h 1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0" h="18">
                    <a:moveTo>
                      <a:pt x="3" y="3"/>
                    </a:moveTo>
                    <a:lnTo>
                      <a:pt x="10" y="0"/>
                    </a:lnTo>
                    <a:lnTo>
                      <a:pt x="19" y="0"/>
                    </a:lnTo>
                    <a:lnTo>
                      <a:pt x="34" y="3"/>
                    </a:lnTo>
                    <a:lnTo>
                      <a:pt x="40" y="15"/>
                    </a:lnTo>
                    <a:lnTo>
                      <a:pt x="40" y="18"/>
                    </a:lnTo>
                    <a:lnTo>
                      <a:pt x="28" y="12"/>
                    </a:lnTo>
                    <a:lnTo>
                      <a:pt x="16" y="9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8" name="Freeform 176"/>
              <p:cNvSpPr>
                <a:spLocks/>
              </p:cNvSpPr>
              <p:nvPr/>
            </p:nvSpPr>
            <p:spPr bwMode="auto">
              <a:xfrm>
                <a:off x="3054" y="1212"/>
                <a:ext cx="37" cy="13"/>
              </a:xfrm>
              <a:custGeom>
                <a:avLst/>
                <a:gdLst>
                  <a:gd name="T0" fmla="*/ 3 w 37"/>
                  <a:gd name="T1" fmla="*/ 0 h 13"/>
                  <a:gd name="T2" fmla="*/ 22 w 37"/>
                  <a:gd name="T3" fmla="*/ 3 h 13"/>
                  <a:gd name="T4" fmla="*/ 34 w 37"/>
                  <a:gd name="T5" fmla="*/ 3 h 13"/>
                  <a:gd name="T6" fmla="*/ 37 w 37"/>
                  <a:gd name="T7" fmla="*/ 3 h 13"/>
                  <a:gd name="T8" fmla="*/ 34 w 37"/>
                  <a:gd name="T9" fmla="*/ 7 h 13"/>
                  <a:gd name="T10" fmla="*/ 28 w 37"/>
                  <a:gd name="T11" fmla="*/ 10 h 13"/>
                  <a:gd name="T12" fmla="*/ 19 w 37"/>
                  <a:gd name="T13" fmla="*/ 13 h 13"/>
                  <a:gd name="T14" fmla="*/ 13 w 37"/>
                  <a:gd name="T15" fmla="*/ 10 h 13"/>
                  <a:gd name="T16" fmla="*/ 3 w 37"/>
                  <a:gd name="T17" fmla="*/ 7 h 13"/>
                  <a:gd name="T18" fmla="*/ 0 w 37"/>
                  <a:gd name="T19" fmla="*/ 3 h 13"/>
                  <a:gd name="T20" fmla="*/ 3 w 37"/>
                  <a:gd name="T21" fmla="*/ 0 h 13"/>
                  <a:gd name="T22" fmla="*/ 3 w 37"/>
                  <a:gd name="T23" fmla="*/ 0 h 13"/>
                  <a:gd name="T24" fmla="*/ 3 w 37"/>
                  <a:gd name="T25" fmla="*/ 0 h 13"/>
                  <a:gd name="T26" fmla="*/ 3 w 37"/>
                  <a:gd name="T27" fmla="*/ 0 h 1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7"/>
                  <a:gd name="T43" fmla="*/ 0 h 13"/>
                  <a:gd name="T44" fmla="*/ 37 w 37"/>
                  <a:gd name="T45" fmla="*/ 13 h 1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7" h="13">
                    <a:moveTo>
                      <a:pt x="3" y="0"/>
                    </a:moveTo>
                    <a:lnTo>
                      <a:pt x="22" y="3"/>
                    </a:lnTo>
                    <a:lnTo>
                      <a:pt x="34" y="3"/>
                    </a:lnTo>
                    <a:lnTo>
                      <a:pt x="37" y="3"/>
                    </a:lnTo>
                    <a:lnTo>
                      <a:pt x="34" y="7"/>
                    </a:lnTo>
                    <a:lnTo>
                      <a:pt x="28" y="10"/>
                    </a:lnTo>
                    <a:lnTo>
                      <a:pt x="19" y="13"/>
                    </a:lnTo>
                    <a:lnTo>
                      <a:pt x="13" y="10"/>
                    </a:lnTo>
                    <a:lnTo>
                      <a:pt x="3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09" name="Freeform 177"/>
              <p:cNvSpPr>
                <a:spLocks/>
              </p:cNvSpPr>
              <p:nvPr/>
            </p:nvSpPr>
            <p:spPr bwMode="auto">
              <a:xfrm>
                <a:off x="3020" y="1073"/>
                <a:ext cx="176" cy="155"/>
              </a:xfrm>
              <a:custGeom>
                <a:avLst/>
                <a:gdLst>
                  <a:gd name="T0" fmla="*/ 6 w 176"/>
                  <a:gd name="T1" fmla="*/ 40 h 155"/>
                  <a:gd name="T2" fmla="*/ 25 w 176"/>
                  <a:gd name="T3" fmla="*/ 28 h 155"/>
                  <a:gd name="T4" fmla="*/ 31 w 176"/>
                  <a:gd name="T5" fmla="*/ 16 h 155"/>
                  <a:gd name="T6" fmla="*/ 40 w 176"/>
                  <a:gd name="T7" fmla="*/ 13 h 155"/>
                  <a:gd name="T8" fmla="*/ 65 w 176"/>
                  <a:gd name="T9" fmla="*/ 0 h 155"/>
                  <a:gd name="T10" fmla="*/ 108 w 176"/>
                  <a:gd name="T11" fmla="*/ 3 h 155"/>
                  <a:gd name="T12" fmla="*/ 133 w 176"/>
                  <a:gd name="T13" fmla="*/ 13 h 155"/>
                  <a:gd name="T14" fmla="*/ 149 w 176"/>
                  <a:gd name="T15" fmla="*/ 28 h 155"/>
                  <a:gd name="T16" fmla="*/ 158 w 176"/>
                  <a:gd name="T17" fmla="*/ 37 h 155"/>
                  <a:gd name="T18" fmla="*/ 170 w 176"/>
                  <a:gd name="T19" fmla="*/ 53 h 155"/>
                  <a:gd name="T20" fmla="*/ 173 w 176"/>
                  <a:gd name="T21" fmla="*/ 78 h 155"/>
                  <a:gd name="T22" fmla="*/ 176 w 176"/>
                  <a:gd name="T23" fmla="*/ 96 h 155"/>
                  <a:gd name="T24" fmla="*/ 167 w 176"/>
                  <a:gd name="T25" fmla="*/ 121 h 155"/>
                  <a:gd name="T26" fmla="*/ 161 w 176"/>
                  <a:gd name="T27" fmla="*/ 149 h 155"/>
                  <a:gd name="T28" fmla="*/ 155 w 176"/>
                  <a:gd name="T29" fmla="*/ 155 h 155"/>
                  <a:gd name="T30" fmla="*/ 149 w 176"/>
                  <a:gd name="T31" fmla="*/ 149 h 155"/>
                  <a:gd name="T32" fmla="*/ 158 w 176"/>
                  <a:gd name="T33" fmla="*/ 136 h 155"/>
                  <a:gd name="T34" fmla="*/ 167 w 176"/>
                  <a:gd name="T35" fmla="*/ 108 h 155"/>
                  <a:gd name="T36" fmla="*/ 164 w 176"/>
                  <a:gd name="T37" fmla="*/ 78 h 155"/>
                  <a:gd name="T38" fmla="*/ 164 w 176"/>
                  <a:gd name="T39" fmla="*/ 53 h 155"/>
                  <a:gd name="T40" fmla="*/ 158 w 176"/>
                  <a:gd name="T41" fmla="*/ 44 h 155"/>
                  <a:gd name="T42" fmla="*/ 149 w 176"/>
                  <a:gd name="T43" fmla="*/ 37 h 155"/>
                  <a:gd name="T44" fmla="*/ 136 w 176"/>
                  <a:gd name="T45" fmla="*/ 28 h 155"/>
                  <a:gd name="T46" fmla="*/ 124 w 176"/>
                  <a:gd name="T47" fmla="*/ 13 h 155"/>
                  <a:gd name="T48" fmla="*/ 105 w 176"/>
                  <a:gd name="T49" fmla="*/ 10 h 155"/>
                  <a:gd name="T50" fmla="*/ 65 w 176"/>
                  <a:gd name="T51" fmla="*/ 6 h 155"/>
                  <a:gd name="T52" fmla="*/ 50 w 176"/>
                  <a:gd name="T53" fmla="*/ 16 h 155"/>
                  <a:gd name="T54" fmla="*/ 34 w 176"/>
                  <a:gd name="T55" fmla="*/ 22 h 155"/>
                  <a:gd name="T56" fmla="*/ 25 w 176"/>
                  <a:gd name="T57" fmla="*/ 37 h 155"/>
                  <a:gd name="T58" fmla="*/ 19 w 176"/>
                  <a:gd name="T59" fmla="*/ 44 h 155"/>
                  <a:gd name="T60" fmla="*/ 3 w 176"/>
                  <a:gd name="T61" fmla="*/ 53 h 155"/>
                  <a:gd name="T62" fmla="*/ 0 w 176"/>
                  <a:gd name="T63" fmla="*/ 65 h 155"/>
                  <a:gd name="T64" fmla="*/ 0 w 176"/>
                  <a:gd name="T65" fmla="*/ 65 h 1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6"/>
                  <a:gd name="T100" fmla="*/ 0 h 155"/>
                  <a:gd name="T101" fmla="*/ 176 w 176"/>
                  <a:gd name="T102" fmla="*/ 155 h 15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6" h="155">
                    <a:moveTo>
                      <a:pt x="0" y="65"/>
                    </a:moveTo>
                    <a:lnTo>
                      <a:pt x="6" y="40"/>
                    </a:lnTo>
                    <a:lnTo>
                      <a:pt x="16" y="34"/>
                    </a:lnTo>
                    <a:lnTo>
                      <a:pt x="25" y="28"/>
                    </a:lnTo>
                    <a:lnTo>
                      <a:pt x="28" y="22"/>
                    </a:lnTo>
                    <a:lnTo>
                      <a:pt x="31" y="16"/>
                    </a:lnTo>
                    <a:lnTo>
                      <a:pt x="34" y="13"/>
                    </a:lnTo>
                    <a:lnTo>
                      <a:pt x="40" y="13"/>
                    </a:lnTo>
                    <a:lnTo>
                      <a:pt x="56" y="3"/>
                    </a:lnTo>
                    <a:lnTo>
                      <a:pt x="65" y="0"/>
                    </a:lnTo>
                    <a:lnTo>
                      <a:pt x="78" y="3"/>
                    </a:lnTo>
                    <a:lnTo>
                      <a:pt x="108" y="3"/>
                    </a:lnTo>
                    <a:lnTo>
                      <a:pt x="121" y="3"/>
                    </a:lnTo>
                    <a:lnTo>
                      <a:pt x="133" y="13"/>
                    </a:lnTo>
                    <a:lnTo>
                      <a:pt x="142" y="22"/>
                    </a:lnTo>
                    <a:lnTo>
                      <a:pt x="149" y="28"/>
                    </a:lnTo>
                    <a:lnTo>
                      <a:pt x="155" y="31"/>
                    </a:lnTo>
                    <a:lnTo>
                      <a:pt x="158" y="37"/>
                    </a:lnTo>
                    <a:lnTo>
                      <a:pt x="164" y="40"/>
                    </a:lnTo>
                    <a:lnTo>
                      <a:pt x="170" y="53"/>
                    </a:lnTo>
                    <a:lnTo>
                      <a:pt x="173" y="68"/>
                    </a:lnTo>
                    <a:lnTo>
                      <a:pt x="173" y="78"/>
                    </a:lnTo>
                    <a:lnTo>
                      <a:pt x="173" y="87"/>
                    </a:lnTo>
                    <a:lnTo>
                      <a:pt x="176" y="96"/>
                    </a:lnTo>
                    <a:lnTo>
                      <a:pt x="176" y="112"/>
                    </a:lnTo>
                    <a:lnTo>
                      <a:pt x="167" y="121"/>
                    </a:lnTo>
                    <a:lnTo>
                      <a:pt x="164" y="142"/>
                    </a:lnTo>
                    <a:lnTo>
                      <a:pt x="161" y="149"/>
                    </a:lnTo>
                    <a:lnTo>
                      <a:pt x="158" y="152"/>
                    </a:lnTo>
                    <a:lnTo>
                      <a:pt x="155" y="155"/>
                    </a:lnTo>
                    <a:lnTo>
                      <a:pt x="149" y="155"/>
                    </a:lnTo>
                    <a:lnTo>
                      <a:pt x="149" y="149"/>
                    </a:lnTo>
                    <a:lnTo>
                      <a:pt x="155" y="142"/>
                    </a:lnTo>
                    <a:lnTo>
                      <a:pt x="158" y="136"/>
                    </a:lnTo>
                    <a:lnTo>
                      <a:pt x="158" y="118"/>
                    </a:lnTo>
                    <a:lnTo>
                      <a:pt x="167" y="108"/>
                    </a:lnTo>
                    <a:lnTo>
                      <a:pt x="170" y="99"/>
                    </a:lnTo>
                    <a:lnTo>
                      <a:pt x="164" y="78"/>
                    </a:lnTo>
                    <a:lnTo>
                      <a:pt x="164" y="68"/>
                    </a:lnTo>
                    <a:lnTo>
                      <a:pt x="164" y="53"/>
                    </a:lnTo>
                    <a:lnTo>
                      <a:pt x="161" y="50"/>
                    </a:lnTo>
                    <a:lnTo>
                      <a:pt x="158" y="44"/>
                    </a:lnTo>
                    <a:lnTo>
                      <a:pt x="152" y="40"/>
                    </a:lnTo>
                    <a:lnTo>
                      <a:pt x="149" y="37"/>
                    </a:lnTo>
                    <a:lnTo>
                      <a:pt x="142" y="31"/>
                    </a:lnTo>
                    <a:lnTo>
                      <a:pt x="136" y="28"/>
                    </a:lnTo>
                    <a:lnTo>
                      <a:pt x="130" y="16"/>
                    </a:lnTo>
                    <a:lnTo>
                      <a:pt x="124" y="13"/>
                    </a:lnTo>
                    <a:lnTo>
                      <a:pt x="118" y="10"/>
                    </a:lnTo>
                    <a:lnTo>
                      <a:pt x="105" y="10"/>
                    </a:lnTo>
                    <a:lnTo>
                      <a:pt x="78" y="10"/>
                    </a:lnTo>
                    <a:lnTo>
                      <a:pt x="65" y="6"/>
                    </a:lnTo>
                    <a:lnTo>
                      <a:pt x="59" y="13"/>
                    </a:lnTo>
                    <a:lnTo>
                      <a:pt x="50" y="16"/>
                    </a:lnTo>
                    <a:lnTo>
                      <a:pt x="44" y="19"/>
                    </a:lnTo>
                    <a:lnTo>
                      <a:pt x="34" y="22"/>
                    </a:lnTo>
                    <a:lnTo>
                      <a:pt x="31" y="28"/>
                    </a:lnTo>
                    <a:lnTo>
                      <a:pt x="25" y="37"/>
                    </a:lnTo>
                    <a:lnTo>
                      <a:pt x="22" y="40"/>
                    </a:lnTo>
                    <a:lnTo>
                      <a:pt x="19" y="44"/>
                    </a:lnTo>
                    <a:lnTo>
                      <a:pt x="10" y="47"/>
                    </a:lnTo>
                    <a:lnTo>
                      <a:pt x="3" y="53"/>
                    </a:lnTo>
                    <a:lnTo>
                      <a:pt x="3" y="65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0" name="Freeform 178"/>
              <p:cNvSpPr>
                <a:spLocks/>
              </p:cNvSpPr>
              <p:nvPr/>
            </p:nvSpPr>
            <p:spPr bwMode="auto">
              <a:xfrm>
                <a:off x="3036" y="1138"/>
                <a:ext cx="95" cy="25"/>
              </a:xfrm>
              <a:custGeom>
                <a:avLst/>
                <a:gdLst>
                  <a:gd name="T0" fmla="*/ 3 w 95"/>
                  <a:gd name="T1" fmla="*/ 16 h 25"/>
                  <a:gd name="T2" fmla="*/ 18 w 95"/>
                  <a:gd name="T3" fmla="*/ 16 h 25"/>
                  <a:gd name="T4" fmla="*/ 28 w 95"/>
                  <a:gd name="T5" fmla="*/ 13 h 25"/>
                  <a:gd name="T6" fmla="*/ 37 w 95"/>
                  <a:gd name="T7" fmla="*/ 6 h 25"/>
                  <a:gd name="T8" fmla="*/ 43 w 95"/>
                  <a:gd name="T9" fmla="*/ 3 h 25"/>
                  <a:gd name="T10" fmla="*/ 55 w 95"/>
                  <a:gd name="T11" fmla="*/ 0 h 25"/>
                  <a:gd name="T12" fmla="*/ 65 w 95"/>
                  <a:gd name="T13" fmla="*/ 3 h 25"/>
                  <a:gd name="T14" fmla="*/ 77 w 95"/>
                  <a:gd name="T15" fmla="*/ 13 h 25"/>
                  <a:gd name="T16" fmla="*/ 83 w 95"/>
                  <a:gd name="T17" fmla="*/ 16 h 25"/>
                  <a:gd name="T18" fmla="*/ 92 w 95"/>
                  <a:gd name="T19" fmla="*/ 19 h 25"/>
                  <a:gd name="T20" fmla="*/ 95 w 95"/>
                  <a:gd name="T21" fmla="*/ 19 h 25"/>
                  <a:gd name="T22" fmla="*/ 92 w 95"/>
                  <a:gd name="T23" fmla="*/ 22 h 25"/>
                  <a:gd name="T24" fmla="*/ 77 w 95"/>
                  <a:gd name="T25" fmla="*/ 19 h 25"/>
                  <a:gd name="T26" fmla="*/ 68 w 95"/>
                  <a:gd name="T27" fmla="*/ 13 h 25"/>
                  <a:gd name="T28" fmla="*/ 62 w 95"/>
                  <a:gd name="T29" fmla="*/ 9 h 25"/>
                  <a:gd name="T30" fmla="*/ 52 w 95"/>
                  <a:gd name="T31" fmla="*/ 3 h 25"/>
                  <a:gd name="T32" fmla="*/ 43 w 95"/>
                  <a:gd name="T33" fmla="*/ 6 h 25"/>
                  <a:gd name="T34" fmla="*/ 37 w 95"/>
                  <a:gd name="T35" fmla="*/ 13 h 25"/>
                  <a:gd name="T36" fmla="*/ 31 w 95"/>
                  <a:gd name="T37" fmla="*/ 22 h 25"/>
                  <a:gd name="T38" fmla="*/ 28 w 95"/>
                  <a:gd name="T39" fmla="*/ 25 h 25"/>
                  <a:gd name="T40" fmla="*/ 21 w 95"/>
                  <a:gd name="T41" fmla="*/ 25 h 25"/>
                  <a:gd name="T42" fmla="*/ 9 w 95"/>
                  <a:gd name="T43" fmla="*/ 25 h 25"/>
                  <a:gd name="T44" fmla="*/ 0 w 95"/>
                  <a:gd name="T45" fmla="*/ 19 h 25"/>
                  <a:gd name="T46" fmla="*/ 0 w 95"/>
                  <a:gd name="T47" fmla="*/ 16 h 25"/>
                  <a:gd name="T48" fmla="*/ 3 w 95"/>
                  <a:gd name="T49" fmla="*/ 16 h 25"/>
                  <a:gd name="T50" fmla="*/ 3 w 95"/>
                  <a:gd name="T51" fmla="*/ 16 h 25"/>
                  <a:gd name="T52" fmla="*/ 3 w 95"/>
                  <a:gd name="T53" fmla="*/ 16 h 2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95"/>
                  <a:gd name="T82" fmla="*/ 0 h 25"/>
                  <a:gd name="T83" fmla="*/ 95 w 95"/>
                  <a:gd name="T84" fmla="*/ 25 h 25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95" h="25">
                    <a:moveTo>
                      <a:pt x="3" y="16"/>
                    </a:moveTo>
                    <a:lnTo>
                      <a:pt x="18" y="16"/>
                    </a:lnTo>
                    <a:lnTo>
                      <a:pt x="28" y="13"/>
                    </a:lnTo>
                    <a:lnTo>
                      <a:pt x="37" y="6"/>
                    </a:lnTo>
                    <a:lnTo>
                      <a:pt x="43" y="3"/>
                    </a:lnTo>
                    <a:lnTo>
                      <a:pt x="55" y="0"/>
                    </a:lnTo>
                    <a:lnTo>
                      <a:pt x="65" y="3"/>
                    </a:lnTo>
                    <a:lnTo>
                      <a:pt x="77" y="13"/>
                    </a:lnTo>
                    <a:lnTo>
                      <a:pt x="83" y="16"/>
                    </a:lnTo>
                    <a:lnTo>
                      <a:pt x="92" y="19"/>
                    </a:lnTo>
                    <a:lnTo>
                      <a:pt x="95" y="19"/>
                    </a:lnTo>
                    <a:lnTo>
                      <a:pt x="92" y="22"/>
                    </a:lnTo>
                    <a:lnTo>
                      <a:pt x="77" y="19"/>
                    </a:lnTo>
                    <a:lnTo>
                      <a:pt x="68" y="13"/>
                    </a:lnTo>
                    <a:lnTo>
                      <a:pt x="62" y="9"/>
                    </a:lnTo>
                    <a:lnTo>
                      <a:pt x="52" y="3"/>
                    </a:lnTo>
                    <a:lnTo>
                      <a:pt x="43" y="6"/>
                    </a:lnTo>
                    <a:lnTo>
                      <a:pt x="37" y="13"/>
                    </a:lnTo>
                    <a:lnTo>
                      <a:pt x="31" y="22"/>
                    </a:lnTo>
                    <a:lnTo>
                      <a:pt x="28" y="25"/>
                    </a:lnTo>
                    <a:lnTo>
                      <a:pt x="21" y="25"/>
                    </a:lnTo>
                    <a:lnTo>
                      <a:pt x="9" y="25"/>
                    </a:lnTo>
                    <a:lnTo>
                      <a:pt x="0" y="19"/>
                    </a:lnTo>
                    <a:lnTo>
                      <a:pt x="0" y="16"/>
                    </a:lnTo>
                    <a:lnTo>
                      <a:pt x="3" y="1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1" name="Freeform 179"/>
              <p:cNvSpPr>
                <a:spLocks/>
              </p:cNvSpPr>
              <p:nvPr/>
            </p:nvSpPr>
            <p:spPr bwMode="auto">
              <a:xfrm>
                <a:off x="3113" y="1166"/>
                <a:ext cx="15" cy="43"/>
              </a:xfrm>
              <a:custGeom>
                <a:avLst/>
                <a:gdLst>
                  <a:gd name="T0" fmla="*/ 0 w 15"/>
                  <a:gd name="T1" fmla="*/ 0 h 43"/>
                  <a:gd name="T2" fmla="*/ 15 w 15"/>
                  <a:gd name="T3" fmla="*/ 9 h 43"/>
                  <a:gd name="T4" fmla="*/ 15 w 15"/>
                  <a:gd name="T5" fmla="*/ 15 h 43"/>
                  <a:gd name="T6" fmla="*/ 15 w 15"/>
                  <a:gd name="T7" fmla="*/ 22 h 43"/>
                  <a:gd name="T8" fmla="*/ 15 w 15"/>
                  <a:gd name="T9" fmla="*/ 40 h 43"/>
                  <a:gd name="T10" fmla="*/ 15 w 15"/>
                  <a:gd name="T11" fmla="*/ 43 h 43"/>
                  <a:gd name="T12" fmla="*/ 12 w 15"/>
                  <a:gd name="T13" fmla="*/ 40 h 43"/>
                  <a:gd name="T14" fmla="*/ 6 w 15"/>
                  <a:gd name="T15" fmla="*/ 19 h 43"/>
                  <a:gd name="T16" fmla="*/ 9 w 15"/>
                  <a:gd name="T17" fmla="*/ 12 h 43"/>
                  <a:gd name="T18" fmla="*/ 6 w 15"/>
                  <a:gd name="T19" fmla="*/ 6 h 43"/>
                  <a:gd name="T20" fmla="*/ 0 w 15"/>
                  <a:gd name="T21" fmla="*/ 6 h 43"/>
                  <a:gd name="T22" fmla="*/ 0 w 15"/>
                  <a:gd name="T23" fmla="*/ 3 h 43"/>
                  <a:gd name="T24" fmla="*/ 0 w 15"/>
                  <a:gd name="T25" fmla="*/ 0 h 43"/>
                  <a:gd name="T26" fmla="*/ 0 w 15"/>
                  <a:gd name="T27" fmla="*/ 0 h 43"/>
                  <a:gd name="T28" fmla="*/ 0 w 15"/>
                  <a:gd name="T29" fmla="*/ 0 h 4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"/>
                  <a:gd name="T46" fmla="*/ 0 h 43"/>
                  <a:gd name="T47" fmla="*/ 15 w 15"/>
                  <a:gd name="T48" fmla="*/ 43 h 4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" h="43">
                    <a:moveTo>
                      <a:pt x="0" y="0"/>
                    </a:moveTo>
                    <a:lnTo>
                      <a:pt x="15" y="9"/>
                    </a:lnTo>
                    <a:lnTo>
                      <a:pt x="15" y="15"/>
                    </a:lnTo>
                    <a:lnTo>
                      <a:pt x="15" y="22"/>
                    </a:lnTo>
                    <a:lnTo>
                      <a:pt x="15" y="40"/>
                    </a:lnTo>
                    <a:lnTo>
                      <a:pt x="15" y="43"/>
                    </a:lnTo>
                    <a:lnTo>
                      <a:pt x="12" y="40"/>
                    </a:lnTo>
                    <a:lnTo>
                      <a:pt x="6" y="19"/>
                    </a:lnTo>
                    <a:lnTo>
                      <a:pt x="9" y="12"/>
                    </a:lnTo>
                    <a:lnTo>
                      <a:pt x="6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2" name="Freeform 180"/>
              <p:cNvSpPr>
                <a:spLocks/>
              </p:cNvSpPr>
              <p:nvPr/>
            </p:nvSpPr>
            <p:spPr bwMode="auto">
              <a:xfrm>
                <a:off x="3141" y="1181"/>
                <a:ext cx="31" cy="53"/>
              </a:xfrm>
              <a:custGeom>
                <a:avLst/>
                <a:gdLst>
                  <a:gd name="T0" fmla="*/ 3 w 31"/>
                  <a:gd name="T1" fmla="*/ 0 h 53"/>
                  <a:gd name="T2" fmla="*/ 24 w 31"/>
                  <a:gd name="T3" fmla="*/ 7 h 53"/>
                  <a:gd name="T4" fmla="*/ 31 w 31"/>
                  <a:gd name="T5" fmla="*/ 19 h 53"/>
                  <a:gd name="T6" fmla="*/ 28 w 31"/>
                  <a:gd name="T7" fmla="*/ 31 h 53"/>
                  <a:gd name="T8" fmla="*/ 21 w 31"/>
                  <a:gd name="T9" fmla="*/ 41 h 53"/>
                  <a:gd name="T10" fmla="*/ 18 w 31"/>
                  <a:gd name="T11" fmla="*/ 47 h 53"/>
                  <a:gd name="T12" fmla="*/ 12 w 31"/>
                  <a:gd name="T13" fmla="*/ 53 h 53"/>
                  <a:gd name="T14" fmla="*/ 9 w 31"/>
                  <a:gd name="T15" fmla="*/ 53 h 53"/>
                  <a:gd name="T16" fmla="*/ 9 w 31"/>
                  <a:gd name="T17" fmla="*/ 47 h 53"/>
                  <a:gd name="T18" fmla="*/ 12 w 31"/>
                  <a:gd name="T19" fmla="*/ 38 h 53"/>
                  <a:gd name="T20" fmla="*/ 15 w 31"/>
                  <a:gd name="T21" fmla="*/ 31 h 53"/>
                  <a:gd name="T22" fmla="*/ 18 w 31"/>
                  <a:gd name="T23" fmla="*/ 25 h 53"/>
                  <a:gd name="T24" fmla="*/ 21 w 31"/>
                  <a:gd name="T25" fmla="*/ 10 h 53"/>
                  <a:gd name="T26" fmla="*/ 12 w 31"/>
                  <a:gd name="T27" fmla="*/ 7 h 53"/>
                  <a:gd name="T28" fmla="*/ 3 w 31"/>
                  <a:gd name="T29" fmla="*/ 4 h 53"/>
                  <a:gd name="T30" fmla="*/ 0 w 31"/>
                  <a:gd name="T31" fmla="*/ 4 h 53"/>
                  <a:gd name="T32" fmla="*/ 3 w 31"/>
                  <a:gd name="T33" fmla="*/ 0 h 53"/>
                  <a:gd name="T34" fmla="*/ 3 w 31"/>
                  <a:gd name="T35" fmla="*/ 0 h 53"/>
                  <a:gd name="T36" fmla="*/ 3 w 31"/>
                  <a:gd name="T37" fmla="*/ 0 h 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1"/>
                  <a:gd name="T58" fmla="*/ 0 h 53"/>
                  <a:gd name="T59" fmla="*/ 31 w 31"/>
                  <a:gd name="T60" fmla="*/ 53 h 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1" h="53">
                    <a:moveTo>
                      <a:pt x="3" y="0"/>
                    </a:moveTo>
                    <a:lnTo>
                      <a:pt x="24" y="7"/>
                    </a:lnTo>
                    <a:lnTo>
                      <a:pt x="31" y="19"/>
                    </a:lnTo>
                    <a:lnTo>
                      <a:pt x="28" y="31"/>
                    </a:lnTo>
                    <a:lnTo>
                      <a:pt x="21" y="41"/>
                    </a:lnTo>
                    <a:lnTo>
                      <a:pt x="18" y="47"/>
                    </a:lnTo>
                    <a:lnTo>
                      <a:pt x="12" y="53"/>
                    </a:lnTo>
                    <a:lnTo>
                      <a:pt x="9" y="53"/>
                    </a:lnTo>
                    <a:lnTo>
                      <a:pt x="9" y="47"/>
                    </a:lnTo>
                    <a:lnTo>
                      <a:pt x="12" y="38"/>
                    </a:lnTo>
                    <a:lnTo>
                      <a:pt x="15" y="31"/>
                    </a:lnTo>
                    <a:lnTo>
                      <a:pt x="18" y="25"/>
                    </a:lnTo>
                    <a:lnTo>
                      <a:pt x="21" y="10"/>
                    </a:lnTo>
                    <a:lnTo>
                      <a:pt x="12" y="7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3" name="Freeform 181"/>
              <p:cNvSpPr>
                <a:spLocks/>
              </p:cNvSpPr>
              <p:nvPr/>
            </p:nvSpPr>
            <p:spPr bwMode="auto">
              <a:xfrm>
                <a:off x="2810" y="1089"/>
                <a:ext cx="9" cy="43"/>
              </a:xfrm>
              <a:custGeom>
                <a:avLst/>
                <a:gdLst>
                  <a:gd name="T0" fmla="*/ 9 w 9"/>
                  <a:gd name="T1" fmla="*/ 3 h 43"/>
                  <a:gd name="T2" fmla="*/ 9 w 9"/>
                  <a:gd name="T3" fmla="*/ 15 h 43"/>
                  <a:gd name="T4" fmla="*/ 9 w 9"/>
                  <a:gd name="T5" fmla="*/ 21 h 43"/>
                  <a:gd name="T6" fmla="*/ 6 w 9"/>
                  <a:gd name="T7" fmla="*/ 31 h 43"/>
                  <a:gd name="T8" fmla="*/ 3 w 9"/>
                  <a:gd name="T9" fmla="*/ 43 h 43"/>
                  <a:gd name="T10" fmla="*/ 0 w 9"/>
                  <a:gd name="T11" fmla="*/ 43 h 43"/>
                  <a:gd name="T12" fmla="*/ 0 w 9"/>
                  <a:gd name="T13" fmla="*/ 40 h 43"/>
                  <a:gd name="T14" fmla="*/ 0 w 9"/>
                  <a:gd name="T15" fmla="*/ 21 h 43"/>
                  <a:gd name="T16" fmla="*/ 3 w 9"/>
                  <a:gd name="T17" fmla="*/ 12 h 43"/>
                  <a:gd name="T18" fmla="*/ 3 w 9"/>
                  <a:gd name="T19" fmla="*/ 3 h 43"/>
                  <a:gd name="T20" fmla="*/ 6 w 9"/>
                  <a:gd name="T21" fmla="*/ 0 h 43"/>
                  <a:gd name="T22" fmla="*/ 6 w 9"/>
                  <a:gd name="T23" fmla="*/ 0 h 43"/>
                  <a:gd name="T24" fmla="*/ 9 w 9"/>
                  <a:gd name="T25" fmla="*/ 3 h 43"/>
                  <a:gd name="T26" fmla="*/ 9 w 9"/>
                  <a:gd name="T27" fmla="*/ 3 h 43"/>
                  <a:gd name="T28" fmla="*/ 9 w 9"/>
                  <a:gd name="T29" fmla="*/ 3 h 4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"/>
                  <a:gd name="T46" fmla="*/ 0 h 43"/>
                  <a:gd name="T47" fmla="*/ 9 w 9"/>
                  <a:gd name="T48" fmla="*/ 43 h 4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" h="43">
                    <a:moveTo>
                      <a:pt x="9" y="3"/>
                    </a:moveTo>
                    <a:lnTo>
                      <a:pt x="9" y="15"/>
                    </a:lnTo>
                    <a:lnTo>
                      <a:pt x="9" y="21"/>
                    </a:lnTo>
                    <a:lnTo>
                      <a:pt x="6" y="31"/>
                    </a:lnTo>
                    <a:lnTo>
                      <a:pt x="3" y="43"/>
                    </a:lnTo>
                    <a:lnTo>
                      <a:pt x="0" y="43"/>
                    </a:lnTo>
                    <a:lnTo>
                      <a:pt x="0" y="40"/>
                    </a:lnTo>
                    <a:lnTo>
                      <a:pt x="0" y="21"/>
                    </a:lnTo>
                    <a:lnTo>
                      <a:pt x="3" y="12"/>
                    </a:lnTo>
                    <a:lnTo>
                      <a:pt x="3" y="3"/>
                    </a:lnTo>
                    <a:lnTo>
                      <a:pt x="6" y="0"/>
                    </a:ln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4" name="Freeform 182"/>
              <p:cNvSpPr>
                <a:spLocks/>
              </p:cNvSpPr>
              <p:nvPr/>
            </p:nvSpPr>
            <p:spPr bwMode="auto">
              <a:xfrm>
                <a:off x="2835" y="1104"/>
                <a:ext cx="22" cy="47"/>
              </a:xfrm>
              <a:custGeom>
                <a:avLst/>
                <a:gdLst>
                  <a:gd name="T0" fmla="*/ 22 w 22"/>
                  <a:gd name="T1" fmla="*/ 0 h 47"/>
                  <a:gd name="T2" fmla="*/ 18 w 22"/>
                  <a:gd name="T3" fmla="*/ 16 h 47"/>
                  <a:gd name="T4" fmla="*/ 15 w 22"/>
                  <a:gd name="T5" fmla="*/ 31 h 47"/>
                  <a:gd name="T6" fmla="*/ 9 w 22"/>
                  <a:gd name="T7" fmla="*/ 43 h 47"/>
                  <a:gd name="T8" fmla="*/ 6 w 22"/>
                  <a:gd name="T9" fmla="*/ 47 h 47"/>
                  <a:gd name="T10" fmla="*/ 3 w 22"/>
                  <a:gd name="T11" fmla="*/ 47 h 47"/>
                  <a:gd name="T12" fmla="*/ 0 w 22"/>
                  <a:gd name="T13" fmla="*/ 40 h 47"/>
                  <a:gd name="T14" fmla="*/ 6 w 22"/>
                  <a:gd name="T15" fmla="*/ 28 h 47"/>
                  <a:gd name="T16" fmla="*/ 18 w 22"/>
                  <a:gd name="T17" fmla="*/ 0 h 47"/>
                  <a:gd name="T18" fmla="*/ 22 w 22"/>
                  <a:gd name="T19" fmla="*/ 0 h 47"/>
                  <a:gd name="T20" fmla="*/ 22 w 22"/>
                  <a:gd name="T21" fmla="*/ 0 h 47"/>
                  <a:gd name="T22" fmla="*/ 22 w 22"/>
                  <a:gd name="T23" fmla="*/ 0 h 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"/>
                  <a:gd name="T37" fmla="*/ 0 h 47"/>
                  <a:gd name="T38" fmla="*/ 22 w 22"/>
                  <a:gd name="T39" fmla="*/ 47 h 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" h="47">
                    <a:moveTo>
                      <a:pt x="22" y="0"/>
                    </a:moveTo>
                    <a:lnTo>
                      <a:pt x="18" y="16"/>
                    </a:lnTo>
                    <a:lnTo>
                      <a:pt x="15" y="31"/>
                    </a:lnTo>
                    <a:lnTo>
                      <a:pt x="9" y="43"/>
                    </a:lnTo>
                    <a:lnTo>
                      <a:pt x="6" y="47"/>
                    </a:lnTo>
                    <a:lnTo>
                      <a:pt x="3" y="47"/>
                    </a:lnTo>
                    <a:lnTo>
                      <a:pt x="0" y="40"/>
                    </a:lnTo>
                    <a:lnTo>
                      <a:pt x="6" y="28"/>
                    </a:lnTo>
                    <a:lnTo>
                      <a:pt x="18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5" name="Freeform 183"/>
              <p:cNvSpPr>
                <a:spLocks/>
              </p:cNvSpPr>
              <p:nvPr/>
            </p:nvSpPr>
            <p:spPr bwMode="auto">
              <a:xfrm>
                <a:off x="2832" y="1089"/>
                <a:ext cx="37" cy="40"/>
              </a:xfrm>
              <a:custGeom>
                <a:avLst/>
                <a:gdLst>
                  <a:gd name="T0" fmla="*/ 0 w 37"/>
                  <a:gd name="T1" fmla="*/ 0 h 40"/>
                  <a:gd name="T2" fmla="*/ 18 w 37"/>
                  <a:gd name="T3" fmla="*/ 3 h 40"/>
                  <a:gd name="T4" fmla="*/ 28 w 37"/>
                  <a:gd name="T5" fmla="*/ 15 h 40"/>
                  <a:gd name="T6" fmla="*/ 37 w 37"/>
                  <a:gd name="T7" fmla="*/ 37 h 40"/>
                  <a:gd name="T8" fmla="*/ 37 w 37"/>
                  <a:gd name="T9" fmla="*/ 40 h 40"/>
                  <a:gd name="T10" fmla="*/ 34 w 37"/>
                  <a:gd name="T11" fmla="*/ 37 h 40"/>
                  <a:gd name="T12" fmla="*/ 31 w 37"/>
                  <a:gd name="T13" fmla="*/ 34 h 40"/>
                  <a:gd name="T14" fmla="*/ 25 w 37"/>
                  <a:gd name="T15" fmla="*/ 31 h 40"/>
                  <a:gd name="T16" fmla="*/ 18 w 37"/>
                  <a:gd name="T17" fmla="*/ 21 h 40"/>
                  <a:gd name="T18" fmla="*/ 12 w 37"/>
                  <a:gd name="T19" fmla="*/ 9 h 40"/>
                  <a:gd name="T20" fmla="*/ 6 w 37"/>
                  <a:gd name="T21" fmla="*/ 3 h 40"/>
                  <a:gd name="T22" fmla="*/ 0 w 37"/>
                  <a:gd name="T23" fmla="*/ 3 h 40"/>
                  <a:gd name="T24" fmla="*/ 0 w 37"/>
                  <a:gd name="T25" fmla="*/ 0 h 40"/>
                  <a:gd name="T26" fmla="*/ 0 w 37"/>
                  <a:gd name="T27" fmla="*/ 0 h 40"/>
                  <a:gd name="T28" fmla="*/ 0 w 37"/>
                  <a:gd name="T29" fmla="*/ 0 h 40"/>
                  <a:gd name="T30" fmla="*/ 0 w 37"/>
                  <a:gd name="T31" fmla="*/ 0 h 4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7"/>
                  <a:gd name="T49" fmla="*/ 0 h 40"/>
                  <a:gd name="T50" fmla="*/ 37 w 37"/>
                  <a:gd name="T51" fmla="*/ 40 h 4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7" h="40">
                    <a:moveTo>
                      <a:pt x="0" y="0"/>
                    </a:moveTo>
                    <a:lnTo>
                      <a:pt x="18" y="3"/>
                    </a:lnTo>
                    <a:lnTo>
                      <a:pt x="28" y="15"/>
                    </a:lnTo>
                    <a:lnTo>
                      <a:pt x="37" y="37"/>
                    </a:lnTo>
                    <a:lnTo>
                      <a:pt x="37" y="40"/>
                    </a:lnTo>
                    <a:lnTo>
                      <a:pt x="34" y="37"/>
                    </a:lnTo>
                    <a:lnTo>
                      <a:pt x="31" y="34"/>
                    </a:lnTo>
                    <a:lnTo>
                      <a:pt x="25" y="31"/>
                    </a:lnTo>
                    <a:lnTo>
                      <a:pt x="18" y="21"/>
                    </a:lnTo>
                    <a:lnTo>
                      <a:pt x="12" y="9"/>
                    </a:lnTo>
                    <a:lnTo>
                      <a:pt x="6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6" name="Freeform 184"/>
              <p:cNvSpPr>
                <a:spLocks/>
              </p:cNvSpPr>
              <p:nvPr/>
            </p:nvSpPr>
            <p:spPr bwMode="auto">
              <a:xfrm>
                <a:off x="2798" y="1138"/>
                <a:ext cx="34" cy="269"/>
              </a:xfrm>
              <a:custGeom>
                <a:avLst/>
                <a:gdLst>
                  <a:gd name="T0" fmla="*/ 31 w 34"/>
                  <a:gd name="T1" fmla="*/ 3 h 269"/>
                  <a:gd name="T2" fmla="*/ 25 w 34"/>
                  <a:gd name="T3" fmla="*/ 9 h 269"/>
                  <a:gd name="T4" fmla="*/ 21 w 34"/>
                  <a:gd name="T5" fmla="*/ 16 h 269"/>
                  <a:gd name="T6" fmla="*/ 18 w 34"/>
                  <a:gd name="T7" fmla="*/ 34 h 269"/>
                  <a:gd name="T8" fmla="*/ 12 w 34"/>
                  <a:gd name="T9" fmla="*/ 56 h 269"/>
                  <a:gd name="T10" fmla="*/ 9 w 34"/>
                  <a:gd name="T11" fmla="*/ 77 h 269"/>
                  <a:gd name="T12" fmla="*/ 9 w 34"/>
                  <a:gd name="T13" fmla="*/ 87 h 269"/>
                  <a:gd name="T14" fmla="*/ 9 w 34"/>
                  <a:gd name="T15" fmla="*/ 102 h 269"/>
                  <a:gd name="T16" fmla="*/ 12 w 34"/>
                  <a:gd name="T17" fmla="*/ 118 h 269"/>
                  <a:gd name="T18" fmla="*/ 15 w 34"/>
                  <a:gd name="T19" fmla="*/ 133 h 269"/>
                  <a:gd name="T20" fmla="*/ 18 w 34"/>
                  <a:gd name="T21" fmla="*/ 149 h 269"/>
                  <a:gd name="T22" fmla="*/ 21 w 34"/>
                  <a:gd name="T23" fmla="*/ 164 h 269"/>
                  <a:gd name="T24" fmla="*/ 18 w 34"/>
                  <a:gd name="T25" fmla="*/ 179 h 269"/>
                  <a:gd name="T26" fmla="*/ 18 w 34"/>
                  <a:gd name="T27" fmla="*/ 195 h 269"/>
                  <a:gd name="T28" fmla="*/ 12 w 34"/>
                  <a:gd name="T29" fmla="*/ 223 h 269"/>
                  <a:gd name="T30" fmla="*/ 9 w 34"/>
                  <a:gd name="T31" fmla="*/ 244 h 269"/>
                  <a:gd name="T32" fmla="*/ 12 w 34"/>
                  <a:gd name="T33" fmla="*/ 247 h 269"/>
                  <a:gd name="T34" fmla="*/ 18 w 34"/>
                  <a:gd name="T35" fmla="*/ 254 h 269"/>
                  <a:gd name="T36" fmla="*/ 21 w 34"/>
                  <a:gd name="T37" fmla="*/ 266 h 269"/>
                  <a:gd name="T38" fmla="*/ 21 w 34"/>
                  <a:gd name="T39" fmla="*/ 269 h 269"/>
                  <a:gd name="T40" fmla="*/ 21 w 34"/>
                  <a:gd name="T41" fmla="*/ 269 h 269"/>
                  <a:gd name="T42" fmla="*/ 6 w 34"/>
                  <a:gd name="T43" fmla="*/ 257 h 269"/>
                  <a:gd name="T44" fmla="*/ 6 w 34"/>
                  <a:gd name="T45" fmla="*/ 241 h 269"/>
                  <a:gd name="T46" fmla="*/ 9 w 34"/>
                  <a:gd name="T47" fmla="*/ 223 h 269"/>
                  <a:gd name="T48" fmla="*/ 12 w 34"/>
                  <a:gd name="T49" fmla="*/ 167 h 269"/>
                  <a:gd name="T50" fmla="*/ 6 w 34"/>
                  <a:gd name="T51" fmla="*/ 133 h 269"/>
                  <a:gd name="T52" fmla="*/ 3 w 34"/>
                  <a:gd name="T53" fmla="*/ 118 h 269"/>
                  <a:gd name="T54" fmla="*/ 0 w 34"/>
                  <a:gd name="T55" fmla="*/ 87 h 269"/>
                  <a:gd name="T56" fmla="*/ 0 w 34"/>
                  <a:gd name="T57" fmla="*/ 77 h 269"/>
                  <a:gd name="T58" fmla="*/ 9 w 34"/>
                  <a:gd name="T59" fmla="*/ 31 h 269"/>
                  <a:gd name="T60" fmla="*/ 18 w 34"/>
                  <a:gd name="T61" fmla="*/ 13 h 269"/>
                  <a:gd name="T62" fmla="*/ 21 w 34"/>
                  <a:gd name="T63" fmla="*/ 3 h 269"/>
                  <a:gd name="T64" fmla="*/ 31 w 34"/>
                  <a:gd name="T65" fmla="*/ 0 h 269"/>
                  <a:gd name="T66" fmla="*/ 34 w 34"/>
                  <a:gd name="T67" fmla="*/ 0 h 269"/>
                  <a:gd name="T68" fmla="*/ 31 w 34"/>
                  <a:gd name="T69" fmla="*/ 3 h 269"/>
                  <a:gd name="T70" fmla="*/ 31 w 34"/>
                  <a:gd name="T71" fmla="*/ 3 h 269"/>
                  <a:gd name="T72" fmla="*/ 31 w 34"/>
                  <a:gd name="T73" fmla="*/ 3 h 26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4"/>
                  <a:gd name="T112" fmla="*/ 0 h 269"/>
                  <a:gd name="T113" fmla="*/ 34 w 34"/>
                  <a:gd name="T114" fmla="*/ 269 h 26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4" h="269">
                    <a:moveTo>
                      <a:pt x="31" y="3"/>
                    </a:moveTo>
                    <a:lnTo>
                      <a:pt x="25" y="9"/>
                    </a:lnTo>
                    <a:lnTo>
                      <a:pt x="21" y="16"/>
                    </a:lnTo>
                    <a:lnTo>
                      <a:pt x="18" y="34"/>
                    </a:lnTo>
                    <a:lnTo>
                      <a:pt x="12" y="56"/>
                    </a:lnTo>
                    <a:lnTo>
                      <a:pt x="9" y="77"/>
                    </a:lnTo>
                    <a:lnTo>
                      <a:pt x="9" y="87"/>
                    </a:lnTo>
                    <a:lnTo>
                      <a:pt x="9" y="102"/>
                    </a:lnTo>
                    <a:lnTo>
                      <a:pt x="12" y="118"/>
                    </a:lnTo>
                    <a:lnTo>
                      <a:pt x="15" y="133"/>
                    </a:lnTo>
                    <a:lnTo>
                      <a:pt x="18" y="149"/>
                    </a:lnTo>
                    <a:lnTo>
                      <a:pt x="21" y="164"/>
                    </a:lnTo>
                    <a:lnTo>
                      <a:pt x="18" y="179"/>
                    </a:lnTo>
                    <a:lnTo>
                      <a:pt x="18" y="195"/>
                    </a:lnTo>
                    <a:lnTo>
                      <a:pt x="12" y="223"/>
                    </a:lnTo>
                    <a:lnTo>
                      <a:pt x="9" y="244"/>
                    </a:lnTo>
                    <a:lnTo>
                      <a:pt x="12" y="247"/>
                    </a:lnTo>
                    <a:lnTo>
                      <a:pt x="18" y="254"/>
                    </a:lnTo>
                    <a:lnTo>
                      <a:pt x="21" y="266"/>
                    </a:lnTo>
                    <a:lnTo>
                      <a:pt x="21" y="269"/>
                    </a:lnTo>
                    <a:lnTo>
                      <a:pt x="6" y="257"/>
                    </a:lnTo>
                    <a:lnTo>
                      <a:pt x="6" y="241"/>
                    </a:lnTo>
                    <a:lnTo>
                      <a:pt x="9" y="223"/>
                    </a:lnTo>
                    <a:lnTo>
                      <a:pt x="12" y="167"/>
                    </a:lnTo>
                    <a:lnTo>
                      <a:pt x="6" y="133"/>
                    </a:lnTo>
                    <a:lnTo>
                      <a:pt x="3" y="118"/>
                    </a:lnTo>
                    <a:lnTo>
                      <a:pt x="0" y="87"/>
                    </a:lnTo>
                    <a:lnTo>
                      <a:pt x="0" y="77"/>
                    </a:lnTo>
                    <a:lnTo>
                      <a:pt x="9" y="31"/>
                    </a:lnTo>
                    <a:lnTo>
                      <a:pt x="18" y="13"/>
                    </a:lnTo>
                    <a:lnTo>
                      <a:pt x="21" y="3"/>
                    </a:lnTo>
                    <a:lnTo>
                      <a:pt x="31" y="0"/>
                    </a:lnTo>
                    <a:lnTo>
                      <a:pt x="34" y="0"/>
                    </a:lnTo>
                    <a:lnTo>
                      <a:pt x="3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7" name="Freeform 185"/>
              <p:cNvSpPr>
                <a:spLocks/>
              </p:cNvSpPr>
              <p:nvPr/>
            </p:nvSpPr>
            <p:spPr bwMode="auto">
              <a:xfrm>
                <a:off x="2835" y="1144"/>
                <a:ext cx="34" cy="170"/>
              </a:xfrm>
              <a:custGeom>
                <a:avLst/>
                <a:gdLst>
                  <a:gd name="T0" fmla="*/ 3 w 34"/>
                  <a:gd name="T1" fmla="*/ 0 h 170"/>
                  <a:gd name="T2" fmla="*/ 15 w 34"/>
                  <a:gd name="T3" fmla="*/ 34 h 170"/>
                  <a:gd name="T4" fmla="*/ 12 w 34"/>
                  <a:gd name="T5" fmla="*/ 44 h 170"/>
                  <a:gd name="T6" fmla="*/ 12 w 34"/>
                  <a:gd name="T7" fmla="*/ 53 h 170"/>
                  <a:gd name="T8" fmla="*/ 15 w 34"/>
                  <a:gd name="T9" fmla="*/ 81 h 170"/>
                  <a:gd name="T10" fmla="*/ 18 w 34"/>
                  <a:gd name="T11" fmla="*/ 93 h 170"/>
                  <a:gd name="T12" fmla="*/ 22 w 34"/>
                  <a:gd name="T13" fmla="*/ 102 h 170"/>
                  <a:gd name="T14" fmla="*/ 28 w 34"/>
                  <a:gd name="T15" fmla="*/ 124 h 170"/>
                  <a:gd name="T16" fmla="*/ 34 w 34"/>
                  <a:gd name="T17" fmla="*/ 146 h 170"/>
                  <a:gd name="T18" fmla="*/ 34 w 34"/>
                  <a:gd name="T19" fmla="*/ 170 h 170"/>
                  <a:gd name="T20" fmla="*/ 31 w 34"/>
                  <a:gd name="T21" fmla="*/ 170 h 170"/>
                  <a:gd name="T22" fmla="*/ 31 w 34"/>
                  <a:gd name="T23" fmla="*/ 170 h 170"/>
                  <a:gd name="T24" fmla="*/ 28 w 34"/>
                  <a:gd name="T25" fmla="*/ 158 h 170"/>
                  <a:gd name="T26" fmla="*/ 25 w 34"/>
                  <a:gd name="T27" fmla="*/ 149 h 170"/>
                  <a:gd name="T28" fmla="*/ 15 w 34"/>
                  <a:gd name="T29" fmla="*/ 127 h 170"/>
                  <a:gd name="T30" fmla="*/ 12 w 34"/>
                  <a:gd name="T31" fmla="*/ 115 h 170"/>
                  <a:gd name="T32" fmla="*/ 9 w 34"/>
                  <a:gd name="T33" fmla="*/ 105 h 170"/>
                  <a:gd name="T34" fmla="*/ 6 w 34"/>
                  <a:gd name="T35" fmla="*/ 84 h 170"/>
                  <a:gd name="T36" fmla="*/ 6 w 34"/>
                  <a:gd name="T37" fmla="*/ 68 h 170"/>
                  <a:gd name="T38" fmla="*/ 6 w 34"/>
                  <a:gd name="T39" fmla="*/ 53 h 170"/>
                  <a:gd name="T40" fmla="*/ 6 w 34"/>
                  <a:gd name="T41" fmla="*/ 41 h 170"/>
                  <a:gd name="T42" fmla="*/ 6 w 34"/>
                  <a:gd name="T43" fmla="*/ 37 h 170"/>
                  <a:gd name="T44" fmla="*/ 0 w 34"/>
                  <a:gd name="T45" fmla="*/ 3 h 170"/>
                  <a:gd name="T46" fmla="*/ 0 w 34"/>
                  <a:gd name="T47" fmla="*/ 0 h 170"/>
                  <a:gd name="T48" fmla="*/ 3 w 34"/>
                  <a:gd name="T49" fmla="*/ 0 h 170"/>
                  <a:gd name="T50" fmla="*/ 3 w 34"/>
                  <a:gd name="T51" fmla="*/ 0 h 170"/>
                  <a:gd name="T52" fmla="*/ 3 w 34"/>
                  <a:gd name="T53" fmla="*/ 0 h 17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4"/>
                  <a:gd name="T82" fmla="*/ 0 h 170"/>
                  <a:gd name="T83" fmla="*/ 34 w 34"/>
                  <a:gd name="T84" fmla="*/ 170 h 17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4" h="170">
                    <a:moveTo>
                      <a:pt x="3" y="0"/>
                    </a:moveTo>
                    <a:lnTo>
                      <a:pt x="15" y="34"/>
                    </a:lnTo>
                    <a:lnTo>
                      <a:pt x="12" y="44"/>
                    </a:lnTo>
                    <a:lnTo>
                      <a:pt x="12" y="53"/>
                    </a:lnTo>
                    <a:lnTo>
                      <a:pt x="15" y="81"/>
                    </a:lnTo>
                    <a:lnTo>
                      <a:pt x="18" y="93"/>
                    </a:lnTo>
                    <a:lnTo>
                      <a:pt x="22" y="102"/>
                    </a:lnTo>
                    <a:lnTo>
                      <a:pt x="28" y="124"/>
                    </a:lnTo>
                    <a:lnTo>
                      <a:pt x="34" y="146"/>
                    </a:lnTo>
                    <a:lnTo>
                      <a:pt x="34" y="170"/>
                    </a:lnTo>
                    <a:lnTo>
                      <a:pt x="31" y="170"/>
                    </a:lnTo>
                    <a:lnTo>
                      <a:pt x="28" y="158"/>
                    </a:lnTo>
                    <a:lnTo>
                      <a:pt x="25" y="149"/>
                    </a:lnTo>
                    <a:lnTo>
                      <a:pt x="15" y="127"/>
                    </a:lnTo>
                    <a:lnTo>
                      <a:pt x="12" y="115"/>
                    </a:lnTo>
                    <a:lnTo>
                      <a:pt x="9" y="105"/>
                    </a:lnTo>
                    <a:lnTo>
                      <a:pt x="6" y="84"/>
                    </a:lnTo>
                    <a:lnTo>
                      <a:pt x="6" y="68"/>
                    </a:lnTo>
                    <a:lnTo>
                      <a:pt x="6" y="53"/>
                    </a:lnTo>
                    <a:lnTo>
                      <a:pt x="6" y="41"/>
                    </a:lnTo>
                    <a:lnTo>
                      <a:pt x="6" y="3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8" name="Freeform 186"/>
              <p:cNvSpPr>
                <a:spLocks/>
              </p:cNvSpPr>
              <p:nvPr/>
            </p:nvSpPr>
            <p:spPr bwMode="auto">
              <a:xfrm>
                <a:off x="2884" y="987"/>
                <a:ext cx="53" cy="148"/>
              </a:xfrm>
              <a:custGeom>
                <a:avLst/>
                <a:gdLst>
                  <a:gd name="T0" fmla="*/ 53 w 53"/>
                  <a:gd name="T1" fmla="*/ 3 h 148"/>
                  <a:gd name="T2" fmla="*/ 44 w 53"/>
                  <a:gd name="T3" fmla="*/ 9 h 148"/>
                  <a:gd name="T4" fmla="*/ 37 w 53"/>
                  <a:gd name="T5" fmla="*/ 12 h 148"/>
                  <a:gd name="T6" fmla="*/ 28 w 53"/>
                  <a:gd name="T7" fmla="*/ 25 h 148"/>
                  <a:gd name="T8" fmla="*/ 19 w 53"/>
                  <a:gd name="T9" fmla="*/ 52 h 148"/>
                  <a:gd name="T10" fmla="*/ 13 w 53"/>
                  <a:gd name="T11" fmla="*/ 68 h 148"/>
                  <a:gd name="T12" fmla="*/ 13 w 53"/>
                  <a:gd name="T13" fmla="*/ 108 h 148"/>
                  <a:gd name="T14" fmla="*/ 16 w 53"/>
                  <a:gd name="T15" fmla="*/ 145 h 148"/>
                  <a:gd name="T16" fmla="*/ 13 w 53"/>
                  <a:gd name="T17" fmla="*/ 148 h 148"/>
                  <a:gd name="T18" fmla="*/ 13 w 53"/>
                  <a:gd name="T19" fmla="*/ 148 h 148"/>
                  <a:gd name="T20" fmla="*/ 0 w 53"/>
                  <a:gd name="T21" fmla="*/ 65 h 148"/>
                  <a:gd name="T22" fmla="*/ 7 w 53"/>
                  <a:gd name="T23" fmla="*/ 49 h 148"/>
                  <a:gd name="T24" fmla="*/ 7 w 53"/>
                  <a:gd name="T25" fmla="*/ 40 h 148"/>
                  <a:gd name="T26" fmla="*/ 10 w 53"/>
                  <a:gd name="T27" fmla="*/ 34 h 148"/>
                  <a:gd name="T28" fmla="*/ 16 w 53"/>
                  <a:gd name="T29" fmla="*/ 28 h 148"/>
                  <a:gd name="T30" fmla="*/ 22 w 53"/>
                  <a:gd name="T31" fmla="*/ 21 h 148"/>
                  <a:gd name="T32" fmla="*/ 28 w 53"/>
                  <a:gd name="T33" fmla="*/ 15 h 148"/>
                  <a:gd name="T34" fmla="*/ 34 w 53"/>
                  <a:gd name="T35" fmla="*/ 9 h 148"/>
                  <a:gd name="T36" fmla="*/ 40 w 53"/>
                  <a:gd name="T37" fmla="*/ 6 h 148"/>
                  <a:gd name="T38" fmla="*/ 50 w 53"/>
                  <a:gd name="T39" fmla="*/ 0 h 148"/>
                  <a:gd name="T40" fmla="*/ 53 w 53"/>
                  <a:gd name="T41" fmla="*/ 0 h 148"/>
                  <a:gd name="T42" fmla="*/ 53 w 53"/>
                  <a:gd name="T43" fmla="*/ 3 h 148"/>
                  <a:gd name="T44" fmla="*/ 53 w 53"/>
                  <a:gd name="T45" fmla="*/ 3 h 148"/>
                  <a:gd name="T46" fmla="*/ 53 w 53"/>
                  <a:gd name="T47" fmla="*/ 3 h 14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3"/>
                  <a:gd name="T73" fmla="*/ 0 h 148"/>
                  <a:gd name="T74" fmla="*/ 53 w 53"/>
                  <a:gd name="T75" fmla="*/ 148 h 14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3" h="148">
                    <a:moveTo>
                      <a:pt x="53" y="3"/>
                    </a:moveTo>
                    <a:lnTo>
                      <a:pt x="44" y="9"/>
                    </a:lnTo>
                    <a:lnTo>
                      <a:pt x="37" y="12"/>
                    </a:lnTo>
                    <a:lnTo>
                      <a:pt x="28" y="25"/>
                    </a:lnTo>
                    <a:lnTo>
                      <a:pt x="19" y="52"/>
                    </a:lnTo>
                    <a:lnTo>
                      <a:pt x="13" y="68"/>
                    </a:lnTo>
                    <a:lnTo>
                      <a:pt x="13" y="108"/>
                    </a:lnTo>
                    <a:lnTo>
                      <a:pt x="16" y="145"/>
                    </a:lnTo>
                    <a:lnTo>
                      <a:pt x="13" y="148"/>
                    </a:lnTo>
                    <a:lnTo>
                      <a:pt x="0" y="65"/>
                    </a:lnTo>
                    <a:lnTo>
                      <a:pt x="7" y="49"/>
                    </a:lnTo>
                    <a:lnTo>
                      <a:pt x="7" y="40"/>
                    </a:lnTo>
                    <a:lnTo>
                      <a:pt x="10" y="34"/>
                    </a:lnTo>
                    <a:lnTo>
                      <a:pt x="16" y="28"/>
                    </a:lnTo>
                    <a:lnTo>
                      <a:pt x="22" y="21"/>
                    </a:lnTo>
                    <a:lnTo>
                      <a:pt x="28" y="15"/>
                    </a:lnTo>
                    <a:lnTo>
                      <a:pt x="34" y="9"/>
                    </a:lnTo>
                    <a:lnTo>
                      <a:pt x="40" y="6"/>
                    </a:lnTo>
                    <a:lnTo>
                      <a:pt x="50" y="0"/>
                    </a:lnTo>
                    <a:lnTo>
                      <a:pt x="53" y="0"/>
                    </a:ln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19" name="Freeform 187"/>
              <p:cNvSpPr>
                <a:spLocks/>
              </p:cNvSpPr>
              <p:nvPr/>
            </p:nvSpPr>
            <p:spPr bwMode="auto">
              <a:xfrm>
                <a:off x="2887" y="1049"/>
                <a:ext cx="47" cy="225"/>
              </a:xfrm>
              <a:custGeom>
                <a:avLst/>
                <a:gdLst>
                  <a:gd name="T0" fmla="*/ 47 w 47"/>
                  <a:gd name="T1" fmla="*/ 0 h 225"/>
                  <a:gd name="T2" fmla="*/ 31 w 47"/>
                  <a:gd name="T3" fmla="*/ 18 h 225"/>
                  <a:gd name="T4" fmla="*/ 25 w 47"/>
                  <a:gd name="T5" fmla="*/ 40 h 225"/>
                  <a:gd name="T6" fmla="*/ 22 w 47"/>
                  <a:gd name="T7" fmla="*/ 58 h 225"/>
                  <a:gd name="T8" fmla="*/ 16 w 47"/>
                  <a:gd name="T9" fmla="*/ 83 h 225"/>
                  <a:gd name="T10" fmla="*/ 13 w 47"/>
                  <a:gd name="T11" fmla="*/ 98 h 225"/>
                  <a:gd name="T12" fmla="*/ 13 w 47"/>
                  <a:gd name="T13" fmla="*/ 114 h 225"/>
                  <a:gd name="T14" fmla="*/ 16 w 47"/>
                  <a:gd name="T15" fmla="*/ 132 h 225"/>
                  <a:gd name="T16" fmla="*/ 19 w 47"/>
                  <a:gd name="T17" fmla="*/ 160 h 225"/>
                  <a:gd name="T18" fmla="*/ 19 w 47"/>
                  <a:gd name="T19" fmla="*/ 173 h 225"/>
                  <a:gd name="T20" fmla="*/ 19 w 47"/>
                  <a:gd name="T21" fmla="*/ 185 h 225"/>
                  <a:gd name="T22" fmla="*/ 16 w 47"/>
                  <a:gd name="T23" fmla="*/ 194 h 225"/>
                  <a:gd name="T24" fmla="*/ 7 w 47"/>
                  <a:gd name="T25" fmla="*/ 225 h 225"/>
                  <a:gd name="T26" fmla="*/ 7 w 47"/>
                  <a:gd name="T27" fmla="*/ 225 h 225"/>
                  <a:gd name="T28" fmla="*/ 4 w 47"/>
                  <a:gd name="T29" fmla="*/ 222 h 225"/>
                  <a:gd name="T30" fmla="*/ 7 w 47"/>
                  <a:gd name="T31" fmla="*/ 207 h 225"/>
                  <a:gd name="T32" fmla="*/ 7 w 47"/>
                  <a:gd name="T33" fmla="*/ 194 h 225"/>
                  <a:gd name="T34" fmla="*/ 10 w 47"/>
                  <a:gd name="T35" fmla="*/ 173 h 225"/>
                  <a:gd name="T36" fmla="*/ 10 w 47"/>
                  <a:gd name="T37" fmla="*/ 160 h 225"/>
                  <a:gd name="T38" fmla="*/ 7 w 47"/>
                  <a:gd name="T39" fmla="*/ 136 h 225"/>
                  <a:gd name="T40" fmla="*/ 0 w 47"/>
                  <a:gd name="T41" fmla="*/ 114 h 225"/>
                  <a:gd name="T42" fmla="*/ 0 w 47"/>
                  <a:gd name="T43" fmla="*/ 95 h 225"/>
                  <a:gd name="T44" fmla="*/ 4 w 47"/>
                  <a:gd name="T45" fmla="*/ 77 h 225"/>
                  <a:gd name="T46" fmla="*/ 13 w 47"/>
                  <a:gd name="T47" fmla="*/ 55 h 225"/>
                  <a:gd name="T48" fmla="*/ 19 w 47"/>
                  <a:gd name="T49" fmla="*/ 34 h 225"/>
                  <a:gd name="T50" fmla="*/ 22 w 47"/>
                  <a:gd name="T51" fmla="*/ 24 h 225"/>
                  <a:gd name="T52" fmla="*/ 28 w 47"/>
                  <a:gd name="T53" fmla="*/ 18 h 225"/>
                  <a:gd name="T54" fmla="*/ 34 w 47"/>
                  <a:gd name="T55" fmla="*/ 9 h 225"/>
                  <a:gd name="T56" fmla="*/ 44 w 47"/>
                  <a:gd name="T57" fmla="*/ 0 h 225"/>
                  <a:gd name="T58" fmla="*/ 47 w 47"/>
                  <a:gd name="T59" fmla="*/ 0 h 225"/>
                  <a:gd name="T60" fmla="*/ 47 w 47"/>
                  <a:gd name="T61" fmla="*/ 0 h 225"/>
                  <a:gd name="T62" fmla="*/ 47 w 47"/>
                  <a:gd name="T63" fmla="*/ 0 h 225"/>
                  <a:gd name="T64" fmla="*/ 47 w 47"/>
                  <a:gd name="T65" fmla="*/ 0 h 225"/>
                  <a:gd name="T66" fmla="*/ 47 w 47"/>
                  <a:gd name="T67" fmla="*/ 0 h 22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7"/>
                  <a:gd name="T103" fmla="*/ 0 h 225"/>
                  <a:gd name="T104" fmla="*/ 47 w 47"/>
                  <a:gd name="T105" fmla="*/ 225 h 22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7" h="225">
                    <a:moveTo>
                      <a:pt x="47" y="0"/>
                    </a:moveTo>
                    <a:lnTo>
                      <a:pt x="31" y="18"/>
                    </a:lnTo>
                    <a:lnTo>
                      <a:pt x="25" y="40"/>
                    </a:lnTo>
                    <a:lnTo>
                      <a:pt x="22" y="58"/>
                    </a:lnTo>
                    <a:lnTo>
                      <a:pt x="16" y="83"/>
                    </a:lnTo>
                    <a:lnTo>
                      <a:pt x="13" y="98"/>
                    </a:lnTo>
                    <a:lnTo>
                      <a:pt x="13" y="114"/>
                    </a:lnTo>
                    <a:lnTo>
                      <a:pt x="16" y="132"/>
                    </a:lnTo>
                    <a:lnTo>
                      <a:pt x="19" y="160"/>
                    </a:lnTo>
                    <a:lnTo>
                      <a:pt x="19" y="173"/>
                    </a:lnTo>
                    <a:lnTo>
                      <a:pt x="19" y="185"/>
                    </a:lnTo>
                    <a:lnTo>
                      <a:pt x="16" y="194"/>
                    </a:lnTo>
                    <a:lnTo>
                      <a:pt x="7" y="225"/>
                    </a:lnTo>
                    <a:lnTo>
                      <a:pt x="4" y="222"/>
                    </a:lnTo>
                    <a:lnTo>
                      <a:pt x="7" y="207"/>
                    </a:lnTo>
                    <a:lnTo>
                      <a:pt x="7" y="194"/>
                    </a:lnTo>
                    <a:lnTo>
                      <a:pt x="10" y="173"/>
                    </a:lnTo>
                    <a:lnTo>
                      <a:pt x="10" y="160"/>
                    </a:lnTo>
                    <a:lnTo>
                      <a:pt x="7" y="136"/>
                    </a:lnTo>
                    <a:lnTo>
                      <a:pt x="0" y="114"/>
                    </a:lnTo>
                    <a:lnTo>
                      <a:pt x="0" y="95"/>
                    </a:lnTo>
                    <a:lnTo>
                      <a:pt x="4" y="77"/>
                    </a:lnTo>
                    <a:lnTo>
                      <a:pt x="13" y="55"/>
                    </a:lnTo>
                    <a:lnTo>
                      <a:pt x="19" y="34"/>
                    </a:lnTo>
                    <a:lnTo>
                      <a:pt x="22" y="24"/>
                    </a:lnTo>
                    <a:lnTo>
                      <a:pt x="28" y="18"/>
                    </a:lnTo>
                    <a:lnTo>
                      <a:pt x="34" y="9"/>
                    </a:lnTo>
                    <a:lnTo>
                      <a:pt x="44" y="0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0" name="Freeform 188"/>
              <p:cNvSpPr>
                <a:spLocks/>
              </p:cNvSpPr>
              <p:nvPr/>
            </p:nvSpPr>
            <p:spPr bwMode="auto">
              <a:xfrm>
                <a:off x="2952" y="1265"/>
                <a:ext cx="31" cy="49"/>
              </a:xfrm>
              <a:custGeom>
                <a:avLst/>
                <a:gdLst>
                  <a:gd name="T0" fmla="*/ 25 w 31"/>
                  <a:gd name="T1" fmla="*/ 49 h 49"/>
                  <a:gd name="T2" fmla="*/ 16 w 31"/>
                  <a:gd name="T3" fmla="*/ 40 h 49"/>
                  <a:gd name="T4" fmla="*/ 6 w 31"/>
                  <a:gd name="T5" fmla="*/ 31 h 49"/>
                  <a:gd name="T6" fmla="*/ 0 w 31"/>
                  <a:gd name="T7" fmla="*/ 6 h 49"/>
                  <a:gd name="T8" fmla="*/ 3 w 31"/>
                  <a:gd name="T9" fmla="*/ 0 h 49"/>
                  <a:gd name="T10" fmla="*/ 6 w 31"/>
                  <a:gd name="T11" fmla="*/ 0 h 49"/>
                  <a:gd name="T12" fmla="*/ 13 w 31"/>
                  <a:gd name="T13" fmla="*/ 0 h 49"/>
                  <a:gd name="T14" fmla="*/ 16 w 31"/>
                  <a:gd name="T15" fmla="*/ 6 h 49"/>
                  <a:gd name="T16" fmla="*/ 16 w 31"/>
                  <a:gd name="T17" fmla="*/ 28 h 49"/>
                  <a:gd name="T18" fmla="*/ 22 w 31"/>
                  <a:gd name="T19" fmla="*/ 37 h 49"/>
                  <a:gd name="T20" fmla="*/ 25 w 31"/>
                  <a:gd name="T21" fmla="*/ 40 h 49"/>
                  <a:gd name="T22" fmla="*/ 31 w 31"/>
                  <a:gd name="T23" fmla="*/ 43 h 49"/>
                  <a:gd name="T24" fmla="*/ 31 w 31"/>
                  <a:gd name="T25" fmla="*/ 49 h 49"/>
                  <a:gd name="T26" fmla="*/ 25 w 31"/>
                  <a:gd name="T27" fmla="*/ 49 h 49"/>
                  <a:gd name="T28" fmla="*/ 25 w 31"/>
                  <a:gd name="T29" fmla="*/ 49 h 49"/>
                  <a:gd name="T30" fmla="*/ 25 w 31"/>
                  <a:gd name="T31" fmla="*/ 49 h 4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"/>
                  <a:gd name="T49" fmla="*/ 0 h 49"/>
                  <a:gd name="T50" fmla="*/ 31 w 31"/>
                  <a:gd name="T51" fmla="*/ 49 h 4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" h="49">
                    <a:moveTo>
                      <a:pt x="25" y="49"/>
                    </a:moveTo>
                    <a:lnTo>
                      <a:pt x="16" y="40"/>
                    </a:lnTo>
                    <a:lnTo>
                      <a:pt x="6" y="31"/>
                    </a:lnTo>
                    <a:lnTo>
                      <a:pt x="0" y="6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13" y="0"/>
                    </a:lnTo>
                    <a:lnTo>
                      <a:pt x="16" y="6"/>
                    </a:lnTo>
                    <a:lnTo>
                      <a:pt x="16" y="28"/>
                    </a:lnTo>
                    <a:lnTo>
                      <a:pt x="22" y="37"/>
                    </a:lnTo>
                    <a:lnTo>
                      <a:pt x="25" y="40"/>
                    </a:lnTo>
                    <a:lnTo>
                      <a:pt x="31" y="43"/>
                    </a:lnTo>
                    <a:lnTo>
                      <a:pt x="31" y="49"/>
                    </a:lnTo>
                    <a:lnTo>
                      <a:pt x="25" y="4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1" name="Freeform 189"/>
              <p:cNvSpPr>
                <a:spLocks/>
              </p:cNvSpPr>
              <p:nvPr/>
            </p:nvSpPr>
            <p:spPr bwMode="auto">
              <a:xfrm>
                <a:off x="2863" y="1265"/>
                <a:ext cx="92" cy="93"/>
              </a:xfrm>
              <a:custGeom>
                <a:avLst/>
                <a:gdLst>
                  <a:gd name="T0" fmla="*/ 89 w 92"/>
                  <a:gd name="T1" fmla="*/ 6 h 93"/>
                  <a:gd name="T2" fmla="*/ 80 w 92"/>
                  <a:gd name="T3" fmla="*/ 12 h 93"/>
                  <a:gd name="T4" fmla="*/ 77 w 92"/>
                  <a:gd name="T5" fmla="*/ 15 h 93"/>
                  <a:gd name="T6" fmla="*/ 71 w 92"/>
                  <a:gd name="T7" fmla="*/ 18 h 93"/>
                  <a:gd name="T8" fmla="*/ 65 w 92"/>
                  <a:gd name="T9" fmla="*/ 25 h 93"/>
                  <a:gd name="T10" fmla="*/ 55 w 92"/>
                  <a:gd name="T11" fmla="*/ 25 h 93"/>
                  <a:gd name="T12" fmla="*/ 37 w 92"/>
                  <a:gd name="T13" fmla="*/ 28 h 93"/>
                  <a:gd name="T14" fmla="*/ 28 w 92"/>
                  <a:gd name="T15" fmla="*/ 25 h 93"/>
                  <a:gd name="T16" fmla="*/ 18 w 92"/>
                  <a:gd name="T17" fmla="*/ 22 h 93"/>
                  <a:gd name="T18" fmla="*/ 12 w 92"/>
                  <a:gd name="T19" fmla="*/ 46 h 93"/>
                  <a:gd name="T20" fmla="*/ 12 w 92"/>
                  <a:gd name="T21" fmla="*/ 65 h 93"/>
                  <a:gd name="T22" fmla="*/ 15 w 92"/>
                  <a:gd name="T23" fmla="*/ 71 h 93"/>
                  <a:gd name="T24" fmla="*/ 21 w 92"/>
                  <a:gd name="T25" fmla="*/ 80 h 93"/>
                  <a:gd name="T26" fmla="*/ 40 w 92"/>
                  <a:gd name="T27" fmla="*/ 86 h 93"/>
                  <a:gd name="T28" fmla="*/ 58 w 92"/>
                  <a:gd name="T29" fmla="*/ 86 h 93"/>
                  <a:gd name="T30" fmla="*/ 61 w 92"/>
                  <a:gd name="T31" fmla="*/ 89 h 93"/>
                  <a:gd name="T32" fmla="*/ 58 w 92"/>
                  <a:gd name="T33" fmla="*/ 89 h 93"/>
                  <a:gd name="T34" fmla="*/ 37 w 92"/>
                  <a:gd name="T35" fmla="*/ 93 h 93"/>
                  <a:gd name="T36" fmla="*/ 15 w 92"/>
                  <a:gd name="T37" fmla="*/ 89 h 93"/>
                  <a:gd name="T38" fmla="*/ 6 w 92"/>
                  <a:gd name="T39" fmla="*/ 77 h 93"/>
                  <a:gd name="T40" fmla="*/ 3 w 92"/>
                  <a:gd name="T41" fmla="*/ 68 h 93"/>
                  <a:gd name="T42" fmla="*/ 0 w 92"/>
                  <a:gd name="T43" fmla="*/ 43 h 93"/>
                  <a:gd name="T44" fmla="*/ 3 w 92"/>
                  <a:gd name="T45" fmla="*/ 37 h 93"/>
                  <a:gd name="T46" fmla="*/ 6 w 92"/>
                  <a:gd name="T47" fmla="*/ 31 h 93"/>
                  <a:gd name="T48" fmla="*/ 12 w 92"/>
                  <a:gd name="T49" fmla="*/ 18 h 93"/>
                  <a:gd name="T50" fmla="*/ 15 w 92"/>
                  <a:gd name="T51" fmla="*/ 15 h 93"/>
                  <a:gd name="T52" fmla="*/ 40 w 92"/>
                  <a:gd name="T53" fmla="*/ 15 h 93"/>
                  <a:gd name="T54" fmla="*/ 52 w 92"/>
                  <a:gd name="T55" fmla="*/ 15 h 93"/>
                  <a:gd name="T56" fmla="*/ 65 w 92"/>
                  <a:gd name="T57" fmla="*/ 12 h 93"/>
                  <a:gd name="T58" fmla="*/ 77 w 92"/>
                  <a:gd name="T59" fmla="*/ 6 h 93"/>
                  <a:gd name="T60" fmla="*/ 89 w 92"/>
                  <a:gd name="T61" fmla="*/ 0 h 93"/>
                  <a:gd name="T62" fmla="*/ 92 w 92"/>
                  <a:gd name="T63" fmla="*/ 3 h 93"/>
                  <a:gd name="T64" fmla="*/ 89 w 92"/>
                  <a:gd name="T65" fmla="*/ 6 h 93"/>
                  <a:gd name="T66" fmla="*/ 89 w 92"/>
                  <a:gd name="T67" fmla="*/ 6 h 93"/>
                  <a:gd name="T68" fmla="*/ 89 w 92"/>
                  <a:gd name="T69" fmla="*/ 6 h 9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2"/>
                  <a:gd name="T106" fmla="*/ 0 h 93"/>
                  <a:gd name="T107" fmla="*/ 92 w 92"/>
                  <a:gd name="T108" fmla="*/ 93 h 9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2" h="93">
                    <a:moveTo>
                      <a:pt x="89" y="6"/>
                    </a:moveTo>
                    <a:lnTo>
                      <a:pt x="80" y="12"/>
                    </a:lnTo>
                    <a:lnTo>
                      <a:pt x="77" y="15"/>
                    </a:lnTo>
                    <a:lnTo>
                      <a:pt x="71" y="18"/>
                    </a:lnTo>
                    <a:lnTo>
                      <a:pt x="65" y="25"/>
                    </a:lnTo>
                    <a:lnTo>
                      <a:pt x="55" y="25"/>
                    </a:lnTo>
                    <a:lnTo>
                      <a:pt x="37" y="28"/>
                    </a:lnTo>
                    <a:lnTo>
                      <a:pt x="28" y="25"/>
                    </a:lnTo>
                    <a:lnTo>
                      <a:pt x="18" y="22"/>
                    </a:lnTo>
                    <a:lnTo>
                      <a:pt x="12" y="46"/>
                    </a:lnTo>
                    <a:lnTo>
                      <a:pt x="12" y="65"/>
                    </a:lnTo>
                    <a:lnTo>
                      <a:pt x="15" y="71"/>
                    </a:lnTo>
                    <a:lnTo>
                      <a:pt x="21" y="80"/>
                    </a:lnTo>
                    <a:lnTo>
                      <a:pt x="40" y="86"/>
                    </a:lnTo>
                    <a:lnTo>
                      <a:pt x="58" y="86"/>
                    </a:lnTo>
                    <a:lnTo>
                      <a:pt x="61" y="89"/>
                    </a:lnTo>
                    <a:lnTo>
                      <a:pt x="58" y="89"/>
                    </a:lnTo>
                    <a:lnTo>
                      <a:pt x="37" y="93"/>
                    </a:lnTo>
                    <a:lnTo>
                      <a:pt x="15" y="89"/>
                    </a:lnTo>
                    <a:lnTo>
                      <a:pt x="6" y="77"/>
                    </a:lnTo>
                    <a:lnTo>
                      <a:pt x="3" y="68"/>
                    </a:lnTo>
                    <a:lnTo>
                      <a:pt x="0" y="43"/>
                    </a:lnTo>
                    <a:lnTo>
                      <a:pt x="3" y="37"/>
                    </a:lnTo>
                    <a:lnTo>
                      <a:pt x="6" y="31"/>
                    </a:lnTo>
                    <a:lnTo>
                      <a:pt x="12" y="18"/>
                    </a:lnTo>
                    <a:lnTo>
                      <a:pt x="15" y="15"/>
                    </a:lnTo>
                    <a:lnTo>
                      <a:pt x="40" y="15"/>
                    </a:lnTo>
                    <a:lnTo>
                      <a:pt x="52" y="15"/>
                    </a:lnTo>
                    <a:lnTo>
                      <a:pt x="65" y="12"/>
                    </a:lnTo>
                    <a:lnTo>
                      <a:pt x="77" y="6"/>
                    </a:lnTo>
                    <a:lnTo>
                      <a:pt x="89" y="0"/>
                    </a:lnTo>
                    <a:lnTo>
                      <a:pt x="92" y="3"/>
                    </a:lnTo>
                    <a:lnTo>
                      <a:pt x="89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2" name="Freeform 190"/>
              <p:cNvSpPr>
                <a:spLocks/>
              </p:cNvSpPr>
              <p:nvPr/>
            </p:nvSpPr>
            <p:spPr bwMode="auto">
              <a:xfrm>
                <a:off x="2863" y="1348"/>
                <a:ext cx="18" cy="53"/>
              </a:xfrm>
              <a:custGeom>
                <a:avLst/>
                <a:gdLst>
                  <a:gd name="T0" fmla="*/ 18 w 18"/>
                  <a:gd name="T1" fmla="*/ 3 h 53"/>
                  <a:gd name="T2" fmla="*/ 12 w 18"/>
                  <a:gd name="T3" fmla="*/ 40 h 53"/>
                  <a:gd name="T4" fmla="*/ 9 w 18"/>
                  <a:gd name="T5" fmla="*/ 50 h 53"/>
                  <a:gd name="T6" fmla="*/ 6 w 18"/>
                  <a:gd name="T7" fmla="*/ 53 h 53"/>
                  <a:gd name="T8" fmla="*/ 3 w 18"/>
                  <a:gd name="T9" fmla="*/ 53 h 53"/>
                  <a:gd name="T10" fmla="*/ 0 w 18"/>
                  <a:gd name="T11" fmla="*/ 47 h 53"/>
                  <a:gd name="T12" fmla="*/ 3 w 18"/>
                  <a:gd name="T13" fmla="*/ 34 h 53"/>
                  <a:gd name="T14" fmla="*/ 12 w 18"/>
                  <a:gd name="T15" fmla="*/ 3 h 53"/>
                  <a:gd name="T16" fmla="*/ 12 w 18"/>
                  <a:gd name="T17" fmla="*/ 0 h 53"/>
                  <a:gd name="T18" fmla="*/ 15 w 18"/>
                  <a:gd name="T19" fmla="*/ 0 h 53"/>
                  <a:gd name="T20" fmla="*/ 18 w 18"/>
                  <a:gd name="T21" fmla="*/ 3 h 53"/>
                  <a:gd name="T22" fmla="*/ 18 w 18"/>
                  <a:gd name="T23" fmla="*/ 3 h 53"/>
                  <a:gd name="T24" fmla="*/ 18 w 18"/>
                  <a:gd name="T25" fmla="*/ 3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8"/>
                  <a:gd name="T40" fmla="*/ 0 h 53"/>
                  <a:gd name="T41" fmla="*/ 18 w 18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8" h="53">
                    <a:moveTo>
                      <a:pt x="18" y="3"/>
                    </a:moveTo>
                    <a:lnTo>
                      <a:pt x="12" y="40"/>
                    </a:lnTo>
                    <a:lnTo>
                      <a:pt x="9" y="50"/>
                    </a:lnTo>
                    <a:lnTo>
                      <a:pt x="6" y="53"/>
                    </a:lnTo>
                    <a:lnTo>
                      <a:pt x="3" y="53"/>
                    </a:lnTo>
                    <a:lnTo>
                      <a:pt x="0" y="47"/>
                    </a:lnTo>
                    <a:lnTo>
                      <a:pt x="3" y="34"/>
                    </a:lnTo>
                    <a:lnTo>
                      <a:pt x="12" y="3"/>
                    </a:lnTo>
                    <a:lnTo>
                      <a:pt x="12" y="0"/>
                    </a:lnTo>
                    <a:lnTo>
                      <a:pt x="15" y="0"/>
                    </a:lnTo>
                    <a:lnTo>
                      <a:pt x="1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3" name="Freeform 191"/>
              <p:cNvSpPr>
                <a:spLocks/>
              </p:cNvSpPr>
              <p:nvPr/>
            </p:nvSpPr>
            <p:spPr bwMode="auto">
              <a:xfrm>
                <a:off x="2983" y="1027"/>
                <a:ext cx="47" cy="195"/>
              </a:xfrm>
              <a:custGeom>
                <a:avLst/>
                <a:gdLst>
                  <a:gd name="T0" fmla="*/ 34 w 47"/>
                  <a:gd name="T1" fmla="*/ 3 h 195"/>
                  <a:gd name="T2" fmla="*/ 47 w 47"/>
                  <a:gd name="T3" fmla="*/ 65 h 195"/>
                  <a:gd name="T4" fmla="*/ 34 w 47"/>
                  <a:gd name="T5" fmla="*/ 93 h 195"/>
                  <a:gd name="T6" fmla="*/ 31 w 47"/>
                  <a:gd name="T7" fmla="*/ 99 h 195"/>
                  <a:gd name="T8" fmla="*/ 28 w 47"/>
                  <a:gd name="T9" fmla="*/ 105 h 195"/>
                  <a:gd name="T10" fmla="*/ 22 w 47"/>
                  <a:gd name="T11" fmla="*/ 117 h 195"/>
                  <a:gd name="T12" fmla="*/ 9 w 47"/>
                  <a:gd name="T13" fmla="*/ 148 h 195"/>
                  <a:gd name="T14" fmla="*/ 9 w 47"/>
                  <a:gd name="T15" fmla="*/ 161 h 195"/>
                  <a:gd name="T16" fmla="*/ 6 w 47"/>
                  <a:gd name="T17" fmla="*/ 179 h 195"/>
                  <a:gd name="T18" fmla="*/ 3 w 47"/>
                  <a:gd name="T19" fmla="*/ 195 h 195"/>
                  <a:gd name="T20" fmla="*/ 0 w 47"/>
                  <a:gd name="T21" fmla="*/ 195 h 195"/>
                  <a:gd name="T22" fmla="*/ 0 w 47"/>
                  <a:gd name="T23" fmla="*/ 179 h 195"/>
                  <a:gd name="T24" fmla="*/ 0 w 47"/>
                  <a:gd name="T25" fmla="*/ 161 h 195"/>
                  <a:gd name="T26" fmla="*/ 0 w 47"/>
                  <a:gd name="T27" fmla="*/ 148 h 195"/>
                  <a:gd name="T28" fmla="*/ 3 w 47"/>
                  <a:gd name="T29" fmla="*/ 139 h 195"/>
                  <a:gd name="T30" fmla="*/ 6 w 47"/>
                  <a:gd name="T31" fmla="*/ 130 h 195"/>
                  <a:gd name="T32" fmla="*/ 13 w 47"/>
                  <a:gd name="T33" fmla="*/ 111 h 195"/>
                  <a:gd name="T34" fmla="*/ 22 w 47"/>
                  <a:gd name="T35" fmla="*/ 86 h 195"/>
                  <a:gd name="T36" fmla="*/ 28 w 47"/>
                  <a:gd name="T37" fmla="*/ 71 h 195"/>
                  <a:gd name="T38" fmla="*/ 31 w 47"/>
                  <a:gd name="T39" fmla="*/ 65 h 195"/>
                  <a:gd name="T40" fmla="*/ 37 w 47"/>
                  <a:gd name="T41" fmla="*/ 59 h 195"/>
                  <a:gd name="T42" fmla="*/ 40 w 47"/>
                  <a:gd name="T43" fmla="*/ 43 h 195"/>
                  <a:gd name="T44" fmla="*/ 37 w 47"/>
                  <a:gd name="T45" fmla="*/ 31 h 195"/>
                  <a:gd name="T46" fmla="*/ 34 w 47"/>
                  <a:gd name="T47" fmla="*/ 19 h 195"/>
                  <a:gd name="T48" fmla="*/ 31 w 47"/>
                  <a:gd name="T49" fmla="*/ 3 h 195"/>
                  <a:gd name="T50" fmla="*/ 31 w 47"/>
                  <a:gd name="T51" fmla="*/ 0 h 195"/>
                  <a:gd name="T52" fmla="*/ 34 w 47"/>
                  <a:gd name="T53" fmla="*/ 3 h 195"/>
                  <a:gd name="T54" fmla="*/ 34 w 47"/>
                  <a:gd name="T55" fmla="*/ 3 h 195"/>
                  <a:gd name="T56" fmla="*/ 34 w 47"/>
                  <a:gd name="T57" fmla="*/ 3 h 19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7"/>
                  <a:gd name="T88" fmla="*/ 0 h 195"/>
                  <a:gd name="T89" fmla="*/ 47 w 47"/>
                  <a:gd name="T90" fmla="*/ 195 h 19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7" h="195">
                    <a:moveTo>
                      <a:pt x="34" y="3"/>
                    </a:moveTo>
                    <a:lnTo>
                      <a:pt x="47" y="65"/>
                    </a:lnTo>
                    <a:lnTo>
                      <a:pt x="34" y="93"/>
                    </a:lnTo>
                    <a:lnTo>
                      <a:pt x="31" y="99"/>
                    </a:lnTo>
                    <a:lnTo>
                      <a:pt x="28" y="105"/>
                    </a:lnTo>
                    <a:lnTo>
                      <a:pt x="22" y="117"/>
                    </a:lnTo>
                    <a:lnTo>
                      <a:pt x="9" y="148"/>
                    </a:lnTo>
                    <a:lnTo>
                      <a:pt x="9" y="161"/>
                    </a:lnTo>
                    <a:lnTo>
                      <a:pt x="6" y="179"/>
                    </a:lnTo>
                    <a:lnTo>
                      <a:pt x="3" y="195"/>
                    </a:lnTo>
                    <a:lnTo>
                      <a:pt x="0" y="195"/>
                    </a:lnTo>
                    <a:lnTo>
                      <a:pt x="0" y="179"/>
                    </a:lnTo>
                    <a:lnTo>
                      <a:pt x="0" y="161"/>
                    </a:lnTo>
                    <a:lnTo>
                      <a:pt x="0" y="148"/>
                    </a:lnTo>
                    <a:lnTo>
                      <a:pt x="3" y="139"/>
                    </a:lnTo>
                    <a:lnTo>
                      <a:pt x="6" y="130"/>
                    </a:lnTo>
                    <a:lnTo>
                      <a:pt x="13" y="111"/>
                    </a:lnTo>
                    <a:lnTo>
                      <a:pt x="22" y="86"/>
                    </a:lnTo>
                    <a:lnTo>
                      <a:pt x="28" y="71"/>
                    </a:lnTo>
                    <a:lnTo>
                      <a:pt x="31" y="65"/>
                    </a:lnTo>
                    <a:lnTo>
                      <a:pt x="37" y="59"/>
                    </a:lnTo>
                    <a:lnTo>
                      <a:pt x="40" y="43"/>
                    </a:lnTo>
                    <a:lnTo>
                      <a:pt x="37" y="31"/>
                    </a:lnTo>
                    <a:lnTo>
                      <a:pt x="34" y="19"/>
                    </a:lnTo>
                    <a:lnTo>
                      <a:pt x="31" y="3"/>
                    </a:lnTo>
                    <a:lnTo>
                      <a:pt x="31" y="0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4" name="Freeform 192"/>
              <p:cNvSpPr>
                <a:spLocks/>
              </p:cNvSpPr>
              <p:nvPr/>
            </p:nvSpPr>
            <p:spPr bwMode="auto">
              <a:xfrm>
                <a:off x="2711" y="1120"/>
                <a:ext cx="102" cy="191"/>
              </a:xfrm>
              <a:custGeom>
                <a:avLst/>
                <a:gdLst>
                  <a:gd name="T0" fmla="*/ 3 w 102"/>
                  <a:gd name="T1" fmla="*/ 0 h 191"/>
                  <a:gd name="T2" fmla="*/ 16 w 102"/>
                  <a:gd name="T3" fmla="*/ 12 h 191"/>
                  <a:gd name="T4" fmla="*/ 22 w 102"/>
                  <a:gd name="T5" fmla="*/ 24 h 191"/>
                  <a:gd name="T6" fmla="*/ 25 w 102"/>
                  <a:gd name="T7" fmla="*/ 40 h 191"/>
                  <a:gd name="T8" fmla="*/ 28 w 102"/>
                  <a:gd name="T9" fmla="*/ 49 h 191"/>
                  <a:gd name="T10" fmla="*/ 31 w 102"/>
                  <a:gd name="T11" fmla="*/ 55 h 191"/>
                  <a:gd name="T12" fmla="*/ 44 w 102"/>
                  <a:gd name="T13" fmla="*/ 89 h 191"/>
                  <a:gd name="T14" fmla="*/ 50 w 102"/>
                  <a:gd name="T15" fmla="*/ 105 h 191"/>
                  <a:gd name="T16" fmla="*/ 59 w 102"/>
                  <a:gd name="T17" fmla="*/ 117 h 191"/>
                  <a:gd name="T18" fmla="*/ 65 w 102"/>
                  <a:gd name="T19" fmla="*/ 126 h 191"/>
                  <a:gd name="T20" fmla="*/ 68 w 102"/>
                  <a:gd name="T21" fmla="*/ 133 h 191"/>
                  <a:gd name="T22" fmla="*/ 74 w 102"/>
                  <a:gd name="T23" fmla="*/ 142 h 191"/>
                  <a:gd name="T24" fmla="*/ 81 w 102"/>
                  <a:gd name="T25" fmla="*/ 148 h 191"/>
                  <a:gd name="T26" fmla="*/ 96 w 102"/>
                  <a:gd name="T27" fmla="*/ 163 h 191"/>
                  <a:gd name="T28" fmla="*/ 99 w 102"/>
                  <a:gd name="T29" fmla="*/ 176 h 191"/>
                  <a:gd name="T30" fmla="*/ 102 w 102"/>
                  <a:gd name="T31" fmla="*/ 188 h 191"/>
                  <a:gd name="T32" fmla="*/ 102 w 102"/>
                  <a:gd name="T33" fmla="*/ 191 h 191"/>
                  <a:gd name="T34" fmla="*/ 99 w 102"/>
                  <a:gd name="T35" fmla="*/ 188 h 191"/>
                  <a:gd name="T36" fmla="*/ 96 w 102"/>
                  <a:gd name="T37" fmla="*/ 179 h 191"/>
                  <a:gd name="T38" fmla="*/ 87 w 102"/>
                  <a:gd name="T39" fmla="*/ 170 h 191"/>
                  <a:gd name="T40" fmla="*/ 78 w 102"/>
                  <a:gd name="T41" fmla="*/ 154 h 191"/>
                  <a:gd name="T42" fmla="*/ 53 w 102"/>
                  <a:gd name="T43" fmla="*/ 123 h 191"/>
                  <a:gd name="T44" fmla="*/ 47 w 102"/>
                  <a:gd name="T45" fmla="*/ 114 h 191"/>
                  <a:gd name="T46" fmla="*/ 44 w 102"/>
                  <a:gd name="T47" fmla="*/ 108 h 191"/>
                  <a:gd name="T48" fmla="*/ 34 w 102"/>
                  <a:gd name="T49" fmla="*/ 95 h 191"/>
                  <a:gd name="T50" fmla="*/ 22 w 102"/>
                  <a:gd name="T51" fmla="*/ 61 h 191"/>
                  <a:gd name="T52" fmla="*/ 16 w 102"/>
                  <a:gd name="T53" fmla="*/ 46 h 191"/>
                  <a:gd name="T54" fmla="*/ 16 w 102"/>
                  <a:gd name="T55" fmla="*/ 27 h 191"/>
                  <a:gd name="T56" fmla="*/ 13 w 102"/>
                  <a:gd name="T57" fmla="*/ 15 h 191"/>
                  <a:gd name="T58" fmla="*/ 10 w 102"/>
                  <a:gd name="T59" fmla="*/ 9 h 191"/>
                  <a:gd name="T60" fmla="*/ 0 w 102"/>
                  <a:gd name="T61" fmla="*/ 6 h 191"/>
                  <a:gd name="T62" fmla="*/ 0 w 102"/>
                  <a:gd name="T63" fmla="*/ 3 h 191"/>
                  <a:gd name="T64" fmla="*/ 3 w 102"/>
                  <a:gd name="T65" fmla="*/ 0 h 191"/>
                  <a:gd name="T66" fmla="*/ 3 w 102"/>
                  <a:gd name="T67" fmla="*/ 0 h 191"/>
                  <a:gd name="T68" fmla="*/ 3 w 102"/>
                  <a:gd name="T69" fmla="*/ 0 h 19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02"/>
                  <a:gd name="T106" fmla="*/ 0 h 191"/>
                  <a:gd name="T107" fmla="*/ 102 w 102"/>
                  <a:gd name="T108" fmla="*/ 191 h 19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02" h="191">
                    <a:moveTo>
                      <a:pt x="3" y="0"/>
                    </a:moveTo>
                    <a:lnTo>
                      <a:pt x="16" y="12"/>
                    </a:lnTo>
                    <a:lnTo>
                      <a:pt x="22" y="24"/>
                    </a:lnTo>
                    <a:lnTo>
                      <a:pt x="25" y="40"/>
                    </a:lnTo>
                    <a:lnTo>
                      <a:pt x="28" y="49"/>
                    </a:lnTo>
                    <a:lnTo>
                      <a:pt x="31" y="55"/>
                    </a:lnTo>
                    <a:lnTo>
                      <a:pt x="44" y="89"/>
                    </a:lnTo>
                    <a:lnTo>
                      <a:pt x="50" y="105"/>
                    </a:lnTo>
                    <a:lnTo>
                      <a:pt x="59" y="117"/>
                    </a:lnTo>
                    <a:lnTo>
                      <a:pt x="65" y="126"/>
                    </a:lnTo>
                    <a:lnTo>
                      <a:pt x="68" y="133"/>
                    </a:lnTo>
                    <a:lnTo>
                      <a:pt x="74" y="142"/>
                    </a:lnTo>
                    <a:lnTo>
                      <a:pt x="81" y="148"/>
                    </a:lnTo>
                    <a:lnTo>
                      <a:pt x="96" y="163"/>
                    </a:lnTo>
                    <a:lnTo>
                      <a:pt x="99" y="176"/>
                    </a:lnTo>
                    <a:lnTo>
                      <a:pt x="102" y="188"/>
                    </a:lnTo>
                    <a:lnTo>
                      <a:pt x="102" y="191"/>
                    </a:lnTo>
                    <a:lnTo>
                      <a:pt x="99" y="188"/>
                    </a:lnTo>
                    <a:lnTo>
                      <a:pt x="96" y="179"/>
                    </a:lnTo>
                    <a:lnTo>
                      <a:pt x="87" y="170"/>
                    </a:lnTo>
                    <a:lnTo>
                      <a:pt x="78" y="154"/>
                    </a:lnTo>
                    <a:lnTo>
                      <a:pt x="53" y="123"/>
                    </a:lnTo>
                    <a:lnTo>
                      <a:pt x="47" y="114"/>
                    </a:lnTo>
                    <a:lnTo>
                      <a:pt x="44" y="108"/>
                    </a:lnTo>
                    <a:lnTo>
                      <a:pt x="34" y="95"/>
                    </a:lnTo>
                    <a:lnTo>
                      <a:pt x="22" y="61"/>
                    </a:lnTo>
                    <a:lnTo>
                      <a:pt x="16" y="46"/>
                    </a:lnTo>
                    <a:lnTo>
                      <a:pt x="16" y="27"/>
                    </a:lnTo>
                    <a:lnTo>
                      <a:pt x="13" y="15"/>
                    </a:lnTo>
                    <a:lnTo>
                      <a:pt x="10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5" name="Freeform 193"/>
              <p:cNvSpPr>
                <a:spLocks/>
              </p:cNvSpPr>
              <p:nvPr/>
            </p:nvSpPr>
            <p:spPr bwMode="auto">
              <a:xfrm>
                <a:off x="2668" y="1083"/>
                <a:ext cx="53" cy="160"/>
              </a:xfrm>
              <a:custGeom>
                <a:avLst/>
                <a:gdLst>
                  <a:gd name="T0" fmla="*/ 12 w 53"/>
                  <a:gd name="T1" fmla="*/ 0 h 160"/>
                  <a:gd name="T2" fmla="*/ 31 w 53"/>
                  <a:gd name="T3" fmla="*/ 9 h 160"/>
                  <a:gd name="T4" fmla="*/ 34 w 53"/>
                  <a:gd name="T5" fmla="*/ 21 h 160"/>
                  <a:gd name="T6" fmla="*/ 31 w 53"/>
                  <a:gd name="T7" fmla="*/ 37 h 160"/>
                  <a:gd name="T8" fmla="*/ 28 w 53"/>
                  <a:gd name="T9" fmla="*/ 46 h 160"/>
                  <a:gd name="T10" fmla="*/ 25 w 53"/>
                  <a:gd name="T11" fmla="*/ 55 h 160"/>
                  <a:gd name="T12" fmla="*/ 16 w 53"/>
                  <a:gd name="T13" fmla="*/ 74 h 160"/>
                  <a:gd name="T14" fmla="*/ 12 w 53"/>
                  <a:gd name="T15" fmla="*/ 89 h 160"/>
                  <a:gd name="T16" fmla="*/ 16 w 53"/>
                  <a:gd name="T17" fmla="*/ 98 h 160"/>
                  <a:gd name="T18" fmla="*/ 19 w 53"/>
                  <a:gd name="T19" fmla="*/ 108 h 160"/>
                  <a:gd name="T20" fmla="*/ 25 w 53"/>
                  <a:gd name="T21" fmla="*/ 117 h 160"/>
                  <a:gd name="T22" fmla="*/ 34 w 53"/>
                  <a:gd name="T23" fmla="*/ 123 h 160"/>
                  <a:gd name="T24" fmla="*/ 46 w 53"/>
                  <a:gd name="T25" fmla="*/ 139 h 160"/>
                  <a:gd name="T26" fmla="*/ 53 w 53"/>
                  <a:gd name="T27" fmla="*/ 157 h 160"/>
                  <a:gd name="T28" fmla="*/ 53 w 53"/>
                  <a:gd name="T29" fmla="*/ 160 h 160"/>
                  <a:gd name="T30" fmla="*/ 46 w 53"/>
                  <a:gd name="T31" fmla="*/ 160 h 160"/>
                  <a:gd name="T32" fmla="*/ 43 w 53"/>
                  <a:gd name="T33" fmla="*/ 154 h 160"/>
                  <a:gd name="T34" fmla="*/ 37 w 53"/>
                  <a:gd name="T35" fmla="*/ 148 h 160"/>
                  <a:gd name="T36" fmla="*/ 28 w 53"/>
                  <a:gd name="T37" fmla="*/ 139 h 160"/>
                  <a:gd name="T38" fmla="*/ 22 w 53"/>
                  <a:gd name="T39" fmla="*/ 132 h 160"/>
                  <a:gd name="T40" fmla="*/ 6 w 53"/>
                  <a:gd name="T41" fmla="*/ 114 h 160"/>
                  <a:gd name="T42" fmla="*/ 0 w 53"/>
                  <a:gd name="T43" fmla="*/ 95 h 160"/>
                  <a:gd name="T44" fmla="*/ 3 w 53"/>
                  <a:gd name="T45" fmla="*/ 86 h 160"/>
                  <a:gd name="T46" fmla="*/ 6 w 53"/>
                  <a:gd name="T47" fmla="*/ 77 h 160"/>
                  <a:gd name="T48" fmla="*/ 9 w 53"/>
                  <a:gd name="T49" fmla="*/ 68 h 160"/>
                  <a:gd name="T50" fmla="*/ 12 w 53"/>
                  <a:gd name="T51" fmla="*/ 58 h 160"/>
                  <a:gd name="T52" fmla="*/ 22 w 53"/>
                  <a:gd name="T53" fmla="*/ 34 h 160"/>
                  <a:gd name="T54" fmla="*/ 25 w 53"/>
                  <a:gd name="T55" fmla="*/ 15 h 160"/>
                  <a:gd name="T56" fmla="*/ 19 w 53"/>
                  <a:gd name="T57" fmla="*/ 9 h 160"/>
                  <a:gd name="T58" fmla="*/ 12 w 53"/>
                  <a:gd name="T59" fmla="*/ 3 h 160"/>
                  <a:gd name="T60" fmla="*/ 9 w 53"/>
                  <a:gd name="T61" fmla="*/ 0 h 160"/>
                  <a:gd name="T62" fmla="*/ 12 w 53"/>
                  <a:gd name="T63" fmla="*/ 0 h 160"/>
                  <a:gd name="T64" fmla="*/ 12 w 53"/>
                  <a:gd name="T65" fmla="*/ 0 h 160"/>
                  <a:gd name="T66" fmla="*/ 12 w 53"/>
                  <a:gd name="T67" fmla="*/ 0 h 1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3"/>
                  <a:gd name="T103" fmla="*/ 0 h 160"/>
                  <a:gd name="T104" fmla="*/ 53 w 53"/>
                  <a:gd name="T105" fmla="*/ 160 h 1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3" h="160">
                    <a:moveTo>
                      <a:pt x="12" y="0"/>
                    </a:moveTo>
                    <a:lnTo>
                      <a:pt x="31" y="9"/>
                    </a:lnTo>
                    <a:lnTo>
                      <a:pt x="34" y="21"/>
                    </a:lnTo>
                    <a:lnTo>
                      <a:pt x="31" y="37"/>
                    </a:lnTo>
                    <a:lnTo>
                      <a:pt x="28" y="46"/>
                    </a:lnTo>
                    <a:lnTo>
                      <a:pt x="25" y="55"/>
                    </a:lnTo>
                    <a:lnTo>
                      <a:pt x="16" y="74"/>
                    </a:lnTo>
                    <a:lnTo>
                      <a:pt x="12" y="89"/>
                    </a:lnTo>
                    <a:lnTo>
                      <a:pt x="16" y="98"/>
                    </a:lnTo>
                    <a:lnTo>
                      <a:pt x="19" y="108"/>
                    </a:lnTo>
                    <a:lnTo>
                      <a:pt x="25" y="117"/>
                    </a:lnTo>
                    <a:lnTo>
                      <a:pt x="34" y="123"/>
                    </a:lnTo>
                    <a:lnTo>
                      <a:pt x="46" y="139"/>
                    </a:lnTo>
                    <a:lnTo>
                      <a:pt x="53" y="157"/>
                    </a:lnTo>
                    <a:lnTo>
                      <a:pt x="53" y="160"/>
                    </a:lnTo>
                    <a:lnTo>
                      <a:pt x="46" y="160"/>
                    </a:lnTo>
                    <a:lnTo>
                      <a:pt x="43" y="154"/>
                    </a:lnTo>
                    <a:lnTo>
                      <a:pt x="37" y="148"/>
                    </a:lnTo>
                    <a:lnTo>
                      <a:pt x="28" y="139"/>
                    </a:lnTo>
                    <a:lnTo>
                      <a:pt x="22" y="132"/>
                    </a:lnTo>
                    <a:lnTo>
                      <a:pt x="6" y="114"/>
                    </a:lnTo>
                    <a:lnTo>
                      <a:pt x="0" y="95"/>
                    </a:lnTo>
                    <a:lnTo>
                      <a:pt x="3" y="86"/>
                    </a:lnTo>
                    <a:lnTo>
                      <a:pt x="6" y="77"/>
                    </a:lnTo>
                    <a:lnTo>
                      <a:pt x="9" y="68"/>
                    </a:lnTo>
                    <a:lnTo>
                      <a:pt x="12" y="58"/>
                    </a:lnTo>
                    <a:lnTo>
                      <a:pt x="22" y="34"/>
                    </a:lnTo>
                    <a:lnTo>
                      <a:pt x="25" y="15"/>
                    </a:lnTo>
                    <a:lnTo>
                      <a:pt x="19" y="9"/>
                    </a:lnTo>
                    <a:lnTo>
                      <a:pt x="12" y="3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6" name="Freeform 194"/>
              <p:cNvSpPr>
                <a:spLocks/>
              </p:cNvSpPr>
              <p:nvPr/>
            </p:nvSpPr>
            <p:spPr bwMode="auto">
              <a:xfrm>
                <a:off x="2612" y="993"/>
                <a:ext cx="130" cy="250"/>
              </a:xfrm>
              <a:custGeom>
                <a:avLst/>
                <a:gdLst>
                  <a:gd name="T0" fmla="*/ 130 w 130"/>
                  <a:gd name="T1" fmla="*/ 3 h 250"/>
                  <a:gd name="T2" fmla="*/ 112 w 130"/>
                  <a:gd name="T3" fmla="*/ 15 h 250"/>
                  <a:gd name="T4" fmla="*/ 106 w 130"/>
                  <a:gd name="T5" fmla="*/ 25 h 250"/>
                  <a:gd name="T6" fmla="*/ 99 w 130"/>
                  <a:gd name="T7" fmla="*/ 34 h 250"/>
                  <a:gd name="T8" fmla="*/ 93 w 130"/>
                  <a:gd name="T9" fmla="*/ 43 h 250"/>
                  <a:gd name="T10" fmla="*/ 87 w 130"/>
                  <a:gd name="T11" fmla="*/ 53 h 250"/>
                  <a:gd name="T12" fmla="*/ 75 w 130"/>
                  <a:gd name="T13" fmla="*/ 65 h 250"/>
                  <a:gd name="T14" fmla="*/ 68 w 130"/>
                  <a:gd name="T15" fmla="*/ 74 h 250"/>
                  <a:gd name="T16" fmla="*/ 65 w 130"/>
                  <a:gd name="T17" fmla="*/ 77 h 250"/>
                  <a:gd name="T18" fmla="*/ 53 w 130"/>
                  <a:gd name="T19" fmla="*/ 93 h 250"/>
                  <a:gd name="T20" fmla="*/ 50 w 130"/>
                  <a:gd name="T21" fmla="*/ 105 h 250"/>
                  <a:gd name="T22" fmla="*/ 47 w 130"/>
                  <a:gd name="T23" fmla="*/ 111 h 250"/>
                  <a:gd name="T24" fmla="*/ 44 w 130"/>
                  <a:gd name="T25" fmla="*/ 124 h 250"/>
                  <a:gd name="T26" fmla="*/ 41 w 130"/>
                  <a:gd name="T27" fmla="*/ 136 h 250"/>
                  <a:gd name="T28" fmla="*/ 31 w 130"/>
                  <a:gd name="T29" fmla="*/ 158 h 250"/>
                  <a:gd name="T30" fmla="*/ 25 w 130"/>
                  <a:gd name="T31" fmla="*/ 167 h 250"/>
                  <a:gd name="T32" fmla="*/ 22 w 130"/>
                  <a:gd name="T33" fmla="*/ 176 h 250"/>
                  <a:gd name="T34" fmla="*/ 16 w 130"/>
                  <a:gd name="T35" fmla="*/ 192 h 250"/>
                  <a:gd name="T36" fmla="*/ 13 w 130"/>
                  <a:gd name="T37" fmla="*/ 204 h 250"/>
                  <a:gd name="T38" fmla="*/ 13 w 130"/>
                  <a:gd name="T39" fmla="*/ 226 h 250"/>
                  <a:gd name="T40" fmla="*/ 10 w 130"/>
                  <a:gd name="T41" fmla="*/ 238 h 250"/>
                  <a:gd name="T42" fmla="*/ 4 w 130"/>
                  <a:gd name="T43" fmla="*/ 250 h 250"/>
                  <a:gd name="T44" fmla="*/ 0 w 130"/>
                  <a:gd name="T45" fmla="*/ 250 h 250"/>
                  <a:gd name="T46" fmla="*/ 0 w 130"/>
                  <a:gd name="T47" fmla="*/ 247 h 250"/>
                  <a:gd name="T48" fmla="*/ 4 w 130"/>
                  <a:gd name="T49" fmla="*/ 226 h 250"/>
                  <a:gd name="T50" fmla="*/ 7 w 130"/>
                  <a:gd name="T51" fmla="*/ 204 h 250"/>
                  <a:gd name="T52" fmla="*/ 7 w 130"/>
                  <a:gd name="T53" fmla="*/ 192 h 250"/>
                  <a:gd name="T54" fmla="*/ 10 w 130"/>
                  <a:gd name="T55" fmla="*/ 182 h 250"/>
                  <a:gd name="T56" fmla="*/ 13 w 130"/>
                  <a:gd name="T57" fmla="*/ 173 h 250"/>
                  <a:gd name="T58" fmla="*/ 22 w 130"/>
                  <a:gd name="T59" fmla="*/ 154 h 250"/>
                  <a:gd name="T60" fmla="*/ 28 w 130"/>
                  <a:gd name="T61" fmla="*/ 145 h 250"/>
                  <a:gd name="T62" fmla="*/ 34 w 130"/>
                  <a:gd name="T63" fmla="*/ 133 h 250"/>
                  <a:gd name="T64" fmla="*/ 41 w 130"/>
                  <a:gd name="T65" fmla="*/ 111 h 250"/>
                  <a:gd name="T66" fmla="*/ 44 w 130"/>
                  <a:gd name="T67" fmla="*/ 99 h 250"/>
                  <a:gd name="T68" fmla="*/ 50 w 130"/>
                  <a:gd name="T69" fmla="*/ 90 h 250"/>
                  <a:gd name="T70" fmla="*/ 72 w 130"/>
                  <a:gd name="T71" fmla="*/ 65 h 250"/>
                  <a:gd name="T72" fmla="*/ 78 w 130"/>
                  <a:gd name="T73" fmla="*/ 43 h 250"/>
                  <a:gd name="T74" fmla="*/ 90 w 130"/>
                  <a:gd name="T75" fmla="*/ 28 h 250"/>
                  <a:gd name="T76" fmla="*/ 96 w 130"/>
                  <a:gd name="T77" fmla="*/ 19 h 250"/>
                  <a:gd name="T78" fmla="*/ 99 w 130"/>
                  <a:gd name="T79" fmla="*/ 15 h 250"/>
                  <a:gd name="T80" fmla="*/ 106 w 130"/>
                  <a:gd name="T81" fmla="*/ 12 h 250"/>
                  <a:gd name="T82" fmla="*/ 115 w 130"/>
                  <a:gd name="T83" fmla="*/ 6 h 250"/>
                  <a:gd name="T84" fmla="*/ 124 w 130"/>
                  <a:gd name="T85" fmla="*/ 0 h 250"/>
                  <a:gd name="T86" fmla="*/ 130 w 130"/>
                  <a:gd name="T87" fmla="*/ 0 h 250"/>
                  <a:gd name="T88" fmla="*/ 130 w 130"/>
                  <a:gd name="T89" fmla="*/ 3 h 250"/>
                  <a:gd name="T90" fmla="*/ 130 w 130"/>
                  <a:gd name="T91" fmla="*/ 3 h 250"/>
                  <a:gd name="T92" fmla="*/ 130 w 130"/>
                  <a:gd name="T93" fmla="*/ 3 h 25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30"/>
                  <a:gd name="T142" fmla="*/ 0 h 250"/>
                  <a:gd name="T143" fmla="*/ 130 w 130"/>
                  <a:gd name="T144" fmla="*/ 250 h 25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30" h="250">
                    <a:moveTo>
                      <a:pt x="130" y="3"/>
                    </a:moveTo>
                    <a:lnTo>
                      <a:pt x="112" y="15"/>
                    </a:lnTo>
                    <a:lnTo>
                      <a:pt x="106" y="25"/>
                    </a:lnTo>
                    <a:lnTo>
                      <a:pt x="99" y="34"/>
                    </a:lnTo>
                    <a:lnTo>
                      <a:pt x="93" y="43"/>
                    </a:lnTo>
                    <a:lnTo>
                      <a:pt x="87" y="53"/>
                    </a:lnTo>
                    <a:lnTo>
                      <a:pt x="75" y="65"/>
                    </a:lnTo>
                    <a:lnTo>
                      <a:pt x="68" y="74"/>
                    </a:lnTo>
                    <a:lnTo>
                      <a:pt x="65" y="77"/>
                    </a:lnTo>
                    <a:lnTo>
                      <a:pt x="53" y="93"/>
                    </a:lnTo>
                    <a:lnTo>
                      <a:pt x="50" y="105"/>
                    </a:lnTo>
                    <a:lnTo>
                      <a:pt x="47" y="111"/>
                    </a:lnTo>
                    <a:lnTo>
                      <a:pt x="44" y="124"/>
                    </a:lnTo>
                    <a:lnTo>
                      <a:pt x="41" y="136"/>
                    </a:lnTo>
                    <a:lnTo>
                      <a:pt x="31" y="158"/>
                    </a:lnTo>
                    <a:lnTo>
                      <a:pt x="25" y="167"/>
                    </a:lnTo>
                    <a:lnTo>
                      <a:pt x="22" y="176"/>
                    </a:lnTo>
                    <a:lnTo>
                      <a:pt x="16" y="192"/>
                    </a:lnTo>
                    <a:lnTo>
                      <a:pt x="13" y="204"/>
                    </a:lnTo>
                    <a:lnTo>
                      <a:pt x="13" y="226"/>
                    </a:lnTo>
                    <a:lnTo>
                      <a:pt x="10" y="238"/>
                    </a:lnTo>
                    <a:lnTo>
                      <a:pt x="4" y="250"/>
                    </a:lnTo>
                    <a:lnTo>
                      <a:pt x="0" y="250"/>
                    </a:lnTo>
                    <a:lnTo>
                      <a:pt x="0" y="247"/>
                    </a:lnTo>
                    <a:lnTo>
                      <a:pt x="4" y="226"/>
                    </a:lnTo>
                    <a:lnTo>
                      <a:pt x="7" y="204"/>
                    </a:lnTo>
                    <a:lnTo>
                      <a:pt x="7" y="192"/>
                    </a:lnTo>
                    <a:lnTo>
                      <a:pt x="10" y="182"/>
                    </a:lnTo>
                    <a:lnTo>
                      <a:pt x="13" y="173"/>
                    </a:lnTo>
                    <a:lnTo>
                      <a:pt x="22" y="154"/>
                    </a:lnTo>
                    <a:lnTo>
                      <a:pt x="28" y="145"/>
                    </a:lnTo>
                    <a:lnTo>
                      <a:pt x="34" y="133"/>
                    </a:lnTo>
                    <a:lnTo>
                      <a:pt x="41" y="111"/>
                    </a:lnTo>
                    <a:lnTo>
                      <a:pt x="44" y="99"/>
                    </a:lnTo>
                    <a:lnTo>
                      <a:pt x="50" y="90"/>
                    </a:lnTo>
                    <a:lnTo>
                      <a:pt x="72" y="65"/>
                    </a:lnTo>
                    <a:lnTo>
                      <a:pt x="78" y="43"/>
                    </a:lnTo>
                    <a:lnTo>
                      <a:pt x="90" y="28"/>
                    </a:lnTo>
                    <a:lnTo>
                      <a:pt x="96" y="19"/>
                    </a:lnTo>
                    <a:lnTo>
                      <a:pt x="99" y="15"/>
                    </a:lnTo>
                    <a:lnTo>
                      <a:pt x="106" y="12"/>
                    </a:lnTo>
                    <a:lnTo>
                      <a:pt x="115" y="6"/>
                    </a:lnTo>
                    <a:lnTo>
                      <a:pt x="124" y="0"/>
                    </a:lnTo>
                    <a:lnTo>
                      <a:pt x="130" y="0"/>
                    </a:lnTo>
                    <a:lnTo>
                      <a:pt x="13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7" name="Freeform 195"/>
              <p:cNvSpPr>
                <a:spLocks/>
              </p:cNvSpPr>
              <p:nvPr/>
            </p:nvSpPr>
            <p:spPr bwMode="auto">
              <a:xfrm>
                <a:off x="2650" y="1203"/>
                <a:ext cx="37" cy="50"/>
              </a:xfrm>
              <a:custGeom>
                <a:avLst/>
                <a:gdLst>
                  <a:gd name="T0" fmla="*/ 3 w 37"/>
                  <a:gd name="T1" fmla="*/ 0 h 50"/>
                  <a:gd name="T2" fmla="*/ 6 w 37"/>
                  <a:gd name="T3" fmla="*/ 12 h 50"/>
                  <a:gd name="T4" fmla="*/ 9 w 37"/>
                  <a:gd name="T5" fmla="*/ 19 h 50"/>
                  <a:gd name="T6" fmla="*/ 12 w 37"/>
                  <a:gd name="T7" fmla="*/ 28 h 50"/>
                  <a:gd name="T8" fmla="*/ 18 w 37"/>
                  <a:gd name="T9" fmla="*/ 34 h 50"/>
                  <a:gd name="T10" fmla="*/ 21 w 37"/>
                  <a:gd name="T11" fmla="*/ 40 h 50"/>
                  <a:gd name="T12" fmla="*/ 27 w 37"/>
                  <a:gd name="T13" fmla="*/ 43 h 50"/>
                  <a:gd name="T14" fmla="*/ 37 w 37"/>
                  <a:gd name="T15" fmla="*/ 43 h 50"/>
                  <a:gd name="T16" fmla="*/ 37 w 37"/>
                  <a:gd name="T17" fmla="*/ 46 h 50"/>
                  <a:gd name="T18" fmla="*/ 37 w 37"/>
                  <a:gd name="T19" fmla="*/ 50 h 50"/>
                  <a:gd name="T20" fmla="*/ 21 w 37"/>
                  <a:gd name="T21" fmla="*/ 50 h 50"/>
                  <a:gd name="T22" fmla="*/ 12 w 37"/>
                  <a:gd name="T23" fmla="*/ 43 h 50"/>
                  <a:gd name="T24" fmla="*/ 3 w 37"/>
                  <a:gd name="T25" fmla="*/ 34 h 50"/>
                  <a:gd name="T26" fmla="*/ 3 w 37"/>
                  <a:gd name="T27" fmla="*/ 25 h 50"/>
                  <a:gd name="T28" fmla="*/ 0 w 37"/>
                  <a:gd name="T29" fmla="*/ 3 h 50"/>
                  <a:gd name="T30" fmla="*/ 0 w 37"/>
                  <a:gd name="T31" fmla="*/ 0 h 50"/>
                  <a:gd name="T32" fmla="*/ 3 w 37"/>
                  <a:gd name="T33" fmla="*/ 0 h 50"/>
                  <a:gd name="T34" fmla="*/ 3 w 37"/>
                  <a:gd name="T35" fmla="*/ 0 h 50"/>
                  <a:gd name="T36" fmla="*/ 3 w 37"/>
                  <a:gd name="T37" fmla="*/ 0 h 5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50"/>
                  <a:gd name="T59" fmla="*/ 37 w 37"/>
                  <a:gd name="T60" fmla="*/ 50 h 5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50">
                    <a:moveTo>
                      <a:pt x="3" y="0"/>
                    </a:moveTo>
                    <a:lnTo>
                      <a:pt x="6" y="12"/>
                    </a:lnTo>
                    <a:lnTo>
                      <a:pt x="9" y="19"/>
                    </a:lnTo>
                    <a:lnTo>
                      <a:pt x="12" y="28"/>
                    </a:lnTo>
                    <a:lnTo>
                      <a:pt x="18" y="34"/>
                    </a:lnTo>
                    <a:lnTo>
                      <a:pt x="21" y="40"/>
                    </a:lnTo>
                    <a:lnTo>
                      <a:pt x="27" y="43"/>
                    </a:lnTo>
                    <a:lnTo>
                      <a:pt x="37" y="43"/>
                    </a:lnTo>
                    <a:lnTo>
                      <a:pt x="37" y="46"/>
                    </a:lnTo>
                    <a:lnTo>
                      <a:pt x="37" y="50"/>
                    </a:lnTo>
                    <a:lnTo>
                      <a:pt x="21" y="50"/>
                    </a:lnTo>
                    <a:lnTo>
                      <a:pt x="12" y="43"/>
                    </a:lnTo>
                    <a:lnTo>
                      <a:pt x="3" y="34"/>
                    </a:lnTo>
                    <a:lnTo>
                      <a:pt x="3" y="2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8" name="Freeform 196"/>
              <p:cNvSpPr>
                <a:spLocks/>
              </p:cNvSpPr>
              <p:nvPr/>
            </p:nvSpPr>
            <p:spPr bwMode="auto">
              <a:xfrm>
                <a:off x="2711" y="832"/>
                <a:ext cx="118" cy="90"/>
              </a:xfrm>
              <a:custGeom>
                <a:avLst/>
                <a:gdLst>
                  <a:gd name="T0" fmla="*/ 118 w 118"/>
                  <a:gd name="T1" fmla="*/ 3 h 90"/>
                  <a:gd name="T2" fmla="*/ 93 w 118"/>
                  <a:gd name="T3" fmla="*/ 3 h 90"/>
                  <a:gd name="T4" fmla="*/ 71 w 118"/>
                  <a:gd name="T5" fmla="*/ 16 h 90"/>
                  <a:gd name="T6" fmla="*/ 65 w 118"/>
                  <a:gd name="T7" fmla="*/ 22 h 90"/>
                  <a:gd name="T8" fmla="*/ 59 w 118"/>
                  <a:gd name="T9" fmla="*/ 25 h 90"/>
                  <a:gd name="T10" fmla="*/ 56 w 118"/>
                  <a:gd name="T11" fmla="*/ 28 h 90"/>
                  <a:gd name="T12" fmla="*/ 53 w 118"/>
                  <a:gd name="T13" fmla="*/ 31 h 90"/>
                  <a:gd name="T14" fmla="*/ 44 w 118"/>
                  <a:gd name="T15" fmla="*/ 34 h 90"/>
                  <a:gd name="T16" fmla="*/ 34 w 118"/>
                  <a:gd name="T17" fmla="*/ 47 h 90"/>
                  <a:gd name="T18" fmla="*/ 28 w 118"/>
                  <a:gd name="T19" fmla="*/ 56 h 90"/>
                  <a:gd name="T20" fmla="*/ 16 w 118"/>
                  <a:gd name="T21" fmla="*/ 65 h 90"/>
                  <a:gd name="T22" fmla="*/ 13 w 118"/>
                  <a:gd name="T23" fmla="*/ 74 h 90"/>
                  <a:gd name="T24" fmla="*/ 10 w 118"/>
                  <a:gd name="T25" fmla="*/ 81 h 90"/>
                  <a:gd name="T26" fmla="*/ 3 w 118"/>
                  <a:gd name="T27" fmla="*/ 90 h 90"/>
                  <a:gd name="T28" fmla="*/ 0 w 118"/>
                  <a:gd name="T29" fmla="*/ 90 h 90"/>
                  <a:gd name="T30" fmla="*/ 3 w 118"/>
                  <a:gd name="T31" fmla="*/ 78 h 90"/>
                  <a:gd name="T32" fmla="*/ 3 w 118"/>
                  <a:gd name="T33" fmla="*/ 71 h 90"/>
                  <a:gd name="T34" fmla="*/ 10 w 118"/>
                  <a:gd name="T35" fmla="*/ 59 h 90"/>
                  <a:gd name="T36" fmla="*/ 16 w 118"/>
                  <a:gd name="T37" fmla="*/ 53 h 90"/>
                  <a:gd name="T38" fmla="*/ 22 w 118"/>
                  <a:gd name="T39" fmla="*/ 50 h 90"/>
                  <a:gd name="T40" fmla="*/ 37 w 118"/>
                  <a:gd name="T41" fmla="*/ 31 h 90"/>
                  <a:gd name="T42" fmla="*/ 44 w 118"/>
                  <a:gd name="T43" fmla="*/ 25 h 90"/>
                  <a:gd name="T44" fmla="*/ 50 w 118"/>
                  <a:gd name="T45" fmla="*/ 25 h 90"/>
                  <a:gd name="T46" fmla="*/ 56 w 118"/>
                  <a:gd name="T47" fmla="*/ 22 h 90"/>
                  <a:gd name="T48" fmla="*/ 59 w 118"/>
                  <a:gd name="T49" fmla="*/ 16 h 90"/>
                  <a:gd name="T50" fmla="*/ 62 w 118"/>
                  <a:gd name="T51" fmla="*/ 13 h 90"/>
                  <a:gd name="T52" fmla="*/ 68 w 118"/>
                  <a:gd name="T53" fmla="*/ 10 h 90"/>
                  <a:gd name="T54" fmla="*/ 81 w 118"/>
                  <a:gd name="T55" fmla="*/ 3 h 90"/>
                  <a:gd name="T56" fmla="*/ 90 w 118"/>
                  <a:gd name="T57" fmla="*/ 0 h 90"/>
                  <a:gd name="T58" fmla="*/ 118 w 118"/>
                  <a:gd name="T59" fmla="*/ 0 h 90"/>
                  <a:gd name="T60" fmla="*/ 118 w 118"/>
                  <a:gd name="T61" fmla="*/ 0 h 90"/>
                  <a:gd name="T62" fmla="*/ 118 w 118"/>
                  <a:gd name="T63" fmla="*/ 3 h 90"/>
                  <a:gd name="T64" fmla="*/ 118 w 118"/>
                  <a:gd name="T65" fmla="*/ 3 h 90"/>
                  <a:gd name="T66" fmla="*/ 118 w 118"/>
                  <a:gd name="T67" fmla="*/ 3 h 9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8"/>
                  <a:gd name="T103" fmla="*/ 0 h 90"/>
                  <a:gd name="T104" fmla="*/ 118 w 118"/>
                  <a:gd name="T105" fmla="*/ 90 h 9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8" h="90">
                    <a:moveTo>
                      <a:pt x="118" y="3"/>
                    </a:moveTo>
                    <a:lnTo>
                      <a:pt x="93" y="3"/>
                    </a:lnTo>
                    <a:lnTo>
                      <a:pt x="71" y="16"/>
                    </a:lnTo>
                    <a:lnTo>
                      <a:pt x="65" y="22"/>
                    </a:lnTo>
                    <a:lnTo>
                      <a:pt x="59" y="25"/>
                    </a:lnTo>
                    <a:lnTo>
                      <a:pt x="56" y="28"/>
                    </a:lnTo>
                    <a:lnTo>
                      <a:pt x="53" y="31"/>
                    </a:lnTo>
                    <a:lnTo>
                      <a:pt x="44" y="34"/>
                    </a:lnTo>
                    <a:lnTo>
                      <a:pt x="34" y="47"/>
                    </a:lnTo>
                    <a:lnTo>
                      <a:pt x="28" y="56"/>
                    </a:lnTo>
                    <a:lnTo>
                      <a:pt x="16" y="65"/>
                    </a:lnTo>
                    <a:lnTo>
                      <a:pt x="13" y="74"/>
                    </a:lnTo>
                    <a:lnTo>
                      <a:pt x="10" y="81"/>
                    </a:lnTo>
                    <a:lnTo>
                      <a:pt x="3" y="90"/>
                    </a:lnTo>
                    <a:lnTo>
                      <a:pt x="0" y="90"/>
                    </a:lnTo>
                    <a:lnTo>
                      <a:pt x="3" y="78"/>
                    </a:lnTo>
                    <a:lnTo>
                      <a:pt x="3" y="71"/>
                    </a:lnTo>
                    <a:lnTo>
                      <a:pt x="10" y="59"/>
                    </a:lnTo>
                    <a:lnTo>
                      <a:pt x="16" y="53"/>
                    </a:lnTo>
                    <a:lnTo>
                      <a:pt x="22" y="50"/>
                    </a:lnTo>
                    <a:lnTo>
                      <a:pt x="37" y="31"/>
                    </a:lnTo>
                    <a:lnTo>
                      <a:pt x="44" y="25"/>
                    </a:lnTo>
                    <a:lnTo>
                      <a:pt x="50" y="25"/>
                    </a:lnTo>
                    <a:lnTo>
                      <a:pt x="56" y="22"/>
                    </a:lnTo>
                    <a:lnTo>
                      <a:pt x="59" y="16"/>
                    </a:lnTo>
                    <a:lnTo>
                      <a:pt x="62" y="13"/>
                    </a:lnTo>
                    <a:lnTo>
                      <a:pt x="68" y="10"/>
                    </a:lnTo>
                    <a:lnTo>
                      <a:pt x="81" y="3"/>
                    </a:lnTo>
                    <a:lnTo>
                      <a:pt x="90" y="0"/>
                    </a:lnTo>
                    <a:lnTo>
                      <a:pt x="118" y="0"/>
                    </a:lnTo>
                    <a:lnTo>
                      <a:pt x="11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29" name="Freeform 197"/>
              <p:cNvSpPr>
                <a:spLocks/>
              </p:cNvSpPr>
              <p:nvPr/>
            </p:nvSpPr>
            <p:spPr bwMode="auto">
              <a:xfrm>
                <a:off x="2724" y="894"/>
                <a:ext cx="126" cy="53"/>
              </a:xfrm>
              <a:custGeom>
                <a:avLst/>
                <a:gdLst>
                  <a:gd name="T0" fmla="*/ 3 w 126"/>
                  <a:gd name="T1" fmla="*/ 37 h 53"/>
                  <a:gd name="T2" fmla="*/ 6 w 126"/>
                  <a:gd name="T3" fmla="*/ 43 h 53"/>
                  <a:gd name="T4" fmla="*/ 9 w 126"/>
                  <a:gd name="T5" fmla="*/ 46 h 53"/>
                  <a:gd name="T6" fmla="*/ 21 w 126"/>
                  <a:gd name="T7" fmla="*/ 46 h 53"/>
                  <a:gd name="T8" fmla="*/ 43 w 126"/>
                  <a:gd name="T9" fmla="*/ 46 h 53"/>
                  <a:gd name="T10" fmla="*/ 65 w 126"/>
                  <a:gd name="T11" fmla="*/ 40 h 53"/>
                  <a:gd name="T12" fmla="*/ 80 w 126"/>
                  <a:gd name="T13" fmla="*/ 25 h 53"/>
                  <a:gd name="T14" fmla="*/ 89 w 126"/>
                  <a:gd name="T15" fmla="*/ 19 h 53"/>
                  <a:gd name="T16" fmla="*/ 102 w 126"/>
                  <a:gd name="T17" fmla="*/ 16 h 53"/>
                  <a:gd name="T18" fmla="*/ 111 w 126"/>
                  <a:gd name="T19" fmla="*/ 9 h 53"/>
                  <a:gd name="T20" fmla="*/ 114 w 126"/>
                  <a:gd name="T21" fmla="*/ 3 h 53"/>
                  <a:gd name="T22" fmla="*/ 117 w 126"/>
                  <a:gd name="T23" fmla="*/ 0 h 53"/>
                  <a:gd name="T24" fmla="*/ 123 w 126"/>
                  <a:gd name="T25" fmla="*/ 0 h 53"/>
                  <a:gd name="T26" fmla="*/ 126 w 126"/>
                  <a:gd name="T27" fmla="*/ 3 h 53"/>
                  <a:gd name="T28" fmla="*/ 126 w 126"/>
                  <a:gd name="T29" fmla="*/ 6 h 53"/>
                  <a:gd name="T30" fmla="*/ 123 w 126"/>
                  <a:gd name="T31" fmla="*/ 9 h 53"/>
                  <a:gd name="T32" fmla="*/ 114 w 126"/>
                  <a:gd name="T33" fmla="*/ 19 h 53"/>
                  <a:gd name="T34" fmla="*/ 111 w 126"/>
                  <a:gd name="T35" fmla="*/ 22 h 53"/>
                  <a:gd name="T36" fmla="*/ 105 w 126"/>
                  <a:gd name="T37" fmla="*/ 25 h 53"/>
                  <a:gd name="T38" fmla="*/ 86 w 126"/>
                  <a:gd name="T39" fmla="*/ 31 h 53"/>
                  <a:gd name="T40" fmla="*/ 83 w 126"/>
                  <a:gd name="T41" fmla="*/ 37 h 53"/>
                  <a:gd name="T42" fmla="*/ 80 w 126"/>
                  <a:gd name="T43" fmla="*/ 43 h 53"/>
                  <a:gd name="T44" fmla="*/ 74 w 126"/>
                  <a:gd name="T45" fmla="*/ 46 h 53"/>
                  <a:gd name="T46" fmla="*/ 68 w 126"/>
                  <a:gd name="T47" fmla="*/ 50 h 53"/>
                  <a:gd name="T48" fmla="*/ 55 w 126"/>
                  <a:gd name="T49" fmla="*/ 53 h 53"/>
                  <a:gd name="T50" fmla="*/ 43 w 126"/>
                  <a:gd name="T51" fmla="*/ 53 h 53"/>
                  <a:gd name="T52" fmla="*/ 18 w 126"/>
                  <a:gd name="T53" fmla="*/ 53 h 53"/>
                  <a:gd name="T54" fmla="*/ 9 w 126"/>
                  <a:gd name="T55" fmla="*/ 50 h 53"/>
                  <a:gd name="T56" fmla="*/ 0 w 126"/>
                  <a:gd name="T57" fmla="*/ 40 h 53"/>
                  <a:gd name="T58" fmla="*/ 0 w 126"/>
                  <a:gd name="T59" fmla="*/ 37 h 53"/>
                  <a:gd name="T60" fmla="*/ 3 w 126"/>
                  <a:gd name="T61" fmla="*/ 37 h 53"/>
                  <a:gd name="T62" fmla="*/ 3 w 126"/>
                  <a:gd name="T63" fmla="*/ 37 h 53"/>
                  <a:gd name="T64" fmla="*/ 3 w 126"/>
                  <a:gd name="T65" fmla="*/ 37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6"/>
                  <a:gd name="T100" fmla="*/ 0 h 53"/>
                  <a:gd name="T101" fmla="*/ 126 w 126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6" h="53">
                    <a:moveTo>
                      <a:pt x="3" y="37"/>
                    </a:moveTo>
                    <a:lnTo>
                      <a:pt x="6" y="43"/>
                    </a:lnTo>
                    <a:lnTo>
                      <a:pt x="9" y="46"/>
                    </a:lnTo>
                    <a:lnTo>
                      <a:pt x="21" y="46"/>
                    </a:lnTo>
                    <a:lnTo>
                      <a:pt x="43" y="46"/>
                    </a:lnTo>
                    <a:lnTo>
                      <a:pt x="65" y="40"/>
                    </a:lnTo>
                    <a:lnTo>
                      <a:pt x="80" y="25"/>
                    </a:lnTo>
                    <a:lnTo>
                      <a:pt x="89" y="19"/>
                    </a:lnTo>
                    <a:lnTo>
                      <a:pt x="102" y="16"/>
                    </a:lnTo>
                    <a:lnTo>
                      <a:pt x="111" y="9"/>
                    </a:lnTo>
                    <a:lnTo>
                      <a:pt x="114" y="3"/>
                    </a:lnTo>
                    <a:lnTo>
                      <a:pt x="117" y="0"/>
                    </a:lnTo>
                    <a:lnTo>
                      <a:pt x="123" y="0"/>
                    </a:lnTo>
                    <a:lnTo>
                      <a:pt x="126" y="3"/>
                    </a:lnTo>
                    <a:lnTo>
                      <a:pt x="126" y="6"/>
                    </a:lnTo>
                    <a:lnTo>
                      <a:pt x="123" y="9"/>
                    </a:lnTo>
                    <a:lnTo>
                      <a:pt x="114" y="19"/>
                    </a:lnTo>
                    <a:lnTo>
                      <a:pt x="111" y="22"/>
                    </a:lnTo>
                    <a:lnTo>
                      <a:pt x="105" y="25"/>
                    </a:lnTo>
                    <a:lnTo>
                      <a:pt x="86" y="31"/>
                    </a:lnTo>
                    <a:lnTo>
                      <a:pt x="83" y="37"/>
                    </a:lnTo>
                    <a:lnTo>
                      <a:pt x="80" y="43"/>
                    </a:lnTo>
                    <a:lnTo>
                      <a:pt x="74" y="46"/>
                    </a:lnTo>
                    <a:lnTo>
                      <a:pt x="68" y="50"/>
                    </a:lnTo>
                    <a:lnTo>
                      <a:pt x="55" y="53"/>
                    </a:lnTo>
                    <a:lnTo>
                      <a:pt x="43" y="53"/>
                    </a:lnTo>
                    <a:lnTo>
                      <a:pt x="18" y="53"/>
                    </a:lnTo>
                    <a:lnTo>
                      <a:pt x="9" y="50"/>
                    </a:lnTo>
                    <a:lnTo>
                      <a:pt x="0" y="40"/>
                    </a:lnTo>
                    <a:lnTo>
                      <a:pt x="0" y="37"/>
                    </a:lnTo>
                    <a:lnTo>
                      <a:pt x="3" y="3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0" name="Freeform 198"/>
              <p:cNvSpPr>
                <a:spLocks/>
              </p:cNvSpPr>
              <p:nvPr/>
            </p:nvSpPr>
            <p:spPr bwMode="auto">
              <a:xfrm>
                <a:off x="2844" y="835"/>
                <a:ext cx="56" cy="90"/>
              </a:xfrm>
              <a:custGeom>
                <a:avLst/>
                <a:gdLst>
                  <a:gd name="T0" fmla="*/ 3 w 56"/>
                  <a:gd name="T1" fmla="*/ 0 h 90"/>
                  <a:gd name="T2" fmla="*/ 16 w 56"/>
                  <a:gd name="T3" fmla="*/ 0 h 90"/>
                  <a:gd name="T4" fmla="*/ 25 w 56"/>
                  <a:gd name="T5" fmla="*/ 7 h 90"/>
                  <a:gd name="T6" fmla="*/ 34 w 56"/>
                  <a:gd name="T7" fmla="*/ 13 h 90"/>
                  <a:gd name="T8" fmla="*/ 43 w 56"/>
                  <a:gd name="T9" fmla="*/ 22 h 90"/>
                  <a:gd name="T10" fmla="*/ 50 w 56"/>
                  <a:gd name="T11" fmla="*/ 28 h 90"/>
                  <a:gd name="T12" fmla="*/ 53 w 56"/>
                  <a:gd name="T13" fmla="*/ 37 h 90"/>
                  <a:gd name="T14" fmla="*/ 56 w 56"/>
                  <a:gd name="T15" fmla="*/ 56 h 90"/>
                  <a:gd name="T16" fmla="*/ 47 w 56"/>
                  <a:gd name="T17" fmla="*/ 71 h 90"/>
                  <a:gd name="T18" fmla="*/ 47 w 56"/>
                  <a:gd name="T19" fmla="*/ 81 h 90"/>
                  <a:gd name="T20" fmla="*/ 47 w 56"/>
                  <a:gd name="T21" fmla="*/ 90 h 90"/>
                  <a:gd name="T22" fmla="*/ 47 w 56"/>
                  <a:gd name="T23" fmla="*/ 90 h 90"/>
                  <a:gd name="T24" fmla="*/ 43 w 56"/>
                  <a:gd name="T25" fmla="*/ 90 h 90"/>
                  <a:gd name="T26" fmla="*/ 40 w 56"/>
                  <a:gd name="T27" fmla="*/ 71 h 90"/>
                  <a:gd name="T28" fmla="*/ 40 w 56"/>
                  <a:gd name="T29" fmla="*/ 62 h 90"/>
                  <a:gd name="T30" fmla="*/ 43 w 56"/>
                  <a:gd name="T31" fmla="*/ 53 h 90"/>
                  <a:gd name="T32" fmla="*/ 40 w 56"/>
                  <a:gd name="T33" fmla="*/ 41 h 90"/>
                  <a:gd name="T34" fmla="*/ 40 w 56"/>
                  <a:gd name="T35" fmla="*/ 37 h 90"/>
                  <a:gd name="T36" fmla="*/ 34 w 56"/>
                  <a:gd name="T37" fmla="*/ 31 h 90"/>
                  <a:gd name="T38" fmla="*/ 28 w 56"/>
                  <a:gd name="T39" fmla="*/ 22 h 90"/>
                  <a:gd name="T40" fmla="*/ 22 w 56"/>
                  <a:gd name="T41" fmla="*/ 13 h 90"/>
                  <a:gd name="T42" fmla="*/ 16 w 56"/>
                  <a:gd name="T43" fmla="*/ 10 h 90"/>
                  <a:gd name="T44" fmla="*/ 13 w 56"/>
                  <a:gd name="T45" fmla="*/ 7 h 90"/>
                  <a:gd name="T46" fmla="*/ 3 w 56"/>
                  <a:gd name="T47" fmla="*/ 3 h 90"/>
                  <a:gd name="T48" fmla="*/ 0 w 56"/>
                  <a:gd name="T49" fmla="*/ 0 h 90"/>
                  <a:gd name="T50" fmla="*/ 3 w 56"/>
                  <a:gd name="T51" fmla="*/ 0 h 90"/>
                  <a:gd name="T52" fmla="*/ 3 w 56"/>
                  <a:gd name="T53" fmla="*/ 0 h 90"/>
                  <a:gd name="T54" fmla="*/ 3 w 56"/>
                  <a:gd name="T55" fmla="*/ 0 h 9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6"/>
                  <a:gd name="T85" fmla="*/ 0 h 90"/>
                  <a:gd name="T86" fmla="*/ 56 w 56"/>
                  <a:gd name="T87" fmla="*/ 90 h 90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6" h="90">
                    <a:moveTo>
                      <a:pt x="3" y="0"/>
                    </a:moveTo>
                    <a:lnTo>
                      <a:pt x="16" y="0"/>
                    </a:lnTo>
                    <a:lnTo>
                      <a:pt x="25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28"/>
                    </a:lnTo>
                    <a:lnTo>
                      <a:pt x="53" y="37"/>
                    </a:lnTo>
                    <a:lnTo>
                      <a:pt x="56" y="56"/>
                    </a:lnTo>
                    <a:lnTo>
                      <a:pt x="47" y="71"/>
                    </a:lnTo>
                    <a:lnTo>
                      <a:pt x="47" y="81"/>
                    </a:lnTo>
                    <a:lnTo>
                      <a:pt x="47" y="90"/>
                    </a:lnTo>
                    <a:lnTo>
                      <a:pt x="43" y="90"/>
                    </a:lnTo>
                    <a:lnTo>
                      <a:pt x="40" y="71"/>
                    </a:lnTo>
                    <a:lnTo>
                      <a:pt x="40" y="62"/>
                    </a:lnTo>
                    <a:lnTo>
                      <a:pt x="43" y="53"/>
                    </a:lnTo>
                    <a:lnTo>
                      <a:pt x="40" y="41"/>
                    </a:lnTo>
                    <a:lnTo>
                      <a:pt x="40" y="37"/>
                    </a:lnTo>
                    <a:lnTo>
                      <a:pt x="34" y="31"/>
                    </a:lnTo>
                    <a:lnTo>
                      <a:pt x="28" y="22"/>
                    </a:lnTo>
                    <a:lnTo>
                      <a:pt x="22" y="13"/>
                    </a:lnTo>
                    <a:lnTo>
                      <a:pt x="16" y="10"/>
                    </a:lnTo>
                    <a:lnTo>
                      <a:pt x="13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1" name="Freeform 199"/>
              <p:cNvSpPr>
                <a:spLocks/>
              </p:cNvSpPr>
              <p:nvPr/>
            </p:nvSpPr>
            <p:spPr bwMode="auto">
              <a:xfrm>
                <a:off x="2841" y="922"/>
                <a:ext cx="22" cy="43"/>
              </a:xfrm>
              <a:custGeom>
                <a:avLst/>
                <a:gdLst>
                  <a:gd name="T0" fmla="*/ 3 w 22"/>
                  <a:gd name="T1" fmla="*/ 0 h 43"/>
                  <a:gd name="T2" fmla="*/ 9 w 22"/>
                  <a:gd name="T3" fmla="*/ 6 h 43"/>
                  <a:gd name="T4" fmla="*/ 12 w 22"/>
                  <a:gd name="T5" fmla="*/ 12 h 43"/>
                  <a:gd name="T6" fmla="*/ 16 w 22"/>
                  <a:gd name="T7" fmla="*/ 22 h 43"/>
                  <a:gd name="T8" fmla="*/ 19 w 22"/>
                  <a:gd name="T9" fmla="*/ 31 h 43"/>
                  <a:gd name="T10" fmla="*/ 19 w 22"/>
                  <a:gd name="T11" fmla="*/ 40 h 43"/>
                  <a:gd name="T12" fmla="*/ 22 w 22"/>
                  <a:gd name="T13" fmla="*/ 43 h 43"/>
                  <a:gd name="T14" fmla="*/ 19 w 22"/>
                  <a:gd name="T15" fmla="*/ 43 h 43"/>
                  <a:gd name="T16" fmla="*/ 9 w 22"/>
                  <a:gd name="T17" fmla="*/ 31 h 43"/>
                  <a:gd name="T18" fmla="*/ 3 w 22"/>
                  <a:gd name="T19" fmla="*/ 12 h 43"/>
                  <a:gd name="T20" fmla="*/ 6 w 22"/>
                  <a:gd name="T21" fmla="*/ 6 h 43"/>
                  <a:gd name="T22" fmla="*/ 3 w 22"/>
                  <a:gd name="T23" fmla="*/ 3 h 43"/>
                  <a:gd name="T24" fmla="*/ 0 w 22"/>
                  <a:gd name="T25" fmla="*/ 0 h 43"/>
                  <a:gd name="T26" fmla="*/ 3 w 22"/>
                  <a:gd name="T27" fmla="*/ 0 h 43"/>
                  <a:gd name="T28" fmla="*/ 3 w 22"/>
                  <a:gd name="T29" fmla="*/ 0 h 43"/>
                  <a:gd name="T30" fmla="*/ 3 w 22"/>
                  <a:gd name="T31" fmla="*/ 0 h 4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2"/>
                  <a:gd name="T49" fmla="*/ 0 h 43"/>
                  <a:gd name="T50" fmla="*/ 22 w 22"/>
                  <a:gd name="T51" fmla="*/ 43 h 4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2" h="43">
                    <a:moveTo>
                      <a:pt x="3" y="0"/>
                    </a:moveTo>
                    <a:lnTo>
                      <a:pt x="9" y="6"/>
                    </a:lnTo>
                    <a:lnTo>
                      <a:pt x="12" y="12"/>
                    </a:lnTo>
                    <a:lnTo>
                      <a:pt x="16" y="22"/>
                    </a:lnTo>
                    <a:lnTo>
                      <a:pt x="19" y="31"/>
                    </a:lnTo>
                    <a:lnTo>
                      <a:pt x="19" y="40"/>
                    </a:lnTo>
                    <a:lnTo>
                      <a:pt x="22" y="43"/>
                    </a:lnTo>
                    <a:lnTo>
                      <a:pt x="19" y="43"/>
                    </a:lnTo>
                    <a:lnTo>
                      <a:pt x="9" y="31"/>
                    </a:lnTo>
                    <a:lnTo>
                      <a:pt x="3" y="12"/>
                    </a:lnTo>
                    <a:lnTo>
                      <a:pt x="6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2" name="Freeform 200"/>
              <p:cNvSpPr>
                <a:spLocks/>
              </p:cNvSpPr>
              <p:nvPr/>
            </p:nvSpPr>
            <p:spPr bwMode="auto">
              <a:xfrm>
                <a:off x="2875" y="919"/>
                <a:ext cx="25" cy="62"/>
              </a:xfrm>
              <a:custGeom>
                <a:avLst/>
                <a:gdLst>
                  <a:gd name="T0" fmla="*/ 0 w 25"/>
                  <a:gd name="T1" fmla="*/ 15 h 62"/>
                  <a:gd name="T2" fmla="*/ 3 w 25"/>
                  <a:gd name="T3" fmla="*/ 6 h 62"/>
                  <a:gd name="T4" fmla="*/ 6 w 25"/>
                  <a:gd name="T5" fmla="*/ 3 h 62"/>
                  <a:gd name="T6" fmla="*/ 12 w 25"/>
                  <a:gd name="T7" fmla="*/ 0 h 62"/>
                  <a:gd name="T8" fmla="*/ 22 w 25"/>
                  <a:gd name="T9" fmla="*/ 6 h 62"/>
                  <a:gd name="T10" fmla="*/ 25 w 25"/>
                  <a:gd name="T11" fmla="*/ 15 h 62"/>
                  <a:gd name="T12" fmla="*/ 22 w 25"/>
                  <a:gd name="T13" fmla="*/ 21 h 62"/>
                  <a:gd name="T14" fmla="*/ 19 w 25"/>
                  <a:gd name="T15" fmla="*/ 31 h 62"/>
                  <a:gd name="T16" fmla="*/ 22 w 25"/>
                  <a:gd name="T17" fmla="*/ 49 h 62"/>
                  <a:gd name="T18" fmla="*/ 16 w 25"/>
                  <a:gd name="T19" fmla="*/ 55 h 62"/>
                  <a:gd name="T20" fmla="*/ 12 w 25"/>
                  <a:gd name="T21" fmla="*/ 62 h 62"/>
                  <a:gd name="T22" fmla="*/ 9 w 25"/>
                  <a:gd name="T23" fmla="*/ 62 h 62"/>
                  <a:gd name="T24" fmla="*/ 9 w 25"/>
                  <a:gd name="T25" fmla="*/ 62 h 62"/>
                  <a:gd name="T26" fmla="*/ 12 w 25"/>
                  <a:gd name="T27" fmla="*/ 46 h 62"/>
                  <a:gd name="T28" fmla="*/ 12 w 25"/>
                  <a:gd name="T29" fmla="*/ 28 h 62"/>
                  <a:gd name="T30" fmla="*/ 16 w 25"/>
                  <a:gd name="T31" fmla="*/ 15 h 62"/>
                  <a:gd name="T32" fmla="*/ 16 w 25"/>
                  <a:gd name="T33" fmla="*/ 9 h 62"/>
                  <a:gd name="T34" fmla="*/ 12 w 25"/>
                  <a:gd name="T35" fmla="*/ 6 h 62"/>
                  <a:gd name="T36" fmla="*/ 6 w 25"/>
                  <a:gd name="T37" fmla="*/ 9 h 62"/>
                  <a:gd name="T38" fmla="*/ 3 w 25"/>
                  <a:gd name="T39" fmla="*/ 15 h 62"/>
                  <a:gd name="T40" fmla="*/ 0 w 25"/>
                  <a:gd name="T41" fmla="*/ 18 h 62"/>
                  <a:gd name="T42" fmla="*/ 0 w 25"/>
                  <a:gd name="T43" fmla="*/ 15 h 62"/>
                  <a:gd name="T44" fmla="*/ 0 w 25"/>
                  <a:gd name="T45" fmla="*/ 15 h 62"/>
                  <a:gd name="T46" fmla="*/ 0 w 25"/>
                  <a:gd name="T47" fmla="*/ 15 h 6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5"/>
                  <a:gd name="T73" fmla="*/ 0 h 62"/>
                  <a:gd name="T74" fmla="*/ 25 w 25"/>
                  <a:gd name="T75" fmla="*/ 62 h 62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5" h="62">
                    <a:moveTo>
                      <a:pt x="0" y="15"/>
                    </a:move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22" y="6"/>
                    </a:lnTo>
                    <a:lnTo>
                      <a:pt x="25" y="15"/>
                    </a:lnTo>
                    <a:lnTo>
                      <a:pt x="22" y="21"/>
                    </a:lnTo>
                    <a:lnTo>
                      <a:pt x="19" y="31"/>
                    </a:lnTo>
                    <a:lnTo>
                      <a:pt x="22" y="49"/>
                    </a:lnTo>
                    <a:lnTo>
                      <a:pt x="16" y="55"/>
                    </a:lnTo>
                    <a:lnTo>
                      <a:pt x="12" y="62"/>
                    </a:lnTo>
                    <a:lnTo>
                      <a:pt x="9" y="62"/>
                    </a:lnTo>
                    <a:lnTo>
                      <a:pt x="12" y="46"/>
                    </a:lnTo>
                    <a:lnTo>
                      <a:pt x="12" y="28"/>
                    </a:lnTo>
                    <a:lnTo>
                      <a:pt x="16" y="15"/>
                    </a:lnTo>
                    <a:lnTo>
                      <a:pt x="16" y="9"/>
                    </a:lnTo>
                    <a:lnTo>
                      <a:pt x="12" y="6"/>
                    </a:lnTo>
                    <a:lnTo>
                      <a:pt x="6" y="9"/>
                    </a:lnTo>
                    <a:lnTo>
                      <a:pt x="3" y="15"/>
                    </a:lnTo>
                    <a:lnTo>
                      <a:pt x="0" y="18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3" name="Freeform 201"/>
              <p:cNvSpPr>
                <a:spLocks/>
              </p:cNvSpPr>
              <p:nvPr/>
            </p:nvSpPr>
            <p:spPr bwMode="auto">
              <a:xfrm>
                <a:off x="2727" y="953"/>
                <a:ext cx="86" cy="133"/>
              </a:xfrm>
              <a:custGeom>
                <a:avLst/>
                <a:gdLst>
                  <a:gd name="T0" fmla="*/ 3 w 86"/>
                  <a:gd name="T1" fmla="*/ 0 h 133"/>
                  <a:gd name="T2" fmla="*/ 9 w 86"/>
                  <a:gd name="T3" fmla="*/ 25 h 133"/>
                  <a:gd name="T4" fmla="*/ 12 w 86"/>
                  <a:gd name="T5" fmla="*/ 34 h 133"/>
                  <a:gd name="T6" fmla="*/ 15 w 86"/>
                  <a:gd name="T7" fmla="*/ 37 h 133"/>
                  <a:gd name="T8" fmla="*/ 18 w 86"/>
                  <a:gd name="T9" fmla="*/ 40 h 133"/>
                  <a:gd name="T10" fmla="*/ 24 w 86"/>
                  <a:gd name="T11" fmla="*/ 43 h 133"/>
                  <a:gd name="T12" fmla="*/ 31 w 86"/>
                  <a:gd name="T13" fmla="*/ 62 h 133"/>
                  <a:gd name="T14" fmla="*/ 31 w 86"/>
                  <a:gd name="T15" fmla="*/ 68 h 133"/>
                  <a:gd name="T16" fmla="*/ 34 w 86"/>
                  <a:gd name="T17" fmla="*/ 77 h 133"/>
                  <a:gd name="T18" fmla="*/ 40 w 86"/>
                  <a:gd name="T19" fmla="*/ 83 h 133"/>
                  <a:gd name="T20" fmla="*/ 43 w 86"/>
                  <a:gd name="T21" fmla="*/ 89 h 133"/>
                  <a:gd name="T22" fmla="*/ 49 w 86"/>
                  <a:gd name="T23" fmla="*/ 96 h 133"/>
                  <a:gd name="T24" fmla="*/ 55 w 86"/>
                  <a:gd name="T25" fmla="*/ 102 h 133"/>
                  <a:gd name="T26" fmla="*/ 62 w 86"/>
                  <a:gd name="T27" fmla="*/ 108 h 133"/>
                  <a:gd name="T28" fmla="*/ 65 w 86"/>
                  <a:gd name="T29" fmla="*/ 108 h 133"/>
                  <a:gd name="T30" fmla="*/ 71 w 86"/>
                  <a:gd name="T31" fmla="*/ 114 h 133"/>
                  <a:gd name="T32" fmla="*/ 83 w 86"/>
                  <a:gd name="T33" fmla="*/ 126 h 133"/>
                  <a:gd name="T34" fmla="*/ 86 w 86"/>
                  <a:gd name="T35" fmla="*/ 130 h 133"/>
                  <a:gd name="T36" fmla="*/ 86 w 86"/>
                  <a:gd name="T37" fmla="*/ 133 h 133"/>
                  <a:gd name="T38" fmla="*/ 83 w 86"/>
                  <a:gd name="T39" fmla="*/ 133 h 133"/>
                  <a:gd name="T40" fmla="*/ 80 w 86"/>
                  <a:gd name="T41" fmla="*/ 133 h 133"/>
                  <a:gd name="T42" fmla="*/ 74 w 86"/>
                  <a:gd name="T43" fmla="*/ 126 h 133"/>
                  <a:gd name="T44" fmla="*/ 68 w 86"/>
                  <a:gd name="T45" fmla="*/ 120 h 133"/>
                  <a:gd name="T46" fmla="*/ 62 w 86"/>
                  <a:gd name="T47" fmla="*/ 117 h 133"/>
                  <a:gd name="T48" fmla="*/ 55 w 86"/>
                  <a:gd name="T49" fmla="*/ 111 h 133"/>
                  <a:gd name="T50" fmla="*/ 52 w 86"/>
                  <a:gd name="T51" fmla="*/ 108 h 133"/>
                  <a:gd name="T52" fmla="*/ 43 w 86"/>
                  <a:gd name="T53" fmla="*/ 99 h 133"/>
                  <a:gd name="T54" fmla="*/ 37 w 86"/>
                  <a:gd name="T55" fmla="*/ 96 h 133"/>
                  <a:gd name="T56" fmla="*/ 24 w 86"/>
                  <a:gd name="T57" fmla="*/ 62 h 133"/>
                  <a:gd name="T58" fmla="*/ 21 w 86"/>
                  <a:gd name="T59" fmla="*/ 49 h 133"/>
                  <a:gd name="T60" fmla="*/ 18 w 86"/>
                  <a:gd name="T61" fmla="*/ 46 h 133"/>
                  <a:gd name="T62" fmla="*/ 9 w 86"/>
                  <a:gd name="T63" fmla="*/ 40 h 133"/>
                  <a:gd name="T64" fmla="*/ 3 w 86"/>
                  <a:gd name="T65" fmla="*/ 31 h 133"/>
                  <a:gd name="T66" fmla="*/ 0 w 86"/>
                  <a:gd name="T67" fmla="*/ 3 h 133"/>
                  <a:gd name="T68" fmla="*/ 3 w 86"/>
                  <a:gd name="T69" fmla="*/ 0 h 133"/>
                  <a:gd name="T70" fmla="*/ 3 w 86"/>
                  <a:gd name="T71" fmla="*/ 0 h 133"/>
                  <a:gd name="T72" fmla="*/ 3 w 86"/>
                  <a:gd name="T73" fmla="*/ 0 h 133"/>
                  <a:gd name="T74" fmla="*/ 3 w 86"/>
                  <a:gd name="T75" fmla="*/ 0 h 13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86"/>
                  <a:gd name="T115" fmla="*/ 0 h 133"/>
                  <a:gd name="T116" fmla="*/ 86 w 86"/>
                  <a:gd name="T117" fmla="*/ 133 h 13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86" h="133">
                    <a:moveTo>
                      <a:pt x="3" y="0"/>
                    </a:moveTo>
                    <a:lnTo>
                      <a:pt x="9" y="25"/>
                    </a:lnTo>
                    <a:lnTo>
                      <a:pt x="12" y="34"/>
                    </a:lnTo>
                    <a:lnTo>
                      <a:pt x="15" y="37"/>
                    </a:lnTo>
                    <a:lnTo>
                      <a:pt x="18" y="40"/>
                    </a:lnTo>
                    <a:lnTo>
                      <a:pt x="24" y="43"/>
                    </a:lnTo>
                    <a:lnTo>
                      <a:pt x="31" y="62"/>
                    </a:lnTo>
                    <a:lnTo>
                      <a:pt x="31" y="68"/>
                    </a:lnTo>
                    <a:lnTo>
                      <a:pt x="34" y="77"/>
                    </a:lnTo>
                    <a:lnTo>
                      <a:pt x="40" y="83"/>
                    </a:lnTo>
                    <a:lnTo>
                      <a:pt x="43" y="89"/>
                    </a:lnTo>
                    <a:lnTo>
                      <a:pt x="49" y="96"/>
                    </a:lnTo>
                    <a:lnTo>
                      <a:pt x="55" y="102"/>
                    </a:lnTo>
                    <a:lnTo>
                      <a:pt x="62" y="108"/>
                    </a:lnTo>
                    <a:lnTo>
                      <a:pt x="65" y="108"/>
                    </a:lnTo>
                    <a:lnTo>
                      <a:pt x="71" y="114"/>
                    </a:lnTo>
                    <a:lnTo>
                      <a:pt x="83" y="126"/>
                    </a:lnTo>
                    <a:lnTo>
                      <a:pt x="86" y="130"/>
                    </a:lnTo>
                    <a:lnTo>
                      <a:pt x="86" y="133"/>
                    </a:lnTo>
                    <a:lnTo>
                      <a:pt x="83" y="133"/>
                    </a:lnTo>
                    <a:lnTo>
                      <a:pt x="80" y="133"/>
                    </a:lnTo>
                    <a:lnTo>
                      <a:pt x="74" y="126"/>
                    </a:lnTo>
                    <a:lnTo>
                      <a:pt x="68" y="120"/>
                    </a:lnTo>
                    <a:lnTo>
                      <a:pt x="62" y="117"/>
                    </a:lnTo>
                    <a:lnTo>
                      <a:pt x="55" y="111"/>
                    </a:lnTo>
                    <a:lnTo>
                      <a:pt x="52" y="108"/>
                    </a:lnTo>
                    <a:lnTo>
                      <a:pt x="43" y="99"/>
                    </a:lnTo>
                    <a:lnTo>
                      <a:pt x="37" y="96"/>
                    </a:lnTo>
                    <a:lnTo>
                      <a:pt x="24" y="62"/>
                    </a:lnTo>
                    <a:lnTo>
                      <a:pt x="21" y="49"/>
                    </a:lnTo>
                    <a:lnTo>
                      <a:pt x="18" y="46"/>
                    </a:lnTo>
                    <a:lnTo>
                      <a:pt x="9" y="40"/>
                    </a:lnTo>
                    <a:lnTo>
                      <a:pt x="3" y="31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4" name="Freeform 202"/>
              <p:cNvSpPr>
                <a:spLocks/>
              </p:cNvSpPr>
              <p:nvPr/>
            </p:nvSpPr>
            <p:spPr bwMode="auto">
              <a:xfrm>
                <a:off x="2826" y="993"/>
                <a:ext cx="58" cy="90"/>
              </a:xfrm>
              <a:custGeom>
                <a:avLst/>
                <a:gdLst>
                  <a:gd name="T0" fmla="*/ 58 w 58"/>
                  <a:gd name="T1" fmla="*/ 3 h 90"/>
                  <a:gd name="T2" fmla="*/ 43 w 58"/>
                  <a:gd name="T3" fmla="*/ 46 h 90"/>
                  <a:gd name="T4" fmla="*/ 34 w 58"/>
                  <a:gd name="T5" fmla="*/ 59 h 90"/>
                  <a:gd name="T6" fmla="*/ 31 w 58"/>
                  <a:gd name="T7" fmla="*/ 68 h 90"/>
                  <a:gd name="T8" fmla="*/ 24 w 58"/>
                  <a:gd name="T9" fmla="*/ 74 h 90"/>
                  <a:gd name="T10" fmla="*/ 21 w 58"/>
                  <a:gd name="T11" fmla="*/ 80 h 90"/>
                  <a:gd name="T12" fmla="*/ 15 w 58"/>
                  <a:gd name="T13" fmla="*/ 83 h 90"/>
                  <a:gd name="T14" fmla="*/ 3 w 58"/>
                  <a:gd name="T15" fmla="*/ 90 h 90"/>
                  <a:gd name="T16" fmla="*/ 0 w 58"/>
                  <a:gd name="T17" fmla="*/ 86 h 90"/>
                  <a:gd name="T18" fmla="*/ 0 w 58"/>
                  <a:gd name="T19" fmla="*/ 86 h 90"/>
                  <a:gd name="T20" fmla="*/ 9 w 58"/>
                  <a:gd name="T21" fmla="*/ 77 h 90"/>
                  <a:gd name="T22" fmla="*/ 15 w 58"/>
                  <a:gd name="T23" fmla="*/ 68 h 90"/>
                  <a:gd name="T24" fmla="*/ 24 w 58"/>
                  <a:gd name="T25" fmla="*/ 53 h 90"/>
                  <a:gd name="T26" fmla="*/ 27 w 58"/>
                  <a:gd name="T27" fmla="*/ 46 h 90"/>
                  <a:gd name="T28" fmla="*/ 34 w 58"/>
                  <a:gd name="T29" fmla="*/ 40 h 90"/>
                  <a:gd name="T30" fmla="*/ 40 w 58"/>
                  <a:gd name="T31" fmla="*/ 31 h 90"/>
                  <a:gd name="T32" fmla="*/ 43 w 58"/>
                  <a:gd name="T33" fmla="*/ 22 h 90"/>
                  <a:gd name="T34" fmla="*/ 52 w 58"/>
                  <a:gd name="T35" fmla="*/ 3 h 90"/>
                  <a:gd name="T36" fmla="*/ 55 w 58"/>
                  <a:gd name="T37" fmla="*/ 0 h 90"/>
                  <a:gd name="T38" fmla="*/ 58 w 58"/>
                  <a:gd name="T39" fmla="*/ 3 h 90"/>
                  <a:gd name="T40" fmla="*/ 58 w 58"/>
                  <a:gd name="T41" fmla="*/ 3 h 90"/>
                  <a:gd name="T42" fmla="*/ 58 w 58"/>
                  <a:gd name="T43" fmla="*/ 3 h 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"/>
                  <a:gd name="T67" fmla="*/ 0 h 90"/>
                  <a:gd name="T68" fmla="*/ 58 w 58"/>
                  <a:gd name="T69" fmla="*/ 90 h 9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" h="90">
                    <a:moveTo>
                      <a:pt x="58" y="3"/>
                    </a:moveTo>
                    <a:lnTo>
                      <a:pt x="43" y="46"/>
                    </a:lnTo>
                    <a:lnTo>
                      <a:pt x="34" y="59"/>
                    </a:lnTo>
                    <a:lnTo>
                      <a:pt x="31" y="68"/>
                    </a:lnTo>
                    <a:lnTo>
                      <a:pt x="24" y="74"/>
                    </a:lnTo>
                    <a:lnTo>
                      <a:pt x="21" y="80"/>
                    </a:lnTo>
                    <a:lnTo>
                      <a:pt x="15" y="83"/>
                    </a:lnTo>
                    <a:lnTo>
                      <a:pt x="3" y="90"/>
                    </a:lnTo>
                    <a:lnTo>
                      <a:pt x="0" y="86"/>
                    </a:lnTo>
                    <a:lnTo>
                      <a:pt x="9" y="77"/>
                    </a:lnTo>
                    <a:lnTo>
                      <a:pt x="15" y="68"/>
                    </a:lnTo>
                    <a:lnTo>
                      <a:pt x="24" y="53"/>
                    </a:lnTo>
                    <a:lnTo>
                      <a:pt x="27" y="46"/>
                    </a:lnTo>
                    <a:lnTo>
                      <a:pt x="34" y="40"/>
                    </a:lnTo>
                    <a:lnTo>
                      <a:pt x="40" y="31"/>
                    </a:lnTo>
                    <a:lnTo>
                      <a:pt x="43" y="22"/>
                    </a:lnTo>
                    <a:lnTo>
                      <a:pt x="52" y="3"/>
                    </a:lnTo>
                    <a:lnTo>
                      <a:pt x="55" y="0"/>
                    </a:lnTo>
                    <a:lnTo>
                      <a:pt x="5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5" name="Freeform 203"/>
              <p:cNvSpPr>
                <a:spLocks/>
              </p:cNvSpPr>
              <p:nvPr/>
            </p:nvSpPr>
            <p:spPr bwMode="auto">
              <a:xfrm>
                <a:off x="2792" y="1039"/>
                <a:ext cx="34" cy="16"/>
              </a:xfrm>
              <a:custGeom>
                <a:avLst/>
                <a:gdLst>
                  <a:gd name="T0" fmla="*/ 0 w 34"/>
                  <a:gd name="T1" fmla="*/ 13 h 16"/>
                  <a:gd name="T2" fmla="*/ 15 w 34"/>
                  <a:gd name="T3" fmla="*/ 10 h 16"/>
                  <a:gd name="T4" fmla="*/ 21 w 34"/>
                  <a:gd name="T5" fmla="*/ 3 h 16"/>
                  <a:gd name="T6" fmla="*/ 27 w 34"/>
                  <a:gd name="T7" fmla="*/ 0 h 16"/>
                  <a:gd name="T8" fmla="*/ 34 w 34"/>
                  <a:gd name="T9" fmla="*/ 3 h 16"/>
                  <a:gd name="T10" fmla="*/ 34 w 34"/>
                  <a:gd name="T11" fmla="*/ 7 h 16"/>
                  <a:gd name="T12" fmla="*/ 31 w 34"/>
                  <a:gd name="T13" fmla="*/ 10 h 16"/>
                  <a:gd name="T14" fmla="*/ 15 w 34"/>
                  <a:gd name="T15" fmla="*/ 16 h 16"/>
                  <a:gd name="T16" fmla="*/ 0 w 34"/>
                  <a:gd name="T17" fmla="*/ 16 h 16"/>
                  <a:gd name="T18" fmla="*/ 0 w 34"/>
                  <a:gd name="T19" fmla="*/ 16 h 16"/>
                  <a:gd name="T20" fmla="*/ 0 w 34"/>
                  <a:gd name="T21" fmla="*/ 13 h 16"/>
                  <a:gd name="T22" fmla="*/ 0 w 34"/>
                  <a:gd name="T23" fmla="*/ 13 h 16"/>
                  <a:gd name="T24" fmla="*/ 0 w 34"/>
                  <a:gd name="T25" fmla="*/ 13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4"/>
                  <a:gd name="T40" fmla="*/ 0 h 16"/>
                  <a:gd name="T41" fmla="*/ 34 w 34"/>
                  <a:gd name="T42" fmla="*/ 16 h 1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4" h="16">
                    <a:moveTo>
                      <a:pt x="0" y="13"/>
                    </a:moveTo>
                    <a:lnTo>
                      <a:pt x="15" y="10"/>
                    </a:lnTo>
                    <a:lnTo>
                      <a:pt x="21" y="3"/>
                    </a:lnTo>
                    <a:lnTo>
                      <a:pt x="27" y="0"/>
                    </a:lnTo>
                    <a:lnTo>
                      <a:pt x="34" y="3"/>
                    </a:lnTo>
                    <a:lnTo>
                      <a:pt x="34" y="7"/>
                    </a:lnTo>
                    <a:lnTo>
                      <a:pt x="31" y="10"/>
                    </a:lnTo>
                    <a:lnTo>
                      <a:pt x="15" y="16"/>
                    </a:lnTo>
                    <a:lnTo>
                      <a:pt x="0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6" name="Freeform 204"/>
              <p:cNvSpPr>
                <a:spLocks/>
              </p:cNvSpPr>
              <p:nvPr/>
            </p:nvSpPr>
            <p:spPr bwMode="auto">
              <a:xfrm>
                <a:off x="2773" y="978"/>
                <a:ext cx="12" cy="55"/>
              </a:xfrm>
              <a:custGeom>
                <a:avLst/>
                <a:gdLst>
                  <a:gd name="T0" fmla="*/ 3 w 12"/>
                  <a:gd name="T1" fmla="*/ 0 h 55"/>
                  <a:gd name="T2" fmla="*/ 12 w 12"/>
                  <a:gd name="T3" fmla="*/ 34 h 55"/>
                  <a:gd name="T4" fmla="*/ 9 w 12"/>
                  <a:gd name="T5" fmla="*/ 52 h 55"/>
                  <a:gd name="T6" fmla="*/ 9 w 12"/>
                  <a:gd name="T7" fmla="*/ 55 h 55"/>
                  <a:gd name="T8" fmla="*/ 6 w 12"/>
                  <a:gd name="T9" fmla="*/ 52 h 55"/>
                  <a:gd name="T10" fmla="*/ 3 w 12"/>
                  <a:gd name="T11" fmla="*/ 34 h 55"/>
                  <a:gd name="T12" fmla="*/ 0 w 12"/>
                  <a:gd name="T13" fmla="*/ 3 h 55"/>
                  <a:gd name="T14" fmla="*/ 0 w 12"/>
                  <a:gd name="T15" fmla="*/ 0 h 55"/>
                  <a:gd name="T16" fmla="*/ 3 w 12"/>
                  <a:gd name="T17" fmla="*/ 0 h 55"/>
                  <a:gd name="T18" fmla="*/ 3 w 12"/>
                  <a:gd name="T19" fmla="*/ 0 h 55"/>
                  <a:gd name="T20" fmla="*/ 3 w 12"/>
                  <a:gd name="T21" fmla="*/ 0 h 5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"/>
                  <a:gd name="T34" fmla="*/ 0 h 55"/>
                  <a:gd name="T35" fmla="*/ 12 w 12"/>
                  <a:gd name="T36" fmla="*/ 55 h 5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" h="55">
                    <a:moveTo>
                      <a:pt x="3" y="0"/>
                    </a:moveTo>
                    <a:lnTo>
                      <a:pt x="12" y="34"/>
                    </a:lnTo>
                    <a:lnTo>
                      <a:pt x="9" y="52"/>
                    </a:lnTo>
                    <a:lnTo>
                      <a:pt x="9" y="55"/>
                    </a:lnTo>
                    <a:lnTo>
                      <a:pt x="6" y="52"/>
                    </a:lnTo>
                    <a:lnTo>
                      <a:pt x="3" y="34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7" name="Freeform 205"/>
              <p:cNvSpPr>
                <a:spLocks/>
              </p:cNvSpPr>
              <p:nvPr/>
            </p:nvSpPr>
            <p:spPr bwMode="auto">
              <a:xfrm>
                <a:off x="2789" y="1024"/>
                <a:ext cx="21" cy="9"/>
              </a:xfrm>
              <a:custGeom>
                <a:avLst/>
                <a:gdLst>
                  <a:gd name="T0" fmla="*/ 0 w 21"/>
                  <a:gd name="T1" fmla="*/ 3 h 9"/>
                  <a:gd name="T2" fmla="*/ 15 w 21"/>
                  <a:gd name="T3" fmla="*/ 0 h 9"/>
                  <a:gd name="T4" fmla="*/ 18 w 21"/>
                  <a:gd name="T5" fmla="*/ 0 h 9"/>
                  <a:gd name="T6" fmla="*/ 21 w 21"/>
                  <a:gd name="T7" fmla="*/ 0 h 9"/>
                  <a:gd name="T8" fmla="*/ 21 w 21"/>
                  <a:gd name="T9" fmla="*/ 6 h 9"/>
                  <a:gd name="T10" fmla="*/ 15 w 21"/>
                  <a:gd name="T11" fmla="*/ 9 h 9"/>
                  <a:gd name="T12" fmla="*/ 0 w 21"/>
                  <a:gd name="T13" fmla="*/ 6 h 9"/>
                  <a:gd name="T14" fmla="*/ 0 w 21"/>
                  <a:gd name="T15" fmla="*/ 6 h 9"/>
                  <a:gd name="T16" fmla="*/ 0 w 21"/>
                  <a:gd name="T17" fmla="*/ 3 h 9"/>
                  <a:gd name="T18" fmla="*/ 0 w 21"/>
                  <a:gd name="T19" fmla="*/ 3 h 9"/>
                  <a:gd name="T20" fmla="*/ 0 w 21"/>
                  <a:gd name="T21" fmla="*/ 3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9"/>
                  <a:gd name="T35" fmla="*/ 21 w 21"/>
                  <a:gd name="T36" fmla="*/ 9 h 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9">
                    <a:moveTo>
                      <a:pt x="0" y="3"/>
                    </a:moveTo>
                    <a:lnTo>
                      <a:pt x="15" y="0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1" y="6"/>
                    </a:lnTo>
                    <a:lnTo>
                      <a:pt x="15" y="9"/>
                    </a:lnTo>
                    <a:lnTo>
                      <a:pt x="0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638" name="Freeform 206"/>
              <p:cNvSpPr>
                <a:spLocks/>
              </p:cNvSpPr>
              <p:nvPr/>
            </p:nvSpPr>
            <p:spPr bwMode="auto">
              <a:xfrm>
                <a:off x="2801" y="959"/>
                <a:ext cx="34" cy="9"/>
              </a:xfrm>
              <a:custGeom>
                <a:avLst/>
                <a:gdLst>
                  <a:gd name="T0" fmla="*/ 0 w 34"/>
                  <a:gd name="T1" fmla="*/ 3 h 9"/>
                  <a:gd name="T2" fmla="*/ 12 w 34"/>
                  <a:gd name="T3" fmla="*/ 0 h 9"/>
                  <a:gd name="T4" fmla="*/ 25 w 34"/>
                  <a:gd name="T5" fmla="*/ 3 h 9"/>
                  <a:gd name="T6" fmla="*/ 31 w 34"/>
                  <a:gd name="T7" fmla="*/ 3 h 9"/>
                  <a:gd name="T8" fmla="*/ 34 w 34"/>
                  <a:gd name="T9" fmla="*/ 9 h 9"/>
                  <a:gd name="T10" fmla="*/ 34 w 34"/>
                  <a:gd name="T11" fmla="*/ 9 h 9"/>
                  <a:gd name="T12" fmla="*/ 31 w 34"/>
                  <a:gd name="T13" fmla="*/ 9 h 9"/>
                  <a:gd name="T14" fmla="*/ 25 w 34"/>
                  <a:gd name="T15" fmla="*/ 9 h 9"/>
                  <a:gd name="T16" fmla="*/ 12 w 34"/>
                  <a:gd name="T17" fmla="*/ 6 h 9"/>
                  <a:gd name="T18" fmla="*/ 3 w 34"/>
                  <a:gd name="T19" fmla="*/ 6 h 9"/>
                  <a:gd name="T20" fmla="*/ 0 w 34"/>
                  <a:gd name="T21" fmla="*/ 6 h 9"/>
                  <a:gd name="T22" fmla="*/ 0 w 34"/>
                  <a:gd name="T23" fmla="*/ 3 h 9"/>
                  <a:gd name="T24" fmla="*/ 0 w 34"/>
                  <a:gd name="T25" fmla="*/ 3 h 9"/>
                  <a:gd name="T26" fmla="*/ 0 w 34"/>
                  <a:gd name="T27" fmla="*/ 3 h 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4"/>
                  <a:gd name="T43" fmla="*/ 0 h 9"/>
                  <a:gd name="T44" fmla="*/ 34 w 34"/>
                  <a:gd name="T45" fmla="*/ 9 h 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4" h="9">
                    <a:moveTo>
                      <a:pt x="0" y="3"/>
                    </a:moveTo>
                    <a:lnTo>
                      <a:pt x="12" y="0"/>
                    </a:lnTo>
                    <a:lnTo>
                      <a:pt x="25" y="3"/>
                    </a:lnTo>
                    <a:lnTo>
                      <a:pt x="31" y="3"/>
                    </a:lnTo>
                    <a:lnTo>
                      <a:pt x="34" y="9"/>
                    </a:lnTo>
                    <a:lnTo>
                      <a:pt x="31" y="9"/>
                    </a:lnTo>
                    <a:lnTo>
                      <a:pt x="25" y="9"/>
                    </a:lnTo>
                    <a:lnTo>
                      <a:pt x="12" y="6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grpSp>
          <p:nvGrpSpPr>
            <p:cNvPr id="4104" name="Group 408"/>
            <p:cNvGrpSpPr>
              <a:grpSpLocks/>
            </p:cNvGrpSpPr>
            <p:nvPr/>
          </p:nvGrpSpPr>
          <p:grpSpPr bwMode="auto">
            <a:xfrm>
              <a:off x="1908" y="857"/>
              <a:ext cx="3655" cy="2583"/>
              <a:chOff x="1908" y="857"/>
              <a:chExt cx="3655" cy="2583"/>
            </a:xfrm>
          </p:grpSpPr>
          <p:sp>
            <p:nvSpPr>
              <p:cNvPr id="4241" name="Freeform 208"/>
              <p:cNvSpPr>
                <a:spLocks/>
              </p:cNvSpPr>
              <p:nvPr/>
            </p:nvSpPr>
            <p:spPr bwMode="auto">
              <a:xfrm>
                <a:off x="2792" y="981"/>
                <a:ext cx="43" cy="9"/>
              </a:xfrm>
              <a:custGeom>
                <a:avLst/>
                <a:gdLst>
                  <a:gd name="T0" fmla="*/ 0 w 43"/>
                  <a:gd name="T1" fmla="*/ 6 h 9"/>
                  <a:gd name="T2" fmla="*/ 12 w 43"/>
                  <a:gd name="T3" fmla="*/ 0 h 9"/>
                  <a:gd name="T4" fmla="*/ 21 w 43"/>
                  <a:gd name="T5" fmla="*/ 0 h 9"/>
                  <a:gd name="T6" fmla="*/ 31 w 43"/>
                  <a:gd name="T7" fmla="*/ 3 h 9"/>
                  <a:gd name="T8" fmla="*/ 43 w 43"/>
                  <a:gd name="T9" fmla="*/ 3 h 9"/>
                  <a:gd name="T10" fmla="*/ 43 w 43"/>
                  <a:gd name="T11" fmla="*/ 6 h 9"/>
                  <a:gd name="T12" fmla="*/ 21 w 43"/>
                  <a:gd name="T13" fmla="*/ 6 h 9"/>
                  <a:gd name="T14" fmla="*/ 12 w 43"/>
                  <a:gd name="T15" fmla="*/ 6 h 9"/>
                  <a:gd name="T16" fmla="*/ 3 w 43"/>
                  <a:gd name="T17" fmla="*/ 9 h 9"/>
                  <a:gd name="T18" fmla="*/ 0 w 43"/>
                  <a:gd name="T19" fmla="*/ 6 h 9"/>
                  <a:gd name="T20" fmla="*/ 0 w 43"/>
                  <a:gd name="T21" fmla="*/ 6 h 9"/>
                  <a:gd name="T22" fmla="*/ 0 w 43"/>
                  <a:gd name="T23" fmla="*/ 6 h 9"/>
                  <a:gd name="T24" fmla="*/ 0 w 43"/>
                  <a:gd name="T25" fmla="*/ 6 h 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3"/>
                  <a:gd name="T40" fmla="*/ 0 h 9"/>
                  <a:gd name="T41" fmla="*/ 43 w 43"/>
                  <a:gd name="T42" fmla="*/ 9 h 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3" h="9">
                    <a:moveTo>
                      <a:pt x="0" y="6"/>
                    </a:moveTo>
                    <a:lnTo>
                      <a:pt x="12" y="0"/>
                    </a:lnTo>
                    <a:lnTo>
                      <a:pt x="21" y="0"/>
                    </a:lnTo>
                    <a:lnTo>
                      <a:pt x="31" y="3"/>
                    </a:lnTo>
                    <a:lnTo>
                      <a:pt x="43" y="3"/>
                    </a:lnTo>
                    <a:lnTo>
                      <a:pt x="43" y="6"/>
                    </a:lnTo>
                    <a:lnTo>
                      <a:pt x="21" y="6"/>
                    </a:lnTo>
                    <a:lnTo>
                      <a:pt x="12" y="6"/>
                    </a:lnTo>
                    <a:lnTo>
                      <a:pt x="3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2" name="Freeform 209"/>
              <p:cNvSpPr>
                <a:spLocks/>
              </p:cNvSpPr>
              <p:nvPr/>
            </p:nvSpPr>
            <p:spPr bwMode="auto">
              <a:xfrm>
                <a:off x="2742" y="987"/>
                <a:ext cx="22" cy="12"/>
              </a:xfrm>
              <a:custGeom>
                <a:avLst/>
                <a:gdLst>
                  <a:gd name="T0" fmla="*/ 0 w 22"/>
                  <a:gd name="T1" fmla="*/ 6 h 12"/>
                  <a:gd name="T2" fmla="*/ 3 w 22"/>
                  <a:gd name="T3" fmla="*/ 0 h 12"/>
                  <a:gd name="T4" fmla="*/ 19 w 22"/>
                  <a:gd name="T5" fmla="*/ 0 h 12"/>
                  <a:gd name="T6" fmla="*/ 22 w 22"/>
                  <a:gd name="T7" fmla="*/ 3 h 12"/>
                  <a:gd name="T8" fmla="*/ 19 w 22"/>
                  <a:gd name="T9" fmla="*/ 6 h 12"/>
                  <a:gd name="T10" fmla="*/ 9 w 22"/>
                  <a:gd name="T11" fmla="*/ 12 h 12"/>
                  <a:gd name="T12" fmla="*/ 3 w 22"/>
                  <a:gd name="T13" fmla="*/ 12 h 12"/>
                  <a:gd name="T14" fmla="*/ 0 w 22"/>
                  <a:gd name="T15" fmla="*/ 9 h 12"/>
                  <a:gd name="T16" fmla="*/ 0 w 22"/>
                  <a:gd name="T17" fmla="*/ 6 h 12"/>
                  <a:gd name="T18" fmla="*/ 0 w 22"/>
                  <a:gd name="T19" fmla="*/ 6 h 12"/>
                  <a:gd name="T20" fmla="*/ 0 w 22"/>
                  <a:gd name="T21" fmla="*/ 6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"/>
                  <a:gd name="T34" fmla="*/ 0 h 12"/>
                  <a:gd name="T35" fmla="*/ 22 w 22"/>
                  <a:gd name="T36" fmla="*/ 12 h 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" h="12">
                    <a:moveTo>
                      <a:pt x="0" y="6"/>
                    </a:moveTo>
                    <a:lnTo>
                      <a:pt x="3" y="0"/>
                    </a:lnTo>
                    <a:lnTo>
                      <a:pt x="19" y="0"/>
                    </a:lnTo>
                    <a:lnTo>
                      <a:pt x="22" y="3"/>
                    </a:lnTo>
                    <a:lnTo>
                      <a:pt x="19" y="6"/>
                    </a:lnTo>
                    <a:lnTo>
                      <a:pt x="9" y="12"/>
                    </a:lnTo>
                    <a:lnTo>
                      <a:pt x="3" y="12"/>
                    </a:lnTo>
                    <a:lnTo>
                      <a:pt x="0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3" name="Freeform 210"/>
              <p:cNvSpPr>
                <a:spLocks/>
              </p:cNvSpPr>
              <p:nvPr/>
            </p:nvSpPr>
            <p:spPr bwMode="auto">
              <a:xfrm>
                <a:off x="2730" y="965"/>
                <a:ext cx="34" cy="16"/>
              </a:xfrm>
              <a:custGeom>
                <a:avLst/>
                <a:gdLst>
                  <a:gd name="T0" fmla="*/ 0 w 34"/>
                  <a:gd name="T1" fmla="*/ 13 h 16"/>
                  <a:gd name="T2" fmla="*/ 6 w 34"/>
                  <a:gd name="T3" fmla="*/ 6 h 16"/>
                  <a:gd name="T4" fmla="*/ 31 w 34"/>
                  <a:gd name="T5" fmla="*/ 0 h 16"/>
                  <a:gd name="T6" fmla="*/ 34 w 34"/>
                  <a:gd name="T7" fmla="*/ 3 h 16"/>
                  <a:gd name="T8" fmla="*/ 31 w 34"/>
                  <a:gd name="T9" fmla="*/ 6 h 16"/>
                  <a:gd name="T10" fmla="*/ 9 w 34"/>
                  <a:gd name="T11" fmla="*/ 13 h 16"/>
                  <a:gd name="T12" fmla="*/ 6 w 34"/>
                  <a:gd name="T13" fmla="*/ 16 h 16"/>
                  <a:gd name="T14" fmla="*/ 0 w 34"/>
                  <a:gd name="T15" fmla="*/ 16 h 16"/>
                  <a:gd name="T16" fmla="*/ 0 w 34"/>
                  <a:gd name="T17" fmla="*/ 13 h 16"/>
                  <a:gd name="T18" fmla="*/ 0 w 34"/>
                  <a:gd name="T19" fmla="*/ 13 h 16"/>
                  <a:gd name="T20" fmla="*/ 0 w 34"/>
                  <a:gd name="T21" fmla="*/ 13 h 16"/>
                  <a:gd name="T22" fmla="*/ 0 w 34"/>
                  <a:gd name="T23" fmla="*/ 13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"/>
                  <a:gd name="T37" fmla="*/ 0 h 16"/>
                  <a:gd name="T38" fmla="*/ 34 w 34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" h="16">
                    <a:moveTo>
                      <a:pt x="0" y="13"/>
                    </a:moveTo>
                    <a:lnTo>
                      <a:pt x="6" y="6"/>
                    </a:lnTo>
                    <a:lnTo>
                      <a:pt x="31" y="0"/>
                    </a:lnTo>
                    <a:lnTo>
                      <a:pt x="34" y="3"/>
                    </a:lnTo>
                    <a:lnTo>
                      <a:pt x="31" y="6"/>
                    </a:lnTo>
                    <a:lnTo>
                      <a:pt x="9" y="13"/>
                    </a:lnTo>
                    <a:lnTo>
                      <a:pt x="6" y="16"/>
                    </a:lnTo>
                    <a:lnTo>
                      <a:pt x="0" y="16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4" name="Freeform 211"/>
              <p:cNvSpPr>
                <a:spLocks/>
              </p:cNvSpPr>
              <p:nvPr/>
            </p:nvSpPr>
            <p:spPr bwMode="auto">
              <a:xfrm>
                <a:off x="2736" y="872"/>
                <a:ext cx="99" cy="53"/>
              </a:xfrm>
              <a:custGeom>
                <a:avLst/>
                <a:gdLst>
                  <a:gd name="T0" fmla="*/ 3 w 99"/>
                  <a:gd name="T1" fmla="*/ 50 h 53"/>
                  <a:gd name="T2" fmla="*/ 25 w 99"/>
                  <a:gd name="T3" fmla="*/ 47 h 53"/>
                  <a:gd name="T4" fmla="*/ 34 w 99"/>
                  <a:gd name="T5" fmla="*/ 41 h 53"/>
                  <a:gd name="T6" fmla="*/ 43 w 99"/>
                  <a:gd name="T7" fmla="*/ 34 h 53"/>
                  <a:gd name="T8" fmla="*/ 49 w 99"/>
                  <a:gd name="T9" fmla="*/ 31 h 53"/>
                  <a:gd name="T10" fmla="*/ 53 w 99"/>
                  <a:gd name="T11" fmla="*/ 28 h 53"/>
                  <a:gd name="T12" fmla="*/ 62 w 99"/>
                  <a:gd name="T13" fmla="*/ 22 h 53"/>
                  <a:gd name="T14" fmla="*/ 71 w 99"/>
                  <a:gd name="T15" fmla="*/ 19 h 53"/>
                  <a:gd name="T16" fmla="*/ 80 w 99"/>
                  <a:gd name="T17" fmla="*/ 13 h 53"/>
                  <a:gd name="T18" fmla="*/ 87 w 99"/>
                  <a:gd name="T19" fmla="*/ 4 h 53"/>
                  <a:gd name="T20" fmla="*/ 96 w 99"/>
                  <a:gd name="T21" fmla="*/ 0 h 53"/>
                  <a:gd name="T22" fmla="*/ 99 w 99"/>
                  <a:gd name="T23" fmla="*/ 4 h 53"/>
                  <a:gd name="T24" fmla="*/ 96 w 99"/>
                  <a:gd name="T25" fmla="*/ 7 h 53"/>
                  <a:gd name="T26" fmla="*/ 87 w 99"/>
                  <a:gd name="T27" fmla="*/ 10 h 53"/>
                  <a:gd name="T28" fmla="*/ 80 w 99"/>
                  <a:gd name="T29" fmla="*/ 19 h 53"/>
                  <a:gd name="T30" fmla="*/ 74 w 99"/>
                  <a:gd name="T31" fmla="*/ 28 h 53"/>
                  <a:gd name="T32" fmla="*/ 71 w 99"/>
                  <a:gd name="T33" fmla="*/ 31 h 53"/>
                  <a:gd name="T34" fmla="*/ 65 w 99"/>
                  <a:gd name="T35" fmla="*/ 31 h 53"/>
                  <a:gd name="T36" fmla="*/ 53 w 99"/>
                  <a:gd name="T37" fmla="*/ 44 h 53"/>
                  <a:gd name="T38" fmla="*/ 46 w 99"/>
                  <a:gd name="T39" fmla="*/ 47 h 53"/>
                  <a:gd name="T40" fmla="*/ 40 w 99"/>
                  <a:gd name="T41" fmla="*/ 50 h 53"/>
                  <a:gd name="T42" fmla="*/ 28 w 99"/>
                  <a:gd name="T43" fmla="*/ 53 h 53"/>
                  <a:gd name="T44" fmla="*/ 3 w 99"/>
                  <a:gd name="T45" fmla="*/ 53 h 53"/>
                  <a:gd name="T46" fmla="*/ 0 w 99"/>
                  <a:gd name="T47" fmla="*/ 53 h 53"/>
                  <a:gd name="T48" fmla="*/ 3 w 99"/>
                  <a:gd name="T49" fmla="*/ 50 h 53"/>
                  <a:gd name="T50" fmla="*/ 3 w 99"/>
                  <a:gd name="T51" fmla="*/ 50 h 53"/>
                  <a:gd name="T52" fmla="*/ 3 w 99"/>
                  <a:gd name="T53" fmla="*/ 50 h 5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99"/>
                  <a:gd name="T82" fmla="*/ 0 h 53"/>
                  <a:gd name="T83" fmla="*/ 99 w 99"/>
                  <a:gd name="T84" fmla="*/ 53 h 53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99" h="53">
                    <a:moveTo>
                      <a:pt x="3" y="50"/>
                    </a:moveTo>
                    <a:lnTo>
                      <a:pt x="25" y="47"/>
                    </a:lnTo>
                    <a:lnTo>
                      <a:pt x="34" y="41"/>
                    </a:lnTo>
                    <a:lnTo>
                      <a:pt x="43" y="34"/>
                    </a:lnTo>
                    <a:lnTo>
                      <a:pt x="49" y="31"/>
                    </a:lnTo>
                    <a:lnTo>
                      <a:pt x="53" y="28"/>
                    </a:lnTo>
                    <a:lnTo>
                      <a:pt x="62" y="22"/>
                    </a:lnTo>
                    <a:lnTo>
                      <a:pt x="71" y="19"/>
                    </a:lnTo>
                    <a:lnTo>
                      <a:pt x="80" y="13"/>
                    </a:lnTo>
                    <a:lnTo>
                      <a:pt x="87" y="4"/>
                    </a:lnTo>
                    <a:lnTo>
                      <a:pt x="96" y="0"/>
                    </a:lnTo>
                    <a:lnTo>
                      <a:pt x="99" y="4"/>
                    </a:lnTo>
                    <a:lnTo>
                      <a:pt x="96" y="7"/>
                    </a:lnTo>
                    <a:lnTo>
                      <a:pt x="87" y="10"/>
                    </a:lnTo>
                    <a:lnTo>
                      <a:pt x="80" y="19"/>
                    </a:lnTo>
                    <a:lnTo>
                      <a:pt x="74" y="28"/>
                    </a:lnTo>
                    <a:lnTo>
                      <a:pt x="71" y="31"/>
                    </a:lnTo>
                    <a:lnTo>
                      <a:pt x="65" y="31"/>
                    </a:lnTo>
                    <a:lnTo>
                      <a:pt x="53" y="44"/>
                    </a:lnTo>
                    <a:lnTo>
                      <a:pt x="46" y="47"/>
                    </a:lnTo>
                    <a:lnTo>
                      <a:pt x="40" y="50"/>
                    </a:lnTo>
                    <a:lnTo>
                      <a:pt x="28" y="53"/>
                    </a:lnTo>
                    <a:lnTo>
                      <a:pt x="3" y="53"/>
                    </a:lnTo>
                    <a:lnTo>
                      <a:pt x="0" y="53"/>
                    </a:lnTo>
                    <a:lnTo>
                      <a:pt x="3" y="5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5" name="Freeform 212"/>
              <p:cNvSpPr>
                <a:spLocks/>
              </p:cNvSpPr>
              <p:nvPr/>
            </p:nvSpPr>
            <p:spPr bwMode="auto">
              <a:xfrm>
                <a:off x="2857" y="910"/>
                <a:ext cx="18" cy="9"/>
              </a:xfrm>
              <a:custGeom>
                <a:avLst/>
                <a:gdLst>
                  <a:gd name="T0" fmla="*/ 3 w 18"/>
                  <a:gd name="T1" fmla="*/ 0 h 9"/>
                  <a:gd name="T2" fmla="*/ 15 w 18"/>
                  <a:gd name="T3" fmla="*/ 0 h 9"/>
                  <a:gd name="T4" fmla="*/ 18 w 18"/>
                  <a:gd name="T5" fmla="*/ 0 h 9"/>
                  <a:gd name="T6" fmla="*/ 18 w 18"/>
                  <a:gd name="T7" fmla="*/ 3 h 9"/>
                  <a:gd name="T8" fmla="*/ 18 w 18"/>
                  <a:gd name="T9" fmla="*/ 6 h 9"/>
                  <a:gd name="T10" fmla="*/ 15 w 18"/>
                  <a:gd name="T11" fmla="*/ 9 h 9"/>
                  <a:gd name="T12" fmla="*/ 0 w 18"/>
                  <a:gd name="T13" fmla="*/ 3 h 9"/>
                  <a:gd name="T14" fmla="*/ 0 w 18"/>
                  <a:gd name="T15" fmla="*/ 3 h 9"/>
                  <a:gd name="T16" fmla="*/ 3 w 18"/>
                  <a:gd name="T17" fmla="*/ 0 h 9"/>
                  <a:gd name="T18" fmla="*/ 3 w 18"/>
                  <a:gd name="T19" fmla="*/ 0 h 9"/>
                  <a:gd name="T20" fmla="*/ 3 w 18"/>
                  <a:gd name="T21" fmla="*/ 0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"/>
                  <a:gd name="T34" fmla="*/ 0 h 9"/>
                  <a:gd name="T35" fmla="*/ 18 w 18"/>
                  <a:gd name="T36" fmla="*/ 9 h 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" h="9">
                    <a:moveTo>
                      <a:pt x="3" y="0"/>
                    </a:moveTo>
                    <a:lnTo>
                      <a:pt x="15" y="0"/>
                    </a:lnTo>
                    <a:lnTo>
                      <a:pt x="18" y="0"/>
                    </a:lnTo>
                    <a:lnTo>
                      <a:pt x="18" y="3"/>
                    </a:lnTo>
                    <a:lnTo>
                      <a:pt x="18" y="6"/>
                    </a:lnTo>
                    <a:lnTo>
                      <a:pt x="15" y="9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6" name="Freeform 213"/>
              <p:cNvSpPr>
                <a:spLocks/>
              </p:cNvSpPr>
              <p:nvPr/>
            </p:nvSpPr>
            <p:spPr bwMode="auto">
              <a:xfrm>
                <a:off x="2857" y="925"/>
                <a:ext cx="15" cy="9"/>
              </a:xfrm>
              <a:custGeom>
                <a:avLst/>
                <a:gdLst>
                  <a:gd name="T0" fmla="*/ 6 w 15"/>
                  <a:gd name="T1" fmla="*/ 0 h 9"/>
                  <a:gd name="T2" fmla="*/ 6 w 15"/>
                  <a:gd name="T3" fmla="*/ 0 h 9"/>
                  <a:gd name="T4" fmla="*/ 15 w 15"/>
                  <a:gd name="T5" fmla="*/ 6 h 9"/>
                  <a:gd name="T6" fmla="*/ 15 w 15"/>
                  <a:gd name="T7" fmla="*/ 6 h 9"/>
                  <a:gd name="T8" fmla="*/ 12 w 15"/>
                  <a:gd name="T9" fmla="*/ 6 h 9"/>
                  <a:gd name="T10" fmla="*/ 3 w 15"/>
                  <a:gd name="T11" fmla="*/ 9 h 9"/>
                  <a:gd name="T12" fmla="*/ 0 w 15"/>
                  <a:gd name="T13" fmla="*/ 6 h 9"/>
                  <a:gd name="T14" fmla="*/ 3 w 15"/>
                  <a:gd name="T15" fmla="*/ 3 h 9"/>
                  <a:gd name="T16" fmla="*/ 6 w 15"/>
                  <a:gd name="T17" fmla="*/ 0 h 9"/>
                  <a:gd name="T18" fmla="*/ 6 w 15"/>
                  <a:gd name="T19" fmla="*/ 0 h 9"/>
                  <a:gd name="T20" fmla="*/ 6 w 15"/>
                  <a:gd name="T21" fmla="*/ 0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"/>
                  <a:gd name="T34" fmla="*/ 0 h 9"/>
                  <a:gd name="T35" fmla="*/ 15 w 15"/>
                  <a:gd name="T36" fmla="*/ 9 h 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" h="9">
                    <a:moveTo>
                      <a:pt x="6" y="0"/>
                    </a:moveTo>
                    <a:lnTo>
                      <a:pt x="6" y="0"/>
                    </a:lnTo>
                    <a:lnTo>
                      <a:pt x="15" y="6"/>
                    </a:lnTo>
                    <a:lnTo>
                      <a:pt x="12" y="6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3" y="3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7" name="Freeform 214"/>
              <p:cNvSpPr>
                <a:spLocks/>
              </p:cNvSpPr>
              <p:nvPr/>
            </p:nvSpPr>
            <p:spPr bwMode="auto">
              <a:xfrm>
                <a:off x="2897" y="934"/>
                <a:ext cx="58" cy="22"/>
              </a:xfrm>
              <a:custGeom>
                <a:avLst/>
                <a:gdLst>
                  <a:gd name="T0" fmla="*/ 3 w 58"/>
                  <a:gd name="T1" fmla="*/ 0 h 22"/>
                  <a:gd name="T2" fmla="*/ 21 w 58"/>
                  <a:gd name="T3" fmla="*/ 0 h 22"/>
                  <a:gd name="T4" fmla="*/ 37 w 58"/>
                  <a:gd name="T5" fmla="*/ 6 h 22"/>
                  <a:gd name="T6" fmla="*/ 58 w 58"/>
                  <a:gd name="T7" fmla="*/ 19 h 22"/>
                  <a:gd name="T8" fmla="*/ 58 w 58"/>
                  <a:gd name="T9" fmla="*/ 19 h 22"/>
                  <a:gd name="T10" fmla="*/ 55 w 58"/>
                  <a:gd name="T11" fmla="*/ 22 h 22"/>
                  <a:gd name="T12" fmla="*/ 34 w 58"/>
                  <a:gd name="T13" fmla="*/ 16 h 22"/>
                  <a:gd name="T14" fmla="*/ 27 w 58"/>
                  <a:gd name="T15" fmla="*/ 10 h 22"/>
                  <a:gd name="T16" fmla="*/ 18 w 58"/>
                  <a:gd name="T17" fmla="*/ 6 h 22"/>
                  <a:gd name="T18" fmla="*/ 3 w 58"/>
                  <a:gd name="T19" fmla="*/ 3 h 22"/>
                  <a:gd name="T20" fmla="*/ 0 w 58"/>
                  <a:gd name="T21" fmla="*/ 0 h 22"/>
                  <a:gd name="T22" fmla="*/ 3 w 58"/>
                  <a:gd name="T23" fmla="*/ 0 h 22"/>
                  <a:gd name="T24" fmla="*/ 3 w 58"/>
                  <a:gd name="T25" fmla="*/ 0 h 22"/>
                  <a:gd name="T26" fmla="*/ 3 w 58"/>
                  <a:gd name="T27" fmla="*/ 0 h 2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"/>
                  <a:gd name="T43" fmla="*/ 0 h 22"/>
                  <a:gd name="T44" fmla="*/ 58 w 58"/>
                  <a:gd name="T45" fmla="*/ 22 h 2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" h="22">
                    <a:moveTo>
                      <a:pt x="3" y="0"/>
                    </a:moveTo>
                    <a:lnTo>
                      <a:pt x="21" y="0"/>
                    </a:lnTo>
                    <a:lnTo>
                      <a:pt x="37" y="6"/>
                    </a:lnTo>
                    <a:lnTo>
                      <a:pt x="58" y="19"/>
                    </a:lnTo>
                    <a:lnTo>
                      <a:pt x="55" y="22"/>
                    </a:lnTo>
                    <a:lnTo>
                      <a:pt x="34" y="16"/>
                    </a:lnTo>
                    <a:lnTo>
                      <a:pt x="27" y="10"/>
                    </a:lnTo>
                    <a:lnTo>
                      <a:pt x="18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8" name="Freeform 215"/>
              <p:cNvSpPr>
                <a:spLocks/>
              </p:cNvSpPr>
              <p:nvPr/>
            </p:nvSpPr>
            <p:spPr bwMode="auto">
              <a:xfrm>
                <a:off x="2937" y="956"/>
                <a:ext cx="139" cy="127"/>
              </a:xfrm>
              <a:custGeom>
                <a:avLst/>
                <a:gdLst>
                  <a:gd name="T0" fmla="*/ 3 w 139"/>
                  <a:gd name="T1" fmla="*/ 0 h 127"/>
                  <a:gd name="T2" fmla="*/ 43 w 139"/>
                  <a:gd name="T3" fmla="*/ 0 h 127"/>
                  <a:gd name="T4" fmla="*/ 55 w 139"/>
                  <a:gd name="T5" fmla="*/ 6 h 127"/>
                  <a:gd name="T6" fmla="*/ 68 w 139"/>
                  <a:gd name="T7" fmla="*/ 15 h 127"/>
                  <a:gd name="T8" fmla="*/ 71 w 139"/>
                  <a:gd name="T9" fmla="*/ 18 h 127"/>
                  <a:gd name="T10" fmla="*/ 77 w 139"/>
                  <a:gd name="T11" fmla="*/ 25 h 127"/>
                  <a:gd name="T12" fmla="*/ 83 w 139"/>
                  <a:gd name="T13" fmla="*/ 28 h 127"/>
                  <a:gd name="T14" fmla="*/ 86 w 139"/>
                  <a:gd name="T15" fmla="*/ 34 h 127"/>
                  <a:gd name="T16" fmla="*/ 89 w 139"/>
                  <a:gd name="T17" fmla="*/ 43 h 127"/>
                  <a:gd name="T18" fmla="*/ 96 w 139"/>
                  <a:gd name="T19" fmla="*/ 52 h 127"/>
                  <a:gd name="T20" fmla="*/ 105 w 139"/>
                  <a:gd name="T21" fmla="*/ 62 h 127"/>
                  <a:gd name="T22" fmla="*/ 114 w 139"/>
                  <a:gd name="T23" fmla="*/ 77 h 127"/>
                  <a:gd name="T24" fmla="*/ 123 w 139"/>
                  <a:gd name="T25" fmla="*/ 93 h 127"/>
                  <a:gd name="T26" fmla="*/ 130 w 139"/>
                  <a:gd name="T27" fmla="*/ 105 h 127"/>
                  <a:gd name="T28" fmla="*/ 133 w 139"/>
                  <a:gd name="T29" fmla="*/ 111 h 127"/>
                  <a:gd name="T30" fmla="*/ 139 w 139"/>
                  <a:gd name="T31" fmla="*/ 120 h 127"/>
                  <a:gd name="T32" fmla="*/ 139 w 139"/>
                  <a:gd name="T33" fmla="*/ 123 h 127"/>
                  <a:gd name="T34" fmla="*/ 139 w 139"/>
                  <a:gd name="T35" fmla="*/ 127 h 127"/>
                  <a:gd name="T36" fmla="*/ 133 w 139"/>
                  <a:gd name="T37" fmla="*/ 127 h 127"/>
                  <a:gd name="T38" fmla="*/ 120 w 139"/>
                  <a:gd name="T39" fmla="*/ 111 h 127"/>
                  <a:gd name="T40" fmla="*/ 114 w 139"/>
                  <a:gd name="T41" fmla="*/ 96 h 127"/>
                  <a:gd name="T42" fmla="*/ 108 w 139"/>
                  <a:gd name="T43" fmla="*/ 83 h 127"/>
                  <a:gd name="T44" fmla="*/ 105 w 139"/>
                  <a:gd name="T45" fmla="*/ 74 h 127"/>
                  <a:gd name="T46" fmla="*/ 99 w 139"/>
                  <a:gd name="T47" fmla="*/ 68 h 127"/>
                  <a:gd name="T48" fmla="*/ 83 w 139"/>
                  <a:gd name="T49" fmla="*/ 46 h 127"/>
                  <a:gd name="T50" fmla="*/ 80 w 139"/>
                  <a:gd name="T51" fmla="*/ 40 h 127"/>
                  <a:gd name="T52" fmla="*/ 71 w 139"/>
                  <a:gd name="T53" fmla="*/ 31 h 127"/>
                  <a:gd name="T54" fmla="*/ 68 w 139"/>
                  <a:gd name="T55" fmla="*/ 25 h 127"/>
                  <a:gd name="T56" fmla="*/ 62 w 139"/>
                  <a:gd name="T57" fmla="*/ 22 h 127"/>
                  <a:gd name="T58" fmla="*/ 59 w 139"/>
                  <a:gd name="T59" fmla="*/ 18 h 127"/>
                  <a:gd name="T60" fmla="*/ 52 w 139"/>
                  <a:gd name="T61" fmla="*/ 15 h 127"/>
                  <a:gd name="T62" fmla="*/ 43 w 139"/>
                  <a:gd name="T63" fmla="*/ 9 h 127"/>
                  <a:gd name="T64" fmla="*/ 21 w 139"/>
                  <a:gd name="T65" fmla="*/ 6 h 127"/>
                  <a:gd name="T66" fmla="*/ 3 w 139"/>
                  <a:gd name="T67" fmla="*/ 3 h 127"/>
                  <a:gd name="T68" fmla="*/ 0 w 139"/>
                  <a:gd name="T69" fmla="*/ 3 h 127"/>
                  <a:gd name="T70" fmla="*/ 3 w 139"/>
                  <a:gd name="T71" fmla="*/ 0 h 127"/>
                  <a:gd name="T72" fmla="*/ 3 w 139"/>
                  <a:gd name="T73" fmla="*/ 0 h 127"/>
                  <a:gd name="T74" fmla="*/ 3 w 139"/>
                  <a:gd name="T75" fmla="*/ 0 h 12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9"/>
                  <a:gd name="T115" fmla="*/ 0 h 127"/>
                  <a:gd name="T116" fmla="*/ 139 w 139"/>
                  <a:gd name="T117" fmla="*/ 127 h 12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9" h="127">
                    <a:moveTo>
                      <a:pt x="3" y="0"/>
                    </a:moveTo>
                    <a:lnTo>
                      <a:pt x="43" y="0"/>
                    </a:lnTo>
                    <a:lnTo>
                      <a:pt x="55" y="6"/>
                    </a:lnTo>
                    <a:lnTo>
                      <a:pt x="68" y="15"/>
                    </a:lnTo>
                    <a:lnTo>
                      <a:pt x="71" y="18"/>
                    </a:lnTo>
                    <a:lnTo>
                      <a:pt x="77" y="25"/>
                    </a:lnTo>
                    <a:lnTo>
                      <a:pt x="83" y="28"/>
                    </a:lnTo>
                    <a:lnTo>
                      <a:pt x="86" y="34"/>
                    </a:lnTo>
                    <a:lnTo>
                      <a:pt x="89" y="43"/>
                    </a:lnTo>
                    <a:lnTo>
                      <a:pt x="96" y="52"/>
                    </a:lnTo>
                    <a:lnTo>
                      <a:pt x="105" y="62"/>
                    </a:lnTo>
                    <a:lnTo>
                      <a:pt x="114" y="77"/>
                    </a:lnTo>
                    <a:lnTo>
                      <a:pt x="123" y="93"/>
                    </a:lnTo>
                    <a:lnTo>
                      <a:pt x="130" y="105"/>
                    </a:lnTo>
                    <a:lnTo>
                      <a:pt x="133" y="111"/>
                    </a:lnTo>
                    <a:lnTo>
                      <a:pt x="139" y="120"/>
                    </a:lnTo>
                    <a:lnTo>
                      <a:pt x="139" y="123"/>
                    </a:lnTo>
                    <a:lnTo>
                      <a:pt x="139" y="127"/>
                    </a:lnTo>
                    <a:lnTo>
                      <a:pt x="133" y="127"/>
                    </a:lnTo>
                    <a:lnTo>
                      <a:pt x="120" y="111"/>
                    </a:lnTo>
                    <a:lnTo>
                      <a:pt x="114" y="96"/>
                    </a:lnTo>
                    <a:lnTo>
                      <a:pt x="108" y="83"/>
                    </a:lnTo>
                    <a:lnTo>
                      <a:pt x="105" y="74"/>
                    </a:lnTo>
                    <a:lnTo>
                      <a:pt x="99" y="68"/>
                    </a:lnTo>
                    <a:lnTo>
                      <a:pt x="83" y="46"/>
                    </a:lnTo>
                    <a:lnTo>
                      <a:pt x="80" y="40"/>
                    </a:lnTo>
                    <a:lnTo>
                      <a:pt x="71" y="31"/>
                    </a:lnTo>
                    <a:lnTo>
                      <a:pt x="68" y="25"/>
                    </a:lnTo>
                    <a:lnTo>
                      <a:pt x="62" y="22"/>
                    </a:lnTo>
                    <a:lnTo>
                      <a:pt x="59" y="18"/>
                    </a:lnTo>
                    <a:lnTo>
                      <a:pt x="52" y="15"/>
                    </a:lnTo>
                    <a:lnTo>
                      <a:pt x="43" y="9"/>
                    </a:lnTo>
                    <a:lnTo>
                      <a:pt x="21" y="6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49" name="Freeform 216"/>
              <p:cNvSpPr>
                <a:spLocks/>
              </p:cNvSpPr>
              <p:nvPr/>
            </p:nvSpPr>
            <p:spPr bwMode="auto">
              <a:xfrm>
                <a:off x="2430" y="857"/>
                <a:ext cx="133" cy="148"/>
              </a:xfrm>
              <a:custGeom>
                <a:avLst/>
                <a:gdLst>
                  <a:gd name="T0" fmla="*/ 118 w 133"/>
                  <a:gd name="T1" fmla="*/ 9 h 148"/>
                  <a:gd name="T2" fmla="*/ 87 w 133"/>
                  <a:gd name="T3" fmla="*/ 9 h 148"/>
                  <a:gd name="T4" fmla="*/ 65 w 133"/>
                  <a:gd name="T5" fmla="*/ 22 h 148"/>
                  <a:gd name="T6" fmla="*/ 40 w 133"/>
                  <a:gd name="T7" fmla="*/ 31 h 148"/>
                  <a:gd name="T8" fmla="*/ 22 w 133"/>
                  <a:gd name="T9" fmla="*/ 59 h 148"/>
                  <a:gd name="T10" fmla="*/ 22 w 133"/>
                  <a:gd name="T11" fmla="*/ 77 h 148"/>
                  <a:gd name="T12" fmla="*/ 6 w 133"/>
                  <a:gd name="T13" fmla="*/ 102 h 148"/>
                  <a:gd name="T14" fmla="*/ 9 w 133"/>
                  <a:gd name="T15" fmla="*/ 124 h 148"/>
                  <a:gd name="T16" fmla="*/ 28 w 133"/>
                  <a:gd name="T17" fmla="*/ 142 h 148"/>
                  <a:gd name="T18" fmla="*/ 53 w 133"/>
                  <a:gd name="T19" fmla="*/ 133 h 148"/>
                  <a:gd name="T20" fmla="*/ 65 w 133"/>
                  <a:gd name="T21" fmla="*/ 117 h 148"/>
                  <a:gd name="T22" fmla="*/ 81 w 133"/>
                  <a:gd name="T23" fmla="*/ 102 h 148"/>
                  <a:gd name="T24" fmla="*/ 74 w 133"/>
                  <a:gd name="T25" fmla="*/ 83 h 148"/>
                  <a:gd name="T26" fmla="*/ 77 w 133"/>
                  <a:gd name="T27" fmla="*/ 68 h 148"/>
                  <a:gd name="T28" fmla="*/ 90 w 133"/>
                  <a:gd name="T29" fmla="*/ 59 h 148"/>
                  <a:gd name="T30" fmla="*/ 102 w 133"/>
                  <a:gd name="T31" fmla="*/ 53 h 148"/>
                  <a:gd name="T32" fmla="*/ 118 w 133"/>
                  <a:gd name="T33" fmla="*/ 46 h 148"/>
                  <a:gd name="T34" fmla="*/ 108 w 133"/>
                  <a:gd name="T35" fmla="*/ 56 h 148"/>
                  <a:gd name="T36" fmla="*/ 90 w 133"/>
                  <a:gd name="T37" fmla="*/ 71 h 148"/>
                  <a:gd name="T38" fmla="*/ 87 w 133"/>
                  <a:gd name="T39" fmla="*/ 102 h 148"/>
                  <a:gd name="T40" fmla="*/ 81 w 133"/>
                  <a:gd name="T41" fmla="*/ 114 h 148"/>
                  <a:gd name="T42" fmla="*/ 65 w 133"/>
                  <a:gd name="T43" fmla="*/ 133 h 148"/>
                  <a:gd name="T44" fmla="*/ 47 w 133"/>
                  <a:gd name="T45" fmla="*/ 145 h 148"/>
                  <a:gd name="T46" fmla="*/ 28 w 133"/>
                  <a:gd name="T47" fmla="*/ 148 h 148"/>
                  <a:gd name="T48" fmla="*/ 6 w 133"/>
                  <a:gd name="T49" fmla="*/ 142 h 148"/>
                  <a:gd name="T50" fmla="*/ 0 w 133"/>
                  <a:gd name="T51" fmla="*/ 99 h 148"/>
                  <a:gd name="T52" fmla="*/ 13 w 133"/>
                  <a:gd name="T53" fmla="*/ 83 h 148"/>
                  <a:gd name="T54" fmla="*/ 16 w 133"/>
                  <a:gd name="T55" fmla="*/ 56 h 148"/>
                  <a:gd name="T56" fmla="*/ 25 w 133"/>
                  <a:gd name="T57" fmla="*/ 40 h 148"/>
                  <a:gd name="T58" fmla="*/ 37 w 133"/>
                  <a:gd name="T59" fmla="*/ 28 h 148"/>
                  <a:gd name="T60" fmla="*/ 47 w 133"/>
                  <a:gd name="T61" fmla="*/ 22 h 148"/>
                  <a:gd name="T62" fmla="*/ 65 w 133"/>
                  <a:gd name="T63" fmla="*/ 15 h 148"/>
                  <a:gd name="T64" fmla="*/ 77 w 133"/>
                  <a:gd name="T65" fmla="*/ 9 h 148"/>
                  <a:gd name="T66" fmla="*/ 102 w 133"/>
                  <a:gd name="T67" fmla="*/ 0 h 148"/>
                  <a:gd name="T68" fmla="*/ 124 w 133"/>
                  <a:gd name="T69" fmla="*/ 6 h 148"/>
                  <a:gd name="T70" fmla="*/ 133 w 133"/>
                  <a:gd name="T71" fmla="*/ 12 h 148"/>
                  <a:gd name="T72" fmla="*/ 130 w 133"/>
                  <a:gd name="T73" fmla="*/ 12 h 14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3"/>
                  <a:gd name="T112" fmla="*/ 0 h 148"/>
                  <a:gd name="T113" fmla="*/ 133 w 133"/>
                  <a:gd name="T114" fmla="*/ 148 h 14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3" h="148">
                    <a:moveTo>
                      <a:pt x="130" y="12"/>
                    </a:moveTo>
                    <a:lnTo>
                      <a:pt x="118" y="9"/>
                    </a:lnTo>
                    <a:lnTo>
                      <a:pt x="102" y="6"/>
                    </a:lnTo>
                    <a:lnTo>
                      <a:pt x="87" y="9"/>
                    </a:lnTo>
                    <a:lnTo>
                      <a:pt x="68" y="19"/>
                    </a:lnTo>
                    <a:lnTo>
                      <a:pt x="65" y="22"/>
                    </a:lnTo>
                    <a:lnTo>
                      <a:pt x="50" y="28"/>
                    </a:lnTo>
                    <a:lnTo>
                      <a:pt x="40" y="31"/>
                    </a:lnTo>
                    <a:lnTo>
                      <a:pt x="28" y="43"/>
                    </a:lnTo>
                    <a:lnTo>
                      <a:pt x="22" y="59"/>
                    </a:lnTo>
                    <a:lnTo>
                      <a:pt x="22" y="68"/>
                    </a:lnTo>
                    <a:lnTo>
                      <a:pt x="22" y="77"/>
                    </a:lnTo>
                    <a:lnTo>
                      <a:pt x="19" y="87"/>
                    </a:lnTo>
                    <a:lnTo>
                      <a:pt x="6" y="102"/>
                    </a:lnTo>
                    <a:lnTo>
                      <a:pt x="6" y="111"/>
                    </a:lnTo>
                    <a:lnTo>
                      <a:pt x="9" y="124"/>
                    </a:lnTo>
                    <a:lnTo>
                      <a:pt x="13" y="136"/>
                    </a:lnTo>
                    <a:lnTo>
                      <a:pt x="28" y="142"/>
                    </a:lnTo>
                    <a:lnTo>
                      <a:pt x="43" y="136"/>
                    </a:lnTo>
                    <a:lnTo>
                      <a:pt x="53" y="133"/>
                    </a:lnTo>
                    <a:lnTo>
                      <a:pt x="59" y="124"/>
                    </a:lnTo>
                    <a:lnTo>
                      <a:pt x="65" y="117"/>
                    </a:lnTo>
                    <a:lnTo>
                      <a:pt x="71" y="111"/>
                    </a:lnTo>
                    <a:lnTo>
                      <a:pt x="81" y="102"/>
                    </a:lnTo>
                    <a:lnTo>
                      <a:pt x="77" y="93"/>
                    </a:lnTo>
                    <a:lnTo>
                      <a:pt x="74" y="83"/>
                    </a:lnTo>
                    <a:lnTo>
                      <a:pt x="74" y="74"/>
                    </a:lnTo>
                    <a:lnTo>
                      <a:pt x="77" y="68"/>
                    </a:lnTo>
                    <a:lnTo>
                      <a:pt x="84" y="65"/>
                    </a:lnTo>
                    <a:lnTo>
                      <a:pt x="90" y="59"/>
                    </a:lnTo>
                    <a:lnTo>
                      <a:pt x="96" y="56"/>
                    </a:lnTo>
                    <a:lnTo>
                      <a:pt x="102" y="53"/>
                    </a:lnTo>
                    <a:lnTo>
                      <a:pt x="115" y="43"/>
                    </a:lnTo>
                    <a:lnTo>
                      <a:pt x="118" y="46"/>
                    </a:lnTo>
                    <a:lnTo>
                      <a:pt x="111" y="49"/>
                    </a:lnTo>
                    <a:lnTo>
                      <a:pt x="108" y="56"/>
                    </a:lnTo>
                    <a:lnTo>
                      <a:pt x="96" y="62"/>
                    </a:lnTo>
                    <a:lnTo>
                      <a:pt x="90" y="71"/>
                    </a:lnTo>
                    <a:lnTo>
                      <a:pt x="87" y="83"/>
                    </a:lnTo>
                    <a:lnTo>
                      <a:pt x="87" y="102"/>
                    </a:lnTo>
                    <a:lnTo>
                      <a:pt x="84" y="111"/>
                    </a:lnTo>
                    <a:lnTo>
                      <a:pt x="81" y="114"/>
                    </a:lnTo>
                    <a:lnTo>
                      <a:pt x="77" y="117"/>
                    </a:lnTo>
                    <a:lnTo>
                      <a:pt x="65" y="133"/>
                    </a:lnTo>
                    <a:lnTo>
                      <a:pt x="56" y="139"/>
                    </a:lnTo>
                    <a:lnTo>
                      <a:pt x="47" y="145"/>
                    </a:lnTo>
                    <a:lnTo>
                      <a:pt x="37" y="148"/>
                    </a:lnTo>
                    <a:lnTo>
                      <a:pt x="28" y="148"/>
                    </a:lnTo>
                    <a:lnTo>
                      <a:pt x="6" y="145"/>
                    </a:lnTo>
                    <a:lnTo>
                      <a:pt x="6" y="142"/>
                    </a:lnTo>
                    <a:lnTo>
                      <a:pt x="0" y="124"/>
                    </a:lnTo>
                    <a:lnTo>
                      <a:pt x="0" y="99"/>
                    </a:lnTo>
                    <a:lnTo>
                      <a:pt x="6" y="93"/>
                    </a:lnTo>
                    <a:lnTo>
                      <a:pt x="13" y="83"/>
                    </a:lnTo>
                    <a:lnTo>
                      <a:pt x="16" y="68"/>
                    </a:lnTo>
                    <a:lnTo>
                      <a:pt x="16" y="56"/>
                    </a:lnTo>
                    <a:lnTo>
                      <a:pt x="19" y="46"/>
                    </a:lnTo>
                    <a:lnTo>
                      <a:pt x="25" y="40"/>
                    </a:lnTo>
                    <a:lnTo>
                      <a:pt x="31" y="34"/>
                    </a:lnTo>
                    <a:lnTo>
                      <a:pt x="37" y="28"/>
                    </a:lnTo>
                    <a:lnTo>
                      <a:pt x="40" y="25"/>
                    </a:lnTo>
                    <a:lnTo>
                      <a:pt x="47" y="22"/>
                    </a:lnTo>
                    <a:lnTo>
                      <a:pt x="56" y="15"/>
                    </a:lnTo>
                    <a:lnTo>
                      <a:pt x="65" y="15"/>
                    </a:lnTo>
                    <a:lnTo>
                      <a:pt x="68" y="15"/>
                    </a:lnTo>
                    <a:lnTo>
                      <a:pt x="77" y="9"/>
                    </a:lnTo>
                    <a:lnTo>
                      <a:pt x="87" y="3"/>
                    </a:lnTo>
                    <a:lnTo>
                      <a:pt x="102" y="0"/>
                    </a:lnTo>
                    <a:lnTo>
                      <a:pt x="121" y="0"/>
                    </a:lnTo>
                    <a:lnTo>
                      <a:pt x="124" y="6"/>
                    </a:lnTo>
                    <a:lnTo>
                      <a:pt x="130" y="9"/>
                    </a:lnTo>
                    <a:lnTo>
                      <a:pt x="133" y="12"/>
                    </a:lnTo>
                    <a:lnTo>
                      <a:pt x="130" y="1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0" name="Freeform 217"/>
              <p:cNvSpPr>
                <a:spLocks/>
              </p:cNvSpPr>
              <p:nvPr/>
            </p:nvSpPr>
            <p:spPr bwMode="auto">
              <a:xfrm>
                <a:off x="2554" y="897"/>
                <a:ext cx="52" cy="77"/>
              </a:xfrm>
              <a:custGeom>
                <a:avLst/>
                <a:gdLst>
                  <a:gd name="T0" fmla="*/ 0 w 52"/>
                  <a:gd name="T1" fmla="*/ 0 h 77"/>
                  <a:gd name="T2" fmla="*/ 12 w 52"/>
                  <a:gd name="T3" fmla="*/ 0 h 77"/>
                  <a:gd name="T4" fmla="*/ 12 w 52"/>
                  <a:gd name="T5" fmla="*/ 3 h 77"/>
                  <a:gd name="T6" fmla="*/ 12 w 52"/>
                  <a:gd name="T7" fmla="*/ 16 h 77"/>
                  <a:gd name="T8" fmla="*/ 9 w 52"/>
                  <a:gd name="T9" fmla="*/ 25 h 77"/>
                  <a:gd name="T10" fmla="*/ 6 w 52"/>
                  <a:gd name="T11" fmla="*/ 34 h 77"/>
                  <a:gd name="T12" fmla="*/ 9 w 52"/>
                  <a:gd name="T13" fmla="*/ 40 h 77"/>
                  <a:gd name="T14" fmla="*/ 12 w 52"/>
                  <a:gd name="T15" fmla="*/ 43 h 77"/>
                  <a:gd name="T16" fmla="*/ 34 w 52"/>
                  <a:gd name="T17" fmla="*/ 47 h 77"/>
                  <a:gd name="T18" fmla="*/ 46 w 52"/>
                  <a:gd name="T19" fmla="*/ 56 h 77"/>
                  <a:gd name="T20" fmla="*/ 52 w 52"/>
                  <a:gd name="T21" fmla="*/ 71 h 77"/>
                  <a:gd name="T22" fmla="*/ 49 w 52"/>
                  <a:gd name="T23" fmla="*/ 74 h 77"/>
                  <a:gd name="T24" fmla="*/ 46 w 52"/>
                  <a:gd name="T25" fmla="*/ 77 h 77"/>
                  <a:gd name="T26" fmla="*/ 43 w 52"/>
                  <a:gd name="T27" fmla="*/ 71 h 77"/>
                  <a:gd name="T28" fmla="*/ 40 w 52"/>
                  <a:gd name="T29" fmla="*/ 62 h 77"/>
                  <a:gd name="T30" fmla="*/ 37 w 52"/>
                  <a:gd name="T31" fmla="*/ 59 h 77"/>
                  <a:gd name="T32" fmla="*/ 31 w 52"/>
                  <a:gd name="T33" fmla="*/ 59 h 77"/>
                  <a:gd name="T34" fmla="*/ 6 w 52"/>
                  <a:gd name="T35" fmla="*/ 53 h 77"/>
                  <a:gd name="T36" fmla="*/ 0 w 52"/>
                  <a:gd name="T37" fmla="*/ 43 h 77"/>
                  <a:gd name="T38" fmla="*/ 3 w 52"/>
                  <a:gd name="T39" fmla="*/ 31 h 77"/>
                  <a:gd name="T40" fmla="*/ 9 w 52"/>
                  <a:gd name="T41" fmla="*/ 3 h 77"/>
                  <a:gd name="T42" fmla="*/ 0 w 52"/>
                  <a:gd name="T43" fmla="*/ 3 h 77"/>
                  <a:gd name="T44" fmla="*/ 0 w 52"/>
                  <a:gd name="T45" fmla="*/ 3 h 77"/>
                  <a:gd name="T46" fmla="*/ 0 w 52"/>
                  <a:gd name="T47" fmla="*/ 0 h 77"/>
                  <a:gd name="T48" fmla="*/ 0 w 52"/>
                  <a:gd name="T49" fmla="*/ 0 h 77"/>
                  <a:gd name="T50" fmla="*/ 0 w 52"/>
                  <a:gd name="T51" fmla="*/ 0 h 7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2"/>
                  <a:gd name="T79" fmla="*/ 0 h 77"/>
                  <a:gd name="T80" fmla="*/ 52 w 52"/>
                  <a:gd name="T81" fmla="*/ 77 h 7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2" h="77">
                    <a:moveTo>
                      <a:pt x="0" y="0"/>
                    </a:moveTo>
                    <a:lnTo>
                      <a:pt x="12" y="0"/>
                    </a:lnTo>
                    <a:lnTo>
                      <a:pt x="12" y="3"/>
                    </a:lnTo>
                    <a:lnTo>
                      <a:pt x="12" y="16"/>
                    </a:lnTo>
                    <a:lnTo>
                      <a:pt x="9" y="25"/>
                    </a:lnTo>
                    <a:lnTo>
                      <a:pt x="6" y="34"/>
                    </a:lnTo>
                    <a:lnTo>
                      <a:pt x="9" y="40"/>
                    </a:lnTo>
                    <a:lnTo>
                      <a:pt x="12" y="43"/>
                    </a:lnTo>
                    <a:lnTo>
                      <a:pt x="34" y="47"/>
                    </a:lnTo>
                    <a:lnTo>
                      <a:pt x="46" y="56"/>
                    </a:lnTo>
                    <a:lnTo>
                      <a:pt x="52" y="71"/>
                    </a:lnTo>
                    <a:lnTo>
                      <a:pt x="49" y="74"/>
                    </a:lnTo>
                    <a:lnTo>
                      <a:pt x="46" y="77"/>
                    </a:lnTo>
                    <a:lnTo>
                      <a:pt x="43" y="71"/>
                    </a:lnTo>
                    <a:lnTo>
                      <a:pt x="40" y="62"/>
                    </a:lnTo>
                    <a:lnTo>
                      <a:pt x="37" y="59"/>
                    </a:lnTo>
                    <a:lnTo>
                      <a:pt x="31" y="59"/>
                    </a:lnTo>
                    <a:lnTo>
                      <a:pt x="6" y="53"/>
                    </a:lnTo>
                    <a:lnTo>
                      <a:pt x="0" y="43"/>
                    </a:lnTo>
                    <a:lnTo>
                      <a:pt x="3" y="31"/>
                    </a:lnTo>
                    <a:lnTo>
                      <a:pt x="9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1" name="Freeform 218"/>
              <p:cNvSpPr>
                <a:spLocks/>
              </p:cNvSpPr>
              <p:nvPr/>
            </p:nvSpPr>
            <p:spPr bwMode="auto">
              <a:xfrm>
                <a:off x="2483" y="993"/>
                <a:ext cx="117" cy="83"/>
              </a:xfrm>
              <a:custGeom>
                <a:avLst/>
                <a:gdLst>
                  <a:gd name="T0" fmla="*/ 3 w 117"/>
                  <a:gd name="T1" fmla="*/ 22 h 83"/>
                  <a:gd name="T2" fmla="*/ 6 w 117"/>
                  <a:gd name="T3" fmla="*/ 34 h 83"/>
                  <a:gd name="T4" fmla="*/ 12 w 117"/>
                  <a:gd name="T5" fmla="*/ 43 h 83"/>
                  <a:gd name="T6" fmla="*/ 18 w 117"/>
                  <a:gd name="T7" fmla="*/ 53 h 83"/>
                  <a:gd name="T8" fmla="*/ 24 w 117"/>
                  <a:gd name="T9" fmla="*/ 59 h 83"/>
                  <a:gd name="T10" fmla="*/ 31 w 117"/>
                  <a:gd name="T11" fmla="*/ 62 h 83"/>
                  <a:gd name="T12" fmla="*/ 40 w 117"/>
                  <a:gd name="T13" fmla="*/ 68 h 83"/>
                  <a:gd name="T14" fmla="*/ 49 w 117"/>
                  <a:gd name="T15" fmla="*/ 74 h 83"/>
                  <a:gd name="T16" fmla="*/ 58 w 117"/>
                  <a:gd name="T17" fmla="*/ 77 h 83"/>
                  <a:gd name="T18" fmla="*/ 68 w 117"/>
                  <a:gd name="T19" fmla="*/ 74 h 83"/>
                  <a:gd name="T20" fmla="*/ 74 w 117"/>
                  <a:gd name="T21" fmla="*/ 68 h 83"/>
                  <a:gd name="T22" fmla="*/ 80 w 117"/>
                  <a:gd name="T23" fmla="*/ 62 h 83"/>
                  <a:gd name="T24" fmla="*/ 83 w 117"/>
                  <a:gd name="T25" fmla="*/ 59 h 83"/>
                  <a:gd name="T26" fmla="*/ 89 w 117"/>
                  <a:gd name="T27" fmla="*/ 53 h 83"/>
                  <a:gd name="T28" fmla="*/ 95 w 117"/>
                  <a:gd name="T29" fmla="*/ 49 h 83"/>
                  <a:gd name="T30" fmla="*/ 108 w 117"/>
                  <a:gd name="T31" fmla="*/ 22 h 83"/>
                  <a:gd name="T32" fmla="*/ 114 w 117"/>
                  <a:gd name="T33" fmla="*/ 0 h 83"/>
                  <a:gd name="T34" fmla="*/ 117 w 117"/>
                  <a:gd name="T35" fmla="*/ 0 h 83"/>
                  <a:gd name="T36" fmla="*/ 117 w 117"/>
                  <a:gd name="T37" fmla="*/ 25 h 83"/>
                  <a:gd name="T38" fmla="*/ 111 w 117"/>
                  <a:gd name="T39" fmla="*/ 40 h 83"/>
                  <a:gd name="T40" fmla="*/ 105 w 117"/>
                  <a:gd name="T41" fmla="*/ 46 h 83"/>
                  <a:gd name="T42" fmla="*/ 102 w 117"/>
                  <a:gd name="T43" fmla="*/ 53 h 83"/>
                  <a:gd name="T44" fmla="*/ 95 w 117"/>
                  <a:gd name="T45" fmla="*/ 59 h 83"/>
                  <a:gd name="T46" fmla="*/ 89 w 117"/>
                  <a:gd name="T47" fmla="*/ 62 h 83"/>
                  <a:gd name="T48" fmla="*/ 83 w 117"/>
                  <a:gd name="T49" fmla="*/ 68 h 83"/>
                  <a:gd name="T50" fmla="*/ 77 w 117"/>
                  <a:gd name="T51" fmla="*/ 71 h 83"/>
                  <a:gd name="T52" fmla="*/ 74 w 117"/>
                  <a:gd name="T53" fmla="*/ 77 h 83"/>
                  <a:gd name="T54" fmla="*/ 68 w 117"/>
                  <a:gd name="T55" fmla="*/ 80 h 83"/>
                  <a:gd name="T56" fmla="*/ 62 w 117"/>
                  <a:gd name="T57" fmla="*/ 83 h 83"/>
                  <a:gd name="T58" fmla="*/ 49 w 117"/>
                  <a:gd name="T59" fmla="*/ 80 h 83"/>
                  <a:gd name="T60" fmla="*/ 40 w 117"/>
                  <a:gd name="T61" fmla="*/ 74 h 83"/>
                  <a:gd name="T62" fmla="*/ 34 w 117"/>
                  <a:gd name="T63" fmla="*/ 68 h 83"/>
                  <a:gd name="T64" fmla="*/ 28 w 117"/>
                  <a:gd name="T65" fmla="*/ 65 h 83"/>
                  <a:gd name="T66" fmla="*/ 15 w 117"/>
                  <a:gd name="T67" fmla="*/ 56 h 83"/>
                  <a:gd name="T68" fmla="*/ 9 w 117"/>
                  <a:gd name="T69" fmla="*/ 46 h 83"/>
                  <a:gd name="T70" fmla="*/ 0 w 117"/>
                  <a:gd name="T71" fmla="*/ 25 h 83"/>
                  <a:gd name="T72" fmla="*/ 0 w 117"/>
                  <a:gd name="T73" fmla="*/ 22 h 83"/>
                  <a:gd name="T74" fmla="*/ 3 w 117"/>
                  <a:gd name="T75" fmla="*/ 22 h 83"/>
                  <a:gd name="T76" fmla="*/ 3 w 117"/>
                  <a:gd name="T77" fmla="*/ 22 h 83"/>
                  <a:gd name="T78" fmla="*/ 3 w 117"/>
                  <a:gd name="T79" fmla="*/ 22 h 8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7"/>
                  <a:gd name="T121" fmla="*/ 0 h 83"/>
                  <a:gd name="T122" fmla="*/ 117 w 117"/>
                  <a:gd name="T123" fmla="*/ 83 h 8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7" h="83">
                    <a:moveTo>
                      <a:pt x="3" y="22"/>
                    </a:moveTo>
                    <a:lnTo>
                      <a:pt x="6" y="34"/>
                    </a:lnTo>
                    <a:lnTo>
                      <a:pt x="12" y="43"/>
                    </a:lnTo>
                    <a:lnTo>
                      <a:pt x="18" y="53"/>
                    </a:lnTo>
                    <a:lnTo>
                      <a:pt x="24" y="59"/>
                    </a:lnTo>
                    <a:lnTo>
                      <a:pt x="31" y="62"/>
                    </a:lnTo>
                    <a:lnTo>
                      <a:pt x="40" y="68"/>
                    </a:lnTo>
                    <a:lnTo>
                      <a:pt x="49" y="74"/>
                    </a:lnTo>
                    <a:lnTo>
                      <a:pt x="58" y="77"/>
                    </a:lnTo>
                    <a:lnTo>
                      <a:pt x="68" y="74"/>
                    </a:lnTo>
                    <a:lnTo>
                      <a:pt x="74" y="68"/>
                    </a:lnTo>
                    <a:lnTo>
                      <a:pt x="80" y="62"/>
                    </a:lnTo>
                    <a:lnTo>
                      <a:pt x="83" y="59"/>
                    </a:lnTo>
                    <a:lnTo>
                      <a:pt x="89" y="53"/>
                    </a:lnTo>
                    <a:lnTo>
                      <a:pt x="95" y="49"/>
                    </a:lnTo>
                    <a:lnTo>
                      <a:pt x="108" y="22"/>
                    </a:lnTo>
                    <a:lnTo>
                      <a:pt x="114" y="0"/>
                    </a:lnTo>
                    <a:lnTo>
                      <a:pt x="117" y="0"/>
                    </a:lnTo>
                    <a:lnTo>
                      <a:pt x="117" y="25"/>
                    </a:lnTo>
                    <a:lnTo>
                      <a:pt x="111" y="40"/>
                    </a:lnTo>
                    <a:lnTo>
                      <a:pt x="105" y="46"/>
                    </a:lnTo>
                    <a:lnTo>
                      <a:pt x="102" y="53"/>
                    </a:lnTo>
                    <a:lnTo>
                      <a:pt x="95" y="59"/>
                    </a:lnTo>
                    <a:lnTo>
                      <a:pt x="89" y="62"/>
                    </a:lnTo>
                    <a:lnTo>
                      <a:pt x="83" y="68"/>
                    </a:lnTo>
                    <a:lnTo>
                      <a:pt x="77" y="71"/>
                    </a:lnTo>
                    <a:lnTo>
                      <a:pt x="74" y="77"/>
                    </a:lnTo>
                    <a:lnTo>
                      <a:pt x="68" y="80"/>
                    </a:lnTo>
                    <a:lnTo>
                      <a:pt x="62" y="83"/>
                    </a:lnTo>
                    <a:lnTo>
                      <a:pt x="49" y="80"/>
                    </a:lnTo>
                    <a:lnTo>
                      <a:pt x="40" y="74"/>
                    </a:lnTo>
                    <a:lnTo>
                      <a:pt x="34" y="68"/>
                    </a:lnTo>
                    <a:lnTo>
                      <a:pt x="28" y="65"/>
                    </a:lnTo>
                    <a:lnTo>
                      <a:pt x="15" y="56"/>
                    </a:lnTo>
                    <a:lnTo>
                      <a:pt x="9" y="46"/>
                    </a:lnTo>
                    <a:lnTo>
                      <a:pt x="0" y="25"/>
                    </a:lnTo>
                    <a:lnTo>
                      <a:pt x="0" y="22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2" name="Freeform 219"/>
              <p:cNvSpPr>
                <a:spLocks/>
              </p:cNvSpPr>
              <p:nvPr/>
            </p:nvSpPr>
            <p:spPr bwMode="auto">
              <a:xfrm>
                <a:off x="2498" y="1058"/>
                <a:ext cx="47" cy="170"/>
              </a:xfrm>
              <a:custGeom>
                <a:avLst/>
                <a:gdLst>
                  <a:gd name="T0" fmla="*/ 3 w 47"/>
                  <a:gd name="T1" fmla="*/ 0 h 170"/>
                  <a:gd name="T2" fmla="*/ 25 w 47"/>
                  <a:gd name="T3" fmla="*/ 43 h 170"/>
                  <a:gd name="T4" fmla="*/ 25 w 47"/>
                  <a:gd name="T5" fmla="*/ 49 h 170"/>
                  <a:gd name="T6" fmla="*/ 31 w 47"/>
                  <a:gd name="T7" fmla="*/ 59 h 170"/>
                  <a:gd name="T8" fmla="*/ 34 w 47"/>
                  <a:gd name="T9" fmla="*/ 68 h 170"/>
                  <a:gd name="T10" fmla="*/ 40 w 47"/>
                  <a:gd name="T11" fmla="*/ 99 h 170"/>
                  <a:gd name="T12" fmla="*/ 43 w 47"/>
                  <a:gd name="T13" fmla="*/ 133 h 170"/>
                  <a:gd name="T14" fmla="*/ 43 w 47"/>
                  <a:gd name="T15" fmla="*/ 148 h 170"/>
                  <a:gd name="T16" fmla="*/ 47 w 47"/>
                  <a:gd name="T17" fmla="*/ 167 h 170"/>
                  <a:gd name="T18" fmla="*/ 47 w 47"/>
                  <a:gd name="T19" fmla="*/ 170 h 170"/>
                  <a:gd name="T20" fmla="*/ 43 w 47"/>
                  <a:gd name="T21" fmla="*/ 170 h 170"/>
                  <a:gd name="T22" fmla="*/ 37 w 47"/>
                  <a:gd name="T23" fmla="*/ 136 h 170"/>
                  <a:gd name="T24" fmla="*/ 31 w 47"/>
                  <a:gd name="T25" fmla="*/ 99 h 170"/>
                  <a:gd name="T26" fmla="*/ 28 w 47"/>
                  <a:gd name="T27" fmla="*/ 68 h 170"/>
                  <a:gd name="T28" fmla="*/ 22 w 47"/>
                  <a:gd name="T29" fmla="*/ 62 h 170"/>
                  <a:gd name="T30" fmla="*/ 16 w 47"/>
                  <a:gd name="T31" fmla="*/ 43 h 170"/>
                  <a:gd name="T32" fmla="*/ 9 w 47"/>
                  <a:gd name="T33" fmla="*/ 21 h 170"/>
                  <a:gd name="T34" fmla="*/ 6 w 47"/>
                  <a:gd name="T35" fmla="*/ 12 h 170"/>
                  <a:gd name="T36" fmla="*/ 0 w 47"/>
                  <a:gd name="T37" fmla="*/ 3 h 170"/>
                  <a:gd name="T38" fmla="*/ 0 w 47"/>
                  <a:gd name="T39" fmla="*/ 0 h 170"/>
                  <a:gd name="T40" fmla="*/ 3 w 47"/>
                  <a:gd name="T41" fmla="*/ 0 h 170"/>
                  <a:gd name="T42" fmla="*/ 3 w 47"/>
                  <a:gd name="T43" fmla="*/ 0 h 170"/>
                  <a:gd name="T44" fmla="*/ 3 w 47"/>
                  <a:gd name="T45" fmla="*/ 0 h 17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7"/>
                  <a:gd name="T70" fmla="*/ 0 h 170"/>
                  <a:gd name="T71" fmla="*/ 47 w 47"/>
                  <a:gd name="T72" fmla="*/ 170 h 17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7" h="170">
                    <a:moveTo>
                      <a:pt x="3" y="0"/>
                    </a:moveTo>
                    <a:lnTo>
                      <a:pt x="25" y="43"/>
                    </a:lnTo>
                    <a:lnTo>
                      <a:pt x="25" y="49"/>
                    </a:lnTo>
                    <a:lnTo>
                      <a:pt x="31" y="59"/>
                    </a:lnTo>
                    <a:lnTo>
                      <a:pt x="34" y="68"/>
                    </a:lnTo>
                    <a:lnTo>
                      <a:pt x="40" y="99"/>
                    </a:lnTo>
                    <a:lnTo>
                      <a:pt x="43" y="133"/>
                    </a:lnTo>
                    <a:lnTo>
                      <a:pt x="43" y="148"/>
                    </a:lnTo>
                    <a:lnTo>
                      <a:pt x="47" y="167"/>
                    </a:lnTo>
                    <a:lnTo>
                      <a:pt x="47" y="170"/>
                    </a:lnTo>
                    <a:lnTo>
                      <a:pt x="43" y="170"/>
                    </a:lnTo>
                    <a:lnTo>
                      <a:pt x="37" y="136"/>
                    </a:lnTo>
                    <a:lnTo>
                      <a:pt x="31" y="99"/>
                    </a:lnTo>
                    <a:lnTo>
                      <a:pt x="28" y="68"/>
                    </a:lnTo>
                    <a:lnTo>
                      <a:pt x="22" y="62"/>
                    </a:lnTo>
                    <a:lnTo>
                      <a:pt x="16" y="43"/>
                    </a:lnTo>
                    <a:lnTo>
                      <a:pt x="9" y="21"/>
                    </a:lnTo>
                    <a:lnTo>
                      <a:pt x="6" y="12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3" name="Freeform 220"/>
              <p:cNvSpPr>
                <a:spLocks/>
              </p:cNvSpPr>
              <p:nvPr/>
            </p:nvSpPr>
            <p:spPr bwMode="auto">
              <a:xfrm>
                <a:off x="2557" y="1039"/>
                <a:ext cx="43" cy="161"/>
              </a:xfrm>
              <a:custGeom>
                <a:avLst/>
                <a:gdLst>
                  <a:gd name="T0" fmla="*/ 31 w 43"/>
                  <a:gd name="T1" fmla="*/ 0 h 161"/>
                  <a:gd name="T2" fmla="*/ 43 w 43"/>
                  <a:gd name="T3" fmla="*/ 28 h 161"/>
                  <a:gd name="T4" fmla="*/ 40 w 43"/>
                  <a:gd name="T5" fmla="*/ 37 h 161"/>
                  <a:gd name="T6" fmla="*/ 34 w 43"/>
                  <a:gd name="T7" fmla="*/ 50 h 161"/>
                  <a:gd name="T8" fmla="*/ 31 w 43"/>
                  <a:gd name="T9" fmla="*/ 65 h 161"/>
                  <a:gd name="T10" fmla="*/ 40 w 43"/>
                  <a:gd name="T11" fmla="*/ 93 h 161"/>
                  <a:gd name="T12" fmla="*/ 40 w 43"/>
                  <a:gd name="T13" fmla="*/ 108 h 161"/>
                  <a:gd name="T14" fmla="*/ 37 w 43"/>
                  <a:gd name="T15" fmla="*/ 115 h 161"/>
                  <a:gd name="T16" fmla="*/ 34 w 43"/>
                  <a:gd name="T17" fmla="*/ 121 h 161"/>
                  <a:gd name="T18" fmla="*/ 31 w 43"/>
                  <a:gd name="T19" fmla="*/ 127 h 161"/>
                  <a:gd name="T20" fmla="*/ 25 w 43"/>
                  <a:gd name="T21" fmla="*/ 130 h 161"/>
                  <a:gd name="T22" fmla="*/ 18 w 43"/>
                  <a:gd name="T23" fmla="*/ 139 h 161"/>
                  <a:gd name="T24" fmla="*/ 9 w 43"/>
                  <a:gd name="T25" fmla="*/ 149 h 161"/>
                  <a:gd name="T26" fmla="*/ 3 w 43"/>
                  <a:gd name="T27" fmla="*/ 161 h 161"/>
                  <a:gd name="T28" fmla="*/ 0 w 43"/>
                  <a:gd name="T29" fmla="*/ 161 h 161"/>
                  <a:gd name="T30" fmla="*/ 0 w 43"/>
                  <a:gd name="T31" fmla="*/ 161 h 161"/>
                  <a:gd name="T32" fmla="*/ 9 w 43"/>
                  <a:gd name="T33" fmla="*/ 133 h 161"/>
                  <a:gd name="T34" fmla="*/ 15 w 43"/>
                  <a:gd name="T35" fmla="*/ 124 h 161"/>
                  <a:gd name="T36" fmla="*/ 18 w 43"/>
                  <a:gd name="T37" fmla="*/ 118 h 161"/>
                  <a:gd name="T38" fmla="*/ 25 w 43"/>
                  <a:gd name="T39" fmla="*/ 112 h 161"/>
                  <a:gd name="T40" fmla="*/ 28 w 43"/>
                  <a:gd name="T41" fmla="*/ 102 h 161"/>
                  <a:gd name="T42" fmla="*/ 28 w 43"/>
                  <a:gd name="T43" fmla="*/ 90 h 161"/>
                  <a:gd name="T44" fmla="*/ 25 w 43"/>
                  <a:gd name="T45" fmla="*/ 81 h 161"/>
                  <a:gd name="T46" fmla="*/ 21 w 43"/>
                  <a:gd name="T47" fmla="*/ 68 h 161"/>
                  <a:gd name="T48" fmla="*/ 21 w 43"/>
                  <a:gd name="T49" fmla="*/ 56 h 161"/>
                  <a:gd name="T50" fmla="*/ 25 w 43"/>
                  <a:gd name="T51" fmla="*/ 47 h 161"/>
                  <a:gd name="T52" fmla="*/ 34 w 43"/>
                  <a:gd name="T53" fmla="*/ 28 h 161"/>
                  <a:gd name="T54" fmla="*/ 34 w 43"/>
                  <a:gd name="T55" fmla="*/ 13 h 161"/>
                  <a:gd name="T56" fmla="*/ 28 w 43"/>
                  <a:gd name="T57" fmla="*/ 3 h 161"/>
                  <a:gd name="T58" fmla="*/ 31 w 43"/>
                  <a:gd name="T59" fmla="*/ 0 h 161"/>
                  <a:gd name="T60" fmla="*/ 31 w 43"/>
                  <a:gd name="T61" fmla="*/ 0 h 161"/>
                  <a:gd name="T62" fmla="*/ 31 w 43"/>
                  <a:gd name="T63" fmla="*/ 0 h 161"/>
                  <a:gd name="T64" fmla="*/ 31 w 43"/>
                  <a:gd name="T65" fmla="*/ 0 h 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3"/>
                  <a:gd name="T100" fmla="*/ 0 h 161"/>
                  <a:gd name="T101" fmla="*/ 43 w 43"/>
                  <a:gd name="T102" fmla="*/ 161 h 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3" h="161">
                    <a:moveTo>
                      <a:pt x="31" y="0"/>
                    </a:moveTo>
                    <a:lnTo>
                      <a:pt x="43" y="28"/>
                    </a:lnTo>
                    <a:lnTo>
                      <a:pt x="40" y="37"/>
                    </a:lnTo>
                    <a:lnTo>
                      <a:pt x="34" y="50"/>
                    </a:lnTo>
                    <a:lnTo>
                      <a:pt x="31" y="65"/>
                    </a:lnTo>
                    <a:lnTo>
                      <a:pt x="40" y="93"/>
                    </a:lnTo>
                    <a:lnTo>
                      <a:pt x="40" y="108"/>
                    </a:lnTo>
                    <a:lnTo>
                      <a:pt x="37" y="115"/>
                    </a:lnTo>
                    <a:lnTo>
                      <a:pt x="34" y="121"/>
                    </a:lnTo>
                    <a:lnTo>
                      <a:pt x="31" y="127"/>
                    </a:lnTo>
                    <a:lnTo>
                      <a:pt x="25" y="130"/>
                    </a:lnTo>
                    <a:lnTo>
                      <a:pt x="18" y="139"/>
                    </a:lnTo>
                    <a:lnTo>
                      <a:pt x="9" y="149"/>
                    </a:lnTo>
                    <a:lnTo>
                      <a:pt x="3" y="161"/>
                    </a:lnTo>
                    <a:lnTo>
                      <a:pt x="0" y="161"/>
                    </a:lnTo>
                    <a:lnTo>
                      <a:pt x="9" y="133"/>
                    </a:lnTo>
                    <a:lnTo>
                      <a:pt x="15" y="124"/>
                    </a:lnTo>
                    <a:lnTo>
                      <a:pt x="18" y="118"/>
                    </a:lnTo>
                    <a:lnTo>
                      <a:pt x="25" y="112"/>
                    </a:lnTo>
                    <a:lnTo>
                      <a:pt x="28" y="102"/>
                    </a:lnTo>
                    <a:lnTo>
                      <a:pt x="28" y="90"/>
                    </a:lnTo>
                    <a:lnTo>
                      <a:pt x="25" y="81"/>
                    </a:lnTo>
                    <a:lnTo>
                      <a:pt x="21" y="68"/>
                    </a:lnTo>
                    <a:lnTo>
                      <a:pt x="21" y="56"/>
                    </a:lnTo>
                    <a:lnTo>
                      <a:pt x="25" y="47"/>
                    </a:lnTo>
                    <a:lnTo>
                      <a:pt x="34" y="28"/>
                    </a:lnTo>
                    <a:lnTo>
                      <a:pt x="34" y="13"/>
                    </a:lnTo>
                    <a:lnTo>
                      <a:pt x="28" y="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4" name="Freeform 221"/>
              <p:cNvSpPr>
                <a:spLocks/>
              </p:cNvSpPr>
              <p:nvPr/>
            </p:nvSpPr>
            <p:spPr bwMode="auto">
              <a:xfrm>
                <a:off x="2541" y="1120"/>
                <a:ext cx="47" cy="34"/>
              </a:xfrm>
              <a:custGeom>
                <a:avLst/>
                <a:gdLst>
                  <a:gd name="T0" fmla="*/ 4 w 47"/>
                  <a:gd name="T1" fmla="*/ 27 h 34"/>
                  <a:gd name="T2" fmla="*/ 19 w 47"/>
                  <a:gd name="T3" fmla="*/ 24 h 34"/>
                  <a:gd name="T4" fmla="*/ 25 w 47"/>
                  <a:gd name="T5" fmla="*/ 21 h 34"/>
                  <a:gd name="T6" fmla="*/ 31 w 47"/>
                  <a:gd name="T7" fmla="*/ 15 h 34"/>
                  <a:gd name="T8" fmla="*/ 44 w 47"/>
                  <a:gd name="T9" fmla="*/ 0 h 34"/>
                  <a:gd name="T10" fmla="*/ 47 w 47"/>
                  <a:gd name="T11" fmla="*/ 0 h 34"/>
                  <a:gd name="T12" fmla="*/ 44 w 47"/>
                  <a:gd name="T13" fmla="*/ 24 h 34"/>
                  <a:gd name="T14" fmla="*/ 37 w 47"/>
                  <a:gd name="T15" fmla="*/ 27 h 34"/>
                  <a:gd name="T16" fmla="*/ 34 w 47"/>
                  <a:gd name="T17" fmla="*/ 31 h 34"/>
                  <a:gd name="T18" fmla="*/ 25 w 47"/>
                  <a:gd name="T19" fmla="*/ 34 h 34"/>
                  <a:gd name="T20" fmla="*/ 4 w 47"/>
                  <a:gd name="T21" fmla="*/ 31 h 34"/>
                  <a:gd name="T22" fmla="*/ 0 w 47"/>
                  <a:gd name="T23" fmla="*/ 31 h 34"/>
                  <a:gd name="T24" fmla="*/ 4 w 47"/>
                  <a:gd name="T25" fmla="*/ 27 h 34"/>
                  <a:gd name="T26" fmla="*/ 4 w 47"/>
                  <a:gd name="T27" fmla="*/ 27 h 34"/>
                  <a:gd name="T28" fmla="*/ 4 w 47"/>
                  <a:gd name="T29" fmla="*/ 27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7"/>
                  <a:gd name="T46" fmla="*/ 0 h 34"/>
                  <a:gd name="T47" fmla="*/ 47 w 47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7" h="34">
                    <a:moveTo>
                      <a:pt x="4" y="27"/>
                    </a:moveTo>
                    <a:lnTo>
                      <a:pt x="19" y="24"/>
                    </a:lnTo>
                    <a:lnTo>
                      <a:pt x="25" y="21"/>
                    </a:lnTo>
                    <a:lnTo>
                      <a:pt x="31" y="15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44" y="24"/>
                    </a:lnTo>
                    <a:lnTo>
                      <a:pt x="37" y="27"/>
                    </a:lnTo>
                    <a:lnTo>
                      <a:pt x="34" y="31"/>
                    </a:lnTo>
                    <a:lnTo>
                      <a:pt x="25" y="34"/>
                    </a:lnTo>
                    <a:lnTo>
                      <a:pt x="4" y="31"/>
                    </a:lnTo>
                    <a:lnTo>
                      <a:pt x="0" y="31"/>
                    </a:lnTo>
                    <a:lnTo>
                      <a:pt x="4" y="2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5" name="Freeform 222"/>
              <p:cNvSpPr>
                <a:spLocks/>
              </p:cNvSpPr>
              <p:nvPr/>
            </p:nvSpPr>
            <p:spPr bwMode="auto">
              <a:xfrm>
                <a:off x="2622" y="993"/>
                <a:ext cx="37" cy="12"/>
              </a:xfrm>
              <a:custGeom>
                <a:avLst/>
                <a:gdLst>
                  <a:gd name="T0" fmla="*/ 0 w 37"/>
                  <a:gd name="T1" fmla="*/ 0 h 12"/>
                  <a:gd name="T2" fmla="*/ 34 w 37"/>
                  <a:gd name="T3" fmla="*/ 3 h 12"/>
                  <a:gd name="T4" fmla="*/ 37 w 37"/>
                  <a:gd name="T5" fmla="*/ 6 h 12"/>
                  <a:gd name="T6" fmla="*/ 37 w 37"/>
                  <a:gd name="T7" fmla="*/ 9 h 12"/>
                  <a:gd name="T8" fmla="*/ 37 w 37"/>
                  <a:gd name="T9" fmla="*/ 12 h 12"/>
                  <a:gd name="T10" fmla="*/ 34 w 37"/>
                  <a:gd name="T11" fmla="*/ 12 h 12"/>
                  <a:gd name="T12" fmla="*/ 15 w 37"/>
                  <a:gd name="T13" fmla="*/ 9 h 12"/>
                  <a:gd name="T14" fmla="*/ 9 w 37"/>
                  <a:gd name="T15" fmla="*/ 6 h 12"/>
                  <a:gd name="T16" fmla="*/ 0 w 37"/>
                  <a:gd name="T17" fmla="*/ 3 h 12"/>
                  <a:gd name="T18" fmla="*/ 0 w 37"/>
                  <a:gd name="T19" fmla="*/ 0 h 12"/>
                  <a:gd name="T20" fmla="*/ 0 w 37"/>
                  <a:gd name="T21" fmla="*/ 0 h 12"/>
                  <a:gd name="T22" fmla="*/ 0 w 37"/>
                  <a:gd name="T23" fmla="*/ 0 h 12"/>
                  <a:gd name="T24" fmla="*/ 0 w 37"/>
                  <a:gd name="T25" fmla="*/ 0 h 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12"/>
                  <a:gd name="T41" fmla="*/ 37 w 37"/>
                  <a:gd name="T42" fmla="*/ 12 h 1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12">
                    <a:moveTo>
                      <a:pt x="0" y="0"/>
                    </a:moveTo>
                    <a:lnTo>
                      <a:pt x="34" y="3"/>
                    </a:lnTo>
                    <a:lnTo>
                      <a:pt x="37" y="6"/>
                    </a:lnTo>
                    <a:lnTo>
                      <a:pt x="37" y="9"/>
                    </a:lnTo>
                    <a:lnTo>
                      <a:pt x="37" y="12"/>
                    </a:lnTo>
                    <a:lnTo>
                      <a:pt x="34" y="12"/>
                    </a:lnTo>
                    <a:lnTo>
                      <a:pt x="15" y="9"/>
                    </a:lnTo>
                    <a:lnTo>
                      <a:pt x="9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6" name="Freeform 223"/>
              <p:cNvSpPr>
                <a:spLocks/>
              </p:cNvSpPr>
              <p:nvPr/>
            </p:nvSpPr>
            <p:spPr bwMode="auto">
              <a:xfrm>
                <a:off x="2665" y="996"/>
                <a:ext cx="28" cy="50"/>
              </a:xfrm>
              <a:custGeom>
                <a:avLst/>
                <a:gdLst>
                  <a:gd name="T0" fmla="*/ 6 w 28"/>
                  <a:gd name="T1" fmla="*/ 0 h 50"/>
                  <a:gd name="T2" fmla="*/ 19 w 28"/>
                  <a:gd name="T3" fmla="*/ 3 h 50"/>
                  <a:gd name="T4" fmla="*/ 25 w 28"/>
                  <a:gd name="T5" fmla="*/ 16 h 50"/>
                  <a:gd name="T6" fmla="*/ 28 w 28"/>
                  <a:gd name="T7" fmla="*/ 28 h 50"/>
                  <a:gd name="T8" fmla="*/ 28 w 28"/>
                  <a:gd name="T9" fmla="*/ 50 h 50"/>
                  <a:gd name="T10" fmla="*/ 25 w 28"/>
                  <a:gd name="T11" fmla="*/ 50 h 50"/>
                  <a:gd name="T12" fmla="*/ 22 w 28"/>
                  <a:gd name="T13" fmla="*/ 31 h 50"/>
                  <a:gd name="T14" fmla="*/ 19 w 28"/>
                  <a:gd name="T15" fmla="*/ 19 h 50"/>
                  <a:gd name="T16" fmla="*/ 19 w 28"/>
                  <a:gd name="T17" fmla="*/ 16 h 50"/>
                  <a:gd name="T18" fmla="*/ 15 w 28"/>
                  <a:gd name="T19" fmla="*/ 9 h 50"/>
                  <a:gd name="T20" fmla="*/ 3 w 28"/>
                  <a:gd name="T21" fmla="*/ 9 h 50"/>
                  <a:gd name="T22" fmla="*/ 0 w 28"/>
                  <a:gd name="T23" fmla="*/ 3 h 50"/>
                  <a:gd name="T24" fmla="*/ 3 w 28"/>
                  <a:gd name="T25" fmla="*/ 0 h 50"/>
                  <a:gd name="T26" fmla="*/ 6 w 28"/>
                  <a:gd name="T27" fmla="*/ 0 h 50"/>
                  <a:gd name="T28" fmla="*/ 6 w 28"/>
                  <a:gd name="T29" fmla="*/ 0 h 50"/>
                  <a:gd name="T30" fmla="*/ 6 w 28"/>
                  <a:gd name="T31" fmla="*/ 0 h 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8"/>
                  <a:gd name="T49" fmla="*/ 0 h 50"/>
                  <a:gd name="T50" fmla="*/ 28 w 28"/>
                  <a:gd name="T51" fmla="*/ 50 h 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8" h="50">
                    <a:moveTo>
                      <a:pt x="6" y="0"/>
                    </a:moveTo>
                    <a:lnTo>
                      <a:pt x="19" y="3"/>
                    </a:lnTo>
                    <a:lnTo>
                      <a:pt x="25" y="16"/>
                    </a:lnTo>
                    <a:lnTo>
                      <a:pt x="28" y="28"/>
                    </a:lnTo>
                    <a:lnTo>
                      <a:pt x="28" y="50"/>
                    </a:lnTo>
                    <a:lnTo>
                      <a:pt x="25" y="50"/>
                    </a:lnTo>
                    <a:lnTo>
                      <a:pt x="22" y="31"/>
                    </a:lnTo>
                    <a:lnTo>
                      <a:pt x="19" y="19"/>
                    </a:lnTo>
                    <a:lnTo>
                      <a:pt x="19" y="16"/>
                    </a:lnTo>
                    <a:lnTo>
                      <a:pt x="15" y="9"/>
                    </a:lnTo>
                    <a:lnTo>
                      <a:pt x="3" y="9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7" name="Freeform 224"/>
              <p:cNvSpPr>
                <a:spLocks/>
              </p:cNvSpPr>
              <p:nvPr/>
            </p:nvSpPr>
            <p:spPr bwMode="auto">
              <a:xfrm>
                <a:off x="2656" y="1018"/>
                <a:ext cx="15" cy="65"/>
              </a:xfrm>
              <a:custGeom>
                <a:avLst/>
                <a:gdLst>
                  <a:gd name="T0" fmla="*/ 3 w 15"/>
                  <a:gd name="T1" fmla="*/ 0 h 65"/>
                  <a:gd name="T2" fmla="*/ 12 w 15"/>
                  <a:gd name="T3" fmla="*/ 18 h 65"/>
                  <a:gd name="T4" fmla="*/ 15 w 15"/>
                  <a:gd name="T5" fmla="*/ 37 h 65"/>
                  <a:gd name="T6" fmla="*/ 12 w 15"/>
                  <a:gd name="T7" fmla="*/ 49 h 65"/>
                  <a:gd name="T8" fmla="*/ 9 w 15"/>
                  <a:gd name="T9" fmla="*/ 65 h 65"/>
                  <a:gd name="T10" fmla="*/ 6 w 15"/>
                  <a:gd name="T11" fmla="*/ 65 h 65"/>
                  <a:gd name="T12" fmla="*/ 3 w 15"/>
                  <a:gd name="T13" fmla="*/ 49 h 65"/>
                  <a:gd name="T14" fmla="*/ 3 w 15"/>
                  <a:gd name="T15" fmla="*/ 37 h 65"/>
                  <a:gd name="T16" fmla="*/ 0 w 15"/>
                  <a:gd name="T17" fmla="*/ 3 h 65"/>
                  <a:gd name="T18" fmla="*/ 0 w 15"/>
                  <a:gd name="T19" fmla="*/ 0 h 65"/>
                  <a:gd name="T20" fmla="*/ 3 w 15"/>
                  <a:gd name="T21" fmla="*/ 0 h 65"/>
                  <a:gd name="T22" fmla="*/ 3 w 15"/>
                  <a:gd name="T23" fmla="*/ 0 h 65"/>
                  <a:gd name="T24" fmla="*/ 3 w 15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5"/>
                  <a:gd name="T40" fmla="*/ 0 h 65"/>
                  <a:gd name="T41" fmla="*/ 15 w 15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5" h="65">
                    <a:moveTo>
                      <a:pt x="3" y="0"/>
                    </a:moveTo>
                    <a:lnTo>
                      <a:pt x="12" y="18"/>
                    </a:lnTo>
                    <a:lnTo>
                      <a:pt x="15" y="37"/>
                    </a:lnTo>
                    <a:lnTo>
                      <a:pt x="12" y="49"/>
                    </a:lnTo>
                    <a:lnTo>
                      <a:pt x="9" y="65"/>
                    </a:lnTo>
                    <a:lnTo>
                      <a:pt x="6" y="65"/>
                    </a:lnTo>
                    <a:lnTo>
                      <a:pt x="3" y="49"/>
                    </a:lnTo>
                    <a:lnTo>
                      <a:pt x="3" y="3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8" name="Freeform 225"/>
              <p:cNvSpPr>
                <a:spLocks/>
              </p:cNvSpPr>
              <p:nvPr/>
            </p:nvSpPr>
            <p:spPr bwMode="auto">
              <a:xfrm>
                <a:off x="2396" y="1002"/>
                <a:ext cx="68" cy="47"/>
              </a:xfrm>
              <a:custGeom>
                <a:avLst/>
                <a:gdLst>
                  <a:gd name="T0" fmla="*/ 65 w 68"/>
                  <a:gd name="T1" fmla="*/ 3 h 47"/>
                  <a:gd name="T2" fmla="*/ 50 w 68"/>
                  <a:gd name="T3" fmla="*/ 10 h 47"/>
                  <a:gd name="T4" fmla="*/ 43 w 68"/>
                  <a:gd name="T5" fmla="*/ 13 h 47"/>
                  <a:gd name="T6" fmla="*/ 37 w 68"/>
                  <a:gd name="T7" fmla="*/ 19 h 47"/>
                  <a:gd name="T8" fmla="*/ 28 w 68"/>
                  <a:gd name="T9" fmla="*/ 25 h 47"/>
                  <a:gd name="T10" fmla="*/ 19 w 68"/>
                  <a:gd name="T11" fmla="*/ 31 h 47"/>
                  <a:gd name="T12" fmla="*/ 9 w 68"/>
                  <a:gd name="T13" fmla="*/ 37 h 47"/>
                  <a:gd name="T14" fmla="*/ 0 w 68"/>
                  <a:gd name="T15" fmla="*/ 47 h 47"/>
                  <a:gd name="T16" fmla="*/ 0 w 68"/>
                  <a:gd name="T17" fmla="*/ 47 h 47"/>
                  <a:gd name="T18" fmla="*/ 0 w 68"/>
                  <a:gd name="T19" fmla="*/ 47 h 47"/>
                  <a:gd name="T20" fmla="*/ 6 w 68"/>
                  <a:gd name="T21" fmla="*/ 34 h 47"/>
                  <a:gd name="T22" fmla="*/ 13 w 68"/>
                  <a:gd name="T23" fmla="*/ 25 h 47"/>
                  <a:gd name="T24" fmla="*/ 19 w 68"/>
                  <a:gd name="T25" fmla="*/ 22 h 47"/>
                  <a:gd name="T26" fmla="*/ 22 w 68"/>
                  <a:gd name="T27" fmla="*/ 19 h 47"/>
                  <a:gd name="T28" fmla="*/ 28 w 68"/>
                  <a:gd name="T29" fmla="*/ 13 h 47"/>
                  <a:gd name="T30" fmla="*/ 34 w 68"/>
                  <a:gd name="T31" fmla="*/ 10 h 47"/>
                  <a:gd name="T32" fmla="*/ 40 w 68"/>
                  <a:gd name="T33" fmla="*/ 6 h 47"/>
                  <a:gd name="T34" fmla="*/ 47 w 68"/>
                  <a:gd name="T35" fmla="*/ 3 h 47"/>
                  <a:gd name="T36" fmla="*/ 65 w 68"/>
                  <a:gd name="T37" fmla="*/ 0 h 47"/>
                  <a:gd name="T38" fmla="*/ 68 w 68"/>
                  <a:gd name="T39" fmla="*/ 3 h 47"/>
                  <a:gd name="T40" fmla="*/ 65 w 68"/>
                  <a:gd name="T41" fmla="*/ 3 h 47"/>
                  <a:gd name="T42" fmla="*/ 65 w 68"/>
                  <a:gd name="T43" fmla="*/ 3 h 47"/>
                  <a:gd name="T44" fmla="*/ 65 w 68"/>
                  <a:gd name="T45" fmla="*/ 3 h 4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8"/>
                  <a:gd name="T70" fmla="*/ 0 h 47"/>
                  <a:gd name="T71" fmla="*/ 68 w 68"/>
                  <a:gd name="T72" fmla="*/ 47 h 4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8" h="47">
                    <a:moveTo>
                      <a:pt x="65" y="3"/>
                    </a:moveTo>
                    <a:lnTo>
                      <a:pt x="50" y="10"/>
                    </a:lnTo>
                    <a:lnTo>
                      <a:pt x="43" y="13"/>
                    </a:lnTo>
                    <a:lnTo>
                      <a:pt x="37" y="19"/>
                    </a:lnTo>
                    <a:lnTo>
                      <a:pt x="28" y="25"/>
                    </a:lnTo>
                    <a:lnTo>
                      <a:pt x="19" y="31"/>
                    </a:lnTo>
                    <a:lnTo>
                      <a:pt x="9" y="37"/>
                    </a:lnTo>
                    <a:lnTo>
                      <a:pt x="0" y="47"/>
                    </a:lnTo>
                    <a:lnTo>
                      <a:pt x="6" y="34"/>
                    </a:lnTo>
                    <a:lnTo>
                      <a:pt x="13" y="25"/>
                    </a:lnTo>
                    <a:lnTo>
                      <a:pt x="19" y="22"/>
                    </a:lnTo>
                    <a:lnTo>
                      <a:pt x="22" y="19"/>
                    </a:lnTo>
                    <a:lnTo>
                      <a:pt x="28" y="13"/>
                    </a:lnTo>
                    <a:lnTo>
                      <a:pt x="34" y="10"/>
                    </a:lnTo>
                    <a:lnTo>
                      <a:pt x="40" y="6"/>
                    </a:lnTo>
                    <a:lnTo>
                      <a:pt x="47" y="3"/>
                    </a:lnTo>
                    <a:lnTo>
                      <a:pt x="65" y="0"/>
                    </a:lnTo>
                    <a:lnTo>
                      <a:pt x="68" y="3"/>
                    </a:lnTo>
                    <a:lnTo>
                      <a:pt x="6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59" name="Freeform 226"/>
              <p:cNvSpPr>
                <a:spLocks/>
              </p:cNvSpPr>
              <p:nvPr/>
            </p:nvSpPr>
            <p:spPr bwMode="auto">
              <a:xfrm>
                <a:off x="2409" y="1052"/>
                <a:ext cx="77" cy="213"/>
              </a:xfrm>
              <a:custGeom>
                <a:avLst/>
                <a:gdLst>
                  <a:gd name="T0" fmla="*/ 3 w 77"/>
                  <a:gd name="T1" fmla="*/ 0 h 213"/>
                  <a:gd name="T2" fmla="*/ 15 w 77"/>
                  <a:gd name="T3" fmla="*/ 3 h 213"/>
                  <a:gd name="T4" fmla="*/ 24 w 77"/>
                  <a:gd name="T5" fmla="*/ 9 h 213"/>
                  <a:gd name="T6" fmla="*/ 30 w 77"/>
                  <a:gd name="T7" fmla="*/ 18 h 213"/>
                  <a:gd name="T8" fmla="*/ 37 w 77"/>
                  <a:gd name="T9" fmla="*/ 31 h 213"/>
                  <a:gd name="T10" fmla="*/ 43 w 77"/>
                  <a:gd name="T11" fmla="*/ 37 h 213"/>
                  <a:gd name="T12" fmla="*/ 49 w 77"/>
                  <a:gd name="T13" fmla="*/ 46 h 213"/>
                  <a:gd name="T14" fmla="*/ 55 w 77"/>
                  <a:gd name="T15" fmla="*/ 71 h 213"/>
                  <a:gd name="T16" fmla="*/ 55 w 77"/>
                  <a:gd name="T17" fmla="*/ 77 h 213"/>
                  <a:gd name="T18" fmla="*/ 58 w 77"/>
                  <a:gd name="T19" fmla="*/ 99 h 213"/>
                  <a:gd name="T20" fmla="*/ 58 w 77"/>
                  <a:gd name="T21" fmla="*/ 120 h 213"/>
                  <a:gd name="T22" fmla="*/ 61 w 77"/>
                  <a:gd name="T23" fmla="*/ 129 h 213"/>
                  <a:gd name="T24" fmla="*/ 68 w 77"/>
                  <a:gd name="T25" fmla="*/ 136 h 213"/>
                  <a:gd name="T26" fmla="*/ 74 w 77"/>
                  <a:gd name="T27" fmla="*/ 148 h 213"/>
                  <a:gd name="T28" fmla="*/ 77 w 77"/>
                  <a:gd name="T29" fmla="*/ 167 h 213"/>
                  <a:gd name="T30" fmla="*/ 74 w 77"/>
                  <a:gd name="T31" fmla="*/ 179 h 213"/>
                  <a:gd name="T32" fmla="*/ 71 w 77"/>
                  <a:gd name="T33" fmla="*/ 194 h 213"/>
                  <a:gd name="T34" fmla="*/ 64 w 77"/>
                  <a:gd name="T35" fmla="*/ 210 h 213"/>
                  <a:gd name="T36" fmla="*/ 61 w 77"/>
                  <a:gd name="T37" fmla="*/ 213 h 213"/>
                  <a:gd name="T38" fmla="*/ 61 w 77"/>
                  <a:gd name="T39" fmla="*/ 210 h 213"/>
                  <a:gd name="T40" fmla="*/ 68 w 77"/>
                  <a:gd name="T41" fmla="*/ 179 h 213"/>
                  <a:gd name="T42" fmla="*/ 64 w 77"/>
                  <a:gd name="T43" fmla="*/ 151 h 213"/>
                  <a:gd name="T44" fmla="*/ 61 w 77"/>
                  <a:gd name="T45" fmla="*/ 145 h 213"/>
                  <a:gd name="T46" fmla="*/ 55 w 77"/>
                  <a:gd name="T47" fmla="*/ 139 h 213"/>
                  <a:gd name="T48" fmla="*/ 49 w 77"/>
                  <a:gd name="T49" fmla="*/ 123 h 213"/>
                  <a:gd name="T50" fmla="*/ 46 w 77"/>
                  <a:gd name="T51" fmla="*/ 102 h 213"/>
                  <a:gd name="T52" fmla="*/ 43 w 77"/>
                  <a:gd name="T53" fmla="*/ 77 h 213"/>
                  <a:gd name="T54" fmla="*/ 43 w 77"/>
                  <a:gd name="T55" fmla="*/ 71 h 213"/>
                  <a:gd name="T56" fmla="*/ 43 w 77"/>
                  <a:gd name="T57" fmla="*/ 61 h 213"/>
                  <a:gd name="T58" fmla="*/ 40 w 77"/>
                  <a:gd name="T59" fmla="*/ 52 h 213"/>
                  <a:gd name="T60" fmla="*/ 34 w 77"/>
                  <a:gd name="T61" fmla="*/ 43 h 213"/>
                  <a:gd name="T62" fmla="*/ 27 w 77"/>
                  <a:gd name="T63" fmla="*/ 34 h 213"/>
                  <a:gd name="T64" fmla="*/ 21 w 77"/>
                  <a:gd name="T65" fmla="*/ 24 h 213"/>
                  <a:gd name="T66" fmla="*/ 18 w 77"/>
                  <a:gd name="T67" fmla="*/ 15 h 213"/>
                  <a:gd name="T68" fmla="*/ 12 w 77"/>
                  <a:gd name="T69" fmla="*/ 6 h 213"/>
                  <a:gd name="T70" fmla="*/ 3 w 77"/>
                  <a:gd name="T71" fmla="*/ 3 h 213"/>
                  <a:gd name="T72" fmla="*/ 0 w 77"/>
                  <a:gd name="T73" fmla="*/ 3 h 213"/>
                  <a:gd name="T74" fmla="*/ 3 w 77"/>
                  <a:gd name="T75" fmla="*/ 0 h 213"/>
                  <a:gd name="T76" fmla="*/ 3 w 77"/>
                  <a:gd name="T77" fmla="*/ 0 h 213"/>
                  <a:gd name="T78" fmla="*/ 3 w 77"/>
                  <a:gd name="T79" fmla="*/ 0 h 21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77"/>
                  <a:gd name="T121" fmla="*/ 0 h 213"/>
                  <a:gd name="T122" fmla="*/ 77 w 77"/>
                  <a:gd name="T123" fmla="*/ 213 h 21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77" h="213">
                    <a:moveTo>
                      <a:pt x="3" y="0"/>
                    </a:moveTo>
                    <a:lnTo>
                      <a:pt x="15" y="3"/>
                    </a:lnTo>
                    <a:lnTo>
                      <a:pt x="24" y="9"/>
                    </a:lnTo>
                    <a:lnTo>
                      <a:pt x="30" y="18"/>
                    </a:lnTo>
                    <a:lnTo>
                      <a:pt x="37" y="31"/>
                    </a:lnTo>
                    <a:lnTo>
                      <a:pt x="43" y="37"/>
                    </a:lnTo>
                    <a:lnTo>
                      <a:pt x="49" y="46"/>
                    </a:lnTo>
                    <a:lnTo>
                      <a:pt x="55" y="71"/>
                    </a:lnTo>
                    <a:lnTo>
                      <a:pt x="55" y="77"/>
                    </a:lnTo>
                    <a:lnTo>
                      <a:pt x="58" y="99"/>
                    </a:lnTo>
                    <a:lnTo>
                      <a:pt x="58" y="120"/>
                    </a:lnTo>
                    <a:lnTo>
                      <a:pt x="61" y="129"/>
                    </a:lnTo>
                    <a:lnTo>
                      <a:pt x="68" y="136"/>
                    </a:lnTo>
                    <a:lnTo>
                      <a:pt x="74" y="148"/>
                    </a:lnTo>
                    <a:lnTo>
                      <a:pt x="77" y="167"/>
                    </a:lnTo>
                    <a:lnTo>
                      <a:pt x="74" y="179"/>
                    </a:lnTo>
                    <a:lnTo>
                      <a:pt x="71" y="194"/>
                    </a:lnTo>
                    <a:lnTo>
                      <a:pt x="64" y="210"/>
                    </a:lnTo>
                    <a:lnTo>
                      <a:pt x="61" y="213"/>
                    </a:lnTo>
                    <a:lnTo>
                      <a:pt x="61" y="210"/>
                    </a:lnTo>
                    <a:lnTo>
                      <a:pt x="68" y="179"/>
                    </a:lnTo>
                    <a:lnTo>
                      <a:pt x="64" y="151"/>
                    </a:lnTo>
                    <a:lnTo>
                      <a:pt x="61" y="145"/>
                    </a:lnTo>
                    <a:lnTo>
                      <a:pt x="55" y="139"/>
                    </a:lnTo>
                    <a:lnTo>
                      <a:pt x="49" y="123"/>
                    </a:lnTo>
                    <a:lnTo>
                      <a:pt x="46" y="102"/>
                    </a:lnTo>
                    <a:lnTo>
                      <a:pt x="43" y="77"/>
                    </a:lnTo>
                    <a:lnTo>
                      <a:pt x="43" y="71"/>
                    </a:lnTo>
                    <a:lnTo>
                      <a:pt x="43" y="61"/>
                    </a:lnTo>
                    <a:lnTo>
                      <a:pt x="40" y="52"/>
                    </a:lnTo>
                    <a:lnTo>
                      <a:pt x="34" y="43"/>
                    </a:lnTo>
                    <a:lnTo>
                      <a:pt x="27" y="34"/>
                    </a:lnTo>
                    <a:lnTo>
                      <a:pt x="21" y="24"/>
                    </a:lnTo>
                    <a:lnTo>
                      <a:pt x="18" y="15"/>
                    </a:lnTo>
                    <a:lnTo>
                      <a:pt x="12" y="6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0" name="Freeform 227"/>
              <p:cNvSpPr>
                <a:spLocks/>
              </p:cNvSpPr>
              <p:nvPr/>
            </p:nvSpPr>
            <p:spPr bwMode="auto">
              <a:xfrm>
                <a:off x="2477" y="1123"/>
                <a:ext cx="21" cy="65"/>
              </a:xfrm>
              <a:custGeom>
                <a:avLst/>
                <a:gdLst>
                  <a:gd name="T0" fmla="*/ 18 w 21"/>
                  <a:gd name="T1" fmla="*/ 0 h 65"/>
                  <a:gd name="T2" fmla="*/ 21 w 21"/>
                  <a:gd name="T3" fmla="*/ 31 h 65"/>
                  <a:gd name="T4" fmla="*/ 15 w 21"/>
                  <a:gd name="T5" fmla="*/ 46 h 65"/>
                  <a:gd name="T6" fmla="*/ 12 w 21"/>
                  <a:gd name="T7" fmla="*/ 52 h 65"/>
                  <a:gd name="T8" fmla="*/ 9 w 21"/>
                  <a:gd name="T9" fmla="*/ 62 h 65"/>
                  <a:gd name="T10" fmla="*/ 3 w 21"/>
                  <a:gd name="T11" fmla="*/ 65 h 65"/>
                  <a:gd name="T12" fmla="*/ 0 w 21"/>
                  <a:gd name="T13" fmla="*/ 65 h 65"/>
                  <a:gd name="T14" fmla="*/ 0 w 21"/>
                  <a:gd name="T15" fmla="*/ 62 h 65"/>
                  <a:gd name="T16" fmla="*/ 0 w 21"/>
                  <a:gd name="T17" fmla="*/ 55 h 65"/>
                  <a:gd name="T18" fmla="*/ 12 w 21"/>
                  <a:gd name="T19" fmla="*/ 28 h 65"/>
                  <a:gd name="T20" fmla="*/ 15 w 21"/>
                  <a:gd name="T21" fmla="*/ 15 h 65"/>
                  <a:gd name="T22" fmla="*/ 15 w 21"/>
                  <a:gd name="T23" fmla="*/ 3 h 65"/>
                  <a:gd name="T24" fmla="*/ 15 w 21"/>
                  <a:gd name="T25" fmla="*/ 0 h 65"/>
                  <a:gd name="T26" fmla="*/ 18 w 21"/>
                  <a:gd name="T27" fmla="*/ 0 h 65"/>
                  <a:gd name="T28" fmla="*/ 18 w 21"/>
                  <a:gd name="T29" fmla="*/ 0 h 65"/>
                  <a:gd name="T30" fmla="*/ 18 w 21"/>
                  <a:gd name="T31" fmla="*/ 0 h 6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1"/>
                  <a:gd name="T49" fmla="*/ 0 h 65"/>
                  <a:gd name="T50" fmla="*/ 21 w 21"/>
                  <a:gd name="T51" fmla="*/ 65 h 6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1" h="65">
                    <a:moveTo>
                      <a:pt x="18" y="0"/>
                    </a:moveTo>
                    <a:lnTo>
                      <a:pt x="21" y="31"/>
                    </a:lnTo>
                    <a:lnTo>
                      <a:pt x="15" y="46"/>
                    </a:lnTo>
                    <a:lnTo>
                      <a:pt x="12" y="52"/>
                    </a:lnTo>
                    <a:lnTo>
                      <a:pt x="9" y="62"/>
                    </a:lnTo>
                    <a:lnTo>
                      <a:pt x="3" y="65"/>
                    </a:lnTo>
                    <a:lnTo>
                      <a:pt x="0" y="65"/>
                    </a:lnTo>
                    <a:lnTo>
                      <a:pt x="0" y="62"/>
                    </a:lnTo>
                    <a:lnTo>
                      <a:pt x="0" y="55"/>
                    </a:lnTo>
                    <a:lnTo>
                      <a:pt x="12" y="28"/>
                    </a:lnTo>
                    <a:lnTo>
                      <a:pt x="15" y="15"/>
                    </a:lnTo>
                    <a:lnTo>
                      <a:pt x="15" y="3"/>
                    </a:lnTo>
                    <a:lnTo>
                      <a:pt x="15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1" name="Freeform 228"/>
              <p:cNvSpPr>
                <a:spLocks/>
              </p:cNvSpPr>
              <p:nvPr/>
            </p:nvSpPr>
            <p:spPr bwMode="auto">
              <a:xfrm>
                <a:off x="2405" y="1083"/>
                <a:ext cx="31" cy="61"/>
              </a:xfrm>
              <a:custGeom>
                <a:avLst/>
                <a:gdLst>
                  <a:gd name="T0" fmla="*/ 4 w 31"/>
                  <a:gd name="T1" fmla="*/ 0 h 61"/>
                  <a:gd name="T2" fmla="*/ 7 w 31"/>
                  <a:gd name="T3" fmla="*/ 12 h 61"/>
                  <a:gd name="T4" fmla="*/ 13 w 31"/>
                  <a:gd name="T5" fmla="*/ 21 h 61"/>
                  <a:gd name="T6" fmla="*/ 19 w 31"/>
                  <a:gd name="T7" fmla="*/ 30 h 61"/>
                  <a:gd name="T8" fmla="*/ 25 w 31"/>
                  <a:gd name="T9" fmla="*/ 40 h 61"/>
                  <a:gd name="T10" fmla="*/ 31 w 31"/>
                  <a:gd name="T11" fmla="*/ 58 h 61"/>
                  <a:gd name="T12" fmla="*/ 31 w 31"/>
                  <a:gd name="T13" fmla="*/ 61 h 61"/>
                  <a:gd name="T14" fmla="*/ 28 w 31"/>
                  <a:gd name="T15" fmla="*/ 61 h 61"/>
                  <a:gd name="T16" fmla="*/ 16 w 31"/>
                  <a:gd name="T17" fmla="*/ 46 h 61"/>
                  <a:gd name="T18" fmla="*/ 0 w 31"/>
                  <a:gd name="T19" fmla="*/ 3 h 61"/>
                  <a:gd name="T20" fmla="*/ 0 w 31"/>
                  <a:gd name="T21" fmla="*/ 0 h 61"/>
                  <a:gd name="T22" fmla="*/ 4 w 31"/>
                  <a:gd name="T23" fmla="*/ 0 h 61"/>
                  <a:gd name="T24" fmla="*/ 4 w 31"/>
                  <a:gd name="T25" fmla="*/ 0 h 61"/>
                  <a:gd name="T26" fmla="*/ 4 w 31"/>
                  <a:gd name="T27" fmla="*/ 0 h 6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1"/>
                  <a:gd name="T43" fmla="*/ 0 h 61"/>
                  <a:gd name="T44" fmla="*/ 31 w 31"/>
                  <a:gd name="T45" fmla="*/ 61 h 6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1" h="61">
                    <a:moveTo>
                      <a:pt x="4" y="0"/>
                    </a:moveTo>
                    <a:lnTo>
                      <a:pt x="7" y="12"/>
                    </a:lnTo>
                    <a:lnTo>
                      <a:pt x="13" y="21"/>
                    </a:lnTo>
                    <a:lnTo>
                      <a:pt x="19" y="30"/>
                    </a:lnTo>
                    <a:lnTo>
                      <a:pt x="25" y="40"/>
                    </a:lnTo>
                    <a:lnTo>
                      <a:pt x="31" y="58"/>
                    </a:lnTo>
                    <a:lnTo>
                      <a:pt x="31" y="61"/>
                    </a:lnTo>
                    <a:lnTo>
                      <a:pt x="28" y="61"/>
                    </a:lnTo>
                    <a:lnTo>
                      <a:pt x="16" y="4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2" name="Freeform 229"/>
              <p:cNvSpPr>
                <a:spLocks/>
              </p:cNvSpPr>
              <p:nvPr/>
            </p:nvSpPr>
            <p:spPr bwMode="auto">
              <a:xfrm>
                <a:off x="2520" y="981"/>
                <a:ext cx="6" cy="40"/>
              </a:xfrm>
              <a:custGeom>
                <a:avLst/>
                <a:gdLst>
                  <a:gd name="T0" fmla="*/ 6 w 6"/>
                  <a:gd name="T1" fmla="*/ 0 h 40"/>
                  <a:gd name="T2" fmla="*/ 3 w 6"/>
                  <a:gd name="T3" fmla="*/ 18 h 40"/>
                  <a:gd name="T4" fmla="*/ 6 w 6"/>
                  <a:gd name="T5" fmla="*/ 37 h 40"/>
                  <a:gd name="T6" fmla="*/ 6 w 6"/>
                  <a:gd name="T7" fmla="*/ 37 h 40"/>
                  <a:gd name="T8" fmla="*/ 6 w 6"/>
                  <a:gd name="T9" fmla="*/ 40 h 40"/>
                  <a:gd name="T10" fmla="*/ 3 w 6"/>
                  <a:gd name="T11" fmla="*/ 40 h 40"/>
                  <a:gd name="T12" fmla="*/ 0 w 6"/>
                  <a:gd name="T13" fmla="*/ 31 h 40"/>
                  <a:gd name="T14" fmla="*/ 0 w 6"/>
                  <a:gd name="T15" fmla="*/ 18 h 40"/>
                  <a:gd name="T16" fmla="*/ 0 w 6"/>
                  <a:gd name="T17" fmla="*/ 0 h 40"/>
                  <a:gd name="T18" fmla="*/ 6 w 6"/>
                  <a:gd name="T19" fmla="*/ 0 h 40"/>
                  <a:gd name="T20" fmla="*/ 6 w 6"/>
                  <a:gd name="T21" fmla="*/ 0 h 40"/>
                  <a:gd name="T22" fmla="*/ 6 w 6"/>
                  <a:gd name="T23" fmla="*/ 0 h 4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"/>
                  <a:gd name="T37" fmla="*/ 0 h 40"/>
                  <a:gd name="T38" fmla="*/ 6 w 6"/>
                  <a:gd name="T39" fmla="*/ 40 h 4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" h="40">
                    <a:moveTo>
                      <a:pt x="6" y="0"/>
                    </a:moveTo>
                    <a:lnTo>
                      <a:pt x="3" y="18"/>
                    </a:lnTo>
                    <a:lnTo>
                      <a:pt x="6" y="37"/>
                    </a:lnTo>
                    <a:lnTo>
                      <a:pt x="6" y="40"/>
                    </a:lnTo>
                    <a:lnTo>
                      <a:pt x="3" y="40"/>
                    </a:lnTo>
                    <a:lnTo>
                      <a:pt x="0" y="31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3" name="Freeform 230"/>
              <p:cNvSpPr>
                <a:spLocks/>
              </p:cNvSpPr>
              <p:nvPr/>
            </p:nvSpPr>
            <p:spPr bwMode="auto">
              <a:xfrm>
                <a:off x="2529" y="1018"/>
                <a:ext cx="16" cy="6"/>
              </a:xfrm>
              <a:custGeom>
                <a:avLst/>
                <a:gdLst>
                  <a:gd name="T0" fmla="*/ 3 w 16"/>
                  <a:gd name="T1" fmla="*/ 3 h 6"/>
                  <a:gd name="T2" fmla="*/ 9 w 16"/>
                  <a:gd name="T3" fmla="*/ 0 h 6"/>
                  <a:gd name="T4" fmla="*/ 16 w 16"/>
                  <a:gd name="T5" fmla="*/ 0 h 6"/>
                  <a:gd name="T6" fmla="*/ 16 w 16"/>
                  <a:gd name="T7" fmla="*/ 3 h 6"/>
                  <a:gd name="T8" fmla="*/ 9 w 16"/>
                  <a:gd name="T9" fmla="*/ 6 h 6"/>
                  <a:gd name="T10" fmla="*/ 3 w 16"/>
                  <a:gd name="T11" fmla="*/ 6 h 6"/>
                  <a:gd name="T12" fmla="*/ 0 w 16"/>
                  <a:gd name="T13" fmla="*/ 3 h 6"/>
                  <a:gd name="T14" fmla="*/ 3 w 16"/>
                  <a:gd name="T15" fmla="*/ 3 h 6"/>
                  <a:gd name="T16" fmla="*/ 3 w 16"/>
                  <a:gd name="T17" fmla="*/ 3 h 6"/>
                  <a:gd name="T18" fmla="*/ 3 w 16"/>
                  <a:gd name="T19" fmla="*/ 3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"/>
                  <a:gd name="T31" fmla="*/ 0 h 6"/>
                  <a:gd name="T32" fmla="*/ 16 w 16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" h="6">
                    <a:moveTo>
                      <a:pt x="3" y="3"/>
                    </a:moveTo>
                    <a:lnTo>
                      <a:pt x="9" y="0"/>
                    </a:lnTo>
                    <a:lnTo>
                      <a:pt x="16" y="0"/>
                    </a:lnTo>
                    <a:lnTo>
                      <a:pt x="16" y="3"/>
                    </a:lnTo>
                    <a:lnTo>
                      <a:pt x="9" y="6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4" name="Freeform 231"/>
              <p:cNvSpPr>
                <a:spLocks/>
              </p:cNvSpPr>
              <p:nvPr/>
            </p:nvSpPr>
            <p:spPr bwMode="auto">
              <a:xfrm>
                <a:off x="2517" y="1030"/>
                <a:ext cx="40" cy="12"/>
              </a:xfrm>
              <a:custGeom>
                <a:avLst/>
                <a:gdLst>
                  <a:gd name="T0" fmla="*/ 3 w 40"/>
                  <a:gd name="T1" fmla="*/ 6 h 12"/>
                  <a:gd name="T2" fmla="*/ 9 w 40"/>
                  <a:gd name="T3" fmla="*/ 3 h 12"/>
                  <a:gd name="T4" fmla="*/ 12 w 40"/>
                  <a:gd name="T5" fmla="*/ 3 h 12"/>
                  <a:gd name="T6" fmla="*/ 15 w 40"/>
                  <a:gd name="T7" fmla="*/ 6 h 12"/>
                  <a:gd name="T8" fmla="*/ 21 w 40"/>
                  <a:gd name="T9" fmla="*/ 0 h 12"/>
                  <a:gd name="T10" fmla="*/ 31 w 40"/>
                  <a:gd name="T11" fmla="*/ 3 h 12"/>
                  <a:gd name="T12" fmla="*/ 34 w 40"/>
                  <a:gd name="T13" fmla="*/ 3 h 12"/>
                  <a:gd name="T14" fmla="*/ 37 w 40"/>
                  <a:gd name="T15" fmla="*/ 6 h 12"/>
                  <a:gd name="T16" fmla="*/ 40 w 40"/>
                  <a:gd name="T17" fmla="*/ 6 h 12"/>
                  <a:gd name="T18" fmla="*/ 40 w 40"/>
                  <a:gd name="T19" fmla="*/ 9 h 12"/>
                  <a:gd name="T20" fmla="*/ 34 w 40"/>
                  <a:gd name="T21" fmla="*/ 12 h 12"/>
                  <a:gd name="T22" fmla="*/ 31 w 40"/>
                  <a:gd name="T23" fmla="*/ 9 h 12"/>
                  <a:gd name="T24" fmla="*/ 28 w 40"/>
                  <a:gd name="T25" fmla="*/ 9 h 12"/>
                  <a:gd name="T26" fmla="*/ 21 w 40"/>
                  <a:gd name="T27" fmla="*/ 6 h 12"/>
                  <a:gd name="T28" fmla="*/ 21 w 40"/>
                  <a:gd name="T29" fmla="*/ 9 h 12"/>
                  <a:gd name="T30" fmla="*/ 18 w 40"/>
                  <a:gd name="T31" fmla="*/ 9 h 12"/>
                  <a:gd name="T32" fmla="*/ 15 w 40"/>
                  <a:gd name="T33" fmla="*/ 9 h 12"/>
                  <a:gd name="T34" fmla="*/ 12 w 40"/>
                  <a:gd name="T35" fmla="*/ 9 h 12"/>
                  <a:gd name="T36" fmla="*/ 9 w 40"/>
                  <a:gd name="T37" fmla="*/ 6 h 12"/>
                  <a:gd name="T38" fmla="*/ 3 w 40"/>
                  <a:gd name="T39" fmla="*/ 9 h 12"/>
                  <a:gd name="T40" fmla="*/ 0 w 40"/>
                  <a:gd name="T41" fmla="*/ 9 h 12"/>
                  <a:gd name="T42" fmla="*/ 3 w 40"/>
                  <a:gd name="T43" fmla="*/ 6 h 12"/>
                  <a:gd name="T44" fmla="*/ 3 w 40"/>
                  <a:gd name="T45" fmla="*/ 6 h 12"/>
                  <a:gd name="T46" fmla="*/ 3 w 40"/>
                  <a:gd name="T47" fmla="*/ 6 h 1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0"/>
                  <a:gd name="T73" fmla="*/ 0 h 12"/>
                  <a:gd name="T74" fmla="*/ 40 w 40"/>
                  <a:gd name="T75" fmla="*/ 12 h 12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0" h="12">
                    <a:moveTo>
                      <a:pt x="3" y="6"/>
                    </a:moveTo>
                    <a:lnTo>
                      <a:pt x="9" y="3"/>
                    </a:lnTo>
                    <a:lnTo>
                      <a:pt x="12" y="3"/>
                    </a:lnTo>
                    <a:lnTo>
                      <a:pt x="15" y="6"/>
                    </a:lnTo>
                    <a:lnTo>
                      <a:pt x="21" y="0"/>
                    </a:lnTo>
                    <a:lnTo>
                      <a:pt x="31" y="3"/>
                    </a:lnTo>
                    <a:lnTo>
                      <a:pt x="34" y="3"/>
                    </a:lnTo>
                    <a:lnTo>
                      <a:pt x="37" y="6"/>
                    </a:lnTo>
                    <a:lnTo>
                      <a:pt x="40" y="6"/>
                    </a:lnTo>
                    <a:lnTo>
                      <a:pt x="40" y="9"/>
                    </a:lnTo>
                    <a:lnTo>
                      <a:pt x="34" y="12"/>
                    </a:lnTo>
                    <a:lnTo>
                      <a:pt x="31" y="9"/>
                    </a:lnTo>
                    <a:lnTo>
                      <a:pt x="28" y="9"/>
                    </a:lnTo>
                    <a:lnTo>
                      <a:pt x="21" y="6"/>
                    </a:lnTo>
                    <a:lnTo>
                      <a:pt x="21" y="9"/>
                    </a:lnTo>
                    <a:lnTo>
                      <a:pt x="18" y="9"/>
                    </a:lnTo>
                    <a:lnTo>
                      <a:pt x="15" y="9"/>
                    </a:lnTo>
                    <a:lnTo>
                      <a:pt x="12" y="9"/>
                    </a:lnTo>
                    <a:lnTo>
                      <a:pt x="9" y="6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5" name="Freeform 232"/>
              <p:cNvSpPr>
                <a:spLocks/>
              </p:cNvSpPr>
              <p:nvPr/>
            </p:nvSpPr>
            <p:spPr bwMode="auto">
              <a:xfrm>
                <a:off x="2523" y="1039"/>
                <a:ext cx="28" cy="16"/>
              </a:xfrm>
              <a:custGeom>
                <a:avLst/>
                <a:gdLst>
                  <a:gd name="T0" fmla="*/ 3 w 28"/>
                  <a:gd name="T1" fmla="*/ 3 h 16"/>
                  <a:gd name="T2" fmla="*/ 15 w 28"/>
                  <a:gd name="T3" fmla="*/ 7 h 16"/>
                  <a:gd name="T4" fmla="*/ 25 w 28"/>
                  <a:gd name="T5" fmla="*/ 3 h 16"/>
                  <a:gd name="T6" fmla="*/ 28 w 28"/>
                  <a:gd name="T7" fmla="*/ 0 h 16"/>
                  <a:gd name="T8" fmla="*/ 28 w 28"/>
                  <a:gd name="T9" fmla="*/ 3 h 16"/>
                  <a:gd name="T10" fmla="*/ 18 w 28"/>
                  <a:gd name="T11" fmla="*/ 16 h 16"/>
                  <a:gd name="T12" fmla="*/ 15 w 28"/>
                  <a:gd name="T13" fmla="*/ 16 h 16"/>
                  <a:gd name="T14" fmla="*/ 9 w 28"/>
                  <a:gd name="T15" fmla="*/ 13 h 16"/>
                  <a:gd name="T16" fmla="*/ 0 w 28"/>
                  <a:gd name="T17" fmla="*/ 10 h 16"/>
                  <a:gd name="T18" fmla="*/ 0 w 28"/>
                  <a:gd name="T19" fmla="*/ 7 h 16"/>
                  <a:gd name="T20" fmla="*/ 3 w 28"/>
                  <a:gd name="T21" fmla="*/ 3 h 16"/>
                  <a:gd name="T22" fmla="*/ 3 w 28"/>
                  <a:gd name="T23" fmla="*/ 3 h 16"/>
                  <a:gd name="T24" fmla="*/ 3 w 28"/>
                  <a:gd name="T25" fmla="*/ 3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"/>
                  <a:gd name="T40" fmla="*/ 0 h 16"/>
                  <a:gd name="T41" fmla="*/ 28 w 28"/>
                  <a:gd name="T42" fmla="*/ 16 h 1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" h="16">
                    <a:moveTo>
                      <a:pt x="3" y="3"/>
                    </a:moveTo>
                    <a:lnTo>
                      <a:pt x="15" y="7"/>
                    </a:lnTo>
                    <a:lnTo>
                      <a:pt x="25" y="3"/>
                    </a:lnTo>
                    <a:lnTo>
                      <a:pt x="28" y="0"/>
                    </a:lnTo>
                    <a:lnTo>
                      <a:pt x="28" y="3"/>
                    </a:lnTo>
                    <a:lnTo>
                      <a:pt x="18" y="16"/>
                    </a:lnTo>
                    <a:lnTo>
                      <a:pt x="15" y="16"/>
                    </a:lnTo>
                    <a:lnTo>
                      <a:pt x="9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6" name="Freeform 233"/>
              <p:cNvSpPr>
                <a:spLocks/>
              </p:cNvSpPr>
              <p:nvPr/>
            </p:nvSpPr>
            <p:spPr bwMode="auto">
              <a:xfrm>
                <a:off x="2461" y="922"/>
                <a:ext cx="40" cy="59"/>
              </a:xfrm>
              <a:custGeom>
                <a:avLst/>
                <a:gdLst>
                  <a:gd name="T0" fmla="*/ 40 w 40"/>
                  <a:gd name="T1" fmla="*/ 3 h 59"/>
                  <a:gd name="T2" fmla="*/ 34 w 40"/>
                  <a:gd name="T3" fmla="*/ 9 h 59"/>
                  <a:gd name="T4" fmla="*/ 34 w 40"/>
                  <a:gd name="T5" fmla="*/ 15 h 59"/>
                  <a:gd name="T6" fmla="*/ 37 w 40"/>
                  <a:gd name="T7" fmla="*/ 22 h 59"/>
                  <a:gd name="T8" fmla="*/ 40 w 40"/>
                  <a:gd name="T9" fmla="*/ 31 h 59"/>
                  <a:gd name="T10" fmla="*/ 37 w 40"/>
                  <a:gd name="T11" fmla="*/ 37 h 59"/>
                  <a:gd name="T12" fmla="*/ 34 w 40"/>
                  <a:gd name="T13" fmla="*/ 37 h 59"/>
                  <a:gd name="T14" fmla="*/ 25 w 40"/>
                  <a:gd name="T15" fmla="*/ 46 h 59"/>
                  <a:gd name="T16" fmla="*/ 22 w 40"/>
                  <a:gd name="T17" fmla="*/ 52 h 59"/>
                  <a:gd name="T18" fmla="*/ 16 w 40"/>
                  <a:gd name="T19" fmla="*/ 56 h 59"/>
                  <a:gd name="T20" fmla="*/ 9 w 40"/>
                  <a:gd name="T21" fmla="*/ 59 h 59"/>
                  <a:gd name="T22" fmla="*/ 0 w 40"/>
                  <a:gd name="T23" fmla="*/ 56 h 59"/>
                  <a:gd name="T24" fmla="*/ 0 w 40"/>
                  <a:gd name="T25" fmla="*/ 52 h 59"/>
                  <a:gd name="T26" fmla="*/ 3 w 40"/>
                  <a:gd name="T27" fmla="*/ 52 h 59"/>
                  <a:gd name="T28" fmla="*/ 6 w 40"/>
                  <a:gd name="T29" fmla="*/ 52 h 59"/>
                  <a:gd name="T30" fmla="*/ 12 w 40"/>
                  <a:gd name="T31" fmla="*/ 46 h 59"/>
                  <a:gd name="T32" fmla="*/ 19 w 40"/>
                  <a:gd name="T33" fmla="*/ 40 h 59"/>
                  <a:gd name="T34" fmla="*/ 22 w 40"/>
                  <a:gd name="T35" fmla="*/ 37 h 59"/>
                  <a:gd name="T36" fmla="*/ 25 w 40"/>
                  <a:gd name="T37" fmla="*/ 34 h 59"/>
                  <a:gd name="T38" fmla="*/ 31 w 40"/>
                  <a:gd name="T39" fmla="*/ 31 h 59"/>
                  <a:gd name="T40" fmla="*/ 31 w 40"/>
                  <a:gd name="T41" fmla="*/ 9 h 59"/>
                  <a:gd name="T42" fmla="*/ 31 w 40"/>
                  <a:gd name="T43" fmla="*/ 6 h 59"/>
                  <a:gd name="T44" fmla="*/ 37 w 40"/>
                  <a:gd name="T45" fmla="*/ 0 h 59"/>
                  <a:gd name="T46" fmla="*/ 37 w 40"/>
                  <a:gd name="T47" fmla="*/ 0 h 59"/>
                  <a:gd name="T48" fmla="*/ 40 w 40"/>
                  <a:gd name="T49" fmla="*/ 3 h 59"/>
                  <a:gd name="T50" fmla="*/ 40 w 40"/>
                  <a:gd name="T51" fmla="*/ 3 h 59"/>
                  <a:gd name="T52" fmla="*/ 40 w 40"/>
                  <a:gd name="T53" fmla="*/ 3 h 59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40"/>
                  <a:gd name="T82" fmla="*/ 0 h 59"/>
                  <a:gd name="T83" fmla="*/ 40 w 40"/>
                  <a:gd name="T84" fmla="*/ 59 h 59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40" h="59">
                    <a:moveTo>
                      <a:pt x="40" y="3"/>
                    </a:moveTo>
                    <a:lnTo>
                      <a:pt x="34" y="9"/>
                    </a:lnTo>
                    <a:lnTo>
                      <a:pt x="34" y="15"/>
                    </a:lnTo>
                    <a:lnTo>
                      <a:pt x="37" y="22"/>
                    </a:lnTo>
                    <a:lnTo>
                      <a:pt x="40" y="31"/>
                    </a:lnTo>
                    <a:lnTo>
                      <a:pt x="37" y="37"/>
                    </a:lnTo>
                    <a:lnTo>
                      <a:pt x="34" y="37"/>
                    </a:lnTo>
                    <a:lnTo>
                      <a:pt x="25" y="46"/>
                    </a:lnTo>
                    <a:lnTo>
                      <a:pt x="22" y="52"/>
                    </a:lnTo>
                    <a:lnTo>
                      <a:pt x="16" y="56"/>
                    </a:lnTo>
                    <a:lnTo>
                      <a:pt x="9" y="59"/>
                    </a:lnTo>
                    <a:lnTo>
                      <a:pt x="0" y="56"/>
                    </a:lnTo>
                    <a:lnTo>
                      <a:pt x="0" y="52"/>
                    </a:lnTo>
                    <a:lnTo>
                      <a:pt x="3" y="52"/>
                    </a:lnTo>
                    <a:lnTo>
                      <a:pt x="6" y="52"/>
                    </a:lnTo>
                    <a:lnTo>
                      <a:pt x="12" y="46"/>
                    </a:lnTo>
                    <a:lnTo>
                      <a:pt x="19" y="40"/>
                    </a:lnTo>
                    <a:lnTo>
                      <a:pt x="22" y="37"/>
                    </a:lnTo>
                    <a:lnTo>
                      <a:pt x="25" y="34"/>
                    </a:lnTo>
                    <a:lnTo>
                      <a:pt x="31" y="31"/>
                    </a:lnTo>
                    <a:lnTo>
                      <a:pt x="31" y="9"/>
                    </a:lnTo>
                    <a:lnTo>
                      <a:pt x="31" y="6"/>
                    </a:lnTo>
                    <a:lnTo>
                      <a:pt x="37" y="0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7" name="Freeform 234"/>
              <p:cNvSpPr>
                <a:spLocks/>
              </p:cNvSpPr>
              <p:nvPr/>
            </p:nvSpPr>
            <p:spPr bwMode="auto">
              <a:xfrm>
                <a:off x="2597" y="981"/>
                <a:ext cx="25" cy="31"/>
              </a:xfrm>
              <a:custGeom>
                <a:avLst/>
                <a:gdLst>
                  <a:gd name="T0" fmla="*/ 15 w 25"/>
                  <a:gd name="T1" fmla="*/ 0 h 31"/>
                  <a:gd name="T2" fmla="*/ 22 w 25"/>
                  <a:gd name="T3" fmla="*/ 3 h 31"/>
                  <a:gd name="T4" fmla="*/ 25 w 25"/>
                  <a:gd name="T5" fmla="*/ 9 h 31"/>
                  <a:gd name="T6" fmla="*/ 22 w 25"/>
                  <a:gd name="T7" fmla="*/ 21 h 31"/>
                  <a:gd name="T8" fmla="*/ 22 w 25"/>
                  <a:gd name="T9" fmla="*/ 24 h 31"/>
                  <a:gd name="T10" fmla="*/ 15 w 25"/>
                  <a:gd name="T11" fmla="*/ 27 h 31"/>
                  <a:gd name="T12" fmla="*/ 12 w 25"/>
                  <a:gd name="T13" fmla="*/ 31 h 31"/>
                  <a:gd name="T14" fmla="*/ 3 w 25"/>
                  <a:gd name="T15" fmla="*/ 27 h 31"/>
                  <a:gd name="T16" fmla="*/ 0 w 25"/>
                  <a:gd name="T17" fmla="*/ 27 h 31"/>
                  <a:gd name="T18" fmla="*/ 0 w 25"/>
                  <a:gd name="T19" fmla="*/ 21 h 31"/>
                  <a:gd name="T20" fmla="*/ 3 w 25"/>
                  <a:gd name="T21" fmla="*/ 18 h 31"/>
                  <a:gd name="T22" fmla="*/ 6 w 25"/>
                  <a:gd name="T23" fmla="*/ 18 h 31"/>
                  <a:gd name="T24" fmla="*/ 12 w 25"/>
                  <a:gd name="T25" fmla="*/ 18 h 31"/>
                  <a:gd name="T26" fmla="*/ 19 w 25"/>
                  <a:gd name="T27" fmla="*/ 9 h 31"/>
                  <a:gd name="T28" fmla="*/ 19 w 25"/>
                  <a:gd name="T29" fmla="*/ 6 h 31"/>
                  <a:gd name="T30" fmla="*/ 15 w 25"/>
                  <a:gd name="T31" fmla="*/ 3 h 31"/>
                  <a:gd name="T32" fmla="*/ 12 w 25"/>
                  <a:gd name="T33" fmla="*/ 0 h 31"/>
                  <a:gd name="T34" fmla="*/ 15 w 25"/>
                  <a:gd name="T35" fmla="*/ 0 h 31"/>
                  <a:gd name="T36" fmla="*/ 15 w 25"/>
                  <a:gd name="T37" fmla="*/ 0 h 31"/>
                  <a:gd name="T38" fmla="*/ 15 w 25"/>
                  <a:gd name="T39" fmla="*/ 0 h 3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5"/>
                  <a:gd name="T61" fmla="*/ 0 h 31"/>
                  <a:gd name="T62" fmla="*/ 25 w 25"/>
                  <a:gd name="T63" fmla="*/ 31 h 3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5" h="31">
                    <a:moveTo>
                      <a:pt x="15" y="0"/>
                    </a:moveTo>
                    <a:lnTo>
                      <a:pt x="22" y="3"/>
                    </a:lnTo>
                    <a:lnTo>
                      <a:pt x="25" y="9"/>
                    </a:lnTo>
                    <a:lnTo>
                      <a:pt x="22" y="21"/>
                    </a:lnTo>
                    <a:lnTo>
                      <a:pt x="22" y="24"/>
                    </a:lnTo>
                    <a:lnTo>
                      <a:pt x="15" y="27"/>
                    </a:lnTo>
                    <a:lnTo>
                      <a:pt x="12" y="31"/>
                    </a:lnTo>
                    <a:lnTo>
                      <a:pt x="3" y="27"/>
                    </a:lnTo>
                    <a:lnTo>
                      <a:pt x="0" y="27"/>
                    </a:lnTo>
                    <a:lnTo>
                      <a:pt x="0" y="21"/>
                    </a:lnTo>
                    <a:lnTo>
                      <a:pt x="3" y="18"/>
                    </a:lnTo>
                    <a:lnTo>
                      <a:pt x="6" y="18"/>
                    </a:lnTo>
                    <a:lnTo>
                      <a:pt x="12" y="18"/>
                    </a:lnTo>
                    <a:lnTo>
                      <a:pt x="19" y="9"/>
                    </a:lnTo>
                    <a:lnTo>
                      <a:pt x="19" y="6"/>
                    </a:lnTo>
                    <a:lnTo>
                      <a:pt x="15" y="3"/>
                    </a:lnTo>
                    <a:lnTo>
                      <a:pt x="12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8" name="Freeform 235"/>
              <p:cNvSpPr>
                <a:spLocks/>
              </p:cNvSpPr>
              <p:nvPr/>
            </p:nvSpPr>
            <p:spPr bwMode="auto">
              <a:xfrm>
                <a:off x="2375" y="1110"/>
                <a:ext cx="30" cy="13"/>
              </a:xfrm>
              <a:custGeom>
                <a:avLst/>
                <a:gdLst>
                  <a:gd name="T0" fmla="*/ 3 w 30"/>
                  <a:gd name="T1" fmla="*/ 3 h 13"/>
                  <a:gd name="T2" fmla="*/ 12 w 30"/>
                  <a:gd name="T3" fmla="*/ 0 h 13"/>
                  <a:gd name="T4" fmla="*/ 21 w 30"/>
                  <a:gd name="T5" fmla="*/ 0 h 13"/>
                  <a:gd name="T6" fmla="*/ 24 w 30"/>
                  <a:gd name="T7" fmla="*/ 3 h 13"/>
                  <a:gd name="T8" fmla="*/ 27 w 30"/>
                  <a:gd name="T9" fmla="*/ 7 h 13"/>
                  <a:gd name="T10" fmla="*/ 27 w 30"/>
                  <a:gd name="T11" fmla="*/ 7 h 13"/>
                  <a:gd name="T12" fmla="*/ 30 w 30"/>
                  <a:gd name="T13" fmla="*/ 10 h 13"/>
                  <a:gd name="T14" fmla="*/ 27 w 30"/>
                  <a:gd name="T15" fmla="*/ 13 h 13"/>
                  <a:gd name="T16" fmla="*/ 21 w 30"/>
                  <a:gd name="T17" fmla="*/ 13 h 13"/>
                  <a:gd name="T18" fmla="*/ 18 w 30"/>
                  <a:gd name="T19" fmla="*/ 13 h 13"/>
                  <a:gd name="T20" fmla="*/ 21 w 30"/>
                  <a:gd name="T21" fmla="*/ 13 h 13"/>
                  <a:gd name="T22" fmla="*/ 15 w 30"/>
                  <a:gd name="T23" fmla="*/ 10 h 13"/>
                  <a:gd name="T24" fmla="*/ 9 w 30"/>
                  <a:gd name="T25" fmla="*/ 7 h 13"/>
                  <a:gd name="T26" fmla="*/ 3 w 30"/>
                  <a:gd name="T27" fmla="*/ 7 h 13"/>
                  <a:gd name="T28" fmla="*/ 0 w 30"/>
                  <a:gd name="T29" fmla="*/ 3 h 13"/>
                  <a:gd name="T30" fmla="*/ 3 w 30"/>
                  <a:gd name="T31" fmla="*/ 3 h 13"/>
                  <a:gd name="T32" fmla="*/ 3 w 30"/>
                  <a:gd name="T33" fmla="*/ 3 h 13"/>
                  <a:gd name="T34" fmla="*/ 3 w 30"/>
                  <a:gd name="T35" fmla="*/ 3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0"/>
                  <a:gd name="T55" fmla="*/ 0 h 13"/>
                  <a:gd name="T56" fmla="*/ 30 w 30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0" h="13">
                    <a:moveTo>
                      <a:pt x="3" y="3"/>
                    </a:moveTo>
                    <a:lnTo>
                      <a:pt x="12" y="0"/>
                    </a:lnTo>
                    <a:lnTo>
                      <a:pt x="21" y="0"/>
                    </a:lnTo>
                    <a:lnTo>
                      <a:pt x="24" y="3"/>
                    </a:lnTo>
                    <a:lnTo>
                      <a:pt x="27" y="7"/>
                    </a:lnTo>
                    <a:lnTo>
                      <a:pt x="30" y="10"/>
                    </a:lnTo>
                    <a:lnTo>
                      <a:pt x="27" y="13"/>
                    </a:lnTo>
                    <a:lnTo>
                      <a:pt x="21" y="13"/>
                    </a:lnTo>
                    <a:lnTo>
                      <a:pt x="18" y="13"/>
                    </a:lnTo>
                    <a:lnTo>
                      <a:pt x="21" y="13"/>
                    </a:lnTo>
                    <a:lnTo>
                      <a:pt x="15" y="10"/>
                    </a:lnTo>
                    <a:lnTo>
                      <a:pt x="9" y="7"/>
                    </a:lnTo>
                    <a:lnTo>
                      <a:pt x="3" y="7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69" name="Freeform 236"/>
              <p:cNvSpPr>
                <a:spLocks/>
              </p:cNvSpPr>
              <p:nvPr/>
            </p:nvSpPr>
            <p:spPr bwMode="auto">
              <a:xfrm>
                <a:off x="2319" y="1135"/>
                <a:ext cx="37" cy="9"/>
              </a:xfrm>
              <a:custGeom>
                <a:avLst/>
                <a:gdLst>
                  <a:gd name="T0" fmla="*/ 3 w 37"/>
                  <a:gd name="T1" fmla="*/ 6 h 9"/>
                  <a:gd name="T2" fmla="*/ 12 w 37"/>
                  <a:gd name="T3" fmla="*/ 3 h 9"/>
                  <a:gd name="T4" fmla="*/ 22 w 37"/>
                  <a:gd name="T5" fmla="*/ 0 h 9"/>
                  <a:gd name="T6" fmla="*/ 31 w 37"/>
                  <a:gd name="T7" fmla="*/ 3 h 9"/>
                  <a:gd name="T8" fmla="*/ 37 w 37"/>
                  <a:gd name="T9" fmla="*/ 6 h 9"/>
                  <a:gd name="T10" fmla="*/ 37 w 37"/>
                  <a:gd name="T11" fmla="*/ 9 h 9"/>
                  <a:gd name="T12" fmla="*/ 34 w 37"/>
                  <a:gd name="T13" fmla="*/ 9 h 9"/>
                  <a:gd name="T14" fmla="*/ 22 w 37"/>
                  <a:gd name="T15" fmla="*/ 6 h 9"/>
                  <a:gd name="T16" fmla="*/ 3 w 37"/>
                  <a:gd name="T17" fmla="*/ 9 h 9"/>
                  <a:gd name="T18" fmla="*/ 0 w 37"/>
                  <a:gd name="T19" fmla="*/ 6 h 9"/>
                  <a:gd name="T20" fmla="*/ 3 w 37"/>
                  <a:gd name="T21" fmla="*/ 6 h 9"/>
                  <a:gd name="T22" fmla="*/ 3 w 37"/>
                  <a:gd name="T23" fmla="*/ 6 h 9"/>
                  <a:gd name="T24" fmla="*/ 3 w 37"/>
                  <a:gd name="T25" fmla="*/ 6 h 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"/>
                  <a:gd name="T40" fmla="*/ 0 h 9"/>
                  <a:gd name="T41" fmla="*/ 37 w 37"/>
                  <a:gd name="T42" fmla="*/ 9 h 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" h="9">
                    <a:moveTo>
                      <a:pt x="3" y="6"/>
                    </a:moveTo>
                    <a:lnTo>
                      <a:pt x="12" y="3"/>
                    </a:lnTo>
                    <a:lnTo>
                      <a:pt x="22" y="0"/>
                    </a:lnTo>
                    <a:lnTo>
                      <a:pt x="31" y="3"/>
                    </a:lnTo>
                    <a:lnTo>
                      <a:pt x="37" y="6"/>
                    </a:lnTo>
                    <a:lnTo>
                      <a:pt x="37" y="9"/>
                    </a:lnTo>
                    <a:lnTo>
                      <a:pt x="34" y="9"/>
                    </a:lnTo>
                    <a:lnTo>
                      <a:pt x="22" y="6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0" name="Freeform 237"/>
              <p:cNvSpPr>
                <a:spLocks/>
              </p:cNvSpPr>
              <p:nvPr/>
            </p:nvSpPr>
            <p:spPr bwMode="auto">
              <a:xfrm>
                <a:off x="2341" y="1141"/>
                <a:ext cx="9" cy="6"/>
              </a:xfrm>
              <a:custGeom>
                <a:avLst/>
                <a:gdLst>
                  <a:gd name="T0" fmla="*/ 3 w 9"/>
                  <a:gd name="T1" fmla="*/ 0 h 6"/>
                  <a:gd name="T2" fmla="*/ 6 w 9"/>
                  <a:gd name="T3" fmla="*/ 0 h 6"/>
                  <a:gd name="T4" fmla="*/ 9 w 9"/>
                  <a:gd name="T5" fmla="*/ 3 h 6"/>
                  <a:gd name="T6" fmla="*/ 6 w 9"/>
                  <a:gd name="T7" fmla="*/ 6 h 6"/>
                  <a:gd name="T8" fmla="*/ 0 w 9"/>
                  <a:gd name="T9" fmla="*/ 3 h 6"/>
                  <a:gd name="T10" fmla="*/ 0 w 9"/>
                  <a:gd name="T11" fmla="*/ 0 h 6"/>
                  <a:gd name="T12" fmla="*/ 3 w 9"/>
                  <a:gd name="T13" fmla="*/ 0 h 6"/>
                  <a:gd name="T14" fmla="*/ 3 w 9"/>
                  <a:gd name="T15" fmla="*/ 0 h 6"/>
                  <a:gd name="T16" fmla="*/ 3 w 9"/>
                  <a:gd name="T17" fmla="*/ 0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"/>
                  <a:gd name="T28" fmla="*/ 0 h 6"/>
                  <a:gd name="T29" fmla="*/ 9 w 9"/>
                  <a:gd name="T30" fmla="*/ 6 h 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" h="6">
                    <a:moveTo>
                      <a:pt x="3" y="0"/>
                    </a:moveTo>
                    <a:lnTo>
                      <a:pt x="6" y="0"/>
                    </a:lnTo>
                    <a:lnTo>
                      <a:pt x="9" y="3"/>
                    </a:lnTo>
                    <a:lnTo>
                      <a:pt x="6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1" name="Freeform 238"/>
              <p:cNvSpPr>
                <a:spLocks/>
              </p:cNvSpPr>
              <p:nvPr/>
            </p:nvSpPr>
            <p:spPr bwMode="auto">
              <a:xfrm>
                <a:off x="2378" y="1132"/>
                <a:ext cx="21" cy="9"/>
              </a:xfrm>
              <a:custGeom>
                <a:avLst/>
                <a:gdLst>
                  <a:gd name="T0" fmla="*/ 3 w 21"/>
                  <a:gd name="T1" fmla="*/ 3 h 9"/>
                  <a:gd name="T2" fmla="*/ 12 w 21"/>
                  <a:gd name="T3" fmla="*/ 0 h 9"/>
                  <a:gd name="T4" fmla="*/ 21 w 21"/>
                  <a:gd name="T5" fmla="*/ 6 h 9"/>
                  <a:gd name="T6" fmla="*/ 21 w 21"/>
                  <a:gd name="T7" fmla="*/ 9 h 9"/>
                  <a:gd name="T8" fmla="*/ 18 w 21"/>
                  <a:gd name="T9" fmla="*/ 9 h 9"/>
                  <a:gd name="T10" fmla="*/ 12 w 21"/>
                  <a:gd name="T11" fmla="*/ 6 h 9"/>
                  <a:gd name="T12" fmla="*/ 3 w 21"/>
                  <a:gd name="T13" fmla="*/ 9 h 9"/>
                  <a:gd name="T14" fmla="*/ 0 w 21"/>
                  <a:gd name="T15" fmla="*/ 6 h 9"/>
                  <a:gd name="T16" fmla="*/ 3 w 21"/>
                  <a:gd name="T17" fmla="*/ 3 h 9"/>
                  <a:gd name="T18" fmla="*/ 3 w 21"/>
                  <a:gd name="T19" fmla="*/ 3 h 9"/>
                  <a:gd name="T20" fmla="*/ 3 w 21"/>
                  <a:gd name="T21" fmla="*/ 3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9"/>
                  <a:gd name="T35" fmla="*/ 21 w 21"/>
                  <a:gd name="T36" fmla="*/ 9 h 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9">
                    <a:moveTo>
                      <a:pt x="3" y="3"/>
                    </a:moveTo>
                    <a:lnTo>
                      <a:pt x="12" y="0"/>
                    </a:lnTo>
                    <a:lnTo>
                      <a:pt x="21" y="6"/>
                    </a:lnTo>
                    <a:lnTo>
                      <a:pt x="21" y="9"/>
                    </a:lnTo>
                    <a:lnTo>
                      <a:pt x="18" y="9"/>
                    </a:lnTo>
                    <a:lnTo>
                      <a:pt x="12" y="6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2" name="Freeform 239"/>
              <p:cNvSpPr>
                <a:spLocks/>
              </p:cNvSpPr>
              <p:nvPr/>
            </p:nvSpPr>
            <p:spPr bwMode="auto">
              <a:xfrm>
                <a:off x="2390" y="1138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0 h 6"/>
                  <a:gd name="T4" fmla="*/ 6 w 6"/>
                  <a:gd name="T5" fmla="*/ 6 h 6"/>
                  <a:gd name="T6" fmla="*/ 0 w 6"/>
                  <a:gd name="T7" fmla="*/ 6 h 6"/>
                  <a:gd name="T8" fmla="*/ 0 w 6"/>
                  <a:gd name="T9" fmla="*/ 6 h 6"/>
                  <a:gd name="T10" fmla="*/ 0 w 6"/>
                  <a:gd name="T11" fmla="*/ 3 h 6"/>
                  <a:gd name="T12" fmla="*/ 0 w 6"/>
                  <a:gd name="T13" fmla="*/ 0 h 6"/>
                  <a:gd name="T14" fmla="*/ 0 w 6"/>
                  <a:gd name="T15" fmla="*/ 0 h 6"/>
                  <a:gd name="T16" fmla="*/ 0 w 6"/>
                  <a:gd name="T17" fmla="*/ 0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"/>
                  <a:gd name="T28" fmla="*/ 0 h 6"/>
                  <a:gd name="T29" fmla="*/ 6 w 6"/>
                  <a:gd name="T30" fmla="*/ 6 h 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" h="6">
                    <a:moveTo>
                      <a:pt x="0" y="0"/>
                    </a:moveTo>
                    <a:lnTo>
                      <a:pt x="6" y="0"/>
                    </a:lnTo>
                    <a:lnTo>
                      <a:pt x="6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3" name="Freeform 240"/>
              <p:cNvSpPr>
                <a:spLocks/>
              </p:cNvSpPr>
              <p:nvPr/>
            </p:nvSpPr>
            <p:spPr bwMode="auto">
              <a:xfrm>
                <a:off x="2365" y="1126"/>
                <a:ext cx="19" cy="52"/>
              </a:xfrm>
              <a:custGeom>
                <a:avLst/>
                <a:gdLst>
                  <a:gd name="T0" fmla="*/ 3 w 19"/>
                  <a:gd name="T1" fmla="*/ 0 h 52"/>
                  <a:gd name="T2" fmla="*/ 13 w 19"/>
                  <a:gd name="T3" fmla="*/ 15 h 52"/>
                  <a:gd name="T4" fmla="*/ 13 w 19"/>
                  <a:gd name="T5" fmla="*/ 31 h 52"/>
                  <a:gd name="T6" fmla="*/ 16 w 19"/>
                  <a:gd name="T7" fmla="*/ 40 h 52"/>
                  <a:gd name="T8" fmla="*/ 19 w 19"/>
                  <a:gd name="T9" fmla="*/ 52 h 52"/>
                  <a:gd name="T10" fmla="*/ 16 w 19"/>
                  <a:gd name="T11" fmla="*/ 52 h 52"/>
                  <a:gd name="T12" fmla="*/ 13 w 19"/>
                  <a:gd name="T13" fmla="*/ 40 h 52"/>
                  <a:gd name="T14" fmla="*/ 10 w 19"/>
                  <a:gd name="T15" fmla="*/ 31 h 52"/>
                  <a:gd name="T16" fmla="*/ 7 w 19"/>
                  <a:gd name="T17" fmla="*/ 15 h 52"/>
                  <a:gd name="T18" fmla="*/ 0 w 19"/>
                  <a:gd name="T19" fmla="*/ 3 h 52"/>
                  <a:gd name="T20" fmla="*/ 0 w 19"/>
                  <a:gd name="T21" fmla="*/ 0 h 52"/>
                  <a:gd name="T22" fmla="*/ 3 w 19"/>
                  <a:gd name="T23" fmla="*/ 0 h 52"/>
                  <a:gd name="T24" fmla="*/ 3 w 19"/>
                  <a:gd name="T25" fmla="*/ 0 h 52"/>
                  <a:gd name="T26" fmla="*/ 3 w 19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9"/>
                  <a:gd name="T43" fmla="*/ 0 h 52"/>
                  <a:gd name="T44" fmla="*/ 19 w 19"/>
                  <a:gd name="T45" fmla="*/ 52 h 5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9" h="52">
                    <a:moveTo>
                      <a:pt x="3" y="0"/>
                    </a:moveTo>
                    <a:lnTo>
                      <a:pt x="13" y="15"/>
                    </a:lnTo>
                    <a:lnTo>
                      <a:pt x="13" y="31"/>
                    </a:lnTo>
                    <a:lnTo>
                      <a:pt x="16" y="40"/>
                    </a:lnTo>
                    <a:lnTo>
                      <a:pt x="19" y="52"/>
                    </a:lnTo>
                    <a:lnTo>
                      <a:pt x="16" y="52"/>
                    </a:lnTo>
                    <a:lnTo>
                      <a:pt x="13" y="40"/>
                    </a:lnTo>
                    <a:lnTo>
                      <a:pt x="10" y="31"/>
                    </a:lnTo>
                    <a:lnTo>
                      <a:pt x="7" y="1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4" name="Freeform 241"/>
              <p:cNvSpPr>
                <a:spLocks/>
              </p:cNvSpPr>
              <p:nvPr/>
            </p:nvSpPr>
            <p:spPr bwMode="auto">
              <a:xfrm>
                <a:off x="2350" y="1178"/>
                <a:ext cx="25" cy="7"/>
              </a:xfrm>
              <a:custGeom>
                <a:avLst/>
                <a:gdLst>
                  <a:gd name="T0" fmla="*/ 3 w 25"/>
                  <a:gd name="T1" fmla="*/ 0 h 7"/>
                  <a:gd name="T2" fmla="*/ 15 w 25"/>
                  <a:gd name="T3" fmla="*/ 0 h 7"/>
                  <a:gd name="T4" fmla="*/ 18 w 25"/>
                  <a:gd name="T5" fmla="*/ 0 h 7"/>
                  <a:gd name="T6" fmla="*/ 25 w 25"/>
                  <a:gd name="T7" fmla="*/ 3 h 7"/>
                  <a:gd name="T8" fmla="*/ 22 w 25"/>
                  <a:gd name="T9" fmla="*/ 7 h 7"/>
                  <a:gd name="T10" fmla="*/ 18 w 25"/>
                  <a:gd name="T11" fmla="*/ 7 h 7"/>
                  <a:gd name="T12" fmla="*/ 18 w 25"/>
                  <a:gd name="T13" fmla="*/ 7 h 7"/>
                  <a:gd name="T14" fmla="*/ 9 w 25"/>
                  <a:gd name="T15" fmla="*/ 7 h 7"/>
                  <a:gd name="T16" fmla="*/ 3 w 25"/>
                  <a:gd name="T17" fmla="*/ 3 h 7"/>
                  <a:gd name="T18" fmla="*/ 0 w 25"/>
                  <a:gd name="T19" fmla="*/ 0 h 7"/>
                  <a:gd name="T20" fmla="*/ 3 w 25"/>
                  <a:gd name="T21" fmla="*/ 0 h 7"/>
                  <a:gd name="T22" fmla="*/ 3 w 25"/>
                  <a:gd name="T23" fmla="*/ 0 h 7"/>
                  <a:gd name="T24" fmla="*/ 3 w 25"/>
                  <a:gd name="T25" fmla="*/ 0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5"/>
                  <a:gd name="T40" fmla="*/ 0 h 7"/>
                  <a:gd name="T41" fmla="*/ 25 w 25"/>
                  <a:gd name="T42" fmla="*/ 7 h 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5" h="7">
                    <a:moveTo>
                      <a:pt x="3" y="0"/>
                    </a:moveTo>
                    <a:lnTo>
                      <a:pt x="15" y="0"/>
                    </a:lnTo>
                    <a:lnTo>
                      <a:pt x="18" y="0"/>
                    </a:lnTo>
                    <a:lnTo>
                      <a:pt x="25" y="3"/>
                    </a:lnTo>
                    <a:lnTo>
                      <a:pt x="22" y="7"/>
                    </a:lnTo>
                    <a:lnTo>
                      <a:pt x="18" y="7"/>
                    </a:lnTo>
                    <a:lnTo>
                      <a:pt x="9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5" name="Freeform 242"/>
              <p:cNvSpPr>
                <a:spLocks/>
              </p:cNvSpPr>
              <p:nvPr/>
            </p:nvSpPr>
            <p:spPr bwMode="auto">
              <a:xfrm>
                <a:off x="3178" y="1249"/>
                <a:ext cx="154" cy="260"/>
              </a:xfrm>
              <a:custGeom>
                <a:avLst/>
                <a:gdLst>
                  <a:gd name="T0" fmla="*/ 3 w 154"/>
                  <a:gd name="T1" fmla="*/ 0 h 260"/>
                  <a:gd name="T2" fmla="*/ 12 w 154"/>
                  <a:gd name="T3" fmla="*/ 7 h 260"/>
                  <a:gd name="T4" fmla="*/ 21 w 154"/>
                  <a:gd name="T5" fmla="*/ 13 h 260"/>
                  <a:gd name="T6" fmla="*/ 28 w 154"/>
                  <a:gd name="T7" fmla="*/ 22 h 260"/>
                  <a:gd name="T8" fmla="*/ 34 w 154"/>
                  <a:gd name="T9" fmla="*/ 28 h 260"/>
                  <a:gd name="T10" fmla="*/ 49 w 154"/>
                  <a:gd name="T11" fmla="*/ 41 h 260"/>
                  <a:gd name="T12" fmla="*/ 59 w 154"/>
                  <a:gd name="T13" fmla="*/ 53 h 260"/>
                  <a:gd name="T14" fmla="*/ 65 w 154"/>
                  <a:gd name="T15" fmla="*/ 62 h 260"/>
                  <a:gd name="T16" fmla="*/ 71 w 154"/>
                  <a:gd name="T17" fmla="*/ 68 h 260"/>
                  <a:gd name="T18" fmla="*/ 77 w 154"/>
                  <a:gd name="T19" fmla="*/ 75 h 260"/>
                  <a:gd name="T20" fmla="*/ 80 w 154"/>
                  <a:gd name="T21" fmla="*/ 84 h 260"/>
                  <a:gd name="T22" fmla="*/ 86 w 154"/>
                  <a:gd name="T23" fmla="*/ 90 h 260"/>
                  <a:gd name="T24" fmla="*/ 93 w 154"/>
                  <a:gd name="T25" fmla="*/ 99 h 260"/>
                  <a:gd name="T26" fmla="*/ 99 w 154"/>
                  <a:gd name="T27" fmla="*/ 109 h 260"/>
                  <a:gd name="T28" fmla="*/ 105 w 154"/>
                  <a:gd name="T29" fmla="*/ 118 h 260"/>
                  <a:gd name="T30" fmla="*/ 117 w 154"/>
                  <a:gd name="T31" fmla="*/ 130 h 260"/>
                  <a:gd name="T32" fmla="*/ 123 w 154"/>
                  <a:gd name="T33" fmla="*/ 143 h 260"/>
                  <a:gd name="T34" fmla="*/ 130 w 154"/>
                  <a:gd name="T35" fmla="*/ 155 h 260"/>
                  <a:gd name="T36" fmla="*/ 136 w 154"/>
                  <a:gd name="T37" fmla="*/ 170 h 260"/>
                  <a:gd name="T38" fmla="*/ 142 w 154"/>
                  <a:gd name="T39" fmla="*/ 183 h 260"/>
                  <a:gd name="T40" fmla="*/ 145 w 154"/>
                  <a:gd name="T41" fmla="*/ 192 h 260"/>
                  <a:gd name="T42" fmla="*/ 151 w 154"/>
                  <a:gd name="T43" fmla="*/ 217 h 260"/>
                  <a:gd name="T44" fmla="*/ 154 w 154"/>
                  <a:gd name="T45" fmla="*/ 257 h 260"/>
                  <a:gd name="T46" fmla="*/ 154 w 154"/>
                  <a:gd name="T47" fmla="*/ 260 h 260"/>
                  <a:gd name="T48" fmla="*/ 151 w 154"/>
                  <a:gd name="T49" fmla="*/ 257 h 260"/>
                  <a:gd name="T50" fmla="*/ 145 w 154"/>
                  <a:gd name="T51" fmla="*/ 238 h 260"/>
                  <a:gd name="T52" fmla="*/ 142 w 154"/>
                  <a:gd name="T53" fmla="*/ 217 h 260"/>
                  <a:gd name="T54" fmla="*/ 139 w 154"/>
                  <a:gd name="T55" fmla="*/ 204 h 260"/>
                  <a:gd name="T56" fmla="*/ 136 w 154"/>
                  <a:gd name="T57" fmla="*/ 195 h 260"/>
                  <a:gd name="T58" fmla="*/ 126 w 154"/>
                  <a:gd name="T59" fmla="*/ 177 h 260"/>
                  <a:gd name="T60" fmla="*/ 120 w 154"/>
                  <a:gd name="T61" fmla="*/ 161 h 260"/>
                  <a:gd name="T62" fmla="*/ 114 w 154"/>
                  <a:gd name="T63" fmla="*/ 149 h 260"/>
                  <a:gd name="T64" fmla="*/ 111 w 154"/>
                  <a:gd name="T65" fmla="*/ 143 h 260"/>
                  <a:gd name="T66" fmla="*/ 108 w 154"/>
                  <a:gd name="T67" fmla="*/ 136 h 260"/>
                  <a:gd name="T68" fmla="*/ 102 w 154"/>
                  <a:gd name="T69" fmla="*/ 130 h 260"/>
                  <a:gd name="T70" fmla="*/ 96 w 154"/>
                  <a:gd name="T71" fmla="*/ 124 h 260"/>
                  <a:gd name="T72" fmla="*/ 89 w 154"/>
                  <a:gd name="T73" fmla="*/ 115 h 260"/>
                  <a:gd name="T74" fmla="*/ 86 w 154"/>
                  <a:gd name="T75" fmla="*/ 105 h 260"/>
                  <a:gd name="T76" fmla="*/ 80 w 154"/>
                  <a:gd name="T77" fmla="*/ 96 h 260"/>
                  <a:gd name="T78" fmla="*/ 74 w 154"/>
                  <a:gd name="T79" fmla="*/ 90 h 260"/>
                  <a:gd name="T80" fmla="*/ 68 w 154"/>
                  <a:gd name="T81" fmla="*/ 81 h 260"/>
                  <a:gd name="T82" fmla="*/ 65 w 154"/>
                  <a:gd name="T83" fmla="*/ 75 h 260"/>
                  <a:gd name="T84" fmla="*/ 59 w 154"/>
                  <a:gd name="T85" fmla="*/ 65 h 260"/>
                  <a:gd name="T86" fmla="*/ 55 w 154"/>
                  <a:gd name="T87" fmla="*/ 59 h 260"/>
                  <a:gd name="T88" fmla="*/ 49 w 154"/>
                  <a:gd name="T89" fmla="*/ 53 h 260"/>
                  <a:gd name="T90" fmla="*/ 43 w 154"/>
                  <a:gd name="T91" fmla="*/ 44 h 260"/>
                  <a:gd name="T92" fmla="*/ 37 w 154"/>
                  <a:gd name="T93" fmla="*/ 38 h 260"/>
                  <a:gd name="T94" fmla="*/ 31 w 154"/>
                  <a:gd name="T95" fmla="*/ 31 h 260"/>
                  <a:gd name="T96" fmla="*/ 25 w 154"/>
                  <a:gd name="T97" fmla="*/ 25 h 260"/>
                  <a:gd name="T98" fmla="*/ 18 w 154"/>
                  <a:gd name="T99" fmla="*/ 16 h 260"/>
                  <a:gd name="T100" fmla="*/ 9 w 154"/>
                  <a:gd name="T101" fmla="*/ 10 h 260"/>
                  <a:gd name="T102" fmla="*/ 0 w 154"/>
                  <a:gd name="T103" fmla="*/ 4 h 260"/>
                  <a:gd name="T104" fmla="*/ 0 w 154"/>
                  <a:gd name="T105" fmla="*/ 0 h 260"/>
                  <a:gd name="T106" fmla="*/ 3 w 154"/>
                  <a:gd name="T107" fmla="*/ 0 h 260"/>
                  <a:gd name="T108" fmla="*/ 3 w 154"/>
                  <a:gd name="T109" fmla="*/ 0 h 260"/>
                  <a:gd name="T110" fmla="*/ 3 w 154"/>
                  <a:gd name="T111" fmla="*/ 0 h 26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4"/>
                  <a:gd name="T169" fmla="*/ 0 h 260"/>
                  <a:gd name="T170" fmla="*/ 154 w 154"/>
                  <a:gd name="T171" fmla="*/ 260 h 26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4" h="260">
                    <a:moveTo>
                      <a:pt x="3" y="0"/>
                    </a:moveTo>
                    <a:lnTo>
                      <a:pt x="12" y="7"/>
                    </a:lnTo>
                    <a:lnTo>
                      <a:pt x="21" y="13"/>
                    </a:lnTo>
                    <a:lnTo>
                      <a:pt x="28" y="22"/>
                    </a:lnTo>
                    <a:lnTo>
                      <a:pt x="34" y="28"/>
                    </a:lnTo>
                    <a:lnTo>
                      <a:pt x="49" y="41"/>
                    </a:lnTo>
                    <a:lnTo>
                      <a:pt x="59" y="53"/>
                    </a:lnTo>
                    <a:lnTo>
                      <a:pt x="65" y="62"/>
                    </a:lnTo>
                    <a:lnTo>
                      <a:pt x="71" y="68"/>
                    </a:lnTo>
                    <a:lnTo>
                      <a:pt x="77" y="75"/>
                    </a:lnTo>
                    <a:lnTo>
                      <a:pt x="80" y="84"/>
                    </a:lnTo>
                    <a:lnTo>
                      <a:pt x="86" y="90"/>
                    </a:lnTo>
                    <a:lnTo>
                      <a:pt x="93" y="99"/>
                    </a:lnTo>
                    <a:lnTo>
                      <a:pt x="99" y="109"/>
                    </a:lnTo>
                    <a:lnTo>
                      <a:pt x="105" y="118"/>
                    </a:lnTo>
                    <a:lnTo>
                      <a:pt x="117" y="130"/>
                    </a:lnTo>
                    <a:lnTo>
                      <a:pt x="123" y="143"/>
                    </a:lnTo>
                    <a:lnTo>
                      <a:pt x="130" y="155"/>
                    </a:lnTo>
                    <a:lnTo>
                      <a:pt x="136" y="170"/>
                    </a:lnTo>
                    <a:lnTo>
                      <a:pt x="142" y="183"/>
                    </a:lnTo>
                    <a:lnTo>
                      <a:pt x="145" y="192"/>
                    </a:lnTo>
                    <a:lnTo>
                      <a:pt x="151" y="217"/>
                    </a:lnTo>
                    <a:lnTo>
                      <a:pt x="154" y="257"/>
                    </a:lnTo>
                    <a:lnTo>
                      <a:pt x="154" y="260"/>
                    </a:lnTo>
                    <a:lnTo>
                      <a:pt x="151" y="257"/>
                    </a:lnTo>
                    <a:lnTo>
                      <a:pt x="145" y="238"/>
                    </a:lnTo>
                    <a:lnTo>
                      <a:pt x="142" y="217"/>
                    </a:lnTo>
                    <a:lnTo>
                      <a:pt x="139" y="204"/>
                    </a:lnTo>
                    <a:lnTo>
                      <a:pt x="136" y="195"/>
                    </a:lnTo>
                    <a:lnTo>
                      <a:pt x="126" y="177"/>
                    </a:lnTo>
                    <a:lnTo>
                      <a:pt x="120" y="161"/>
                    </a:lnTo>
                    <a:lnTo>
                      <a:pt x="114" y="149"/>
                    </a:lnTo>
                    <a:lnTo>
                      <a:pt x="111" y="143"/>
                    </a:lnTo>
                    <a:lnTo>
                      <a:pt x="108" y="136"/>
                    </a:lnTo>
                    <a:lnTo>
                      <a:pt x="102" y="130"/>
                    </a:lnTo>
                    <a:lnTo>
                      <a:pt x="96" y="124"/>
                    </a:lnTo>
                    <a:lnTo>
                      <a:pt x="89" y="115"/>
                    </a:lnTo>
                    <a:lnTo>
                      <a:pt x="86" y="105"/>
                    </a:lnTo>
                    <a:lnTo>
                      <a:pt x="80" y="96"/>
                    </a:lnTo>
                    <a:lnTo>
                      <a:pt x="74" y="90"/>
                    </a:lnTo>
                    <a:lnTo>
                      <a:pt x="68" y="81"/>
                    </a:lnTo>
                    <a:lnTo>
                      <a:pt x="65" y="75"/>
                    </a:lnTo>
                    <a:lnTo>
                      <a:pt x="59" y="65"/>
                    </a:lnTo>
                    <a:lnTo>
                      <a:pt x="55" y="59"/>
                    </a:lnTo>
                    <a:lnTo>
                      <a:pt x="49" y="53"/>
                    </a:lnTo>
                    <a:lnTo>
                      <a:pt x="43" y="44"/>
                    </a:lnTo>
                    <a:lnTo>
                      <a:pt x="37" y="38"/>
                    </a:lnTo>
                    <a:lnTo>
                      <a:pt x="31" y="31"/>
                    </a:lnTo>
                    <a:lnTo>
                      <a:pt x="25" y="25"/>
                    </a:lnTo>
                    <a:lnTo>
                      <a:pt x="18" y="16"/>
                    </a:lnTo>
                    <a:lnTo>
                      <a:pt x="9" y="10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6" name="Freeform 243"/>
              <p:cNvSpPr>
                <a:spLocks/>
              </p:cNvSpPr>
              <p:nvPr/>
            </p:nvSpPr>
            <p:spPr bwMode="auto">
              <a:xfrm>
                <a:off x="3138" y="1361"/>
                <a:ext cx="61" cy="163"/>
              </a:xfrm>
              <a:custGeom>
                <a:avLst/>
                <a:gdLst>
                  <a:gd name="T0" fmla="*/ 61 w 61"/>
                  <a:gd name="T1" fmla="*/ 3 h 163"/>
                  <a:gd name="T2" fmla="*/ 46 w 61"/>
                  <a:gd name="T3" fmla="*/ 9 h 163"/>
                  <a:gd name="T4" fmla="*/ 37 w 61"/>
                  <a:gd name="T5" fmla="*/ 18 h 163"/>
                  <a:gd name="T6" fmla="*/ 27 w 61"/>
                  <a:gd name="T7" fmla="*/ 31 h 163"/>
                  <a:gd name="T8" fmla="*/ 18 w 61"/>
                  <a:gd name="T9" fmla="*/ 43 h 163"/>
                  <a:gd name="T10" fmla="*/ 15 w 61"/>
                  <a:gd name="T11" fmla="*/ 52 h 163"/>
                  <a:gd name="T12" fmla="*/ 15 w 61"/>
                  <a:gd name="T13" fmla="*/ 61 h 163"/>
                  <a:gd name="T14" fmla="*/ 18 w 61"/>
                  <a:gd name="T15" fmla="*/ 80 h 163"/>
                  <a:gd name="T16" fmla="*/ 18 w 61"/>
                  <a:gd name="T17" fmla="*/ 123 h 163"/>
                  <a:gd name="T18" fmla="*/ 12 w 61"/>
                  <a:gd name="T19" fmla="*/ 142 h 163"/>
                  <a:gd name="T20" fmla="*/ 9 w 61"/>
                  <a:gd name="T21" fmla="*/ 154 h 163"/>
                  <a:gd name="T22" fmla="*/ 6 w 61"/>
                  <a:gd name="T23" fmla="*/ 163 h 163"/>
                  <a:gd name="T24" fmla="*/ 3 w 61"/>
                  <a:gd name="T25" fmla="*/ 163 h 163"/>
                  <a:gd name="T26" fmla="*/ 0 w 61"/>
                  <a:gd name="T27" fmla="*/ 160 h 163"/>
                  <a:gd name="T28" fmla="*/ 9 w 61"/>
                  <a:gd name="T29" fmla="*/ 142 h 163"/>
                  <a:gd name="T30" fmla="*/ 9 w 61"/>
                  <a:gd name="T31" fmla="*/ 123 h 163"/>
                  <a:gd name="T32" fmla="*/ 6 w 61"/>
                  <a:gd name="T33" fmla="*/ 80 h 163"/>
                  <a:gd name="T34" fmla="*/ 9 w 61"/>
                  <a:gd name="T35" fmla="*/ 37 h 163"/>
                  <a:gd name="T36" fmla="*/ 15 w 61"/>
                  <a:gd name="T37" fmla="*/ 31 h 163"/>
                  <a:gd name="T38" fmla="*/ 18 w 61"/>
                  <a:gd name="T39" fmla="*/ 24 h 163"/>
                  <a:gd name="T40" fmla="*/ 24 w 61"/>
                  <a:gd name="T41" fmla="*/ 18 h 163"/>
                  <a:gd name="T42" fmla="*/ 31 w 61"/>
                  <a:gd name="T43" fmla="*/ 15 h 163"/>
                  <a:gd name="T44" fmla="*/ 37 w 61"/>
                  <a:gd name="T45" fmla="*/ 9 h 163"/>
                  <a:gd name="T46" fmla="*/ 43 w 61"/>
                  <a:gd name="T47" fmla="*/ 6 h 163"/>
                  <a:gd name="T48" fmla="*/ 58 w 61"/>
                  <a:gd name="T49" fmla="*/ 0 h 163"/>
                  <a:gd name="T50" fmla="*/ 61 w 61"/>
                  <a:gd name="T51" fmla="*/ 0 h 163"/>
                  <a:gd name="T52" fmla="*/ 61 w 61"/>
                  <a:gd name="T53" fmla="*/ 3 h 163"/>
                  <a:gd name="T54" fmla="*/ 61 w 61"/>
                  <a:gd name="T55" fmla="*/ 3 h 163"/>
                  <a:gd name="T56" fmla="*/ 61 w 61"/>
                  <a:gd name="T57" fmla="*/ 3 h 1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1"/>
                  <a:gd name="T88" fmla="*/ 0 h 163"/>
                  <a:gd name="T89" fmla="*/ 61 w 61"/>
                  <a:gd name="T90" fmla="*/ 163 h 16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1" h="163">
                    <a:moveTo>
                      <a:pt x="61" y="3"/>
                    </a:moveTo>
                    <a:lnTo>
                      <a:pt x="46" y="9"/>
                    </a:lnTo>
                    <a:lnTo>
                      <a:pt x="37" y="18"/>
                    </a:lnTo>
                    <a:lnTo>
                      <a:pt x="27" y="31"/>
                    </a:lnTo>
                    <a:lnTo>
                      <a:pt x="18" y="43"/>
                    </a:lnTo>
                    <a:lnTo>
                      <a:pt x="15" y="52"/>
                    </a:lnTo>
                    <a:lnTo>
                      <a:pt x="15" y="61"/>
                    </a:lnTo>
                    <a:lnTo>
                      <a:pt x="18" y="80"/>
                    </a:lnTo>
                    <a:lnTo>
                      <a:pt x="18" y="123"/>
                    </a:lnTo>
                    <a:lnTo>
                      <a:pt x="12" y="142"/>
                    </a:lnTo>
                    <a:lnTo>
                      <a:pt x="9" y="154"/>
                    </a:lnTo>
                    <a:lnTo>
                      <a:pt x="6" y="163"/>
                    </a:lnTo>
                    <a:lnTo>
                      <a:pt x="3" y="163"/>
                    </a:lnTo>
                    <a:lnTo>
                      <a:pt x="0" y="160"/>
                    </a:lnTo>
                    <a:lnTo>
                      <a:pt x="9" y="142"/>
                    </a:lnTo>
                    <a:lnTo>
                      <a:pt x="9" y="123"/>
                    </a:lnTo>
                    <a:lnTo>
                      <a:pt x="6" y="80"/>
                    </a:lnTo>
                    <a:lnTo>
                      <a:pt x="9" y="37"/>
                    </a:lnTo>
                    <a:lnTo>
                      <a:pt x="15" y="31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31" y="15"/>
                    </a:lnTo>
                    <a:lnTo>
                      <a:pt x="37" y="9"/>
                    </a:lnTo>
                    <a:lnTo>
                      <a:pt x="43" y="6"/>
                    </a:lnTo>
                    <a:lnTo>
                      <a:pt x="58" y="0"/>
                    </a:lnTo>
                    <a:lnTo>
                      <a:pt x="61" y="0"/>
                    </a:lnTo>
                    <a:lnTo>
                      <a:pt x="6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7" name="Freeform 244"/>
              <p:cNvSpPr>
                <a:spLocks/>
              </p:cNvSpPr>
              <p:nvPr/>
            </p:nvSpPr>
            <p:spPr bwMode="auto">
              <a:xfrm>
                <a:off x="3206" y="1435"/>
                <a:ext cx="77" cy="161"/>
              </a:xfrm>
              <a:custGeom>
                <a:avLst/>
                <a:gdLst>
                  <a:gd name="T0" fmla="*/ 77 w 77"/>
                  <a:gd name="T1" fmla="*/ 0 h 161"/>
                  <a:gd name="T2" fmla="*/ 77 w 77"/>
                  <a:gd name="T3" fmla="*/ 18 h 161"/>
                  <a:gd name="T4" fmla="*/ 74 w 77"/>
                  <a:gd name="T5" fmla="*/ 25 h 161"/>
                  <a:gd name="T6" fmla="*/ 68 w 77"/>
                  <a:gd name="T7" fmla="*/ 34 h 161"/>
                  <a:gd name="T8" fmla="*/ 65 w 77"/>
                  <a:gd name="T9" fmla="*/ 46 h 161"/>
                  <a:gd name="T10" fmla="*/ 68 w 77"/>
                  <a:gd name="T11" fmla="*/ 59 h 161"/>
                  <a:gd name="T12" fmla="*/ 65 w 77"/>
                  <a:gd name="T13" fmla="*/ 77 h 161"/>
                  <a:gd name="T14" fmla="*/ 61 w 77"/>
                  <a:gd name="T15" fmla="*/ 93 h 161"/>
                  <a:gd name="T16" fmla="*/ 55 w 77"/>
                  <a:gd name="T17" fmla="*/ 99 h 161"/>
                  <a:gd name="T18" fmla="*/ 52 w 77"/>
                  <a:gd name="T19" fmla="*/ 108 h 161"/>
                  <a:gd name="T20" fmla="*/ 46 w 77"/>
                  <a:gd name="T21" fmla="*/ 114 h 161"/>
                  <a:gd name="T22" fmla="*/ 40 w 77"/>
                  <a:gd name="T23" fmla="*/ 120 h 161"/>
                  <a:gd name="T24" fmla="*/ 21 w 77"/>
                  <a:gd name="T25" fmla="*/ 142 h 161"/>
                  <a:gd name="T26" fmla="*/ 15 w 77"/>
                  <a:gd name="T27" fmla="*/ 151 h 161"/>
                  <a:gd name="T28" fmla="*/ 12 w 77"/>
                  <a:gd name="T29" fmla="*/ 157 h 161"/>
                  <a:gd name="T30" fmla="*/ 9 w 77"/>
                  <a:gd name="T31" fmla="*/ 161 h 161"/>
                  <a:gd name="T32" fmla="*/ 3 w 77"/>
                  <a:gd name="T33" fmla="*/ 161 h 161"/>
                  <a:gd name="T34" fmla="*/ 0 w 77"/>
                  <a:gd name="T35" fmla="*/ 157 h 161"/>
                  <a:gd name="T36" fmla="*/ 0 w 77"/>
                  <a:gd name="T37" fmla="*/ 154 h 161"/>
                  <a:gd name="T38" fmla="*/ 3 w 77"/>
                  <a:gd name="T39" fmla="*/ 151 h 161"/>
                  <a:gd name="T40" fmla="*/ 12 w 77"/>
                  <a:gd name="T41" fmla="*/ 139 h 161"/>
                  <a:gd name="T42" fmla="*/ 21 w 77"/>
                  <a:gd name="T43" fmla="*/ 127 h 161"/>
                  <a:gd name="T44" fmla="*/ 34 w 77"/>
                  <a:gd name="T45" fmla="*/ 114 h 161"/>
                  <a:gd name="T46" fmla="*/ 43 w 77"/>
                  <a:gd name="T47" fmla="*/ 102 h 161"/>
                  <a:gd name="T48" fmla="*/ 52 w 77"/>
                  <a:gd name="T49" fmla="*/ 89 h 161"/>
                  <a:gd name="T50" fmla="*/ 55 w 77"/>
                  <a:gd name="T51" fmla="*/ 74 h 161"/>
                  <a:gd name="T52" fmla="*/ 58 w 77"/>
                  <a:gd name="T53" fmla="*/ 59 h 161"/>
                  <a:gd name="T54" fmla="*/ 58 w 77"/>
                  <a:gd name="T55" fmla="*/ 31 h 161"/>
                  <a:gd name="T56" fmla="*/ 61 w 77"/>
                  <a:gd name="T57" fmla="*/ 25 h 161"/>
                  <a:gd name="T58" fmla="*/ 68 w 77"/>
                  <a:gd name="T59" fmla="*/ 25 h 161"/>
                  <a:gd name="T60" fmla="*/ 74 w 77"/>
                  <a:gd name="T61" fmla="*/ 15 h 161"/>
                  <a:gd name="T62" fmla="*/ 74 w 77"/>
                  <a:gd name="T63" fmla="*/ 9 h 161"/>
                  <a:gd name="T64" fmla="*/ 74 w 77"/>
                  <a:gd name="T65" fmla="*/ 0 h 161"/>
                  <a:gd name="T66" fmla="*/ 77 w 77"/>
                  <a:gd name="T67" fmla="*/ 0 h 161"/>
                  <a:gd name="T68" fmla="*/ 77 w 77"/>
                  <a:gd name="T69" fmla="*/ 0 h 161"/>
                  <a:gd name="T70" fmla="*/ 77 w 77"/>
                  <a:gd name="T71" fmla="*/ 0 h 16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7"/>
                  <a:gd name="T109" fmla="*/ 0 h 161"/>
                  <a:gd name="T110" fmla="*/ 77 w 77"/>
                  <a:gd name="T111" fmla="*/ 161 h 16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7" h="161">
                    <a:moveTo>
                      <a:pt x="77" y="0"/>
                    </a:moveTo>
                    <a:lnTo>
                      <a:pt x="77" y="18"/>
                    </a:lnTo>
                    <a:lnTo>
                      <a:pt x="74" y="25"/>
                    </a:lnTo>
                    <a:lnTo>
                      <a:pt x="68" y="34"/>
                    </a:lnTo>
                    <a:lnTo>
                      <a:pt x="65" y="46"/>
                    </a:lnTo>
                    <a:lnTo>
                      <a:pt x="68" y="59"/>
                    </a:lnTo>
                    <a:lnTo>
                      <a:pt x="65" y="77"/>
                    </a:lnTo>
                    <a:lnTo>
                      <a:pt x="61" y="93"/>
                    </a:lnTo>
                    <a:lnTo>
                      <a:pt x="55" y="99"/>
                    </a:lnTo>
                    <a:lnTo>
                      <a:pt x="52" y="108"/>
                    </a:lnTo>
                    <a:lnTo>
                      <a:pt x="46" y="114"/>
                    </a:lnTo>
                    <a:lnTo>
                      <a:pt x="40" y="120"/>
                    </a:lnTo>
                    <a:lnTo>
                      <a:pt x="21" y="142"/>
                    </a:lnTo>
                    <a:lnTo>
                      <a:pt x="15" y="151"/>
                    </a:lnTo>
                    <a:lnTo>
                      <a:pt x="12" y="157"/>
                    </a:lnTo>
                    <a:lnTo>
                      <a:pt x="9" y="161"/>
                    </a:lnTo>
                    <a:lnTo>
                      <a:pt x="3" y="161"/>
                    </a:lnTo>
                    <a:lnTo>
                      <a:pt x="0" y="157"/>
                    </a:lnTo>
                    <a:lnTo>
                      <a:pt x="0" y="154"/>
                    </a:lnTo>
                    <a:lnTo>
                      <a:pt x="3" y="151"/>
                    </a:lnTo>
                    <a:lnTo>
                      <a:pt x="12" y="139"/>
                    </a:lnTo>
                    <a:lnTo>
                      <a:pt x="21" y="127"/>
                    </a:lnTo>
                    <a:lnTo>
                      <a:pt x="34" y="114"/>
                    </a:lnTo>
                    <a:lnTo>
                      <a:pt x="43" y="102"/>
                    </a:lnTo>
                    <a:lnTo>
                      <a:pt x="52" y="89"/>
                    </a:lnTo>
                    <a:lnTo>
                      <a:pt x="55" y="74"/>
                    </a:lnTo>
                    <a:lnTo>
                      <a:pt x="58" y="59"/>
                    </a:lnTo>
                    <a:lnTo>
                      <a:pt x="58" y="31"/>
                    </a:lnTo>
                    <a:lnTo>
                      <a:pt x="61" y="25"/>
                    </a:lnTo>
                    <a:lnTo>
                      <a:pt x="68" y="25"/>
                    </a:lnTo>
                    <a:lnTo>
                      <a:pt x="74" y="15"/>
                    </a:lnTo>
                    <a:lnTo>
                      <a:pt x="74" y="9"/>
                    </a:lnTo>
                    <a:lnTo>
                      <a:pt x="74" y="0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8" name="Freeform 245"/>
              <p:cNvSpPr>
                <a:spLocks/>
              </p:cNvSpPr>
              <p:nvPr/>
            </p:nvSpPr>
            <p:spPr bwMode="auto">
              <a:xfrm>
                <a:off x="3070" y="1494"/>
                <a:ext cx="89" cy="126"/>
              </a:xfrm>
              <a:custGeom>
                <a:avLst/>
                <a:gdLst>
                  <a:gd name="T0" fmla="*/ 74 w 89"/>
                  <a:gd name="T1" fmla="*/ 9 h 126"/>
                  <a:gd name="T2" fmla="*/ 61 w 89"/>
                  <a:gd name="T3" fmla="*/ 6 h 126"/>
                  <a:gd name="T4" fmla="*/ 52 w 89"/>
                  <a:gd name="T5" fmla="*/ 6 h 126"/>
                  <a:gd name="T6" fmla="*/ 46 w 89"/>
                  <a:gd name="T7" fmla="*/ 15 h 126"/>
                  <a:gd name="T8" fmla="*/ 43 w 89"/>
                  <a:gd name="T9" fmla="*/ 21 h 126"/>
                  <a:gd name="T10" fmla="*/ 34 w 89"/>
                  <a:gd name="T11" fmla="*/ 37 h 126"/>
                  <a:gd name="T12" fmla="*/ 31 w 89"/>
                  <a:gd name="T13" fmla="*/ 43 h 126"/>
                  <a:gd name="T14" fmla="*/ 24 w 89"/>
                  <a:gd name="T15" fmla="*/ 52 h 126"/>
                  <a:gd name="T16" fmla="*/ 21 w 89"/>
                  <a:gd name="T17" fmla="*/ 58 h 126"/>
                  <a:gd name="T18" fmla="*/ 15 w 89"/>
                  <a:gd name="T19" fmla="*/ 68 h 126"/>
                  <a:gd name="T20" fmla="*/ 12 w 89"/>
                  <a:gd name="T21" fmla="*/ 77 h 126"/>
                  <a:gd name="T22" fmla="*/ 12 w 89"/>
                  <a:gd name="T23" fmla="*/ 89 h 126"/>
                  <a:gd name="T24" fmla="*/ 18 w 89"/>
                  <a:gd name="T25" fmla="*/ 102 h 126"/>
                  <a:gd name="T26" fmla="*/ 24 w 89"/>
                  <a:gd name="T27" fmla="*/ 105 h 126"/>
                  <a:gd name="T28" fmla="*/ 28 w 89"/>
                  <a:gd name="T29" fmla="*/ 105 h 126"/>
                  <a:gd name="T30" fmla="*/ 40 w 89"/>
                  <a:gd name="T31" fmla="*/ 111 h 126"/>
                  <a:gd name="T32" fmla="*/ 46 w 89"/>
                  <a:gd name="T33" fmla="*/ 114 h 126"/>
                  <a:gd name="T34" fmla="*/ 52 w 89"/>
                  <a:gd name="T35" fmla="*/ 117 h 126"/>
                  <a:gd name="T36" fmla="*/ 61 w 89"/>
                  <a:gd name="T37" fmla="*/ 120 h 126"/>
                  <a:gd name="T38" fmla="*/ 86 w 89"/>
                  <a:gd name="T39" fmla="*/ 120 h 126"/>
                  <a:gd name="T40" fmla="*/ 89 w 89"/>
                  <a:gd name="T41" fmla="*/ 123 h 126"/>
                  <a:gd name="T42" fmla="*/ 86 w 89"/>
                  <a:gd name="T43" fmla="*/ 123 h 126"/>
                  <a:gd name="T44" fmla="*/ 58 w 89"/>
                  <a:gd name="T45" fmla="*/ 126 h 126"/>
                  <a:gd name="T46" fmla="*/ 46 w 89"/>
                  <a:gd name="T47" fmla="*/ 126 h 126"/>
                  <a:gd name="T48" fmla="*/ 34 w 89"/>
                  <a:gd name="T49" fmla="*/ 117 h 126"/>
                  <a:gd name="T50" fmla="*/ 12 w 89"/>
                  <a:gd name="T51" fmla="*/ 108 h 126"/>
                  <a:gd name="T52" fmla="*/ 3 w 89"/>
                  <a:gd name="T53" fmla="*/ 92 h 126"/>
                  <a:gd name="T54" fmla="*/ 0 w 89"/>
                  <a:gd name="T55" fmla="*/ 74 h 126"/>
                  <a:gd name="T56" fmla="*/ 6 w 89"/>
                  <a:gd name="T57" fmla="*/ 61 h 126"/>
                  <a:gd name="T58" fmla="*/ 12 w 89"/>
                  <a:gd name="T59" fmla="*/ 55 h 126"/>
                  <a:gd name="T60" fmla="*/ 15 w 89"/>
                  <a:gd name="T61" fmla="*/ 46 h 126"/>
                  <a:gd name="T62" fmla="*/ 21 w 89"/>
                  <a:gd name="T63" fmla="*/ 40 h 126"/>
                  <a:gd name="T64" fmla="*/ 28 w 89"/>
                  <a:gd name="T65" fmla="*/ 34 h 126"/>
                  <a:gd name="T66" fmla="*/ 34 w 89"/>
                  <a:gd name="T67" fmla="*/ 27 h 126"/>
                  <a:gd name="T68" fmla="*/ 37 w 89"/>
                  <a:gd name="T69" fmla="*/ 18 h 126"/>
                  <a:gd name="T70" fmla="*/ 43 w 89"/>
                  <a:gd name="T71" fmla="*/ 12 h 126"/>
                  <a:gd name="T72" fmla="*/ 49 w 89"/>
                  <a:gd name="T73" fmla="*/ 3 h 126"/>
                  <a:gd name="T74" fmla="*/ 61 w 89"/>
                  <a:gd name="T75" fmla="*/ 0 h 126"/>
                  <a:gd name="T76" fmla="*/ 74 w 89"/>
                  <a:gd name="T77" fmla="*/ 0 h 126"/>
                  <a:gd name="T78" fmla="*/ 80 w 89"/>
                  <a:gd name="T79" fmla="*/ 3 h 126"/>
                  <a:gd name="T80" fmla="*/ 77 w 89"/>
                  <a:gd name="T81" fmla="*/ 6 h 126"/>
                  <a:gd name="T82" fmla="*/ 74 w 89"/>
                  <a:gd name="T83" fmla="*/ 9 h 126"/>
                  <a:gd name="T84" fmla="*/ 74 w 89"/>
                  <a:gd name="T85" fmla="*/ 9 h 126"/>
                  <a:gd name="T86" fmla="*/ 74 w 89"/>
                  <a:gd name="T87" fmla="*/ 9 h 12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89"/>
                  <a:gd name="T133" fmla="*/ 0 h 126"/>
                  <a:gd name="T134" fmla="*/ 89 w 89"/>
                  <a:gd name="T135" fmla="*/ 126 h 12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89" h="126">
                    <a:moveTo>
                      <a:pt x="74" y="9"/>
                    </a:moveTo>
                    <a:lnTo>
                      <a:pt x="61" y="6"/>
                    </a:lnTo>
                    <a:lnTo>
                      <a:pt x="52" y="6"/>
                    </a:lnTo>
                    <a:lnTo>
                      <a:pt x="46" y="15"/>
                    </a:lnTo>
                    <a:lnTo>
                      <a:pt x="43" y="21"/>
                    </a:lnTo>
                    <a:lnTo>
                      <a:pt x="34" y="37"/>
                    </a:lnTo>
                    <a:lnTo>
                      <a:pt x="31" y="43"/>
                    </a:lnTo>
                    <a:lnTo>
                      <a:pt x="24" y="52"/>
                    </a:lnTo>
                    <a:lnTo>
                      <a:pt x="21" y="58"/>
                    </a:lnTo>
                    <a:lnTo>
                      <a:pt x="15" y="68"/>
                    </a:lnTo>
                    <a:lnTo>
                      <a:pt x="12" y="77"/>
                    </a:lnTo>
                    <a:lnTo>
                      <a:pt x="12" y="89"/>
                    </a:lnTo>
                    <a:lnTo>
                      <a:pt x="18" y="102"/>
                    </a:lnTo>
                    <a:lnTo>
                      <a:pt x="24" y="105"/>
                    </a:lnTo>
                    <a:lnTo>
                      <a:pt x="28" y="105"/>
                    </a:lnTo>
                    <a:lnTo>
                      <a:pt x="40" y="111"/>
                    </a:lnTo>
                    <a:lnTo>
                      <a:pt x="46" y="114"/>
                    </a:lnTo>
                    <a:lnTo>
                      <a:pt x="52" y="117"/>
                    </a:lnTo>
                    <a:lnTo>
                      <a:pt x="61" y="120"/>
                    </a:lnTo>
                    <a:lnTo>
                      <a:pt x="86" y="120"/>
                    </a:lnTo>
                    <a:lnTo>
                      <a:pt x="89" y="123"/>
                    </a:lnTo>
                    <a:lnTo>
                      <a:pt x="86" y="123"/>
                    </a:lnTo>
                    <a:lnTo>
                      <a:pt x="58" y="126"/>
                    </a:lnTo>
                    <a:lnTo>
                      <a:pt x="46" y="126"/>
                    </a:lnTo>
                    <a:lnTo>
                      <a:pt x="34" y="117"/>
                    </a:lnTo>
                    <a:lnTo>
                      <a:pt x="12" y="108"/>
                    </a:lnTo>
                    <a:lnTo>
                      <a:pt x="3" y="92"/>
                    </a:lnTo>
                    <a:lnTo>
                      <a:pt x="0" y="74"/>
                    </a:lnTo>
                    <a:lnTo>
                      <a:pt x="6" y="61"/>
                    </a:lnTo>
                    <a:lnTo>
                      <a:pt x="12" y="55"/>
                    </a:lnTo>
                    <a:lnTo>
                      <a:pt x="15" y="46"/>
                    </a:lnTo>
                    <a:lnTo>
                      <a:pt x="21" y="40"/>
                    </a:lnTo>
                    <a:lnTo>
                      <a:pt x="28" y="34"/>
                    </a:lnTo>
                    <a:lnTo>
                      <a:pt x="34" y="27"/>
                    </a:lnTo>
                    <a:lnTo>
                      <a:pt x="37" y="18"/>
                    </a:lnTo>
                    <a:lnTo>
                      <a:pt x="43" y="12"/>
                    </a:lnTo>
                    <a:lnTo>
                      <a:pt x="49" y="3"/>
                    </a:lnTo>
                    <a:lnTo>
                      <a:pt x="61" y="0"/>
                    </a:lnTo>
                    <a:lnTo>
                      <a:pt x="74" y="0"/>
                    </a:lnTo>
                    <a:lnTo>
                      <a:pt x="80" y="3"/>
                    </a:lnTo>
                    <a:lnTo>
                      <a:pt x="77" y="6"/>
                    </a:lnTo>
                    <a:lnTo>
                      <a:pt x="74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79" name="Freeform 246"/>
              <p:cNvSpPr>
                <a:spLocks/>
              </p:cNvSpPr>
              <p:nvPr/>
            </p:nvSpPr>
            <p:spPr bwMode="auto">
              <a:xfrm>
                <a:off x="3128" y="1549"/>
                <a:ext cx="47" cy="68"/>
              </a:xfrm>
              <a:custGeom>
                <a:avLst/>
                <a:gdLst>
                  <a:gd name="T0" fmla="*/ 7 w 47"/>
                  <a:gd name="T1" fmla="*/ 0 h 68"/>
                  <a:gd name="T2" fmla="*/ 10 w 47"/>
                  <a:gd name="T3" fmla="*/ 22 h 68"/>
                  <a:gd name="T4" fmla="*/ 13 w 47"/>
                  <a:gd name="T5" fmla="*/ 31 h 68"/>
                  <a:gd name="T6" fmla="*/ 19 w 47"/>
                  <a:gd name="T7" fmla="*/ 40 h 68"/>
                  <a:gd name="T8" fmla="*/ 22 w 47"/>
                  <a:gd name="T9" fmla="*/ 47 h 68"/>
                  <a:gd name="T10" fmla="*/ 25 w 47"/>
                  <a:gd name="T11" fmla="*/ 50 h 68"/>
                  <a:gd name="T12" fmla="*/ 34 w 47"/>
                  <a:gd name="T13" fmla="*/ 56 h 68"/>
                  <a:gd name="T14" fmla="*/ 41 w 47"/>
                  <a:gd name="T15" fmla="*/ 59 h 68"/>
                  <a:gd name="T16" fmla="*/ 47 w 47"/>
                  <a:gd name="T17" fmla="*/ 65 h 68"/>
                  <a:gd name="T18" fmla="*/ 47 w 47"/>
                  <a:gd name="T19" fmla="*/ 68 h 68"/>
                  <a:gd name="T20" fmla="*/ 47 w 47"/>
                  <a:gd name="T21" fmla="*/ 68 h 68"/>
                  <a:gd name="T22" fmla="*/ 31 w 47"/>
                  <a:gd name="T23" fmla="*/ 59 h 68"/>
                  <a:gd name="T24" fmla="*/ 25 w 47"/>
                  <a:gd name="T25" fmla="*/ 56 h 68"/>
                  <a:gd name="T26" fmla="*/ 13 w 47"/>
                  <a:gd name="T27" fmla="*/ 47 h 68"/>
                  <a:gd name="T28" fmla="*/ 3 w 47"/>
                  <a:gd name="T29" fmla="*/ 34 h 68"/>
                  <a:gd name="T30" fmla="*/ 0 w 47"/>
                  <a:gd name="T31" fmla="*/ 22 h 68"/>
                  <a:gd name="T32" fmla="*/ 3 w 47"/>
                  <a:gd name="T33" fmla="*/ 0 h 68"/>
                  <a:gd name="T34" fmla="*/ 7 w 47"/>
                  <a:gd name="T35" fmla="*/ 0 h 68"/>
                  <a:gd name="T36" fmla="*/ 7 w 47"/>
                  <a:gd name="T37" fmla="*/ 0 h 68"/>
                  <a:gd name="T38" fmla="*/ 7 w 47"/>
                  <a:gd name="T39" fmla="*/ 0 h 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7"/>
                  <a:gd name="T61" fmla="*/ 0 h 68"/>
                  <a:gd name="T62" fmla="*/ 47 w 47"/>
                  <a:gd name="T63" fmla="*/ 68 h 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7" h="68">
                    <a:moveTo>
                      <a:pt x="7" y="0"/>
                    </a:moveTo>
                    <a:lnTo>
                      <a:pt x="10" y="22"/>
                    </a:lnTo>
                    <a:lnTo>
                      <a:pt x="13" y="31"/>
                    </a:lnTo>
                    <a:lnTo>
                      <a:pt x="19" y="40"/>
                    </a:lnTo>
                    <a:lnTo>
                      <a:pt x="22" y="47"/>
                    </a:lnTo>
                    <a:lnTo>
                      <a:pt x="25" y="50"/>
                    </a:lnTo>
                    <a:lnTo>
                      <a:pt x="34" y="56"/>
                    </a:lnTo>
                    <a:lnTo>
                      <a:pt x="41" y="59"/>
                    </a:lnTo>
                    <a:lnTo>
                      <a:pt x="47" y="65"/>
                    </a:lnTo>
                    <a:lnTo>
                      <a:pt x="47" y="68"/>
                    </a:lnTo>
                    <a:lnTo>
                      <a:pt x="31" y="59"/>
                    </a:lnTo>
                    <a:lnTo>
                      <a:pt x="25" y="56"/>
                    </a:lnTo>
                    <a:lnTo>
                      <a:pt x="13" y="47"/>
                    </a:lnTo>
                    <a:lnTo>
                      <a:pt x="3" y="34"/>
                    </a:lnTo>
                    <a:lnTo>
                      <a:pt x="0" y="22"/>
                    </a:lnTo>
                    <a:lnTo>
                      <a:pt x="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0" name="Freeform 247"/>
              <p:cNvSpPr>
                <a:spLocks/>
              </p:cNvSpPr>
              <p:nvPr/>
            </p:nvSpPr>
            <p:spPr bwMode="auto">
              <a:xfrm>
                <a:off x="3023" y="1524"/>
                <a:ext cx="47" cy="44"/>
              </a:xfrm>
              <a:custGeom>
                <a:avLst/>
                <a:gdLst>
                  <a:gd name="T0" fmla="*/ 3 w 47"/>
                  <a:gd name="T1" fmla="*/ 0 h 44"/>
                  <a:gd name="T2" fmla="*/ 10 w 47"/>
                  <a:gd name="T3" fmla="*/ 7 h 44"/>
                  <a:gd name="T4" fmla="*/ 16 w 47"/>
                  <a:gd name="T5" fmla="*/ 10 h 44"/>
                  <a:gd name="T6" fmla="*/ 19 w 47"/>
                  <a:gd name="T7" fmla="*/ 16 h 44"/>
                  <a:gd name="T8" fmla="*/ 25 w 47"/>
                  <a:gd name="T9" fmla="*/ 19 h 44"/>
                  <a:gd name="T10" fmla="*/ 34 w 47"/>
                  <a:gd name="T11" fmla="*/ 25 h 44"/>
                  <a:gd name="T12" fmla="*/ 41 w 47"/>
                  <a:gd name="T13" fmla="*/ 31 h 44"/>
                  <a:gd name="T14" fmla="*/ 47 w 47"/>
                  <a:gd name="T15" fmla="*/ 38 h 44"/>
                  <a:gd name="T16" fmla="*/ 47 w 47"/>
                  <a:gd name="T17" fmla="*/ 41 h 44"/>
                  <a:gd name="T18" fmla="*/ 47 w 47"/>
                  <a:gd name="T19" fmla="*/ 44 h 44"/>
                  <a:gd name="T20" fmla="*/ 37 w 47"/>
                  <a:gd name="T21" fmla="*/ 44 h 44"/>
                  <a:gd name="T22" fmla="*/ 28 w 47"/>
                  <a:gd name="T23" fmla="*/ 34 h 44"/>
                  <a:gd name="T24" fmla="*/ 19 w 47"/>
                  <a:gd name="T25" fmla="*/ 25 h 44"/>
                  <a:gd name="T26" fmla="*/ 13 w 47"/>
                  <a:gd name="T27" fmla="*/ 13 h 44"/>
                  <a:gd name="T28" fmla="*/ 7 w 47"/>
                  <a:gd name="T29" fmla="*/ 10 h 44"/>
                  <a:gd name="T30" fmla="*/ 0 w 47"/>
                  <a:gd name="T31" fmla="*/ 4 h 44"/>
                  <a:gd name="T32" fmla="*/ 0 w 47"/>
                  <a:gd name="T33" fmla="*/ 0 h 44"/>
                  <a:gd name="T34" fmla="*/ 3 w 47"/>
                  <a:gd name="T35" fmla="*/ 0 h 44"/>
                  <a:gd name="T36" fmla="*/ 3 w 47"/>
                  <a:gd name="T37" fmla="*/ 0 h 44"/>
                  <a:gd name="T38" fmla="*/ 3 w 47"/>
                  <a:gd name="T39" fmla="*/ 0 h 4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7"/>
                  <a:gd name="T61" fmla="*/ 0 h 44"/>
                  <a:gd name="T62" fmla="*/ 47 w 47"/>
                  <a:gd name="T63" fmla="*/ 44 h 4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7" h="44">
                    <a:moveTo>
                      <a:pt x="3" y="0"/>
                    </a:moveTo>
                    <a:lnTo>
                      <a:pt x="10" y="7"/>
                    </a:lnTo>
                    <a:lnTo>
                      <a:pt x="16" y="10"/>
                    </a:lnTo>
                    <a:lnTo>
                      <a:pt x="19" y="16"/>
                    </a:lnTo>
                    <a:lnTo>
                      <a:pt x="25" y="19"/>
                    </a:lnTo>
                    <a:lnTo>
                      <a:pt x="34" y="25"/>
                    </a:lnTo>
                    <a:lnTo>
                      <a:pt x="41" y="31"/>
                    </a:lnTo>
                    <a:lnTo>
                      <a:pt x="47" y="38"/>
                    </a:lnTo>
                    <a:lnTo>
                      <a:pt x="47" y="41"/>
                    </a:lnTo>
                    <a:lnTo>
                      <a:pt x="47" y="44"/>
                    </a:lnTo>
                    <a:lnTo>
                      <a:pt x="37" y="44"/>
                    </a:lnTo>
                    <a:lnTo>
                      <a:pt x="28" y="34"/>
                    </a:lnTo>
                    <a:lnTo>
                      <a:pt x="19" y="25"/>
                    </a:lnTo>
                    <a:lnTo>
                      <a:pt x="13" y="13"/>
                    </a:lnTo>
                    <a:lnTo>
                      <a:pt x="7" y="10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1" name="Freeform 248"/>
              <p:cNvSpPr>
                <a:spLocks/>
              </p:cNvSpPr>
              <p:nvPr/>
            </p:nvSpPr>
            <p:spPr bwMode="auto">
              <a:xfrm>
                <a:off x="2881" y="1478"/>
                <a:ext cx="81" cy="22"/>
              </a:xfrm>
              <a:custGeom>
                <a:avLst/>
                <a:gdLst>
                  <a:gd name="T0" fmla="*/ 19 w 81"/>
                  <a:gd name="T1" fmla="*/ 0 h 22"/>
                  <a:gd name="T2" fmla="*/ 81 w 81"/>
                  <a:gd name="T3" fmla="*/ 12 h 22"/>
                  <a:gd name="T4" fmla="*/ 81 w 81"/>
                  <a:gd name="T5" fmla="*/ 19 h 22"/>
                  <a:gd name="T6" fmla="*/ 77 w 81"/>
                  <a:gd name="T7" fmla="*/ 22 h 22"/>
                  <a:gd name="T8" fmla="*/ 74 w 81"/>
                  <a:gd name="T9" fmla="*/ 22 h 22"/>
                  <a:gd name="T10" fmla="*/ 56 w 81"/>
                  <a:gd name="T11" fmla="*/ 16 h 22"/>
                  <a:gd name="T12" fmla="*/ 40 w 81"/>
                  <a:gd name="T13" fmla="*/ 9 h 22"/>
                  <a:gd name="T14" fmla="*/ 22 w 81"/>
                  <a:gd name="T15" fmla="*/ 6 h 22"/>
                  <a:gd name="T16" fmla="*/ 3 w 81"/>
                  <a:gd name="T17" fmla="*/ 3 h 22"/>
                  <a:gd name="T18" fmla="*/ 0 w 81"/>
                  <a:gd name="T19" fmla="*/ 3 h 22"/>
                  <a:gd name="T20" fmla="*/ 6 w 81"/>
                  <a:gd name="T21" fmla="*/ 0 h 22"/>
                  <a:gd name="T22" fmla="*/ 19 w 81"/>
                  <a:gd name="T23" fmla="*/ 0 h 22"/>
                  <a:gd name="T24" fmla="*/ 19 w 81"/>
                  <a:gd name="T25" fmla="*/ 0 h 22"/>
                  <a:gd name="T26" fmla="*/ 19 w 81"/>
                  <a:gd name="T27" fmla="*/ 0 h 2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1"/>
                  <a:gd name="T43" fmla="*/ 0 h 22"/>
                  <a:gd name="T44" fmla="*/ 81 w 81"/>
                  <a:gd name="T45" fmla="*/ 22 h 2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1" h="22">
                    <a:moveTo>
                      <a:pt x="19" y="0"/>
                    </a:moveTo>
                    <a:lnTo>
                      <a:pt x="81" y="12"/>
                    </a:lnTo>
                    <a:lnTo>
                      <a:pt x="81" y="19"/>
                    </a:lnTo>
                    <a:lnTo>
                      <a:pt x="77" y="22"/>
                    </a:lnTo>
                    <a:lnTo>
                      <a:pt x="74" y="22"/>
                    </a:lnTo>
                    <a:lnTo>
                      <a:pt x="56" y="16"/>
                    </a:lnTo>
                    <a:lnTo>
                      <a:pt x="40" y="9"/>
                    </a:lnTo>
                    <a:lnTo>
                      <a:pt x="22" y="6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6" y="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2" name="Freeform 249"/>
              <p:cNvSpPr>
                <a:spLocks/>
              </p:cNvSpPr>
              <p:nvPr/>
            </p:nvSpPr>
            <p:spPr bwMode="auto">
              <a:xfrm>
                <a:off x="2606" y="1410"/>
                <a:ext cx="149" cy="37"/>
              </a:xfrm>
              <a:custGeom>
                <a:avLst/>
                <a:gdLst>
                  <a:gd name="T0" fmla="*/ 10 w 149"/>
                  <a:gd name="T1" fmla="*/ 0 h 37"/>
                  <a:gd name="T2" fmla="*/ 65 w 149"/>
                  <a:gd name="T3" fmla="*/ 12 h 37"/>
                  <a:gd name="T4" fmla="*/ 87 w 149"/>
                  <a:gd name="T5" fmla="*/ 16 h 37"/>
                  <a:gd name="T6" fmla="*/ 112 w 149"/>
                  <a:gd name="T7" fmla="*/ 22 h 37"/>
                  <a:gd name="T8" fmla="*/ 130 w 149"/>
                  <a:gd name="T9" fmla="*/ 28 h 37"/>
                  <a:gd name="T10" fmla="*/ 136 w 149"/>
                  <a:gd name="T11" fmla="*/ 31 h 37"/>
                  <a:gd name="T12" fmla="*/ 145 w 149"/>
                  <a:gd name="T13" fmla="*/ 34 h 37"/>
                  <a:gd name="T14" fmla="*/ 149 w 149"/>
                  <a:gd name="T15" fmla="*/ 37 h 37"/>
                  <a:gd name="T16" fmla="*/ 145 w 149"/>
                  <a:gd name="T17" fmla="*/ 37 h 37"/>
                  <a:gd name="T18" fmla="*/ 115 w 149"/>
                  <a:gd name="T19" fmla="*/ 31 h 37"/>
                  <a:gd name="T20" fmla="*/ 93 w 149"/>
                  <a:gd name="T21" fmla="*/ 25 h 37"/>
                  <a:gd name="T22" fmla="*/ 71 w 149"/>
                  <a:gd name="T23" fmla="*/ 22 h 37"/>
                  <a:gd name="T24" fmla="*/ 53 w 149"/>
                  <a:gd name="T25" fmla="*/ 19 h 37"/>
                  <a:gd name="T26" fmla="*/ 37 w 149"/>
                  <a:gd name="T27" fmla="*/ 16 h 37"/>
                  <a:gd name="T28" fmla="*/ 0 w 149"/>
                  <a:gd name="T29" fmla="*/ 9 h 37"/>
                  <a:gd name="T30" fmla="*/ 3 w 149"/>
                  <a:gd name="T31" fmla="*/ 6 h 37"/>
                  <a:gd name="T32" fmla="*/ 10 w 149"/>
                  <a:gd name="T33" fmla="*/ 0 h 37"/>
                  <a:gd name="T34" fmla="*/ 10 w 149"/>
                  <a:gd name="T35" fmla="*/ 0 h 37"/>
                  <a:gd name="T36" fmla="*/ 10 w 149"/>
                  <a:gd name="T37" fmla="*/ 0 h 3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9"/>
                  <a:gd name="T58" fmla="*/ 0 h 37"/>
                  <a:gd name="T59" fmla="*/ 149 w 149"/>
                  <a:gd name="T60" fmla="*/ 37 h 3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9" h="37">
                    <a:moveTo>
                      <a:pt x="10" y="0"/>
                    </a:moveTo>
                    <a:lnTo>
                      <a:pt x="65" y="12"/>
                    </a:lnTo>
                    <a:lnTo>
                      <a:pt x="87" y="16"/>
                    </a:lnTo>
                    <a:lnTo>
                      <a:pt x="112" y="22"/>
                    </a:lnTo>
                    <a:lnTo>
                      <a:pt x="130" y="28"/>
                    </a:lnTo>
                    <a:lnTo>
                      <a:pt x="136" y="31"/>
                    </a:lnTo>
                    <a:lnTo>
                      <a:pt x="145" y="34"/>
                    </a:lnTo>
                    <a:lnTo>
                      <a:pt x="149" y="37"/>
                    </a:lnTo>
                    <a:lnTo>
                      <a:pt x="145" y="37"/>
                    </a:lnTo>
                    <a:lnTo>
                      <a:pt x="115" y="31"/>
                    </a:lnTo>
                    <a:lnTo>
                      <a:pt x="93" y="25"/>
                    </a:lnTo>
                    <a:lnTo>
                      <a:pt x="71" y="22"/>
                    </a:lnTo>
                    <a:lnTo>
                      <a:pt x="53" y="19"/>
                    </a:lnTo>
                    <a:lnTo>
                      <a:pt x="37" y="16"/>
                    </a:lnTo>
                    <a:lnTo>
                      <a:pt x="0" y="9"/>
                    </a:lnTo>
                    <a:lnTo>
                      <a:pt x="3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3" name="Freeform 250"/>
              <p:cNvSpPr>
                <a:spLocks/>
              </p:cNvSpPr>
              <p:nvPr/>
            </p:nvSpPr>
            <p:spPr bwMode="auto">
              <a:xfrm>
                <a:off x="3014" y="1157"/>
                <a:ext cx="12" cy="74"/>
              </a:xfrm>
              <a:custGeom>
                <a:avLst/>
                <a:gdLst>
                  <a:gd name="T0" fmla="*/ 6 w 12"/>
                  <a:gd name="T1" fmla="*/ 0 h 74"/>
                  <a:gd name="T2" fmla="*/ 3 w 12"/>
                  <a:gd name="T3" fmla="*/ 28 h 74"/>
                  <a:gd name="T4" fmla="*/ 3 w 12"/>
                  <a:gd name="T5" fmla="*/ 34 h 74"/>
                  <a:gd name="T6" fmla="*/ 6 w 12"/>
                  <a:gd name="T7" fmla="*/ 37 h 74"/>
                  <a:gd name="T8" fmla="*/ 12 w 12"/>
                  <a:gd name="T9" fmla="*/ 46 h 74"/>
                  <a:gd name="T10" fmla="*/ 12 w 12"/>
                  <a:gd name="T11" fmla="*/ 65 h 74"/>
                  <a:gd name="T12" fmla="*/ 9 w 12"/>
                  <a:gd name="T13" fmla="*/ 74 h 74"/>
                  <a:gd name="T14" fmla="*/ 6 w 12"/>
                  <a:gd name="T15" fmla="*/ 74 h 74"/>
                  <a:gd name="T16" fmla="*/ 6 w 12"/>
                  <a:gd name="T17" fmla="*/ 62 h 74"/>
                  <a:gd name="T18" fmla="*/ 6 w 12"/>
                  <a:gd name="T19" fmla="*/ 49 h 74"/>
                  <a:gd name="T20" fmla="*/ 0 w 12"/>
                  <a:gd name="T21" fmla="*/ 28 h 74"/>
                  <a:gd name="T22" fmla="*/ 0 w 12"/>
                  <a:gd name="T23" fmla="*/ 0 h 74"/>
                  <a:gd name="T24" fmla="*/ 6 w 12"/>
                  <a:gd name="T25" fmla="*/ 0 h 74"/>
                  <a:gd name="T26" fmla="*/ 6 w 12"/>
                  <a:gd name="T27" fmla="*/ 0 h 74"/>
                  <a:gd name="T28" fmla="*/ 6 w 12"/>
                  <a:gd name="T29" fmla="*/ 0 h 7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2"/>
                  <a:gd name="T46" fmla="*/ 0 h 74"/>
                  <a:gd name="T47" fmla="*/ 12 w 12"/>
                  <a:gd name="T48" fmla="*/ 74 h 7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2" h="74">
                    <a:moveTo>
                      <a:pt x="6" y="0"/>
                    </a:moveTo>
                    <a:lnTo>
                      <a:pt x="3" y="28"/>
                    </a:lnTo>
                    <a:lnTo>
                      <a:pt x="3" y="34"/>
                    </a:lnTo>
                    <a:lnTo>
                      <a:pt x="6" y="37"/>
                    </a:lnTo>
                    <a:lnTo>
                      <a:pt x="12" y="46"/>
                    </a:lnTo>
                    <a:lnTo>
                      <a:pt x="12" y="65"/>
                    </a:lnTo>
                    <a:lnTo>
                      <a:pt x="9" y="74"/>
                    </a:lnTo>
                    <a:lnTo>
                      <a:pt x="6" y="74"/>
                    </a:lnTo>
                    <a:lnTo>
                      <a:pt x="6" y="62"/>
                    </a:lnTo>
                    <a:lnTo>
                      <a:pt x="6" y="49"/>
                    </a:lnTo>
                    <a:lnTo>
                      <a:pt x="0" y="28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4" name="Freeform 251"/>
              <p:cNvSpPr>
                <a:spLocks/>
              </p:cNvSpPr>
              <p:nvPr/>
            </p:nvSpPr>
            <p:spPr bwMode="auto">
              <a:xfrm>
                <a:off x="3020" y="1253"/>
                <a:ext cx="31" cy="12"/>
              </a:xfrm>
              <a:custGeom>
                <a:avLst/>
                <a:gdLst>
                  <a:gd name="T0" fmla="*/ 3 w 31"/>
                  <a:gd name="T1" fmla="*/ 0 h 12"/>
                  <a:gd name="T2" fmla="*/ 22 w 31"/>
                  <a:gd name="T3" fmla="*/ 3 h 12"/>
                  <a:gd name="T4" fmla="*/ 28 w 31"/>
                  <a:gd name="T5" fmla="*/ 3 h 12"/>
                  <a:gd name="T6" fmla="*/ 31 w 31"/>
                  <a:gd name="T7" fmla="*/ 3 h 12"/>
                  <a:gd name="T8" fmla="*/ 28 w 31"/>
                  <a:gd name="T9" fmla="*/ 6 h 12"/>
                  <a:gd name="T10" fmla="*/ 22 w 31"/>
                  <a:gd name="T11" fmla="*/ 12 h 12"/>
                  <a:gd name="T12" fmla="*/ 0 w 31"/>
                  <a:gd name="T13" fmla="*/ 3 h 12"/>
                  <a:gd name="T14" fmla="*/ 0 w 31"/>
                  <a:gd name="T15" fmla="*/ 3 h 12"/>
                  <a:gd name="T16" fmla="*/ 3 w 31"/>
                  <a:gd name="T17" fmla="*/ 0 h 12"/>
                  <a:gd name="T18" fmla="*/ 3 w 31"/>
                  <a:gd name="T19" fmla="*/ 0 h 12"/>
                  <a:gd name="T20" fmla="*/ 3 w 31"/>
                  <a:gd name="T21" fmla="*/ 0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1"/>
                  <a:gd name="T34" fmla="*/ 0 h 12"/>
                  <a:gd name="T35" fmla="*/ 31 w 31"/>
                  <a:gd name="T36" fmla="*/ 12 h 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1" h="12">
                    <a:moveTo>
                      <a:pt x="3" y="0"/>
                    </a:moveTo>
                    <a:lnTo>
                      <a:pt x="22" y="3"/>
                    </a:lnTo>
                    <a:lnTo>
                      <a:pt x="28" y="3"/>
                    </a:lnTo>
                    <a:lnTo>
                      <a:pt x="31" y="3"/>
                    </a:lnTo>
                    <a:lnTo>
                      <a:pt x="28" y="6"/>
                    </a:lnTo>
                    <a:lnTo>
                      <a:pt x="22" y="12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5" name="Freeform 252"/>
              <p:cNvSpPr>
                <a:spLocks/>
              </p:cNvSpPr>
              <p:nvPr/>
            </p:nvSpPr>
            <p:spPr bwMode="auto">
              <a:xfrm>
                <a:off x="3026" y="1259"/>
                <a:ext cx="25" cy="55"/>
              </a:xfrm>
              <a:custGeom>
                <a:avLst/>
                <a:gdLst>
                  <a:gd name="T0" fmla="*/ 7 w 25"/>
                  <a:gd name="T1" fmla="*/ 0 h 55"/>
                  <a:gd name="T2" fmla="*/ 13 w 25"/>
                  <a:gd name="T3" fmla="*/ 21 h 55"/>
                  <a:gd name="T4" fmla="*/ 16 w 25"/>
                  <a:gd name="T5" fmla="*/ 28 h 55"/>
                  <a:gd name="T6" fmla="*/ 22 w 25"/>
                  <a:gd name="T7" fmla="*/ 40 h 55"/>
                  <a:gd name="T8" fmla="*/ 25 w 25"/>
                  <a:gd name="T9" fmla="*/ 52 h 55"/>
                  <a:gd name="T10" fmla="*/ 25 w 25"/>
                  <a:gd name="T11" fmla="*/ 52 h 55"/>
                  <a:gd name="T12" fmla="*/ 25 w 25"/>
                  <a:gd name="T13" fmla="*/ 55 h 55"/>
                  <a:gd name="T14" fmla="*/ 22 w 25"/>
                  <a:gd name="T15" fmla="*/ 55 h 55"/>
                  <a:gd name="T16" fmla="*/ 13 w 25"/>
                  <a:gd name="T17" fmla="*/ 46 h 55"/>
                  <a:gd name="T18" fmla="*/ 7 w 25"/>
                  <a:gd name="T19" fmla="*/ 24 h 55"/>
                  <a:gd name="T20" fmla="*/ 0 w 25"/>
                  <a:gd name="T21" fmla="*/ 3 h 55"/>
                  <a:gd name="T22" fmla="*/ 4 w 25"/>
                  <a:gd name="T23" fmla="*/ 0 h 55"/>
                  <a:gd name="T24" fmla="*/ 7 w 25"/>
                  <a:gd name="T25" fmla="*/ 0 h 55"/>
                  <a:gd name="T26" fmla="*/ 7 w 25"/>
                  <a:gd name="T27" fmla="*/ 0 h 55"/>
                  <a:gd name="T28" fmla="*/ 7 w 25"/>
                  <a:gd name="T29" fmla="*/ 0 h 5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5"/>
                  <a:gd name="T46" fmla="*/ 0 h 55"/>
                  <a:gd name="T47" fmla="*/ 25 w 25"/>
                  <a:gd name="T48" fmla="*/ 55 h 5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5" h="55">
                    <a:moveTo>
                      <a:pt x="7" y="0"/>
                    </a:moveTo>
                    <a:lnTo>
                      <a:pt x="13" y="21"/>
                    </a:lnTo>
                    <a:lnTo>
                      <a:pt x="16" y="28"/>
                    </a:lnTo>
                    <a:lnTo>
                      <a:pt x="22" y="40"/>
                    </a:lnTo>
                    <a:lnTo>
                      <a:pt x="25" y="52"/>
                    </a:lnTo>
                    <a:lnTo>
                      <a:pt x="25" y="55"/>
                    </a:lnTo>
                    <a:lnTo>
                      <a:pt x="22" y="55"/>
                    </a:lnTo>
                    <a:lnTo>
                      <a:pt x="13" y="46"/>
                    </a:lnTo>
                    <a:lnTo>
                      <a:pt x="7" y="24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6" name="Freeform 253"/>
              <p:cNvSpPr>
                <a:spLocks/>
              </p:cNvSpPr>
              <p:nvPr/>
            </p:nvSpPr>
            <p:spPr bwMode="auto">
              <a:xfrm>
                <a:off x="3045" y="1274"/>
                <a:ext cx="28" cy="9"/>
              </a:xfrm>
              <a:custGeom>
                <a:avLst/>
                <a:gdLst>
                  <a:gd name="T0" fmla="*/ 3 w 28"/>
                  <a:gd name="T1" fmla="*/ 3 h 9"/>
                  <a:gd name="T2" fmla="*/ 12 w 28"/>
                  <a:gd name="T3" fmla="*/ 3 h 9"/>
                  <a:gd name="T4" fmla="*/ 25 w 28"/>
                  <a:gd name="T5" fmla="*/ 0 h 9"/>
                  <a:gd name="T6" fmla="*/ 28 w 28"/>
                  <a:gd name="T7" fmla="*/ 3 h 9"/>
                  <a:gd name="T8" fmla="*/ 28 w 28"/>
                  <a:gd name="T9" fmla="*/ 6 h 9"/>
                  <a:gd name="T10" fmla="*/ 25 w 28"/>
                  <a:gd name="T11" fmla="*/ 9 h 9"/>
                  <a:gd name="T12" fmla="*/ 0 w 28"/>
                  <a:gd name="T13" fmla="*/ 6 h 9"/>
                  <a:gd name="T14" fmla="*/ 0 w 28"/>
                  <a:gd name="T15" fmla="*/ 3 h 9"/>
                  <a:gd name="T16" fmla="*/ 3 w 28"/>
                  <a:gd name="T17" fmla="*/ 3 h 9"/>
                  <a:gd name="T18" fmla="*/ 3 w 28"/>
                  <a:gd name="T19" fmla="*/ 3 h 9"/>
                  <a:gd name="T20" fmla="*/ 3 w 28"/>
                  <a:gd name="T21" fmla="*/ 3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8"/>
                  <a:gd name="T34" fmla="*/ 0 h 9"/>
                  <a:gd name="T35" fmla="*/ 28 w 28"/>
                  <a:gd name="T36" fmla="*/ 9 h 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8" h="9">
                    <a:moveTo>
                      <a:pt x="3" y="3"/>
                    </a:moveTo>
                    <a:lnTo>
                      <a:pt x="12" y="3"/>
                    </a:lnTo>
                    <a:lnTo>
                      <a:pt x="25" y="0"/>
                    </a:lnTo>
                    <a:lnTo>
                      <a:pt x="28" y="3"/>
                    </a:lnTo>
                    <a:lnTo>
                      <a:pt x="28" y="6"/>
                    </a:lnTo>
                    <a:lnTo>
                      <a:pt x="25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7" name="Freeform 254"/>
              <p:cNvSpPr>
                <a:spLocks/>
              </p:cNvSpPr>
              <p:nvPr/>
            </p:nvSpPr>
            <p:spPr bwMode="auto">
              <a:xfrm>
                <a:off x="2022" y="1432"/>
                <a:ext cx="176" cy="65"/>
              </a:xfrm>
              <a:custGeom>
                <a:avLst/>
                <a:gdLst>
                  <a:gd name="T0" fmla="*/ 0 w 176"/>
                  <a:gd name="T1" fmla="*/ 58 h 65"/>
                  <a:gd name="T2" fmla="*/ 37 w 176"/>
                  <a:gd name="T3" fmla="*/ 46 h 65"/>
                  <a:gd name="T4" fmla="*/ 50 w 176"/>
                  <a:gd name="T5" fmla="*/ 40 h 65"/>
                  <a:gd name="T6" fmla="*/ 59 w 176"/>
                  <a:gd name="T7" fmla="*/ 37 h 65"/>
                  <a:gd name="T8" fmla="*/ 71 w 176"/>
                  <a:gd name="T9" fmla="*/ 31 h 65"/>
                  <a:gd name="T10" fmla="*/ 87 w 176"/>
                  <a:gd name="T11" fmla="*/ 24 h 65"/>
                  <a:gd name="T12" fmla="*/ 96 w 176"/>
                  <a:gd name="T13" fmla="*/ 21 h 65"/>
                  <a:gd name="T14" fmla="*/ 102 w 176"/>
                  <a:gd name="T15" fmla="*/ 18 h 65"/>
                  <a:gd name="T16" fmla="*/ 112 w 176"/>
                  <a:gd name="T17" fmla="*/ 15 h 65"/>
                  <a:gd name="T18" fmla="*/ 127 w 176"/>
                  <a:gd name="T19" fmla="*/ 12 h 65"/>
                  <a:gd name="T20" fmla="*/ 143 w 176"/>
                  <a:gd name="T21" fmla="*/ 6 h 65"/>
                  <a:gd name="T22" fmla="*/ 155 w 176"/>
                  <a:gd name="T23" fmla="*/ 3 h 65"/>
                  <a:gd name="T24" fmla="*/ 170 w 176"/>
                  <a:gd name="T25" fmla="*/ 0 h 65"/>
                  <a:gd name="T26" fmla="*/ 176 w 176"/>
                  <a:gd name="T27" fmla="*/ 0 h 65"/>
                  <a:gd name="T28" fmla="*/ 176 w 176"/>
                  <a:gd name="T29" fmla="*/ 3 h 65"/>
                  <a:gd name="T30" fmla="*/ 176 w 176"/>
                  <a:gd name="T31" fmla="*/ 9 h 65"/>
                  <a:gd name="T32" fmla="*/ 173 w 176"/>
                  <a:gd name="T33" fmla="*/ 12 h 65"/>
                  <a:gd name="T34" fmla="*/ 115 w 176"/>
                  <a:gd name="T35" fmla="*/ 24 h 65"/>
                  <a:gd name="T36" fmla="*/ 109 w 176"/>
                  <a:gd name="T37" fmla="*/ 28 h 65"/>
                  <a:gd name="T38" fmla="*/ 75 w 176"/>
                  <a:gd name="T39" fmla="*/ 40 h 65"/>
                  <a:gd name="T40" fmla="*/ 44 w 176"/>
                  <a:gd name="T41" fmla="*/ 52 h 65"/>
                  <a:gd name="T42" fmla="*/ 31 w 176"/>
                  <a:gd name="T43" fmla="*/ 55 h 65"/>
                  <a:gd name="T44" fmla="*/ 10 w 176"/>
                  <a:gd name="T45" fmla="*/ 65 h 65"/>
                  <a:gd name="T46" fmla="*/ 0 w 176"/>
                  <a:gd name="T47" fmla="*/ 58 h 65"/>
                  <a:gd name="T48" fmla="*/ 0 w 176"/>
                  <a:gd name="T49" fmla="*/ 58 h 65"/>
                  <a:gd name="T50" fmla="*/ 0 w 176"/>
                  <a:gd name="T51" fmla="*/ 58 h 6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76"/>
                  <a:gd name="T79" fmla="*/ 0 h 65"/>
                  <a:gd name="T80" fmla="*/ 176 w 176"/>
                  <a:gd name="T81" fmla="*/ 65 h 6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76" h="65">
                    <a:moveTo>
                      <a:pt x="0" y="58"/>
                    </a:moveTo>
                    <a:lnTo>
                      <a:pt x="37" y="46"/>
                    </a:lnTo>
                    <a:lnTo>
                      <a:pt x="50" y="40"/>
                    </a:lnTo>
                    <a:lnTo>
                      <a:pt x="59" y="37"/>
                    </a:lnTo>
                    <a:lnTo>
                      <a:pt x="71" y="31"/>
                    </a:lnTo>
                    <a:lnTo>
                      <a:pt x="87" y="24"/>
                    </a:lnTo>
                    <a:lnTo>
                      <a:pt x="96" y="21"/>
                    </a:lnTo>
                    <a:lnTo>
                      <a:pt x="102" y="18"/>
                    </a:lnTo>
                    <a:lnTo>
                      <a:pt x="112" y="15"/>
                    </a:lnTo>
                    <a:lnTo>
                      <a:pt x="127" y="12"/>
                    </a:lnTo>
                    <a:lnTo>
                      <a:pt x="143" y="6"/>
                    </a:lnTo>
                    <a:lnTo>
                      <a:pt x="155" y="3"/>
                    </a:lnTo>
                    <a:lnTo>
                      <a:pt x="170" y="0"/>
                    </a:lnTo>
                    <a:lnTo>
                      <a:pt x="176" y="0"/>
                    </a:lnTo>
                    <a:lnTo>
                      <a:pt x="176" y="3"/>
                    </a:lnTo>
                    <a:lnTo>
                      <a:pt x="176" y="9"/>
                    </a:lnTo>
                    <a:lnTo>
                      <a:pt x="173" y="12"/>
                    </a:lnTo>
                    <a:lnTo>
                      <a:pt x="115" y="24"/>
                    </a:lnTo>
                    <a:lnTo>
                      <a:pt x="109" y="28"/>
                    </a:lnTo>
                    <a:lnTo>
                      <a:pt x="75" y="40"/>
                    </a:lnTo>
                    <a:lnTo>
                      <a:pt x="44" y="52"/>
                    </a:lnTo>
                    <a:lnTo>
                      <a:pt x="31" y="55"/>
                    </a:lnTo>
                    <a:lnTo>
                      <a:pt x="10" y="65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8" name="Freeform 255"/>
              <p:cNvSpPr>
                <a:spLocks/>
              </p:cNvSpPr>
              <p:nvPr/>
            </p:nvSpPr>
            <p:spPr bwMode="auto">
              <a:xfrm>
                <a:off x="2334" y="1395"/>
                <a:ext cx="28" cy="12"/>
              </a:xfrm>
              <a:custGeom>
                <a:avLst/>
                <a:gdLst>
                  <a:gd name="T0" fmla="*/ 7 w 28"/>
                  <a:gd name="T1" fmla="*/ 3 h 12"/>
                  <a:gd name="T2" fmla="*/ 25 w 28"/>
                  <a:gd name="T3" fmla="*/ 0 h 12"/>
                  <a:gd name="T4" fmla="*/ 28 w 28"/>
                  <a:gd name="T5" fmla="*/ 3 h 12"/>
                  <a:gd name="T6" fmla="*/ 28 w 28"/>
                  <a:gd name="T7" fmla="*/ 3 h 12"/>
                  <a:gd name="T8" fmla="*/ 16 w 28"/>
                  <a:gd name="T9" fmla="*/ 9 h 12"/>
                  <a:gd name="T10" fmla="*/ 7 w 28"/>
                  <a:gd name="T11" fmla="*/ 12 h 12"/>
                  <a:gd name="T12" fmla="*/ 4 w 28"/>
                  <a:gd name="T13" fmla="*/ 12 h 12"/>
                  <a:gd name="T14" fmla="*/ 0 w 28"/>
                  <a:gd name="T15" fmla="*/ 9 h 12"/>
                  <a:gd name="T16" fmla="*/ 0 w 28"/>
                  <a:gd name="T17" fmla="*/ 3 h 12"/>
                  <a:gd name="T18" fmla="*/ 7 w 28"/>
                  <a:gd name="T19" fmla="*/ 3 h 12"/>
                  <a:gd name="T20" fmla="*/ 7 w 28"/>
                  <a:gd name="T21" fmla="*/ 3 h 12"/>
                  <a:gd name="T22" fmla="*/ 7 w 28"/>
                  <a:gd name="T23" fmla="*/ 3 h 1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8"/>
                  <a:gd name="T37" fmla="*/ 0 h 12"/>
                  <a:gd name="T38" fmla="*/ 28 w 28"/>
                  <a:gd name="T39" fmla="*/ 12 h 1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8" h="12">
                    <a:moveTo>
                      <a:pt x="7" y="3"/>
                    </a:moveTo>
                    <a:lnTo>
                      <a:pt x="25" y="0"/>
                    </a:lnTo>
                    <a:lnTo>
                      <a:pt x="28" y="3"/>
                    </a:lnTo>
                    <a:lnTo>
                      <a:pt x="16" y="9"/>
                    </a:lnTo>
                    <a:lnTo>
                      <a:pt x="7" y="12"/>
                    </a:lnTo>
                    <a:lnTo>
                      <a:pt x="4" y="12"/>
                    </a:lnTo>
                    <a:lnTo>
                      <a:pt x="0" y="9"/>
                    </a:lnTo>
                    <a:lnTo>
                      <a:pt x="0" y="3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89" name="Freeform 256"/>
              <p:cNvSpPr>
                <a:spLocks/>
              </p:cNvSpPr>
              <p:nvPr/>
            </p:nvSpPr>
            <p:spPr bwMode="auto">
              <a:xfrm>
                <a:off x="2066" y="1466"/>
                <a:ext cx="142" cy="52"/>
              </a:xfrm>
              <a:custGeom>
                <a:avLst/>
                <a:gdLst>
                  <a:gd name="T0" fmla="*/ 142 w 142"/>
                  <a:gd name="T1" fmla="*/ 3 h 52"/>
                  <a:gd name="T2" fmla="*/ 129 w 142"/>
                  <a:gd name="T3" fmla="*/ 9 h 52"/>
                  <a:gd name="T4" fmla="*/ 117 w 142"/>
                  <a:gd name="T5" fmla="*/ 15 h 52"/>
                  <a:gd name="T6" fmla="*/ 105 w 142"/>
                  <a:gd name="T7" fmla="*/ 21 h 52"/>
                  <a:gd name="T8" fmla="*/ 89 w 142"/>
                  <a:gd name="T9" fmla="*/ 24 h 52"/>
                  <a:gd name="T10" fmla="*/ 3 w 142"/>
                  <a:gd name="T11" fmla="*/ 52 h 52"/>
                  <a:gd name="T12" fmla="*/ 0 w 142"/>
                  <a:gd name="T13" fmla="*/ 49 h 52"/>
                  <a:gd name="T14" fmla="*/ 3 w 142"/>
                  <a:gd name="T15" fmla="*/ 46 h 52"/>
                  <a:gd name="T16" fmla="*/ 12 w 142"/>
                  <a:gd name="T17" fmla="*/ 43 h 52"/>
                  <a:gd name="T18" fmla="*/ 24 w 142"/>
                  <a:gd name="T19" fmla="*/ 37 h 52"/>
                  <a:gd name="T20" fmla="*/ 43 w 142"/>
                  <a:gd name="T21" fmla="*/ 31 h 52"/>
                  <a:gd name="T22" fmla="*/ 65 w 142"/>
                  <a:gd name="T23" fmla="*/ 24 h 52"/>
                  <a:gd name="T24" fmla="*/ 86 w 142"/>
                  <a:gd name="T25" fmla="*/ 15 h 52"/>
                  <a:gd name="T26" fmla="*/ 139 w 142"/>
                  <a:gd name="T27" fmla="*/ 0 h 52"/>
                  <a:gd name="T28" fmla="*/ 142 w 142"/>
                  <a:gd name="T29" fmla="*/ 3 h 52"/>
                  <a:gd name="T30" fmla="*/ 142 w 142"/>
                  <a:gd name="T31" fmla="*/ 3 h 52"/>
                  <a:gd name="T32" fmla="*/ 142 w 142"/>
                  <a:gd name="T33" fmla="*/ 3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2"/>
                  <a:gd name="T52" fmla="*/ 0 h 52"/>
                  <a:gd name="T53" fmla="*/ 142 w 142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2" h="52">
                    <a:moveTo>
                      <a:pt x="142" y="3"/>
                    </a:moveTo>
                    <a:lnTo>
                      <a:pt x="129" y="9"/>
                    </a:lnTo>
                    <a:lnTo>
                      <a:pt x="117" y="15"/>
                    </a:lnTo>
                    <a:lnTo>
                      <a:pt x="105" y="21"/>
                    </a:lnTo>
                    <a:lnTo>
                      <a:pt x="89" y="24"/>
                    </a:lnTo>
                    <a:lnTo>
                      <a:pt x="3" y="52"/>
                    </a:lnTo>
                    <a:lnTo>
                      <a:pt x="0" y="49"/>
                    </a:lnTo>
                    <a:lnTo>
                      <a:pt x="3" y="46"/>
                    </a:lnTo>
                    <a:lnTo>
                      <a:pt x="12" y="43"/>
                    </a:lnTo>
                    <a:lnTo>
                      <a:pt x="24" y="37"/>
                    </a:lnTo>
                    <a:lnTo>
                      <a:pt x="43" y="31"/>
                    </a:lnTo>
                    <a:lnTo>
                      <a:pt x="65" y="24"/>
                    </a:lnTo>
                    <a:lnTo>
                      <a:pt x="86" y="15"/>
                    </a:lnTo>
                    <a:lnTo>
                      <a:pt x="139" y="0"/>
                    </a:lnTo>
                    <a:lnTo>
                      <a:pt x="14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0" name="Freeform 257"/>
              <p:cNvSpPr>
                <a:spLocks/>
              </p:cNvSpPr>
              <p:nvPr/>
            </p:nvSpPr>
            <p:spPr bwMode="auto">
              <a:xfrm>
                <a:off x="2208" y="1515"/>
                <a:ext cx="86" cy="13"/>
              </a:xfrm>
              <a:custGeom>
                <a:avLst/>
                <a:gdLst>
                  <a:gd name="T0" fmla="*/ 3 w 86"/>
                  <a:gd name="T1" fmla="*/ 9 h 13"/>
                  <a:gd name="T2" fmla="*/ 28 w 86"/>
                  <a:gd name="T3" fmla="*/ 3 h 13"/>
                  <a:gd name="T4" fmla="*/ 55 w 86"/>
                  <a:gd name="T5" fmla="*/ 0 h 13"/>
                  <a:gd name="T6" fmla="*/ 83 w 86"/>
                  <a:gd name="T7" fmla="*/ 3 h 13"/>
                  <a:gd name="T8" fmla="*/ 86 w 86"/>
                  <a:gd name="T9" fmla="*/ 6 h 13"/>
                  <a:gd name="T10" fmla="*/ 83 w 86"/>
                  <a:gd name="T11" fmla="*/ 9 h 13"/>
                  <a:gd name="T12" fmla="*/ 55 w 86"/>
                  <a:gd name="T13" fmla="*/ 9 h 13"/>
                  <a:gd name="T14" fmla="*/ 28 w 86"/>
                  <a:gd name="T15" fmla="*/ 9 h 13"/>
                  <a:gd name="T16" fmla="*/ 3 w 86"/>
                  <a:gd name="T17" fmla="*/ 13 h 13"/>
                  <a:gd name="T18" fmla="*/ 0 w 86"/>
                  <a:gd name="T19" fmla="*/ 9 h 13"/>
                  <a:gd name="T20" fmla="*/ 3 w 86"/>
                  <a:gd name="T21" fmla="*/ 9 h 13"/>
                  <a:gd name="T22" fmla="*/ 3 w 86"/>
                  <a:gd name="T23" fmla="*/ 9 h 13"/>
                  <a:gd name="T24" fmla="*/ 3 w 86"/>
                  <a:gd name="T25" fmla="*/ 9 h 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6"/>
                  <a:gd name="T40" fmla="*/ 0 h 13"/>
                  <a:gd name="T41" fmla="*/ 86 w 86"/>
                  <a:gd name="T42" fmla="*/ 13 h 1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6" h="13">
                    <a:moveTo>
                      <a:pt x="3" y="9"/>
                    </a:moveTo>
                    <a:lnTo>
                      <a:pt x="28" y="3"/>
                    </a:lnTo>
                    <a:lnTo>
                      <a:pt x="55" y="0"/>
                    </a:lnTo>
                    <a:lnTo>
                      <a:pt x="83" y="3"/>
                    </a:lnTo>
                    <a:lnTo>
                      <a:pt x="86" y="6"/>
                    </a:lnTo>
                    <a:lnTo>
                      <a:pt x="83" y="9"/>
                    </a:lnTo>
                    <a:lnTo>
                      <a:pt x="55" y="9"/>
                    </a:lnTo>
                    <a:lnTo>
                      <a:pt x="28" y="9"/>
                    </a:lnTo>
                    <a:lnTo>
                      <a:pt x="3" y="13"/>
                    </a:lnTo>
                    <a:lnTo>
                      <a:pt x="0" y="9"/>
                    </a:lnTo>
                    <a:lnTo>
                      <a:pt x="3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1" name="Freeform 258"/>
              <p:cNvSpPr>
                <a:spLocks/>
              </p:cNvSpPr>
              <p:nvPr/>
            </p:nvSpPr>
            <p:spPr bwMode="auto">
              <a:xfrm>
                <a:off x="2294" y="1512"/>
                <a:ext cx="74" cy="22"/>
              </a:xfrm>
              <a:custGeom>
                <a:avLst/>
                <a:gdLst>
                  <a:gd name="T0" fmla="*/ 3 w 74"/>
                  <a:gd name="T1" fmla="*/ 0 h 22"/>
                  <a:gd name="T2" fmla="*/ 19 w 74"/>
                  <a:gd name="T3" fmla="*/ 0 h 22"/>
                  <a:gd name="T4" fmla="*/ 34 w 74"/>
                  <a:gd name="T5" fmla="*/ 0 h 22"/>
                  <a:gd name="T6" fmla="*/ 47 w 74"/>
                  <a:gd name="T7" fmla="*/ 3 h 22"/>
                  <a:gd name="T8" fmla="*/ 53 w 74"/>
                  <a:gd name="T9" fmla="*/ 9 h 22"/>
                  <a:gd name="T10" fmla="*/ 62 w 74"/>
                  <a:gd name="T11" fmla="*/ 12 h 22"/>
                  <a:gd name="T12" fmla="*/ 71 w 74"/>
                  <a:gd name="T13" fmla="*/ 16 h 22"/>
                  <a:gd name="T14" fmla="*/ 74 w 74"/>
                  <a:gd name="T15" fmla="*/ 16 h 22"/>
                  <a:gd name="T16" fmla="*/ 71 w 74"/>
                  <a:gd name="T17" fmla="*/ 19 h 22"/>
                  <a:gd name="T18" fmla="*/ 59 w 74"/>
                  <a:gd name="T19" fmla="*/ 22 h 22"/>
                  <a:gd name="T20" fmla="*/ 47 w 74"/>
                  <a:gd name="T21" fmla="*/ 12 h 22"/>
                  <a:gd name="T22" fmla="*/ 40 w 74"/>
                  <a:gd name="T23" fmla="*/ 9 h 22"/>
                  <a:gd name="T24" fmla="*/ 34 w 74"/>
                  <a:gd name="T25" fmla="*/ 6 h 22"/>
                  <a:gd name="T26" fmla="*/ 19 w 74"/>
                  <a:gd name="T27" fmla="*/ 6 h 22"/>
                  <a:gd name="T28" fmla="*/ 3 w 74"/>
                  <a:gd name="T29" fmla="*/ 3 h 22"/>
                  <a:gd name="T30" fmla="*/ 0 w 74"/>
                  <a:gd name="T31" fmla="*/ 0 h 22"/>
                  <a:gd name="T32" fmla="*/ 3 w 74"/>
                  <a:gd name="T33" fmla="*/ 0 h 22"/>
                  <a:gd name="T34" fmla="*/ 3 w 74"/>
                  <a:gd name="T35" fmla="*/ 0 h 22"/>
                  <a:gd name="T36" fmla="*/ 3 w 74"/>
                  <a:gd name="T37" fmla="*/ 0 h 2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4"/>
                  <a:gd name="T58" fmla="*/ 0 h 22"/>
                  <a:gd name="T59" fmla="*/ 74 w 74"/>
                  <a:gd name="T60" fmla="*/ 22 h 2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4" h="22">
                    <a:moveTo>
                      <a:pt x="3" y="0"/>
                    </a:moveTo>
                    <a:lnTo>
                      <a:pt x="19" y="0"/>
                    </a:lnTo>
                    <a:lnTo>
                      <a:pt x="34" y="0"/>
                    </a:lnTo>
                    <a:lnTo>
                      <a:pt x="47" y="3"/>
                    </a:lnTo>
                    <a:lnTo>
                      <a:pt x="53" y="9"/>
                    </a:lnTo>
                    <a:lnTo>
                      <a:pt x="62" y="12"/>
                    </a:lnTo>
                    <a:lnTo>
                      <a:pt x="71" y="16"/>
                    </a:lnTo>
                    <a:lnTo>
                      <a:pt x="74" y="16"/>
                    </a:lnTo>
                    <a:lnTo>
                      <a:pt x="71" y="19"/>
                    </a:lnTo>
                    <a:lnTo>
                      <a:pt x="59" y="22"/>
                    </a:lnTo>
                    <a:lnTo>
                      <a:pt x="47" y="12"/>
                    </a:lnTo>
                    <a:lnTo>
                      <a:pt x="40" y="9"/>
                    </a:lnTo>
                    <a:lnTo>
                      <a:pt x="34" y="6"/>
                    </a:lnTo>
                    <a:lnTo>
                      <a:pt x="19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2" name="Freeform 259"/>
              <p:cNvSpPr>
                <a:spLocks/>
              </p:cNvSpPr>
              <p:nvPr/>
            </p:nvSpPr>
            <p:spPr bwMode="auto">
              <a:xfrm>
                <a:off x="2205" y="1534"/>
                <a:ext cx="142" cy="12"/>
              </a:xfrm>
              <a:custGeom>
                <a:avLst/>
                <a:gdLst>
                  <a:gd name="T0" fmla="*/ 3 w 142"/>
                  <a:gd name="T1" fmla="*/ 0 h 12"/>
                  <a:gd name="T2" fmla="*/ 34 w 142"/>
                  <a:gd name="T3" fmla="*/ 3 h 12"/>
                  <a:gd name="T4" fmla="*/ 65 w 142"/>
                  <a:gd name="T5" fmla="*/ 3 h 12"/>
                  <a:gd name="T6" fmla="*/ 92 w 142"/>
                  <a:gd name="T7" fmla="*/ 3 h 12"/>
                  <a:gd name="T8" fmla="*/ 139 w 142"/>
                  <a:gd name="T9" fmla="*/ 0 h 12"/>
                  <a:gd name="T10" fmla="*/ 142 w 142"/>
                  <a:gd name="T11" fmla="*/ 0 h 12"/>
                  <a:gd name="T12" fmla="*/ 139 w 142"/>
                  <a:gd name="T13" fmla="*/ 3 h 12"/>
                  <a:gd name="T14" fmla="*/ 117 w 142"/>
                  <a:gd name="T15" fmla="*/ 9 h 12"/>
                  <a:gd name="T16" fmla="*/ 92 w 142"/>
                  <a:gd name="T17" fmla="*/ 12 h 12"/>
                  <a:gd name="T18" fmla="*/ 68 w 142"/>
                  <a:gd name="T19" fmla="*/ 12 h 12"/>
                  <a:gd name="T20" fmla="*/ 34 w 142"/>
                  <a:gd name="T21" fmla="*/ 12 h 12"/>
                  <a:gd name="T22" fmla="*/ 18 w 142"/>
                  <a:gd name="T23" fmla="*/ 6 h 12"/>
                  <a:gd name="T24" fmla="*/ 3 w 142"/>
                  <a:gd name="T25" fmla="*/ 6 h 12"/>
                  <a:gd name="T26" fmla="*/ 0 w 142"/>
                  <a:gd name="T27" fmla="*/ 3 h 12"/>
                  <a:gd name="T28" fmla="*/ 3 w 142"/>
                  <a:gd name="T29" fmla="*/ 0 h 12"/>
                  <a:gd name="T30" fmla="*/ 3 w 142"/>
                  <a:gd name="T31" fmla="*/ 0 h 12"/>
                  <a:gd name="T32" fmla="*/ 3 w 142"/>
                  <a:gd name="T33" fmla="*/ 0 h 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2"/>
                  <a:gd name="T52" fmla="*/ 0 h 12"/>
                  <a:gd name="T53" fmla="*/ 142 w 142"/>
                  <a:gd name="T54" fmla="*/ 12 h 1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2" h="12">
                    <a:moveTo>
                      <a:pt x="3" y="0"/>
                    </a:moveTo>
                    <a:lnTo>
                      <a:pt x="34" y="3"/>
                    </a:lnTo>
                    <a:lnTo>
                      <a:pt x="65" y="3"/>
                    </a:lnTo>
                    <a:lnTo>
                      <a:pt x="92" y="3"/>
                    </a:lnTo>
                    <a:lnTo>
                      <a:pt x="139" y="0"/>
                    </a:lnTo>
                    <a:lnTo>
                      <a:pt x="142" y="0"/>
                    </a:lnTo>
                    <a:lnTo>
                      <a:pt x="139" y="3"/>
                    </a:lnTo>
                    <a:lnTo>
                      <a:pt x="117" y="9"/>
                    </a:lnTo>
                    <a:lnTo>
                      <a:pt x="92" y="12"/>
                    </a:lnTo>
                    <a:lnTo>
                      <a:pt x="68" y="12"/>
                    </a:lnTo>
                    <a:lnTo>
                      <a:pt x="34" y="12"/>
                    </a:lnTo>
                    <a:lnTo>
                      <a:pt x="18" y="6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3" name="Freeform 260"/>
              <p:cNvSpPr>
                <a:spLocks/>
              </p:cNvSpPr>
              <p:nvPr/>
            </p:nvSpPr>
            <p:spPr bwMode="auto">
              <a:xfrm>
                <a:off x="2334" y="1494"/>
                <a:ext cx="75" cy="37"/>
              </a:xfrm>
              <a:custGeom>
                <a:avLst/>
                <a:gdLst>
                  <a:gd name="T0" fmla="*/ 4 w 75"/>
                  <a:gd name="T1" fmla="*/ 0 h 37"/>
                  <a:gd name="T2" fmla="*/ 16 w 75"/>
                  <a:gd name="T3" fmla="*/ 3 h 37"/>
                  <a:gd name="T4" fmla="*/ 31 w 75"/>
                  <a:gd name="T5" fmla="*/ 12 h 37"/>
                  <a:gd name="T6" fmla="*/ 44 w 75"/>
                  <a:gd name="T7" fmla="*/ 18 h 37"/>
                  <a:gd name="T8" fmla="*/ 59 w 75"/>
                  <a:gd name="T9" fmla="*/ 27 h 37"/>
                  <a:gd name="T10" fmla="*/ 75 w 75"/>
                  <a:gd name="T11" fmla="*/ 34 h 37"/>
                  <a:gd name="T12" fmla="*/ 75 w 75"/>
                  <a:gd name="T13" fmla="*/ 34 h 37"/>
                  <a:gd name="T14" fmla="*/ 71 w 75"/>
                  <a:gd name="T15" fmla="*/ 37 h 37"/>
                  <a:gd name="T16" fmla="*/ 41 w 75"/>
                  <a:gd name="T17" fmla="*/ 24 h 37"/>
                  <a:gd name="T18" fmla="*/ 28 w 75"/>
                  <a:gd name="T19" fmla="*/ 18 h 37"/>
                  <a:gd name="T20" fmla="*/ 16 w 75"/>
                  <a:gd name="T21" fmla="*/ 9 h 37"/>
                  <a:gd name="T22" fmla="*/ 10 w 75"/>
                  <a:gd name="T23" fmla="*/ 6 h 37"/>
                  <a:gd name="T24" fmla="*/ 4 w 75"/>
                  <a:gd name="T25" fmla="*/ 3 h 37"/>
                  <a:gd name="T26" fmla="*/ 0 w 75"/>
                  <a:gd name="T27" fmla="*/ 3 h 37"/>
                  <a:gd name="T28" fmla="*/ 4 w 75"/>
                  <a:gd name="T29" fmla="*/ 0 h 37"/>
                  <a:gd name="T30" fmla="*/ 4 w 75"/>
                  <a:gd name="T31" fmla="*/ 0 h 37"/>
                  <a:gd name="T32" fmla="*/ 4 w 75"/>
                  <a:gd name="T33" fmla="*/ 0 h 3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5"/>
                  <a:gd name="T52" fmla="*/ 0 h 37"/>
                  <a:gd name="T53" fmla="*/ 75 w 75"/>
                  <a:gd name="T54" fmla="*/ 37 h 3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5" h="37">
                    <a:moveTo>
                      <a:pt x="4" y="0"/>
                    </a:moveTo>
                    <a:lnTo>
                      <a:pt x="16" y="3"/>
                    </a:lnTo>
                    <a:lnTo>
                      <a:pt x="31" y="12"/>
                    </a:lnTo>
                    <a:lnTo>
                      <a:pt x="44" y="18"/>
                    </a:lnTo>
                    <a:lnTo>
                      <a:pt x="59" y="27"/>
                    </a:lnTo>
                    <a:lnTo>
                      <a:pt x="75" y="34"/>
                    </a:lnTo>
                    <a:lnTo>
                      <a:pt x="71" y="37"/>
                    </a:lnTo>
                    <a:lnTo>
                      <a:pt x="41" y="24"/>
                    </a:lnTo>
                    <a:lnTo>
                      <a:pt x="28" y="18"/>
                    </a:lnTo>
                    <a:lnTo>
                      <a:pt x="16" y="9"/>
                    </a:lnTo>
                    <a:lnTo>
                      <a:pt x="10" y="6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4" name="Freeform 261"/>
              <p:cNvSpPr>
                <a:spLocks/>
              </p:cNvSpPr>
              <p:nvPr/>
            </p:nvSpPr>
            <p:spPr bwMode="auto">
              <a:xfrm>
                <a:off x="2591" y="1410"/>
                <a:ext cx="46" cy="179"/>
              </a:xfrm>
              <a:custGeom>
                <a:avLst/>
                <a:gdLst>
                  <a:gd name="T0" fmla="*/ 3 w 46"/>
                  <a:gd name="T1" fmla="*/ 0 h 179"/>
                  <a:gd name="T2" fmla="*/ 12 w 46"/>
                  <a:gd name="T3" fmla="*/ 37 h 179"/>
                  <a:gd name="T4" fmla="*/ 18 w 46"/>
                  <a:gd name="T5" fmla="*/ 74 h 179"/>
                  <a:gd name="T6" fmla="*/ 25 w 46"/>
                  <a:gd name="T7" fmla="*/ 102 h 179"/>
                  <a:gd name="T8" fmla="*/ 31 w 46"/>
                  <a:gd name="T9" fmla="*/ 118 h 179"/>
                  <a:gd name="T10" fmla="*/ 34 w 46"/>
                  <a:gd name="T11" fmla="*/ 133 h 179"/>
                  <a:gd name="T12" fmla="*/ 40 w 46"/>
                  <a:gd name="T13" fmla="*/ 148 h 179"/>
                  <a:gd name="T14" fmla="*/ 46 w 46"/>
                  <a:gd name="T15" fmla="*/ 164 h 179"/>
                  <a:gd name="T16" fmla="*/ 46 w 46"/>
                  <a:gd name="T17" fmla="*/ 173 h 179"/>
                  <a:gd name="T18" fmla="*/ 46 w 46"/>
                  <a:gd name="T19" fmla="*/ 176 h 179"/>
                  <a:gd name="T20" fmla="*/ 43 w 46"/>
                  <a:gd name="T21" fmla="*/ 179 h 179"/>
                  <a:gd name="T22" fmla="*/ 37 w 46"/>
                  <a:gd name="T23" fmla="*/ 173 h 179"/>
                  <a:gd name="T24" fmla="*/ 37 w 46"/>
                  <a:gd name="T25" fmla="*/ 167 h 179"/>
                  <a:gd name="T26" fmla="*/ 31 w 46"/>
                  <a:gd name="T27" fmla="*/ 148 h 179"/>
                  <a:gd name="T28" fmla="*/ 25 w 46"/>
                  <a:gd name="T29" fmla="*/ 136 h 179"/>
                  <a:gd name="T30" fmla="*/ 18 w 46"/>
                  <a:gd name="T31" fmla="*/ 105 h 179"/>
                  <a:gd name="T32" fmla="*/ 15 w 46"/>
                  <a:gd name="T33" fmla="*/ 74 h 179"/>
                  <a:gd name="T34" fmla="*/ 12 w 46"/>
                  <a:gd name="T35" fmla="*/ 59 h 179"/>
                  <a:gd name="T36" fmla="*/ 9 w 46"/>
                  <a:gd name="T37" fmla="*/ 40 h 179"/>
                  <a:gd name="T38" fmla="*/ 0 w 46"/>
                  <a:gd name="T39" fmla="*/ 0 h 179"/>
                  <a:gd name="T40" fmla="*/ 0 w 46"/>
                  <a:gd name="T41" fmla="*/ 0 h 179"/>
                  <a:gd name="T42" fmla="*/ 3 w 46"/>
                  <a:gd name="T43" fmla="*/ 0 h 179"/>
                  <a:gd name="T44" fmla="*/ 3 w 46"/>
                  <a:gd name="T45" fmla="*/ 0 h 179"/>
                  <a:gd name="T46" fmla="*/ 3 w 46"/>
                  <a:gd name="T47" fmla="*/ 0 h 17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6"/>
                  <a:gd name="T73" fmla="*/ 0 h 179"/>
                  <a:gd name="T74" fmla="*/ 46 w 46"/>
                  <a:gd name="T75" fmla="*/ 179 h 17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6" h="179">
                    <a:moveTo>
                      <a:pt x="3" y="0"/>
                    </a:moveTo>
                    <a:lnTo>
                      <a:pt x="12" y="37"/>
                    </a:lnTo>
                    <a:lnTo>
                      <a:pt x="18" y="74"/>
                    </a:lnTo>
                    <a:lnTo>
                      <a:pt x="25" y="102"/>
                    </a:lnTo>
                    <a:lnTo>
                      <a:pt x="31" y="118"/>
                    </a:lnTo>
                    <a:lnTo>
                      <a:pt x="34" y="133"/>
                    </a:lnTo>
                    <a:lnTo>
                      <a:pt x="40" y="148"/>
                    </a:lnTo>
                    <a:lnTo>
                      <a:pt x="46" y="164"/>
                    </a:lnTo>
                    <a:lnTo>
                      <a:pt x="46" y="173"/>
                    </a:lnTo>
                    <a:lnTo>
                      <a:pt x="46" y="176"/>
                    </a:lnTo>
                    <a:lnTo>
                      <a:pt x="43" y="179"/>
                    </a:lnTo>
                    <a:lnTo>
                      <a:pt x="37" y="173"/>
                    </a:lnTo>
                    <a:lnTo>
                      <a:pt x="37" y="167"/>
                    </a:lnTo>
                    <a:lnTo>
                      <a:pt x="31" y="148"/>
                    </a:lnTo>
                    <a:lnTo>
                      <a:pt x="25" y="136"/>
                    </a:lnTo>
                    <a:lnTo>
                      <a:pt x="18" y="105"/>
                    </a:lnTo>
                    <a:lnTo>
                      <a:pt x="15" y="74"/>
                    </a:lnTo>
                    <a:lnTo>
                      <a:pt x="12" y="59"/>
                    </a:lnTo>
                    <a:lnTo>
                      <a:pt x="9" y="4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5" name="Freeform 262"/>
              <p:cNvSpPr>
                <a:spLocks/>
              </p:cNvSpPr>
              <p:nvPr/>
            </p:nvSpPr>
            <p:spPr bwMode="auto">
              <a:xfrm>
                <a:off x="2560" y="1429"/>
                <a:ext cx="43" cy="167"/>
              </a:xfrm>
              <a:custGeom>
                <a:avLst/>
                <a:gdLst>
                  <a:gd name="T0" fmla="*/ 3 w 43"/>
                  <a:gd name="T1" fmla="*/ 0 h 167"/>
                  <a:gd name="T2" fmla="*/ 9 w 43"/>
                  <a:gd name="T3" fmla="*/ 24 h 167"/>
                  <a:gd name="T4" fmla="*/ 12 w 43"/>
                  <a:gd name="T5" fmla="*/ 49 h 167"/>
                  <a:gd name="T6" fmla="*/ 15 w 43"/>
                  <a:gd name="T7" fmla="*/ 71 h 167"/>
                  <a:gd name="T8" fmla="*/ 18 w 43"/>
                  <a:gd name="T9" fmla="*/ 89 h 167"/>
                  <a:gd name="T10" fmla="*/ 25 w 43"/>
                  <a:gd name="T11" fmla="*/ 108 h 167"/>
                  <a:gd name="T12" fmla="*/ 28 w 43"/>
                  <a:gd name="T13" fmla="*/ 117 h 167"/>
                  <a:gd name="T14" fmla="*/ 34 w 43"/>
                  <a:gd name="T15" fmla="*/ 126 h 167"/>
                  <a:gd name="T16" fmla="*/ 40 w 43"/>
                  <a:gd name="T17" fmla="*/ 145 h 167"/>
                  <a:gd name="T18" fmla="*/ 43 w 43"/>
                  <a:gd name="T19" fmla="*/ 160 h 167"/>
                  <a:gd name="T20" fmla="*/ 43 w 43"/>
                  <a:gd name="T21" fmla="*/ 163 h 167"/>
                  <a:gd name="T22" fmla="*/ 40 w 43"/>
                  <a:gd name="T23" fmla="*/ 167 h 167"/>
                  <a:gd name="T24" fmla="*/ 34 w 43"/>
                  <a:gd name="T25" fmla="*/ 163 h 167"/>
                  <a:gd name="T26" fmla="*/ 28 w 43"/>
                  <a:gd name="T27" fmla="*/ 145 h 167"/>
                  <a:gd name="T28" fmla="*/ 25 w 43"/>
                  <a:gd name="T29" fmla="*/ 129 h 167"/>
                  <a:gd name="T30" fmla="*/ 12 w 43"/>
                  <a:gd name="T31" fmla="*/ 92 h 167"/>
                  <a:gd name="T32" fmla="*/ 6 w 43"/>
                  <a:gd name="T33" fmla="*/ 49 h 167"/>
                  <a:gd name="T34" fmla="*/ 3 w 43"/>
                  <a:gd name="T35" fmla="*/ 24 h 167"/>
                  <a:gd name="T36" fmla="*/ 0 w 43"/>
                  <a:gd name="T37" fmla="*/ 0 h 167"/>
                  <a:gd name="T38" fmla="*/ 0 w 43"/>
                  <a:gd name="T39" fmla="*/ 0 h 167"/>
                  <a:gd name="T40" fmla="*/ 3 w 43"/>
                  <a:gd name="T41" fmla="*/ 0 h 167"/>
                  <a:gd name="T42" fmla="*/ 3 w 43"/>
                  <a:gd name="T43" fmla="*/ 0 h 167"/>
                  <a:gd name="T44" fmla="*/ 3 w 43"/>
                  <a:gd name="T45" fmla="*/ 0 h 16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3"/>
                  <a:gd name="T70" fmla="*/ 0 h 167"/>
                  <a:gd name="T71" fmla="*/ 43 w 43"/>
                  <a:gd name="T72" fmla="*/ 167 h 16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3" h="167">
                    <a:moveTo>
                      <a:pt x="3" y="0"/>
                    </a:moveTo>
                    <a:lnTo>
                      <a:pt x="9" y="24"/>
                    </a:lnTo>
                    <a:lnTo>
                      <a:pt x="12" y="49"/>
                    </a:lnTo>
                    <a:lnTo>
                      <a:pt x="15" y="71"/>
                    </a:lnTo>
                    <a:lnTo>
                      <a:pt x="18" y="89"/>
                    </a:lnTo>
                    <a:lnTo>
                      <a:pt x="25" y="108"/>
                    </a:lnTo>
                    <a:lnTo>
                      <a:pt x="28" y="117"/>
                    </a:lnTo>
                    <a:lnTo>
                      <a:pt x="34" y="126"/>
                    </a:lnTo>
                    <a:lnTo>
                      <a:pt x="40" y="145"/>
                    </a:lnTo>
                    <a:lnTo>
                      <a:pt x="43" y="160"/>
                    </a:lnTo>
                    <a:lnTo>
                      <a:pt x="43" y="163"/>
                    </a:lnTo>
                    <a:lnTo>
                      <a:pt x="40" y="167"/>
                    </a:lnTo>
                    <a:lnTo>
                      <a:pt x="34" y="163"/>
                    </a:lnTo>
                    <a:lnTo>
                      <a:pt x="28" y="145"/>
                    </a:lnTo>
                    <a:lnTo>
                      <a:pt x="25" y="129"/>
                    </a:lnTo>
                    <a:lnTo>
                      <a:pt x="12" y="92"/>
                    </a:lnTo>
                    <a:lnTo>
                      <a:pt x="6" y="49"/>
                    </a:lnTo>
                    <a:lnTo>
                      <a:pt x="3" y="2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6" name="Freeform 263"/>
              <p:cNvSpPr>
                <a:spLocks/>
              </p:cNvSpPr>
              <p:nvPr/>
            </p:nvSpPr>
            <p:spPr bwMode="auto">
              <a:xfrm>
                <a:off x="2594" y="1589"/>
                <a:ext cx="22" cy="13"/>
              </a:xfrm>
              <a:custGeom>
                <a:avLst/>
                <a:gdLst>
                  <a:gd name="T0" fmla="*/ 3 w 22"/>
                  <a:gd name="T1" fmla="*/ 3 h 13"/>
                  <a:gd name="T2" fmla="*/ 22 w 22"/>
                  <a:gd name="T3" fmla="*/ 0 h 13"/>
                  <a:gd name="T4" fmla="*/ 22 w 22"/>
                  <a:gd name="T5" fmla="*/ 3 h 13"/>
                  <a:gd name="T6" fmla="*/ 15 w 22"/>
                  <a:gd name="T7" fmla="*/ 10 h 13"/>
                  <a:gd name="T8" fmla="*/ 6 w 22"/>
                  <a:gd name="T9" fmla="*/ 13 h 13"/>
                  <a:gd name="T10" fmla="*/ 0 w 22"/>
                  <a:gd name="T11" fmla="*/ 13 h 13"/>
                  <a:gd name="T12" fmla="*/ 0 w 22"/>
                  <a:gd name="T13" fmla="*/ 7 h 13"/>
                  <a:gd name="T14" fmla="*/ 3 w 22"/>
                  <a:gd name="T15" fmla="*/ 3 h 13"/>
                  <a:gd name="T16" fmla="*/ 3 w 22"/>
                  <a:gd name="T17" fmla="*/ 3 h 13"/>
                  <a:gd name="T18" fmla="*/ 3 w 22"/>
                  <a:gd name="T19" fmla="*/ 3 h 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13"/>
                  <a:gd name="T32" fmla="*/ 22 w 22"/>
                  <a:gd name="T33" fmla="*/ 13 h 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13">
                    <a:moveTo>
                      <a:pt x="3" y="3"/>
                    </a:moveTo>
                    <a:lnTo>
                      <a:pt x="22" y="0"/>
                    </a:lnTo>
                    <a:lnTo>
                      <a:pt x="22" y="3"/>
                    </a:lnTo>
                    <a:lnTo>
                      <a:pt x="15" y="10"/>
                    </a:lnTo>
                    <a:lnTo>
                      <a:pt x="6" y="13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7" name="Freeform 264"/>
              <p:cNvSpPr>
                <a:spLocks/>
              </p:cNvSpPr>
              <p:nvPr/>
            </p:nvSpPr>
            <p:spPr bwMode="auto">
              <a:xfrm>
                <a:off x="2452" y="1568"/>
                <a:ext cx="160" cy="74"/>
              </a:xfrm>
              <a:custGeom>
                <a:avLst/>
                <a:gdLst>
                  <a:gd name="T0" fmla="*/ 0 w 160"/>
                  <a:gd name="T1" fmla="*/ 0 h 74"/>
                  <a:gd name="T2" fmla="*/ 18 w 160"/>
                  <a:gd name="T3" fmla="*/ 9 h 74"/>
                  <a:gd name="T4" fmla="*/ 34 w 160"/>
                  <a:gd name="T5" fmla="*/ 15 h 74"/>
                  <a:gd name="T6" fmla="*/ 49 w 160"/>
                  <a:gd name="T7" fmla="*/ 21 h 74"/>
                  <a:gd name="T8" fmla="*/ 62 w 160"/>
                  <a:gd name="T9" fmla="*/ 28 h 74"/>
                  <a:gd name="T10" fmla="*/ 77 w 160"/>
                  <a:gd name="T11" fmla="*/ 34 h 74"/>
                  <a:gd name="T12" fmla="*/ 93 w 160"/>
                  <a:gd name="T13" fmla="*/ 40 h 74"/>
                  <a:gd name="T14" fmla="*/ 108 w 160"/>
                  <a:gd name="T15" fmla="*/ 46 h 74"/>
                  <a:gd name="T16" fmla="*/ 126 w 160"/>
                  <a:gd name="T17" fmla="*/ 52 h 74"/>
                  <a:gd name="T18" fmla="*/ 142 w 160"/>
                  <a:gd name="T19" fmla="*/ 58 h 74"/>
                  <a:gd name="T20" fmla="*/ 157 w 160"/>
                  <a:gd name="T21" fmla="*/ 62 h 74"/>
                  <a:gd name="T22" fmla="*/ 160 w 160"/>
                  <a:gd name="T23" fmla="*/ 65 h 74"/>
                  <a:gd name="T24" fmla="*/ 160 w 160"/>
                  <a:gd name="T25" fmla="*/ 71 h 74"/>
                  <a:gd name="T26" fmla="*/ 157 w 160"/>
                  <a:gd name="T27" fmla="*/ 74 h 74"/>
                  <a:gd name="T28" fmla="*/ 154 w 160"/>
                  <a:gd name="T29" fmla="*/ 74 h 74"/>
                  <a:gd name="T30" fmla="*/ 139 w 160"/>
                  <a:gd name="T31" fmla="*/ 68 h 74"/>
                  <a:gd name="T32" fmla="*/ 130 w 160"/>
                  <a:gd name="T33" fmla="*/ 65 h 74"/>
                  <a:gd name="T34" fmla="*/ 123 w 160"/>
                  <a:gd name="T35" fmla="*/ 62 h 74"/>
                  <a:gd name="T36" fmla="*/ 105 w 160"/>
                  <a:gd name="T37" fmla="*/ 55 h 74"/>
                  <a:gd name="T38" fmla="*/ 89 w 160"/>
                  <a:gd name="T39" fmla="*/ 49 h 74"/>
                  <a:gd name="T40" fmla="*/ 74 w 160"/>
                  <a:gd name="T41" fmla="*/ 43 h 74"/>
                  <a:gd name="T42" fmla="*/ 62 w 160"/>
                  <a:gd name="T43" fmla="*/ 34 h 74"/>
                  <a:gd name="T44" fmla="*/ 46 w 160"/>
                  <a:gd name="T45" fmla="*/ 28 h 74"/>
                  <a:gd name="T46" fmla="*/ 34 w 160"/>
                  <a:gd name="T47" fmla="*/ 18 h 74"/>
                  <a:gd name="T48" fmla="*/ 18 w 160"/>
                  <a:gd name="T49" fmla="*/ 12 h 74"/>
                  <a:gd name="T50" fmla="*/ 0 w 160"/>
                  <a:gd name="T51" fmla="*/ 6 h 74"/>
                  <a:gd name="T52" fmla="*/ 0 w 160"/>
                  <a:gd name="T53" fmla="*/ 3 h 74"/>
                  <a:gd name="T54" fmla="*/ 0 w 160"/>
                  <a:gd name="T55" fmla="*/ 0 h 74"/>
                  <a:gd name="T56" fmla="*/ 0 w 160"/>
                  <a:gd name="T57" fmla="*/ 0 h 74"/>
                  <a:gd name="T58" fmla="*/ 0 w 160"/>
                  <a:gd name="T59" fmla="*/ 0 h 7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60"/>
                  <a:gd name="T91" fmla="*/ 0 h 74"/>
                  <a:gd name="T92" fmla="*/ 160 w 160"/>
                  <a:gd name="T93" fmla="*/ 74 h 7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60" h="74">
                    <a:moveTo>
                      <a:pt x="0" y="0"/>
                    </a:moveTo>
                    <a:lnTo>
                      <a:pt x="18" y="9"/>
                    </a:lnTo>
                    <a:lnTo>
                      <a:pt x="34" y="15"/>
                    </a:lnTo>
                    <a:lnTo>
                      <a:pt x="49" y="21"/>
                    </a:lnTo>
                    <a:lnTo>
                      <a:pt x="62" y="28"/>
                    </a:lnTo>
                    <a:lnTo>
                      <a:pt x="77" y="34"/>
                    </a:lnTo>
                    <a:lnTo>
                      <a:pt x="93" y="40"/>
                    </a:lnTo>
                    <a:lnTo>
                      <a:pt x="108" y="46"/>
                    </a:lnTo>
                    <a:lnTo>
                      <a:pt x="126" y="52"/>
                    </a:lnTo>
                    <a:lnTo>
                      <a:pt x="142" y="58"/>
                    </a:lnTo>
                    <a:lnTo>
                      <a:pt x="157" y="62"/>
                    </a:lnTo>
                    <a:lnTo>
                      <a:pt x="160" y="65"/>
                    </a:lnTo>
                    <a:lnTo>
                      <a:pt x="160" y="71"/>
                    </a:lnTo>
                    <a:lnTo>
                      <a:pt x="157" y="74"/>
                    </a:lnTo>
                    <a:lnTo>
                      <a:pt x="154" y="74"/>
                    </a:lnTo>
                    <a:lnTo>
                      <a:pt x="139" y="68"/>
                    </a:lnTo>
                    <a:lnTo>
                      <a:pt x="130" y="65"/>
                    </a:lnTo>
                    <a:lnTo>
                      <a:pt x="123" y="62"/>
                    </a:lnTo>
                    <a:lnTo>
                      <a:pt x="105" y="55"/>
                    </a:lnTo>
                    <a:lnTo>
                      <a:pt x="89" y="49"/>
                    </a:lnTo>
                    <a:lnTo>
                      <a:pt x="74" y="43"/>
                    </a:lnTo>
                    <a:lnTo>
                      <a:pt x="62" y="34"/>
                    </a:lnTo>
                    <a:lnTo>
                      <a:pt x="46" y="28"/>
                    </a:lnTo>
                    <a:lnTo>
                      <a:pt x="34" y="18"/>
                    </a:lnTo>
                    <a:lnTo>
                      <a:pt x="18" y="12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8" name="Freeform 265"/>
              <p:cNvSpPr>
                <a:spLocks/>
              </p:cNvSpPr>
              <p:nvPr/>
            </p:nvSpPr>
            <p:spPr bwMode="auto">
              <a:xfrm>
                <a:off x="2619" y="1574"/>
                <a:ext cx="142" cy="71"/>
              </a:xfrm>
              <a:custGeom>
                <a:avLst/>
                <a:gdLst>
                  <a:gd name="T0" fmla="*/ 142 w 142"/>
                  <a:gd name="T1" fmla="*/ 3 h 71"/>
                  <a:gd name="T2" fmla="*/ 129 w 142"/>
                  <a:gd name="T3" fmla="*/ 9 h 71"/>
                  <a:gd name="T4" fmla="*/ 117 w 142"/>
                  <a:gd name="T5" fmla="*/ 15 h 71"/>
                  <a:gd name="T6" fmla="*/ 102 w 142"/>
                  <a:gd name="T7" fmla="*/ 25 h 71"/>
                  <a:gd name="T8" fmla="*/ 89 w 142"/>
                  <a:gd name="T9" fmla="*/ 31 h 71"/>
                  <a:gd name="T10" fmla="*/ 77 w 142"/>
                  <a:gd name="T11" fmla="*/ 37 h 71"/>
                  <a:gd name="T12" fmla="*/ 65 w 142"/>
                  <a:gd name="T13" fmla="*/ 43 h 71"/>
                  <a:gd name="T14" fmla="*/ 55 w 142"/>
                  <a:gd name="T15" fmla="*/ 46 h 71"/>
                  <a:gd name="T16" fmla="*/ 43 w 142"/>
                  <a:gd name="T17" fmla="*/ 56 h 71"/>
                  <a:gd name="T18" fmla="*/ 27 w 142"/>
                  <a:gd name="T19" fmla="*/ 62 h 71"/>
                  <a:gd name="T20" fmla="*/ 15 w 142"/>
                  <a:gd name="T21" fmla="*/ 68 h 71"/>
                  <a:gd name="T22" fmla="*/ 6 w 142"/>
                  <a:gd name="T23" fmla="*/ 71 h 71"/>
                  <a:gd name="T24" fmla="*/ 0 w 142"/>
                  <a:gd name="T25" fmla="*/ 68 h 71"/>
                  <a:gd name="T26" fmla="*/ 0 w 142"/>
                  <a:gd name="T27" fmla="*/ 65 h 71"/>
                  <a:gd name="T28" fmla="*/ 0 w 142"/>
                  <a:gd name="T29" fmla="*/ 62 h 71"/>
                  <a:gd name="T30" fmla="*/ 3 w 142"/>
                  <a:gd name="T31" fmla="*/ 59 h 71"/>
                  <a:gd name="T32" fmla="*/ 9 w 142"/>
                  <a:gd name="T33" fmla="*/ 56 h 71"/>
                  <a:gd name="T34" fmla="*/ 24 w 142"/>
                  <a:gd name="T35" fmla="*/ 49 h 71"/>
                  <a:gd name="T36" fmla="*/ 37 w 142"/>
                  <a:gd name="T37" fmla="*/ 43 h 71"/>
                  <a:gd name="T38" fmla="*/ 49 w 142"/>
                  <a:gd name="T39" fmla="*/ 37 h 71"/>
                  <a:gd name="T40" fmla="*/ 61 w 142"/>
                  <a:gd name="T41" fmla="*/ 34 h 71"/>
                  <a:gd name="T42" fmla="*/ 74 w 142"/>
                  <a:gd name="T43" fmla="*/ 28 h 71"/>
                  <a:gd name="T44" fmla="*/ 86 w 142"/>
                  <a:gd name="T45" fmla="*/ 22 h 71"/>
                  <a:gd name="T46" fmla="*/ 99 w 142"/>
                  <a:gd name="T47" fmla="*/ 18 h 71"/>
                  <a:gd name="T48" fmla="*/ 114 w 142"/>
                  <a:gd name="T49" fmla="*/ 9 h 71"/>
                  <a:gd name="T50" fmla="*/ 126 w 142"/>
                  <a:gd name="T51" fmla="*/ 6 h 71"/>
                  <a:gd name="T52" fmla="*/ 142 w 142"/>
                  <a:gd name="T53" fmla="*/ 0 h 71"/>
                  <a:gd name="T54" fmla="*/ 142 w 142"/>
                  <a:gd name="T55" fmla="*/ 3 h 71"/>
                  <a:gd name="T56" fmla="*/ 142 w 142"/>
                  <a:gd name="T57" fmla="*/ 3 h 71"/>
                  <a:gd name="T58" fmla="*/ 142 w 142"/>
                  <a:gd name="T59" fmla="*/ 3 h 7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42"/>
                  <a:gd name="T91" fmla="*/ 0 h 71"/>
                  <a:gd name="T92" fmla="*/ 142 w 142"/>
                  <a:gd name="T93" fmla="*/ 71 h 71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42" h="71">
                    <a:moveTo>
                      <a:pt x="142" y="3"/>
                    </a:moveTo>
                    <a:lnTo>
                      <a:pt x="129" y="9"/>
                    </a:lnTo>
                    <a:lnTo>
                      <a:pt x="117" y="15"/>
                    </a:lnTo>
                    <a:lnTo>
                      <a:pt x="102" y="25"/>
                    </a:lnTo>
                    <a:lnTo>
                      <a:pt x="89" y="31"/>
                    </a:lnTo>
                    <a:lnTo>
                      <a:pt x="77" y="37"/>
                    </a:lnTo>
                    <a:lnTo>
                      <a:pt x="65" y="43"/>
                    </a:lnTo>
                    <a:lnTo>
                      <a:pt x="55" y="46"/>
                    </a:lnTo>
                    <a:lnTo>
                      <a:pt x="43" y="56"/>
                    </a:lnTo>
                    <a:lnTo>
                      <a:pt x="27" y="62"/>
                    </a:lnTo>
                    <a:lnTo>
                      <a:pt x="15" y="68"/>
                    </a:lnTo>
                    <a:lnTo>
                      <a:pt x="6" y="71"/>
                    </a:lnTo>
                    <a:lnTo>
                      <a:pt x="0" y="68"/>
                    </a:lnTo>
                    <a:lnTo>
                      <a:pt x="0" y="65"/>
                    </a:lnTo>
                    <a:lnTo>
                      <a:pt x="0" y="62"/>
                    </a:lnTo>
                    <a:lnTo>
                      <a:pt x="3" y="59"/>
                    </a:lnTo>
                    <a:lnTo>
                      <a:pt x="9" y="56"/>
                    </a:lnTo>
                    <a:lnTo>
                      <a:pt x="24" y="49"/>
                    </a:lnTo>
                    <a:lnTo>
                      <a:pt x="37" y="43"/>
                    </a:lnTo>
                    <a:lnTo>
                      <a:pt x="49" y="37"/>
                    </a:lnTo>
                    <a:lnTo>
                      <a:pt x="61" y="34"/>
                    </a:lnTo>
                    <a:lnTo>
                      <a:pt x="74" y="28"/>
                    </a:lnTo>
                    <a:lnTo>
                      <a:pt x="86" y="22"/>
                    </a:lnTo>
                    <a:lnTo>
                      <a:pt x="99" y="18"/>
                    </a:lnTo>
                    <a:lnTo>
                      <a:pt x="114" y="9"/>
                    </a:lnTo>
                    <a:lnTo>
                      <a:pt x="126" y="6"/>
                    </a:lnTo>
                    <a:lnTo>
                      <a:pt x="142" y="0"/>
                    </a:lnTo>
                    <a:lnTo>
                      <a:pt x="14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299" name="Freeform 266"/>
              <p:cNvSpPr>
                <a:spLocks/>
              </p:cNvSpPr>
              <p:nvPr/>
            </p:nvSpPr>
            <p:spPr bwMode="auto">
              <a:xfrm>
                <a:off x="2634" y="1543"/>
                <a:ext cx="114" cy="59"/>
              </a:xfrm>
              <a:custGeom>
                <a:avLst/>
                <a:gdLst>
                  <a:gd name="T0" fmla="*/ 111 w 114"/>
                  <a:gd name="T1" fmla="*/ 3 h 59"/>
                  <a:gd name="T2" fmla="*/ 99 w 114"/>
                  <a:gd name="T3" fmla="*/ 12 h 59"/>
                  <a:gd name="T4" fmla="*/ 87 w 114"/>
                  <a:gd name="T5" fmla="*/ 19 h 59"/>
                  <a:gd name="T6" fmla="*/ 71 w 114"/>
                  <a:gd name="T7" fmla="*/ 28 h 59"/>
                  <a:gd name="T8" fmla="*/ 56 w 114"/>
                  <a:gd name="T9" fmla="*/ 34 h 59"/>
                  <a:gd name="T10" fmla="*/ 6 w 114"/>
                  <a:gd name="T11" fmla="*/ 59 h 59"/>
                  <a:gd name="T12" fmla="*/ 0 w 114"/>
                  <a:gd name="T13" fmla="*/ 59 h 59"/>
                  <a:gd name="T14" fmla="*/ 0 w 114"/>
                  <a:gd name="T15" fmla="*/ 53 h 59"/>
                  <a:gd name="T16" fmla="*/ 6 w 114"/>
                  <a:gd name="T17" fmla="*/ 46 h 59"/>
                  <a:gd name="T18" fmla="*/ 12 w 114"/>
                  <a:gd name="T19" fmla="*/ 43 h 59"/>
                  <a:gd name="T20" fmla="*/ 25 w 114"/>
                  <a:gd name="T21" fmla="*/ 37 h 59"/>
                  <a:gd name="T22" fmla="*/ 56 w 114"/>
                  <a:gd name="T23" fmla="*/ 28 h 59"/>
                  <a:gd name="T24" fmla="*/ 71 w 114"/>
                  <a:gd name="T25" fmla="*/ 22 h 59"/>
                  <a:gd name="T26" fmla="*/ 84 w 114"/>
                  <a:gd name="T27" fmla="*/ 15 h 59"/>
                  <a:gd name="T28" fmla="*/ 96 w 114"/>
                  <a:gd name="T29" fmla="*/ 9 h 59"/>
                  <a:gd name="T30" fmla="*/ 111 w 114"/>
                  <a:gd name="T31" fmla="*/ 0 h 59"/>
                  <a:gd name="T32" fmla="*/ 114 w 114"/>
                  <a:gd name="T33" fmla="*/ 0 h 59"/>
                  <a:gd name="T34" fmla="*/ 111 w 114"/>
                  <a:gd name="T35" fmla="*/ 3 h 59"/>
                  <a:gd name="T36" fmla="*/ 111 w 114"/>
                  <a:gd name="T37" fmla="*/ 3 h 59"/>
                  <a:gd name="T38" fmla="*/ 111 w 114"/>
                  <a:gd name="T39" fmla="*/ 3 h 5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4"/>
                  <a:gd name="T61" fmla="*/ 0 h 59"/>
                  <a:gd name="T62" fmla="*/ 114 w 114"/>
                  <a:gd name="T63" fmla="*/ 59 h 5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4" h="59">
                    <a:moveTo>
                      <a:pt x="111" y="3"/>
                    </a:moveTo>
                    <a:lnTo>
                      <a:pt x="99" y="12"/>
                    </a:lnTo>
                    <a:lnTo>
                      <a:pt x="87" y="19"/>
                    </a:lnTo>
                    <a:lnTo>
                      <a:pt x="71" y="28"/>
                    </a:lnTo>
                    <a:lnTo>
                      <a:pt x="56" y="34"/>
                    </a:lnTo>
                    <a:lnTo>
                      <a:pt x="6" y="59"/>
                    </a:lnTo>
                    <a:lnTo>
                      <a:pt x="0" y="59"/>
                    </a:lnTo>
                    <a:lnTo>
                      <a:pt x="0" y="53"/>
                    </a:lnTo>
                    <a:lnTo>
                      <a:pt x="6" y="46"/>
                    </a:lnTo>
                    <a:lnTo>
                      <a:pt x="12" y="43"/>
                    </a:lnTo>
                    <a:lnTo>
                      <a:pt x="25" y="37"/>
                    </a:lnTo>
                    <a:lnTo>
                      <a:pt x="56" y="28"/>
                    </a:lnTo>
                    <a:lnTo>
                      <a:pt x="71" y="22"/>
                    </a:lnTo>
                    <a:lnTo>
                      <a:pt x="84" y="15"/>
                    </a:lnTo>
                    <a:lnTo>
                      <a:pt x="96" y="9"/>
                    </a:lnTo>
                    <a:lnTo>
                      <a:pt x="111" y="0"/>
                    </a:lnTo>
                    <a:lnTo>
                      <a:pt x="114" y="0"/>
                    </a:lnTo>
                    <a:lnTo>
                      <a:pt x="11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0" name="Freeform 267"/>
              <p:cNvSpPr>
                <a:spLocks/>
              </p:cNvSpPr>
              <p:nvPr/>
            </p:nvSpPr>
            <p:spPr bwMode="auto">
              <a:xfrm>
                <a:off x="2606" y="1487"/>
                <a:ext cx="152" cy="50"/>
              </a:xfrm>
              <a:custGeom>
                <a:avLst/>
                <a:gdLst>
                  <a:gd name="T0" fmla="*/ 6 w 152"/>
                  <a:gd name="T1" fmla="*/ 0 h 50"/>
                  <a:gd name="T2" fmla="*/ 19 w 152"/>
                  <a:gd name="T3" fmla="*/ 3 h 50"/>
                  <a:gd name="T4" fmla="*/ 28 w 152"/>
                  <a:gd name="T5" fmla="*/ 10 h 50"/>
                  <a:gd name="T6" fmla="*/ 44 w 152"/>
                  <a:gd name="T7" fmla="*/ 16 h 50"/>
                  <a:gd name="T8" fmla="*/ 62 w 152"/>
                  <a:gd name="T9" fmla="*/ 19 h 50"/>
                  <a:gd name="T10" fmla="*/ 81 w 152"/>
                  <a:gd name="T11" fmla="*/ 25 h 50"/>
                  <a:gd name="T12" fmla="*/ 118 w 152"/>
                  <a:gd name="T13" fmla="*/ 34 h 50"/>
                  <a:gd name="T14" fmla="*/ 149 w 152"/>
                  <a:gd name="T15" fmla="*/ 44 h 50"/>
                  <a:gd name="T16" fmla="*/ 152 w 152"/>
                  <a:gd name="T17" fmla="*/ 44 h 50"/>
                  <a:gd name="T18" fmla="*/ 152 w 152"/>
                  <a:gd name="T19" fmla="*/ 47 h 50"/>
                  <a:gd name="T20" fmla="*/ 152 w 152"/>
                  <a:gd name="T21" fmla="*/ 47 h 50"/>
                  <a:gd name="T22" fmla="*/ 145 w 152"/>
                  <a:gd name="T23" fmla="*/ 50 h 50"/>
                  <a:gd name="T24" fmla="*/ 118 w 152"/>
                  <a:gd name="T25" fmla="*/ 41 h 50"/>
                  <a:gd name="T26" fmla="*/ 99 w 152"/>
                  <a:gd name="T27" fmla="*/ 34 h 50"/>
                  <a:gd name="T28" fmla="*/ 81 w 152"/>
                  <a:gd name="T29" fmla="*/ 28 h 50"/>
                  <a:gd name="T30" fmla="*/ 3 w 152"/>
                  <a:gd name="T31" fmla="*/ 10 h 50"/>
                  <a:gd name="T32" fmla="*/ 0 w 152"/>
                  <a:gd name="T33" fmla="*/ 7 h 50"/>
                  <a:gd name="T34" fmla="*/ 0 w 152"/>
                  <a:gd name="T35" fmla="*/ 3 h 50"/>
                  <a:gd name="T36" fmla="*/ 3 w 152"/>
                  <a:gd name="T37" fmla="*/ 0 h 50"/>
                  <a:gd name="T38" fmla="*/ 6 w 152"/>
                  <a:gd name="T39" fmla="*/ 0 h 50"/>
                  <a:gd name="T40" fmla="*/ 6 w 152"/>
                  <a:gd name="T41" fmla="*/ 0 h 50"/>
                  <a:gd name="T42" fmla="*/ 6 w 152"/>
                  <a:gd name="T43" fmla="*/ 0 h 5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52"/>
                  <a:gd name="T67" fmla="*/ 0 h 50"/>
                  <a:gd name="T68" fmla="*/ 152 w 152"/>
                  <a:gd name="T69" fmla="*/ 50 h 5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52" h="50">
                    <a:moveTo>
                      <a:pt x="6" y="0"/>
                    </a:moveTo>
                    <a:lnTo>
                      <a:pt x="19" y="3"/>
                    </a:lnTo>
                    <a:lnTo>
                      <a:pt x="28" y="10"/>
                    </a:lnTo>
                    <a:lnTo>
                      <a:pt x="44" y="16"/>
                    </a:lnTo>
                    <a:lnTo>
                      <a:pt x="62" y="19"/>
                    </a:lnTo>
                    <a:lnTo>
                      <a:pt x="81" y="25"/>
                    </a:lnTo>
                    <a:lnTo>
                      <a:pt x="118" y="34"/>
                    </a:lnTo>
                    <a:lnTo>
                      <a:pt x="149" y="44"/>
                    </a:lnTo>
                    <a:lnTo>
                      <a:pt x="152" y="44"/>
                    </a:lnTo>
                    <a:lnTo>
                      <a:pt x="152" y="47"/>
                    </a:lnTo>
                    <a:lnTo>
                      <a:pt x="145" y="50"/>
                    </a:lnTo>
                    <a:lnTo>
                      <a:pt x="118" y="41"/>
                    </a:lnTo>
                    <a:lnTo>
                      <a:pt x="99" y="34"/>
                    </a:lnTo>
                    <a:lnTo>
                      <a:pt x="81" y="28"/>
                    </a:lnTo>
                    <a:lnTo>
                      <a:pt x="3" y="10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1" name="Freeform 268"/>
              <p:cNvSpPr>
                <a:spLocks/>
              </p:cNvSpPr>
              <p:nvPr/>
            </p:nvSpPr>
            <p:spPr bwMode="auto">
              <a:xfrm>
                <a:off x="2616" y="1515"/>
                <a:ext cx="80" cy="28"/>
              </a:xfrm>
              <a:custGeom>
                <a:avLst/>
                <a:gdLst>
                  <a:gd name="T0" fmla="*/ 3 w 80"/>
                  <a:gd name="T1" fmla="*/ 0 h 28"/>
                  <a:gd name="T2" fmla="*/ 34 w 80"/>
                  <a:gd name="T3" fmla="*/ 9 h 28"/>
                  <a:gd name="T4" fmla="*/ 40 w 80"/>
                  <a:gd name="T5" fmla="*/ 16 h 28"/>
                  <a:gd name="T6" fmla="*/ 49 w 80"/>
                  <a:gd name="T7" fmla="*/ 16 h 28"/>
                  <a:gd name="T8" fmla="*/ 64 w 80"/>
                  <a:gd name="T9" fmla="*/ 22 h 28"/>
                  <a:gd name="T10" fmla="*/ 80 w 80"/>
                  <a:gd name="T11" fmla="*/ 25 h 28"/>
                  <a:gd name="T12" fmla="*/ 80 w 80"/>
                  <a:gd name="T13" fmla="*/ 28 h 28"/>
                  <a:gd name="T14" fmla="*/ 80 w 80"/>
                  <a:gd name="T15" fmla="*/ 28 h 28"/>
                  <a:gd name="T16" fmla="*/ 49 w 80"/>
                  <a:gd name="T17" fmla="*/ 22 h 28"/>
                  <a:gd name="T18" fmla="*/ 30 w 80"/>
                  <a:gd name="T19" fmla="*/ 16 h 28"/>
                  <a:gd name="T20" fmla="*/ 15 w 80"/>
                  <a:gd name="T21" fmla="*/ 9 h 28"/>
                  <a:gd name="T22" fmla="*/ 3 w 80"/>
                  <a:gd name="T23" fmla="*/ 6 h 28"/>
                  <a:gd name="T24" fmla="*/ 0 w 80"/>
                  <a:gd name="T25" fmla="*/ 3 h 28"/>
                  <a:gd name="T26" fmla="*/ 3 w 80"/>
                  <a:gd name="T27" fmla="*/ 0 h 28"/>
                  <a:gd name="T28" fmla="*/ 3 w 80"/>
                  <a:gd name="T29" fmla="*/ 0 h 28"/>
                  <a:gd name="T30" fmla="*/ 3 w 80"/>
                  <a:gd name="T31" fmla="*/ 0 h 2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0"/>
                  <a:gd name="T49" fmla="*/ 0 h 28"/>
                  <a:gd name="T50" fmla="*/ 80 w 80"/>
                  <a:gd name="T51" fmla="*/ 28 h 2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0" h="28">
                    <a:moveTo>
                      <a:pt x="3" y="0"/>
                    </a:moveTo>
                    <a:lnTo>
                      <a:pt x="34" y="9"/>
                    </a:lnTo>
                    <a:lnTo>
                      <a:pt x="40" y="16"/>
                    </a:lnTo>
                    <a:lnTo>
                      <a:pt x="49" y="16"/>
                    </a:lnTo>
                    <a:lnTo>
                      <a:pt x="64" y="22"/>
                    </a:lnTo>
                    <a:lnTo>
                      <a:pt x="80" y="25"/>
                    </a:lnTo>
                    <a:lnTo>
                      <a:pt x="80" y="28"/>
                    </a:lnTo>
                    <a:lnTo>
                      <a:pt x="49" y="22"/>
                    </a:lnTo>
                    <a:lnTo>
                      <a:pt x="30" y="16"/>
                    </a:lnTo>
                    <a:lnTo>
                      <a:pt x="15" y="9"/>
                    </a:lnTo>
                    <a:lnTo>
                      <a:pt x="3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2" name="Freeform 269"/>
              <p:cNvSpPr>
                <a:spLocks/>
              </p:cNvSpPr>
              <p:nvPr/>
            </p:nvSpPr>
            <p:spPr bwMode="auto">
              <a:xfrm>
                <a:off x="2616" y="1534"/>
                <a:ext cx="52" cy="24"/>
              </a:xfrm>
              <a:custGeom>
                <a:avLst/>
                <a:gdLst>
                  <a:gd name="T0" fmla="*/ 3 w 52"/>
                  <a:gd name="T1" fmla="*/ 0 h 24"/>
                  <a:gd name="T2" fmla="*/ 27 w 52"/>
                  <a:gd name="T3" fmla="*/ 6 h 24"/>
                  <a:gd name="T4" fmla="*/ 40 w 52"/>
                  <a:gd name="T5" fmla="*/ 12 h 24"/>
                  <a:gd name="T6" fmla="*/ 52 w 52"/>
                  <a:gd name="T7" fmla="*/ 21 h 24"/>
                  <a:gd name="T8" fmla="*/ 52 w 52"/>
                  <a:gd name="T9" fmla="*/ 24 h 24"/>
                  <a:gd name="T10" fmla="*/ 52 w 52"/>
                  <a:gd name="T11" fmla="*/ 24 h 24"/>
                  <a:gd name="T12" fmla="*/ 24 w 52"/>
                  <a:gd name="T13" fmla="*/ 12 h 24"/>
                  <a:gd name="T14" fmla="*/ 12 w 52"/>
                  <a:gd name="T15" fmla="*/ 6 h 24"/>
                  <a:gd name="T16" fmla="*/ 3 w 52"/>
                  <a:gd name="T17" fmla="*/ 3 h 24"/>
                  <a:gd name="T18" fmla="*/ 0 w 52"/>
                  <a:gd name="T19" fmla="*/ 0 h 24"/>
                  <a:gd name="T20" fmla="*/ 3 w 52"/>
                  <a:gd name="T21" fmla="*/ 0 h 24"/>
                  <a:gd name="T22" fmla="*/ 3 w 52"/>
                  <a:gd name="T23" fmla="*/ 0 h 24"/>
                  <a:gd name="T24" fmla="*/ 3 w 52"/>
                  <a:gd name="T25" fmla="*/ 0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"/>
                  <a:gd name="T40" fmla="*/ 0 h 24"/>
                  <a:gd name="T41" fmla="*/ 52 w 52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" h="24">
                    <a:moveTo>
                      <a:pt x="3" y="0"/>
                    </a:moveTo>
                    <a:lnTo>
                      <a:pt x="27" y="6"/>
                    </a:lnTo>
                    <a:lnTo>
                      <a:pt x="40" y="12"/>
                    </a:lnTo>
                    <a:lnTo>
                      <a:pt x="52" y="21"/>
                    </a:lnTo>
                    <a:lnTo>
                      <a:pt x="52" y="24"/>
                    </a:lnTo>
                    <a:lnTo>
                      <a:pt x="24" y="12"/>
                    </a:lnTo>
                    <a:lnTo>
                      <a:pt x="12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3" name="Freeform 270"/>
              <p:cNvSpPr>
                <a:spLocks/>
              </p:cNvSpPr>
              <p:nvPr/>
            </p:nvSpPr>
            <p:spPr bwMode="auto">
              <a:xfrm>
                <a:off x="2616" y="1546"/>
                <a:ext cx="37" cy="22"/>
              </a:xfrm>
              <a:custGeom>
                <a:avLst/>
                <a:gdLst>
                  <a:gd name="T0" fmla="*/ 3 w 37"/>
                  <a:gd name="T1" fmla="*/ 0 h 22"/>
                  <a:gd name="T2" fmla="*/ 12 w 37"/>
                  <a:gd name="T3" fmla="*/ 6 h 22"/>
                  <a:gd name="T4" fmla="*/ 37 w 37"/>
                  <a:gd name="T5" fmla="*/ 19 h 22"/>
                  <a:gd name="T6" fmla="*/ 37 w 37"/>
                  <a:gd name="T7" fmla="*/ 22 h 22"/>
                  <a:gd name="T8" fmla="*/ 34 w 37"/>
                  <a:gd name="T9" fmla="*/ 22 h 22"/>
                  <a:gd name="T10" fmla="*/ 9 w 37"/>
                  <a:gd name="T11" fmla="*/ 9 h 22"/>
                  <a:gd name="T12" fmla="*/ 6 w 37"/>
                  <a:gd name="T13" fmla="*/ 6 h 22"/>
                  <a:gd name="T14" fmla="*/ 3 w 37"/>
                  <a:gd name="T15" fmla="*/ 3 h 22"/>
                  <a:gd name="T16" fmla="*/ 0 w 37"/>
                  <a:gd name="T17" fmla="*/ 3 h 22"/>
                  <a:gd name="T18" fmla="*/ 3 w 37"/>
                  <a:gd name="T19" fmla="*/ 0 h 22"/>
                  <a:gd name="T20" fmla="*/ 3 w 37"/>
                  <a:gd name="T21" fmla="*/ 0 h 22"/>
                  <a:gd name="T22" fmla="*/ 3 w 37"/>
                  <a:gd name="T23" fmla="*/ 0 h 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22"/>
                  <a:gd name="T38" fmla="*/ 37 w 37"/>
                  <a:gd name="T39" fmla="*/ 22 h 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22">
                    <a:moveTo>
                      <a:pt x="3" y="0"/>
                    </a:moveTo>
                    <a:lnTo>
                      <a:pt x="12" y="6"/>
                    </a:lnTo>
                    <a:lnTo>
                      <a:pt x="37" y="19"/>
                    </a:lnTo>
                    <a:lnTo>
                      <a:pt x="37" y="22"/>
                    </a:lnTo>
                    <a:lnTo>
                      <a:pt x="34" y="2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4" name="Freeform 271"/>
              <p:cNvSpPr>
                <a:spLocks/>
              </p:cNvSpPr>
              <p:nvPr/>
            </p:nvSpPr>
            <p:spPr bwMode="auto">
              <a:xfrm>
                <a:off x="2643" y="1546"/>
                <a:ext cx="59" cy="28"/>
              </a:xfrm>
              <a:custGeom>
                <a:avLst/>
                <a:gdLst>
                  <a:gd name="T0" fmla="*/ 59 w 59"/>
                  <a:gd name="T1" fmla="*/ 3 h 28"/>
                  <a:gd name="T2" fmla="*/ 53 w 59"/>
                  <a:gd name="T3" fmla="*/ 9 h 28"/>
                  <a:gd name="T4" fmla="*/ 47 w 59"/>
                  <a:gd name="T5" fmla="*/ 12 h 28"/>
                  <a:gd name="T6" fmla="*/ 34 w 59"/>
                  <a:gd name="T7" fmla="*/ 19 h 28"/>
                  <a:gd name="T8" fmla="*/ 22 w 59"/>
                  <a:gd name="T9" fmla="*/ 22 h 28"/>
                  <a:gd name="T10" fmla="*/ 7 w 59"/>
                  <a:gd name="T11" fmla="*/ 28 h 28"/>
                  <a:gd name="T12" fmla="*/ 0 w 59"/>
                  <a:gd name="T13" fmla="*/ 25 h 28"/>
                  <a:gd name="T14" fmla="*/ 0 w 59"/>
                  <a:gd name="T15" fmla="*/ 22 h 28"/>
                  <a:gd name="T16" fmla="*/ 3 w 59"/>
                  <a:gd name="T17" fmla="*/ 19 h 28"/>
                  <a:gd name="T18" fmla="*/ 59 w 59"/>
                  <a:gd name="T19" fmla="*/ 0 h 28"/>
                  <a:gd name="T20" fmla="*/ 59 w 59"/>
                  <a:gd name="T21" fmla="*/ 3 h 28"/>
                  <a:gd name="T22" fmla="*/ 59 w 59"/>
                  <a:gd name="T23" fmla="*/ 3 h 28"/>
                  <a:gd name="T24" fmla="*/ 59 w 59"/>
                  <a:gd name="T25" fmla="*/ 3 h 28"/>
                  <a:gd name="T26" fmla="*/ 59 w 59"/>
                  <a:gd name="T27" fmla="*/ 3 h 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9"/>
                  <a:gd name="T43" fmla="*/ 0 h 28"/>
                  <a:gd name="T44" fmla="*/ 59 w 59"/>
                  <a:gd name="T45" fmla="*/ 28 h 2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9" h="28">
                    <a:moveTo>
                      <a:pt x="59" y="3"/>
                    </a:moveTo>
                    <a:lnTo>
                      <a:pt x="53" y="9"/>
                    </a:lnTo>
                    <a:lnTo>
                      <a:pt x="47" y="12"/>
                    </a:lnTo>
                    <a:lnTo>
                      <a:pt x="34" y="19"/>
                    </a:lnTo>
                    <a:lnTo>
                      <a:pt x="22" y="22"/>
                    </a:lnTo>
                    <a:lnTo>
                      <a:pt x="7" y="28"/>
                    </a:lnTo>
                    <a:lnTo>
                      <a:pt x="0" y="25"/>
                    </a:lnTo>
                    <a:lnTo>
                      <a:pt x="0" y="22"/>
                    </a:lnTo>
                    <a:lnTo>
                      <a:pt x="3" y="19"/>
                    </a:lnTo>
                    <a:lnTo>
                      <a:pt x="59" y="0"/>
                    </a:lnTo>
                    <a:lnTo>
                      <a:pt x="59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5" name="Freeform 272"/>
              <p:cNvSpPr>
                <a:spLocks/>
              </p:cNvSpPr>
              <p:nvPr/>
            </p:nvSpPr>
            <p:spPr bwMode="auto">
              <a:xfrm>
                <a:off x="2622" y="1540"/>
                <a:ext cx="46" cy="25"/>
              </a:xfrm>
              <a:custGeom>
                <a:avLst/>
                <a:gdLst>
                  <a:gd name="T0" fmla="*/ 3 w 46"/>
                  <a:gd name="T1" fmla="*/ 15 h 25"/>
                  <a:gd name="T2" fmla="*/ 21 w 46"/>
                  <a:gd name="T3" fmla="*/ 9 h 25"/>
                  <a:gd name="T4" fmla="*/ 43 w 46"/>
                  <a:gd name="T5" fmla="*/ 0 h 25"/>
                  <a:gd name="T6" fmla="*/ 46 w 46"/>
                  <a:gd name="T7" fmla="*/ 3 h 25"/>
                  <a:gd name="T8" fmla="*/ 43 w 46"/>
                  <a:gd name="T9" fmla="*/ 6 h 25"/>
                  <a:gd name="T10" fmla="*/ 24 w 46"/>
                  <a:gd name="T11" fmla="*/ 12 h 25"/>
                  <a:gd name="T12" fmla="*/ 15 w 46"/>
                  <a:gd name="T13" fmla="*/ 18 h 25"/>
                  <a:gd name="T14" fmla="*/ 6 w 46"/>
                  <a:gd name="T15" fmla="*/ 25 h 25"/>
                  <a:gd name="T16" fmla="*/ 0 w 46"/>
                  <a:gd name="T17" fmla="*/ 22 h 25"/>
                  <a:gd name="T18" fmla="*/ 3 w 46"/>
                  <a:gd name="T19" fmla="*/ 15 h 25"/>
                  <a:gd name="T20" fmla="*/ 3 w 46"/>
                  <a:gd name="T21" fmla="*/ 15 h 25"/>
                  <a:gd name="T22" fmla="*/ 3 w 46"/>
                  <a:gd name="T23" fmla="*/ 15 h 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6"/>
                  <a:gd name="T37" fmla="*/ 0 h 25"/>
                  <a:gd name="T38" fmla="*/ 46 w 46"/>
                  <a:gd name="T39" fmla="*/ 25 h 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6" h="25">
                    <a:moveTo>
                      <a:pt x="3" y="15"/>
                    </a:moveTo>
                    <a:lnTo>
                      <a:pt x="21" y="9"/>
                    </a:lnTo>
                    <a:lnTo>
                      <a:pt x="43" y="0"/>
                    </a:lnTo>
                    <a:lnTo>
                      <a:pt x="46" y="3"/>
                    </a:lnTo>
                    <a:lnTo>
                      <a:pt x="43" y="6"/>
                    </a:lnTo>
                    <a:lnTo>
                      <a:pt x="24" y="12"/>
                    </a:lnTo>
                    <a:lnTo>
                      <a:pt x="15" y="18"/>
                    </a:lnTo>
                    <a:lnTo>
                      <a:pt x="6" y="25"/>
                    </a:lnTo>
                    <a:lnTo>
                      <a:pt x="0" y="22"/>
                    </a:lnTo>
                    <a:lnTo>
                      <a:pt x="3" y="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6" name="Freeform 273"/>
              <p:cNvSpPr>
                <a:spLocks/>
              </p:cNvSpPr>
              <p:nvPr/>
            </p:nvSpPr>
            <p:spPr bwMode="auto">
              <a:xfrm>
                <a:off x="2622" y="1524"/>
                <a:ext cx="28" cy="16"/>
              </a:xfrm>
              <a:custGeom>
                <a:avLst/>
                <a:gdLst>
                  <a:gd name="T0" fmla="*/ 0 w 28"/>
                  <a:gd name="T1" fmla="*/ 7 h 16"/>
                  <a:gd name="T2" fmla="*/ 9 w 28"/>
                  <a:gd name="T3" fmla="*/ 4 h 16"/>
                  <a:gd name="T4" fmla="*/ 24 w 28"/>
                  <a:gd name="T5" fmla="*/ 0 h 16"/>
                  <a:gd name="T6" fmla="*/ 28 w 28"/>
                  <a:gd name="T7" fmla="*/ 4 h 16"/>
                  <a:gd name="T8" fmla="*/ 28 w 28"/>
                  <a:gd name="T9" fmla="*/ 4 h 16"/>
                  <a:gd name="T10" fmla="*/ 18 w 28"/>
                  <a:gd name="T11" fmla="*/ 10 h 16"/>
                  <a:gd name="T12" fmla="*/ 12 w 28"/>
                  <a:gd name="T13" fmla="*/ 13 h 16"/>
                  <a:gd name="T14" fmla="*/ 3 w 28"/>
                  <a:gd name="T15" fmla="*/ 16 h 16"/>
                  <a:gd name="T16" fmla="*/ 0 w 28"/>
                  <a:gd name="T17" fmla="*/ 13 h 16"/>
                  <a:gd name="T18" fmla="*/ 0 w 28"/>
                  <a:gd name="T19" fmla="*/ 7 h 16"/>
                  <a:gd name="T20" fmla="*/ 0 w 28"/>
                  <a:gd name="T21" fmla="*/ 7 h 16"/>
                  <a:gd name="T22" fmla="*/ 0 w 28"/>
                  <a:gd name="T23" fmla="*/ 7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8"/>
                  <a:gd name="T37" fmla="*/ 0 h 16"/>
                  <a:gd name="T38" fmla="*/ 28 w 28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8" h="16">
                    <a:moveTo>
                      <a:pt x="0" y="7"/>
                    </a:moveTo>
                    <a:lnTo>
                      <a:pt x="9" y="4"/>
                    </a:lnTo>
                    <a:lnTo>
                      <a:pt x="24" y="0"/>
                    </a:lnTo>
                    <a:lnTo>
                      <a:pt x="28" y="4"/>
                    </a:lnTo>
                    <a:lnTo>
                      <a:pt x="18" y="10"/>
                    </a:lnTo>
                    <a:lnTo>
                      <a:pt x="12" y="13"/>
                    </a:lnTo>
                    <a:lnTo>
                      <a:pt x="3" y="16"/>
                    </a:lnTo>
                    <a:lnTo>
                      <a:pt x="0" y="1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7" name="Freeform 274"/>
              <p:cNvSpPr>
                <a:spLocks/>
              </p:cNvSpPr>
              <p:nvPr/>
            </p:nvSpPr>
            <p:spPr bwMode="auto">
              <a:xfrm>
                <a:off x="2622" y="1506"/>
                <a:ext cx="108" cy="37"/>
              </a:xfrm>
              <a:custGeom>
                <a:avLst/>
                <a:gdLst>
                  <a:gd name="T0" fmla="*/ 3 w 108"/>
                  <a:gd name="T1" fmla="*/ 0 h 37"/>
                  <a:gd name="T2" fmla="*/ 31 w 108"/>
                  <a:gd name="T3" fmla="*/ 12 h 37"/>
                  <a:gd name="T4" fmla="*/ 52 w 108"/>
                  <a:gd name="T5" fmla="*/ 18 h 37"/>
                  <a:gd name="T6" fmla="*/ 68 w 108"/>
                  <a:gd name="T7" fmla="*/ 22 h 37"/>
                  <a:gd name="T8" fmla="*/ 105 w 108"/>
                  <a:gd name="T9" fmla="*/ 31 h 37"/>
                  <a:gd name="T10" fmla="*/ 108 w 108"/>
                  <a:gd name="T11" fmla="*/ 34 h 37"/>
                  <a:gd name="T12" fmla="*/ 105 w 108"/>
                  <a:gd name="T13" fmla="*/ 37 h 37"/>
                  <a:gd name="T14" fmla="*/ 102 w 108"/>
                  <a:gd name="T15" fmla="*/ 37 h 37"/>
                  <a:gd name="T16" fmla="*/ 83 w 108"/>
                  <a:gd name="T17" fmla="*/ 31 h 37"/>
                  <a:gd name="T18" fmla="*/ 68 w 108"/>
                  <a:gd name="T19" fmla="*/ 28 h 37"/>
                  <a:gd name="T20" fmla="*/ 31 w 108"/>
                  <a:gd name="T21" fmla="*/ 15 h 37"/>
                  <a:gd name="T22" fmla="*/ 15 w 108"/>
                  <a:gd name="T23" fmla="*/ 9 h 37"/>
                  <a:gd name="T24" fmla="*/ 0 w 108"/>
                  <a:gd name="T25" fmla="*/ 6 h 37"/>
                  <a:gd name="T26" fmla="*/ 0 w 108"/>
                  <a:gd name="T27" fmla="*/ 3 h 37"/>
                  <a:gd name="T28" fmla="*/ 3 w 108"/>
                  <a:gd name="T29" fmla="*/ 0 h 37"/>
                  <a:gd name="T30" fmla="*/ 3 w 108"/>
                  <a:gd name="T31" fmla="*/ 0 h 37"/>
                  <a:gd name="T32" fmla="*/ 3 w 108"/>
                  <a:gd name="T33" fmla="*/ 0 h 3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37"/>
                  <a:gd name="T53" fmla="*/ 108 w 108"/>
                  <a:gd name="T54" fmla="*/ 37 h 3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37">
                    <a:moveTo>
                      <a:pt x="3" y="0"/>
                    </a:moveTo>
                    <a:lnTo>
                      <a:pt x="31" y="12"/>
                    </a:lnTo>
                    <a:lnTo>
                      <a:pt x="52" y="18"/>
                    </a:lnTo>
                    <a:lnTo>
                      <a:pt x="68" y="22"/>
                    </a:lnTo>
                    <a:lnTo>
                      <a:pt x="105" y="31"/>
                    </a:lnTo>
                    <a:lnTo>
                      <a:pt x="108" y="34"/>
                    </a:lnTo>
                    <a:lnTo>
                      <a:pt x="105" y="37"/>
                    </a:lnTo>
                    <a:lnTo>
                      <a:pt x="102" y="37"/>
                    </a:lnTo>
                    <a:lnTo>
                      <a:pt x="83" y="31"/>
                    </a:lnTo>
                    <a:lnTo>
                      <a:pt x="68" y="28"/>
                    </a:lnTo>
                    <a:lnTo>
                      <a:pt x="31" y="15"/>
                    </a:lnTo>
                    <a:lnTo>
                      <a:pt x="15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8" name="Freeform 275"/>
              <p:cNvSpPr>
                <a:spLocks/>
              </p:cNvSpPr>
              <p:nvPr/>
            </p:nvSpPr>
            <p:spPr bwMode="auto">
              <a:xfrm>
                <a:off x="2758" y="1036"/>
                <a:ext cx="21" cy="99"/>
              </a:xfrm>
              <a:custGeom>
                <a:avLst/>
                <a:gdLst>
                  <a:gd name="T0" fmla="*/ 6 w 21"/>
                  <a:gd name="T1" fmla="*/ 0 h 99"/>
                  <a:gd name="T2" fmla="*/ 12 w 21"/>
                  <a:gd name="T3" fmla="*/ 10 h 99"/>
                  <a:gd name="T4" fmla="*/ 12 w 21"/>
                  <a:gd name="T5" fmla="*/ 19 h 99"/>
                  <a:gd name="T6" fmla="*/ 9 w 21"/>
                  <a:gd name="T7" fmla="*/ 25 h 99"/>
                  <a:gd name="T8" fmla="*/ 12 w 21"/>
                  <a:gd name="T9" fmla="*/ 37 h 99"/>
                  <a:gd name="T10" fmla="*/ 15 w 21"/>
                  <a:gd name="T11" fmla="*/ 47 h 99"/>
                  <a:gd name="T12" fmla="*/ 21 w 21"/>
                  <a:gd name="T13" fmla="*/ 56 h 99"/>
                  <a:gd name="T14" fmla="*/ 21 w 21"/>
                  <a:gd name="T15" fmla="*/ 77 h 99"/>
                  <a:gd name="T16" fmla="*/ 18 w 21"/>
                  <a:gd name="T17" fmla="*/ 96 h 99"/>
                  <a:gd name="T18" fmla="*/ 15 w 21"/>
                  <a:gd name="T19" fmla="*/ 99 h 99"/>
                  <a:gd name="T20" fmla="*/ 12 w 21"/>
                  <a:gd name="T21" fmla="*/ 96 h 99"/>
                  <a:gd name="T22" fmla="*/ 12 w 21"/>
                  <a:gd name="T23" fmla="*/ 77 h 99"/>
                  <a:gd name="T24" fmla="*/ 9 w 21"/>
                  <a:gd name="T25" fmla="*/ 62 h 99"/>
                  <a:gd name="T26" fmla="*/ 0 w 21"/>
                  <a:gd name="T27" fmla="*/ 37 h 99"/>
                  <a:gd name="T28" fmla="*/ 0 w 21"/>
                  <a:gd name="T29" fmla="*/ 28 h 99"/>
                  <a:gd name="T30" fmla="*/ 3 w 21"/>
                  <a:gd name="T31" fmla="*/ 19 h 99"/>
                  <a:gd name="T32" fmla="*/ 6 w 21"/>
                  <a:gd name="T33" fmla="*/ 13 h 99"/>
                  <a:gd name="T34" fmla="*/ 3 w 21"/>
                  <a:gd name="T35" fmla="*/ 3 h 99"/>
                  <a:gd name="T36" fmla="*/ 3 w 21"/>
                  <a:gd name="T37" fmla="*/ 0 h 99"/>
                  <a:gd name="T38" fmla="*/ 6 w 21"/>
                  <a:gd name="T39" fmla="*/ 0 h 99"/>
                  <a:gd name="T40" fmla="*/ 6 w 21"/>
                  <a:gd name="T41" fmla="*/ 0 h 99"/>
                  <a:gd name="T42" fmla="*/ 6 w 21"/>
                  <a:gd name="T43" fmla="*/ 0 h 9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1"/>
                  <a:gd name="T67" fmla="*/ 0 h 99"/>
                  <a:gd name="T68" fmla="*/ 21 w 21"/>
                  <a:gd name="T69" fmla="*/ 99 h 9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1" h="99">
                    <a:moveTo>
                      <a:pt x="6" y="0"/>
                    </a:moveTo>
                    <a:lnTo>
                      <a:pt x="12" y="10"/>
                    </a:lnTo>
                    <a:lnTo>
                      <a:pt x="12" y="19"/>
                    </a:lnTo>
                    <a:lnTo>
                      <a:pt x="9" y="25"/>
                    </a:lnTo>
                    <a:lnTo>
                      <a:pt x="12" y="37"/>
                    </a:lnTo>
                    <a:lnTo>
                      <a:pt x="15" y="47"/>
                    </a:lnTo>
                    <a:lnTo>
                      <a:pt x="21" y="56"/>
                    </a:lnTo>
                    <a:lnTo>
                      <a:pt x="21" y="77"/>
                    </a:lnTo>
                    <a:lnTo>
                      <a:pt x="18" y="96"/>
                    </a:lnTo>
                    <a:lnTo>
                      <a:pt x="15" y="99"/>
                    </a:lnTo>
                    <a:lnTo>
                      <a:pt x="12" y="96"/>
                    </a:lnTo>
                    <a:lnTo>
                      <a:pt x="12" y="77"/>
                    </a:lnTo>
                    <a:lnTo>
                      <a:pt x="9" y="62"/>
                    </a:lnTo>
                    <a:lnTo>
                      <a:pt x="0" y="37"/>
                    </a:lnTo>
                    <a:lnTo>
                      <a:pt x="0" y="28"/>
                    </a:lnTo>
                    <a:lnTo>
                      <a:pt x="3" y="19"/>
                    </a:lnTo>
                    <a:lnTo>
                      <a:pt x="6" y="13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09" name="Freeform 276"/>
              <p:cNvSpPr>
                <a:spLocks/>
              </p:cNvSpPr>
              <p:nvPr/>
            </p:nvSpPr>
            <p:spPr bwMode="auto">
              <a:xfrm>
                <a:off x="2795" y="1098"/>
                <a:ext cx="24" cy="28"/>
              </a:xfrm>
              <a:custGeom>
                <a:avLst/>
                <a:gdLst>
                  <a:gd name="T0" fmla="*/ 21 w 24"/>
                  <a:gd name="T1" fmla="*/ 6 h 28"/>
                  <a:gd name="T2" fmla="*/ 21 w 24"/>
                  <a:gd name="T3" fmla="*/ 9 h 28"/>
                  <a:gd name="T4" fmla="*/ 21 w 24"/>
                  <a:gd name="T5" fmla="*/ 12 h 28"/>
                  <a:gd name="T6" fmla="*/ 15 w 24"/>
                  <a:gd name="T7" fmla="*/ 19 h 28"/>
                  <a:gd name="T8" fmla="*/ 12 w 24"/>
                  <a:gd name="T9" fmla="*/ 22 h 28"/>
                  <a:gd name="T10" fmla="*/ 12 w 24"/>
                  <a:gd name="T11" fmla="*/ 25 h 28"/>
                  <a:gd name="T12" fmla="*/ 3 w 24"/>
                  <a:gd name="T13" fmla="*/ 28 h 28"/>
                  <a:gd name="T14" fmla="*/ 0 w 24"/>
                  <a:gd name="T15" fmla="*/ 25 h 28"/>
                  <a:gd name="T16" fmla="*/ 0 w 24"/>
                  <a:gd name="T17" fmla="*/ 22 h 28"/>
                  <a:gd name="T18" fmla="*/ 6 w 24"/>
                  <a:gd name="T19" fmla="*/ 15 h 28"/>
                  <a:gd name="T20" fmla="*/ 9 w 24"/>
                  <a:gd name="T21" fmla="*/ 6 h 28"/>
                  <a:gd name="T22" fmla="*/ 21 w 24"/>
                  <a:gd name="T23" fmla="*/ 0 h 28"/>
                  <a:gd name="T24" fmla="*/ 24 w 24"/>
                  <a:gd name="T25" fmla="*/ 0 h 28"/>
                  <a:gd name="T26" fmla="*/ 21 w 24"/>
                  <a:gd name="T27" fmla="*/ 6 h 28"/>
                  <a:gd name="T28" fmla="*/ 21 w 24"/>
                  <a:gd name="T29" fmla="*/ 6 h 28"/>
                  <a:gd name="T30" fmla="*/ 21 w 24"/>
                  <a:gd name="T31" fmla="*/ 6 h 2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"/>
                  <a:gd name="T49" fmla="*/ 0 h 28"/>
                  <a:gd name="T50" fmla="*/ 24 w 24"/>
                  <a:gd name="T51" fmla="*/ 28 h 2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" h="28">
                    <a:moveTo>
                      <a:pt x="21" y="6"/>
                    </a:moveTo>
                    <a:lnTo>
                      <a:pt x="21" y="9"/>
                    </a:lnTo>
                    <a:lnTo>
                      <a:pt x="21" y="12"/>
                    </a:lnTo>
                    <a:lnTo>
                      <a:pt x="15" y="19"/>
                    </a:lnTo>
                    <a:lnTo>
                      <a:pt x="12" y="22"/>
                    </a:lnTo>
                    <a:lnTo>
                      <a:pt x="12" y="25"/>
                    </a:lnTo>
                    <a:lnTo>
                      <a:pt x="3" y="28"/>
                    </a:lnTo>
                    <a:lnTo>
                      <a:pt x="0" y="25"/>
                    </a:lnTo>
                    <a:lnTo>
                      <a:pt x="0" y="22"/>
                    </a:lnTo>
                    <a:lnTo>
                      <a:pt x="6" y="15"/>
                    </a:lnTo>
                    <a:lnTo>
                      <a:pt x="9" y="6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1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0" name="Freeform 277"/>
              <p:cNvSpPr>
                <a:spLocks/>
              </p:cNvSpPr>
              <p:nvPr/>
            </p:nvSpPr>
            <p:spPr bwMode="auto">
              <a:xfrm>
                <a:off x="2792" y="1070"/>
                <a:ext cx="9" cy="37"/>
              </a:xfrm>
              <a:custGeom>
                <a:avLst/>
                <a:gdLst>
                  <a:gd name="T0" fmla="*/ 6 w 9"/>
                  <a:gd name="T1" fmla="*/ 0 h 37"/>
                  <a:gd name="T2" fmla="*/ 6 w 9"/>
                  <a:gd name="T3" fmla="*/ 6 h 37"/>
                  <a:gd name="T4" fmla="*/ 9 w 9"/>
                  <a:gd name="T5" fmla="*/ 16 h 37"/>
                  <a:gd name="T6" fmla="*/ 6 w 9"/>
                  <a:gd name="T7" fmla="*/ 28 h 37"/>
                  <a:gd name="T8" fmla="*/ 6 w 9"/>
                  <a:gd name="T9" fmla="*/ 37 h 37"/>
                  <a:gd name="T10" fmla="*/ 0 w 9"/>
                  <a:gd name="T11" fmla="*/ 37 h 37"/>
                  <a:gd name="T12" fmla="*/ 0 w 9"/>
                  <a:gd name="T13" fmla="*/ 16 h 37"/>
                  <a:gd name="T14" fmla="*/ 3 w 9"/>
                  <a:gd name="T15" fmla="*/ 0 h 37"/>
                  <a:gd name="T16" fmla="*/ 6 w 9"/>
                  <a:gd name="T17" fmla="*/ 0 h 37"/>
                  <a:gd name="T18" fmla="*/ 6 w 9"/>
                  <a:gd name="T19" fmla="*/ 0 h 37"/>
                  <a:gd name="T20" fmla="*/ 6 w 9"/>
                  <a:gd name="T21" fmla="*/ 0 h 3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"/>
                  <a:gd name="T34" fmla="*/ 0 h 37"/>
                  <a:gd name="T35" fmla="*/ 9 w 9"/>
                  <a:gd name="T36" fmla="*/ 37 h 3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" h="37">
                    <a:moveTo>
                      <a:pt x="6" y="0"/>
                    </a:moveTo>
                    <a:lnTo>
                      <a:pt x="6" y="6"/>
                    </a:lnTo>
                    <a:lnTo>
                      <a:pt x="9" y="16"/>
                    </a:lnTo>
                    <a:lnTo>
                      <a:pt x="6" y="28"/>
                    </a:lnTo>
                    <a:lnTo>
                      <a:pt x="6" y="37"/>
                    </a:lnTo>
                    <a:lnTo>
                      <a:pt x="0" y="37"/>
                    </a:lnTo>
                    <a:lnTo>
                      <a:pt x="0" y="16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1" name="Freeform 278"/>
              <p:cNvSpPr>
                <a:spLocks/>
              </p:cNvSpPr>
              <p:nvPr/>
            </p:nvSpPr>
            <p:spPr bwMode="auto">
              <a:xfrm>
                <a:off x="2869" y="1064"/>
                <a:ext cx="28" cy="59"/>
              </a:xfrm>
              <a:custGeom>
                <a:avLst/>
                <a:gdLst>
                  <a:gd name="T0" fmla="*/ 28 w 28"/>
                  <a:gd name="T1" fmla="*/ 3 h 59"/>
                  <a:gd name="T2" fmla="*/ 22 w 28"/>
                  <a:gd name="T3" fmla="*/ 19 h 59"/>
                  <a:gd name="T4" fmla="*/ 18 w 28"/>
                  <a:gd name="T5" fmla="*/ 34 h 59"/>
                  <a:gd name="T6" fmla="*/ 12 w 28"/>
                  <a:gd name="T7" fmla="*/ 46 h 59"/>
                  <a:gd name="T8" fmla="*/ 3 w 28"/>
                  <a:gd name="T9" fmla="*/ 59 h 59"/>
                  <a:gd name="T10" fmla="*/ 0 w 28"/>
                  <a:gd name="T11" fmla="*/ 59 h 59"/>
                  <a:gd name="T12" fmla="*/ 0 w 28"/>
                  <a:gd name="T13" fmla="*/ 56 h 59"/>
                  <a:gd name="T14" fmla="*/ 3 w 28"/>
                  <a:gd name="T15" fmla="*/ 43 h 59"/>
                  <a:gd name="T16" fmla="*/ 6 w 28"/>
                  <a:gd name="T17" fmla="*/ 31 h 59"/>
                  <a:gd name="T18" fmla="*/ 12 w 28"/>
                  <a:gd name="T19" fmla="*/ 22 h 59"/>
                  <a:gd name="T20" fmla="*/ 15 w 28"/>
                  <a:gd name="T21" fmla="*/ 15 h 59"/>
                  <a:gd name="T22" fmla="*/ 18 w 28"/>
                  <a:gd name="T23" fmla="*/ 6 h 59"/>
                  <a:gd name="T24" fmla="*/ 25 w 28"/>
                  <a:gd name="T25" fmla="*/ 0 h 59"/>
                  <a:gd name="T26" fmla="*/ 28 w 28"/>
                  <a:gd name="T27" fmla="*/ 0 h 59"/>
                  <a:gd name="T28" fmla="*/ 28 w 28"/>
                  <a:gd name="T29" fmla="*/ 3 h 59"/>
                  <a:gd name="T30" fmla="*/ 28 w 28"/>
                  <a:gd name="T31" fmla="*/ 3 h 59"/>
                  <a:gd name="T32" fmla="*/ 28 w 28"/>
                  <a:gd name="T33" fmla="*/ 3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"/>
                  <a:gd name="T52" fmla="*/ 0 h 59"/>
                  <a:gd name="T53" fmla="*/ 28 w 28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" h="59">
                    <a:moveTo>
                      <a:pt x="28" y="3"/>
                    </a:moveTo>
                    <a:lnTo>
                      <a:pt x="22" y="19"/>
                    </a:lnTo>
                    <a:lnTo>
                      <a:pt x="18" y="34"/>
                    </a:lnTo>
                    <a:lnTo>
                      <a:pt x="12" y="46"/>
                    </a:lnTo>
                    <a:lnTo>
                      <a:pt x="3" y="59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3" y="43"/>
                    </a:lnTo>
                    <a:lnTo>
                      <a:pt x="6" y="31"/>
                    </a:lnTo>
                    <a:lnTo>
                      <a:pt x="12" y="22"/>
                    </a:lnTo>
                    <a:lnTo>
                      <a:pt x="15" y="15"/>
                    </a:lnTo>
                    <a:lnTo>
                      <a:pt x="18" y="6"/>
                    </a:lnTo>
                    <a:lnTo>
                      <a:pt x="25" y="0"/>
                    </a:lnTo>
                    <a:lnTo>
                      <a:pt x="28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2" name="Freeform 279"/>
              <p:cNvSpPr>
                <a:spLocks/>
              </p:cNvSpPr>
              <p:nvPr/>
            </p:nvSpPr>
            <p:spPr bwMode="auto">
              <a:xfrm>
                <a:off x="2350" y="1209"/>
                <a:ext cx="31" cy="10"/>
              </a:xfrm>
              <a:custGeom>
                <a:avLst/>
                <a:gdLst>
                  <a:gd name="T0" fmla="*/ 3 w 31"/>
                  <a:gd name="T1" fmla="*/ 0 h 10"/>
                  <a:gd name="T2" fmla="*/ 18 w 31"/>
                  <a:gd name="T3" fmla="*/ 0 h 10"/>
                  <a:gd name="T4" fmla="*/ 28 w 31"/>
                  <a:gd name="T5" fmla="*/ 0 h 10"/>
                  <a:gd name="T6" fmla="*/ 31 w 31"/>
                  <a:gd name="T7" fmla="*/ 3 h 10"/>
                  <a:gd name="T8" fmla="*/ 28 w 31"/>
                  <a:gd name="T9" fmla="*/ 3 h 10"/>
                  <a:gd name="T10" fmla="*/ 15 w 31"/>
                  <a:gd name="T11" fmla="*/ 10 h 10"/>
                  <a:gd name="T12" fmla="*/ 9 w 31"/>
                  <a:gd name="T13" fmla="*/ 6 h 10"/>
                  <a:gd name="T14" fmla="*/ 3 w 31"/>
                  <a:gd name="T15" fmla="*/ 3 h 10"/>
                  <a:gd name="T16" fmla="*/ 0 w 31"/>
                  <a:gd name="T17" fmla="*/ 0 h 10"/>
                  <a:gd name="T18" fmla="*/ 3 w 31"/>
                  <a:gd name="T19" fmla="*/ 0 h 10"/>
                  <a:gd name="T20" fmla="*/ 3 w 31"/>
                  <a:gd name="T21" fmla="*/ 0 h 10"/>
                  <a:gd name="T22" fmla="*/ 3 w 31"/>
                  <a:gd name="T23" fmla="*/ 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10"/>
                  <a:gd name="T38" fmla="*/ 31 w 31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10">
                    <a:moveTo>
                      <a:pt x="3" y="0"/>
                    </a:moveTo>
                    <a:lnTo>
                      <a:pt x="18" y="0"/>
                    </a:lnTo>
                    <a:lnTo>
                      <a:pt x="28" y="0"/>
                    </a:lnTo>
                    <a:lnTo>
                      <a:pt x="31" y="3"/>
                    </a:lnTo>
                    <a:lnTo>
                      <a:pt x="28" y="3"/>
                    </a:lnTo>
                    <a:lnTo>
                      <a:pt x="15" y="10"/>
                    </a:lnTo>
                    <a:lnTo>
                      <a:pt x="9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3" name="Freeform 280"/>
              <p:cNvSpPr>
                <a:spLocks/>
              </p:cNvSpPr>
              <p:nvPr/>
            </p:nvSpPr>
            <p:spPr bwMode="auto">
              <a:xfrm>
                <a:off x="2347" y="1200"/>
                <a:ext cx="31" cy="12"/>
              </a:xfrm>
              <a:custGeom>
                <a:avLst/>
                <a:gdLst>
                  <a:gd name="T0" fmla="*/ 0 w 31"/>
                  <a:gd name="T1" fmla="*/ 9 h 12"/>
                  <a:gd name="T2" fmla="*/ 15 w 31"/>
                  <a:gd name="T3" fmla="*/ 0 h 12"/>
                  <a:gd name="T4" fmla="*/ 31 w 31"/>
                  <a:gd name="T5" fmla="*/ 0 h 12"/>
                  <a:gd name="T6" fmla="*/ 31 w 31"/>
                  <a:gd name="T7" fmla="*/ 0 h 12"/>
                  <a:gd name="T8" fmla="*/ 31 w 31"/>
                  <a:gd name="T9" fmla="*/ 3 h 12"/>
                  <a:gd name="T10" fmla="*/ 18 w 31"/>
                  <a:gd name="T11" fmla="*/ 6 h 12"/>
                  <a:gd name="T12" fmla="*/ 0 w 31"/>
                  <a:gd name="T13" fmla="*/ 12 h 12"/>
                  <a:gd name="T14" fmla="*/ 0 w 31"/>
                  <a:gd name="T15" fmla="*/ 9 h 12"/>
                  <a:gd name="T16" fmla="*/ 0 w 31"/>
                  <a:gd name="T17" fmla="*/ 9 h 12"/>
                  <a:gd name="T18" fmla="*/ 0 w 31"/>
                  <a:gd name="T19" fmla="*/ 9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12"/>
                  <a:gd name="T32" fmla="*/ 31 w 31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12">
                    <a:moveTo>
                      <a:pt x="0" y="9"/>
                    </a:moveTo>
                    <a:lnTo>
                      <a:pt x="15" y="0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18" y="6"/>
                    </a:lnTo>
                    <a:lnTo>
                      <a:pt x="0" y="12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4" name="Freeform 281"/>
              <p:cNvSpPr>
                <a:spLocks/>
              </p:cNvSpPr>
              <p:nvPr/>
            </p:nvSpPr>
            <p:spPr bwMode="auto">
              <a:xfrm>
                <a:off x="2804" y="984"/>
                <a:ext cx="9" cy="9"/>
              </a:xfrm>
              <a:custGeom>
                <a:avLst/>
                <a:gdLst>
                  <a:gd name="T0" fmla="*/ 6 w 9"/>
                  <a:gd name="T1" fmla="*/ 0 h 9"/>
                  <a:gd name="T2" fmla="*/ 6 w 9"/>
                  <a:gd name="T3" fmla="*/ 3 h 9"/>
                  <a:gd name="T4" fmla="*/ 9 w 9"/>
                  <a:gd name="T5" fmla="*/ 6 h 9"/>
                  <a:gd name="T6" fmla="*/ 9 w 9"/>
                  <a:gd name="T7" fmla="*/ 9 h 9"/>
                  <a:gd name="T8" fmla="*/ 6 w 9"/>
                  <a:gd name="T9" fmla="*/ 9 h 9"/>
                  <a:gd name="T10" fmla="*/ 0 w 9"/>
                  <a:gd name="T11" fmla="*/ 3 h 9"/>
                  <a:gd name="T12" fmla="*/ 3 w 9"/>
                  <a:gd name="T13" fmla="*/ 0 h 9"/>
                  <a:gd name="T14" fmla="*/ 6 w 9"/>
                  <a:gd name="T15" fmla="*/ 0 h 9"/>
                  <a:gd name="T16" fmla="*/ 6 w 9"/>
                  <a:gd name="T17" fmla="*/ 0 h 9"/>
                  <a:gd name="T18" fmla="*/ 6 w 9"/>
                  <a:gd name="T19" fmla="*/ 0 h 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9"/>
                  <a:gd name="T32" fmla="*/ 9 w 9"/>
                  <a:gd name="T33" fmla="*/ 9 h 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9">
                    <a:moveTo>
                      <a:pt x="6" y="0"/>
                    </a:moveTo>
                    <a:lnTo>
                      <a:pt x="6" y="3"/>
                    </a:lnTo>
                    <a:lnTo>
                      <a:pt x="9" y="6"/>
                    </a:lnTo>
                    <a:lnTo>
                      <a:pt x="9" y="9"/>
                    </a:lnTo>
                    <a:lnTo>
                      <a:pt x="6" y="9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5" name="Freeform 282"/>
              <p:cNvSpPr>
                <a:spLocks/>
              </p:cNvSpPr>
              <p:nvPr/>
            </p:nvSpPr>
            <p:spPr bwMode="auto">
              <a:xfrm>
                <a:off x="2819" y="984"/>
                <a:ext cx="7" cy="12"/>
              </a:xfrm>
              <a:custGeom>
                <a:avLst/>
                <a:gdLst>
                  <a:gd name="T0" fmla="*/ 4 w 7"/>
                  <a:gd name="T1" fmla="*/ 3 h 12"/>
                  <a:gd name="T2" fmla="*/ 7 w 7"/>
                  <a:gd name="T3" fmla="*/ 6 h 12"/>
                  <a:gd name="T4" fmla="*/ 4 w 7"/>
                  <a:gd name="T5" fmla="*/ 9 h 12"/>
                  <a:gd name="T6" fmla="*/ 4 w 7"/>
                  <a:gd name="T7" fmla="*/ 12 h 12"/>
                  <a:gd name="T8" fmla="*/ 0 w 7"/>
                  <a:gd name="T9" fmla="*/ 9 h 12"/>
                  <a:gd name="T10" fmla="*/ 0 w 7"/>
                  <a:gd name="T11" fmla="*/ 6 h 12"/>
                  <a:gd name="T12" fmla="*/ 0 w 7"/>
                  <a:gd name="T13" fmla="*/ 3 h 12"/>
                  <a:gd name="T14" fmla="*/ 4 w 7"/>
                  <a:gd name="T15" fmla="*/ 0 h 12"/>
                  <a:gd name="T16" fmla="*/ 4 w 7"/>
                  <a:gd name="T17" fmla="*/ 3 h 12"/>
                  <a:gd name="T18" fmla="*/ 4 w 7"/>
                  <a:gd name="T19" fmla="*/ 3 h 12"/>
                  <a:gd name="T20" fmla="*/ 4 w 7"/>
                  <a:gd name="T21" fmla="*/ 3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"/>
                  <a:gd name="T34" fmla="*/ 0 h 12"/>
                  <a:gd name="T35" fmla="*/ 7 w 7"/>
                  <a:gd name="T36" fmla="*/ 12 h 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" h="12">
                    <a:moveTo>
                      <a:pt x="4" y="3"/>
                    </a:moveTo>
                    <a:lnTo>
                      <a:pt x="7" y="6"/>
                    </a:lnTo>
                    <a:lnTo>
                      <a:pt x="4" y="9"/>
                    </a:lnTo>
                    <a:lnTo>
                      <a:pt x="4" y="12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6" name="Freeform 283"/>
              <p:cNvSpPr>
                <a:spLocks/>
              </p:cNvSpPr>
              <p:nvPr/>
            </p:nvSpPr>
            <p:spPr bwMode="auto">
              <a:xfrm>
                <a:off x="2545" y="965"/>
                <a:ext cx="33" cy="13"/>
              </a:xfrm>
              <a:custGeom>
                <a:avLst/>
                <a:gdLst>
                  <a:gd name="T0" fmla="*/ 0 w 33"/>
                  <a:gd name="T1" fmla="*/ 9 h 13"/>
                  <a:gd name="T2" fmla="*/ 12 w 33"/>
                  <a:gd name="T3" fmla="*/ 6 h 13"/>
                  <a:gd name="T4" fmla="*/ 24 w 33"/>
                  <a:gd name="T5" fmla="*/ 6 h 13"/>
                  <a:gd name="T6" fmla="*/ 30 w 33"/>
                  <a:gd name="T7" fmla="*/ 0 h 13"/>
                  <a:gd name="T8" fmla="*/ 33 w 33"/>
                  <a:gd name="T9" fmla="*/ 0 h 13"/>
                  <a:gd name="T10" fmla="*/ 33 w 33"/>
                  <a:gd name="T11" fmla="*/ 3 h 13"/>
                  <a:gd name="T12" fmla="*/ 30 w 33"/>
                  <a:gd name="T13" fmla="*/ 6 h 13"/>
                  <a:gd name="T14" fmla="*/ 24 w 33"/>
                  <a:gd name="T15" fmla="*/ 9 h 13"/>
                  <a:gd name="T16" fmla="*/ 12 w 33"/>
                  <a:gd name="T17" fmla="*/ 9 h 13"/>
                  <a:gd name="T18" fmla="*/ 0 w 33"/>
                  <a:gd name="T19" fmla="*/ 13 h 13"/>
                  <a:gd name="T20" fmla="*/ 0 w 33"/>
                  <a:gd name="T21" fmla="*/ 9 h 13"/>
                  <a:gd name="T22" fmla="*/ 0 w 33"/>
                  <a:gd name="T23" fmla="*/ 9 h 13"/>
                  <a:gd name="T24" fmla="*/ 0 w 33"/>
                  <a:gd name="T25" fmla="*/ 9 h 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3"/>
                  <a:gd name="T40" fmla="*/ 0 h 13"/>
                  <a:gd name="T41" fmla="*/ 33 w 33"/>
                  <a:gd name="T42" fmla="*/ 13 h 1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3" h="13">
                    <a:moveTo>
                      <a:pt x="0" y="9"/>
                    </a:moveTo>
                    <a:lnTo>
                      <a:pt x="12" y="6"/>
                    </a:lnTo>
                    <a:lnTo>
                      <a:pt x="24" y="6"/>
                    </a:lnTo>
                    <a:lnTo>
                      <a:pt x="30" y="0"/>
                    </a:lnTo>
                    <a:lnTo>
                      <a:pt x="33" y="0"/>
                    </a:lnTo>
                    <a:lnTo>
                      <a:pt x="33" y="3"/>
                    </a:lnTo>
                    <a:lnTo>
                      <a:pt x="30" y="6"/>
                    </a:lnTo>
                    <a:lnTo>
                      <a:pt x="24" y="9"/>
                    </a:lnTo>
                    <a:lnTo>
                      <a:pt x="12" y="9"/>
                    </a:lnTo>
                    <a:lnTo>
                      <a:pt x="0" y="13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7" name="Freeform 284"/>
              <p:cNvSpPr>
                <a:spLocks/>
              </p:cNvSpPr>
              <p:nvPr/>
            </p:nvSpPr>
            <p:spPr bwMode="auto">
              <a:xfrm>
                <a:off x="2551" y="981"/>
                <a:ext cx="18" cy="6"/>
              </a:xfrm>
              <a:custGeom>
                <a:avLst/>
                <a:gdLst>
                  <a:gd name="T0" fmla="*/ 0 w 18"/>
                  <a:gd name="T1" fmla="*/ 0 h 6"/>
                  <a:gd name="T2" fmla="*/ 6 w 18"/>
                  <a:gd name="T3" fmla="*/ 0 h 6"/>
                  <a:gd name="T4" fmla="*/ 9 w 18"/>
                  <a:gd name="T5" fmla="*/ 0 h 6"/>
                  <a:gd name="T6" fmla="*/ 18 w 18"/>
                  <a:gd name="T7" fmla="*/ 0 h 6"/>
                  <a:gd name="T8" fmla="*/ 18 w 18"/>
                  <a:gd name="T9" fmla="*/ 0 h 6"/>
                  <a:gd name="T10" fmla="*/ 18 w 18"/>
                  <a:gd name="T11" fmla="*/ 3 h 6"/>
                  <a:gd name="T12" fmla="*/ 9 w 18"/>
                  <a:gd name="T13" fmla="*/ 6 h 6"/>
                  <a:gd name="T14" fmla="*/ 6 w 18"/>
                  <a:gd name="T15" fmla="*/ 6 h 6"/>
                  <a:gd name="T16" fmla="*/ 0 w 18"/>
                  <a:gd name="T17" fmla="*/ 3 h 6"/>
                  <a:gd name="T18" fmla="*/ 0 w 18"/>
                  <a:gd name="T19" fmla="*/ 0 h 6"/>
                  <a:gd name="T20" fmla="*/ 0 w 18"/>
                  <a:gd name="T21" fmla="*/ 0 h 6"/>
                  <a:gd name="T22" fmla="*/ 0 w 18"/>
                  <a:gd name="T23" fmla="*/ 0 h 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6"/>
                  <a:gd name="T38" fmla="*/ 18 w 18"/>
                  <a:gd name="T39" fmla="*/ 6 h 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6">
                    <a:moveTo>
                      <a:pt x="0" y="0"/>
                    </a:moveTo>
                    <a:lnTo>
                      <a:pt x="6" y="0"/>
                    </a:lnTo>
                    <a:lnTo>
                      <a:pt x="9" y="0"/>
                    </a:lnTo>
                    <a:lnTo>
                      <a:pt x="18" y="0"/>
                    </a:lnTo>
                    <a:lnTo>
                      <a:pt x="18" y="3"/>
                    </a:lnTo>
                    <a:lnTo>
                      <a:pt x="9" y="6"/>
                    </a:lnTo>
                    <a:lnTo>
                      <a:pt x="6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8" name="Freeform 285"/>
              <p:cNvSpPr>
                <a:spLocks/>
              </p:cNvSpPr>
              <p:nvPr/>
            </p:nvSpPr>
            <p:spPr bwMode="auto">
              <a:xfrm>
                <a:off x="2560" y="974"/>
                <a:ext cx="3" cy="7"/>
              </a:xfrm>
              <a:custGeom>
                <a:avLst/>
                <a:gdLst>
                  <a:gd name="T0" fmla="*/ 3 w 3"/>
                  <a:gd name="T1" fmla="*/ 0 h 7"/>
                  <a:gd name="T2" fmla="*/ 3 w 3"/>
                  <a:gd name="T3" fmla="*/ 7 h 7"/>
                  <a:gd name="T4" fmla="*/ 0 w 3"/>
                  <a:gd name="T5" fmla="*/ 7 h 7"/>
                  <a:gd name="T6" fmla="*/ 0 w 3"/>
                  <a:gd name="T7" fmla="*/ 4 h 7"/>
                  <a:gd name="T8" fmla="*/ 0 w 3"/>
                  <a:gd name="T9" fmla="*/ 0 h 7"/>
                  <a:gd name="T10" fmla="*/ 3 w 3"/>
                  <a:gd name="T11" fmla="*/ 0 h 7"/>
                  <a:gd name="T12" fmla="*/ 3 w 3"/>
                  <a:gd name="T13" fmla="*/ 0 h 7"/>
                  <a:gd name="T14" fmla="*/ 3 w 3"/>
                  <a:gd name="T15" fmla="*/ 0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7"/>
                  <a:gd name="T26" fmla="*/ 3 w 3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7">
                    <a:moveTo>
                      <a:pt x="3" y="0"/>
                    </a:moveTo>
                    <a:lnTo>
                      <a:pt x="3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19" name="Freeform 286"/>
              <p:cNvSpPr>
                <a:spLocks/>
              </p:cNvSpPr>
              <p:nvPr/>
            </p:nvSpPr>
            <p:spPr bwMode="auto">
              <a:xfrm>
                <a:off x="2551" y="971"/>
                <a:ext cx="3" cy="13"/>
              </a:xfrm>
              <a:custGeom>
                <a:avLst/>
                <a:gdLst>
                  <a:gd name="T0" fmla="*/ 3 w 3"/>
                  <a:gd name="T1" fmla="*/ 3 h 13"/>
                  <a:gd name="T2" fmla="*/ 3 w 3"/>
                  <a:gd name="T3" fmla="*/ 10 h 13"/>
                  <a:gd name="T4" fmla="*/ 3 w 3"/>
                  <a:gd name="T5" fmla="*/ 13 h 13"/>
                  <a:gd name="T6" fmla="*/ 0 w 3"/>
                  <a:gd name="T7" fmla="*/ 10 h 13"/>
                  <a:gd name="T8" fmla="*/ 0 w 3"/>
                  <a:gd name="T9" fmla="*/ 0 h 13"/>
                  <a:gd name="T10" fmla="*/ 3 w 3"/>
                  <a:gd name="T11" fmla="*/ 3 h 13"/>
                  <a:gd name="T12" fmla="*/ 3 w 3"/>
                  <a:gd name="T13" fmla="*/ 3 h 13"/>
                  <a:gd name="T14" fmla="*/ 3 w 3"/>
                  <a:gd name="T15" fmla="*/ 3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13"/>
                  <a:gd name="T26" fmla="*/ 3 w 3"/>
                  <a:gd name="T27" fmla="*/ 13 h 1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13">
                    <a:moveTo>
                      <a:pt x="3" y="3"/>
                    </a:moveTo>
                    <a:lnTo>
                      <a:pt x="3" y="10"/>
                    </a:lnTo>
                    <a:lnTo>
                      <a:pt x="3" y="13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0" name="Freeform 287"/>
              <p:cNvSpPr>
                <a:spLocks/>
              </p:cNvSpPr>
              <p:nvPr/>
            </p:nvSpPr>
            <p:spPr bwMode="auto">
              <a:xfrm>
                <a:off x="3033" y="1490"/>
                <a:ext cx="21" cy="13"/>
              </a:xfrm>
              <a:custGeom>
                <a:avLst/>
                <a:gdLst>
                  <a:gd name="T0" fmla="*/ 6 w 21"/>
                  <a:gd name="T1" fmla="*/ 0 h 13"/>
                  <a:gd name="T2" fmla="*/ 21 w 21"/>
                  <a:gd name="T3" fmla="*/ 10 h 13"/>
                  <a:gd name="T4" fmla="*/ 21 w 21"/>
                  <a:gd name="T5" fmla="*/ 13 h 13"/>
                  <a:gd name="T6" fmla="*/ 18 w 21"/>
                  <a:gd name="T7" fmla="*/ 13 h 13"/>
                  <a:gd name="T8" fmla="*/ 3 w 21"/>
                  <a:gd name="T9" fmla="*/ 10 h 13"/>
                  <a:gd name="T10" fmla="*/ 0 w 21"/>
                  <a:gd name="T11" fmla="*/ 4 h 13"/>
                  <a:gd name="T12" fmla="*/ 3 w 21"/>
                  <a:gd name="T13" fmla="*/ 0 h 13"/>
                  <a:gd name="T14" fmla="*/ 6 w 21"/>
                  <a:gd name="T15" fmla="*/ 0 h 13"/>
                  <a:gd name="T16" fmla="*/ 6 w 21"/>
                  <a:gd name="T17" fmla="*/ 0 h 13"/>
                  <a:gd name="T18" fmla="*/ 6 w 21"/>
                  <a:gd name="T19" fmla="*/ 0 h 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13"/>
                  <a:gd name="T32" fmla="*/ 21 w 21"/>
                  <a:gd name="T33" fmla="*/ 13 h 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13">
                    <a:moveTo>
                      <a:pt x="6" y="0"/>
                    </a:moveTo>
                    <a:lnTo>
                      <a:pt x="21" y="10"/>
                    </a:lnTo>
                    <a:lnTo>
                      <a:pt x="21" y="13"/>
                    </a:lnTo>
                    <a:lnTo>
                      <a:pt x="18" y="13"/>
                    </a:lnTo>
                    <a:lnTo>
                      <a:pt x="3" y="10"/>
                    </a:lnTo>
                    <a:lnTo>
                      <a:pt x="0" y="4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1" name="Freeform 288"/>
              <p:cNvSpPr>
                <a:spLocks/>
              </p:cNvSpPr>
              <p:nvPr/>
            </p:nvSpPr>
            <p:spPr bwMode="auto">
              <a:xfrm>
                <a:off x="3023" y="1487"/>
                <a:ext cx="28" cy="28"/>
              </a:xfrm>
              <a:custGeom>
                <a:avLst/>
                <a:gdLst>
                  <a:gd name="T0" fmla="*/ 28 w 28"/>
                  <a:gd name="T1" fmla="*/ 3 h 28"/>
                  <a:gd name="T2" fmla="*/ 19 w 28"/>
                  <a:gd name="T3" fmla="*/ 7 h 28"/>
                  <a:gd name="T4" fmla="*/ 13 w 28"/>
                  <a:gd name="T5" fmla="*/ 13 h 28"/>
                  <a:gd name="T6" fmla="*/ 3 w 28"/>
                  <a:gd name="T7" fmla="*/ 28 h 28"/>
                  <a:gd name="T8" fmla="*/ 0 w 28"/>
                  <a:gd name="T9" fmla="*/ 28 h 28"/>
                  <a:gd name="T10" fmla="*/ 0 w 28"/>
                  <a:gd name="T11" fmla="*/ 19 h 28"/>
                  <a:gd name="T12" fmla="*/ 7 w 28"/>
                  <a:gd name="T13" fmla="*/ 7 h 28"/>
                  <a:gd name="T14" fmla="*/ 16 w 28"/>
                  <a:gd name="T15" fmla="*/ 0 h 28"/>
                  <a:gd name="T16" fmla="*/ 28 w 28"/>
                  <a:gd name="T17" fmla="*/ 0 h 28"/>
                  <a:gd name="T18" fmla="*/ 28 w 28"/>
                  <a:gd name="T19" fmla="*/ 0 h 28"/>
                  <a:gd name="T20" fmla="*/ 28 w 28"/>
                  <a:gd name="T21" fmla="*/ 3 h 28"/>
                  <a:gd name="T22" fmla="*/ 28 w 28"/>
                  <a:gd name="T23" fmla="*/ 3 h 28"/>
                  <a:gd name="T24" fmla="*/ 28 w 28"/>
                  <a:gd name="T25" fmla="*/ 3 h 2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"/>
                  <a:gd name="T40" fmla="*/ 0 h 28"/>
                  <a:gd name="T41" fmla="*/ 28 w 28"/>
                  <a:gd name="T42" fmla="*/ 28 h 2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" h="28">
                    <a:moveTo>
                      <a:pt x="28" y="3"/>
                    </a:moveTo>
                    <a:lnTo>
                      <a:pt x="19" y="7"/>
                    </a:lnTo>
                    <a:lnTo>
                      <a:pt x="13" y="13"/>
                    </a:lnTo>
                    <a:lnTo>
                      <a:pt x="3" y="28"/>
                    </a:lnTo>
                    <a:lnTo>
                      <a:pt x="0" y="28"/>
                    </a:lnTo>
                    <a:lnTo>
                      <a:pt x="0" y="19"/>
                    </a:lnTo>
                    <a:lnTo>
                      <a:pt x="7" y="7"/>
                    </a:lnTo>
                    <a:lnTo>
                      <a:pt x="16" y="0"/>
                    </a:lnTo>
                    <a:lnTo>
                      <a:pt x="28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2" name="Freeform 289"/>
              <p:cNvSpPr>
                <a:spLocks/>
              </p:cNvSpPr>
              <p:nvPr/>
            </p:nvSpPr>
            <p:spPr bwMode="auto">
              <a:xfrm>
                <a:off x="3057" y="1494"/>
                <a:ext cx="53" cy="24"/>
              </a:xfrm>
              <a:custGeom>
                <a:avLst/>
                <a:gdLst>
                  <a:gd name="T0" fmla="*/ 3 w 53"/>
                  <a:gd name="T1" fmla="*/ 0 h 24"/>
                  <a:gd name="T2" fmla="*/ 34 w 53"/>
                  <a:gd name="T3" fmla="*/ 12 h 24"/>
                  <a:gd name="T4" fmla="*/ 47 w 53"/>
                  <a:gd name="T5" fmla="*/ 15 h 24"/>
                  <a:gd name="T6" fmla="*/ 50 w 53"/>
                  <a:gd name="T7" fmla="*/ 18 h 24"/>
                  <a:gd name="T8" fmla="*/ 53 w 53"/>
                  <a:gd name="T9" fmla="*/ 21 h 24"/>
                  <a:gd name="T10" fmla="*/ 50 w 53"/>
                  <a:gd name="T11" fmla="*/ 24 h 24"/>
                  <a:gd name="T12" fmla="*/ 44 w 53"/>
                  <a:gd name="T13" fmla="*/ 21 h 24"/>
                  <a:gd name="T14" fmla="*/ 31 w 53"/>
                  <a:gd name="T15" fmla="*/ 18 h 24"/>
                  <a:gd name="T16" fmla="*/ 16 w 53"/>
                  <a:gd name="T17" fmla="*/ 9 h 24"/>
                  <a:gd name="T18" fmla="*/ 10 w 53"/>
                  <a:gd name="T19" fmla="*/ 6 h 24"/>
                  <a:gd name="T20" fmla="*/ 0 w 53"/>
                  <a:gd name="T21" fmla="*/ 3 h 24"/>
                  <a:gd name="T22" fmla="*/ 0 w 53"/>
                  <a:gd name="T23" fmla="*/ 0 h 24"/>
                  <a:gd name="T24" fmla="*/ 3 w 53"/>
                  <a:gd name="T25" fmla="*/ 0 h 24"/>
                  <a:gd name="T26" fmla="*/ 3 w 53"/>
                  <a:gd name="T27" fmla="*/ 0 h 24"/>
                  <a:gd name="T28" fmla="*/ 3 w 53"/>
                  <a:gd name="T29" fmla="*/ 0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3"/>
                  <a:gd name="T46" fmla="*/ 0 h 24"/>
                  <a:gd name="T47" fmla="*/ 53 w 53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3" h="24">
                    <a:moveTo>
                      <a:pt x="3" y="0"/>
                    </a:moveTo>
                    <a:lnTo>
                      <a:pt x="34" y="12"/>
                    </a:lnTo>
                    <a:lnTo>
                      <a:pt x="47" y="15"/>
                    </a:lnTo>
                    <a:lnTo>
                      <a:pt x="50" y="18"/>
                    </a:lnTo>
                    <a:lnTo>
                      <a:pt x="53" y="21"/>
                    </a:lnTo>
                    <a:lnTo>
                      <a:pt x="50" y="24"/>
                    </a:lnTo>
                    <a:lnTo>
                      <a:pt x="44" y="21"/>
                    </a:lnTo>
                    <a:lnTo>
                      <a:pt x="31" y="18"/>
                    </a:lnTo>
                    <a:lnTo>
                      <a:pt x="16" y="9"/>
                    </a:lnTo>
                    <a:lnTo>
                      <a:pt x="10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3" name="Freeform 290"/>
              <p:cNvSpPr>
                <a:spLocks/>
              </p:cNvSpPr>
              <p:nvPr/>
            </p:nvSpPr>
            <p:spPr bwMode="auto">
              <a:xfrm>
                <a:off x="2915" y="1503"/>
                <a:ext cx="81" cy="18"/>
              </a:xfrm>
              <a:custGeom>
                <a:avLst/>
                <a:gdLst>
                  <a:gd name="T0" fmla="*/ 3 w 81"/>
                  <a:gd name="T1" fmla="*/ 0 h 18"/>
                  <a:gd name="T2" fmla="*/ 16 w 81"/>
                  <a:gd name="T3" fmla="*/ 0 h 18"/>
                  <a:gd name="T4" fmla="*/ 43 w 81"/>
                  <a:gd name="T5" fmla="*/ 6 h 18"/>
                  <a:gd name="T6" fmla="*/ 81 w 81"/>
                  <a:gd name="T7" fmla="*/ 12 h 18"/>
                  <a:gd name="T8" fmla="*/ 81 w 81"/>
                  <a:gd name="T9" fmla="*/ 15 h 18"/>
                  <a:gd name="T10" fmla="*/ 77 w 81"/>
                  <a:gd name="T11" fmla="*/ 18 h 18"/>
                  <a:gd name="T12" fmla="*/ 43 w 81"/>
                  <a:gd name="T13" fmla="*/ 9 h 18"/>
                  <a:gd name="T14" fmla="*/ 16 w 81"/>
                  <a:gd name="T15" fmla="*/ 6 h 18"/>
                  <a:gd name="T16" fmla="*/ 3 w 81"/>
                  <a:gd name="T17" fmla="*/ 3 h 18"/>
                  <a:gd name="T18" fmla="*/ 0 w 81"/>
                  <a:gd name="T19" fmla="*/ 0 h 18"/>
                  <a:gd name="T20" fmla="*/ 3 w 81"/>
                  <a:gd name="T21" fmla="*/ 0 h 18"/>
                  <a:gd name="T22" fmla="*/ 3 w 81"/>
                  <a:gd name="T23" fmla="*/ 0 h 18"/>
                  <a:gd name="T24" fmla="*/ 3 w 81"/>
                  <a:gd name="T25" fmla="*/ 0 h 1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1"/>
                  <a:gd name="T40" fmla="*/ 0 h 18"/>
                  <a:gd name="T41" fmla="*/ 81 w 81"/>
                  <a:gd name="T42" fmla="*/ 18 h 1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1" h="18">
                    <a:moveTo>
                      <a:pt x="3" y="0"/>
                    </a:moveTo>
                    <a:lnTo>
                      <a:pt x="16" y="0"/>
                    </a:lnTo>
                    <a:lnTo>
                      <a:pt x="43" y="6"/>
                    </a:lnTo>
                    <a:lnTo>
                      <a:pt x="81" y="12"/>
                    </a:lnTo>
                    <a:lnTo>
                      <a:pt x="81" y="15"/>
                    </a:lnTo>
                    <a:lnTo>
                      <a:pt x="77" y="18"/>
                    </a:lnTo>
                    <a:lnTo>
                      <a:pt x="43" y="9"/>
                    </a:lnTo>
                    <a:lnTo>
                      <a:pt x="16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4" name="Freeform 291"/>
              <p:cNvSpPr>
                <a:spLocks/>
              </p:cNvSpPr>
              <p:nvPr/>
            </p:nvSpPr>
            <p:spPr bwMode="auto">
              <a:xfrm>
                <a:off x="2773" y="1456"/>
                <a:ext cx="16" cy="41"/>
              </a:xfrm>
              <a:custGeom>
                <a:avLst/>
                <a:gdLst>
                  <a:gd name="T0" fmla="*/ 16 w 16"/>
                  <a:gd name="T1" fmla="*/ 4 h 41"/>
                  <a:gd name="T2" fmla="*/ 9 w 16"/>
                  <a:gd name="T3" fmla="*/ 19 h 41"/>
                  <a:gd name="T4" fmla="*/ 6 w 16"/>
                  <a:gd name="T5" fmla="*/ 25 h 41"/>
                  <a:gd name="T6" fmla="*/ 3 w 16"/>
                  <a:gd name="T7" fmla="*/ 41 h 41"/>
                  <a:gd name="T8" fmla="*/ 0 w 16"/>
                  <a:gd name="T9" fmla="*/ 41 h 41"/>
                  <a:gd name="T10" fmla="*/ 0 w 16"/>
                  <a:gd name="T11" fmla="*/ 25 h 41"/>
                  <a:gd name="T12" fmla="*/ 3 w 16"/>
                  <a:gd name="T13" fmla="*/ 16 h 41"/>
                  <a:gd name="T14" fmla="*/ 3 w 16"/>
                  <a:gd name="T15" fmla="*/ 16 h 41"/>
                  <a:gd name="T16" fmla="*/ 12 w 16"/>
                  <a:gd name="T17" fmla="*/ 4 h 41"/>
                  <a:gd name="T18" fmla="*/ 16 w 16"/>
                  <a:gd name="T19" fmla="*/ 0 h 41"/>
                  <a:gd name="T20" fmla="*/ 16 w 16"/>
                  <a:gd name="T21" fmla="*/ 4 h 41"/>
                  <a:gd name="T22" fmla="*/ 16 w 16"/>
                  <a:gd name="T23" fmla="*/ 4 h 41"/>
                  <a:gd name="T24" fmla="*/ 16 w 16"/>
                  <a:gd name="T25" fmla="*/ 4 h 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6"/>
                  <a:gd name="T40" fmla="*/ 0 h 41"/>
                  <a:gd name="T41" fmla="*/ 16 w 16"/>
                  <a:gd name="T42" fmla="*/ 41 h 4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6" h="41">
                    <a:moveTo>
                      <a:pt x="16" y="4"/>
                    </a:moveTo>
                    <a:lnTo>
                      <a:pt x="9" y="19"/>
                    </a:lnTo>
                    <a:lnTo>
                      <a:pt x="6" y="25"/>
                    </a:lnTo>
                    <a:lnTo>
                      <a:pt x="3" y="41"/>
                    </a:lnTo>
                    <a:lnTo>
                      <a:pt x="0" y="41"/>
                    </a:lnTo>
                    <a:lnTo>
                      <a:pt x="0" y="25"/>
                    </a:lnTo>
                    <a:lnTo>
                      <a:pt x="3" y="16"/>
                    </a:lnTo>
                    <a:lnTo>
                      <a:pt x="12" y="4"/>
                    </a:lnTo>
                    <a:lnTo>
                      <a:pt x="16" y="0"/>
                    </a:ln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5" name="Freeform 292"/>
              <p:cNvSpPr>
                <a:spLocks/>
              </p:cNvSpPr>
              <p:nvPr/>
            </p:nvSpPr>
            <p:spPr bwMode="auto">
              <a:xfrm>
                <a:off x="2789" y="1503"/>
                <a:ext cx="15" cy="18"/>
              </a:xfrm>
              <a:custGeom>
                <a:avLst/>
                <a:gdLst>
                  <a:gd name="T0" fmla="*/ 15 w 15"/>
                  <a:gd name="T1" fmla="*/ 3 h 18"/>
                  <a:gd name="T2" fmla="*/ 12 w 15"/>
                  <a:gd name="T3" fmla="*/ 9 h 18"/>
                  <a:gd name="T4" fmla="*/ 12 w 15"/>
                  <a:gd name="T5" fmla="*/ 12 h 18"/>
                  <a:gd name="T6" fmla="*/ 9 w 15"/>
                  <a:gd name="T7" fmla="*/ 15 h 18"/>
                  <a:gd name="T8" fmla="*/ 0 w 15"/>
                  <a:gd name="T9" fmla="*/ 18 h 18"/>
                  <a:gd name="T10" fmla="*/ 0 w 15"/>
                  <a:gd name="T11" fmla="*/ 9 h 18"/>
                  <a:gd name="T12" fmla="*/ 3 w 15"/>
                  <a:gd name="T13" fmla="*/ 6 h 18"/>
                  <a:gd name="T14" fmla="*/ 6 w 15"/>
                  <a:gd name="T15" fmla="*/ 3 h 18"/>
                  <a:gd name="T16" fmla="*/ 6 w 15"/>
                  <a:gd name="T17" fmla="*/ 0 h 18"/>
                  <a:gd name="T18" fmla="*/ 9 w 15"/>
                  <a:gd name="T19" fmla="*/ 0 h 18"/>
                  <a:gd name="T20" fmla="*/ 15 w 15"/>
                  <a:gd name="T21" fmla="*/ 3 h 18"/>
                  <a:gd name="T22" fmla="*/ 15 w 15"/>
                  <a:gd name="T23" fmla="*/ 3 h 18"/>
                  <a:gd name="T24" fmla="*/ 15 w 15"/>
                  <a:gd name="T25" fmla="*/ 3 h 1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5"/>
                  <a:gd name="T40" fmla="*/ 0 h 18"/>
                  <a:gd name="T41" fmla="*/ 15 w 15"/>
                  <a:gd name="T42" fmla="*/ 18 h 1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5" h="18">
                    <a:moveTo>
                      <a:pt x="15" y="3"/>
                    </a:moveTo>
                    <a:lnTo>
                      <a:pt x="12" y="9"/>
                    </a:lnTo>
                    <a:lnTo>
                      <a:pt x="12" y="12"/>
                    </a:lnTo>
                    <a:lnTo>
                      <a:pt x="9" y="15"/>
                    </a:lnTo>
                    <a:lnTo>
                      <a:pt x="0" y="18"/>
                    </a:lnTo>
                    <a:lnTo>
                      <a:pt x="0" y="9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6" name="Freeform 293"/>
              <p:cNvSpPr>
                <a:spLocks/>
              </p:cNvSpPr>
              <p:nvPr/>
            </p:nvSpPr>
            <p:spPr bwMode="auto">
              <a:xfrm>
                <a:off x="2764" y="1518"/>
                <a:ext cx="28" cy="16"/>
              </a:xfrm>
              <a:custGeom>
                <a:avLst/>
                <a:gdLst>
                  <a:gd name="T0" fmla="*/ 3 w 28"/>
                  <a:gd name="T1" fmla="*/ 10 h 16"/>
                  <a:gd name="T2" fmla="*/ 9 w 28"/>
                  <a:gd name="T3" fmla="*/ 13 h 16"/>
                  <a:gd name="T4" fmla="*/ 15 w 28"/>
                  <a:gd name="T5" fmla="*/ 6 h 16"/>
                  <a:gd name="T6" fmla="*/ 25 w 28"/>
                  <a:gd name="T7" fmla="*/ 0 h 16"/>
                  <a:gd name="T8" fmla="*/ 28 w 28"/>
                  <a:gd name="T9" fmla="*/ 0 h 16"/>
                  <a:gd name="T10" fmla="*/ 28 w 28"/>
                  <a:gd name="T11" fmla="*/ 3 h 16"/>
                  <a:gd name="T12" fmla="*/ 18 w 28"/>
                  <a:gd name="T13" fmla="*/ 13 h 16"/>
                  <a:gd name="T14" fmla="*/ 9 w 28"/>
                  <a:gd name="T15" fmla="*/ 16 h 16"/>
                  <a:gd name="T16" fmla="*/ 0 w 28"/>
                  <a:gd name="T17" fmla="*/ 13 h 16"/>
                  <a:gd name="T18" fmla="*/ 0 w 28"/>
                  <a:gd name="T19" fmla="*/ 10 h 16"/>
                  <a:gd name="T20" fmla="*/ 3 w 28"/>
                  <a:gd name="T21" fmla="*/ 10 h 16"/>
                  <a:gd name="T22" fmla="*/ 3 w 28"/>
                  <a:gd name="T23" fmla="*/ 10 h 16"/>
                  <a:gd name="T24" fmla="*/ 3 w 28"/>
                  <a:gd name="T25" fmla="*/ 10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"/>
                  <a:gd name="T40" fmla="*/ 0 h 16"/>
                  <a:gd name="T41" fmla="*/ 28 w 28"/>
                  <a:gd name="T42" fmla="*/ 16 h 1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" h="16">
                    <a:moveTo>
                      <a:pt x="3" y="10"/>
                    </a:moveTo>
                    <a:lnTo>
                      <a:pt x="9" y="13"/>
                    </a:lnTo>
                    <a:lnTo>
                      <a:pt x="15" y="6"/>
                    </a:lnTo>
                    <a:lnTo>
                      <a:pt x="25" y="0"/>
                    </a:lnTo>
                    <a:lnTo>
                      <a:pt x="28" y="0"/>
                    </a:lnTo>
                    <a:lnTo>
                      <a:pt x="28" y="3"/>
                    </a:lnTo>
                    <a:lnTo>
                      <a:pt x="18" y="13"/>
                    </a:lnTo>
                    <a:lnTo>
                      <a:pt x="9" y="16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7" name="Freeform 294"/>
              <p:cNvSpPr>
                <a:spLocks/>
              </p:cNvSpPr>
              <p:nvPr/>
            </p:nvSpPr>
            <p:spPr bwMode="auto">
              <a:xfrm>
                <a:off x="2823" y="1506"/>
                <a:ext cx="83" cy="59"/>
              </a:xfrm>
              <a:custGeom>
                <a:avLst/>
                <a:gdLst>
                  <a:gd name="T0" fmla="*/ 83 w 83"/>
                  <a:gd name="T1" fmla="*/ 3 h 59"/>
                  <a:gd name="T2" fmla="*/ 77 w 83"/>
                  <a:gd name="T3" fmla="*/ 9 h 59"/>
                  <a:gd name="T4" fmla="*/ 71 w 83"/>
                  <a:gd name="T5" fmla="*/ 12 h 59"/>
                  <a:gd name="T6" fmla="*/ 61 w 83"/>
                  <a:gd name="T7" fmla="*/ 18 h 59"/>
                  <a:gd name="T8" fmla="*/ 52 w 83"/>
                  <a:gd name="T9" fmla="*/ 25 h 59"/>
                  <a:gd name="T10" fmla="*/ 43 w 83"/>
                  <a:gd name="T11" fmla="*/ 34 h 59"/>
                  <a:gd name="T12" fmla="*/ 34 w 83"/>
                  <a:gd name="T13" fmla="*/ 40 h 59"/>
                  <a:gd name="T14" fmla="*/ 24 w 83"/>
                  <a:gd name="T15" fmla="*/ 46 h 59"/>
                  <a:gd name="T16" fmla="*/ 15 w 83"/>
                  <a:gd name="T17" fmla="*/ 52 h 59"/>
                  <a:gd name="T18" fmla="*/ 3 w 83"/>
                  <a:gd name="T19" fmla="*/ 59 h 59"/>
                  <a:gd name="T20" fmla="*/ 0 w 83"/>
                  <a:gd name="T21" fmla="*/ 59 h 59"/>
                  <a:gd name="T22" fmla="*/ 0 w 83"/>
                  <a:gd name="T23" fmla="*/ 52 h 59"/>
                  <a:gd name="T24" fmla="*/ 12 w 83"/>
                  <a:gd name="T25" fmla="*/ 46 h 59"/>
                  <a:gd name="T26" fmla="*/ 21 w 83"/>
                  <a:gd name="T27" fmla="*/ 40 h 59"/>
                  <a:gd name="T28" fmla="*/ 30 w 83"/>
                  <a:gd name="T29" fmla="*/ 34 h 59"/>
                  <a:gd name="T30" fmla="*/ 40 w 83"/>
                  <a:gd name="T31" fmla="*/ 28 h 59"/>
                  <a:gd name="T32" fmla="*/ 49 w 83"/>
                  <a:gd name="T33" fmla="*/ 22 h 59"/>
                  <a:gd name="T34" fmla="*/ 58 w 83"/>
                  <a:gd name="T35" fmla="*/ 15 h 59"/>
                  <a:gd name="T36" fmla="*/ 71 w 83"/>
                  <a:gd name="T37" fmla="*/ 6 h 59"/>
                  <a:gd name="T38" fmla="*/ 80 w 83"/>
                  <a:gd name="T39" fmla="*/ 0 h 59"/>
                  <a:gd name="T40" fmla="*/ 83 w 83"/>
                  <a:gd name="T41" fmla="*/ 0 h 59"/>
                  <a:gd name="T42" fmla="*/ 83 w 83"/>
                  <a:gd name="T43" fmla="*/ 3 h 59"/>
                  <a:gd name="T44" fmla="*/ 83 w 83"/>
                  <a:gd name="T45" fmla="*/ 3 h 59"/>
                  <a:gd name="T46" fmla="*/ 83 w 83"/>
                  <a:gd name="T47" fmla="*/ 3 h 5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3"/>
                  <a:gd name="T73" fmla="*/ 0 h 59"/>
                  <a:gd name="T74" fmla="*/ 83 w 83"/>
                  <a:gd name="T75" fmla="*/ 59 h 5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3" h="59">
                    <a:moveTo>
                      <a:pt x="83" y="3"/>
                    </a:moveTo>
                    <a:lnTo>
                      <a:pt x="77" y="9"/>
                    </a:lnTo>
                    <a:lnTo>
                      <a:pt x="71" y="12"/>
                    </a:lnTo>
                    <a:lnTo>
                      <a:pt x="61" y="18"/>
                    </a:lnTo>
                    <a:lnTo>
                      <a:pt x="52" y="25"/>
                    </a:lnTo>
                    <a:lnTo>
                      <a:pt x="43" y="34"/>
                    </a:lnTo>
                    <a:lnTo>
                      <a:pt x="34" y="40"/>
                    </a:lnTo>
                    <a:lnTo>
                      <a:pt x="24" y="46"/>
                    </a:lnTo>
                    <a:lnTo>
                      <a:pt x="15" y="52"/>
                    </a:lnTo>
                    <a:lnTo>
                      <a:pt x="3" y="59"/>
                    </a:lnTo>
                    <a:lnTo>
                      <a:pt x="0" y="59"/>
                    </a:lnTo>
                    <a:lnTo>
                      <a:pt x="0" y="52"/>
                    </a:lnTo>
                    <a:lnTo>
                      <a:pt x="12" y="46"/>
                    </a:lnTo>
                    <a:lnTo>
                      <a:pt x="21" y="40"/>
                    </a:lnTo>
                    <a:lnTo>
                      <a:pt x="30" y="34"/>
                    </a:lnTo>
                    <a:lnTo>
                      <a:pt x="40" y="28"/>
                    </a:lnTo>
                    <a:lnTo>
                      <a:pt x="49" y="22"/>
                    </a:lnTo>
                    <a:lnTo>
                      <a:pt x="58" y="15"/>
                    </a:lnTo>
                    <a:lnTo>
                      <a:pt x="71" y="6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8" name="Freeform 295"/>
              <p:cNvSpPr>
                <a:spLocks/>
              </p:cNvSpPr>
              <p:nvPr/>
            </p:nvSpPr>
            <p:spPr bwMode="auto">
              <a:xfrm>
                <a:off x="2813" y="1571"/>
                <a:ext cx="155" cy="62"/>
              </a:xfrm>
              <a:custGeom>
                <a:avLst/>
                <a:gdLst>
                  <a:gd name="T0" fmla="*/ 149 w 155"/>
                  <a:gd name="T1" fmla="*/ 62 h 62"/>
                  <a:gd name="T2" fmla="*/ 145 w 155"/>
                  <a:gd name="T3" fmla="*/ 49 h 62"/>
                  <a:gd name="T4" fmla="*/ 136 w 155"/>
                  <a:gd name="T5" fmla="*/ 46 h 62"/>
                  <a:gd name="T6" fmla="*/ 115 w 155"/>
                  <a:gd name="T7" fmla="*/ 43 h 62"/>
                  <a:gd name="T8" fmla="*/ 90 w 155"/>
                  <a:gd name="T9" fmla="*/ 37 h 62"/>
                  <a:gd name="T10" fmla="*/ 78 w 155"/>
                  <a:gd name="T11" fmla="*/ 31 h 62"/>
                  <a:gd name="T12" fmla="*/ 65 w 155"/>
                  <a:gd name="T13" fmla="*/ 25 h 62"/>
                  <a:gd name="T14" fmla="*/ 47 w 155"/>
                  <a:gd name="T15" fmla="*/ 21 h 62"/>
                  <a:gd name="T16" fmla="*/ 31 w 155"/>
                  <a:gd name="T17" fmla="*/ 15 h 62"/>
                  <a:gd name="T18" fmla="*/ 19 w 155"/>
                  <a:gd name="T19" fmla="*/ 9 h 62"/>
                  <a:gd name="T20" fmla="*/ 0 w 155"/>
                  <a:gd name="T21" fmla="*/ 3 h 62"/>
                  <a:gd name="T22" fmla="*/ 0 w 155"/>
                  <a:gd name="T23" fmla="*/ 0 h 62"/>
                  <a:gd name="T24" fmla="*/ 3 w 155"/>
                  <a:gd name="T25" fmla="*/ 0 h 62"/>
                  <a:gd name="T26" fmla="*/ 65 w 155"/>
                  <a:gd name="T27" fmla="*/ 15 h 62"/>
                  <a:gd name="T28" fmla="*/ 90 w 155"/>
                  <a:gd name="T29" fmla="*/ 25 h 62"/>
                  <a:gd name="T30" fmla="*/ 102 w 155"/>
                  <a:gd name="T31" fmla="*/ 28 h 62"/>
                  <a:gd name="T32" fmla="*/ 115 w 155"/>
                  <a:gd name="T33" fmla="*/ 28 h 62"/>
                  <a:gd name="T34" fmla="*/ 127 w 155"/>
                  <a:gd name="T35" fmla="*/ 31 h 62"/>
                  <a:gd name="T36" fmla="*/ 139 w 155"/>
                  <a:gd name="T37" fmla="*/ 37 h 62"/>
                  <a:gd name="T38" fmla="*/ 149 w 155"/>
                  <a:gd name="T39" fmla="*/ 46 h 62"/>
                  <a:gd name="T40" fmla="*/ 155 w 155"/>
                  <a:gd name="T41" fmla="*/ 62 h 62"/>
                  <a:gd name="T42" fmla="*/ 152 w 155"/>
                  <a:gd name="T43" fmla="*/ 62 h 62"/>
                  <a:gd name="T44" fmla="*/ 149 w 155"/>
                  <a:gd name="T45" fmla="*/ 62 h 62"/>
                  <a:gd name="T46" fmla="*/ 149 w 155"/>
                  <a:gd name="T47" fmla="*/ 62 h 62"/>
                  <a:gd name="T48" fmla="*/ 149 w 155"/>
                  <a:gd name="T49" fmla="*/ 62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55"/>
                  <a:gd name="T76" fmla="*/ 0 h 62"/>
                  <a:gd name="T77" fmla="*/ 155 w 155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55" h="62">
                    <a:moveTo>
                      <a:pt x="149" y="62"/>
                    </a:moveTo>
                    <a:lnTo>
                      <a:pt x="145" y="49"/>
                    </a:lnTo>
                    <a:lnTo>
                      <a:pt x="136" y="46"/>
                    </a:lnTo>
                    <a:lnTo>
                      <a:pt x="115" y="43"/>
                    </a:lnTo>
                    <a:lnTo>
                      <a:pt x="90" y="37"/>
                    </a:lnTo>
                    <a:lnTo>
                      <a:pt x="78" y="31"/>
                    </a:lnTo>
                    <a:lnTo>
                      <a:pt x="65" y="25"/>
                    </a:lnTo>
                    <a:lnTo>
                      <a:pt x="47" y="21"/>
                    </a:lnTo>
                    <a:lnTo>
                      <a:pt x="31" y="15"/>
                    </a:lnTo>
                    <a:lnTo>
                      <a:pt x="19" y="9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65" y="15"/>
                    </a:lnTo>
                    <a:lnTo>
                      <a:pt x="90" y="25"/>
                    </a:lnTo>
                    <a:lnTo>
                      <a:pt x="102" y="28"/>
                    </a:lnTo>
                    <a:lnTo>
                      <a:pt x="115" y="28"/>
                    </a:lnTo>
                    <a:lnTo>
                      <a:pt x="127" y="31"/>
                    </a:lnTo>
                    <a:lnTo>
                      <a:pt x="139" y="37"/>
                    </a:lnTo>
                    <a:lnTo>
                      <a:pt x="149" y="46"/>
                    </a:lnTo>
                    <a:lnTo>
                      <a:pt x="155" y="62"/>
                    </a:lnTo>
                    <a:lnTo>
                      <a:pt x="152" y="62"/>
                    </a:lnTo>
                    <a:lnTo>
                      <a:pt x="149" y="6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29" name="Freeform 296"/>
              <p:cNvSpPr>
                <a:spLocks/>
              </p:cNvSpPr>
              <p:nvPr/>
            </p:nvSpPr>
            <p:spPr bwMode="auto">
              <a:xfrm>
                <a:off x="2968" y="1568"/>
                <a:ext cx="92" cy="58"/>
              </a:xfrm>
              <a:custGeom>
                <a:avLst/>
                <a:gdLst>
                  <a:gd name="T0" fmla="*/ 92 w 92"/>
                  <a:gd name="T1" fmla="*/ 3 h 58"/>
                  <a:gd name="T2" fmla="*/ 71 w 92"/>
                  <a:gd name="T3" fmla="*/ 15 h 58"/>
                  <a:gd name="T4" fmla="*/ 62 w 92"/>
                  <a:gd name="T5" fmla="*/ 24 h 58"/>
                  <a:gd name="T6" fmla="*/ 55 w 92"/>
                  <a:gd name="T7" fmla="*/ 28 h 58"/>
                  <a:gd name="T8" fmla="*/ 49 w 92"/>
                  <a:gd name="T9" fmla="*/ 34 h 58"/>
                  <a:gd name="T10" fmla="*/ 43 w 92"/>
                  <a:gd name="T11" fmla="*/ 37 h 58"/>
                  <a:gd name="T12" fmla="*/ 34 w 92"/>
                  <a:gd name="T13" fmla="*/ 40 h 58"/>
                  <a:gd name="T14" fmla="*/ 28 w 92"/>
                  <a:gd name="T15" fmla="*/ 46 h 58"/>
                  <a:gd name="T16" fmla="*/ 18 w 92"/>
                  <a:gd name="T17" fmla="*/ 49 h 58"/>
                  <a:gd name="T18" fmla="*/ 3 w 92"/>
                  <a:gd name="T19" fmla="*/ 58 h 58"/>
                  <a:gd name="T20" fmla="*/ 0 w 92"/>
                  <a:gd name="T21" fmla="*/ 58 h 58"/>
                  <a:gd name="T22" fmla="*/ 0 w 92"/>
                  <a:gd name="T23" fmla="*/ 55 h 58"/>
                  <a:gd name="T24" fmla="*/ 9 w 92"/>
                  <a:gd name="T25" fmla="*/ 46 h 58"/>
                  <a:gd name="T26" fmla="*/ 12 w 92"/>
                  <a:gd name="T27" fmla="*/ 43 h 58"/>
                  <a:gd name="T28" fmla="*/ 15 w 92"/>
                  <a:gd name="T29" fmla="*/ 40 h 58"/>
                  <a:gd name="T30" fmla="*/ 31 w 92"/>
                  <a:gd name="T31" fmla="*/ 31 h 58"/>
                  <a:gd name="T32" fmla="*/ 46 w 92"/>
                  <a:gd name="T33" fmla="*/ 24 h 58"/>
                  <a:gd name="T34" fmla="*/ 52 w 92"/>
                  <a:gd name="T35" fmla="*/ 18 h 58"/>
                  <a:gd name="T36" fmla="*/ 58 w 92"/>
                  <a:gd name="T37" fmla="*/ 15 h 58"/>
                  <a:gd name="T38" fmla="*/ 68 w 92"/>
                  <a:gd name="T39" fmla="*/ 9 h 58"/>
                  <a:gd name="T40" fmla="*/ 80 w 92"/>
                  <a:gd name="T41" fmla="*/ 3 h 58"/>
                  <a:gd name="T42" fmla="*/ 92 w 92"/>
                  <a:gd name="T43" fmla="*/ 0 h 58"/>
                  <a:gd name="T44" fmla="*/ 92 w 92"/>
                  <a:gd name="T45" fmla="*/ 0 h 58"/>
                  <a:gd name="T46" fmla="*/ 92 w 92"/>
                  <a:gd name="T47" fmla="*/ 3 h 58"/>
                  <a:gd name="T48" fmla="*/ 92 w 92"/>
                  <a:gd name="T49" fmla="*/ 3 h 58"/>
                  <a:gd name="T50" fmla="*/ 92 w 92"/>
                  <a:gd name="T51" fmla="*/ 3 h 5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92"/>
                  <a:gd name="T79" fmla="*/ 0 h 58"/>
                  <a:gd name="T80" fmla="*/ 92 w 92"/>
                  <a:gd name="T81" fmla="*/ 58 h 5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92" h="58">
                    <a:moveTo>
                      <a:pt x="92" y="3"/>
                    </a:moveTo>
                    <a:lnTo>
                      <a:pt x="71" y="15"/>
                    </a:lnTo>
                    <a:lnTo>
                      <a:pt x="62" y="24"/>
                    </a:lnTo>
                    <a:lnTo>
                      <a:pt x="55" y="28"/>
                    </a:lnTo>
                    <a:lnTo>
                      <a:pt x="49" y="34"/>
                    </a:lnTo>
                    <a:lnTo>
                      <a:pt x="43" y="37"/>
                    </a:lnTo>
                    <a:lnTo>
                      <a:pt x="34" y="40"/>
                    </a:lnTo>
                    <a:lnTo>
                      <a:pt x="28" y="46"/>
                    </a:lnTo>
                    <a:lnTo>
                      <a:pt x="18" y="49"/>
                    </a:lnTo>
                    <a:lnTo>
                      <a:pt x="3" y="58"/>
                    </a:lnTo>
                    <a:lnTo>
                      <a:pt x="0" y="58"/>
                    </a:lnTo>
                    <a:lnTo>
                      <a:pt x="0" y="55"/>
                    </a:lnTo>
                    <a:lnTo>
                      <a:pt x="9" y="46"/>
                    </a:lnTo>
                    <a:lnTo>
                      <a:pt x="12" y="43"/>
                    </a:lnTo>
                    <a:lnTo>
                      <a:pt x="15" y="40"/>
                    </a:lnTo>
                    <a:lnTo>
                      <a:pt x="31" y="31"/>
                    </a:lnTo>
                    <a:lnTo>
                      <a:pt x="46" y="24"/>
                    </a:lnTo>
                    <a:lnTo>
                      <a:pt x="52" y="18"/>
                    </a:lnTo>
                    <a:lnTo>
                      <a:pt x="58" y="15"/>
                    </a:lnTo>
                    <a:lnTo>
                      <a:pt x="68" y="9"/>
                    </a:lnTo>
                    <a:lnTo>
                      <a:pt x="80" y="3"/>
                    </a:lnTo>
                    <a:lnTo>
                      <a:pt x="92" y="0"/>
                    </a:lnTo>
                    <a:lnTo>
                      <a:pt x="9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0" name="Freeform 297"/>
              <p:cNvSpPr>
                <a:spLocks/>
              </p:cNvSpPr>
              <p:nvPr/>
            </p:nvSpPr>
            <p:spPr bwMode="auto">
              <a:xfrm>
                <a:off x="2776" y="1558"/>
                <a:ext cx="148" cy="96"/>
              </a:xfrm>
              <a:custGeom>
                <a:avLst/>
                <a:gdLst>
                  <a:gd name="T0" fmla="*/ 31 w 148"/>
                  <a:gd name="T1" fmla="*/ 10 h 96"/>
                  <a:gd name="T2" fmla="*/ 25 w 148"/>
                  <a:gd name="T3" fmla="*/ 7 h 96"/>
                  <a:gd name="T4" fmla="*/ 22 w 148"/>
                  <a:gd name="T5" fmla="*/ 7 h 96"/>
                  <a:gd name="T6" fmla="*/ 13 w 148"/>
                  <a:gd name="T7" fmla="*/ 19 h 96"/>
                  <a:gd name="T8" fmla="*/ 9 w 148"/>
                  <a:gd name="T9" fmla="*/ 25 h 96"/>
                  <a:gd name="T10" fmla="*/ 13 w 148"/>
                  <a:gd name="T11" fmla="*/ 34 h 96"/>
                  <a:gd name="T12" fmla="*/ 22 w 148"/>
                  <a:gd name="T13" fmla="*/ 44 h 96"/>
                  <a:gd name="T14" fmla="*/ 34 w 148"/>
                  <a:gd name="T15" fmla="*/ 50 h 96"/>
                  <a:gd name="T16" fmla="*/ 56 w 148"/>
                  <a:gd name="T17" fmla="*/ 53 h 96"/>
                  <a:gd name="T18" fmla="*/ 77 w 148"/>
                  <a:gd name="T19" fmla="*/ 59 h 96"/>
                  <a:gd name="T20" fmla="*/ 96 w 148"/>
                  <a:gd name="T21" fmla="*/ 68 h 96"/>
                  <a:gd name="T22" fmla="*/ 105 w 148"/>
                  <a:gd name="T23" fmla="*/ 72 h 96"/>
                  <a:gd name="T24" fmla="*/ 111 w 148"/>
                  <a:gd name="T25" fmla="*/ 78 h 96"/>
                  <a:gd name="T26" fmla="*/ 121 w 148"/>
                  <a:gd name="T27" fmla="*/ 81 h 96"/>
                  <a:gd name="T28" fmla="*/ 127 w 148"/>
                  <a:gd name="T29" fmla="*/ 84 h 96"/>
                  <a:gd name="T30" fmla="*/ 148 w 148"/>
                  <a:gd name="T31" fmla="*/ 90 h 96"/>
                  <a:gd name="T32" fmla="*/ 148 w 148"/>
                  <a:gd name="T33" fmla="*/ 93 h 96"/>
                  <a:gd name="T34" fmla="*/ 145 w 148"/>
                  <a:gd name="T35" fmla="*/ 96 h 96"/>
                  <a:gd name="T36" fmla="*/ 108 w 148"/>
                  <a:gd name="T37" fmla="*/ 87 h 96"/>
                  <a:gd name="T38" fmla="*/ 93 w 148"/>
                  <a:gd name="T39" fmla="*/ 81 h 96"/>
                  <a:gd name="T40" fmla="*/ 74 w 148"/>
                  <a:gd name="T41" fmla="*/ 75 h 96"/>
                  <a:gd name="T42" fmla="*/ 62 w 148"/>
                  <a:gd name="T43" fmla="*/ 68 h 96"/>
                  <a:gd name="T44" fmla="*/ 53 w 148"/>
                  <a:gd name="T45" fmla="*/ 65 h 96"/>
                  <a:gd name="T46" fmla="*/ 31 w 148"/>
                  <a:gd name="T47" fmla="*/ 59 h 96"/>
                  <a:gd name="T48" fmla="*/ 3 w 148"/>
                  <a:gd name="T49" fmla="*/ 41 h 96"/>
                  <a:gd name="T50" fmla="*/ 0 w 148"/>
                  <a:gd name="T51" fmla="*/ 28 h 96"/>
                  <a:gd name="T52" fmla="*/ 3 w 148"/>
                  <a:gd name="T53" fmla="*/ 16 h 96"/>
                  <a:gd name="T54" fmla="*/ 6 w 148"/>
                  <a:gd name="T55" fmla="*/ 13 h 96"/>
                  <a:gd name="T56" fmla="*/ 9 w 148"/>
                  <a:gd name="T57" fmla="*/ 7 h 96"/>
                  <a:gd name="T58" fmla="*/ 16 w 148"/>
                  <a:gd name="T59" fmla="*/ 4 h 96"/>
                  <a:gd name="T60" fmla="*/ 19 w 148"/>
                  <a:gd name="T61" fmla="*/ 0 h 96"/>
                  <a:gd name="T62" fmla="*/ 25 w 148"/>
                  <a:gd name="T63" fmla="*/ 0 h 96"/>
                  <a:gd name="T64" fmla="*/ 31 w 148"/>
                  <a:gd name="T65" fmla="*/ 4 h 96"/>
                  <a:gd name="T66" fmla="*/ 34 w 148"/>
                  <a:gd name="T67" fmla="*/ 7 h 96"/>
                  <a:gd name="T68" fmla="*/ 31 w 148"/>
                  <a:gd name="T69" fmla="*/ 10 h 96"/>
                  <a:gd name="T70" fmla="*/ 31 w 148"/>
                  <a:gd name="T71" fmla="*/ 10 h 96"/>
                  <a:gd name="T72" fmla="*/ 31 w 148"/>
                  <a:gd name="T73" fmla="*/ 10 h 9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48"/>
                  <a:gd name="T112" fmla="*/ 0 h 96"/>
                  <a:gd name="T113" fmla="*/ 148 w 148"/>
                  <a:gd name="T114" fmla="*/ 96 h 9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48" h="96">
                    <a:moveTo>
                      <a:pt x="31" y="10"/>
                    </a:moveTo>
                    <a:lnTo>
                      <a:pt x="25" y="7"/>
                    </a:lnTo>
                    <a:lnTo>
                      <a:pt x="22" y="7"/>
                    </a:lnTo>
                    <a:lnTo>
                      <a:pt x="13" y="19"/>
                    </a:lnTo>
                    <a:lnTo>
                      <a:pt x="9" y="25"/>
                    </a:lnTo>
                    <a:lnTo>
                      <a:pt x="13" y="34"/>
                    </a:lnTo>
                    <a:lnTo>
                      <a:pt x="22" y="44"/>
                    </a:lnTo>
                    <a:lnTo>
                      <a:pt x="34" y="50"/>
                    </a:lnTo>
                    <a:lnTo>
                      <a:pt x="56" y="53"/>
                    </a:lnTo>
                    <a:lnTo>
                      <a:pt x="77" y="59"/>
                    </a:lnTo>
                    <a:lnTo>
                      <a:pt x="96" y="68"/>
                    </a:lnTo>
                    <a:lnTo>
                      <a:pt x="105" y="72"/>
                    </a:lnTo>
                    <a:lnTo>
                      <a:pt x="111" y="78"/>
                    </a:lnTo>
                    <a:lnTo>
                      <a:pt x="121" y="81"/>
                    </a:lnTo>
                    <a:lnTo>
                      <a:pt x="127" y="84"/>
                    </a:lnTo>
                    <a:lnTo>
                      <a:pt x="148" y="90"/>
                    </a:lnTo>
                    <a:lnTo>
                      <a:pt x="148" y="93"/>
                    </a:lnTo>
                    <a:lnTo>
                      <a:pt x="145" y="96"/>
                    </a:lnTo>
                    <a:lnTo>
                      <a:pt x="108" y="87"/>
                    </a:lnTo>
                    <a:lnTo>
                      <a:pt x="93" y="81"/>
                    </a:lnTo>
                    <a:lnTo>
                      <a:pt x="74" y="75"/>
                    </a:lnTo>
                    <a:lnTo>
                      <a:pt x="62" y="68"/>
                    </a:lnTo>
                    <a:lnTo>
                      <a:pt x="53" y="65"/>
                    </a:lnTo>
                    <a:lnTo>
                      <a:pt x="31" y="59"/>
                    </a:lnTo>
                    <a:lnTo>
                      <a:pt x="3" y="41"/>
                    </a:lnTo>
                    <a:lnTo>
                      <a:pt x="0" y="28"/>
                    </a:lnTo>
                    <a:lnTo>
                      <a:pt x="3" y="16"/>
                    </a:lnTo>
                    <a:lnTo>
                      <a:pt x="6" y="13"/>
                    </a:lnTo>
                    <a:lnTo>
                      <a:pt x="9" y="7"/>
                    </a:lnTo>
                    <a:lnTo>
                      <a:pt x="16" y="4"/>
                    </a:lnTo>
                    <a:lnTo>
                      <a:pt x="19" y="0"/>
                    </a:lnTo>
                    <a:lnTo>
                      <a:pt x="25" y="0"/>
                    </a:lnTo>
                    <a:lnTo>
                      <a:pt x="31" y="4"/>
                    </a:lnTo>
                    <a:lnTo>
                      <a:pt x="34" y="7"/>
                    </a:lnTo>
                    <a:lnTo>
                      <a:pt x="31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1" name="Freeform 298"/>
              <p:cNvSpPr>
                <a:spLocks/>
              </p:cNvSpPr>
              <p:nvPr/>
            </p:nvSpPr>
            <p:spPr bwMode="auto">
              <a:xfrm>
                <a:off x="2943" y="1589"/>
                <a:ext cx="105" cy="74"/>
              </a:xfrm>
              <a:custGeom>
                <a:avLst/>
                <a:gdLst>
                  <a:gd name="T0" fmla="*/ 3 w 105"/>
                  <a:gd name="T1" fmla="*/ 65 h 74"/>
                  <a:gd name="T2" fmla="*/ 22 w 105"/>
                  <a:gd name="T3" fmla="*/ 65 h 74"/>
                  <a:gd name="T4" fmla="*/ 31 w 105"/>
                  <a:gd name="T5" fmla="*/ 59 h 74"/>
                  <a:gd name="T6" fmla="*/ 37 w 105"/>
                  <a:gd name="T7" fmla="*/ 50 h 74"/>
                  <a:gd name="T8" fmla="*/ 43 w 105"/>
                  <a:gd name="T9" fmla="*/ 41 h 74"/>
                  <a:gd name="T10" fmla="*/ 49 w 105"/>
                  <a:gd name="T11" fmla="*/ 34 h 74"/>
                  <a:gd name="T12" fmla="*/ 56 w 105"/>
                  <a:gd name="T13" fmla="*/ 31 h 74"/>
                  <a:gd name="T14" fmla="*/ 68 w 105"/>
                  <a:gd name="T15" fmla="*/ 25 h 74"/>
                  <a:gd name="T16" fmla="*/ 71 w 105"/>
                  <a:gd name="T17" fmla="*/ 22 h 74"/>
                  <a:gd name="T18" fmla="*/ 77 w 105"/>
                  <a:gd name="T19" fmla="*/ 16 h 74"/>
                  <a:gd name="T20" fmla="*/ 83 w 105"/>
                  <a:gd name="T21" fmla="*/ 10 h 74"/>
                  <a:gd name="T22" fmla="*/ 93 w 105"/>
                  <a:gd name="T23" fmla="*/ 3 h 74"/>
                  <a:gd name="T24" fmla="*/ 105 w 105"/>
                  <a:gd name="T25" fmla="*/ 0 h 74"/>
                  <a:gd name="T26" fmla="*/ 105 w 105"/>
                  <a:gd name="T27" fmla="*/ 0 h 74"/>
                  <a:gd name="T28" fmla="*/ 105 w 105"/>
                  <a:gd name="T29" fmla="*/ 3 h 74"/>
                  <a:gd name="T30" fmla="*/ 87 w 105"/>
                  <a:gd name="T31" fmla="*/ 16 h 74"/>
                  <a:gd name="T32" fmla="*/ 77 w 105"/>
                  <a:gd name="T33" fmla="*/ 22 h 74"/>
                  <a:gd name="T34" fmla="*/ 71 w 105"/>
                  <a:gd name="T35" fmla="*/ 28 h 74"/>
                  <a:gd name="T36" fmla="*/ 56 w 105"/>
                  <a:gd name="T37" fmla="*/ 50 h 74"/>
                  <a:gd name="T38" fmla="*/ 46 w 105"/>
                  <a:gd name="T39" fmla="*/ 59 h 74"/>
                  <a:gd name="T40" fmla="*/ 43 w 105"/>
                  <a:gd name="T41" fmla="*/ 65 h 74"/>
                  <a:gd name="T42" fmla="*/ 37 w 105"/>
                  <a:gd name="T43" fmla="*/ 68 h 74"/>
                  <a:gd name="T44" fmla="*/ 25 w 105"/>
                  <a:gd name="T45" fmla="*/ 74 h 74"/>
                  <a:gd name="T46" fmla="*/ 3 w 105"/>
                  <a:gd name="T47" fmla="*/ 71 h 74"/>
                  <a:gd name="T48" fmla="*/ 0 w 105"/>
                  <a:gd name="T49" fmla="*/ 68 h 74"/>
                  <a:gd name="T50" fmla="*/ 3 w 105"/>
                  <a:gd name="T51" fmla="*/ 65 h 74"/>
                  <a:gd name="T52" fmla="*/ 3 w 105"/>
                  <a:gd name="T53" fmla="*/ 65 h 74"/>
                  <a:gd name="T54" fmla="*/ 3 w 105"/>
                  <a:gd name="T55" fmla="*/ 65 h 7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05"/>
                  <a:gd name="T85" fmla="*/ 0 h 74"/>
                  <a:gd name="T86" fmla="*/ 105 w 105"/>
                  <a:gd name="T87" fmla="*/ 74 h 74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05" h="74">
                    <a:moveTo>
                      <a:pt x="3" y="65"/>
                    </a:moveTo>
                    <a:lnTo>
                      <a:pt x="22" y="65"/>
                    </a:lnTo>
                    <a:lnTo>
                      <a:pt x="31" y="59"/>
                    </a:lnTo>
                    <a:lnTo>
                      <a:pt x="37" y="50"/>
                    </a:lnTo>
                    <a:lnTo>
                      <a:pt x="43" y="41"/>
                    </a:lnTo>
                    <a:lnTo>
                      <a:pt x="49" y="34"/>
                    </a:lnTo>
                    <a:lnTo>
                      <a:pt x="56" y="31"/>
                    </a:lnTo>
                    <a:lnTo>
                      <a:pt x="68" y="25"/>
                    </a:lnTo>
                    <a:lnTo>
                      <a:pt x="71" y="22"/>
                    </a:lnTo>
                    <a:lnTo>
                      <a:pt x="77" y="16"/>
                    </a:lnTo>
                    <a:lnTo>
                      <a:pt x="83" y="10"/>
                    </a:lnTo>
                    <a:lnTo>
                      <a:pt x="93" y="3"/>
                    </a:lnTo>
                    <a:lnTo>
                      <a:pt x="105" y="0"/>
                    </a:lnTo>
                    <a:lnTo>
                      <a:pt x="105" y="3"/>
                    </a:lnTo>
                    <a:lnTo>
                      <a:pt x="87" y="16"/>
                    </a:lnTo>
                    <a:lnTo>
                      <a:pt x="77" y="22"/>
                    </a:lnTo>
                    <a:lnTo>
                      <a:pt x="71" y="28"/>
                    </a:lnTo>
                    <a:lnTo>
                      <a:pt x="56" y="50"/>
                    </a:lnTo>
                    <a:lnTo>
                      <a:pt x="46" y="59"/>
                    </a:lnTo>
                    <a:lnTo>
                      <a:pt x="43" y="65"/>
                    </a:lnTo>
                    <a:lnTo>
                      <a:pt x="37" y="68"/>
                    </a:lnTo>
                    <a:lnTo>
                      <a:pt x="25" y="74"/>
                    </a:lnTo>
                    <a:lnTo>
                      <a:pt x="3" y="71"/>
                    </a:lnTo>
                    <a:lnTo>
                      <a:pt x="0" y="68"/>
                    </a:lnTo>
                    <a:lnTo>
                      <a:pt x="3" y="6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2" name="Freeform 299"/>
              <p:cNvSpPr>
                <a:spLocks/>
              </p:cNvSpPr>
              <p:nvPr/>
            </p:nvSpPr>
            <p:spPr bwMode="auto">
              <a:xfrm>
                <a:off x="2928" y="1623"/>
                <a:ext cx="37" cy="37"/>
              </a:xfrm>
              <a:custGeom>
                <a:avLst/>
                <a:gdLst>
                  <a:gd name="T0" fmla="*/ 34 w 37"/>
                  <a:gd name="T1" fmla="*/ 10 h 37"/>
                  <a:gd name="T2" fmla="*/ 21 w 37"/>
                  <a:gd name="T3" fmla="*/ 10 h 37"/>
                  <a:gd name="T4" fmla="*/ 12 w 37"/>
                  <a:gd name="T5" fmla="*/ 22 h 37"/>
                  <a:gd name="T6" fmla="*/ 12 w 37"/>
                  <a:gd name="T7" fmla="*/ 25 h 37"/>
                  <a:gd name="T8" fmla="*/ 12 w 37"/>
                  <a:gd name="T9" fmla="*/ 28 h 37"/>
                  <a:gd name="T10" fmla="*/ 15 w 37"/>
                  <a:gd name="T11" fmla="*/ 34 h 37"/>
                  <a:gd name="T12" fmla="*/ 15 w 37"/>
                  <a:gd name="T13" fmla="*/ 37 h 37"/>
                  <a:gd name="T14" fmla="*/ 12 w 37"/>
                  <a:gd name="T15" fmla="*/ 37 h 37"/>
                  <a:gd name="T16" fmla="*/ 6 w 37"/>
                  <a:gd name="T17" fmla="*/ 31 h 37"/>
                  <a:gd name="T18" fmla="*/ 3 w 37"/>
                  <a:gd name="T19" fmla="*/ 28 h 37"/>
                  <a:gd name="T20" fmla="*/ 0 w 37"/>
                  <a:gd name="T21" fmla="*/ 13 h 37"/>
                  <a:gd name="T22" fmla="*/ 0 w 37"/>
                  <a:gd name="T23" fmla="*/ 13 h 37"/>
                  <a:gd name="T24" fmla="*/ 6 w 37"/>
                  <a:gd name="T25" fmla="*/ 3 h 37"/>
                  <a:gd name="T26" fmla="*/ 15 w 37"/>
                  <a:gd name="T27" fmla="*/ 0 h 37"/>
                  <a:gd name="T28" fmla="*/ 37 w 37"/>
                  <a:gd name="T29" fmla="*/ 7 h 37"/>
                  <a:gd name="T30" fmla="*/ 37 w 37"/>
                  <a:gd name="T31" fmla="*/ 10 h 37"/>
                  <a:gd name="T32" fmla="*/ 34 w 37"/>
                  <a:gd name="T33" fmla="*/ 10 h 37"/>
                  <a:gd name="T34" fmla="*/ 34 w 37"/>
                  <a:gd name="T35" fmla="*/ 10 h 37"/>
                  <a:gd name="T36" fmla="*/ 34 w 37"/>
                  <a:gd name="T37" fmla="*/ 10 h 3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7"/>
                  <a:gd name="T58" fmla="*/ 0 h 37"/>
                  <a:gd name="T59" fmla="*/ 37 w 37"/>
                  <a:gd name="T60" fmla="*/ 37 h 3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7" h="37">
                    <a:moveTo>
                      <a:pt x="34" y="10"/>
                    </a:moveTo>
                    <a:lnTo>
                      <a:pt x="21" y="10"/>
                    </a:lnTo>
                    <a:lnTo>
                      <a:pt x="12" y="22"/>
                    </a:lnTo>
                    <a:lnTo>
                      <a:pt x="12" y="25"/>
                    </a:lnTo>
                    <a:lnTo>
                      <a:pt x="12" y="28"/>
                    </a:lnTo>
                    <a:lnTo>
                      <a:pt x="15" y="34"/>
                    </a:lnTo>
                    <a:lnTo>
                      <a:pt x="15" y="37"/>
                    </a:lnTo>
                    <a:lnTo>
                      <a:pt x="12" y="37"/>
                    </a:lnTo>
                    <a:lnTo>
                      <a:pt x="6" y="31"/>
                    </a:lnTo>
                    <a:lnTo>
                      <a:pt x="3" y="28"/>
                    </a:lnTo>
                    <a:lnTo>
                      <a:pt x="0" y="13"/>
                    </a:lnTo>
                    <a:lnTo>
                      <a:pt x="6" y="3"/>
                    </a:lnTo>
                    <a:lnTo>
                      <a:pt x="15" y="0"/>
                    </a:lnTo>
                    <a:lnTo>
                      <a:pt x="37" y="7"/>
                    </a:lnTo>
                    <a:lnTo>
                      <a:pt x="37" y="10"/>
                    </a:lnTo>
                    <a:lnTo>
                      <a:pt x="34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3" name="Freeform 300"/>
              <p:cNvSpPr>
                <a:spLocks/>
              </p:cNvSpPr>
              <p:nvPr/>
            </p:nvSpPr>
            <p:spPr bwMode="auto">
              <a:xfrm>
                <a:off x="2084" y="1524"/>
                <a:ext cx="182" cy="81"/>
              </a:xfrm>
              <a:custGeom>
                <a:avLst/>
                <a:gdLst>
                  <a:gd name="T0" fmla="*/ 0 w 182"/>
                  <a:gd name="T1" fmla="*/ 0 h 81"/>
                  <a:gd name="T2" fmla="*/ 16 w 182"/>
                  <a:gd name="T3" fmla="*/ 7 h 81"/>
                  <a:gd name="T4" fmla="*/ 31 w 182"/>
                  <a:gd name="T5" fmla="*/ 13 h 81"/>
                  <a:gd name="T6" fmla="*/ 43 w 182"/>
                  <a:gd name="T7" fmla="*/ 19 h 81"/>
                  <a:gd name="T8" fmla="*/ 59 w 182"/>
                  <a:gd name="T9" fmla="*/ 25 h 81"/>
                  <a:gd name="T10" fmla="*/ 81 w 182"/>
                  <a:gd name="T11" fmla="*/ 31 h 81"/>
                  <a:gd name="T12" fmla="*/ 99 w 182"/>
                  <a:gd name="T13" fmla="*/ 38 h 81"/>
                  <a:gd name="T14" fmla="*/ 118 w 182"/>
                  <a:gd name="T15" fmla="*/ 44 h 81"/>
                  <a:gd name="T16" fmla="*/ 139 w 182"/>
                  <a:gd name="T17" fmla="*/ 53 h 81"/>
                  <a:gd name="T18" fmla="*/ 167 w 182"/>
                  <a:gd name="T19" fmla="*/ 68 h 81"/>
                  <a:gd name="T20" fmla="*/ 173 w 182"/>
                  <a:gd name="T21" fmla="*/ 75 h 81"/>
                  <a:gd name="T22" fmla="*/ 179 w 182"/>
                  <a:gd name="T23" fmla="*/ 78 h 81"/>
                  <a:gd name="T24" fmla="*/ 182 w 182"/>
                  <a:gd name="T25" fmla="*/ 78 h 81"/>
                  <a:gd name="T26" fmla="*/ 179 w 182"/>
                  <a:gd name="T27" fmla="*/ 81 h 81"/>
                  <a:gd name="T28" fmla="*/ 161 w 182"/>
                  <a:gd name="T29" fmla="*/ 78 h 81"/>
                  <a:gd name="T30" fmla="*/ 155 w 182"/>
                  <a:gd name="T31" fmla="*/ 75 h 81"/>
                  <a:gd name="T32" fmla="*/ 148 w 182"/>
                  <a:gd name="T33" fmla="*/ 72 h 81"/>
                  <a:gd name="T34" fmla="*/ 133 w 182"/>
                  <a:gd name="T35" fmla="*/ 65 h 81"/>
                  <a:gd name="T36" fmla="*/ 121 w 182"/>
                  <a:gd name="T37" fmla="*/ 59 h 81"/>
                  <a:gd name="T38" fmla="*/ 111 w 182"/>
                  <a:gd name="T39" fmla="*/ 53 h 81"/>
                  <a:gd name="T40" fmla="*/ 102 w 182"/>
                  <a:gd name="T41" fmla="*/ 50 h 81"/>
                  <a:gd name="T42" fmla="*/ 96 w 182"/>
                  <a:gd name="T43" fmla="*/ 47 h 81"/>
                  <a:gd name="T44" fmla="*/ 77 w 182"/>
                  <a:gd name="T45" fmla="*/ 38 h 81"/>
                  <a:gd name="T46" fmla="*/ 68 w 182"/>
                  <a:gd name="T47" fmla="*/ 34 h 81"/>
                  <a:gd name="T48" fmla="*/ 56 w 182"/>
                  <a:gd name="T49" fmla="*/ 31 h 81"/>
                  <a:gd name="T50" fmla="*/ 40 w 182"/>
                  <a:gd name="T51" fmla="*/ 25 h 81"/>
                  <a:gd name="T52" fmla="*/ 28 w 182"/>
                  <a:gd name="T53" fmla="*/ 16 h 81"/>
                  <a:gd name="T54" fmla="*/ 16 w 182"/>
                  <a:gd name="T55" fmla="*/ 10 h 81"/>
                  <a:gd name="T56" fmla="*/ 0 w 182"/>
                  <a:gd name="T57" fmla="*/ 4 h 81"/>
                  <a:gd name="T58" fmla="*/ 0 w 182"/>
                  <a:gd name="T59" fmla="*/ 0 h 81"/>
                  <a:gd name="T60" fmla="*/ 0 w 182"/>
                  <a:gd name="T61" fmla="*/ 0 h 81"/>
                  <a:gd name="T62" fmla="*/ 0 w 182"/>
                  <a:gd name="T63" fmla="*/ 0 h 81"/>
                  <a:gd name="T64" fmla="*/ 0 w 182"/>
                  <a:gd name="T65" fmla="*/ 0 h 8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2"/>
                  <a:gd name="T100" fmla="*/ 0 h 81"/>
                  <a:gd name="T101" fmla="*/ 182 w 182"/>
                  <a:gd name="T102" fmla="*/ 81 h 8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2" h="81">
                    <a:moveTo>
                      <a:pt x="0" y="0"/>
                    </a:moveTo>
                    <a:lnTo>
                      <a:pt x="16" y="7"/>
                    </a:lnTo>
                    <a:lnTo>
                      <a:pt x="31" y="13"/>
                    </a:lnTo>
                    <a:lnTo>
                      <a:pt x="43" y="19"/>
                    </a:lnTo>
                    <a:lnTo>
                      <a:pt x="59" y="25"/>
                    </a:lnTo>
                    <a:lnTo>
                      <a:pt x="81" y="31"/>
                    </a:lnTo>
                    <a:lnTo>
                      <a:pt x="99" y="38"/>
                    </a:lnTo>
                    <a:lnTo>
                      <a:pt x="118" y="44"/>
                    </a:lnTo>
                    <a:lnTo>
                      <a:pt x="139" y="53"/>
                    </a:lnTo>
                    <a:lnTo>
                      <a:pt x="167" y="68"/>
                    </a:lnTo>
                    <a:lnTo>
                      <a:pt x="173" y="75"/>
                    </a:lnTo>
                    <a:lnTo>
                      <a:pt x="179" y="78"/>
                    </a:lnTo>
                    <a:lnTo>
                      <a:pt x="182" y="78"/>
                    </a:lnTo>
                    <a:lnTo>
                      <a:pt x="179" y="81"/>
                    </a:lnTo>
                    <a:lnTo>
                      <a:pt x="161" y="78"/>
                    </a:lnTo>
                    <a:lnTo>
                      <a:pt x="155" y="75"/>
                    </a:lnTo>
                    <a:lnTo>
                      <a:pt x="148" y="72"/>
                    </a:lnTo>
                    <a:lnTo>
                      <a:pt x="133" y="65"/>
                    </a:lnTo>
                    <a:lnTo>
                      <a:pt x="121" y="59"/>
                    </a:lnTo>
                    <a:lnTo>
                      <a:pt x="111" y="53"/>
                    </a:lnTo>
                    <a:lnTo>
                      <a:pt x="102" y="50"/>
                    </a:lnTo>
                    <a:lnTo>
                      <a:pt x="96" y="47"/>
                    </a:lnTo>
                    <a:lnTo>
                      <a:pt x="77" y="38"/>
                    </a:lnTo>
                    <a:lnTo>
                      <a:pt x="68" y="34"/>
                    </a:lnTo>
                    <a:lnTo>
                      <a:pt x="56" y="31"/>
                    </a:lnTo>
                    <a:lnTo>
                      <a:pt x="40" y="25"/>
                    </a:lnTo>
                    <a:lnTo>
                      <a:pt x="28" y="16"/>
                    </a:lnTo>
                    <a:lnTo>
                      <a:pt x="16" y="10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4" name="Freeform 301"/>
              <p:cNvSpPr>
                <a:spLocks/>
              </p:cNvSpPr>
              <p:nvPr/>
            </p:nvSpPr>
            <p:spPr bwMode="auto">
              <a:xfrm>
                <a:off x="2285" y="1540"/>
                <a:ext cx="120" cy="49"/>
              </a:xfrm>
              <a:custGeom>
                <a:avLst/>
                <a:gdLst>
                  <a:gd name="T0" fmla="*/ 120 w 120"/>
                  <a:gd name="T1" fmla="*/ 3 h 49"/>
                  <a:gd name="T2" fmla="*/ 111 w 120"/>
                  <a:gd name="T3" fmla="*/ 6 h 49"/>
                  <a:gd name="T4" fmla="*/ 102 w 120"/>
                  <a:gd name="T5" fmla="*/ 12 h 49"/>
                  <a:gd name="T6" fmla="*/ 93 w 120"/>
                  <a:gd name="T7" fmla="*/ 15 h 49"/>
                  <a:gd name="T8" fmla="*/ 83 w 120"/>
                  <a:gd name="T9" fmla="*/ 22 h 49"/>
                  <a:gd name="T10" fmla="*/ 74 w 120"/>
                  <a:gd name="T11" fmla="*/ 25 h 49"/>
                  <a:gd name="T12" fmla="*/ 65 w 120"/>
                  <a:gd name="T13" fmla="*/ 28 h 49"/>
                  <a:gd name="T14" fmla="*/ 56 w 120"/>
                  <a:gd name="T15" fmla="*/ 34 h 49"/>
                  <a:gd name="T16" fmla="*/ 46 w 120"/>
                  <a:gd name="T17" fmla="*/ 37 h 49"/>
                  <a:gd name="T18" fmla="*/ 28 w 120"/>
                  <a:gd name="T19" fmla="*/ 46 h 49"/>
                  <a:gd name="T20" fmla="*/ 0 w 120"/>
                  <a:gd name="T21" fmla="*/ 49 h 49"/>
                  <a:gd name="T22" fmla="*/ 0 w 120"/>
                  <a:gd name="T23" fmla="*/ 46 h 49"/>
                  <a:gd name="T24" fmla="*/ 12 w 120"/>
                  <a:gd name="T25" fmla="*/ 40 h 49"/>
                  <a:gd name="T26" fmla="*/ 15 w 120"/>
                  <a:gd name="T27" fmla="*/ 37 h 49"/>
                  <a:gd name="T28" fmla="*/ 22 w 120"/>
                  <a:gd name="T29" fmla="*/ 34 h 49"/>
                  <a:gd name="T30" fmla="*/ 40 w 120"/>
                  <a:gd name="T31" fmla="*/ 28 h 49"/>
                  <a:gd name="T32" fmla="*/ 62 w 120"/>
                  <a:gd name="T33" fmla="*/ 18 h 49"/>
                  <a:gd name="T34" fmla="*/ 80 w 120"/>
                  <a:gd name="T35" fmla="*/ 12 h 49"/>
                  <a:gd name="T36" fmla="*/ 99 w 120"/>
                  <a:gd name="T37" fmla="*/ 6 h 49"/>
                  <a:gd name="T38" fmla="*/ 120 w 120"/>
                  <a:gd name="T39" fmla="*/ 0 h 49"/>
                  <a:gd name="T40" fmla="*/ 120 w 120"/>
                  <a:gd name="T41" fmla="*/ 3 h 49"/>
                  <a:gd name="T42" fmla="*/ 120 w 120"/>
                  <a:gd name="T43" fmla="*/ 3 h 49"/>
                  <a:gd name="T44" fmla="*/ 120 w 120"/>
                  <a:gd name="T45" fmla="*/ 3 h 4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20"/>
                  <a:gd name="T70" fmla="*/ 0 h 49"/>
                  <a:gd name="T71" fmla="*/ 120 w 120"/>
                  <a:gd name="T72" fmla="*/ 49 h 4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20" h="49">
                    <a:moveTo>
                      <a:pt x="120" y="3"/>
                    </a:moveTo>
                    <a:lnTo>
                      <a:pt x="111" y="6"/>
                    </a:lnTo>
                    <a:lnTo>
                      <a:pt x="102" y="12"/>
                    </a:lnTo>
                    <a:lnTo>
                      <a:pt x="93" y="15"/>
                    </a:lnTo>
                    <a:lnTo>
                      <a:pt x="83" y="22"/>
                    </a:lnTo>
                    <a:lnTo>
                      <a:pt x="74" y="25"/>
                    </a:lnTo>
                    <a:lnTo>
                      <a:pt x="65" y="28"/>
                    </a:lnTo>
                    <a:lnTo>
                      <a:pt x="56" y="34"/>
                    </a:lnTo>
                    <a:lnTo>
                      <a:pt x="46" y="37"/>
                    </a:lnTo>
                    <a:lnTo>
                      <a:pt x="28" y="46"/>
                    </a:lnTo>
                    <a:lnTo>
                      <a:pt x="0" y="49"/>
                    </a:lnTo>
                    <a:lnTo>
                      <a:pt x="0" y="46"/>
                    </a:lnTo>
                    <a:lnTo>
                      <a:pt x="12" y="40"/>
                    </a:lnTo>
                    <a:lnTo>
                      <a:pt x="15" y="37"/>
                    </a:lnTo>
                    <a:lnTo>
                      <a:pt x="22" y="34"/>
                    </a:lnTo>
                    <a:lnTo>
                      <a:pt x="40" y="28"/>
                    </a:lnTo>
                    <a:lnTo>
                      <a:pt x="62" y="18"/>
                    </a:lnTo>
                    <a:lnTo>
                      <a:pt x="80" y="12"/>
                    </a:lnTo>
                    <a:lnTo>
                      <a:pt x="99" y="6"/>
                    </a:lnTo>
                    <a:lnTo>
                      <a:pt x="120" y="0"/>
                    </a:lnTo>
                    <a:lnTo>
                      <a:pt x="12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5" name="Freeform 302"/>
              <p:cNvSpPr>
                <a:spLocks/>
              </p:cNvSpPr>
              <p:nvPr/>
            </p:nvSpPr>
            <p:spPr bwMode="auto">
              <a:xfrm>
                <a:off x="2047" y="1518"/>
                <a:ext cx="210" cy="105"/>
              </a:xfrm>
              <a:custGeom>
                <a:avLst/>
                <a:gdLst>
                  <a:gd name="T0" fmla="*/ 22 w 210"/>
                  <a:gd name="T1" fmla="*/ 6 h 105"/>
                  <a:gd name="T2" fmla="*/ 9 w 210"/>
                  <a:gd name="T3" fmla="*/ 13 h 105"/>
                  <a:gd name="T4" fmla="*/ 22 w 210"/>
                  <a:gd name="T5" fmla="*/ 16 h 105"/>
                  <a:gd name="T6" fmla="*/ 40 w 210"/>
                  <a:gd name="T7" fmla="*/ 22 h 105"/>
                  <a:gd name="T8" fmla="*/ 56 w 210"/>
                  <a:gd name="T9" fmla="*/ 31 h 105"/>
                  <a:gd name="T10" fmla="*/ 71 w 210"/>
                  <a:gd name="T11" fmla="*/ 37 h 105"/>
                  <a:gd name="T12" fmla="*/ 80 w 210"/>
                  <a:gd name="T13" fmla="*/ 44 h 105"/>
                  <a:gd name="T14" fmla="*/ 90 w 210"/>
                  <a:gd name="T15" fmla="*/ 47 h 105"/>
                  <a:gd name="T16" fmla="*/ 105 w 210"/>
                  <a:gd name="T17" fmla="*/ 56 h 105"/>
                  <a:gd name="T18" fmla="*/ 121 w 210"/>
                  <a:gd name="T19" fmla="*/ 62 h 105"/>
                  <a:gd name="T20" fmla="*/ 136 w 210"/>
                  <a:gd name="T21" fmla="*/ 68 h 105"/>
                  <a:gd name="T22" fmla="*/ 148 w 210"/>
                  <a:gd name="T23" fmla="*/ 74 h 105"/>
                  <a:gd name="T24" fmla="*/ 164 w 210"/>
                  <a:gd name="T25" fmla="*/ 81 h 105"/>
                  <a:gd name="T26" fmla="*/ 176 w 210"/>
                  <a:gd name="T27" fmla="*/ 87 h 105"/>
                  <a:gd name="T28" fmla="*/ 192 w 210"/>
                  <a:gd name="T29" fmla="*/ 96 h 105"/>
                  <a:gd name="T30" fmla="*/ 210 w 210"/>
                  <a:gd name="T31" fmla="*/ 102 h 105"/>
                  <a:gd name="T32" fmla="*/ 210 w 210"/>
                  <a:gd name="T33" fmla="*/ 105 h 105"/>
                  <a:gd name="T34" fmla="*/ 207 w 210"/>
                  <a:gd name="T35" fmla="*/ 105 h 105"/>
                  <a:gd name="T36" fmla="*/ 192 w 210"/>
                  <a:gd name="T37" fmla="*/ 99 h 105"/>
                  <a:gd name="T38" fmla="*/ 176 w 210"/>
                  <a:gd name="T39" fmla="*/ 93 h 105"/>
                  <a:gd name="T40" fmla="*/ 161 w 210"/>
                  <a:gd name="T41" fmla="*/ 87 h 105"/>
                  <a:gd name="T42" fmla="*/ 145 w 210"/>
                  <a:gd name="T43" fmla="*/ 81 h 105"/>
                  <a:gd name="T44" fmla="*/ 133 w 210"/>
                  <a:gd name="T45" fmla="*/ 74 h 105"/>
                  <a:gd name="T46" fmla="*/ 118 w 210"/>
                  <a:gd name="T47" fmla="*/ 68 h 105"/>
                  <a:gd name="T48" fmla="*/ 102 w 210"/>
                  <a:gd name="T49" fmla="*/ 62 h 105"/>
                  <a:gd name="T50" fmla="*/ 84 w 210"/>
                  <a:gd name="T51" fmla="*/ 56 h 105"/>
                  <a:gd name="T52" fmla="*/ 74 w 210"/>
                  <a:gd name="T53" fmla="*/ 50 h 105"/>
                  <a:gd name="T54" fmla="*/ 68 w 210"/>
                  <a:gd name="T55" fmla="*/ 47 h 105"/>
                  <a:gd name="T56" fmla="*/ 59 w 210"/>
                  <a:gd name="T57" fmla="*/ 40 h 105"/>
                  <a:gd name="T58" fmla="*/ 53 w 210"/>
                  <a:gd name="T59" fmla="*/ 37 h 105"/>
                  <a:gd name="T60" fmla="*/ 46 w 210"/>
                  <a:gd name="T61" fmla="*/ 34 h 105"/>
                  <a:gd name="T62" fmla="*/ 37 w 210"/>
                  <a:gd name="T63" fmla="*/ 31 h 105"/>
                  <a:gd name="T64" fmla="*/ 28 w 210"/>
                  <a:gd name="T65" fmla="*/ 25 h 105"/>
                  <a:gd name="T66" fmla="*/ 22 w 210"/>
                  <a:gd name="T67" fmla="*/ 22 h 105"/>
                  <a:gd name="T68" fmla="*/ 0 w 210"/>
                  <a:gd name="T69" fmla="*/ 16 h 105"/>
                  <a:gd name="T70" fmla="*/ 0 w 210"/>
                  <a:gd name="T71" fmla="*/ 13 h 105"/>
                  <a:gd name="T72" fmla="*/ 0 w 210"/>
                  <a:gd name="T73" fmla="*/ 10 h 105"/>
                  <a:gd name="T74" fmla="*/ 22 w 210"/>
                  <a:gd name="T75" fmla="*/ 0 h 105"/>
                  <a:gd name="T76" fmla="*/ 25 w 210"/>
                  <a:gd name="T77" fmla="*/ 3 h 105"/>
                  <a:gd name="T78" fmla="*/ 22 w 210"/>
                  <a:gd name="T79" fmla="*/ 6 h 105"/>
                  <a:gd name="T80" fmla="*/ 22 w 210"/>
                  <a:gd name="T81" fmla="*/ 6 h 105"/>
                  <a:gd name="T82" fmla="*/ 22 w 210"/>
                  <a:gd name="T83" fmla="*/ 6 h 10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0"/>
                  <a:gd name="T127" fmla="*/ 0 h 105"/>
                  <a:gd name="T128" fmla="*/ 210 w 210"/>
                  <a:gd name="T129" fmla="*/ 105 h 10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0" h="105">
                    <a:moveTo>
                      <a:pt x="22" y="6"/>
                    </a:moveTo>
                    <a:lnTo>
                      <a:pt x="9" y="13"/>
                    </a:lnTo>
                    <a:lnTo>
                      <a:pt x="22" y="16"/>
                    </a:lnTo>
                    <a:lnTo>
                      <a:pt x="40" y="22"/>
                    </a:lnTo>
                    <a:lnTo>
                      <a:pt x="56" y="31"/>
                    </a:lnTo>
                    <a:lnTo>
                      <a:pt x="71" y="37"/>
                    </a:lnTo>
                    <a:lnTo>
                      <a:pt x="80" y="44"/>
                    </a:lnTo>
                    <a:lnTo>
                      <a:pt x="90" y="47"/>
                    </a:lnTo>
                    <a:lnTo>
                      <a:pt x="105" y="56"/>
                    </a:lnTo>
                    <a:lnTo>
                      <a:pt x="121" y="62"/>
                    </a:lnTo>
                    <a:lnTo>
                      <a:pt x="136" y="68"/>
                    </a:lnTo>
                    <a:lnTo>
                      <a:pt x="148" y="74"/>
                    </a:lnTo>
                    <a:lnTo>
                      <a:pt x="164" y="81"/>
                    </a:lnTo>
                    <a:lnTo>
                      <a:pt x="176" y="87"/>
                    </a:lnTo>
                    <a:lnTo>
                      <a:pt x="192" y="96"/>
                    </a:lnTo>
                    <a:lnTo>
                      <a:pt x="210" y="102"/>
                    </a:lnTo>
                    <a:lnTo>
                      <a:pt x="210" y="105"/>
                    </a:lnTo>
                    <a:lnTo>
                      <a:pt x="207" y="105"/>
                    </a:lnTo>
                    <a:lnTo>
                      <a:pt x="192" y="99"/>
                    </a:lnTo>
                    <a:lnTo>
                      <a:pt x="176" y="93"/>
                    </a:lnTo>
                    <a:lnTo>
                      <a:pt x="161" y="87"/>
                    </a:lnTo>
                    <a:lnTo>
                      <a:pt x="145" y="81"/>
                    </a:lnTo>
                    <a:lnTo>
                      <a:pt x="133" y="74"/>
                    </a:lnTo>
                    <a:lnTo>
                      <a:pt x="118" y="68"/>
                    </a:lnTo>
                    <a:lnTo>
                      <a:pt x="102" y="62"/>
                    </a:lnTo>
                    <a:lnTo>
                      <a:pt x="84" y="56"/>
                    </a:lnTo>
                    <a:lnTo>
                      <a:pt x="74" y="50"/>
                    </a:lnTo>
                    <a:lnTo>
                      <a:pt x="68" y="47"/>
                    </a:lnTo>
                    <a:lnTo>
                      <a:pt x="59" y="40"/>
                    </a:lnTo>
                    <a:lnTo>
                      <a:pt x="53" y="37"/>
                    </a:lnTo>
                    <a:lnTo>
                      <a:pt x="46" y="34"/>
                    </a:lnTo>
                    <a:lnTo>
                      <a:pt x="37" y="31"/>
                    </a:lnTo>
                    <a:lnTo>
                      <a:pt x="28" y="25"/>
                    </a:lnTo>
                    <a:lnTo>
                      <a:pt x="22" y="22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22" y="0"/>
                    </a:lnTo>
                    <a:lnTo>
                      <a:pt x="25" y="3"/>
                    </a:lnTo>
                    <a:lnTo>
                      <a:pt x="22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6" name="Freeform 303"/>
              <p:cNvSpPr>
                <a:spLocks/>
              </p:cNvSpPr>
              <p:nvPr/>
            </p:nvSpPr>
            <p:spPr bwMode="auto">
              <a:xfrm>
                <a:off x="2266" y="1555"/>
                <a:ext cx="106" cy="68"/>
              </a:xfrm>
              <a:custGeom>
                <a:avLst/>
                <a:gdLst>
                  <a:gd name="T0" fmla="*/ 0 w 106"/>
                  <a:gd name="T1" fmla="*/ 65 h 68"/>
                  <a:gd name="T2" fmla="*/ 13 w 106"/>
                  <a:gd name="T3" fmla="*/ 56 h 68"/>
                  <a:gd name="T4" fmla="*/ 19 w 106"/>
                  <a:gd name="T5" fmla="*/ 53 h 68"/>
                  <a:gd name="T6" fmla="*/ 25 w 106"/>
                  <a:gd name="T7" fmla="*/ 47 h 68"/>
                  <a:gd name="T8" fmla="*/ 31 w 106"/>
                  <a:gd name="T9" fmla="*/ 44 h 68"/>
                  <a:gd name="T10" fmla="*/ 38 w 106"/>
                  <a:gd name="T11" fmla="*/ 37 h 68"/>
                  <a:gd name="T12" fmla="*/ 44 w 106"/>
                  <a:gd name="T13" fmla="*/ 34 h 68"/>
                  <a:gd name="T14" fmla="*/ 50 w 106"/>
                  <a:gd name="T15" fmla="*/ 28 h 68"/>
                  <a:gd name="T16" fmla="*/ 62 w 106"/>
                  <a:gd name="T17" fmla="*/ 22 h 68"/>
                  <a:gd name="T18" fmla="*/ 72 w 106"/>
                  <a:gd name="T19" fmla="*/ 16 h 68"/>
                  <a:gd name="T20" fmla="*/ 81 w 106"/>
                  <a:gd name="T21" fmla="*/ 13 h 68"/>
                  <a:gd name="T22" fmla="*/ 87 w 106"/>
                  <a:gd name="T23" fmla="*/ 7 h 68"/>
                  <a:gd name="T24" fmla="*/ 102 w 106"/>
                  <a:gd name="T25" fmla="*/ 0 h 68"/>
                  <a:gd name="T26" fmla="*/ 106 w 106"/>
                  <a:gd name="T27" fmla="*/ 0 h 68"/>
                  <a:gd name="T28" fmla="*/ 106 w 106"/>
                  <a:gd name="T29" fmla="*/ 3 h 68"/>
                  <a:gd name="T30" fmla="*/ 90 w 106"/>
                  <a:gd name="T31" fmla="*/ 13 h 68"/>
                  <a:gd name="T32" fmla="*/ 84 w 106"/>
                  <a:gd name="T33" fmla="*/ 19 h 68"/>
                  <a:gd name="T34" fmla="*/ 78 w 106"/>
                  <a:gd name="T35" fmla="*/ 25 h 68"/>
                  <a:gd name="T36" fmla="*/ 65 w 106"/>
                  <a:gd name="T37" fmla="*/ 31 h 68"/>
                  <a:gd name="T38" fmla="*/ 56 w 106"/>
                  <a:gd name="T39" fmla="*/ 37 h 68"/>
                  <a:gd name="T40" fmla="*/ 41 w 106"/>
                  <a:gd name="T41" fmla="*/ 44 h 68"/>
                  <a:gd name="T42" fmla="*/ 28 w 106"/>
                  <a:gd name="T43" fmla="*/ 53 h 68"/>
                  <a:gd name="T44" fmla="*/ 22 w 106"/>
                  <a:gd name="T45" fmla="*/ 56 h 68"/>
                  <a:gd name="T46" fmla="*/ 16 w 106"/>
                  <a:gd name="T47" fmla="*/ 62 h 68"/>
                  <a:gd name="T48" fmla="*/ 10 w 106"/>
                  <a:gd name="T49" fmla="*/ 65 h 68"/>
                  <a:gd name="T50" fmla="*/ 0 w 106"/>
                  <a:gd name="T51" fmla="*/ 68 h 68"/>
                  <a:gd name="T52" fmla="*/ 0 w 106"/>
                  <a:gd name="T53" fmla="*/ 68 h 68"/>
                  <a:gd name="T54" fmla="*/ 0 w 106"/>
                  <a:gd name="T55" fmla="*/ 65 h 68"/>
                  <a:gd name="T56" fmla="*/ 0 w 106"/>
                  <a:gd name="T57" fmla="*/ 65 h 68"/>
                  <a:gd name="T58" fmla="*/ 0 w 106"/>
                  <a:gd name="T59" fmla="*/ 65 h 6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6"/>
                  <a:gd name="T91" fmla="*/ 0 h 68"/>
                  <a:gd name="T92" fmla="*/ 106 w 106"/>
                  <a:gd name="T93" fmla="*/ 68 h 6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6" h="68">
                    <a:moveTo>
                      <a:pt x="0" y="65"/>
                    </a:moveTo>
                    <a:lnTo>
                      <a:pt x="13" y="56"/>
                    </a:lnTo>
                    <a:lnTo>
                      <a:pt x="19" y="53"/>
                    </a:lnTo>
                    <a:lnTo>
                      <a:pt x="25" y="47"/>
                    </a:lnTo>
                    <a:lnTo>
                      <a:pt x="31" y="44"/>
                    </a:lnTo>
                    <a:lnTo>
                      <a:pt x="38" y="37"/>
                    </a:lnTo>
                    <a:lnTo>
                      <a:pt x="44" y="34"/>
                    </a:lnTo>
                    <a:lnTo>
                      <a:pt x="50" y="28"/>
                    </a:lnTo>
                    <a:lnTo>
                      <a:pt x="62" y="22"/>
                    </a:lnTo>
                    <a:lnTo>
                      <a:pt x="72" y="16"/>
                    </a:lnTo>
                    <a:lnTo>
                      <a:pt x="81" y="13"/>
                    </a:lnTo>
                    <a:lnTo>
                      <a:pt x="87" y="7"/>
                    </a:lnTo>
                    <a:lnTo>
                      <a:pt x="102" y="0"/>
                    </a:lnTo>
                    <a:lnTo>
                      <a:pt x="106" y="0"/>
                    </a:lnTo>
                    <a:lnTo>
                      <a:pt x="106" y="3"/>
                    </a:lnTo>
                    <a:lnTo>
                      <a:pt x="90" y="13"/>
                    </a:lnTo>
                    <a:lnTo>
                      <a:pt x="84" y="19"/>
                    </a:lnTo>
                    <a:lnTo>
                      <a:pt x="78" y="25"/>
                    </a:lnTo>
                    <a:lnTo>
                      <a:pt x="65" y="31"/>
                    </a:lnTo>
                    <a:lnTo>
                      <a:pt x="56" y="37"/>
                    </a:lnTo>
                    <a:lnTo>
                      <a:pt x="41" y="44"/>
                    </a:lnTo>
                    <a:lnTo>
                      <a:pt x="28" y="53"/>
                    </a:lnTo>
                    <a:lnTo>
                      <a:pt x="22" y="56"/>
                    </a:lnTo>
                    <a:lnTo>
                      <a:pt x="16" y="62"/>
                    </a:lnTo>
                    <a:lnTo>
                      <a:pt x="10" y="65"/>
                    </a:lnTo>
                    <a:lnTo>
                      <a:pt x="0" y="68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7" name="Freeform 304"/>
              <p:cNvSpPr>
                <a:spLocks/>
              </p:cNvSpPr>
              <p:nvPr/>
            </p:nvSpPr>
            <p:spPr bwMode="auto">
              <a:xfrm>
                <a:off x="2300" y="1524"/>
                <a:ext cx="10" cy="22"/>
              </a:xfrm>
              <a:custGeom>
                <a:avLst/>
                <a:gdLst>
                  <a:gd name="T0" fmla="*/ 7 w 10"/>
                  <a:gd name="T1" fmla="*/ 0 h 22"/>
                  <a:gd name="T2" fmla="*/ 10 w 10"/>
                  <a:gd name="T3" fmla="*/ 13 h 22"/>
                  <a:gd name="T4" fmla="*/ 4 w 10"/>
                  <a:gd name="T5" fmla="*/ 19 h 22"/>
                  <a:gd name="T6" fmla="*/ 0 w 10"/>
                  <a:gd name="T7" fmla="*/ 22 h 22"/>
                  <a:gd name="T8" fmla="*/ 0 w 10"/>
                  <a:gd name="T9" fmla="*/ 19 h 22"/>
                  <a:gd name="T10" fmla="*/ 0 w 10"/>
                  <a:gd name="T11" fmla="*/ 13 h 22"/>
                  <a:gd name="T12" fmla="*/ 0 w 10"/>
                  <a:gd name="T13" fmla="*/ 4 h 22"/>
                  <a:gd name="T14" fmla="*/ 4 w 10"/>
                  <a:gd name="T15" fmla="*/ 0 h 22"/>
                  <a:gd name="T16" fmla="*/ 7 w 10"/>
                  <a:gd name="T17" fmla="*/ 0 h 22"/>
                  <a:gd name="T18" fmla="*/ 7 w 10"/>
                  <a:gd name="T19" fmla="*/ 0 h 22"/>
                  <a:gd name="T20" fmla="*/ 7 w 10"/>
                  <a:gd name="T21" fmla="*/ 0 h 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0"/>
                  <a:gd name="T34" fmla="*/ 0 h 22"/>
                  <a:gd name="T35" fmla="*/ 10 w 10"/>
                  <a:gd name="T36" fmla="*/ 22 h 2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0" h="22">
                    <a:moveTo>
                      <a:pt x="7" y="0"/>
                    </a:moveTo>
                    <a:lnTo>
                      <a:pt x="10" y="13"/>
                    </a:lnTo>
                    <a:lnTo>
                      <a:pt x="4" y="19"/>
                    </a:lnTo>
                    <a:lnTo>
                      <a:pt x="0" y="22"/>
                    </a:lnTo>
                    <a:lnTo>
                      <a:pt x="0" y="19"/>
                    </a:lnTo>
                    <a:lnTo>
                      <a:pt x="0" y="13"/>
                    </a:lnTo>
                    <a:lnTo>
                      <a:pt x="0" y="4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8" name="Freeform 305"/>
              <p:cNvSpPr>
                <a:spLocks/>
              </p:cNvSpPr>
              <p:nvPr/>
            </p:nvSpPr>
            <p:spPr bwMode="auto">
              <a:xfrm>
                <a:off x="2489" y="1256"/>
                <a:ext cx="68" cy="55"/>
              </a:xfrm>
              <a:custGeom>
                <a:avLst/>
                <a:gdLst>
                  <a:gd name="T0" fmla="*/ 3 w 68"/>
                  <a:gd name="T1" fmla="*/ 49 h 55"/>
                  <a:gd name="T2" fmla="*/ 22 w 68"/>
                  <a:gd name="T3" fmla="*/ 49 h 55"/>
                  <a:gd name="T4" fmla="*/ 37 w 68"/>
                  <a:gd name="T5" fmla="*/ 46 h 55"/>
                  <a:gd name="T6" fmla="*/ 43 w 68"/>
                  <a:gd name="T7" fmla="*/ 34 h 55"/>
                  <a:gd name="T8" fmla="*/ 49 w 68"/>
                  <a:gd name="T9" fmla="*/ 18 h 55"/>
                  <a:gd name="T10" fmla="*/ 59 w 68"/>
                  <a:gd name="T11" fmla="*/ 9 h 55"/>
                  <a:gd name="T12" fmla="*/ 65 w 68"/>
                  <a:gd name="T13" fmla="*/ 0 h 55"/>
                  <a:gd name="T14" fmla="*/ 68 w 68"/>
                  <a:gd name="T15" fmla="*/ 0 h 55"/>
                  <a:gd name="T16" fmla="*/ 68 w 68"/>
                  <a:gd name="T17" fmla="*/ 3 h 55"/>
                  <a:gd name="T18" fmla="*/ 59 w 68"/>
                  <a:gd name="T19" fmla="*/ 24 h 55"/>
                  <a:gd name="T20" fmla="*/ 49 w 68"/>
                  <a:gd name="T21" fmla="*/ 40 h 55"/>
                  <a:gd name="T22" fmla="*/ 46 w 68"/>
                  <a:gd name="T23" fmla="*/ 46 h 55"/>
                  <a:gd name="T24" fmla="*/ 40 w 68"/>
                  <a:gd name="T25" fmla="*/ 49 h 55"/>
                  <a:gd name="T26" fmla="*/ 31 w 68"/>
                  <a:gd name="T27" fmla="*/ 52 h 55"/>
                  <a:gd name="T28" fmla="*/ 22 w 68"/>
                  <a:gd name="T29" fmla="*/ 55 h 55"/>
                  <a:gd name="T30" fmla="*/ 3 w 68"/>
                  <a:gd name="T31" fmla="*/ 52 h 55"/>
                  <a:gd name="T32" fmla="*/ 0 w 68"/>
                  <a:gd name="T33" fmla="*/ 49 h 55"/>
                  <a:gd name="T34" fmla="*/ 3 w 68"/>
                  <a:gd name="T35" fmla="*/ 49 h 55"/>
                  <a:gd name="T36" fmla="*/ 3 w 68"/>
                  <a:gd name="T37" fmla="*/ 49 h 55"/>
                  <a:gd name="T38" fmla="*/ 3 w 68"/>
                  <a:gd name="T39" fmla="*/ 49 h 5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8"/>
                  <a:gd name="T61" fmla="*/ 0 h 55"/>
                  <a:gd name="T62" fmla="*/ 68 w 68"/>
                  <a:gd name="T63" fmla="*/ 55 h 5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8" h="55">
                    <a:moveTo>
                      <a:pt x="3" y="49"/>
                    </a:moveTo>
                    <a:lnTo>
                      <a:pt x="22" y="49"/>
                    </a:lnTo>
                    <a:lnTo>
                      <a:pt x="37" y="46"/>
                    </a:lnTo>
                    <a:lnTo>
                      <a:pt x="43" y="34"/>
                    </a:lnTo>
                    <a:lnTo>
                      <a:pt x="49" y="18"/>
                    </a:lnTo>
                    <a:lnTo>
                      <a:pt x="59" y="9"/>
                    </a:lnTo>
                    <a:lnTo>
                      <a:pt x="65" y="0"/>
                    </a:lnTo>
                    <a:lnTo>
                      <a:pt x="68" y="0"/>
                    </a:lnTo>
                    <a:lnTo>
                      <a:pt x="68" y="3"/>
                    </a:lnTo>
                    <a:lnTo>
                      <a:pt x="59" y="24"/>
                    </a:lnTo>
                    <a:lnTo>
                      <a:pt x="49" y="40"/>
                    </a:lnTo>
                    <a:lnTo>
                      <a:pt x="46" y="46"/>
                    </a:lnTo>
                    <a:lnTo>
                      <a:pt x="40" y="49"/>
                    </a:lnTo>
                    <a:lnTo>
                      <a:pt x="31" y="52"/>
                    </a:lnTo>
                    <a:lnTo>
                      <a:pt x="22" y="55"/>
                    </a:lnTo>
                    <a:lnTo>
                      <a:pt x="3" y="52"/>
                    </a:lnTo>
                    <a:lnTo>
                      <a:pt x="0" y="49"/>
                    </a:lnTo>
                    <a:lnTo>
                      <a:pt x="3" y="4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39" name="Freeform 306"/>
              <p:cNvSpPr>
                <a:spLocks/>
              </p:cNvSpPr>
              <p:nvPr/>
            </p:nvSpPr>
            <p:spPr bwMode="auto">
              <a:xfrm>
                <a:off x="2548" y="1277"/>
                <a:ext cx="34" cy="28"/>
              </a:xfrm>
              <a:custGeom>
                <a:avLst/>
                <a:gdLst>
                  <a:gd name="T0" fmla="*/ 3 w 34"/>
                  <a:gd name="T1" fmla="*/ 0 h 28"/>
                  <a:gd name="T2" fmla="*/ 18 w 34"/>
                  <a:gd name="T3" fmla="*/ 19 h 28"/>
                  <a:gd name="T4" fmla="*/ 30 w 34"/>
                  <a:gd name="T5" fmla="*/ 19 h 28"/>
                  <a:gd name="T6" fmla="*/ 34 w 34"/>
                  <a:gd name="T7" fmla="*/ 19 h 28"/>
                  <a:gd name="T8" fmla="*/ 34 w 34"/>
                  <a:gd name="T9" fmla="*/ 22 h 28"/>
                  <a:gd name="T10" fmla="*/ 24 w 34"/>
                  <a:gd name="T11" fmla="*/ 25 h 28"/>
                  <a:gd name="T12" fmla="*/ 18 w 34"/>
                  <a:gd name="T13" fmla="*/ 28 h 28"/>
                  <a:gd name="T14" fmla="*/ 12 w 34"/>
                  <a:gd name="T15" fmla="*/ 25 h 28"/>
                  <a:gd name="T16" fmla="*/ 6 w 34"/>
                  <a:gd name="T17" fmla="*/ 13 h 28"/>
                  <a:gd name="T18" fmla="*/ 6 w 34"/>
                  <a:gd name="T19" fmla="*/ 6 h 28"/>
                  <a:gd name="T20" fmla="*/ 0 w 34"/>
                  <a:gd name="T21" fmla="*/ 3 h 28"/>
                  <a:gd name="T22" fmla="*/ 3 w 34"/>
                  <a:gd name="T23" fmla="*/ 0 h 28"/>
                  <a:gd name="T24" fmla="*/ 3 w 34"/>
                  <a:gd name="T25" fmla="*/ 0 h 28"/>
                  <a:gd name="T26" fmla="*/ 3 w 34"/>
                  <a:gd name="T27" fmla="*/ 0 h 28"/>
                  <a:gd name="T28" fmla="*/ 3 w 34"/>
                  <a:gd name="T29" fmla="*/ 0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4"/>
                  <a:gd name="T46" fmla="*/ 0 h 28"/>
                  <a:gd name="T47" fmla="*/ 34 w 34"/>
                  <a:gd name="T48" fmla="*/ 28 h 2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4" h="28">
                    <a:moveTo>
                      <a:pt x="3" y="0"/>
                    </a:moveTo>
                    <a:lnTo>
                      <a:pt x="18" y="19"/>
                    </a:lnTo>
                    <a:lnTo>
                      <a:pt x="30" y="19"/>
                    </a:lnTo>
                    <a:lnTo>
                      <a:pt x="34" y="19"/>
                    </a:lnTo>
                    <a:lnTo>
                      <a:pt x="34" y="22"/>
                    </a:lnTo>
                    <a:lnTo>
                      <a:pt x="24" y="25"/>
                    </a:lnTo>
                    <a:lnTo>
                      <a:pt x="18" y="28"/>
                    </a:lnTo>
                    <a:lnTo>
                      <a:pt x="12" y="25"/>
                    </a:lnTo>
                    <a:lnTo>
                      <a:pt x="6" y="13"/>
                    </a:lnTo>
                    <a:lnTo>
                      <a:pt x="6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40" name="Freeform 307"/>
              <p:cNvSpPr>
                <a:spLocks/>
              </p:cNvSpPr>
              <p:nvPr/>
            </p:nvSpPr>
            <p:spPr bwMode="auto">
              <a:xfrm>
                <a:off x="2517" y="1089"/>
                <a:ext cx="21" cy="18"/>
              </a:xfrm>
              <a:custGeom>
                <a:avLst/>
                <a:gdLst>
                  <a:gd name="T0" fmla="*/ 6 w 21"/>
                  <a:gd name="T1" fmla="*/ 3 h 18"/>
                  <a:gd name="T2" fmla="*/ 6 w 21"/>
                  <a:gd name="T3" fmla="*/ 6 h 18"/>
                  <a:gd name="T4" fmla="*/ 9 w 21"/>
                  <a:gd name="T5" fmla="*/ 9 h 18"/>
                  <a:gd name="T6" fmla="*/ 15 w 21"/>
                  <a:gd name="T7" fmla="*/ 3 h 18"/>
                  <a:gd name="T8" fmla="*/ 12 w 21"/>
                  <a:gd name="T9" fmla="*/ 3 h 18"/>
                  <a:gd name="T10" fmla="*/ 12 w 21"/>
                  <a:gd name="T11" fmla="*/ 0 h 18"/>
                  <a:gd name="T12" fmla="*/ 15 w 21"/>
                  <a:gd name="T13" fmla="*/ 0 h 18"/>
                  <a:gd name="T14" fmla="*/ 21 w 21"/>
                  <a:gd name="T15" fmla="*/ 3 h 18"/>
                  <a:gd name="T16" fmla="*/ 21 w 21"/>
                  <a:gd name="T17" fmla="*/ 9 h 18"/>
                  <a:gd name="T18" fmla="*/ 15 w 21"/>
                  <a:gd name="T19" fmla="*/ 15 h 18"/>
                  <a:gd name="T20" fmla="*/ 9 w 21"/>
                  <a:gd name="T21" fmla="*/ 18 h 18"/>
                  <a:gd name="T22" fmla="*/ 3 w 21"/>
                  <a:gd name="T23" fmla="*/ 12 h 18"/>
                  <a:gd name="T24" fmla="*/ 0 w 21"/>
                  <a:gd name="T25" fmla="*/ 3 h 18"/>
                  <a:gd name="T26" fmla="*/ 3 w 21"/>
                  <a:gd name="T27" fmla="*/ 3 h 18"/>
                  <a:gd name="T28" fmla="*/ 6 w 21"/>
                  <a:gd name="T29" fmla="*/ 3 h 18"/>
                  <a:gd name="T30" fmla="*/ 6 w 21"/>
                  <a:gd name="T31" fmla="*/ 3 h 18"/>
                  <a:gd name="T32" fmla="*/ 6 w 21"/>
                  <a:gd name="T33" fmla="*/ 3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18"/>
                  <a:gd name="T53" fmla="*/ 21 w 21"/>
                  <a:gd name="T54" fmla="*/ 18 h 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18">
                    <a:moveTo>
                      <a:pt x="6" y="3"/>
                    </a:moveTo>
                    <a:lnTo>
                      <a:pt x="6" y="6"/>
                    </a:lnTo>
                    <a:lnTo>
                      <a:pt x="9" y="9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12" y="0"/>
                    </a:lnTo>
                    <a:lnTo>
                      <a:pt x="15" y="0"/>
                    </a:lnTo>
                    <a:lnTo>
                      <a:pt x="21" y="3"/>
                    </a:lnTo>
                    <a:lnTo>
                      <a:pt x="21" y="9"/>
                    </a:lnTo>
                    <a:lnTo>
                      <a:pt x="15" y="15"/>
                    </a:lnTo>
                    <a:lnTo>
                      <a:pt x="9" y="18"/>
                    </a:lnTo>
                    <a:lnTo>
                      <a:pt x="3" y="12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41" name="Freeform 308"/>
              <p:cNvSpPr>
                <a:spLocks/>
              </p:cNvSpPr>
              <p:nvPr/>
            </p:nvSpPr>
            <p:spPr bwMode="auto">
              <a:xfrm>
                <a:off x="2538" y="1092"/>
                <a:ext cx="22" cy="18"/>
              </a:xfrm>
              <a:custGeom>
                <a:avLst/>
                <a:gdLst>
                  <a:gd name="T0" fmla="*/ 3 w 22"/>
                  <a:gd name="T1" fmla="*/ 9 h 18"/>
                  <a:gd name="T2" fmla="*/ 7 w 22"/>
                  <a:gd name="T3" fmla="*/ 12 h 18"/>
                  <a:gd name="T4" fmla="*/ 13 w 22"/>
                  <a:gd name="T5" fmla="*/ 12 h 18"/>
                  <a:gd name="T6" fmla="*/ 16 w 22"/>
                  <a:gd name="T7" fmla="*/ 6 h 18"/>
                  <a:gd name="T8" fmla="*/ 13 w 22"/>
                  <a:gd name="T9" fmla="*/ 6 h 18"/>
                  <a:gd name="T10" fmla="*/ 13 w 22"/>
                  <a:gd name="T11" fmla="*/ 3 h 18"/>
                  <a:gd name="T12" fmla="*/ 13 w 22"/>
                  <a:gd name="T13" fmla="*/ 0 h 18"/>
                  <a:gd name="T14" fmla="*/ 22 w 22"/>
                  <a:gd name="T15" fmla="*/ 6 h 18"/>
                  <a:gd name="T16" fmla="*/ 22 w 22"/>
                  <a:gd name="T17" fmla="*/ 6 h 18"/>
                  <a:gd name="T18" fmla="*/ 22 w 22"/>
                  <a:gd name="T19" fmla="*/ 12 h 18"/>
                  <a:gd name="T20" fmla="*/ 16 w 22"/>
                  <a:gd name="T21" fmla="*/ 18 h 18"/>
                  <a:gd name="T22" fmla="*/ 13 w 22"/>
                  <a:gd name="T23" fmla="*/ 18 h 18"/>
                  <a:gd name="T24" fmla="*/ 7 w 22"/>
                  <a:gd name="T25" fmla="*/ 18 h 18"/>
                  <a:gd name="T26" fmla="*/ 0 w 22"/>
                  <a:gd name="T27" fmla="*/ 9 h 18"/>
                  <a:gd name="T28" fmla="*/ 3 w 22"/>
                  <a:gd name="T29" fmla="*/ 9 h 18"/>
                  <a:gd name="T30" fmla="*/ 3 w 22"/>
                  <a:gd name="T31" fmla="*/ 9 h 18"/>
                  <a:gd name="T32" fmla="*/ 3 w 22"/>
                  <a:gd name="T33" fmla="*/ 9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18"/>
                  <a:gd name="T53" fmla="*/ 22 w 22"/>
                  <a:gd name="T54" fmla="*/ 18 h 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18">
                    <a:moveTo>
                      <a:pt x="3" y="9"/>
                    </a:moveTo>
                    <a:lnTo>
                      <a:pt x="7" y="12"/>
                    </a:lnTo>
                    <a:lnTo>
                      <a:pt x="13" y="12"/>
                    </a:lnTo>
                    <a:lnTo>
                      <a:pt x="16" y="6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3" y="0"/>
                    </a:lnTo>
                    <a:lnTo>
                      <a:pt x="22" y="6"/>
                    </a:lnTo>
                    <a:lnTo>
                      <a:pt x="22" y="12"/>
                    </a:lnTo>
                    <a:lnTo>
                      <a:pt x="16" y="18"/>
                    </a:lnTo>
                    <a:lnTo>
                      <a:pt x="13" y="18"/>
                    </a:lnTo>
                    <a:lnTo>
                      <a:pt x="7" y="18"/>
                    </a:lnTo>
                    <a:lnTo>
                      <a:pt x="0" y="9"/>
                    </a:lnTo>
                    <a:lnTo>
                      <a:pt x="3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42" name="Freeform 309"/>
              <p:cNvSpPr>
                <a:spLocks/>
              </p:cNvSpPr>
              <p:nvPr/>
            </p:nvSpPr>
            <p:spPr bwMode="auto">
              <a:xfrm>
                <a:off x="2563" y="1079"/>
                <a:ext cx="15" cy="19"/>
              </a:xfrm>
              <a:custGeom>
                <a:avLst/>
                <a:gdLst>
                  <a:gd name="T0" fmla="*/ 3 w 15"/>
                  <a:gd name="T1" fmla="*/ 13 h 19"/>
                  <a:gd name="T2" fmla="*/ 6 w 15"/>
                  <a:gd name="T3" fmla="*/ 13 h 19"/>
                  <a:gd name="T4" fmla="*/ 9 w 15"/>
                  <a:gd name="T5" fmla="*/ 10 h 19"/>
                  <a:gd name="T6" fmla="*/ 6 w 15"/>
                  <a:gd name="T7" fmla="*/ 7 h 19"/>
                  <a:gd name="T8" fmla="*/ 3 w 15"/>
                  <a:gd name="T9" fmla="*/ 4 h 19"/>
                  <a:gd name="T10" fmla="*/ 3 w 15"/>
                  <a:gd name="T11" fmla="*/ 0 h 19"/>
                  <a:gd name="T12" fmla="*/ 3 w 15"/>
                  <a:gd name="T13" fmla="*/ 0 h 19"/>
                  <a:gd name="T14" fmla="*/ 15 w 15"/>
                  <a:gd name="T15" fmla="*/ 10 h 19"/>
                  <a:gd name="T16" fmla="*/ 12 w 15"/>
                  <a:gd name="T17" fmla="*/ 16 h 19"/>
                  <a:gd name="T18" fmla="*/ 9 w 15"/>
                  <a:gd name="T19" fmla="*/ 19 h 19"/>
                  <a:gd name="T20" fmla="*/ 3 w 15"/>
                  <a:gd name="T21" fmla="*/ 19 h 19"/>
                  <a:gd name="T22" fmla="*/ 0 w 15"/>
                  <a:gd name="T23" fmla="*/ 16 h 19"/>
                  <a:gd name="T24" fmla="*/ 0 w 15"/>
                  <a:gd name="T25" fmla="*/ 13 h 19"/>
                  <a:gd name="T26" fmla="*/ 3 w 15"/>
                  <a:gd name="T27" fmla="*/ 13 h 19"/>
                  <a:gd name="T28" fmla="*/ 3 w 15"/>
                  <a:gd name="T29" fmla="*/ 13 h 19"/>
                  <a:gd name="T30" fmla="*/ 3 w 15"/>
                  <a:gd name="T31" fmla="*/ 13 h 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5"/>
                  <a:gd name="T49" fmla="*/ 0 h 19"/>
                  <a:gd name="T50" fmla="*/ 15 w 15"/>
                  <a:gd name="T51" fmla="*/ 19 h 1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5" h="19">
                    <a:moveTo>
                      <a:pt x="3" y="13"/>
                    </a:moveTo>
                    <a:lnTo>
                      <a:pt x="6" y="13"/>
                    </a:lnTo>
                    <a:lnTo>
                      <a:pt x="9" y="10"/>
                    </a:lnTo>
                    <a:lnTo>
                      <a:pt x="6" y="7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15" y="10"/>
                    </a:lnTo>
                    <a:lnTo>
                      <a:pt x="12" y="16"/>
                    </a:lnTo>
                    <a:lnTo>
                      <a:pt x="9" y="19"/>
                    </a:lnTo>
                    <a:lnTo>
                      <a:pt x="3" y="19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43" name="Line 310"/>
              <p:cNvSpPr>
                <a:spLocks noChangeShapeType="1"/>
              </p:cNvSpPr>
              <p:nvPr/>
            </p:nvSpPr>
            <p:spPr bwMode="auto">
              <a:xfrm>
                <a:off x="2958" y="2399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4" name="Line 311"/>
              <p:cNvSpPr>
                <a:spLocks noChangeShapeType="1"/>
              </p:cNvSpPr>
              <p:nvPr/>
            </p:nvSpPr>
            <p:spPr bwMode="auto">
              <a:xfrm>
                <a:off x="2958" y="2482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5" name="Line 312"/>
              <p:cNvSpPr>
                <a:spLocks noChangeShapeType="1"/>
              </p:cNvSpPr>
              <p:nvPr/>
            </p:nvSpPr>
            <p:spPr bwMode="auto">
              <a:xfrm>
                <a:off x="2958" y="2563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6" name="Line 313"/>
              <p:cNvSpPr>
                <a:spLocks noChangeShapeType="1"/>
              </p:cNvSpPr>
              <p:nvPr/>
            </p:nvSpPr>
            <p:spPr bwMode="auto">
              <a:xfrm>
                <a:off x="2958" y="2646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7" name="Line 314"/>
              <p:cNvSpPr>
                <a:spLocks noChangeShapeType="1"/>
              </p:cNvSpPr>
              <p:nvPr/>
            </p:nvSpPr>
            <p:spPr bwMode="auto">
              <a:xfrm>
                <a:off x="2958" y="2730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8" name="Line 315"/>
              <p:cNvSpPr>
                <a:spLocks noChangeShapeType="1"/>
              </p:cNvSpPr>
              <p:nvPr/>
            </p:nvSpPr>
            <p:spPr bwMode="auto">
              <a:xfrm>
                <a:off x="2958" y="2810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49" name="Line 316"/>
              <p:cNvSpPr>
                <a:spLocks noChangeShapeType="1"/>
              </p:cNvSpPr>
              <p:nvPr/>
            </p:nvSpPr>
            <p:spPr bwMode="auto">
              <a:xfrm>
                <a:off x="2958" y="2893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0" name="Line 317"/>
              <p:cNvSpPr>
                <a:spLocks noChangeShapeType="1"/>
              </p:cNvSpPr>
              <p:nvPr/>
            </p:nvSpPr>
            <p:spPr bwMode="auto">
              <a:xfrm>
                <a:off x="2958" y="2977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1" name="Line 318"/>
              <p:cNvSpPr>
                <a:spLocks noChangeShapeType="1"/>
              </p:cNvSpPr>
              <p:nvPr/>
            </p:nvSpPr>
            <p:spPr bwMode="auto">
              <a:xfrm>
                <a:off x="2677" y="2399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2" name="Line 319"/>
              <p:cNvSpPr>
                <a:spLocks noChangeShapeType="1"/>
              </p:cNvSpPr>
              <p:nvPr/>
            </p:nvSpPr>
            <p:spPr bwMode="auto">
              <a:xfrm>
                <a:off x="2677" y="2482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3" name="Line 320"/>
              <p:cNvSpPr>
                <a:spLocks noChangeShapeType="1"/>
              </p:cNvSpPr>
              <p:nvPr/>
            </p:nvSpPr>
            <p:spPr bwMode="auto">
              <a:xfrm>
                <a:off x="2677" y="2563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4" name="Line 321"/>
              <p:cNvSpPr>
                <a:spLocks noChangeShapeType="1"/>
              </p:cNvSpPr>
              <p:nvPr/>
            </p:nvSpPr>
            <p:spPr bwMode="auto">
              <a:xfrm>
                <a:off x="2677" y="2646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5" name="Line 322"/>
              <p:cNvSpPr>
                <a:spLocks noChangeShapeType="1"/>
              </p:cNvSpPr>
              <p:nvPr/>
            </p:nvSpPr>
            <p:spPr bwMode="auto">
              <a:xfrm>
                <a:off x="2677" y="2730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6" name="Line 323"/>
              <p:cNvSpPr>
                <a:spLocks noChangeShapeType="1"/>
              </p:cNvSpPr>
              <p:nvPr/>
            </p:nvSpPr>
            <p:spPr bwMode="auto">
              <a:xfrm>
                <a:off x="2677" y="2810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7" name="Line 324"/>
              <p:cNvSpPr>
                <a:spLocks noChangeShapeType="1"/>
              </p:cNvSpPr>
              <p:nvPr/>
            </p:nvSpPr>
            <p:spPr bwMode="auto">
              <a:xfrm>
                <a:off x="2677" y="2893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8" name="Line 325"/>
              <p:cNvSpPr>
                <a:spLocks noChangeShapeType="1"/>
              </p:cNvSpPr>
              <p:nvPr/>
            </p:nvSpPr>
            <p:spPr bwMode="auto">
              <a:xfrm>
                <a:off x="2677" y="2977"/>
                <a:ext cx="93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59" name="Rectangle 326"/>
              <p:cNvSpPr>
                <a:spLocks noChangeArrowheads="1"/>
              </p:cNvSpPr>
              <p:nvPr/>
            </p:nvSpPr>
            <p:spPr bwMode="auto">
              <a:xfrm>
                <a:off x="2770" y="2334"/>
                <a:ext cx="192" cy="701"/>
              </a:xfrm>
              <a:prstGeom prst="rect">
                <a:avLst/>
              </a:pr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60" name="Rectangle 327"/>
              <p:cNvSpPr>
                <a:spLocks noChangeArrowheads="1"/>
              </p:cNvSpPr>
              <p:nvPr/>
            </p:nvSpPr>
            <p:spPr bwMode="auto">
              <a:xfrm>
                <a:off x="2052" y="3325"/>
                <a:ext cx="26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FPGA</a:t>
                </a:r>
                <a:endParaRPr lang="en-US"/>
              </a:p>
            </p:txBody>
          </p:sp>
          <p:sp>
            <p:nvSpPr>
              <p:cNvPr id="4361" name="Line 328"/>
              <p:cNvSpPr>
                <a:spLocks noChangeShapeType="1"/>
              </p:cNvSpPr>
              <p:nvPr/>
            </p:nvSpPr>
            <p:spPr bwMode="auto">
              <a:xfrm>
                <a:off x="2378" y="2272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2" name="Line 329"/>
              <p:cNvSpPr>
                <a:spLocks noChangeShapeType="1"/>
              </p:cNvSpPr>
              <p:nvPr/>
            </p:nvSpPr>
            <p:spPr bwMode="auto">
              <a:xfrm>
                <a:off x="2378" y="2408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3" name="Line 330"/>
              <p:cNvSpPr>
                <a:spLocks noChangeShapeType="1"/>
              </p:cNvSpPr>
              <p:nvPr/>
            </p:nvSpPr>
            <p:spPr bwMode="auto">
              <a:xfrm>
                <a:off x="2378" y="2541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4" name="Line 331"/>
              <p:cNvSpPr>
                <a:spLocks noChangeShapeType="1"/>
              </p:cNvSpPr>
              <p:nvPr/>
            </p:nvSpPr>
            <p:spPr bwMode="auto">
              <a:xfrm>
                <a:off x="2378" y="2674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5" name="Line 332"/>
              <p:cNvSpPr>
                <a:spLocks noChangeShapeType="1"/>
              </p:cNvSpPr>
              <p:nvPr/>
            </p:nvSpPr>
            <p:spPr bwMode="auto">
              <a:xfrm>
                <a:off x="2378" y="2810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6" name="Line 333"/>
              <p:cNvSpPr>
                <a:spLocks noChangeShapeType="1"/>
              </p:cNvSpPr>
              <p:nvPr/>
            </p:nvSpPr>
            <p:spPr bwMode="auto">
              <a:xfrm>
                <a:off x="2378" y="2943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7" name="Line 334"/>
              <p:cNvSpPr>
                <a:spLocks noChangeShapeType="1"/>
              </p:cNvSpPr>
              <p:nvPr/>
            </p:nvSpPr>
            <p:spPr bwMode="auto">
              <a:xfrm>
                <a:off x="2378" y="3076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8" name="Line 335"/>
              <p:cNvSpPr>
                <a:spLocks noChangeShapeType="1"/>
              </p:cNvSpPr>
              <p:nvPr/>
            </p:nvSpPr>
            <p:spPr bwMode="auto">
              <a:xfrm>
                <a:off x="2378" y="3208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69" name="Rectangle 336"/>
              <p:cNvSpPr>
                <a:spLocks noChangeArrowheads="1"/>
              </p:cNvSpPr>
              <p:nvPr/>
            </p:nvSpPr>
            <p:spPr bwMode="auto">
              <a:xfrm>
                <a:off x="2010" y="2167"/>
                <a:ext cx="374" cy="1140"/>
              </a:xfrm>
              <a:prstGeom prst="rect">
                <a:avLst/>
              </a:pr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70" name="Line 337"/>
              <p:cNvSpPr>
                <a:spLocks noChangeShapeType="1"/>
              </p:cNvSpPr>
              <p:nvPr/>
            </p:nvSpPr>
            <p:spPr bwMode="auto">
              <a:xfrm>
                <a:off x="1908" y="2272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1" name="Line 338"/>
              <p:cNvSpPr>
                <a:spLocks noChangeShapeType="1"/>
              </p:cNvSpPr>
              <p:nvPr/>
            </p:nvSpPr>
            <p:spPr bwMode="auto">
              <a:xfrm>
                <a:off x="1908" y="2408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2" name="Line 339"/>
              <p:cNvSpPr>
                <a:spLocks noChangeShapeType="1"/>
              </p:cNvSpPr>
              <p:nvPr/>
            </p:nvSpPr>
            <p:spPr bwMode="auto">
              <a:xfrm>
                <a:off x="1908" y="2541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3" name="Line 340"/>
              <p:cNvSpPr>
                <a:spLocks noChangeShapeType="1"/>
              </p:cNvSpPr>
              <p:nvPr/>
            </p:nvSpPr>
            <p:spPr bwMode="auto">
              <a:xfrm>
                <a:off x="1908" y="2674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4" name="Line 341"/>
              <p:cNvSpPr>
                <a:spLocks noChangeShapeType="1"/>
              </p:cNvSpPr>
              <p:nvPr/>
            </p:nvSpPr>
            <p:spPr bwMode="auto">
              <a:xfrm>
                <a:off x="1908" y="2810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5" name="Line 342"/>
              <p:cNvSpPr>
                <a:spLocks noChangeShapeType="1"/>
              </p:cNvSpPr>
              <p:nvPr/>
            </p:nvSpPr>
            <p:spPr bwMode="auto">
              <a:xfrm>
                <a:off x="1908" y="2943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6" name="Line 343"/>
              <p:cNvSpPr>
                <a:spLocks noChangeShapeType="1"/>
              </p:cNvSpPr>
              <p:nvPr/>
            </p:nvSpPr>
            <p:spPr bwMode="auto">
              <a:xfrm>
                <a:off x="1908" y="3076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7" name="Line 344"/>
              <p:cNvSpPr>
                <a:spLocks noChangeShapeType="1"/>
              </p:cNvSpPr>
              <p:nvPr/>
            </p:nvSpPr>
            <p:spPr bwMode="auto">
              <a:xfrm>
                <a:off x="1908" y="3208"/>
                <a:ext cx="102" cy="0"/>
              </a:xfrm>
              <a:prstGeom prst="line">
                <a:avLst/>
              </a:prstGeom>
              <a:noFill/>
              <a:ln w="79375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78" name="Rectangle 345"/>
              <p:cNvSpPr>
                <a:spLocks noChangeArrowheads="1"/>
              </p:cNvSpPr>
              <p:nvPr/>
            </p:nvSpPr>
            <p:spPr bwMode="auto">
              <a:xfrm>
                <a:off x="2744" y="3090"/>
                <a:ext cx="2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ASIC</a:t>
                </a:r>
                <a:endParaRPr lang="en-US"/>
              </a:p>
            </p:txBody>
          </p:sp>
          <p:sp>
            <p:nvSpPr>
              <p:cNvPr id="4379" name="Rectangle 346"/>
              <p:cNvSpPr>
                <a:spLocks noChangeArrowheads="1"/>
              </p:cNvSpPr>
              <p:nvPr/>
            </p:nvSpPr>
            <p:spPr bwMode="auto">
              <a:xfrm>
                <a:off x="3116" y="3033"/>
                <a:ext cx="33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Custom</a:t>
                </a:r>
                <a:endParaRPr lang="en-US"/>
              </a:p>
            </p:txBody>
          </p:sp>
          <p:sp>
            <p:nvSpPr>
              <p:cNvPr id="4380" name="Rectangle 347"/>
              <p:cNvSpPr>
                <a:spLocks noChangeArrowheads="1"/>
              </p:cNvSpPr>
              <p:nvPr/>
            </p:nvSpPr>
            <p:spPr bwMode="auto">
              <a:xfrm>
                <a:off x="3237" y="3144"/>
                <a:ext cx="9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IC</a:t>
                </a:r>
                <a:endParaRPr lang="en-US"/>
              </a:p>
            </p:txBody>
          </p:sp>
          <p:sp>
            <p:nvSpPr>
              <p:cNvPr id="4381" name="Freeform 348"/>
              <p:cNvSpPr>
                <a:spLocks/>
              </p:cNvSpPr>
              <p:nvPr/>
            </p:nvSpPr>
            <p:spPr bwMode="auto">
              <a:xfrm>
                <a:off x="4883" y="2337"/>
                <a:ext cx="111" cy="334"/>
              </a:xfrm>
              <a:custGeom>
                <a:avLst/>
                <a:gdLst>
                  <a:gd name="T0" fmla="*/ 105 w 111"/>
                  <a:gd name="T1" fmla="*/ 0 h 334"/>
                  <a:gd name="T2" fmla="*/ 99 w 111"/>
                  <a:gd name="T3" fmla="*/ 3 h 334"/>
                  <a:gd name="T4" fmla="*/ 93 w 111"/>
                  <a:gd name="T5" fmla="*/ 6 h 334"/>
                  <a:gd name="T6" fmla="*/ 87 w 111"/>
                  <a:gd name="T7" fmla="*/ 9 h 334"/>
                  <a:gd name="T8" fmla="*/ 80 w 111"/>
                  <a:gd name="T9" fmla="*/ 12 h 334"/>
                  <a:gd name="T10" fmla="*/ 74 w 111"/>
                  <a:gd name="T11" fmla="*/ 16 h 334"/>
                  <a:gd name="T12" fmla="*/ 68 w 111"/>
                  <a:gd name="T13" fmla="*/ 19 h 334"/>
                  <a:gd name="T14" fmla="*/ 62 w 111"/>
                  <a:gd name="T15" fmla="*/ 22 h 334"/>
                  <a:gd name="T16" fmla="*/ 53 w 111"/>
                  <a:gd name="T17" fmla="*/ 25 h 334"/>
                  <a:gd name="T18" fmla="*/ 50 w 111"/>
                  <a:gd name="T19" fmla="*/ 28 h 334"/>
                  <a:gd name="T20" fmla="*/ 40 w 111"/>
                  <a:gd name="T21" fmla="*/ 31 h 334"/>
                  <a:gd name="T22" fmla="*/ 34 w 111"/>
                  <a:gd name="T23" fmla="*/ 34 h 334"/>
                  <a:gd name="T24" fmla="*/ 28 w 111"/>
                  <a:gd name="T25" fmla="*/ 37 h 334"/>
                  <a:gd name="T26" fmla="*/ 22 w 111"/>
                  <a:gd name="T27" fmla="*/ 40 h 334"/>
                  <a:gd name="T28" fmla="*/ 16 w 111"/>
                  <a:gd name="T29" fmla="*/ 43 h 334"/>
                  <a:gd name="T30" fmla="*/ 9 w 111"/>
                  <a:gd name="T31" fmla="*/ 50 h 334"/>
                  <a:gd name="T32" fmla="*/ 3 w 111"/>
                  <a:gd name="T33" fmla="*/ 53 h 334"/>
                  <a:gd name="T34" fmla="*/ 6 w 111"/>
                  <a:gd name="T35" fmla="*/ 124 h 334"/>
                  <a:gd name="T36" fmla="*/ 6 w 111"/>
                  <a:gd name="T37" fmla="*/ 195 h 334"/>
                  <a:gd name="T38" fmla="*/ 3 w 111"/>
                  <a:gd name="T39" fmla="*/ 266 h 334"/>
                  <a:gd name="T40" fmla="*/ 0 w 111"/>
                  <a:gd name="T41" fmla="*/ 334 h 334"/>
                  <a:gd name="T42" fmla="*/ 6 w 111"/>
                  <a:gd name="T43" fmla="*/ 334 h 334"/>
                  <a:gd name="T44" fmla="*/ 13 w 111"/>
                  <a:gd name="T45" fmla="*/ 331 h 334"/>
                  <a:gd name="T46" fmla="*/ 19 w 111"/>
                  <a:gd name="T47" fmla="*/ 331 h 334"/>
                  <a:gd name="T48" fmla="*/ 28 w 111"/>
                  <a:gd name="T49" fmla="*/ 328 h 334"/>
                  <a:gd name="T50" fmla="*/ 34 w 111"/>
                  <a:gd name="T51" fmla="*/ 328 h 334"/>
                  <a:gd name="T52" fmla="*/ 40 w 111"/>
                  <a:gd name="T53" fmla="*/ 325 h 334"/>
                  <a:gd name="T54" fmla="*/ 47 w 111"/>
                  <a:gd name="T55" fmla="*/ 325 h 334"/>
                  <a:gd name="T56" fmla="*/ 53 w 111"/>
                  <a:gd name="T57" fmla="*/ 321 h 334"/>
                  <a:gd name="T58" fmla="*/ 62 w 111"/>
                  <a:gd name="T59" fmla="*/ 321 h 334"/>
                  <a:gd name="T60" fmla="*/ 68 w 111"/>
                  <a:gd name="T61" fmla="*/ 321 h 334"/>
                  <a:gd name="T62" fmla="*/ 74 w 111"/>
                  <a:gd name="T63" fmla="*/ 318 h 334"/>
                  <a:gd name="T64" fmla="*/ 80 w 111"/>
                  <a:gd name="T65" fmla="*/ 318 h 334"/>
                  <a:gd name="T66" fmla="*/ 87 w 111"/>
                  <a:gd name="T67" fmla="*/ 315 h 334"/>
                  <a:gd name="T68" fmla="*/ 96 w 111"/>
                  <a:gd name="T69" fmla="*/ 315 h 334"/>
                  <a:gd name="T70" fmla="*/ 102 w 111"/>
                  <a:gd name="T71" fmla="*/ 315 h 334"/>
                  <a:gd name="T72" fmla="*/ 108 w 111"/>
                  <a:gd name="T73" fmla="*/ 312 h 334"/>
                  <a:gd name="T74" fmla="*/ 111 w 111"/>
                  <a:gd name="T75" fmla="*/ 235 h 334"/>
                  <a:gd name="T76" fmla="*/ 111 w 111"/>
                  <a:gd name="T77" fmla="*/ 158 h 334"/>
                  <a:gd name="T78" fmla="*/ 111 w 111"/>
                  <a:gd name="T79" fmla="*/ 80 h 334"/>
                  <a:gd name="T80" fmla="*/ 105 w 111"/>
                  <a:gd name="T81" fmla="*/ 0 h 334"/>
                  <a:gd name="T82" fmla="*/ 105 w 111"/>
                  <a:gd name="T83" fmla="*/ 0 h 33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1"/>
                  <a:gd name="T127" fmla="*/ 0 h 334"/>
                  <a:gd name="T128" fmla="*/ 111 w 111"/>
                  <a:gd name="T129" fmla="*/ 334 h 33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1" h="334">
                    <a:moveTo>
                      <a:pt x="105" y="0"/>
                    </a:moveTo>
                    <a:lnTo>
                      <a:pt x="99" y="3"/>
                    </a:lnTo>
                    <a:lnTo>
                      <a:pt x="93" y="6"/>
                    </a:lnTo>
                    <a:lnTo>
                      <a:pt x="87" y="9"/>
                    </a:lnTo>
                    <a:lnTo>
                      <a:pt x="80" y="12"/>
                    </a:lnTo>
                    <a:lnTo>
                      <a:pt x="74" y="16"/>
                    </a:lnTo>
                    <a:lnTo>
                      <a:pt x="68" y="19"/>
                    </a:lnTo>
                    <a:lnTo>
                      <a:pt x="62" y="22"/>
                    </a:lnTo>
                    <a:lnTo>
                      <a:pt x="53" y="25"/>
                    </a:lnTo>
                    <a:lnTo>
                      <a:pt x="50" y="28"/>
                    </a:lnTo>
                    <a:lnTo>
                      <a:pt x="40" y="31"/>
                    </a:lnTo>
                    <a:lnTo>
                      <a:pt x="34" y="34"/>
                    </a:lnTo>
                    <a:lnTo>
                      <a:pt x="28" y="37"/>
                    </a:lnTo>
                    <a:lnTo>
                      <a:pt x="22" y="40"/>
                    </a:lnTo>
                    <a:lnTo>
                      <a:pt x="16" y="43"/>
                    </a:lnTo>
                    <a:lnTo>
                      <a:pt x="9" y="50"/>
                    </a:lnTo>
                    <a:lnTo>
                      <a:pt x="3" y="53"/>
                    </a:lnTo>
                    <a:lnTo>
                      <a:pt x="6" y="124"/>
                    </a:lnTo>
                    <a:lnTo>
                      <a:pt x="6" y="195"/>
                    </a:lnTo>
                    <a:lnTo>
                      <a:pt x="3" y="266"/>
                    </a:lnTo>
                    <a:lnTo>
                      <a:pt x="0" y="334"/>
                    </a:lnTo>
                    <a:lnTo>
                      <a:pt x="6" y="334"/>
                    </a:lnTo>
                    <a:lnTo>
                      <a:pt x="13" y="331"/>
                    </a:lnTo>
                    <a:lnTo>
                      <a:pt x="19" y="331"/>
                    </a:lnTo>
                    <a:lnTo>
                      <a:pt x="28" y="328"/>
                    </a:lnTo>
                    <a:lnTo>
                      <a:pt x="34" y="328"/>
                    </a:lnTo>
                    <a:lnTo>
                      <a:pt x="40" y="325"/>
                    </a:lnTo>
                    <a:lnTo>
                      <a:pt x="47" y="325"/>
                    </a:lnTo>
                    <a:lnTo>
                      <a:pt x="53" y="321"/>
                    </a:lnTo>
                    <a:lnTo>
                      <a:pt x="62" y="321"/>
                    </a:lnTo>
                    <a:lnTo>
                      <a:pt x="68" y="321"/>
                    </a:lnTo>
                    <a:lnTo>
                      <a:pt x="74" y="318"/>
                    </a:lnTo>
                    <a:lnTo>
                      <a:pt x="80" y="318"/>
                    </a:lnTo>
                    <a:lnTo>
                      <a:pt x="87" y="315"/>
                    </a:lnTo>
                    <a:lnTo>
                      <a:pt x="96" y="315"/>
                    </a:lnTo>
                    <a:lnTo>
                      <a:pt x="102" y="315"/>
                    </a:lnTo>
                    <a:lnTo>
                      <a:pt x="108" y="312"/>
                    </a:lnTo>
                    <a:lnTo>
                      <a:pt x="111" y="235"/>
                    </a:lnTo>
                    <a:lnTo>
                      <a:pt x="111" y="158"/>
                    </a:lnTo>
                    <a:lnTo>
                      <a:pt x="111" y="80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818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2" name="Freeform 349"/>
              <p:cNvSpPr>
                <a:spLocks/>
              </p:cNvSpPr>
              <p:nvPr/>
            </p:nvSpPr>
            <p:spPr bwMode="auto">
              <a:xfrm>
                <a:off x="5251" y="2285"/>
                <a:ext cx="182" cy="361"/>
              </a:xfrm>
              <a:custGeom>
                <a:avLst/>
                <a:gdLst>
                  <a:gd name="T0" fmla="*/ 3 w 182"/>
                  <a:gd name="T1" fmla="*/ 346 h 361"/>
                  <a:gd name="T2" fmla="*/ 15 w 182"/>
                  <a:gd name="T3" fmla="*/ 346 h 361"/>
                  <a:gd name="T4" fmla="*/ 28 w 182"/>
                  <a:gd name="T5" fmla="*/ 346 h 361"/>
                  <a:gd name="T6" fmla="*/ 37 w 182"/>
                  <a:gd name="T7" fmla="*/ 346 h 361"/>
                  <a:gd name="T8" fmla="*/ 49 w 182"/>
                  <a:gd name="T9" fmla="*/ 346 h 361"/>
                  <a:gd name="T10" fmla="*/ 58 w 182"/>
                  <a:gd name="T11" fmla="*/ 349 h 361"/>
                  <a:gd name="T12" fmla="*/ 71 w 182"/>
                  <a:gd name="T13" fmla="*/ 349 h 361"/>
                  <a:gd name="T14" fmla="*/ 80 w 182"/>
                  <a:gd name="T15" fmla="*/ 349 h 361"/>
                  <a:gd name="T16" fmla="*/ 92 w 182"/>
                  <a:gd name="T17" fmla="*/ 349 h 361"/>
                  <a:gd name="T18" fmla="*/ 102 w 182"/>
                  <a:gd name="T19" fmla="*/ 352 h 361"/>
                  <a:gd name="T20" fmla="*/ 114 w 182"/>
                  <a:gd name="T21" fmla="*/ 352 h 361"/>
                  <a:gd name="T22" fmla="*/ 123 w 182"/>
                  <a:gd name="T23" fmla="*/ 352 h 361"/>
                  <a:gd name="T24" fmla="*/ 136 w 182"/>
                  <a:gd name="T25" fmla="*/ 355 h 361"/>
                  <a:gd name="T26" fmla="*/ 145 w 182"/>
                  <a:gd name="T27" fmla="*/ 358 h 361"/>
                  <a:gd name="T28" fmla="*/ 154 w 182"/>
                  <a:gd name="T29" fmla="*/ 358 h 361"/>
                  <a:gd name="T30" fmla="*/ 167 w 182"/>
                  <a:gd name="T31" fmla="*/ 361 h 361"/>
                  <a:gd name="T32" fmla="*/ 176 w 182"/>
                  <a:gd name="T33" fmla="*/ 361 h 361"/>
                  <a:gd name="T34" fmla="*/ 182 w 182"/>
                  <a:gd name="T35" fmla="*/ 271 h 361"/>
                  <a:gd name="T36" fmla="*/ 182 w 182"/>
                  <a:gd name="T37" fmla="*/ 182 h 361"/>
                  <a:gd name="T38" fmla="*/ 179 w 182"/>
                  <a:gd name="T39" fmla="*/ 92 h 361"/>
                  <a:gd name="T40" fmla="*/ 170 w 182"/>
                  <a:gd name="T41" fmla="*/ 0 h 361"/>
                  <a:gd name="T42" fmla="*/ 170 w 182"/>
                  <a:gd name="T43" fmla="*/ 0 h 361"/>
                  <a:gd name="T44" fmla="*/ 170 w 182"/>
                  <a:gd name="T45" fmla="*/ 0 h 361"/>
                  <a:gd name="T46" fmla="*/ 170 w 182"/>
                  <a:gd name="T47" fmla="*/ 0 h 361"/>
                  <a:gd name="T48" fmla="*/ 157 w 182"/>
                  <a:gd name="T49" fmla="*/ 3 h 361"/>
                  <a:gd name="T50" fmla="*/ 148 w 182"/>
                  <a:gd name="T51" fmla="*/ 3 h 361"/>
                  <a:gd name="T52" fmla="*/ 136 w 182"/>
                  <a:gd name="T53" fmla="*/ 6 h 361"/>
                  <a:gd name="T54" fmla="*/ 123 w 182"/>
                  <a:gd name="T55" fmla="*/ 9 h 361"/>
                  <a:gd name="T56" fmla="*/ 114 w 182"/>
                  <a:gd name="T57" fmla="*/ 9 h 361"/>
                  <a:gd name="T58" fmla="*/ 102 w 182"/>
                  <a:gd name="T59" fmla="*/ 12 h 361"/>
                  <a:gd name="T60" fmla="*/ 92 w 182"/>
                  <a:gd name="T61" fmla="*/ 15 h 361"/>
                  <a:gd name="T62" fmla="*/ 80 w 182"/>
                  <a:gd name="T63" fmla="*/ 18 h 361"/>
                  <a:gd name="T64" fmla="*/ 71 w 182"/>
                  <a:gd name="T65" fmla="*/ 18 h 361"/>
                  <a:gd name="T66" fmla="*/ 62 w 182"/>
                  <a:gd name="T67" fmla="*/ 21 h 361"/>
                  <a:gd name="T68" fmla="*/ 49 w 182"/>
                  <a:gd name="T69" fmla="*/ 24 h 361"/>
                  <a:gd name="T70" fmla="*/ 40 w 182"/>
                  <a:gd name="T71" fmla="*/ 27 h 361"/>
                  <a:gd name="T72" fmla="*/ 31 w 182"/>
                  <a:gd name="T73" fmla="*/ 30 h 361"/>
                  <a:gd name="T74" fmla="*/ 18 w 182"/>
                  <a:gd name="T75" fmla="*/ 30 h 361"/>
                  <a:gd name="T76" fmla="*/ 9 w 182"/>
                  <a:gd name="T77" fmla="*/ 34 h 361"/>
                  <a:gd name="T78" fmla="*/ 0 w 182"/>
                  <a:gd name="T79" fmla="*/ 37 h 361"/>
                  <a:gd name="T80" fmla="*/ 3 w 182"/>
                  <a:gd name="T81" fmla="*/ 117 h 361"/>
                  <a:gd name="T82" fmla="*/ 6 w 182"/>
                  <a:gd name="T83" fmla="*/ 194 h 361"/>
                  <a:gd name="T84" fmla="*/ 6 w 182"/>
                  <a:gd name="T85" fmla="*/ 268 h 361"/>
                  <a:gd name="T86" fmla="*/ 3 w 182"/>
                  <a:gd name="T87" fmla="*/ 346 h 361"/>
                  <a:gd name="T88" fmla="*/ 3 w 182"/>
                  <a:gd name="T89" fmla="*/ 346 h 36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361"/>
                  <a:gd name="T137" fmla="*/ 182 w 182"/>
                  <a:gd name="T138" fmla="*/ 361 h 36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361">
                    <a:moveTo>
                      <a:pt x="3" y="346"/>
                    </a:moveTo>
                    <a:lnTo>
                      <a:pt x="15" y="346"/>
                    </a:lnTo>
                    <a:lnTo>
                      <a:pt x="28" y="346"/>
                    </a:lnTo>
                    <a:lnTo>
                      <a:pt x="37" y="346"/>
                    </a:lnTo>
                    <a:lnTo>
                      <a:pt x="49" y="346"/>
                    </a:lnTo>
                    <a:lnTo>
                      <a:pt x="58" y="349"/>
                    </a:lnTo>
                    <a:lnTo>
                      <a:pt x="71" y="349"/>
                    </a:lnTo>
                    <a:lnTo>
                      <a:pt x="80" y="349"/>
                    </a:lnTo>
                    <a:lnTo>
                      <a:pt x="92" y="349"/>
                    </a:lnTo>
                    <a:lnTo>
                      <a:pt x="102" y="352"/>
                    </a:lnTo>
                    <a:lnTo>
                      <a:pt x="114" y="352"/>
                    </a:lnTo>
                    <a:lnTo>
                      <a:pt x="123" y="352"/>
                    </a:lnTo>
                    <a:lnTo>
                      <a:pt x="136" y="355"/>
                    </a:lnTo>
                    <a:lnTo>
                      <a:pt x="145" y="358"/>
                    </a:lnTo>
                    <a:lnTo>
                      <a:pt x="154" y="358"/>
                    </a:lnTo>
                    <a:lnTo>
                      <a:pt x="167" y="361"/>
                    </a:lnTo>
                    <a:lnTo>
                      <a:pt x="176" y="361"/>
                    </a:lnTo>
                    <a:lnTo>
                      <a:pt x="182" y="271"/>
                    </a:lnTo>
                    <a:lnTo>
                      <a:pt x="182" y="182"/>
                    </a:lnTo>
                    <a:lnTo>
                      <a:pt x="179" y="92"/>
                    </a:lnTo>
                    <a:lnTo>
                      <a:pt x="170" y="0"/>
                    </a:lnTo>
                    <a:lnTo>
                      <a:pt x="157" y="3"/>
                    </a:lnTo>
                    <a:lnTo>
                      <a:pt x="148" y="3"/>
                    </a:lnTo>
                    <a:lnTo>
                      <a:pt x="136" y="6"/>
                    </a:lnTo>
                    <a:lnTo>
                      <a:pt x="123" y="9"/>
                    </a:lnTo>
                    <a:lnTo>
                      <a:pt x="114" y="9"/>
                    </a:lnTo>
                    <a:lnTo>
                      <a:pt x="102" y="12"/>
                    </a:lnTo>
                    <a:lnTo>
                      <a:pt x="92" y="15"/>
                    </a:lnTo>
                    <a:lnTo>
                      <a:pt x="80" y="18"/>
                    </a:lnTo>
                    <a:lnTo>
                      <a:pt x="71" y="18"/>
                    </a:lnTo>
                    <a:lnTo>
                      <a:pt x="62" y="21"/>
                    </a:lnTo>
                    <a:lnTo>
                      <a:pt x="49" y="24"/>
                    </a:lnTo>
                    <a:lnTo>
                      <a:pt x="40" y="27"/>
                    </a:lnTo>
                    <a:lnTo>
                      <a:pt x="31" y="30"/>
                    </a:lnTo>
                    <a:lnTo>
                      <a:pt x="18" y="30"/>
                    </a:lnTo>
                    <a:lnTo>
                      <a:pt x="9" y="34"/>
                    </a:lnTo>
                    <a:lnTo>
                      <a:pt x="0" y="37"/>
                    </a:lnTo>
                    <a:lnTo>
                      <a:pt x="3" y="117"/>
                    </a:lnTo>
                    <a:lnTo>
                      <a:pt x="6" y="194"/>
                    </a:lnTo>
                    <a:lnTo>
                      <a:pt x="6" y="268"/>
                    </a:lnTo>
                    <a:lnTo>
                      <a:pt x="3" y="346"/>
                    </a:lnTo>
                    <a:close/>
                  </a:path>
                </a:pathLst>
              </a:custGeom>
              <a:solidFill>
                <a:srgbClr val="818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3" name="Freeform 350"/>
              <p:cNvSpPr>
                <a:spLocks/>
              </p:cNvSpPr>
              <p:nvPr/>
            </p:nvSpPr>
            <p:spPr bwMode="auto">
              <a:xfrm>
                <a:off x="4997" y="2040"/>
                <a:ext cx="238" cy="606"/>
              </a:xfrm>
              <a:custGeom>
                <a:avLst/>
                <a:gdLst>
                  <a:gd name="T0" fmla="*/ 34 w 238"/>
                  <a:gd name="T1" fmla="*/ 603 h 606"/>
                  <a:gd name="T2" fmla="*/ 59 w 238"/>
                  <a:gd name="T3" fmla="*/ 600 h 606"/>
                  <a:gd name="T4" fmla="*/ 84 w 238"/>
                  <a:gd name="T5" fmla="*/ 597 h 606"/>
                  <a:gd name="T6" fmla="*/ 109 w 238"/>
                  <a:gd name="T7" fmla="*/ 594 h 606"/>
                  <a:gd name="T8" fmla="*/ 133 w 238"/>
                  <a:gd name="T9" fmla="*/ 594 h 606"/>
                  <a:gd name="T10" fmla="*/ 155 w 238"/>
                  <a:gd name="T11" fmla="*/ 591 h 606"/>
                  <a:gd name="T12" fmla="*/ 180 w 238"/>
                  <a:gd name="T13" fmla="*/ 591 h 606"/>
                  <a:gd name="T14" fmla="*/ 204 w 238"/>
                  <a:gd name="T15" fmla="*/ 591 h 606"/>
                  <a:gd name="T16" fmla="*/ 223 w 238"/>
                  <a:gd name="T17" fmla="*/ 591 h 606"/>
                  <a:gd name="T18" fmla="*/ 232 w 238"/>
                  <a:gd name="T19" fmla="*/ 591 h 606"/>
                  <a:gd name="T20" fmla="*/ 238 w 238"/>
                  <a:gd name="T21" fmla="*/ 520 h 606"/>
                  <a:gd name="T22" fmla="*/ 235 w 238"/>
                  <a:gd name="T23" fmla="*/ 374 h 606"/>
                  <a:gd name="T24" fmla="*/ 226 w 238"/>
                  <a:gd name="T25" fmla="*/ 229 h 606"/>
                  <a:gd name="T26" fmla="*/ 211 w 238"/>
                  <a:gd name="T27" fmla="*/ 78 h 606"/>
                  <a:gd name="T28" fmla="*/ 198 w 238"/>
                  <a:gd name="T29" fmla="*/ 4 h 606"/>
                  <a:gd name="T30" fmla="*/ 198 w 238"/>
                  <a:gd name="T31" fmla="*/ 0 h 606"/>
                  <a:gd name="T32" fmla="*/ 186 w 238"/>
                  <a:gd name="T33" fmla="*/ 10 h 606"/>
                  <a:gd name="T34" fmla="*/ 161 w 238"/>
                  <a:gd name="T35" fmla="*/ 25 h 606"/>
                  <a:gd name="T36" fmla="*/ 136 w 238"/>
                  <a:gd name="T37" fmla="*/ 41 h 606"/>
                  <a:gd name="T38" fmla="*/ 112 w 238"/>
                  <a:gd name="T39" fmla="*/ 59 h 606"/>
                  <a:gd name="T40" fmla="*/ 90 w 238"/>
                  <a:gd name="T41" fmla="*/ 75 h 606"/>
                  <a:gd name="T42" fmla="*/ 65 w 238"/>
                  <a:gd name="T43" fmla="*/ 93 h 606"/>
                  <a:gd name="T44" fmla="*/ 41 w 238"/>
                  <a:gd name="T45" fmla="*/ 109 h 606"/>
                  <a:gd name="T46" fmla="*/ 16 w 238"/>
                  <a:gd name="T47" fmla="*/ 127 h 606"/>
                  <a:gd name="T48" fmla="*/ 7 w 238"/>
                  <a:gd name="T49" fmla="*/ 177 h 606"/>
                  <a:gd name="T50" fmla="*/ 16 w 238"/>
                  <a:gd name="T51" fmla="*/ 263 h 606"/>
                  <a:gd name="T52" fmla="*/ 13 w 238"/>
                  <a:gd name="T53" fmla="*/ 303 h 606"/>
                  <a:gd name="T54" fmla="*/ 7 w 238"/>
                  <a:gd name="T55" fmla="*/ 300 h 606"/>
                  <a:gd name="T56" fmla="*/ 7 w 238"/>
                  <a:gd name="T57" fmla="*/ 300 h 606"/>
                  <a:gd name="T58" fmla="*/ 13 w 238"/>
                  <a:gd name="T59" fmla="*/ 303 h 606"/>
                  <a:gd name="T60" fmla="*/ 22 w 238"/>
                  <a:gd name="T61" fmla="*/ 381 h 606"/>
                  <a:gd name="T62" fmla="*/ 22 w 238"/>
                  <a:gd name="T63" fmla="*/ 532 h 606"/>
                  <a:gd name="T64" fmla="*/ 22 w 238"/>
                  <a:gd name="T65" fmla="*/ 606 h 60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38"/>
                  <a:gd name="T100" fmla="*/ 0 h 606"/>
                  <a:gd name="T101" fmla="*/ 238 w 238"/>
                  <a:gd name="T102" fmla="*/ 606 h 60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38" h="606">
                    <a:moveTo>
                      <a:pt x="22" y="606"/>
                    </a:moveTo>
                    <a:lnTo>
                      <a:pt x="34" y="603"/>
                    </a:lnTo>
                    <a:lnTo>
                      <a:pt x="47" y="603"/>
                    </a:lnTo>
                    <a:lnTo>
                      <a:pt x="59" y="600"/>
                    </a:lnTo>
                    <a:lnTo>
                      <a:pt x="72" y="597"/>
                    </a:lnTo>
                    <a:lnTo>
                      <a:pt x="84" y="597"/>
                    </a:lnTo>
                    <a:lnTo>
                      <a:pt x="96" y="597"/>
                    </a:lnTo>
                    <a:lnTo>
                      <a:pt x="109" y="594"/>
                    </a:lnTo>
                    <a:lnTo>
                      <a:pt x="121" y="594"/>
                    </a:lnTo>
                    <a:lnTo>
                      <a:pt x="133" y="594"/>
                    </a:lnTo>
                    <a:lnTo>
                      <a:pt x="143" y="594"/>
                    </a:lnTo>
                    <a:lnTo>
                      <a:pt x="155" y="591"/>
                    </a:lnTo>
                    <a:lnTo>
                      <a:pt x="170" y="591"/>
                    </a:lnTo>
                    <a:lnTo>
                      <a:pt x="180" y="591"/>
                    </a:lnTo>
                    <a:lnTo>
                      <a:pt x="192" y="591"/>
                    </a:lnTo>
                    <a:lnTo>
                      <a:pt x="204" y="591"/>
                    </a:lnTo>
                    <a:lnTo>
                      <a:pt x="220" y="591"/>
                    </a:lnTo>
                    <a:lnTo>
                      <a:pt x="223" y="591"/>
                    </a:lnTo>
                    <a:lnTo>
                      <a:pt x="226" y="591"/>
                    </a:lnTo>
                    <a:lnTo>
                      <a:pt x="232" y="591"/>
                    </a:lnTo>
                    <a:lnTo>
                      <a:pt x="235" y="591"/>
                    </a:lnTo>
                    <a:lnTo>
                      <a:pt x="238" y="520"/>
                    </a:lnTo>
                    <a:lnTo>
                      <a:pt x="238" y="445"/>
                    </a:lnTo>
                    <a:lnTo>
                      <a:pt x="235" y="374"/>
                    </a:lnTo>
                    <a:lnTo>
                      <a:pt x="232" y="300"/>
                    </a:lnTo>
                    <a:lnTo>
                      <a:pt x="226" y="229"/>
                    </a:lnTo>
                    <a:lnTo>
                      <a:pt x="220" y="155"/>
                    </a:lnTo>
                    <a:lnTo>
                      <a:pt x="211" y="78"/>
                    </a:lnTo>
                    <a:lnTo>
                      <a:pt x="198" y="4"/>
                    </a:lnTo>
                    <a:lnTo>
                      <a:pt x="198" y="0"/>
                    </a:lnTo>
                    <a:lnTo>
                      <a:pt x="186" y="10"/>
                    </a:lnTo>
                    <a:lnTo>
                      <a:pt x="173" y="16"/>
                    </a:lnTo>
                    <a:lnTo>
                      <a:pt x="161" y="25"/>
                    </a:lnTo>
                    <a:lnTo>
                      <a:pt x="149" y="31"/>
                    </a:lnTo>
                    <a:lnTo>
                      <a:pt x="136" y="41"/>
                    </a:lnTo>
                    <a:lnTo>
                      <a:pt x="124" y="50"/>
                    </a:lnTo>
                    <a:lnTo>
                      <a:pt x="112" y="59"/>
                    </a:lnTo>
                    <a:lnTo>
                      <a:pt x="99" y="65"/>
                    </a:lnTo>
                    <a:lnTo>
                      <a:pt x="90" y="75"/>
                    </a:lnTo>
                    <a:lnTo>
                      <a:pt x="75" y="84"/>
                    </a:lnTo>
                    <a:lnTo>
                      <a:pt x="65" y="93"/>
                    </a:lnTo>
                    <a:lnTo>
                      <a:pt x="53" y="99"/>
                    </a:lnTo>
                    <a:lnTo>
                      <a:pt x="41" y="109"/>
                    </a:lnTo>
                    <a:lnTo>
                      <a:pt x="28" y="118"/>
                    </a:lnTo>
                    <a:lnTo>
                      <a:pt x="16" y="127"/>
                    </a:lnTo>
                    <a:lnTo>
                      <a:pt x="4" y="136"/>
                    </a:lnTo>
                    <a:lnTo>
                      <a:pt x="7" y="177"/>
                    </a:lnTo>
                    <a:lnTo>
                      <a:pt x="13" y="220"/>
                    </a:lnTo>
                    <a:lnTo>
                      <a:pt x="16" y="263"/>
                    </a:lnTo>
                    <a:lnTo>
                      <a:pt x="19" y="303"/>
                    </a:lnTo>
                    <a:lnTo>
                      <a:pt x="13" y="303"/>
                    </a:lnTo>
                    <a:lnTo>
                      <a:pt x="10" y="303"/>
                    </a:lnTo>
                    <a:lnTo>
                      <a:pt x="7" y="300"/>
                    </a:lnTo>
                    <a:lnTo>
                      <a:pt x="0" y="300"/>
                    </a:lnTo>
                    <a:lnTo>
                      <a:pt x="7" y="300"/>
                    </a:lnTo>
                    <a:lnTo>
                      <a:pt x="10" y="303"/>
                    </a:lnTo>
                    <a:lnTo>
                      <a:pt x="13" y="303"/>
                    </a:lnTo>
                    <a:lnTo>
                      <a:pt x="19" y="306"/>
                    </a:lnTo>
                    <a:lnTo>
                      <a:pt x="22" y="381"/>
                    </a:lnTo>
                    <a:lnTo>
                      <a:pt x="22" y="458"/>
                    </a:lnTo>
                    <a:lnTo>
                      <a:pt x="22" y="532"/>
                    </a:lnTo>
                    <a:lnTo>
                      <a:pt x="22" y="606"/>
                    </a:lnTo>
                    <a:close/>
                  </a:path>
                </a:pathLst>
              </a:custGeom>
              <a:solidFill>
                <a:srgbClr val="818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4" name="Freeform 351"/>
              <p:cNvSpPr>
                <a:spLocks/>
              </p:cNvSpPr>
              <p:nvPr/>
            </p:nvSpPr>
            <p:spPr bwMode="auto">
              <a:xfrm>
                <a:off x="5424" y="2285"/>
                <a:ext cx="139" cy="389"/>
              </a:xfrm>
              <a:custGeom>
                <a:avLst/>
                <a:gdLst>
                  <a:gd name="T0" fmla="*/ 136 w 139"/>
                  <a:gd name="T1" fmla="*/ 89 h 389"/>
                  <a:gd name="T2" fmla="*/ 126 w 139"/>
                  <a:gd name="T3" fmla="*/ 83 h 389"/>
                  <a:gd name="T4" fmla="*/ 117 w 139"/>
                  <a:gd name="T5" fmla="*/ 80 h 389"/>
                  <a:gd name="T6" fmla="*/ 108 w 139"/>
                  <a:gd name="T7" fmla="*/ 74 h 389"/>
                  <a:gd name="T8" fmla="*/ 102 w 139"/>
                  <a:gd name="T9" fmla="*/ 68 h 389"/>
                  <a:gd name="T10" fmla="*/ 92 w 139"/>
                  <a:gd name="T11" fmla="*/ 61 h 389"/>
                  <a:gd name="T12" fmla="*/ 83 w 139"/>
                  <a:gd name="T13" fmla="*/ 55 h 389"/>
                  <a:gd name="T14" fmla="*/ 74 w 139"/>
                  <a:gd name="T15" fmla="*/ 49 h 389"/>
                  <a:gd name="T16" fmla="*/ 68 w 139"/>
                  <a:gd name="T17" fmla="*/ 46 h 389"/>
                  <a:gd name="T18" fmla="*/ 59 w 139"/>
                  <a:gd name="T19" fmla="*/ 40 h 389"/>
                  <a:gd name="T20" fmla="*/ 49 w 139"/>
                  <a:gd name="T21" fmla="*/ 34 h 389"/>
                  <a:gd name="T22" fmla="*/ 40 w 139"/>
                  <a:gd name="T23" fmla="*/ 27 h 389"/>
                  <a:gd name="T24" fmla="*/ 34 w 139"/>
                  <a:gd name="T25" fmla="*/ 21 h 389"/>
                  <a:gd name="T26" fmla="*/ 25 w 139"/>
                  <a:gd name="T27" fmla="*/ 15 h 389"/>
                  <a:gd name="T28" fmla="*/ 15 w 139"/>
                  <a:gd name="T29" fmla="*/ 12 h 389"/>
                  <a:gd name="T30" fmla="*/ 9 w 139"/>
                  <a:gd name="T31" fmla="*/ 6 h 389"/>
                  <a:gd name="T32" fmla="*/ 0 w 139"/>
                  <a:gd name="T33" fmla="*/ 0 h 389"/>
                  <a:gd name="T34" fmla="*/ 6 w 139"/>
                  <a:gd name="T35" fmla="*/ 92 h 389"/>
                  <a:gd name="T36" fmla="*/ 12 w 139"/>
                  <a:gd name="T37" fmla="*/ 182 h 389"/>
                  <a:gd name="T38" fmla="*/ 9 w 139"/>
                  <a:gd name="T39" fmla="*/ 271 h 389"/>
                  <a:gd name="T40" fmla="*/ 3 w 139"/>
                  <a:gd name="T41" fmla="*/ 361 h 389"/>
                  <a:gd name="T42" fmla="*/ 12 w 139"/>
                  <a:gd name="T43" fmla="*/ 361 h 389"/>
                  <a:gd name="T44" fmla="*/ 18 w 139"/>
                  <a:gd name="T45" fmla="*/ 364 h 389"/>
                  <a:gd name="T46" fmla="*/ 25 w 139"/>
                  <a:gd name="T47" fmla="*/ 364 h 389"/>
                  <a:gd name="T48" fmla="*/ 34 w 139"/>
                  <a:gd name="T49" fmla="*/ 367 h 389"/>
                  <a:gd name="T50" fmla="*/ 40 w 139"/>
                  <a:gd name="T51" fmla="*/ 367 h 389"/>
                  <a:gd name="T52" fmla="*/ 49 w 139"/>
                  <a:gd name="T53" fmla="*/ 370 h 389"/>
                  <a:gd name="T54" fmla="*/ 55 w 139"/>
                  <a:gd name="T55" fmla="*/ 373 h 389"/>
                  <a:gd name="T56" fmla="*/ 62 w 139"/>
                  <a:gd name="T57" fmla="*/ 373 h 389"/>
                  <a:gd name="T58" fmla="*/ 71 w 139"/>
                  <a:gd name="T59" fmla="*/ 377 h 389"/>
                  <a:gd name="T60" fmla="*/ 77 w 139"/>
                  <a:gd name="T61" fmla="*/ 377 h 389"/>
                  <a:gd name="T62" fmla="*/ 83 w 139"/>
                  <a:gd name="T63" fmla="*/ 380 h 389"/>
                  <a:gd name="T64" fmla="*/ 92 w 139"/>
                  <a:gd name="T65" fmla="*/ 380 h 389"/>
                  <a:gd name="T66" fmla="*/ 99 w 139"/>
                  <a:gd name="T67" fmla="*/ 383 h 389"/>
                  <a:gd name="T68" fmla="*/ 105 w 139"/>
                  <a:gd name="T69" fmla="*/ 386 h 389"/>
                  <a:gd name="T70" fmla="*/ 111 w 139"/>
                  <a:gd name="T71" fmla="*/ 386 h 389"/>
                  <a:gd name="T72" fmla="*/ 117 w 139"/>
                  <a:gd name="T73" fmla="*/ 389 h 389"/>
                  <a:gd name="T74" fmla="*/ 126 w 139"/>
                  <a:gd name="T75" fmla="*/ 352 h 389"/>
                  <a:gd name="T76" fmla="*/ 130 w 139"/>
                  <a:gd name="T77" fmla="*/ 315 h 389"/>
                  <a:gd name="T78" fmla="*/ 133 w 139"/>
                  <a:gd name="T79" fmla="*/ 281 h 389"/>
                  <a:gd name="T80" fmla="*/ 136 w 139"/>
                  <a:gd name="T81" fmla="*/ 244 h 389"/>
                  <a:gd name="T82" fmla="*/ 139 w 139"/>
                  <a:gd name="T83" fmla="*/ 203 h 389"/>
                  <a:gd name="T84" fmla="*/ 139 w 139"/>
                  <a:gd name="T85" fmla="*/ 166 h 389"/>
                  <a:gd name="T86" fmla="*/ 136 w 139"/>
                  <a:gd name="T87" fmla="*/ 129 h 389"/>
                  <a:gd name="T88" fmla="*/ 136 w 139"/>
                  <a:gd name="T89" fmla="*/ 89 h 389"/>
                  <a:gd name="T90" fmla="*/ 136 w 139"/>
                  <a:gd name="T91" fmla="*/ 89 h 38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39"/>
                  <a:gd name="T139" fmla="*/ 0 h 389"/>
                  <a:gd name="T140" fmla="*/ 139 w 139"/>
                  <a:gd name="T141" fmla="*/ 389 h 38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39" h="389">
                    <a:moveTo>
                      <a:pt x="136" y="89"/>
                    </a:moveTo>
                    <a:lnTo>
                      <a:pt x="126" y="83"/>
                    </a:lnTo>
                    <a:lnTo>
                      <a:pt x="117" y="80"/>
                    </a:lnTo>
                    <a:lnTo>
                      <a:pt x="108" y="74"/>
                    </a:lnTo>
                    <a:lnTo>
                      <a:pt x="102" y="68"/>
                    </a:lnTo>
                    <a:lnTo>
                      <a:pt x="92" y="61"/>
                    </a:lnTo>
                    <a:lnTo>
                      <a:pt x="83" y="55"/>
                    </a:lnTo>
                    <a:lnTo>
                      <a:pt x="74" y="49"/>
                    </a:lnTo>
                    <a:lnTo>
                      <a:pt x="68" y="46"/>
                    </a:lnTo>
                    <a:lnTo>
                      <a:pt x="59" y="40"/>
                    </a:lnTo>
                    <a:lnTo>
                      <a:pt x="49" y="34"/>
                    </a:lnTo>
                    <a:lnTo>
                      <a:pt x="40" y="27"/>
                    </a:lnTo>
                    <a:lnTo>
                      <a:pt x="34" y="21"/>
                    </a:lnTo>
                    <a:lnTo>
                      <a:pt x="25" y="15"/>
                    </a:lnTo>
                    <a:lnTo>
                      <a:pt x="15" y="12"/>
                    </a:lnTo>
                    <a:lnTo>
                      <a:pt x="9" y="6"/>
                    </a:lnTo>
                    <a:lnTo>
                      <a:pt x="0" y="0"/>
                    </a:lnTo>
                    <a:lnTo>
                      <a:pt x="6" y="92"/>
                    </a:lnTo>
                    <a:lnTo>
                      <a:pt x="12" y="182"/>
                    </a:lnTo>
                    <a:lnTo>
                      <a:pt x="9" y="271"/>
                    </a:lnTo>
                    <a:lnTo>
                      <a:pt x="3" y="361"/>
                    </a:lnTo>
                    <a:lnTo>
                      <a:pt x="12" y="361"/>
                    </a:lnTo>
                    <a:lnTo>
                      <a:pt x="18" y="364"/>
                    </a:lnTo>
                    <a:lnTo>
                      <a:pt x="25" y="364"/>
                    </a:lnTo>
                    <a:lnTo>
                      <a:pt x="34" y="367"/>
                    </a:lnTo>
                    <a:lnTo>
                      <a:pt x="40" y="367"/>
                    </a:lnTo>
                    <a:lnTo>
                      <a:pt x="49" y="370"/>
                    </a:lnTo>
                    <a:lnTo>
                      <a:pt x="55" y="373"/>
                    </a:lnTo>
                    <a:lnTo>
                      <a:pt x="62" y="373"/>
                    </a:lnTo>
                    <a:lnTo>
                      <a:pt x="71" y="377"/>
                    </a:lnTo>
                    <a:lnTo>
                      <a:pt x="77" y="377"/>
                    </a:lnTo>
                    <a:lnTo>
                      <a:pt x="83" y="380"/>
                    </a:lnTo>
                    <a:lnTo>
                      <a:pt x="92" y="380"/>
                    </a:lnTo>
                    <a:lnTo>
                      <a:pt x="99" y="383"/>
                    </a:lnTo>
                    <a:lnTo>
                      <a:pt x="105" y="386"/>
                    </a:lnTo>
                    <a:lnTo>
                      <a:pt x="111" y="386"/>
                    </a:lnTo>
                    <a:lnTo>
                      <a:pt x="117" y="389"/>
                    </a:lnTo>
                    <a:lnTo>
                      <a:pt x="126" y="352"/>
                    </a:lnTo>
                    <a:lnTo>
                      <a:pt x="130" y="315"/>
                    </a:lnTo>
                    <a:lnTo>
                      <a:pt x="133" y="281"/>
                    </a:lnTo>
                    <a:lnTo>
                      <a:pt x="136" y="244"/>
                    </a:lnTo>
                    <a:lnTo>
                      <a:pt x="139" y="203"/>
                    </a:lnTo>
                    <a:lnTo>
                      <a:pt x="139" y="166"/>
                    </a:lnTo>
                    <a:lnTo>
                      <a:pt x="136" y="129"/>
                    </a:lnTo>
                    <a:lnTo>
                      <a:pt x="136" y="8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5" name="Freeform 352"/>
              <p:cNvSpPr>
                <a:spLocks/>
              </p:cNvSpPr>
              <p:nvPr/>
            </p:nvSpPr>
            <p:spPr bwMode="auto">
              <a:xfrm>
                <a:off x="4988" y="2334"/>
                <a:ext cx="9" cy="3"/>
              </a:xfrm>
              <a:custGeom>
                <a:avLst/>
                <a:gdLst>
                  <a:gd name="T0" fmla="*/ 9 w 9"/>
                  <a:gd name="T1" fmla="*/ 3 h 3"/>
                  <a:gd name="T2" fmla="*/ 9 w 9"/>
                  <a:gd name="T3" fmla="*/ 3 h 3"/>
                  <a:gd name="T4" fmla="*/ 6 w 9"/>
                  <a:gd name="T5" fmla="*/ 3 h 3"/>
                  <a:gd name="T6" fmla="*/ 3 w 9"/>
                  <a:gd name="T7" fmla="*/ 3 h 3"/>
                  <a:gd name="T8" fmla="*/ 0 w 9"/>
                  <a:gd name="T9" fmla="*/ 0 h 3"/>
                  <a:gd name="T10" fmla="*/ 3 w 9"/>
                  <a:gd name="T11" fmla="*/ 3 h 3"/>
                  <a:gd name="T12" fmla="*/ 6 w 9"/>
                  <a:gd name="T13" fmla="*/ 3 h 3"/>
                  <a:gd name="T14" fmla="*/ 9 w 9"/>
                  <a:gd name="T15" fmla="*/ 3 h 3"/>
                  <a:gd name="T16" fmla="*/ 9 w 9"/>
                  <a:gd name="T17" fmla="*/ 3 h 3"/>
                  <a:gd name="T18" fmla="*/ 9 w 9"/>
                  <a:gd name="T19" fmla="*/ 3 h 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"/>
                  <a:gd name="T32" fmla="*/ 9 w 9"/>
                  <a:gd name="T33" fmla="*/ 3 h 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">
                    <a:moveTo>
                      <a:pt x="9" y="3"/>
                    </a:moveTo>
                    <a:lnTo>
                      <a:pt x="9" y="3"/>
                    </a:lnTo>
                    <a:lnTo>
                      <a:pt x="6" y="3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3"/>
                    </a:lnTo>
                    <a:lnTo>
                      <a:pt x="6" y="3"/>
                    </a:ln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243C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6" name="Freeform 353"/>
              <p:cNvSpPr>
                <a:spLocks/>
              </p:cNvSpPr>
              <p:nvPr/>
            </p:nvSpPr>
            <p:spPr bwMode="auto">
              <a:xfrm>
                <a:off x="4988" y="2334"/>
                <a:ext cx="31" cy="315"/>
              </a:xfrm>
              <a:custGeom>
                <a:avLst/>
                <a:gdLst>
                  <a:gd name="T0" fmla="*/ 3 w 31"/>
                  <a:gd name="T1" fmla="*/ 315 h 315"/>
                  <a:gd name="T2" fmla="*/ 6 w 31"/>
                  <a:gd name="T3" fmla="*/ 315 h 315"/>
                  <a:gd name="T4" fmla="*/ 9 w 31"/>
                  <a:gd name="T5" fmla="*/ 315 h 315"/>
                  <a:gd name="T6" fmla="*/ 13 w 31"/>
                  <a:gd name="T7" fmla="*/ 312 h 315"/>
                  <a:gd name="T8" fmla="*/ 16 w 31"/>
                  <a:gd name="T9" fmla="*/ 312 h 315"/>
                  <a:gd name="T10" fmla="*/ 19 w 31"/>
                  <a:gd name="T11" fmla="*/ 312 h 315"/>
                  <a:gd name="T12" fmla="*/ 25 w 31"/>
                  <a:gd name="T13" fmla="*/ 312 h 315"/>
                  <a:gd name="T14" fmla="*/ 28 w 31"/>
                  <a:gd name="T15" fmla="*/ 312 h 315"/>
                  <a:gd name="T16" fmla="*/ 31 w 31"/>
                  <a:gd name="T17" fmla="*/ 312 h 315"/>
                  <a:gd name="T18" fmla="*/ 31 w 31"/>
                  <a:gd name="T19" fmla="*/ 238 h 315"/>
                  <a:gd name="T20" fmla="*/ 31 w 31"/>
                  <a:gd name="T21" fmla="*/ 161 h 315"/>
                  <a:gd name="T22" fmla="*/ 31 w 31"/>
                  <a:gd name="T23" fmla="*/ 87 h 315"/>
                  <a:gd name="T24" fmla="*/ 28 w 31"/>
                  <a:gd name="T25" fmla="*/ 9 h 315"/>
                  <a:gd name="T26" fmla="*/ 25 w 31"/>
                  <a:gd name="T27" fmla="*/ 9 h 315"/>
                  <a:gd name="T28" fmla="*/ 22 w 31"/>
                  <a:gd name="T29" fmla="*/ 9 h 315"/>
                  <a:gd name="T30" fmla="*/ 16 w 31"/>
                  <a:gd name="T31" fmla="*/ 6 h 315"/>
                  <a:gd name="T32" fmla="*/ 13 w 31"/>
                  <a:gd name="T33" fmla="*/ 6 h 315"/>
                  <a:gd name="T34" fmla="*/ 9 w 31"/>
                  <a:gd name="T35" fmla="*/ 3 h 315"/>
                  <a:gd name="T36" fmla="*/ 6 w 31"/>
                  <a:gd name="T37" fmla="*/ 3 h 315"/>
                  <a:gd name="T38" fmla="*/ 3 w 31"/>
                  <a:gd name="T39" fmla="*/ 3 h 315"/>
                  <a:gd name="T40" fmla="*/ 0 w 31"/>
                  <a:gd name="T41" fmla="*/ 0 h 315"/>
                  <a:gd name="T42" fmla="*/ 6 w 31"/>
                  <a:gd name="T43" fmla="*/ 80 h 315"/>
                  <a:gd name="T44" fmla="*/ 6 w 31"/>
                  <a:gd name="T45" fmla="*/ 161 h 315"/>
                  <a:gd name="T46" fmla="*/ 6 w 31"/>
                  <a:gd name="T47" fmla="*/ 238 h 315"/>
                  <a:gd name="T48" fmla="*/ 3 w 31"/>
                  <a:gd name="T49" fmla="*/ 315 h 315"/>
                  <a:gd name="T50" fmla="*/ 3 w 31"/>
                  <a:gd name="T51" fmla="*/ 315 h 31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315"/>
                  <a:gd name="T80" fmla="*/ 31 w 31"/>
                  <a:gd name="T81" fmla="*/ 315 h 31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315">
                    <a:moveTo>
                      <a:pt x="3" y="315"/>
                    </a:moveTo>
                    <a:lnTo>
                      <a:pt x="6" y="315"/>
                    </a:lnTo>
                    <a:lnTo>
                      <a:pt x="9" y="315"/>
                    </a:lnTo>
                    <a:lnTo>
                      <a:pt x="13" y="312"/>
                    </a:lnTo>
                    <a:lnTo>
                      <a:pt x="16" y="312"/>
                    </a:lnTo>
                    <a:lnTo>
                      <a:pt x="19" y="312"/>
                    </a:lnTo>
                    <a:lnTo>
                      <a:pt x="25" y="312"/>
                    </a:lnTo>
                    <a:lnTo>
                      <a:pt x="28" y="312"/>
                    </a:lnTo>
                    <a:lnTo>
                      <a:pt x="31" y="312"/>
                    </a:lnTo>
                    <a:lnTo>
                      <a:pt x="31" y="238"/>
                    </a:lnTo>
                    <a:lnTo>
                      <a:pt x="31" y="161"/>
                    </a:lnTo>
                    <a:lnTo>
                      <a:pt x="31" y="87"/>
                    </a:lnTo>
                    <a:lnTo>
                      <a:pt x="28" y="9"/>
                    </a:lnTo>
                    <a:lnTo>
                      <a:pt x="25" y="9"/>
                    </a:lnTo>
                    <a:lnTo>
                      <a:pt x="22" y="9"/>
                    </a:lnTo>
                    <a:lnTo>
                      <a:pt x="16" y="6"/>
                    </a:lnTo>
                    <a:lnTo>
                      <a:pt x="13" y="6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6" y="80"/>
                    </a:lnTo>
                    <a:lnTo>
                      <a:pt x="6" y="161"/>
                    </a:lnTo>
                    <a:lnTo>
                      <a:pt x="6" y="238"/>
                    </a:lnTo>
                    <a:lnTo>
                      <a:pt x="3" y="31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7" name="Freeform 354"/>
              <p:cNvSpPr>
                <a:spLocks/>
              </p:cNvSpPr>
              <p:nvPr/>
            </p:nvSpPr>
            <p:spPr bwMode="auto">
              <a:xfrm>
                <a:off x="5195" y="2044"/>
                <a:ext cx="3" cy="3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3 w 3"/>
                  <a:gd name="T5" fmla="*/ 0 h 3"/>
                  <a:gd name="T6" fmla="*/ 3 w 3"/>
                  <a:gd name="T7" fmla="*/ 0 h 3"/>
                  <a:gd name="T8" fmla="*/ 3 w 3"/>
                  <a:gd name="T9" fmla="*/ 0 h 3"/>
                  <a:gd name="T10" fmla="*/ 3 w 3"/>
                  <a:gd name="T11" fmla="*/ 3 h 3"/>
                  <a:gd name="T12" fmla="*/ 3 w 3"/>
                  <a:gd name="T13" fmla="*/ 0 h 3"/>
                  <a:gd name="T14" fmla="*/ 3 w 3"/>
                  <a:gd name="T15" fmla="*/ 0 h 3"/>
                  <a:gd name="T16" fmla="*/ 3 w 3"/>
                  <a:gd name="T17" fmla="*/ 0 h 3"/>
                  <a:gd name="T18" fmla="*/ 0 w 3"/>
                  <a:gd name="T19" fmla="*/ 0 h 3"/>
                  <a:gd name="T20" fmla="*/ 0 w 3"/>
                  <a:gd name="T21" fmla="*/ 0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"/>
                  <a:gd name="T34" fmla="*/ 0 h 3"/>
                  <a:gd name="T35" fmla="*/ 3 w 3"/>
                  <a:gd name="T36" fmla="*/ 3 h 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" h="3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3C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8" name="Freeform 355"/>
              <p:cNvSpPr>
                <a:spLocks/>
              </p:cNvSpPr>
              <p:nvPr/>
            </p:nvSpPr>
            <p:spPr bwMode="auto">
              <a:xfrm>
                <a:off x="5195" y="2044"/>
                <a:ext cx="136" cy="587"/>
              </a:xfrm>
              <a:custGeom>
                <a:avLst/>
                <a:gdLst>
                  <a:gd name="T0" fmla="*/ 37 w 136"/>
                  <a:gd name="T1" fmla="*/ 587 h 587"/>
                  <a:gd name="T2" fmla="*/ 40 w 136"/>
                  <a:gd name="T3" fmla="*/ 587 h 587"/>
                  <a:gd name="T4" fmla="*/ 43 w 136"/>
                  <a:gd name="T5" fmla="*/ 587 h 587"/>
                  <a:gd name="T6" fmla="*/ 47 w 136"/>
                  <a:gd name="T7" fmla="*/ 587 h 587"/>
                  <a:gd name="T8" fmla="*/ 50 w 136"/>
                  <a:gd name="T9" fmla="*/ 587 h 587"/>
                  <a:gd name="T10" fmla="*/ 53 w 136"/>
                  <a:gd name="T11" fmla="*/ 587 h 587"/>
                  <a:gd name="T12" fmla="*/ 56 w 136"/>
                  <a:gd name="T13" fmla="*/ 587 h 587"/>
                  <a:gd name="T14" fmla="*/ 59 w 136"/>
                  <a:gd name="T15" fmla="*/ 587 h 587"/>
                  <a:gd name="T16" fmla="*/ 59 w 136"/>
                  <a:gd name="T17" fmla="*/ 587 h 587"/>
                  <a:gd name="T18" fmla="*/ 62 w 136"/>
                  <a:gd name="T19" fmla="*/ 509 h 587"/>
                  <a:gd name="T20" fmla="*/ 62 w 136"/>
                  <a:gd name="T21" fmla="*/ 435 h 587"/>
                  <a:gd name="T22" fmla="*/ 59 w 136"/>
                  <a:gd name="T23" fmla="*/ 358 h 587"/>
                  <a:gd name="T24" fmla="*/ 56 w 136"/>
                  <a:gd name="T25" fmla="*/ 278 h 587"/>
                  <a:gd name="T26" fmla="*/ 65 w 136"/>
                  <a:gd name="T27" fmla="*/ 275 h 587"/>
                  <a:gd name="T28" fmla="*/ 74 w 136"/>
                  <a:gd name="T29" fmla="*/ 271 h 587"/>
                  <a:gd name="T30" fmla="*/ 87 w 136"/>
                  <a:gd name="T31" fmla="*/ 271 h 587"/>
                  <a:gd name="T32" fmla="*/ 96 w 136"/>
                  <a:gd name="T33" fmla="*/ 268 h 587"/>
                  <a:gd name="T34" fmla="*/ 105 w 136"/>
                  <a:gd name="T35" fmla="*/ 265 h 587"/>
                  <a:gd name="T36" fmla="*/ 118 w 136"/>
                  <a:gd name="T37" fmla="*/ 262 h 587"/>
                  <a:gd name="T38" fmla="*/ 127 w 136"/>
                  <a:gd name="T39" fmla="*/ 259 h 587"/>
                  <a:gd name="T40" fmla="*/ 136 w 136"/>
                  <a:gd name="T41" fmla="*/ 259 h 587"/>
                  <a:gd name="T42" fmla="*/ 133 w 136"/>
                  <a:gd name="T43" fmla="*/ 219 h 587"/>
                  <a:gd name="T44" fmla="*/ 130 w 136"/>
                  <a:gd name="T45" fmla="*/ 182 h 587"/>
                  <a:gd name="T46" fmla="*/ 124 w 136"/>
                  <a:gd name="T47" fmla="*/ 145 h 587"/>
                  <a:gd name="T48" fmla="*/ 121 w 136"/>
                  <a:gd name="T49" fmla="*/ 108 h 587"/>
                  <a:gd name="T50" fmla="*/ 111 w 136"/>
                  <a:gd name="T51" fmla="*/ 102 h 587"/>
                  <a:gd name="T52" fmla="*/ 105 w 136"/>
                  <a:gd name="T53" fmla="*/ 95 h 587"/>
                  <a:gd name="T54" fmla="*/ 96 w 136"/>
                  <a:gd name="T55" fmla="*/ 89 h 587"/>
                  <a:gd name="T56" fmla="*/ 90 w 136"/>
                  <a:gd name="T57" fmla="*/ 80 h 587"/>
                  <a:gd name="T58" fmla="*/ 84 w 136"/>
                  <a:gd name="T59" fmla="*/ 74 h 587"/>
                  <a:gd name="T60" fmla="*/ 74 w 136"/>
                  <a:gd name="T61" fmla="*/ 68 h 587"/>
                  <a:gd name="T62" fmla="*/ 68 w 136"/>
                  <a:gd name="T63" fmla="*/ 61 h 587"/>
                  <a:gd name="T64" fmla="*/ 62 w 136"/>
                  <a:gd name="T65" fmla="*/ 52 h 587"/>
                  <a:gd name="T66" fmla="*/ 53 w 136"/>
                  <a:gd name="T67" fmla="*/ 46 h 587"/>
                  <a:gd name="T68" fmla="*/ 47 w 136"/>
                  <a:gd name="T69" fmla="*/ 40 h 587"/>
                  <a:gd name="T70" fmla="*/ 40 w 136"/>
                  <a:gd name="T71" fmla="*/ 34 h 587"/>
                  <a:gd name="T72" fmla="*/ 31 w 136"/>
                  <a:gd name="T73" fmla="*/ 27 h 587"/>
                  <a:gd name="T74" fmla="*/ 25 w 136"/>
                  <a:gd name="T75" fmla="*/ 21 h 587"/>
                  <a:gd name="T76" fmla="*/ 16 w 136"/>
                  <a:gd name="T77" fmla="*/ 12 h 587"/>
                  <a:gd name="T78" fmla="*/ 9 w 136"/>
                  <a:gd name="T79" fmla="*/ 6 h 587"/>
                  <a:gd name="T80" fmla="*/ 0 w 136"/>
                  <a:gd name="T81" fmla="*/ 0 h 587"/>
                  <a:gd name="T82" fmla="*/ 13 w 136"/>
                  <a:gd name="T83" fmla="*/ 74 h 587"/>
                  <a:gd name="T84" fmla="*/ 22 w 136"/>
                  <a:gd name="T85" fmla="*/ 148 h 587"/>
                  <a:gd name="T86" fmla="*/ 28 w 136"/>
                  <a:gd name="T87" fmla="*/ 222 h 587"/>
                  <a:gd name="T88" fmla="*/ 34 w 136"/>
                  <a:gd name="T89" fmla="*/ 296 h 587"/>
                  <a:gd name="T90" fmla="*/ 37 w 136"/>
                  <a:gd name="T91" fmla="*/ 370 h 587"/>
                  <a:gd name="T92" fmla="*/ 40 w 136"/>
                  <a:gd name="T93" fmla="*/ 441 h 587"/>
                  <a:gd name="T94" fmla="*/ 40 w 136"/>
                  <a:gd name="T95" fmla="*/ 512 h 587"/>
                  <a:gd name="T96" fmla="*/ 37 w 136"/>
                  <a:gd name="T97" fmla="*/ 587 h 587"/>
                  <a:gd name="T98" fmla="*/ 37 w 136"/>
                  <a:gd name="T99" fmla="*/ 587 h 58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36"/>
                  <a:gd name="T151" fmla="*/ 0 h 587"/>
                  <a:gd name="T152" fmla="*/ 136 w 136"/>
                  <a:gd name="T153" fmla="*/ 587 h 587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36" h="587">
                    <a:moveTo>
                      <a:pt x="37" y="587"/>
                    </a:moveTo>
                    <a:lnTo>
                      <a:pt x="40" y="587"/>
                    </a:lnTo>
                    <a:lnTo>
                      <a:pt x="43" y="587"/>
                    </a:lnTo>
                    <a:lnTo>
                      <a:pt x="47" y="587"/>
                    </a:lnTo>
                    <a:lnTo>
                      <a:pt x="50" y="587"/>
                    </a:lnTo>
                    <a:lnTo>
                      <a:pt x="53" y="587"/>
                    </a:lnTo>
                    <a:lnTo>
                      <a:pt x="56" y="587"/>
                    </a:lnTo>
                    <a:lnTo>
                      <a:pt x="59" y="587"/>
                    </a:lnTo>
                    <a:lnTo>
                      <a:pt x="62" y="509"/>
                    </a:lnTo>
                    <a:lnTo>
                      <a:pt x="62" y="435"/>
                    </a:lnTo>
                    <a:lnTo>
                      <a:pt x="59" y="358"/>
                    </a:lnTo>
                    <a:lnTo>
                      <a:pt x="56" y="278"/>
                    </a:lnTo>
                    <a:lnTo>
                      <a:pt x="65" y="275"/>
                    </a:lnTo>
                    <a:lnTo>
                      <a:pt x="74" y="271"/>
                    </a:lnTo>
                    <a:lnTo>
                      <a:pt x="87" y="271"/>
                    </a:lnTo>
                    <a:lnTo>
                      <a:pt x="96" y="268"/>
                    </a:lnTo>
                    <a:lnTo>
                      <a:pt x="105" y="265"/>
                    </a:lnTo>
                    <a:lnTo>
                      <a:pt x="118" y="262"/>
                    </a:lnTo>
                    <a:lnTo>
                      <a:pt x="127" y="259"/>
                    </a:lnTo>
                    <a:lnTo>
                      <a:pt x="136" y="259"/>
                    </a:lnTo>
                    <a:lnTo>
                      <a:pt x="133" y="219"/>
                    </a:lnTo>
                    <a:lnTo>
                      <a:pt x="130" y="182"/>
                    </a:lnTo>
                    <a:lnTo>
                      <a:pt x="124" y="145"/>
                    </a:lnTo>
                    <a:lnTo>
                      <a:pt x="121" y="108"/>
                    </a:lnTo>
                    <a:lnTo>
                      <a:pt x="111" y="102"/>
                    </a:lnTo>
                    <a:lnTo>
                      <a:pt x="105" y="95"/>
                    </a:lnTo>
                    <a:lnTo>
                      <a:pt x="96" y="89"/>
                    </a:lnTo>
                    <a:lnTo>
                      <a:pt x="90" y="80"/>
                    </a:lnTo>
                    <a:lnTo>
                      <a:pt x="84" y="74"/>
                    </a:lnTo>
                    <a:lnTo>
                      <a:pt x="74" y="68"/>
                    </a:lnTo>
                    <a:lnTo>
                      <a:pt x="68" y="61"/>
                    </a:lnTo>
                    <a:lnTo>
                      <a:pt x="62" y="52"/>
                    </a:lnTo>
                    <a:lnTo>
                      <a:pt x="53" y="46"/>
                    </a:lnTo>
                    <a:lnTo>
                      <a:pt x="47" y="40"/>
                    </a:lnTo>
                    <a:lnTo>
                      <a:pt x="40" y="34"/>
                    </a:lnTo>
                    <a:lnTo>
                      <a:pt x="31" y="27"/>
                    </a:lnTo>
                    <a:lnTo>
                      <a:pt x="25" y="21"/>
                    </a:lnTo>
                    <a:lnTo>
                      <a:pt x="16" y="12"/>
                    </a:lnTo>
                    <a:lnTo>
                      <a:pt x="9" y="6"/>
                    </a:lnTo>
                    <a:lnTo>
                      <a:pt x="0" y="0"/>
                    </a:lnTo>
                    <a:lnTo>
                      <a:pt x="13" y="74"/>
                    </a:lnTo>
                    <a:lnTo>
                      <a:pt x="22" y="148"/>
                    </a:lnTo>
                    <a:lnTo>
                      <a:pt x="28" y="222"/>
                    </a:lnTo>
                    <a:lnTo>
                      <a:pt x="34" y="296"/>
                    </a:lnTo>
                    <a:lnTo>
                      <a:pt x="37" y="370"/>
                    </a:lnTo>
                    <a:lnTo>
                      <a:pt x="40" y="441"/>
                    </a:lnTo>
                    <a:lnTo>
                      <a:pt x="40" y="512"/>
                    </a:lnTo>
                    <a:lnTo>
                      <a:pt x="37" y="58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89" name="Freeform 356"/>
              <p:cNvSpPr>
                <a:spLocks/>
              </p:cNvSpPr>
              <p:nvPr/>
            </p:nvSpPr>
            <p:spPr bwMode="auto">
              <a:xfrm>
                <a:off x="5041" y="2380"/>
                <a:ext cx="34" cy="53"/>
              </a:xfrm>
              <a:custGeom>
                <a:avLst/>
                <a:gdLst>
                  <a:gd name="T0" fmla="*/ 31 w 34"/>
                  <a:gd name="T1" fmla="*/ 0 h 53"/>
                  <a:gd name="T2" fmla="*/ 28 w 34"/>
                  <a:gd name="T3" fmla="*/ 0 h 53"/>
                  <a:gd name="T4" fmla="*/ 24 w 34"/>
                  <a:gd name="T5" fmla="*/ 0 h 53"/>
                  <a:gd name="T6" fmla="*/ 21 w 34"/>
                  <a:gd name="T7" fmla="*/ 3 h 53"/>
                  <a:gd name="T8" fmla="*/ 15 w 34"/>
                  <a:gd name="T9" fmla="*/ 3 h 53"/>
                  <a:gd name="T10" fmla="*/ 12 w 34"/>
                  <a:gd name="T11" fmla="*/ 7 h 53"/>
                  <a:gd name="T12" fmla="*/ 9 w 34"/>
                  <a:gd name="T13" fmla="*/ 7 h 53"/>
                  <a:gd name="T14" fmla="*/ 6 w 34"/>
                  <a:gd name="T15" fmla="*/ 10 h 53"/>
                  <a:gd name="T16" fmla="*/ 0 w 34"/>
                  <a:gd name="T17" fmla="*/ 10 h 53"/>
                  <a:gd name="T18" fmla="*/ 3 w 34"/>
                  <a:gd name="T19" fmla="*/ 22 h 53"/>
                  <a:gd name="T20" fmla="*/ 3 w 34"/>
                  <a:gd name="T21" fmla="*/ 31 h 53"/>
                  <a:gd name="T22" fmla="*/ 3 w 34"/>
                  <a:gd name="T23" fmla="*/ 44 h 53"/>
                  <a:gd name="T24" fmla="*/ 3 w 34"/>
                  <a:gd name="T25" fmla="*/ 53 h 53"/>
                  <a:gd name="T26" fmla="*/ 6 w 34"/>
                  <a:gd name="T27" fmla="*/ 53 h 53"/>
                  <a:gd name="T28" fmla="*/ 9 w 34"/>
                  <a:gd name="T29" fmla="*/ 50 h 53"/>
                  <a:gd name="T30" fmla="*/ 15 w 34"/>
                  <a:gd name="T31" fmla="*/ 50 h 53"/>
                  <a:gd name="T32" fmla="*/ 18 w 34"/>
                  <a:gd name="T33" fmla="*/ 50 h 53"/>
                  <a:gd name="T34" fmla="*/ 21 w 34"/>
                  <a:gd name="T35" fmla="*/ 47 h 53"/>
                  <a:gd name="T36" fmla="*/ 24 w 34"/>
                  <a:gd name="T37" fmla="*/ 47 h 53"/>
                  <a:gd name="T38" fmla="*/ 31 w 34"/>
                  <a:gd name="T39" fmla="*/ 47 h 53"/>
                  <a:gd name="T40" fmla="*/ 34 w 34"/>
                  <a:gd name="T41" fmla="*/ 44 h 53"/>
                  <a:gd name="T42" fmla="*/ 34 w 34"/>
                  <a:gd name="T43" fmla="*/ 34 h 53"/>
                  <a:gd name="T44" fmla="*/ 34 w 34"/>
                  <a:gd name="T45" fmla="*/ 22 h 53"/>
                  <a:gd name="T46" fmla="*/ 31 w 34"/>
                  <a:gd name="T47" fmla="*/ 10 h 53"/>
                  <a:gd name="T48" fmla="*/ 31 w 34"/>
                  <a:gd name="T49" fmla="*/ 0 h 53"/>
                  <a:gd name="T50" fmla="*/ 31 w 34"/>
                  <a:gd name="T51" fmla="*/ 0 h 5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3"/>
                  <a:gd name="T80" fmla="*/ 34 w 34"/>
                  <a:gd name="T81" fmla="*/ 53 h 53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3">
                    <a:moveTo>
                      <a:pt x="31" y="0"/>
                    </a:moveTo>
                    <a:lnTo>
                      <a:pt x="28" y="0"/>
                    </a:lnTo>
                    <a:lnTo>
                      <a:pt x="24" y="0"/>
                    </a:lnTo>
                    <a:lnTo>
                      <a:pt x="21" y="3"/>
                    </a:lnTo>
                    <a:lnTo>
                      <a:pt x="15" y="3"/>
                    </a:lnTo>
                    <a:lnTo>
                      <a:pt x="12" y="7"/>
                    </a:lnTo>
                    <a:lnTo>
                      <a:pt x="9" y="7"/>
                    </a:lnTo>
                    <a:lnTo>
                      <a:pt x="6" y="10"/>
                    </a:lnTo>
                    <a:lnTo>
                      <a:pt x="0" y="10"/>
                    </a:lnTo>
                    <a:lnTo>
                      <a:pt x="3" y="22"/>
                    </a:lnTo>
                    <a:lnTo>
                      <a:pt x="3" y="31"/>
                    </a:lnTo>
                    <a:lnTo>
                      <a:pt x="3" y="44"/>
                    </a:lnTo>
                    <a:lnTo>
                      <a:pt x="3" y="53"/>
                    </a:lnTo>
                    <a:lnTo>
                      <a:pt x="6" y="53"/>
                    </a:lnTo>
                    <a:lnTo>
                      <a:pt x="9" y="50"/>
                    </a:lnTo>
                    <a:lnTo>
                      <a:pt x="15" y="50"/>
                    </a:lnTo>
                    <a:lnTo>
                      <a:pt x="18" y="50"/>
                    </a:lnTo>
                    <a:lnTo>
                      <a:pt x="21" y="47"/>
                    </a:lnTo>
                    <a:lnTo>
                      <a:pt x="24" y="47"/>
                    </a:lnTo>
                    <a:lnTo>
                      <a:pt x="31" y="47"/>
                    </a:lnTo>
                    <a:lnTo>
                      <a:pt x="34" y="44"/>
                    </a:lnTo>
                    <a:lnTo>
                      <a:pt x="34" y="34"/>
                    </a:lnTo>
                    <a:lnTo>
                      <a:pt x="34" y="22"/>
                    </a:lnTo>
                    <a:lnTo>
                      <a:pt x="31" y="1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0" name="Freeform 357"/>
              <p:cNvSpPr>
                <a:spLocks/>
              </p:cNvSpPr>
              <p:nvPr/>
            </p:nvSpPr>
            <p:spPr bwMode="auto">
              <a:xfrm>
                <a:off x="5044" y="2553"/>
                <a:ext cx="34" cy="44"/>
              </a:xfrm>
              <a:custGeom>
                <a:avLst/>
                <a:gdLst>
                  <a:gd name="T0" fmla="*/ 0 w 34"/>
                  <a:gd name="T1" fmla="*/ 7 h 44"/>
                  <a:gd name="T2" fmla="*/ 0 w 34"/>
                  <a:gd name="T3" fmla="*/ 16 h 44"/>
                  <a:gd name="T4" fmla="*/ 0 w 34"/>
                  <a:gd name="T5" fmla="*/ 25 h 44"/>
                  <a:gd name="T6" fmla="*/ 0 w 34"/>
                  <a:gd name="T7" fmla="*/ 34 h 44"/>
                  <a:gd name="T8" fmla="*/ 0 w 34"/>
                  <a:gd name="T9" fmla="*/ 44 h 44"/>
                  <a:gd name="T10" fmla="*/ 3 w 34"/>
                  <a:gd name="T11" fmla="*/ 44 h 44"/>
                  <a:gd name="T12" fmla="*/ 9 w 34"/>
                  <a:gd name="T13" fmla="*/ 44 h 44"/>
                  <a:gd name="T14" fmla="*/ 12 w 34"/>
                  <a:gd name="T15" fmla="*/ 44 h 44"/>
                  <a:gd name="T16" fmla="*/ 15 w 34"/>
                  <a:gd name="T17" fmla="*/ 44 h 44"/>
                  <a:gd name="T18" fmla="*/ 21 w 34"/>
                  <a:gd name="T19" fmla="*/ 44 h 44"/>
                  <a:gd name="T20" fmla="*/ 25 w 34"/>
                  <a:gd name="T21" fmla="*/ 44 h 44"/>
                  <a:gd name="T22" fmla="*/ 28 w 34"/>
                  <a:gd name="T23" fmla="*/ 44 h 44"/>
                  <a:gd name="T24" fmla="*/ 31 w 34"/>
                  <a:gd name="T25" fmla="*/ 44 h 44"/>
                  <a:gd name="T26" fmla="*/ 34 w 34"/>
                  <a:gd name="T27" fmla="*/ 31 h 44"/>
                  <a:gd name="T28" fmla="*/ 34 w 34"/>
                  <a:gd name="T29" fmla="*/ 22 h 44"/>
                  <a:gd name="T30" fmla="*/ 34 w 34"/>
                  <a:gd name="T31" fmla="*/ 13 h 44"/>
                  <a:gd name="T32" fmla="*/ 34 w 34"/>
                  <a:gd name="T33" fmla="*/ 0 h 44"/>
                  <a:gd name="T34" fmla="*/ 28 w 34"/>
                  <a:gd name="T35" fmla="*/ 3 h 44"/>
                  <a:gd name="T36" fmla="*/ 25 w 34"/>
                  <a:gd name="T37" fmla="*/ 3 h 44"/>
                  <a:gd name="T38" fmla="*/ 21 w 34"/>
                  <a:gd name="T39" fmla="*/ 3 h 44"/>
                  <a:gd name="T40" fmla="*/ 18 w 34"/>
                  <a:gd name="T41" fmla="*/ 3 h 44"/>
                  <a:gd name="T42" fmla="*/ 12 w 34"/>
                  <a:gd name="T43" fmla="*/ 3 h 44"/>
                  <a:gd name="T44" fmla="*/ 9 w 34"/>
                  <a:gd name="T45" fmla="*/ 3 h 44"/>
                  <a:gd name="T46" fmla="*/ 6 w 34"/>
                  <a:gd name="T47" fmla="*/ 7 h 44"/>
                  <a:gd name="T48" fmla="*/ 0 w 34"/>
                  <a:gd name="T49" fmla="*/ 7 h 44"/>
                  <a:gd name="T50" fmla="*/ 0 w 34"/>
                  <a:gd name="T51" fmla="*/ 7 h 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44"/>
                  <a:gd name="T80" fmla="*/ 34 w 34"/>
                  <a:gd name="T81" fmla="*/ 44 h 4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44">
                    <a:moveTo>
                      <a:pt x="0" y="7"/>
                    </a:moveTo>
                    <a:lnTo>
                      <a:pt x="0" y="16"/>
                    </a:lnTo>
                    <a:lnTo>
                      <a:pt x="0" y="25"/>
                    </a:lnTo>
                    <a:lnTo>
                      <a:pt x="0" y="34"/>
                    </a:lnTo>
                    <a:lnTo>
                      <a:pt x="0" y="44"/>
                    </a:lnTo>
                    <a:lnTo>
                      <a:pt x="3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5" y="44"/>
                    </a:lnTo>
                    <a:lnTo>
                      <a:pt x="21" y="44"/>
                    </a:lnTo>
                    <a:lnTo>
                      <a:pt x="25" y="44"/>
                    </a:lnTo>
                    <a:lnTo>
                      <a:pt x="28" y="44"/>
                    </a:lnTo>
                    <a:lnTo>
                      <a:pt x="31" y="44"/>
                    </a:lnTo>
                    <a:lnTo>
                      <a:pt x="34" y="31"/>
                    </a:lnTo>
                    <a:lnTo>
                      <a:pt x="34" y="22"/>
                    </a:lnTo>
                    <a:lnTo>
                      <a:pt x="34" y="13"/>
                    </a:lnTo>
                    <a:lnTo>
                      <a:pt x="34" y="0"/>
                    </a:lnTo>
                    <a:lnTo>
                      <a:pt x="28" y="3"/>
                    </a:lnTo>
                    <a:lnTo>
                      <a:pt x="25" y="3"/>
                    </a:lnTo>
                    <a:lnTo>
                      <a:pt x="21" y="3"/>
                    </a:lnTo>
                    <a:lnTo>
                      <a:pt x="18" y="3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7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1" name="Freeform 358"/>
              <p:cNvSpPr>
                <a:spLocks/>
              </p:cNvSpPr>
              <p:nvPr/>
            </p:nvSpPr>
            <p:spPr bwMode="auto">
              <a:xfrm>
                <a:off x="5038" y="2285"/>
                <a:ext cx="31" cy="61"/>
              </a:xfrm>
              <a:custGeom>
                <a:avLst/>
                <a:gdLst>
                  <a:gd name="T0" fmla="*/ 27 w 31"/>
                  <a:gd name="T1" fmla="*/ 0 h 61"/>
                  <a:gd name="T2" fmla="*/ 24 w 31"/>
                  <a:gd name="T3" fmla="*/ 3 h 61"/>
                  <a:gd name="T4" fmla="*/ 21 w 31"/>
                  <a:gd name="T5" fmla="*/ 3 h 61"/>
                  <a:gd name="T6" fmla="*/ 18 w 31"/>
                  <a:gd name="T7" fmla="*/ 6 h 61"/>
                  <a:gd name="T8" fmla="*/ 15 w 31"/>
                  <a:gd name="T9" fmla="*/ 6 h 61"/>
                  <a:gd name="T10" fmla="*/ 9 w 31"/>
                  <a:gd name="T11" fmla="*/ 9 h 61"/>
                  <a:gd name="T12" fmla="*/ 6 w 31"/>
                  <a:gd name="T13" fmla="*/ 12 h 61"/>
                  <a:gd name="T14" fmla="*/ 3 w 31"/>
                  <a:gd name="T15" fmla="*/ 12 h 61"/>
                  <a:gd name="T16" fmla="*/ 0 w 31"/>
                  <a:gd name="T17" fmla="*/ 15 h 61"/>
                  <a:gd name="T18" fmla="*/ 0 w 31"/>
                  <a:gd name="T19" fmla="*/ 27 h 61"/>
                  <a:gd name="T20" fmla="*/ 0 w 31"/>
                  <a:gd name="T21" fmla="*/ 37 h 61"/>
                  <a:gd name="T22" fmla="*/ 0 w 31"/>
                  <a:gd name="T23" fmla="*/ 49 h 61"/>
                  <a:gd name="T24" fmla="*/ 3 w 31"/>
                  <a:gd name="T25" fmla="*/ 61 h 61"/>
                  <a:gd name="T26" fmla="*/ 6 w 31"/>
                  <a:gd name="T27" fmla="*/ 58 h 61"/>
                  <a:gd name="T28" fmla="*/ 9 w 31"/>
                  <a:gd name="T29" fmla="*/ 58 h 61"/>
                  <a:gd name="T30" fmla="*/ 12 w 31"/>
                  <a:gd name="T31" fmla="*/ 55 h 61"/>
                  <a:gd name="T32" fmla="*/ 15 w 31"/>
                  <a:gd name="T33" fmla="*/ 52 h 61"/>
                  <a:gd name="T34" fmla="*/ 21 w 31"/>
                  <a:gd name="T35" fmla="*/ 52 h 61"/>
                  <a:gd name="T36" fmla="*/ 24 w 31"/>
                  <a:gd name="T37" fmla="*/ 49 h 61"/>
                  <a:gd name="T38" fmla="*/ 27 w 31"/>
                  <a:gd name="T39" fmla="*/ 49 h 61"/>
                  <a:gd name="T40" fmla="*/ 31 w 31"/>
                  <a:gd name="T41" fmla="*/ 49 h 61"/>
                  <a:gd name="T42" fmla="*/ 31 w 31"/>
                  <a:gd name="T43" fmla="*/ 37 h 61"/>
                  <a:gd name="T44" fmla="*/ 31 w 31"/>
                  <a:gd name="T45" fmla="*/ 24 h 61"/>
                  <a:gd name="T46" fmla="*/ 31 w 31"/>
                  <a:gd name="T47" fmla="*/ 12 h 61"/>
                  <a:gd name="T48" fmla="*/ 27 w 31"/>
                  <a:gd name="T49" fmla="*/ 0 h 61"/>
                  <a:gd name="T50" fmla="*/ 27 w 31"/>
                  <a:gd name="T51" fmla="*/ 0 h 6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61"/>
                  <a:gd name="T80" fmla="*/ 31 w 31"/>
                  <a:gd name="T81" fmla="*/ 61 h 6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61">
                    <a:moveTo>
                      <a:pt x="27" y="0"/>
                    </a:moveTo>
                    <a:lnTo>
                      <a:pt x="24" y="3"/>
                    </a:lnTo>
                    <a:lnTo>
                      <a:pt x="21" y="3"/>
                    </a:lnTo>
                    <a:lnTo>
                      <a:pt x="18" y="6"/>
                    </a:lnTo>
                    <a:lnTo>
                      <a:pt x="15" y="6"/>
                    </a:lnTo>
                    <a:lnTo>
                      <a:pt x="9" y="9"/>
                    </a:lnTo>
                    <a:lnTo>
                      <a:pt x="6" y="12"/>
                    </a:lnTo>
                    <a:lnTo>
                      <a:pt x="3" y="12"/>
                    </a:lnTo>
                    <a:lnTo>
                      <a:pt x="0" y="15"/>
                    </a:lnTo>
                    <a:lnTo>
                      <a:pt x="0" y="27"/>
                    </a:lnTo>
                    <a:lnTo>
                      <a:pt x="0" y="37"/>
                    </a:lnTo>
                    <a:lnTo>
                      <a:pt x="0" y="49"/>
                    </a:lnTo>
                    <a:lnTo>
                      <a:pt x="3" y="61"/>
                    </a:lnTo>
                    <a:lnTo>
                      <a:pt x="6" y="58"/>
                    </a:lnTo>
                    <a:lnTo>
                      <a:pt x="9" y="58"/>
                    </a:lnTo>
                    <a:lnTo>
                      <a:pt x="12" y="55"/>
                    </a:lnTo>
                    <a:lnTo>
                      <a:pt x="15" y="52"/>
                    </a:lnTo>
                    <a:lnTo>
                      <a:pt x="21" y="52"/>
                    </a:lnTo>
                    <a:lnTo>
                      <a:pt x="24" y="49"/>
                    </a:lnTo>
                    <a:lnTo>
                      <a:pt x="27" y="49"/>
                    </a:lnTo>
                    <a:lnTo>
                      <a:pt x="31" y="49"/>
                    </a:lnTo>
                    <a:lnTo>
                      <a:pt x="31" y="37"/>
                    </a:lnTo>
                    <a:lnTo>
                      <a:pt x="31" y="24"/>
                    </a:lnTo>
                    <a:lnTo>
                      <a:pt x="31" y="1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2" name="Freeform 359"/>
              <p:cNvSpPr>
                <a:spLocks/>
              </p:cNvSpPr>
              <p:nvPr/>
            </p:nvSpPr>
            <p:spPr bwMode="auto">
              <a:xfrm>
                <a:off x="5044" y="2470"/>
                <a:ext cx="34" cy="46"/>
              </a:xfrm>
              <a:custGeom>
                <a:avLst/>
                <a:gdLst>
                  <a:gd name="T0" fmla="*/ 31 w 34"/>
                  <a:gd name="T1" fmla="*/ 0 h 46"/>
                  <a:gd name="T2" fmla="*/ 28 w 34"/>
                  <a:gd name="T3" fmla="*/ 0 h 46"/>
                  <a:gd name="T4" fmla="*/ 25 w 34"/>
                  <a:gd name="T5" fmla="*/ 0 h 46"/>
                  <a:gd name="T6" fmla="*/ 21 w 34"/>
                  <a:gd name="T7" fmla="*/ 0 h 46"/>
                  <a:gd name="T8" fmla="*/ 15 w 34"/>
                  <a:gd name="T9" fmla="*/ 3 h 46"/>
                  <a:gd name="T10" fmla="*/ 12 w 34"/>
                  <a:gd name="T11" fmla="*/ 3 h 46"/>
                  <a:gd name="T12" fmla="*/ 9 w 34"/>
                  <a:gd name="T13" fmla="*/ 3 h 46"/>
                  <a:gd name="T14" fmla="*/ 3 w 34"/>
                  <a:gd name="T15" fmla="*/ 6 h 46"/>
                  <a:gd name="T16" fmla="*/ 0 w 34"/>
                  <a:gd name="T17" fmla="*/ 6 h 46"/>
                  <a:gd name="T18" fmla="*/ 0 w 34"/>
                  <a:gd name="T19" fmla="*/ 15 h 46"/>
                  <a:gd name="T20" fmla="*/ 0 w 34"/>
                  <a:gd name="T21" fmla="*/ 28 h 46"/>
                  <a:gd name="T22" fmla="*/ 0 w 34"/>
                  <a:gd name="T23" fmla="*/ 37 h 46"/>
                  <a:gd name="T24" fmla="*/ 0 w 34"/>
                  <a:gd name="T25" fmla="*/ 46 h 46"/>
                  <a:gd name="T26" fmla="*/ 6 w 34"/>
                  <a:gd name="T27" fmla="*/ 46 h 46"/>
                  <a:gd name="T28" fmla="*/ 9 w 34"/>
                  <a:gd name="T29" fmla="*/ 46 h 46"/>
                  <a:gd name="T30" fmla="*/ 12 w 34"/>
                  <a:gd name="T31" fmla="*/ 46 h 46"/>
                  <a:gd name="T32" fmla="*/ 18 w 34"/>
                  <a:gd name="T33" fmla="*/ 46 h 46"/>
                  <a:gd name="T34" fmla="*/ 21 w 34"/>
                  <a:gd name="T35" fmla="*/ 43 h 46"/>
                  <a:gd name="T36" fmla="*/ 25 w 34"/>
                  <a:gd name="T37" fmla="*/ 43 h 46"/>
                  <a:gd name="T38" fmla="*/ 28 w 34"/>
                  <a:gd name="T39" fmla="*/ 43 h 46"/>
                  <a:gd name="T40" fmla="*/ 34 w 34"/>
                  <a:gd name="T41" fmla="*/ 43 h 46"/>
                  <a:gd name="T42" fmla="*/ 34 w 34"/>
                  <a:gd name="T43" fmla="*/ 31 h 46"/>
                  <a:gd name="T44" fmla="*/ 34 w 34"/>
                  <a:gd name="T45" fmla="*/ 22 h 46"/>
                  <a:gd name="T46" fmla="*/ 31 w 34"/>
                  <a:gd name="T47" fmla="*/ 9 h 46"/>
                  <a:gd name="T48" fmla="*/ 31 w 34"/>
                  <a:gd name="T49" fmla="*/ 0 h 46"/>
                  <a:gd name="T50" fmla="*/ 31 w 34"/>
                  <a:gd name="T51" fmla="*/ 0 h 4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46"/>
                  <a:gd name="T80" fmla="*/ 34 w 34"/>
                  <a:gd name="T81" fmla="*/ 46 h 4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46">
                    <a:moveTo>
                      <a:pt x="31" y="0"/>
                    </a:moveTo>
                    <a:lnTo>
                      <a:pt x="28" y="0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15"/>
                    </a:lnTo>
                    <a:lnTo>
                      <a:pt x="0" y="28"/>
                    </a:lnTo>
                    <a:lnTo>
                      <a:pt x="0" y="37"/>
                    </a:lnTo>
                    <a:lnTo>
                      <a:pt x="0" y="46"/>
                    </a:lnTo>
                    <a:lnTo>
                      <a:pt x="6" y="46"/>
                    </a:lnTo>
                    <a:lnTo>
                      <a:pt x="9" y="46"/>
                    </a:lnTo>
                    <a:lnTo>
                      <a:pt x="12" y="46"/>
                    </a:lnTo>
                    <a:lnTo>
                      <a:pt x="18" y="46"/>
                    </a:lnTo>
                    <a:lnTo>
                      <a:pt x="21" y="43"/>
                    </a:lnTo>
                    <a:lnTo>
                      <a:pt x="25" y="43"/>
                    </a:lnTo>
                    <a:lnTo>
                      <a:pt x="28" y="43"/>
                    </a:lnTo>
                    <a:lnTo>
                      <a:pt x="34" y="43"/>
                    </a:lnTo>
                    <a:lnTo>
                      <a:pt x="34" y="31"/>
                    </a:lnTo>
                    <a:lnTo>
                      <a:pt x="34" y="22"/>
                    </a:lnTo>
                    <a:lnTo>
                      <a:pt x="31" y="9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3" name="Freeform 360"/>
              <p:cNvSpPr>
                <a:spLocks/>
              </p:cNvSpPr>
              <p:nvPr/>
            </p:nvSpPr>
            <p:spPr bwMode="auto">
              <a:xfrm>
                <a:off x="5028" y="2186"/>
                <a:ext cx="34" cy="68"/>
              </a:xfrm>
              <a:custGeom>
                <a:avLst/>
                <a:gdLst>
                  <a:gd name="T0" fmla="*/ 31 w 34"/>
                  <a:gd name="T1" fmla="*/ 0 h 68"/>
                  <a:gd name="T2" fmla="*/ 25 w 34"/>
                  <a:gd name="T3" fmla="*/ 3 h 68"/>
                  <a:gd name="T4" fmla="*/ 22 w 34"/>
                  <a:gd name="T5" fmla="*/ 6 h 68"/>
                  <a:gd name="T6" fmla="*/ 19 w 34"/>
                  <a:gd name="T7" fmla="*/ 9 h 68"/>
                  <a:gd name="T8" fmla="*/ 16 w 34"/>
                  <a:gd name="T9" fmla="*/ 9 h 68"/>
                  <a:gd name="T10" fmla="*/ 13 w 34"/>
                  <a:gd name="T11" fmla="*/ 12 h 68"/>
                  <a:gd name="T12" fmla="*/ 7 w 34"/>
                  <a:gd name="T13" fmla="*/ 15 h 68"/>
                  <a:gd name="T14" fmla="*/ 3 w 34"/>
                  <a:gd name="T15" fmla="*/ 15 h 68"/>
                  <a:gd name="T16" fmla="*/ 0 w 34"/>
                  <a:gd name="T17" fmla="*/ 18 h 68"/>
                  <a:gd name="T18" fmla="*/ 0 w 34"/>
                  <a:gd name="T19" fmla="*/ 31 h 68"/>
                  <a:gd name="T20" fmla="*/ 3 w 34"/>
                  <a:gd name="T21" fmla="*/ 43 h 68"/>
                  <a:gd name="T22" fmla="*/ 3 w 34"/>
                  <a:gd name="T23" fmla="*/ 55 h 68"/>
                  <a:gd name="T24" fmla="*/ 7 w 34"/>
                  <a:gd name="T25" fmla="*/ 68 h 68"/>
                  <a:gd name="T26" fmla="*/ 10 w 34"/>
                  <a:gd name="T27" fmla="*/ 65 h 68"/>
                  <a:gd name="T28" fmla="*/ 13 w 34"/>
                  <a:gd name="T29" fmla="*/ 61 h 68"/>
                  <a:gd name="T30" fmla="*/ 16 w 34"/>
                  <a:gd name="T31" fmla="*/ 61 h 68"/>
                  <a:gd name="T32" fmla="*/ 19 w 34"/>
                  <a:gd name="T33" fmla="*/ 58 h 68"/>
                  <a:gd name="T34" fmla="*/ 22 w 34"/>
                  <a:gd name="T35" fmla="*/ 58 h 68"/>
                  <a:gd name="T36" fmla="*/ 28 w 34"/>
                  <a:gd name="T37" fmla="*/ 55 h 68"/>
                  <a:gd name="T38" fmla="*/ 31 w 34"/>
                  <a:gd name="T39" fmla="*/ 52 h 68"/>
                  <a:gd name="T40" fmla="*/ 34 w 34"/>
                  <a:gd name="T41" fmla="*/ 49 h 68"/>
                  <a:gd name="T42" fmla="*/ 34 w 34"/>
                  <a:gd name="T43" fmla="*/ 37 h 68"/>
                  <a:gd name="T44" fmla="*/ 34 w 34"/>
                  <a:gd name="T45" fmla="*/ 27 h 68"/>
                  <a:gd name="T46" fmla="*/ 31 w 34"/>
                  <a:gd name="T47" fmla="*/ 12 h 68"/>
                  <a:gd name="T48" fmla="*/ 31 w 34"/>
                  <a:gd name="T49" fmla="*/ 0 h 68"/>
                  <a:gd name="T50" fmla="*/ 31 w 34"/>
                  <a:gd name="T51" fmla="*/ 0 h 6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68"/>
                  <a:gd name="T80" fmla="*/ 34 w 34"/>
                  <a:gd name="T81" fmla="*/ 68 h 6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68">
                    <a:moveTo>
                      <a:pt x="31" y="0"/>
                    </a:moveTo>
                    <a:lnTo>
                      <a:pt x="25" y="3"/>
                    </a:lnTo>
                    <a:lnTo>
                      <a:pt x="22" y="6"/>
                    </a:lnTo>
                    <a:lnTo>
                      <a:pt x="19" y="9"/>
                    </a:lnTo>
                    <a:lnTo>
                      <a:pt x="16" y="9"/>
                    </a:lnTo>
                    <a:lnTo>
                      <a:pt x="13" y="12"/>
                    </a:lnTo>
                    <a:lnTo>
                      <a:pt x="7" y="15"/>
                    </a:lnTo>
                    <a:lnTo>
                      <a:pt x="3" y="15"/>
                    </a:lnTo>
                    <a:lnTo>
                      <a:pt x="0" y="18"/>
                    </a:lnTo>
                    <a:lnTo>
                      <a:pt x="0" y="31"/>
                    </a:lnTo>
                    <a:lnTo>
                      <a:pt x="3" y="43"/>
                    </a:lnTo>
                    <a:lnTo>
                      <a:pt x="3" y="55"/>
                    </a:lnTo>
                    <a:lnTo>
                      <a:pt x="7" y="68"/>
                    </a:lnTo>
                    <a:lnTo>
                      <a:pt x="10" y="65"/>
                    </a:lnTo>
                    <a:lnTo>
                      <a:pt x="13" y="61"/>
                    </a:lnTo>
                    <a:lnTo>
                      <a:pt x="16" y="61"/>
                    </a:lnTo>
                    <a:lnTo>
                      <a:pt x="19" y="58"/>
                    </a:lnTo>
                    <a:lnTo>
                      <a:pt x="22" y="58"/>
                    </a:lnTo>
                    <a:lnTo>
                      <a:pt x="28" y="55"/>
                    </a:lnTo>
                    <a:lnTo>
                      <a:pt x="31" y="52"/>
                    </a:lnTo>
                    <a:lnTo>
                      <a:pt x="34" y="49"/>
                    </a:lnTo>
                    <a:lnTo>
                      <a:pt x="34" y="37"/>
                    </a:lnTo>
                    <a:lnTo>
                      <a:pt x="34" y="27"/>
                    </a:lnTo>
                    <a:lnTo>
                      <a:pt x="31" y="1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4" name="Freeform 361"/>
              <p:cNvSpPr>
                <a:spLocks/>
              </p:cNvSpPr>
              <p:nvPr/>
            </p:nvSpPr>
            <p:spPr bwMode="auto">
              <a:xfrm>
                <a:off x="5096" y="2257"/>
                <a:ext cx="34" cy="65"/>
              </a:xfrm>
              <a:custGeom>
                <a:avLst/>
                <a:gdLst>
                  <a:gd name="T0" fmla="*/ 28 w 34"/>
                  <a:gd name="T1" fmla="*/ 0 h 65"/>
                  <a:gd name="T2" fmla="*/ 25 w 34"/>
                  <a:gd name="T3" fmla="*/ 3 h 65"/>
                  <a:gd name="T4" fmla="*/ 22 w 34"/>
                  <a:gd name="T5" fmla="*/ 3 h 65"/>
                  <a:gd name="T6" fmla="*/ 19 w 34"/>
                  <a:gd name="T7" fmla="*/ 6 h 65"/>
                  <a:gd name="T8" fmla="*/ 16 w 34"/>
                  <a:gd name="T9" fmla="*/ 9 h 65"/>
                  <a:gd name="T10" fmla="*/ 10 w 34"/>
                  <a:gd name="T11" fmla="*/ 9 h 65"/>
                  <a:gd name="T12" fmla="*/ 7 w 34"/>
                  <a:gd name="T13" fmla="*/ 12 h 65"/>
                  <a:gd name="T14" fmla="*/ 3 w 34"/>
                  <a:gd name="T15" fmla="*/ 12 h 65"/>
                  <a:gd name="T16" fmla="*/ 0 w 34"/>
                  <a:gd name="T17" fmla="*/ 15 h 65"/>
                  <a:gd name="T18" fmla="*/ 0 w 34"/>
                  <a:gd name="T19" fmla="*/ 28 h 65"/>
                  <a:gd name="T20" fmla="*/ 0 w 34"/>
                  <a:gd name="T21" fmla="*/ 40 h 65"/>
                  <a:gd name="T22" fmla="*/ 3 w 34"/>
                  <a:gd name="T23" fmla="*/ 52 h 65"/>
                  <a:gd name="T24" fmla="*/ 3 w 34"/>
                  <a:gd name="T25" fmla="*/ 65 h 65"/>
                  <a:gd name="T26" fmla="*/ 7 w 34"/>
                  <a:gd name="T27" fmla="*/ 62 h 65"/>
                  <a:gd name="T28" fmla="*/ 10 w 34"/>
                  <a:gd name="T29" fmla="*/ 62 h 65"/>
                  <a:gd name="T30" fmla="*/ 13 w 34"/>
                  <a:gd name="T31" fmla="*/ 58 h 65"/>
                  <a:gd name="T32" fmla="*/ 19 w 34"/>
                  <a:gd name="T33" fmla="*/ 58 h 65"/>
                  <a:gd name="T34" fmla="*/ 22 w 34"/>
                  <a:gd name="T35" fmla="*/ 58 h 65"/>
                  <a:gd name="T36" fmla="*/ 25 w 34"/>
                  <a:gd name="T37" fmla="*/ 55 h 65"/>
                  <a:gd name="T38" fmla="*/ 28 w 34"/>
                  <a:gd name="T39" fmla="*/ 55 h 65"/>
                  <a:gd name="T40" fmla="*/ 34 w 34"/>
                  <a:gd name="T41" fmla="*/ 52 h 65"/>
                  <a:gd name="T42" fmla="*/ 34 w 34"/>
                  <a:gd name="T43" fmla="*/ 40 h 65"/>
                  <a:gd name="T44" fmla="*/ 31 w 34"/>
                  <a:gd name="T45" fmla="*/ 28 h 65"/>
                  <a:gd name="T46" fmla="*/ 31 w 34"/>
                  <a:gd name="T47" fmla="*/ 15 h 65"/>
                  <a:gd name="T48" fmla="*/ 28 w 34"/>
                  <a:gd name="T49" fmla="*/ 0 h 65"/>
                  <a:gd name="T50" fmla="*/ 28 w 34"/>
                  <a:gd name="T51" fmla="*/ 0 h 6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65"/>
                  <a:gd name="T80" fmla="*/ 34 w 34"/>
                  <a:gd name="T81" fmla="*/ 65 h 6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65">
                    <a:moveTo>
                      <a:pt x="28" y="0"/>
                    </a:moveTo>
                    <a:lnTo>
                      <a:pt x="25" y="3"/>
                    </a:lnTo>
                    <a:lnTo>
                      <a:pt x="22" y="3"/>
                    </a:lnTo>
                    <a:lnTo>
                      <a:pt x="19" y="6"/>
                    </a:lnTo>
                    <a:lnTo>
                      <a:pt x="16" y="9"/>
                    </a:lnTo>
                    <a:lnTo>
                      <a:pt x="10" y="9"/>
                    </a:lnTo>
                    <a:lnTo>
                      <a:pt x="7" y="12"/>
                    </a:lnTo>
                    <a:lnTo>
                      <a:pt x="3" y="12"/>
                    </a:lnTo>
                    <a:lnTo>
                      <a:pt x="0" y="15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" y="52"/>
                    </a:lnTo>
                    <a:lnTo>
                      <a:pt x="3" y="65"/>
                    </a:lnTo>
                    <a:lnTo>
                      <a:pt x="7" y="62"/>
                    </a:lnTo>
                    <a:lnTo>
                      <a:pt x="10" y="62"/>
                    </a:lnTo>
                    <a:lnTo>
                      <a:pt x="13" y="58"/>
                    </a:lnTo>
                    <a:lnTo>
                      <a:pt x="19" y="58"/>
                    </a:lnTo>
                    <a:lnTo>
                      <a:pt x="22" y="58"/>
                    </a:lnTo>
                    <a:lnTo>
                      <a:pt x="25" y="55"/>
                    </a:lnTo>
                    <a:lnTo>
                      <a:pt x="28" y="55"/>
                    </a:lnTo>
                    <a:lnTo>
                      <a:pt x="34" y="52"/>
                    </a:lnTo>
                    <a:lnTo>
                      <a:pt x="34" y="40"/>
                    </a:lnTo>
                    <a:lnTo>
                      <a:pt x="31" y="28"/>
                    </a:lnTo>
                    <a:lnTo>
                      <a:pt x="31" y="15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5" name="Freeform 362"/>
              <p:cNvSpPr>
                <a:spLocks/>
              </p:cNvSpPr>
              <p:nvPr/>
            </p:nvSpPr>
            <p:spPr bwMode="auto">
              <a:xfrm>
                <a:off x="5106" y="2455"/>
                <a:ext cx="30" cy="52"/>
              </a:xfrm>
              <a:custGeom>
                <a:avLst/>
                <a:gdLst>
                  <a:gd name="T0" fmla="*/ 0 w 30"/>
                  <a:gd name="T1" fmla="*/ 9 h 52"/>
                  <a:gd name="T2" fmla="*/ 0 w 30"/>
                  <a:gd name="T3" fmla="*/ 18 h 52"/>
                  <a:gd name="T4" fmla="*/ 0 w 30"/>
                  <a:gd name="T5" fmla="*/ 30 h 52"/>
                  <a:gd name="T6" fmla="*/ 0 w 30"/>
                  <a:gd name="T7" fmla="*/ 40 h 52"/>
                  <a:gd name="T8" fmla="*/ 0 w 30"/>
                  <a:gd name="T9" fmla="*/ 52 h 52"/>
                  <a:gd name="T10" fmla="*/ 3 w 30"/>
                  <a:gd name="T11" fmla="*/ 52 h 52"/>
                  <a:gd name="T12" fmla="*/ 9 w 30"/>
                  <a:gd name="T13" fmla="*/ 52 h 52"/>
                  <a:gd name="T14" fmla="*/ 12 w 30"/>
                  <a:gd name="T15" fmla="*/ 49 h 52"/>
                  <a:gd name="T16" fmla="*/ 15 w 30"/>
                  <a:gd name="T17" fmla="*/ 49 h 52"/>
                  <a:gd name="T18" fmla="*/ 18 w 30"/>
                  <a:gd name="T19" fmla="*/ 49 h 52"/>
                  <a:gd name="T20" fmla="*/ 24 w 30"/>
                  <a:gd name="T21" fmla="*/ 49 h 52"/>
                  <a:gd name="T22" fmla="*/ 27 w 30"/>
                  <a:gd name="T23" fmla="*/ 49 h 52"/>
                  <a:gd name="T24" fmla="*/ 30 w 30"/>
                  <a:gd name="T25" fmla="*/ 46 h 52"/>
                  <a:gd name="T26" fmla="*/ 30 w 30"/>
                  <a:gd name="T27" fmla="*/ 37 h 52"/>
                  <a:gd name="T28" fmla="*/ 30 w 30"/>
                  <a:gd name="T29" fmla="*/ 24 h 52"/>
                  <a:gd name="T30" fmla="*/ 30 w 30"/>
                  <a:gd name="T31" fmla="*/ 12 h 52"/>
                  <a:gd name="T32" fmla="*/ 30 w 30"/>
                  <a:gd name="T33" fmla="*/ 0 h 52"/>
                  <a:gd name="T34" fmla="*/ 27 w 30"/>
                  <a:gd name="T35" fmla="*/ 0 h 52"/>
                  <a:gd name="T36" fmla="*/ 21 w 30"/>
                  <a:gd name="T37" fmla="*/ 3 h 52"/>
                  <a:gd name="T38" fmla="*/ 18 w 30"/>
                  <a:gd name="T39" fmla="*/ 3 h 52"/>
                  <a:gd name="T40" fmla="*/ 15 w 30"/>
                  <a:gd name="T41" fmla="*/ 3 h 52"/>
                  <a:gd name="T42" fmla="*/ 12 w 30"/>
                  <a:gd name="T43" fmla="*/ 6 h 52"/>
                  <a:gd name="T44" fmla="*/ 6 w 30"/>
                  <a:gd name="T45" fmla="*/ 6 h 52"/>
                  <a:gd name="T46" fmla="*/ 3 w 30"/>
                  <a:gd name="T47" fmla="*/ 6 h 52"/>
                  <a:gd name="T48" fmla="*/ 0 w 30"/>
                  <a:gd name="T49" fmla="*/ 9 h 52"/>
                  <a:gd name="T50" fmla="*/ 0 w 30"/>
                  <a:gd name="T51" fmla="*/ 9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0"/>
                  <a:gd name="T79" fmla="*/ 0 h 52"/>
                  <a:gd name="T80" fmla="*/ 30 w 30"/>
                  <a:gd name="T81" fmla="*/ 52 h 5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0" h="52">
                    <a:moveTo>
                      <a:pt x="0" y="9"/>
                    </a:moveTo>
                    <a:lnTo>
                      <a:pt x="0" y="18"/>
                    </a:lnTo>
                    <a:lnTo>
                      <a:pt x="0" y="30"/>
                    </a:lnTo>
                    <a:lnTo>
                      <a:pt x="0" y="40"/>
                    </a:lnTo>
                    <a:lnTo>
                      <a:pt x="0" y="52"/>
                    </a:lnTo>
                    <a:lnTo>
                      <a:pt x="3" y="52"/>
                    </a:lnTo>
                    <a:lnTo>
                      <a:pt x="9" y="52"/>
                    </a:lnTo>
                    <a:lnTo>
                      <a:pt x="12" y="49"/>
                    </a:lnTo>
                    <a:lnTo>
                      <a:pt x="15" y="49"/>
                    </a:lnTo>
                    <a:lnTo>
                      <a:pt x="18" y="49"/>
                    </a:lnTo>
                    <a:lnTo>
                      <a:pt x="24" y="49"/>
                    </a:lnTo>
                    <a:lnTo>
                      <a:pt x="27" y="49"/>
                    </a:lnTo>
                    <a:lnTo>
                      <a:pt x="30" y="46"/>
                    </a:lnTo>
                    <a:lnTo>
                      <a:pt x="30" y="37"/>
                    </a:lnTo>
                    <a:lnTo>
                      <a:pt x="30" y="24"/>
                    </a:lnTo>
                    <a:lnTo>
                      <a:pt x="30" y="12"/>
                    </a:lnTo>
                    <a:lnTo>
                      <a:pt x="30" y="0"/>
                    </a:lnTo>
                    <a:lnTo>
                      <a:pt x="27" y="0"/>
                    </a:lnTo>
                    <a:lnTo>
                      <a:pt x="21" y="3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6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6" name="Freeform 363"/>
              <p:cNvSpPr>
                <a:spLocks/>
              </p:cNvSpPr>
              <p:nvPr/>
            </p:nvSpPr>
            <p:spPr bwMode="auto">
              <a:xfrm>
                <a:off x="5103" y="2359"/>
                <a:ext cx="30" cy="58"/>
              </a:xfrm>
              <a:custGeom>
                <a:avLst/>
                <a:gdLst>
                  <a:gd name="T0" fmla="*/ 30 w 30"/>
                  <a:gd name="T1" fmla="*/ 0 h 58"/>
                  <a:gd name="T2" fmla="*/ 27 w 30"/>
                  <a:gd name="T3" fmla="*/ 0 h 58"/>
                  <a:gd name="T4" fmla="*/ 21 w 30"/>
                  <a:gd name="T5" fmla="*/ 3 h 58"/>
                  <a:gd name="T6" fmla="*/ 18 w 30"/>
                  <a:gd name="T7" fmla="*/ 3 h 58"/>
                  <a:gd name="T8" fmla="*/ 15 w 30"/>
                  <a:gd name="T9" fmla="*/ 6 h 58"/>
                  <a:gd name="T10" fmla="*/ 9 w 30"/>
                  <a:gd name="T11" fmla="*/ 6 h 58"/>
                  <a:gd name="T12" fmla="*/ 6 w 30"/>
                  <a:gd name="T13" fmla="*/ 9 h 58"/>
                  <a:gd name="T14" fmla="*/ 3 w 30"/>
                  <a:gd name="T15" fmla="*/ 9 h 58"/>
                  <a:gd name="T16" fmla="*/ 0 w 30"/>
                  <a:gd name="T17" fmla="*/ 9 h 58"/>
                  <a:gd name="T18" fmla="*/ 0 w 30"/>
                  <a:gd name="T19" fmla="*/ 21 h 58"/>
                  <a:gd name="T20" fmla="*/ 0 w 30"/>
                  <a:gd name="T21" fmla="*/ 34 h 58"/>
                  <a:gd name="T22" fmla="*/ 0 w 30"/>
                  <a:gd name="T23" fmla="*/ 46 h 58"/>
                  <a:gd name="T24" fmla="*/ 0 w 30"/>
                  <a:gd name="T25" fmla="*/ 58 h 58"/>
                  <a:gd name="T26" fmla="*/ 3 w 30"/>
                  <a:gd name="T27" fmla="*/ 55 h 58"/>
                  <a:gd name="T28" fmla="*/ 9 w 30"/>
                  <a:gd name="T29" fmla="*/ 55 h 58"/>
                  <a:gd name="T30" fmla="*/ 12 w 30"/>
                  <a:gd name="T31" fmla="*/ 55 h 58"/>
                  <a:gd name="T32" fmla="*/ 15 w 30"/>
                  <a:gd name="T33" fmla="*/ 52 h 58"/>
                  <a:gd name="T34" fmla="*/ 21 w 30"/>
                  <a:gd name="T35" fmla="*/ 52 h 58"/>
                  <a:gd name="T36" fmla="*/ 24 w 30"/>
                  <a:gd name="T37" fmla="*/ 52 h 58"/>
                  <a:gd name="T38" fmla="*/ 27 w 30"/>
                  <a:gd name="T39" fmla="*/ 49 h 58"/>
                  <a:gd name="T40" fmla="*/ 30 w 30"/>
                  <a:gd name="T41" fmla="*/ 49 h 58"/>
                  <a:gd name="T42" fmla="*/ 30 w 30"/>
                  <a:gd name="T43" fmla="*/ 37 h 58"/>
                  <a:gd name="T44" fmla="*/ 30 w 30"/>
                  <a:gd name="T45" fmla="*/ 24 h 58"/>
                  <a:gd name="T46" fmla="*/ 30 w 30"/>
                  <a:gd name="T47" fmla="*/ 12 h 58"/>
                  <a:gd name="T48" fmla="*/ 30 w 30"/>
                  <a:gd name="T49" fmla="*/ 0 h 58"/>
                  <a:gd name="T50" fmla="*/ 30 w 30"/>
                  <a:gd name="T51" fmla="*/ 0 h 5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0"/>
                  <a:gd name="T79" fmla="*/ 0 h 58"/>
                  <a:gd name="T80" fmla="*/ 30 w 30"/>
                  <a:gd name="T81" fmla="*/ 58 h 5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0" h="58">
                    <a:moveTo>
                      <a:pt x="30" y="0"/>
                    </a:moveTo>
                    <a:lnTo>
                      <a:pt x="27" y="0"/>
                    </a:lnTo>
                    <a:lnTo>
                      <a:pt x="21" y="3"/>
                    </a:lnTo>
                    <a:lnTo>
                      <a:pt x="18" y="3"/>
                    </a:lnTo>
                    <a:lnTo>
                      <a:pt x="15" y="6"/>
                    </a:lnTo>
                    <a:lnTo>
                      <a:pt x="9" y="6"/>
                    </a:lnTo>
                    <a:lnTo>
                      <a:pt x="6" y="9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21"/>
                    </a:lnTo>
                    <a:lnTo>
                      <a:pt x="0" y="34"/>
                    </a:lnTo>
                    <a:lnTo>
                      <a:pt x="0" y="46"/>
                    </a:lnTo>
                    <a:lnTo>
                      <a:pt x="0" y="58"/>
                    </a:lnTo>
                    <a:lnTo>
                      <a:pt x="3" y="55"/>
                    </a:lnTo>
                    <a:lnTo>
                      <a:pt x="9" y="55"/>
                    </a:lnTo>
                    <a:lnTo>
                      <a:pt x="12" y="55"/>
                    </a:lnTo>
                    <a:lnTo>
                      <a:pt x="15" y="52"/>
                    </a:lnTo>
                    <a:lnTo>
                      <a:pt x="21" y="52"/>
                    </a:lnTo>
                    <a:lnTo>
                      <a:pt x="24" y="52"/>
                    </a:lnTo>
                    <a:lnTo>
                      <a:pt x="27" y="49"/>
                    </a:lnTo>
                    <a:lnTo>
                      <a:pt x="30" y="49"/>
                    </a:lnTo>
                    <a:lnTo>
                      <a:pt x="30" y="37"/>
                    </a:lnTo>
                    <a:lnTo>
                      <a:pt x="30" y="24"/>
                    </a:lnTo>
                    <a:lnTo>
                      <a:pt x="30" y="1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7" name="Freeform 364"/>
              <p:cNvSpPr>
                <a:spLocks/>
              </p:cNvSpPr>
              <p:nvPr/>
            </p:nvSpPr>
            <p:spPr bwMode="auto">
              <a:xfrm>
                <a:off x="5106" y="2547"/>
                <a:ext cx="30" cy="47"/>
              </a:xfrm>
              <a:custGeom>
                <a:avLst/>
                <a:gdLst>
                  <a:gd name="T0" fmla="*/ 0 w 30"/>
                  <a:gd name="T1" fmla="*/ 3 h 47"/>
                  <a:gd name="T2" fmla="*/ 0 w 30"/>
                  <a:gd name="T3" fmla="*/ 16 h 47"/>
                  <a:gd name="T4" fmla="*/ 0 w 30"/>
                  <a:gd name="T5" fmla="*/ 25 h 47"/>
                  <a:gd name="T6" fmla="*/ 0 w 30"/>
                  <a:gd name="T7" fmla="*/ 37 h 47"/>
                  <a:gd name="T8" fmla="*/ 0 w 30"/>
                  <a:gd name="T9" fmla="*/ 47 h 47"/>
                  <a:gd name="T10" fmla="*/ 3 w 30"/>
                  <a:gd name="T11" fmla="*/ 47 h 47"/>
                  <a:gd name="T12" fmla="*/ 9 w 30"/>
                  <a:gd name="T13" fmla="*/ 47 h 47"/>
                  <a:gd name="T14" fmla="*/ 12 w 30"/>
                  <a:gd name="T15" fmla="*/ 47 h 47"/>
                  <a:gd name="T16" fmla="*/ 15 w 30"/>
                  <a:gd name="T17" fmla="*/ 47 h 47"/>
                  <a:gd name="T18" fmla="*/ 18 w 30"/>
                  <a:gd name="T19" fmla="*/ 47 h 47"/>
                  <a:gd name="T20" fmla="*/ 24 w 30"/>
                  <a:gd name="T21" fmla="*/ 47 h 47"/>
                  <a:gd name="T22" fmla="*/ 27 w 30"/>
                  <a:gd name="T23" fmla="*/ 43 h 47"/>
                  <a:gd name="T24" fmla="*/ 30 w 30"/>
                  <a:gd name="T25" fmla="*/ 43 h 47"/>
                  <a:gd name="T26" fmla="*/ 30 w 30"/>
                  <a:gd name="T27" fmla="*/ 34 h 47"/>
                  <a:gd name="T28" fmla="*/ 30 w 30"/>
                  <a:gd name="T29" fmla="*/ 22 h 47"/>
                  <a:gd name="T30" fmla="*/ 30 w 30"/>
                  <a:gd name="T31" fmla="*/ 13 h 47"/>
                  <a:gd name="T32" fmla="*/ 30 w 30"/>
                  <a:gd name="T33" fmla="*/ 0 h 47"/>
                  <a:gd name="T34" fmla="*/ 27 w 30"/>
                  <a:gd name="T35" fmla="*/ 0 h 47"/>
                  <a:gd name="T36" fmla="*/ 24 w 30"/>
                  <a:gd name="T37" fmla="*/ 0 h 47"/>
                  <a:gd name="T38" fmla="*/ 18 w 30"/>
                  <a:gd name="T39" fmla="*/ 3 h 47"/>
                  <a:gd name="T40" fmla="*/ 15 w 30"/>
                  <a:gd name="T41" fmla="*/ 3 h 47"/>
                  <a:gd name="T42" fmla="*/ 12 w 30"/>
                  <a:gd name="T43" fmla="*/ 3 h 47"/>
                  <a:gd name="T44" fmla="*/ 9 w 30"/>
                  <a:gd name="T45" fmla="*/ 3 h 47"/>
                  <a:gd name="T46" fmla="*/ 3 w 30"/>
                  <a:gd name="T47" fmla="*/ 3 h 47"/>
                  <a:gd name="T48" fmla="*/ 0 w 30"/>
                  <a:gd name="T49" fmla="*/ 3 h 47"/>
                  <a:gd name="T50" fmla="*/ 0 w 30"/>
                  <a:gd name="T51" fmla="*/ 3 h 4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0"/>
                  <a:gd name="T79" fmla="*/ 0 h 47"/>
                  <a:gd name="T80" fmla="*/ 30 w 30"/>
                  <a:gd name="T81" fmla="*/ 47 h 4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0" h="47">
                    <a:moveTo>
                      <a:pt x="0" y="3"/>
                    </a:moveTo>
                    <a:lnTo>
                      <a:pt x="0" y="16"/>
                    </a:lnTo>
                    <a:lnTo>
                      <a:pt x="0" y="25"/>
                    </a:lnTo>
                    <a:lnTo>
                      <a:pt x="0" y="37"/>
                    </a:lnTo>
                    <a:lnTo>
                      <a:pt x="0" y="47"/>
                    </a:lnTo>
                    <a:lnTo>
                      <a:pt x="3" y="47"/>
                    </a:lnTo>
                    <a:lnTo>
                      <a:pt x="9" y="47"/>
                    </a:lnTo>
                    <a:lnTo>
                      <a:pt x="12" y="47"/>
                    </a:lnTo>
                    <a:lnTo>
                      <a:pt x="15" y="47"/>
                    </a:lnTo>
                    <a:lnTo>
                      <a:pt x="18" y="47"/>
                    </a:lnTo>
                    <a:lnTo>
                      <a:pt x="24" y="47"/>
                    </a:lnTo>
                    <a:lnTo>
                      <a:pt x="27" y="43"/>
                    </a:lnTo>
                    <a:lnTo>
                      <a:pt x="30" y="43"/>
                    </a:lnTo>
                    <a:lnTo>
                      <a:pt x="30" y="34"/>
                    </a:lnTo>
                    <a:lnTo>
                      <a:pt x="30" y="22"/>
                    </a:lnTo>
                    <a:lnTo>
                      <a:pt x="30" y="13"/>
                    </a:lnTo>
                    <a:lnTo>
                      <a:pt x="30" y="0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8" name="Freeform 365"/>
              <p:cNvSpPr>
                <a:spLocks/>
              </p:cNvSpPr>
              <p:nvPr/>
            </p:nvSpPr>
            <p:spPr bwMode="auto">
              <a:xfrm>
                <a:off x="5087" y="2152"/>
                <a:ext cx="34" cy="68"/>
              </a:xfrm>
              <a:custGeom>
                <a:avLst/>
                <a:gdLst>
                  <a:gd name="T0" fmla="*/ 34 w 34"/>
                  <a:gd name="T1" fmla="*/ 52 h 68"/>
                  <a:gd name="T2" fmla="*/ 34 w 34"/>
                  <a:gd name="T3" fmla="*/ 40 h 68"/>
                  <a:gd name="T4" fmla="*/ 31 w 34"/>
                  <a:gd name="T5" fmla="*/ 28 h 68"/>
                  <a:gd name="T6" fmla="*/ 31 w 34"/>
                  <a:gd name="T7" fmla="*/ 15 h 68"/>
                  <a:gd name="T8" fmla="*/ 28 w 34"/>
                  <a:gd name="T9" fmla="*/ 0 h 68"/>
                  <a:gd name="T10" fmla="*/ 25 w 34"/>
                  <a:gd name="T11" fmla="*/ 3 h 68"/>
                  <a:gd name="T12" fmla="*/ 22 w 34"/>
                  <a:gd name="T13" fmla="*/ 3 h 68"/>
                  <a:gd name="T14" fmla="*/ 19 w 34"/>
                  <a:gd name="T15" fmla="*/ 6 h 68"/>
                  <a:gd name="T16" fmla="*/ 12 w 34"/>
                  <a:gd name="T17" fmla="*/ 9 h 68"/>
                  <a:gd name="T18" fmla="*/ 9 w 34"/>
                  <a:gd name="T19" fmla="*/ 12 h 68"/>
                  <a:gd name="T20" fmla="*/ 6 w 34"/>
                  <a:gd name="T21" fmla="*/ 12 h 68"/>
                  <a:gd name="T22" fmla="*/ 3 w 34"/>
                  <a:gd name="T23" fmla="*/ 15 h 68"/>
                  <a:gd name="T24" fmla="*/ 0 w 34"/>
                  <a:gd name="T25" fmla="*/ 18 h 68"/>
                  <a:gd name="T26" fmla="*/ 0 w 34"/>
                  <a:gd name="T27" fmla="*/ 31 h 68"/>
                  <a:gd name="T28" fmla="*/ 0 w 34"/>
                  <a:gd name="T29" fmla="*/ 43 h 68"/>
                  <a:gd name="T30" fmla="*/ 3 w 34"/>
                  <a:gd name="T31" fmla="*/ 55 h 68"/>
                  <a:gd name="T32" fmla="*/ 3 w 34"/>
                  <a:gd name="T33" fmla="*/ 68 h 68"/>
                  <a:gd name="T34" fmla="*/ 6 w 34"/>
                  <a:gd name="T35" fmla="*/ 68 h 68"/>
                  <a:gd name="T36" fmla="*/ 12 w 34"/>
                  <a:gd name="T37" fmla="*/ 65 h 68"/>
                  <a:gd name="T38" fmla="*/ 16 w 34"/>
                  <a:gd name="T39" fmla="*/ 65 h 68"/>
                  <a:gd name="T40" fmla="*/ 19 w 34"/>
                  <a:gd name="T41" fmla="*/ 61 h 68"/>
                  <a:gd name="T42" fmla="*/ 22 w 34"/>
                  <a:gd name="T43" fmla="*/ 58 h 68"/>
                  <a:gd name="T44" fmla="*/ 28 w 34"/>
                  <a:gd name="T45" fmla="*/ 58 h 68"/>
                  <a:gd name="T46" fmla="*/ 31 w 34"/>
                  <a:gd name="T47" fmla="*/ 55 h 68"/>
                  <a:gd name="T48" fmla="*/ 34 w 34"/>
                  <a:gd name="T49" fmla="*/ 52 h 68"/>
                  <a:gd name="T50" fmla="*/ 34 w 34"/>
                  <a:gd name="T51" fmla="*/ 52 h 6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68"/>
                  <a:gd name="T80" fmla="*/ 34 w 34"/>
                  <a:gd name="T81" fmla="*/ 68 h 6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68">
                    <a:moveTo>
                      <a:pt x="34" y="52"/>
                    </a:moveTo>
                    <a:lnTo>
                      <a:pt x="34" y="40"/>
                    </a:lnTo>
                    <a:lnTo>
                      <a:pt x="31" y="28"/>
                    </a:lnTo>
                    <a:lnTo>
                      <a:pt x="31" y="15"/>
                    </a:lnTo>
                    <a:lnTo>
                      <a:pt x="28" y="0"/>
                    </a:lnTo>
                    <a:lnTo>
                      <a:pt x="25" y="3"/>
                    </a:lnTo>
                    <a:lnTo>
                      <a:pt x="22" y="3"/>
                    </a:lnTo>
                    <a:lnTo>
                      <a:pt x="19" y="6"/>
                    </a:lnTo>
                    <a:lnTo>
                      <a:pt x="12" y="9"/>
                    </a:lnTo>
                    <a:lnTo>
                      <a:pt x="9" y="12"/>
                    </a:lnTo>
                    <a:lnTo>
                      <a:pt x="6" y="12"/>
                    </a:lnTo>
                    <a:lnTo>
                      <a:pt x="3" y="15"/>
                    </a:lnTo>
                    <a:lnTo>
                      <a:pt x="0" y="18"/>
                    </a:lnTo>
                    <a:lnTo>
                      <a:pt x="0" y="31"/>
                    </a:lnTo>
                    <a:lnTo>
                      <a:pt x="0" y="43"/>
                    </a:lnTo>
                    <a:lnTo>
                      <a:pt x="3" y="55"/>
                    </a:lnTo>
                    <a:lnTo>
                      <a:pt x="3" y="68"/>
                    </a:lnTo>
                    <a:lnTo>
                      <a:pt x="6" y="68"/>
                    </a:lnTo>
                    <a:lnTo>
                      <a:pt x="12" y="65"/>
                    </a:lnTo>
                    <a:lnTo>
                      <a:pt x="16" y="65"/>
                    </a:lnTo>
                    <a:lnTo>
                      <a:pt x="19" y="61"/>
                    </a:lnTo>
                    <a:lnTo>
                      <a:pt x="22" y="58"/>
                    </a:lnTo>
                    <a:lnTo>
                      <a:pt x="28" y="58"/>
                    </a:lnTo>
                    <a:lnTo>
                      <a:pt x="31" y="55"/>
                    </a:lnTo>
                    <a:lnTo>
                      <a:pt x="34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399" name="Freeform 366"/>
              <p:cNvSpPr>
                <a:spLocks/>
              </p:cNvSpPr>
              <p:nvPr/>
            </p:nvSpPr>
            <p:spPr bwMode="auto">
              <a:xfrm>
                <a:off x="5155" y="2232"/>
                <a:ext cx="34" cy="65"/>
              </a:xfrm>
              <a:custGeom>
                <a:avLst/>
                <a:gdLst>
                  <a:gd name="T0" fmla="*/ 3 w 34"/>
                  <a:gd name="T1" fmla="*/ 65 h 65"/>
                  <a:gd name="T2" fmla="*/ 6 w 34"/>
                  <a:gd name="T3" fmla="*/ 65 h 65"/>
                  <a:gd name="T4" fmla="*/ 12 w 34"/>
                  <a:gd name="T5" fmla="*/ 62 h 65"/>
                  <a:gd name="T6" fmla="*/ 15 w 34"/>
                  <a:gd name="T7" fmla="*/ 62 h 65"/>
                  <a:gd name="T8" fmla="*/ 19 w 34"/>
                  <a:gd name="T9" fmla="*/ 59 h 65"/>
                  <a:gd name="T10" fmla="*/ 22 w 34"/>
                  <a:gd name="T11" fmla="*/ 59 h 65"/>
                  <a:gd name="T12" fmla="*/ 28 w 34"/>
                  <a:gd name="T13" fmla="*/ 56 h 65"/>
                  <a:gd name="T14" fmla="*/ 31 w 34"/>
                  <a:gd name="T15" fmla="*/ 56 h 65"/>
                  <a:gd name="T16" fmla="*/ 34 w 34"/>
                  <a:gd name="T17" fmla="*/ 56 h 65"/>
                  <a:gd name="T18" fmla="*/ 34 w 34"/>
                  <a:gd name="T19" fmla="*/ 40 h 65"/>
                  <a:gd name="T20" fmla="*/ 34 w 34"/>
                  <a:gd name="T21" fmla="*/ 28 h 65"/>
                  <a:gd name="T22" fmla="*/ 31 w 34"/>
                  <a:gd name="T23" fmla="*/ 12 h 65"/>
                  <a:gd name="T24" fmla="*/ 31 w 34"/>
                  <a:gd name="T25" fmla="*/ 0 h 65"/>
                  <a:gd name="T26" fmla="*/ 28 w 34"/>
                  <a:gd name="T27" fmla="*/ 0 h 65"/>
                  <a:gd name="T28" fmla="*/ 22 w 34"/>
                  <a:gd name="T29" fmla="*/ 3 h 65"/>
                  <a:gd name="T30" fmla="*/ 19 w 34"/>
                  <a:gd name="T31" fmla="*/ 3 h 65"/>
                  <a:gd name="T32" fmla="*/ 15 w 34"/>
                  <a:gd name="T33" fmla="*/ 6 h 65"/>
                  <a:gd name="T34" fmla="*/ 12 w 34"/>
                  <a:gd name="T35" fmla="*/ 6 h 65"/>
                  <a:gd name="T36" fmla="*/ 6 w 34"/>
                  <a:gd name="T37" fmla="*/ 9 h 65"/>
                  <a:gd name="T38" fmla="*/ 3 w 34"/>
                  <a:gd name="T39" fmla="*/ 12 h 65"/>
                  <a:gd name="T40" fmla="*/ 0 w 34"/>
                  <a:gd name="T41" fmla="*/ 12 h 65"/>
                  <a:gd name="T42" fmla="*/ 0 w 34"/>
                  <a:gd name="T43" fmla="*/ 28 h 65"/>
                  <a:gd name="T44" fmla="*/ 0 w 34"/>
                  <a:gd name="T45" fmla="*/ 40 h 65"/>
                  <a:gd name="T46" fmla="*/ 3 w 34"/>
                  <a:gd name="T47" fmla="*/ 53 h 65"/>
                  <a:gd name="T48" fmla="*/ 3 w 34"/>
                  <a:gd name="T49" fmla="*/ 65 h 65"/>
                  <a:gd name="T50" fmla="*/ 3 w 34"/>
                  <a:gd name="T51" fmla="*/ 65 h 6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65"/>
                  <a:gd name="T80" fmla="*/ 34 w 34"/>
                  <a:gd name="T81" fmla="*/ 65 h 6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65">
                    <a:moveTo>
                      <a:pt x="3" y="65"/>
                    </a:moveTo>
                    <a:lnTo>
                      <a:pt x="6" y="65"/>
                    </a:lnTo>
                    <a:lnTo>
                      <a:pt x="12" y="62"/>
                    </a:lnTo>
                    <a:lnTo>
                      <a:pt x="15" y="62"/>
                    </a:lnTo>
                    <a:lnTo>
                      <a:pt x="19" y="59"/>
                    </a:lnTo>
                    <a:lnTo>
                      <a:pt x="22" y="59"/>
                    </a:lnTo>
                    <a:lnTo>
                      <a:pt x="28" y="56"/>
                    </a:lnTo>
                    <a:lnTo>
                      <a:pt x="31" y="56"/>
                    </a:lnTo>
                    <a:lnTo>
                      <a:pt x="34" y="56"/>
                    </a:lnTo>
                    <a:lnTo>
                      <a:pt x="34" y="40"/>
                    </a:lnTo>
                    <a:lnTo>
                      <a:pt x="34" y="28"/>
                    </a:lnTo>
                    <a:lnTo>
                      <a:pt x="31" y="12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2" y="3"/>
                    </a:lnTo>
                    <a:lnTo>
                      <a:pt x="19" y="3"/>
                    </a:lnTo>
                    <a:lnTo>
                      <a:pt x="15" y="6"/>
                    </a:lnTo>
                    <a:lnTo>
                      <a:pt x="12" y="6"/>
                    </a:lnTo>
                    <a:lnTo>
                      <a:pt x="6" y="9"/>
                    </a:lnTo>
                    <a:lnTo>
                      <a:pt x="3" y="12"/>
                    </a:lnTo>
                    <a:lnTo>
                      <a:pt x="0" y="12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" y="53"/>
                    </a:lnTo>
                    <a:lnTo>
                      <a:pt x="3" y="6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0" name="Freeform 367"/>
              <p:cNvSpPr>
                <a:spLocks/>
              </p:cNvSpPr>
              <p:nvPr/>
            </p:nvSpPr>
            <p:spPr bwMode="auto">
              <a:xfrm>
                <a:off x="5143" y="2118"/>
                <a:ext cx="37" cy="74"/>
              </a:xfrm>
              <a:custGeom>
                <a:avLst/>
                <a:gdLst>
                  <a:gd name="T0" fmla="*/ 37 w 37"/>
                  <a:gd name="T1" fmla="*/ 58 h 74"/>
                  <a:gd name="T2" fmla="*/ 37 w 37"/>
                  <a:gd name="T3" fmla="*/ 43 h 74"/>
                  <a:gd name="T4" fmla="*/ 34 w 37"/>
                  <a:gd name="T5" fmla="*/ 31 h 74"/>
                  <a:gd name="T6" fmla="*/ 34 w 37"/>
                  <a:gd name="T7" fmla="*/ 15 h 74"/>
                  <a:gd name="T8" fmla="*/ 31 w 37"/>
                  <a:gd name="T9" fmla="*/ 0 h 74"/>
                  <a:gd name="T10" fmla="*/ 27 w 37"/>
                  <a:gd name="T11" fmla="*/ 3 h 74"/>
                  <a:gd name="T12" fmla="*/ 24 w 37"/>
                  <a:gd name="T13" fmla="*/ 6 h 74"/>
                  <a:gd name="T14" fmla="*/ 18 w 37"/>
                  <a:gd name="T15" fmla="*/ 6 h 74"/>
                  <a:gd name="T16" fmla="*/ 15 w 37"/>
                  <a:gd name="T17" fmla="*/ 9 h 74"/>
                  <a:gd name="T18" fmla="*/ 12 w 37"/>
                  <a:gd name="T19" fmla="*/ 12 h 74"/>
                  <a:gd name="T20" fmla="*/ 9 w 37"/>
                  <a:gd name="T21" fmla="*/ 15 h 74"/>
                  <a:gd name="T22" fmla="*/ 6 w 37"/>
                  <a:gd name="T23" fmla="*/ 15 h 74"/>
                  <a:gd name="T24" fmla="*/ 0 w 37"/>
                  <a:gd name="T25" fmla="*/ 18 h 74"/>
                  <a:gd name="T26" fmla="*/ 3 w 37"/>
                  <a:gd name="T27" fmla="*/ 31 h 74"/>
                  <a:gd name="T28" fmla="*/ 3 w 37"/>
                  <a:gd name="T29" fmla="*/ 46 h 74"/>
                  <a:gd name="T30" fmla="*/ 6 w 37"/>
                  <a:gd name="T31" fmla="*/ 58 h 74"/>
                  <a:gd name="T32" fmla="*/ 6 w 37"/>
                  <a:gd name="T33" fmla="*/ 74 h 74"/>
                  <a:gd name="T34" fmla="*/ 9 w 37"/>
                  <a:gd name="T35" fmla="*/ 71 h 74"/>
                  <a:gd name="T36" fmla="*/ 15 w 37"/>
                  <a:gd name="T37" fmla="*/ 68 h 74"/>
                  <a:gd name="T38" fmla="*/ 18 w 37"/>
                  <a:gd name="T39" fmla="*/ 68 h 74"/>
                  <a:gd name="T40" fmla="*/ 21 w 37"/>
                  <a:gd name="T41" fmla="*/ 65 h 74"/>
                  <a:gd name="T42" fmla="*/ 24 w 37"/>
                  <a:gd name="T43" fmla="*/ 65 h 74"/>
                  <a:gd name="T44" fmla="*/ 31 w 37"/>
                  <a:gd name="T45" fmla="*/ 62 h 74"/>
                  <a:gd name="T46" fmla="*/ 34 w 37"/>
                  <a:gd name="T47" fmla="*/ 58 h 74"/>
                  <a:gd name="T48" fmla="*/ 37 w 37"/>
                  <a:gd name="T49" fmla="*/ 58 h 74"/>
                  <a:gd name="T50" fmla="*/ 37 w 37"/>
                  <a:gd name="T51" fmla="*/ 58 h 7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7"/>
                  <a:gd name="T79" fmla="*/ 0 h 74"/>
                  <a:gd name="T80" fmla="*/ 37 w 37"/>
                  <a:gd name="T81" fmla="*/ 74 h 7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7" h="74">
                    <a:moveTo>
                      <a:pt x="37" y="58"/>
                    </a:moveTo>
                    <a:lnTo>
                      <a:pt x="37" y="43"/>
                    </a:lnTo>
                    <a:lnTo>
                      <a:pt x="34" y="31"/>
                    </a:lnTo>
                    <a:lnTo>
                      <a:pt x="34" y="15"/>
                    </a:lnTo>
                    <a:lnTo>
                      <a:pt x="31" y="0"/>
                    </a:lnTo>
                    <a:lnTo>
                      <a:pt x="27" y="3"/>
                    </a:lnTo>
                    <a:lnTo>
                      <a:pt x="24" y="6"/>
                    </a:lnTo>
                    <a:lnTo>
                      <a:pt x="18" y="6"/>
                    </a:lnTo>
                    <a:lnTo>
                      <a:pt x="15" y="9"/>
                    </a:lnTo>
                    <a:lnTo>
                      <a:pt x="12" y="12"/>
                    </a:lnTo>
                    <a:lnTo>
                      <a:pt x="9" y="15"/>
                    </a:lnTo>
                    <a:lnTo>
                      <a:pt x="6" y="15"/>
                    </a:lnTo>
                    <a:lnTo>
                      <a:pt x="0" y="18"/>
                    </a:lnTo>
                    <a:lnTo>
                      <a:pt x="3" y="31"/>
                    </a:lnTo>
                    <a:lnTo>
                      <a:pt x="3" y="46"/>
                    </a:lnTo>
                    <a:lnTo>
                      <a:pt x="6" y="58"/>
                    </a:lnTo>
                    <a:lnTo>
                      <a:pt x="6" y="74"/>
                    </a:lnTo>
                    <a:lnTo>
                      <a:pt x="9" y="71"/>
                    </a:lnTo>
                    <a:lnTo>
                      <a:pt x="15" y="68"/>
                    </a:lnTo>
                    <a:lnTo>
                      <a:pt x="18" y="68"/>
                    </a:lnTo>
                    <a:lnTo>
                      <a:pt x="21" y="65"/>
                    </a:lnTo>
                    <a:lnTo>
                      <a:pt x="24" y="65"/>
                    </a:lnTo>
                    <a:lnTo>
                      <a:pt x="31" y="62"/>
                    </a:lnTo>
                    <a:lnTo>
                      <a:pt x="34" y="58"/>
                    </a:lnTo>
                    <a:lnTo>
                      <a:pt x="37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1" name="Freeform 368"/>
              <p:cNvSpPr>
                <a:spLocks/>
              </p:cNvSpPr>
              <p:nvPr/>
            </p:nvSpPr>
            <p:spPr bwMode="auto">
              <a:xfrm>
                <a:off x="5167" y="2442"/>
                <a:ext cx="31" cy="56"/>
              </a:xfrm>
              <a:custGeom>
                <a:avLst/>
                <a:gdLst>
                  <a:gd name="T0" fmla="*/ 0 w 31"/>
                  <a:gd name="T1" fmla="*/ 56 h 56"/>
                  <a:gd name="T2" fmla="*/ 3 w 31"/>
                  <a:gd name="T3" fmla="*/ 56 h 56"/>
                  <a:gd name="T4" fmla="*/ 10 w 31"/>
                  <a:gd name="T5" fmla="*/ 53 h 56"/>
                  <a:gd name="T6" fmla="*/ 13 w 31"/>
                  <a:gd name="T7" fmla="*/ 53 h 56"/>
                  <a:gd name="T8" fmla="*/ 16 w 31"/>
                  <a:gd name="T9" fmla="*/ 53 h 56"/>
                  <a:gd name="T10" fmla="*/ 19 w 31"/>
                  <a:gd name="T11" fmla="*/ 53 h 56"/>
                  <a:gd name="T12" fmla="*/ 25 w 31"/>
                  <a:gd name="T13" fmla="*/ 53 h 56"/>
                  <a:gd name="T14" fmla="*/ 28 w 31"/>
                  <a:gd name="T15" fmla="*/ 53 h 56"/>
                  <a:gd name="T16" fmla="*/ 31 w 31"/>
                  <a:gd name="T17" fmla="*/ 50 h 56"/>
                  <a:gd name="T18" fmla="*/ 31 w 31"/>
                  <a:gd name="T19" fmla="*/ 37 h 56"/>
                  <a:gd name="T20" fmla="*/ 31 w 31"/>
                  <a:gd name="T21" fmla="*/ 25 h 56"/>
                  <a:gd name="T22" fmla="*/ 31 w 31"/>
                  <a:gd name="T23" fmla="*/ 13 h 56"/>
                  <a:gd name="T24" fmla="*/ 31 w 31"/>
                  <a:gd name="T25" fmla="*/ 0 h 56"/>
                  <a:gd name="T26" fmla="*/ 28 w 31"/>
                  <a:gd name="T27" fmla="*/ 3 h 56"/>
                  <a:gd name="T28" fmla="*/ 22 w 31"/>
                  <a:gd name="T29" fmla="*/ 3 h 56"/>
                  <a:gd name="T30" fmla="*/ 19 w 31"/>
                  <a:gd name="T31" fmla="*/ 3 h 56"/>
                  <a:gd name="T32" fmla="*/ 16 w 31"/>
                  <a:gd name="T33" fmla="*/ 3 h 56"/>
                  <a:gd name="T34" fmla="*/ 13 w 31"/>
                  <a:gd name="T35" fmla="*/ 6 h 56"/>
                  <a:gd name="T36" fmla="*/ 7 w 31"/>
                  <a:gd name="T37" fmla="*/ 6 h 56"/>
                  <a:gd name="T38" fmla="*/ 3 w 31"/>
                  <a:gd name="T39" fmla="*/ 6 h 56"/>
                  <a:gd name="T40" fmla="*/ 0 w 31"/>
                  <a:gd name="T41" fmla="*/ 6 h 56"/>
                  <a:gd name="T42" fmla="*/ 0 w 31"/>
                  <a:gd name="T43" fmla="*/ 19 h 56"/>
                  <a:gd name="T44" fmla="*/ 0 w 31"/>
                  <a:gd name="T45" fmla="*/ 31 h 56"/>
                  <a:gd name="T46" fmla="*/ 0 w 31"/>
                  <a:gd name="T47" fmla="*/ 43 h 56"/>
                  <a:gd name="T48" fmla="*/ 0 w 31"/>
                  <a:gd name="T49" fmla="*/ 56 h 56"/>
                  <a:gd name="T50" fmla="*/ 0 w 31"/>
                  <a:gd name="T51" fmla="*/ 56 h 5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"/>
                  <a:gd name="T79" fmla="*/ 0 h 56"/>
                  <a:gd name="T80" fmla="*/ 31 w 31"/>
                  <a:gd name="T81" fmla="*/ 56 h 5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" h="56">
                    <a:moveTo>
                      <a:pt x="0" y="56"/>
                    </a:moveTo>
                    <a:lnTo>
                      <a:pt x="3" y="56"/>
                    </a:lnTo>
                    <a:lnTo>
                      <a:pt x="10" y="53"/>
                    </a:lnTo>
                    <a:lnTo>
                      <a:pt x="13" y="53"/>
                    </a:lnTo>
                    <a:lnTo>
                      <a:pt x="16" y="53"/>
                    </a:lnTo>
                    <a:lnTo>
                      <a:pt x="19" y="53"/>
                    </a:lnTo>
                    <a:lnTo>
                      <a:pt x="25" y="53"/>
                    </a:lnTo>
                    <a:lnTo>
                      <a:pt x="28" y="53"/>
                    </a:lnTo>
                    <a:lnTo>
                      <a:pt x="31" y="50"/>
                    </a:lnTo>
                    <a:lnTo>
                      <a:pt x="31" y="37"/>
                    </a:lnTo>
                    <a:lnTo>
                      <a:pt x="31" y="25"/>
                    </a:lnTo>
                    <a:lnTo>
                      <a:pt x="31" y="13"/>
                    </a:lnTo>
                    <a:lnTo>
                      <a:pt x="31" y="0"/>
                    </a:lnTo>
                    <a:lnTo>
                      <a:pt x="28" y="3"/>
                    </a:lnTo>
                    <a:lnTo>
                      <a:pt x="22" y="3"/>
                    </a:lnTo>
                    <a:lnTo>
                      <a:pt x="19" y="3"/>
                    </a:lnTo>
                    <a:lnTo>
                      <a:pt x="16" y="3"/>
                    </a:lnTo>
                    <a:lnTo>
                      <a:pt x="13" y="6"/>
                    </a:lnTo>
                    <a:lnTo>
                      <a:pt x="7" y="6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19"/>
                    </a:lnTo>
                    <a:lnTo>
                      <a:pt x="0" y="31"/>
                    </a:lnTo>
                    <a:lnTo>
                      <a:pt x="0" y="43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2" name="Freeform 369"/>
              <p:cNvSpPr>
                <a:spLocks/>
              </p:cNvSpPr>
              <p:nvPr/>
            </p:nvSpPr>
            <p:spPr bwMode="auto">
              <a:xfrm>
                <a:off x="5161" y="2340"/>
                <a:ext cx="34" cy="59"/>
              </a:xfrm>
              <a:custGeom>
                <a:avLst/>
                <a:gdLst>
                  <a:gd name="T0" fmla="*/ 3 w 34"/>
                  <a:gd name="T1" fmla="*/ 59 h 59"/>
                  <a:gd name="T2" fmla="*/ 6 w 34"/>
                  <a:gd name="T3" fmla="*/ 59 h 59"/>
                  <a:gd name="T4" fmla="*/ 13 w 34"/>
                  <a:gd name="T5" fmla="*/ 59 h 59"/>
                  <a:gd name="T6" fmla="*/ 16 w 34"/>
                  <a:gd name="T7" fmla="*/ 56 h 59"/>
                  <a:gd name="T8" fmla="*/ 19 w 34"/>
                  <a:gd name="T9" fmla="*/ 56 h 59"/>
                  <a:gd name="T10" fmla="*/ 22 w 34"/>
                  <a:gd name="T11" fmla="*/ 56 h 59"/>
                  <a:gd name="T12" fmla="*/ 28 w 34"/>
                  <a:gd name="T13" fmla="*/ 53 h 59"/>
                  <a:gd name="T14" fmla="*/ 31 w 34"/>
                  <a:gd name="T15" fmla="*/ 53 h 59"/>
                  <a:gd name="T16" fmla="*/ 34 w 34"/>
                  <a:gd name="T17" fmla="*/ 53 h 59"/>
                  <a:gd name="T18" fmla="*/ 34 w 34"/>
                  <a:gd name="T19" fmla="*/ 40 h 59"/>
                  <a:gd name="T20" fmla="*/ 34 w 34"/>
                  <a:gd name="T21" fmla="*/ 25 h 59"/>
                  <a:gd name="T22" fmla="*/ 34 w 34"/>
                  <a:gd name="T23" fmla="*/ 13 h 59"/>
                  <a:gd name="T24" fmla="*/ 31 w 34"/>
                  <a:gd name="T25" fmla="*/ 0 h 59"/>
                  <a:gd name="T26" fmla="*/ 28 w 34"/>
                  <a:gd name="T27" fmla="*/ 0 h 59"/>
                  <a:gd name="T28" fmla="*/ 25 w 34"/>
                  <a:gd name="T29" fmla="*/ 3 h 59"/>
                  <a:gd name="T30" fmla="*/ 22 w 34"/>
                  <a:gd name="T31" fmla="*/ 3 h 59"/>
                  <a:gd name="T32" fmla="*/ 16 w 34"/>
                  <a:gd name="T33" fmla="*/ 3 h 59"/>
                  <a:gd name="T34" fmla="*/ 13 w 34"/>
                  <a:gd name="T35" fmla="*/ 6 h 59"/>
                  <a:gd name="T36" fmla="*/ 9 w 34"/>
                  <a:gd name="T37" fmla="*/ 6 h 59"/>
                  <a:gd name="T38" fmla="*/ 6 w 34"/>
                  <a:gd name="T39" fmla="*/ 9 h 59"/>
                  <a:gd name="T40" fmla="*/ 0 w 34"/>
                  <a:gd name="T41" fmla="*/ 9 h 59"/>
                  <a:gd name="T42" fmla="*/ 0 w 34"/>
                  <a:gd name="T43" fmla="*/ 22 h 59"/>
                  <a:gd name="T44" fmla="*/ 3 w 34"/>
                  <a:gd name="T45" fmla="*/ 34 h 59"/>
                  <a:gd name="T46" fmla="*/ 3 w 34"/>
                  <a:gd name="T47" fmla="*/ 47 h 59"/>
                  <a:gd name="T48" fmla="*/ 3 w 34"/>
                  <a:gd name="T49" fmla="*/ 59 h 59"/>
                  <a:gd name="T50" fmla="*/ 3 w 34"/>
                  <a:gd name="T51" fmla="*/ 59 h 5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9"/>
                  <a:gd name="T80" fmla="*/ 34 w 34"/>
                  <a:gd name="T81" fmla="*/ 59 h 5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9">
                    <a:moveTo>
                      <a:pt x="3" y="59"/>
                    </a:moveTo>
                    <a:lnTo>
                      <a:pt x="6" y="59"/>
                    </a:lnTo>
                    <a:lnTo>
                      <a:pt x="13" y="59"/>
                    </a:lnTo>
                    <a:lnTo>
                      <a:pt x="16" y="56"/>
                    </a:lnTo>
                    <a:lnTo>
                      <a:pt x="19" y="56"/>
                    </a:lnTo>
                    <a:lnTo>
                      <a:pt x="22" y="56"/>
                    </a:lnTo>
                    <a:lnTo>
                      <a:pt x="28" y="53"/>
                    </a:lnTo>
                    <a:lnTo>
                      <a:pt x="31" y="53"/>
                    </a:lnTo>
                    <a:lnTo>
                      <a:pt x="34" y="53"/>
                    </a:lnTo>
                    <a:lnTo>
                      <a:pt x="34" y="40"/>
                    </a:lnTo>
                    <a:lnTo>
                      <a:pt x="34" y="25"/>
                    </a:lnTo>
                    <a:lnTo>
                      <a:pt x="34" y="13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5" y="3"/>
                    </a:lnTo>
                    <a:lnTo>
                      <a:pt x="22" y="3"/>
                    </a:lnTo>
                    <a:lnTo>
                      <a:pt x="16" y="3"/>
                    </a:lnTo>
                    <a:lnTo>
                      <a:pt x="13" y="6"/>
                    </a:lnTo>
                    <a:lnTo>
                      <a:pt x="9" y="6"/>
                    </a:lnTo>
                    <a:lnTo>
                      <a:pt x="6" y="9"/>
                    </a:lnTo>
                    <a:lnTo>
                      <a:pt x="0" y="9"/>
                    </a:lnTo>
                    <a:lnTo>
                      <a:pt x="0" y="22"/>
                    </a:lnTo>
                    <a:lnTo>
                      <a:pt x="3" y="34"/>
                    </a:lnTo>
                    <a:lnTo>
                      <a:pt x="3" y="47"/>
                    </a:lnTo>
                    <a:lnTo>
                      <a:pt x="3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3" name="Freeform 370"/>
              <p:cNvSpPr>
                <a:spLocks/>
              </p:cNvSpPr>
              <p:nvPr/>
            </p:nvSpPr>
            <p:spPr bwMode="auto">
              <a:xfrm>
                <a:off x="5167" y="2541"/>
                <a:ext cx="34" cy="49"/>
              </a:xfrm>
              <a:custGeom>
                <a:avLst/>
                <a:gdLst>
                  <a:gd name="T0" fmla="*/ 34 w 34"/>
                  <a:gd name="T1" fmla="*/ 0 h 49"/>
                  <a:gd name="T2" fmla="*/ 28 w 34"/>
                  <a:gd name="T3" fmla="*/ 0 h 49"/>
                  <a:gd name="T4" fmla="*/ 25 w 34"/>
                  <a:gd name="T5" fmla="*/ 0 h 49"/>
                  <a:gd name="T6" fmla="*/ 22 w 34"/>
                  <a:gd name="T7" fmla="*/ 0 h 49"/>
                  <a:gd name="T8" fmla="*/ 16 w 34"/>
                  <a:gd name="T9" fmla="*/ 3 h 49"/>
                  <a:gd name="T10" fmla="*/ 13 w 34"/>
                  <a:gd name="T11" fmla="*/ 3 h 49"/>
                  <a:gd name="T12" fmla="*/ 10 w 34"/>
                  <a:gd name="T13" fmla="*/ 3 h 49"/>
                  <a:gd name="T14" fmla="*/ 3 w 34"/>
                  <a:gd name="T15" fmla="*/ 3 h 49"/>
                  <a:gd name="T16" fmla="*/ 0 w 34"/>
                  <a:gd name="T17" fmla="*/ 3 h 49"/>
                  <a:gd name="T18" fmla="*/ 0 w 34"/>
                  <a:gd name="T19" fmla="*/ 15 h 49"/>
                  <a:gd name="T20" fmla="*/ 0 w 34"/>
                  <a:gd name="T21" fmla="*/ 28 h 49"/>
                  <a:gd name="T22" fmla="*/ 0 w 34"/>
                  <a:gd name="T23" fmla="*/ 37 h 49"/>
                  <a:gd name="T24" fmla="*/ 0 w 34"/>
                  <a:gd name="T25" fmla="*/ 49 h 49"/>
                  <a:gd name="T26" fmla="*/ 3 w 34"/>
                  <a:gd name="T27" fmla="*/ 49 h 49"/>
                  <a:gd name="T28" fmla="*/ 10 w 34"/>
                  <a:gd name="T29" fmla="*/ 49 h 49"/>
                  <a:gd name="T30" fmla="*/ 13 w 34"/>
                  <a:gd name="T31" fmla="*/ 49 h 49"/>
                  <a:gd name="T32" fmla="*/ 16 w 34"/>
                  <a:gd name="T33" fmla="*/ 49 h 49"/>
                  <a:gd name="T34" fmla="*/ 19 w 34"/>
                  <a:gd name="T35" fmla="*/ 49 h 49"/>
                  <a:gd name="T36" fmla="*/ 25 w 34"/>
                  <a:gd name="T37" fmla="*/ 49 h 49"/>
                  <a:gd name="T38" fmla="*/ 28 w 34"/>
                  <a:gd name="T39" fmla="*/ 46 h 49"/>
                  <a:gd name="T40" fmla="*/ 31 w 34"/>
                  <a:gd name="T41" fmla="*/ 46 h 49"/>
                  <a:gd name="T42" fmla="*/ 31 w 34"/>
                  <a:gd name="T43" fmla="*/ 37 h 49"/>
                  <a:gd name="T44" fmla="*/ 34 w 34"/>
                  <a:gd name="T45" fmla="*/ 25 h 49"/>
                  <a:gd name="T46" fmla="*/ 34 w 34"/>
                  <a:gd name="T47" fmla="*/ 12 h 49"/>
                  <a:gd name="T48" fmla="*/ 34 w 34"/>
                  <a:gd name="T49" fmla="*/ 0 h 49"/>
                  <a:gd name="T50" fmla="*/ 34 w 34"/>
                  <a:gd name="T51" fmla="*/ 0 h 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49"/>
                  <a:gd name="T80" fmla="*/ 34 w 34"/>
                  <a:gd name="T81" fmla="*/ 49 h 4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49">
                    <a:moveTo>
                      <a:pt x="34" y="0"/>
                    </a:moveTo>
                    <a:lnTo>
                      <a:pt x="28" y="0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16" y="3"/>
                    </a:lnTo>
                    <a:lnTo>
                      <a:pt x="13" y="3"/>
                    </a:lnTo>
                    <a:lnTo>
                      <a:pt x="10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15"/>
                    </a:lnTo>
                    <a:lnTo>
                      <a:pt x="0" y="28"/>
                    </a:lnTo>
                    <a:lnTo>
                      <a:pt x="0" y="37"/>
                    </a:lnTo>
                    <a:lnTo>
                      <a:pt x="0" y="49"/>
                    </a:lnTo>
                    <a:lnTo>
                      <a:pt x="3" y="49"/>
                    </a:lnTo>
                    <a:lnTo>
                      <a:pt x="10" y="49"/>
                    </a:lnTo>
                    <a:lnTo>
                      <a:pt x="13" y="49"/>
                    </a:lnTo>
                    <a:lnTo>
                      <a:pt x="16" y="49"/>
                    </a:lnTo>
                    <a:lnTo>
                      <a:pt x="19" y="49"/>
                    </a:lnTo>
                    <a:lnTo>
                      <a:pt x="25" y="49"/>
                    </a:lnTo>
                    <a:lnTo>
                      <a:pt x="28" y="46"/>
                    </a:lnTo>
                    <a:lnTo>
                      <a:pt x="31" y="46"/>
                    </a:lnTo>
                    <a:lnTo>
                      <a:pt x="31" y="37"/>
                    </a:lnTo>
                    <a:lnTo>
                      <a:pt x="34" y="25"/>
                    </a:lnTo>
                    <a:lnTo>
                      <a:pt x="34" y="12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4" name="Freeform 371"/>
              <p:cNvSpPr>
                <a:spLocks/>
              </p:cNvSpPr>
              <p:nvPr/>
            </p:nvSpPr>
            <p:spPr bwMode="auto">
              <a:xfrm>
                <a:off x="5285" y="2362"/>
                <a:ext cx="34" cy="55"/>
              </a:xfrm>
              <a:custGeom>
                <a:avLst/>
                <a:gdLst>
                  <a:gd name="T0" fmla="*/ 31 w 34"/>
                  <a:gd name="T1" fmla="*/ 0 h 55"/>
                  <a:gd name="T2" fmla="*/ 28 w 34"/>
                  <a:gd name="T3" fmla="*/ 0 h 55"/>
                  <a:gd name="T4" fmla="*/ 24 w 34"/>
                  <a:gd name="T5" fmla="*/ 0 h 55"/>
                  <a:gd name="T6" fmla="*/ 18 w 34"/>
                  <a:gd name="T7" fmla="*/ 0 h 55"/>
                  <a:gd name="T8" fmla="*/ 15 w 34"/>
                  <a:gd name="T9" fmla="*/ 3 h 55"/>
                  <a:gd name="T10" fmla="*/ 12 w 34"/>
                  <a:gd name="T11" fmla="*/ 3 h 55"/>
                  <a:gd name="T12" fmla="*/ 6 w 34"/>
                  <a:gd name="T13" fmla="*/ 3 h 55"/>
                  <a:gd name="T14" fmla="*/ 3 w 34"/>
                  <a:gd name="T15" fmla="*/ 6 h 55"/>
                  <a:gd name="T16" fmla="*/ 0 w 34"/>
                  <a:gd name="T17" fmla="*/ 6 h 55"/>
                  <a:gd name="T18" fmla="*/ 0 w 34"/>
                  <a:gd name="T19" fmla="*/ 18 h 55"/>
                  <a:gd name="T20" fmla="*/ 0 w 34"/>
                  <a:gd name="T21" fmla="*/ 31 h 55"/>
                  <a:gd name="T22" fmla="*/ 0 w 34"/>
                  <a:gd name="T23" fmla="*/ 43 h 55"/>
                  <a:gd name="T24" fmla="*/ 0 w 34"/>
                  <a:gd name="T25" fmla="*/ 55 h 55"/>
                  <a:gd name="T26" fmla="*/ 6 w 34"/>
                  <a:gd name="T27" fmla="*/ 52 h 55"/>
                  <a:gd name="T28" fmla="*/ 9 w 34"/>
                  <a:gd name="T29" fmla="*/ 52 h 55"/>
                  <a:gd name="T30" fmla="*/ 12 w 34"/>
                  <a:gd name="T31" fmla="*/ 52 h 55"/>
                  <a:gd name="T32" fmla="*/ 18 w 34"/>
                  <a:gd name="T33" fmla="*/ 52 h 55"/>
                  <a:gd name="T34" fmla="*/ 21 w 34"/>
                  <a:gd name="T35" fmla="*/ 52 h 55"/>
                  <a:gd name="T36" fmla="*/ 24 w 34"/>
                  <a:gd name="T37" fmla="*/ 52 h 55"/>
                  <a:gd name="T38" fmla="*/ 31 w 34"/>
                  <a:gd name="T39" fmla="*/ 49 h 55"/>
                  <a:gd name="T40" fmla="*/ 34 w 34"/>
                  <a:gd name="T41" fmla="*/ 49 h 55"/>
                  <a:gd name="T42" fmla="*/ 34 w 34"/>
                  <a:gd name="T43" fmla="*/ 37 h 55"/>
                  <a:gd name="T44" fmla="*/ 34 w 34"/>
                  <a:gd name="T45" fmla="*/ 25 h 55"/>
                  <a:gd name="T46" fmla="*/ 31 w 34"/>
                  <a:gd name="T47" fmla="*/ 12 h 55"/>
                  <a:gd name="T48" fmla="*/ 31 w 34"/>
                  <a:gd name="T49" fmla="*/ 0 h 55"/>
                  <a:gd name="T50" fmla="*/ 31 w 34"/>
                  <a:gd name="T51" fmla="*/ 0 h 5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5"/>
                  <a:gd name="T80" fmla="*/ 34 w 34"/>
                  <a:gd name="T81" fmla="*/ 55 h 5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5">
                    <a:moveTo>
                      <a:pt x="31" y="0"/>
                    </a:moveTo>
                    <a:lnTo>
                      <a:pt x="28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18"/>
                    </a:lnTo>
                    <a:lnTo>
                      <a:pt x="0" y="31"/>
                    </a:lnTo>
                    <a:lnTo>
                      <a:pt x="0" y="43"/>
                    </a:lnTo>
                    <a:lnTo>
                      <a:pt x="0" y="55"/>
                    </a:lnTo>
                    <a:lnTo>
                      <a:pt x="6" y="52"/>
                    </a:lnTo>
                    <a:lnTo>
                      <a:pt x="9" y="52"/>
                    </a:lnTo>
                    <a:lnTo>
                      <a:pt x="12" y="52"/>
                    </a:lnTo>
                    <a:lnTo>
                      <a:pt x="18" y="52"/>
                    </a:lnTo>
                    <a:lnTo>
                      <a:pt x="21" y="52"/>
                    </a:lnTo>
                    <a:lnTo>
                      <a:pt x="24" y="52"/>
                    </a:lnTo>
                    <a:lnTo>
                      <a:pt x="31" y="49"/>
                    </a:lnTo>
                    <a:lnTo>
                      <a:pt x="34" y="49"/>
                    </a:lnTo>
                    <a:lnTo>
                      <a:pt x="34" y="37"/>
                    </a:lnTo>
                    <a:lnTo>
                      <a:pt x="34" y="25"/>
                    </a:lnTo>
                    <a:lnTo>
                      <a:pt x="31" y="1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5" name="Freeform 372"/>
              <p:cNvSpPr>
                <a:spLocks/>
              </p:cNvSpPr>
              <p:nvPr/>
            </p:nvSpPr>
            <p:spPr bwMode="auto">
              <a:xfrm>
                <a:off x="5288" y="2461"/>
                <a:ext cx="34" cy="55"/>
              </a:xfrm>
              <a:custGeom>
                <a:avLst/>
                <a:gdLst>
                  <a:gd name="T0" fmla="*/ 34 w 34"/>
                  <a:gd name="T1" fmla="*/ 0 h 55"/>
                  <a:gd name="T2" fmla="*/ 28 w 34"/>
                  <a:gd name="T3" fmla="*/ 3 h 55"/>
                  <a:gd name="T4" fmla="*/ 25 w 34"/>
                  <a:gd name="T5" fmla="*/ 3 h 55"/>
                  <a:gd name="T6" fmla="*/ 18 w 34"/>
                  <a:gd name="T7" fmla="*/ 3 h 55"/>
                  <a:gd name="T8" fmla="*/ 15 w 34"/>
                  <a:gd name="T9" fmla="*/ 3 h 55"/>
                  <a:gd name="T10" fmla="*/ 12 w 34"/>
                  <a:gd name="T11" fmla="*/ 3 h 55"/>
                  <a:gd name="T12" fmla="*/ 9 w 34"/>
                  <a:gd name="T13" fmla="*/ 3 h 55"/>
                  <a:gd name="T14" fmla="*/ 3 w 34"/>
                  <a:gd name="T15" fmla="*/ 3 h 55"/>
                  <a:gd name="T16" fmla="*/ 0 w 34"/>
                  <a:gd name="T17" fmla="*/ 6 h 55"/>
                  <a:gd name="T18" fmla="*/ 0 w 34"/>
                  <a:gd name="T19" fmla="*/ 18 h 55"/>
                  <a:gd name="T20" fmla="*/ 0 w 34"/>
                  <a:gd name="T21" fmla="*/ 27 h 55"/>
                  <a:gd name="T22" fmla="*/ 0 w 34"/>
                  <a:gd name="T23" fmla="*/ 40 h 55"/>
                  <a:gd name="T24" fmla="*/ 0 w 34"/>
                  <a:gd name="T25" fmla="*/ 55 h 55"/>
                  <a:gd name="T26" fmla="*/ 3 w 34"/>
                  <a:gd name="T27" fmla="*/ 52 h 55"/>
                  <a:gd name="T28" fmla="*/ 9 w 34"/>
                  <a:gd name="T29" fmla="*/ 52 h 55"/>
                  <a:gd name="T30" fmla="*/ 12 w 34"/>
                  <a:gd name="T31" fmla="*/ 52 h 55"/>
                  <a:gd name="T32" fmla="*/ 15 w 34"/>
                  <a:gd name="T33" fmla="*/ 52 h 55"/>
                  <a:gd name="T34" fmla="*/ 21 w 34"/>
                  <a:gd name="T35" fmla="*/ 52 h 55"/>
                  <a:gd name="T36" fmla="*/ 25 w 34"/>
                  <a:gd name="T37" fmla="*/ 52 h 55"/>
                  <a:gd name="T38" fmla="*/ 28 w 34"/>
                  <a:gd name="T39" fmla="*/ 52 h 55"/>
                  <a:gd name="T40" fmla="*/ 34 w 34"/>
                  <a:gd name="T41" fmla="*/ 52 h 55"/>
                  <a:gd name="T42" fmla="*/ 34 w 34"/>
                  <a:gd name="T43" fmla="*/ 37 h 55"/>
                  <a:gd name="T44" fmla="*/ 34 w 34"/>
                  <a:gd name="T45" fmla="*/ 24 h 55"/>
                  <a:gd name="T46" fmla="*/ 34 w 34"/>
                  <a:gd name="T47" fmla="*/ 12 h 55"/>
                  <a:gd name="T48" fmla="*/ 34 w 34"/>
                  <a:gd name="T49" fmla="*/ 0 h 55"/>
                  <a:gd name="T50" fmla="*/ 34 w 34"/>
                  <a:gd name="T51" fmla="*/ 0 h 5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5"/>
                  <a:gd name="T80" fmla="*/ 34 w 34"/>
                  <a:gd name="T81" fmla="*/ 55 h 5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5">
                    <a:moveTo>
                      <a:pt x="34" y="0"/>
                    </a:moveTo>
                    <a:lnTo>
                      <a:pt x="28" y="3"/>
                    </a:lnTo>
                    <a:lnTo>
                      <a:pt x="25" y="3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8"/>
                    </a:lnTo>
                    <a:lnTo>
                      <a:pt x="0" y="27"/>
                    </a:lnTo>
                    <a:lnTo>
                      <a:pt x="0" y="40"/>
                    </a:lnTo>
                    <a:lnTo>
                      <a:pt x="0" y="55"/>
                    </a:lnTo>
                    <a:lnTo>
                      <a:pt x="3" y="52"/>
                    </a:lnTo>
                    <a:lnTo>
                      <a:pt x="9" y="52"/>
                    </a:lnTo>
                    <a:lnTo>
                      <a:pt x="12" y="52"/>
                    </a:lnTo>
                    <a:lnTo>
                      <a:pt x="15" y="52"/>
                    </a:lnTo>
                    <a:lnTo>
                      <a:pt x="21" y="52"/>
                    </a:lnTo>
                    <a:lnTo>
                      <a:pt x="25" y="52"/>
                    </a:lnTo>
                    <a:lnTo>
                      <a:pt x="28" y="52"/>
                    </a:lnTo>
                    <a:lnTo>
                      <a:pt x="34" y="52"/>
                    </a:lnTo>
                    <a:lnTo>
                      <a:pt x="34" y="37"/>
                    </a:lnTo>
                    <a:lnTo>
                      <a:pt x="34" y="24"/>
                    </a:lnTo>
                    <a:lnTo>
                      <a:pt x="34" y="12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6" name="Freeform 373"/>
              <p:cNvSpPr>
                <a:spLocks/>
              </p:cNvSpPr>
              <p:nvPr/>
            </p:nvSpPr>
            <p:spPr bwMode="auto">
              <a:xfrm>
                <a:off x="5288" y="2563"/>
                <a:ext cx="34" cy="49"/>
              </a:xfrm>
              <a:custGeom>
                <a:avLst/>
                <a:gdLst>
                  <a:gd name="T0" fmla="*/ 0 w 34"/>
                  <a:gd name="T1" fmla="*/ 0 h 49"/>
                  <a:gd name="T2" fmla="*/ 0 w 34"/>
                  <a:gd name="T3" fmla="*/ 12 h 49"/>
                  <a:gd name="T4" fmla="*/ 0 w 34"/>
                  <a:gd name="T5" fmla="*/ 24 h 49"/>
                  <a:gd name="T6" fmla="*/ 0 w 34"/>
                  <a:gd name="T7" fmla="*/ 37 h 49"/>
                  <a:gd name="T8" fmla="*/ 0 w 34"/>
                  <a:gd name="T9" fmla="*/ 49 h 49"/>
                  <a:gd name="T10" fmla="*/ 3 w 34"/>
                  <a:gd name="T11" fmla="*/ 49 h 49"/>
                  <a:gd name="T12" fmla="*/ 6 w 34"/>
                  <a:gd name="T13" fmla="*/ 49 h 49"/>
                  <a:gd name="T14" fmla="*/ 12 w 34"/>
                  <a:gd name="T15" fmla="*/ 49 h 49"/>
                  <a:gd name="T16" fmla="*/ 15 w 34"/>
                  <a:gd name="T17" fmla="*/ 49 h 49"/>
                  <a:gd name="T18" fmla="*/ 18 w 34"/>
                  <a:gd name="T19" fmla="*/ 49 h 49"/>
                  <a:gd name="T20" fmla="*/ 25 w 34"/>
                  <a:gd name="T21" fmla="*/ 49 h 49"/>
                  <a:gd name="T22" fmla="*/ 28 w 34"/>
                  <a:gd name="T23" fmla="*/ 49 h 49"/>
                  <a:gd name="T24" fmla="*/ 31 w 34"/>
                  <a:gd name="T25" fmla="*/ 49 h 49"/>
                  <a:gd name="T26" fmla="*/ 31 w 34"/>
                  <a:gd name="T27" fmla="*/ 37 h 49"/>
                  <a:gd name="T28" fmla="*/ 31 w 34"/>
                  <a:gd name="T29" fmla="*/ 24 h 49"/>
                  <a:gd name="T30" fmla="*/ 34 w 34"/>
                  <a:gd name="T31" fmla="*/ 12 h 49"/>
                  <a:gd name="T32" fmla="*/ 34 w 34"/>
                  <a:gd name="T33" fmla="*/ 0 h 49"/>
                  <a:gd name="T34" fmla="*/ 28 w 34"/>
                  <a:gd name="T35" fmla="*/ 0 h 49"/>
                  <a:gd name="T36" fmla="*/ 25 w 34"/>
                  <a:gd name="T37" fmla="*/ 0 h 49"/>
                  <a:gd name="T38" fmla="*/ 21 w 34"/>
                  <a:gd name="T39" fmla="*/ 0 h 49"/>
                  <a:gd name="T40" fmla="*/ 15 w 34"/>
                  <a:gd name="T41" fmla="*/ 0 h 49"/>
                  <a:gd name="T42" fmla="*/ 12 w 34"/>
                  <a:gd name="T43" fmla="*/ 0 h 49"/>
                  <a:gd name="T44" fmla="*/ 9 w 34"/>
                  <a:gd name="T45" fmla="*/ 0 h 49"/>
                  <a:gd name="T46" fmla="*/ 3 w 34"/>
                  <a:gd name="T47" fmla="*/ 0 h 49"/>
                  <a:gd name="T48" fmla="*/ 0 w 34"/>
                  <a:gd name="T49" fmla="*/ 0 h 49"/>
                  <a:gd name="T50" fmla="*/ 0 w 34"/>
                  <a:gd name="T51" fmla="*/ 0 h 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49"/>
                  <a:gd name="T80" fmla="*/ 34 w 34"/>
                  <a:gd name="T81" fmla="*/ 49 h 4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49">
                    <a:moveTo>
                      <a:pt x="0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7"/>
                    </a:lnTo>
                    <a:lnTo>
                      <a:pt x="0" y="49"/>
                    </a:lnTo>
                    <a:lnTo>
                      <a:pt x="3" y="49"/>
                    </a:lnTo>
                    <a:lnTo>
                      <a:pt x="6" y="49"/>
                    </a:lnTo>
                    <a:lnTo>
                      <a:pt x="12" y="49"/>
                    </a:lnTo>
                    <a:lnTo>
                      <a:pt x="15" y="49"/>
                    </a:lnTo>
                    <a:lnTo>
                      <a:pt x="18" y="49"/>
                    </a:lnTo>
                    <a:lnTo>
                      <a:pt x="25" y="49"/>
                    </a:lnTo>
                    <a:lnTo>
                      <a:pt x="28" y="49"/>
                    </a:lnTo>
                    <a:lnTo>
                      <a:pt x="31" y="49"/>
                    </a:lnTo>
                    <a:lnTo>
                      <a:pt x="31" y="37"/>
                    </a:lnTo>
                    <a:lnTo>
                      <a:pt x="31" y="24"/>
                    </a:lnTo>
                    <a:lnTo>
                      <a:pt x="34" y="12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7" name="Freeform 374"/>
              <p:cNvSpPr>
                <a:spLocks/>
              </p:cNvSpPr>
              <p:nvPr/>
            </p:nvSpPr>
            <p:spPr bwMode="auto">
              <a:xfrm>
                <a:off x="5353" y="2560"/>
                <a:ext cx="37" cy="52"/>
              </a:xfrm>
              <a:custGeom>
                <a:avLst/>
                <a:gdLst>
                  <a:gd name="T0" fmla="*/ 37 w 37"/>
                  <a:gd name="T1" fmla="*/ 0 h 52"/>
                  <a:gd name="T2" fmla="*/ 31 w 37"/>
                  <a:gd name="T3" fmla="*/ 0 h 52"/>
                  <a:gd name="T4" fmla="*/ 28 w 37"/>
                  <a:gd name="T5" fmla="*/ 0 h 52"/>
                  <a:gd name="T6" fmla="*/ 24 w 37"/>
                  <a:gd name="T7" fmla="*/ 0 h 52"/>
                  <a:gd name="T8" fmla="*/ 18 w 37"/>
                  <a:gd name="T9" fmla="*/ 0 h 52"/>
                  <a:gd name="T10" fmla="*/ 15 w 37"/>
                  <a:gd name="T11" fmla="*/ 0 h 52"/>
                  <a:gd name="T12" fmla="*/ 12 w 37"/>
                  <a:gd name="T13" fmla="*/ 0 h 52"/>
                  <a:gd name="T14" fmla="*/ 6 w 37"/>
                  <a:gd name="T15" fmla="*/ 0 h 52"/>
                  <a:gd name="T16" fmla="*/ 3 w 37"/>
                  <a:gd name="T17" fmla="*/ 0 h 52"/>
                  <a:gd name="T18" fmla="*/ 3 w 37"/>
                  <a:gd name="T19" fmla="*/ 12 h 52"/>
                  <a:gd name="T20" fmla="*/ 3 w 37"/>
                  <a:gd name="T21" fmla="*/ 27 h 52"/>
                  <a:gd name="T22" fmla="*/ 3 w 37"/>
                  <a:gd name="T23" fmla="*/ 40 h 52"/>
                  <a:gd name="T24" fmla="*/ 0 w 37"/>
                  <a:gd name="T25" fmla="*/ 52 h 52"/>
                  <a:gd name="T26" fmla="*/ 6 w 37"/>
                  <a:gd name="T27" fmla="*/ 52 h 52"/>
                  <a:gd name="T28" fmla="*/ 9 w 37"/>
                  <a:gd name="T29" fmla="*/ 52 h 52"/>
                  <a:gd name="T30" fmla="*/ 15 w 37"/>
                  <a:gd name="T31" fmla="*/ 52 h 52"/>
                  <a:gd name="T32" fmla="*/ 18 w 37"/>
                  <a:gd name="T33" fmla="*/ 52 h 52"/>
                  <a:gd name="T34" fmla="*/ 21 w 37"/>
                  <a:gd name="T35" fmla="*/ 52 h 52"/>
                  <a:gd name="T36" fmla="*/ 28 w 37"/>
                  <a:gd name="T37" fmla="*/ 52 h 52"/>
                  <a:gd name="T38" fmla="*/ 31 w 37"/>
                  <a:gd name="T39" fmla="*/ 52 h 52"/>
                  <a:gd name="T40" fmla="*/ 34 w 37"/>
                  <a:gd name="T41" fmla="*/ 52 h 52"/>
                  <a:gd name="T42" fmla="*/ 34 w 37"/>
                  <a:gd name="T43" fmla="*/ 40 h 52"/>
                  <a:gd name="T44" fmla="*/ 37 w 37"/>
                  <a:gd name="T45" fmla="*/ 24 h 52"/>
                  <a:gd name="T46" fmla="*/ 37 w 37"/>
                  <a:gd name="T47" fmla="*/ 12 h 52"/>
                  <a:gd name="T48" fmla="*/ 37 w 37"/>
                  <a:gd name="T49" fmla="*/ 0 h 52"/>
                  <a:gd name="T50" fmla="*/ 37 w 37"/>
                  <a:gd name="T51" fmla="*/ 0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7"/>
                  <a:gd name="T79" fmla="*/ 0 h 52"/>
                  <a:gd name="T80" fmla="*/ 37 w 37"/>
                  <a:gd name="T81" fmla="*/ 52 h 5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7" h="52">
                    <a:moveTo>
                      <a:pt x="37" y="0"/>
                    </a:moveTo>
                    <a:lnTo>
                      <a:pt x="31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3" y="12"/>
                    </a:lnTo>
                    <a:lnTo>
                      <a:pt x="3" y="27"/>
                    </a:lnTo>
                    <a:lnTo>
                      <a:pt x="3" y="40"/>
                    </a:lnTo>
                    <a:lnTo>
                      <a:pt x="0" y="52"/>
                    </a:lnTo>
                    <a:lnTo>
                      <a:pt x="6" y="52"/>
                    </a:lnTo>
                    <a:lnTo>
                      <a:pt x="9" y="52"/>
                    </a:lnTo>
                    <a:lnTo>
                      <a:pt x="15" y="52"/>
                    </a:lnTo>
                    <a:lnTo>
                      <a:pt x="18" y="52"/>
                    </a:lnTo>
                    <a:lnTo>
                      <a:pt x="21" y="52"/>
                    </a:lnTo>
                    <a:lnTo>
                      <a:pt x="28" y="52"/>
                    </a:lnTo>
                    <a:lnTo>
                      <a:pt x="31" y="52"/>
                    </a:lnTo>
                    <a:lnTo>
                      <a:pt x="34" y="52"/>
                    </a:lnTo>
                    <a:lnTo>
                      <a:pt x="34" y="40"/>
                    </a:lnTo>
                    <a:lnTo>
                      <a:pt x="37" y="24"/>
                    </a:lnTo>
                    <a:lnTo>
                      <a:pt x="37" y="1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8" name="Freeform 375"/>
              <p:cNvSpPr>
                <a:spLocks/>
              </p:cNvSpPr>
              <p:nvPr/>
            </p:nvSpPr>
            <p:spPr bwMode="auto">
              <a:xfrm>
                <a:off x="5356" y="2455"/>
                <a:ext cx="34" cy="55"/>
              </a:xfrm>
              <a:custGeom>
                <a:avLst/>
                <a:gdLst>
                  <a:gd name="T0" fmla="*/ 0 w 34"/>
                  <a:gd name="T1" fmla="*/ 55 h 55"/>
                  <a:gd name="T2" fmla="*/ 3 w 34"/>
                  <a:gd name="T3" fmla="*/ 55 h 55"/>
                  <a:gd name="T4" fmla="*/ 9 w 34"/>
                  <a:gd name="T5" fmla="*/ 52 h 55"/>
                  <a:gd name="T6" fmla="*/ 12 w 34"/>
                  <a:gd name="T7" fmla="*/ 52 h 55"/>
                  <a:gd name="T8" fmla="*/ 18 w 34"/>
                  <a:gd name="T9" fmla="*/ 52 h 55"/>
                  <a:gd name="T10" fmla="*/ 21 w 34"/>
                  <a:gd name="T11" fmla="*/ 52 h 55"/>
                  <a:gd name="T12" fmla="*/ 25 w 34"/>
                  <a:gd name="T13" fmla="*/ 52 h 55"/>
                  <a:gd name="T14" fmla="*/ 31 w 34"/>
                  <a:gd name="T15" fmla="*/ 52 h 55"/>
                  <a:gd name="T16" fmla="*/ 34 w 34"/>
                  <a:gd name="T17" fmla="*/ 52 h 55"/>
                  <a:gd name="T18" fmla="*/ 34 w 34"/>
                  <a:gd name="T19" fmla="*/ 40 h 55"/>
                  <a:gd name="T20" fmla="*/ 34 w 34"/>
                  <a:gd name="T21" fmla="*/ 24 h 55"/>
                  <a:gd name="T22" fmla="*/ 34 w 34"/>
                  <a:gd name="T23" fmla="*/ 12 h 55"/>
                  <a:gd name="T24" fmla="*/ 34 w 34"/>
                  <a:gd name="T25" fmla="*/ 0 h 55"/>
                  <a:gd name="T26" fmla="*/ 31 w 34"/>
                  <a:gd name="T27" fmla="*/ 0 h 55"/>
                  <a:gd name="T28" fmla="*/ 25 w 34"/>
                  <a:gd name="T29" fmla="*/ 0 h 55"/>
                  <a:gd name="T30" fmla="*/ 21 w 34"/>
                  <a:gd name="T31" fmla="*/ 0 h 55"/>
                  <a:gd name="T32" fmla="*/ 18 w 34"/>
                  <a:gd name="T33" fmla="*/ 0 h 55"/>
                  <a:gd name="T34" fmla="*/ 12 w 34"/>
                  <a:gd name="T35" fmla="*/ 0 h 55"/>
                  <a:gd name="T36" fmla="*/ 9 w 34"/>
                  <a:gd name="T37" fmla="*/ 3 h 55"/>
                  <a:gd name="T38" fmla="*/ 3 w 34"/>
                  <a:gd name="T39" fmla="*/ 3 h 55"/>
                  <a:gd name="T40" fmla="*/ 0 w 34"/>
                  <a:gd name="T41" fmla="*/ 3 h 55"/>
                  <a:gd name="T42" fmla="*/ 0 w 34"/>
                  <a:gd name="T43" fmla="*/ 15 h 55"/>
                  <a:gd name="T44" fmla="*/ 0 w 34"/>
                  <a:gd name="T45" fmla="*/ 27 h 55"/>
                  <a:gd name="T46" fmla="*/ 0 w 34"/>
                  <a:gd name="T47" fmla="*/ 40 h 55"/>
                  <a:gd name="T48" fmla="*/ 0 w 34"/>
                  <a:gd name="T49" fmla="*/ 55 h 55"/>
                  <a:gd name="T50" fmla="*/ 0 w 34"/>
                  <a:gd name="T51" fmla="*/ 55 h 5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5"/>
                  <a:gd name="T80" fmla="*/ 34 w 34"/>
                  <a:gd name="T81" fmla="*/ 55 h 5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5">
                    <a:moveTo>
                      <a:pt x="0" y="55"/>
                    </a:moveTo>
                    <a:lnTo>
                      <a:pt x="3" y="55"/>
                    </a:lnTo>
                    <a:lnTo>
                      <a:pt x="9" y="52"/>
                    </a:lnTo>
                    <a:lnTo>
                      <a:pt x="12" y="52"/>
                    </a:lnTo>
                    <a:lnTo>
                      <a:pt x="18" y="52"/>
                    </a:lnTo>
                    <a:lnTo>
                      <a:pt x="21" y="52"/>
                    </a:lnTo>
                    <a:lnTo>
                      <a:pt x="25" y="52"/>
                    </a:lnTo>
                    <a:lnTo>
                      <a:pt x="31" y="52"/>
                    </a:lnTo>
                    <a:lnTo>
                      <a:pt x="34" y="52"/>
                    </a:lnTo>
                    <a:lnTo>
                      <a:pt x="34" y="40"/>
                    </a:lnTo>
                    <a:lnTo>
                      <a:pt x="34" y="24"/>
                    </a:lnTo>
                    <a:lnTo>
                      <a:pt x="34" y="12"/>
                    </a:lnTo>
                    <a:lnTo>
                      <a:pt x="34" y="0"/>
                    </a:lnTo>
                    <a:lnTo>
                      <a:pt x="31" y="0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9" y="3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15"/>
                    </a:lnTo>
                    <a:lnTo>
                      <a:pt x="0" y="27"/>
                    </a:lnTo>
                    <a:lnTo>
                      <a:pt x="0" y="4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09" name="Freeform 376"/>
              <p:cNvSpPr>
                <a:spLocks/>
              </p:cNvSpPr>
              <p:nvPr/>
            </p:nvSpPr>
            <p:spPr bwMode="auto">
              <a:xfrm>
                <a:off x="5353" y="2349"/>
                <a:ext cx="34" cy="56"/>
              </a:xfrm>
              <a:custGeom>
                <a:avLst/>
                <a:gdLst>
                  <a:gd name="T0" fmla="*/ 34 w 34"/>
                  <a:gd name="T1" fmla="*/ 53 h 56"/>
                  <a:gd name="T2" fmla="*/ 34 w 34"/>
                  <a:gd name="T3" fmla="*/ 38 h 56"/>
                  <a:gd name="T4" fmla="*/ 34 w 34"/>
                  <a:gd name="T5" fmla="*/ 25 h 56"/>
                  <a:gd name="T6" fmla="*/ 34 w 34"/>
                  <a:gd name="T7" fmla="*/ 13 h 56"/>
                  <a:gd name="T8" fmla="*/ 31 w 34"/>
                  <a:gd name="T9" fmla="*/ 0 h 56"/>
                  <a:gd name="T10" fmla="*/ 28 w 34"/>
                  <a:gd name="T11" fmla="*/ 0 h 56"/>
                  <a:gd name="T12" fmla="*/ 24 w 34"/>
                  <a:gd name="T13" fmla="*/ 0 h 56"/>
                  <a:gd name="T14" fmla="*/ 18 w 34"/>
                  <a:gd name="T15" fmla="*/ 0 h 56"/>
                  <a:gd name="T16" fmla="*/ 15 w 34"/>
                  <a:gd name="T17" fmla="*/ 0 h 56"/>
                  <a:gd name="T18" fmla="*/ 12 w 34"/>
                  <a:gd name="T19" fmla="*/ 4 h 56"/>
                  <a:gd name="T20" fmla="*/ 6 w 34"/>
                  <a:gd name="T21" fmla="*/ 4 h 56"/>
                  <a:gd name="T22" fmla="*/ 3 w 34"/>
                  <a:gd name="T23" fmla="*/ 4 h 56"/>
                  <a:gd name="T24" fmla="*/ 0 w 34"/>
                  <a:gd name="T25" fmla="*/ 4 h 56"/>
                  <a:gd name="T26" fmla="*/ 0 w 34"/>
                  <a:gd name="T27" fmla="*/ 19 h 56"/>
                  <a:gd name="T28" fmla="*/ 0 w 34"/>
                  <a:gd name="T29" fmla="*/ 31 h 56"/>
                  <a:gd name="T30" fmla="*/ 0 w 34"/>
                  <a:gd name="T31" fmla="*/ 44 h 56"/>
                  <a:gd name="T32" fmla="*/ 0 w 34"/>
                  <a:gd name="T33" fmla="*/ 56 h 56"/>
                  <a:gd name="T34" fmla="*/ 6 w 34"/>
                  <a:gd name="T35" fmla="*/ 56 h 56"/>
                  <a:gd name="T36" fmla="*/ 9 w 34"/>
                  <a:gd name="T37" fmla="*/ 56 h 56"/>
                  <a:gd name="T38" fmla="*/ 15 w 34"/>
                  <a:gd name="T39" fmla="*/ 56 h 56"/>
                  <a:gd name="T40" fmla="*/ 18 w 34"/>
                  <a:gd name="T41" fmla="*/ 53 h 56"/>
                  <a:gd name="T42" fmla="*/ 21 w 34"/>
                  <a:gd name="T43" fmla="*/ 53 h 56"/>
                  <a:gd name="T44" fmla="*/ 28 w 34"/>
                  <a:gd name="T45" fmla="*/ 53 h 56"/>
                  <a:gd name="T46" fmla="*/ 31 w 34"/>
                  <a:gd name="T47" fmla="*/ 53 h 56"/>
                  <a:gd name="T48" fmla="*/ 34 w 34"/>
                  <a:gd name="T49" fmla="*/ 53 h 56"/>
                  <a:gd name="T50" fmla="*/ 34 w 34"/>
                  <a:gd name="T51" fmla="*/ 53 h 5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4"/>
                  <a:gd name="T79" fmla="*/ 0 h 56"/>
                  <a:gd name="T80" fmla="*/ 34 w 34"/>
                  <a:gd name="T81" fmla="*/ 56 h 5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4" h="56">
                    <a:moveTo>
                      <a:pt x="34" y="53"/>
                    </a:moveTo>
                    <a:lnTo>
                      <a:pt x="34" y="38"/>
                    </a:lnTo>
                    <a:lnTo>
                      <a:pt x="34" y="25"/>
                    </a:lnTo>
                    <a:lnTo>
                      <a:pt x="34" y="13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4"/>
                    </a:lnTo>
                    <a:lnTo>
                      <a:pt x="6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19"/>
                    </a:lnTo>
                    <a:lnTo>
                      <a:pt x="0" y="31"/>
                    </a:lnTo>
                    <a:lnTo>
                      <a:pt x="0" y="44"/>
                    </a:lnTo>
                    <a:lnTo>
                      <a:pt x="0" y="56"/>
                    </a:lnTo>
                    <a:lnTo>
                      <a:pt x="6" y="56"/>
                    </a:lnTo>
                    <a:lnTo>
                      <a:pt x="9" y="56"/>
                    </a:lnTo>
                    <a:lnTo>
                      <a:pt x="15" y="56"/>
                    </a:lnTo>
                    <a:lnTo>
                      <a:pt x="18" y="53"/>
                    </a:lnTo>
                    <a:lnTo>
                      <a:pt x="21" y="53"/>
                    </a:lnTo>
                    <a:lnTo>
                      <a:pt x="28" y="53"/>
                    </a:lnTo>
                    <a:lnTo>
                      <a:pt x="31" y="53"/>
                    </a:lnTo>
                    <a:lnTo>
                      <a:pt x="34" y="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0" name="Freeform 377"/>
              <p:cNvSpPr>
                <a:spLocks/>
              </p:cNvSpPr>
              <p:nvPr/>
            </p:nvSpPr>
            <p:spPr bwMode="auto">
              <a:xfrm>
                <a:off x="4905" y="2538"/>
                <a:ext cx="25" cy="34"/>
              </a:xfrm>
              <a:custGeom>
                <a:avLst/>
                <a:gdLst>
                  <a:gd name="T0" fmla="*/ 25 w 25"/>
                  <a:gd name="T1" fmla="*/ 0 h 34"/>
                  <a:gd name="T2" fmla="*/ 21 w 25"/>
                  <a:gd name="T3" fmla="*/ 0 h 34"/>
                  <a:gd name="T4" fmla="*/ 18 w 25"/>
                  <a:gd name="T5" fmla="*/ 0 h 34"/>
                  <a:gd name="T6" fmla="*/ 15 w 25"/>
                  <a:gd name="T7" fmla="*/ 0 h 34"/>
                  <a:gd name="T8" fmla="*/ 12 w 25"/>
                  <a:gd name="T9" fmla="*/ 0 h 34"/>
                  <a:gd name="T10" fmla="*/ 9 w 25"/>
                  <a:gd name="T11" fmla="*/ 3 h 34"/>
                  <a:gd name="T12" fmla="*/ 9 w 25"/>
                  <a:gd name="T13" fmla="*/ 3 h 34"/>
                  <a:gd name="T14" fmla="*/ 6 w 25"/>
                  <a:gd name="T15" fmla="*/ 3 h 34"/>
                  <a:gd name="T16" fmla="*/ 3 w 25"/>
                  <a:gd name="T17" fmla="*/ 6 h 34"/>
                  <a:gd name="T18" fmla="*/ 3 w 25"/>
                  <a:gd name="T19" fmla="*/ 12 h 34"/>
                  <a:gd name="T20" fmla="*/ 3 w 25"/>
                  <a:gd name="T21" fmla="*/ 18 h 34"/>
                  <a:gd name="T22" fmla="*/ 0 w 25"/>
                  <a:gd name="T23" fmla="*/ 28 h 34"/>
                  <a:gd name="T24" fmla="*/ 0 w 25"/>
                  <a:gd name="T25" fmla="*/ 34 h 34"/>
                  <a:gd name="T26" fmla="*/ 6 w 25"/>
                  <a:gd name="T27" fmla="*/ 34 h 34"/>
                  <a:gd name="T28" fmla="*/ 6 w 25"/>
                  <a:gd name="T29" fmla="*/ 34 h 34"/>
                  <a:gd name="T30" fmla="*/ 9 w 25"/>
                  <a:gd name="T31" fmla="*/ 34 h 34"/>
                  <a:gd name="T32" fmla="*/ 12 w 25"/>
                  <a:gd name="T33" fmla="*/ 34 h 34"/>
                  <a:gd name="T34" fmla="*/ 15 w 25"/>
                  <a:gd name="T35" fmla="*/ 31 h 34"/>
                  <a:gd name="T36" fmla="*/ 18 w 25"/>
                  <a:gd name="T37" fmla="*/ 31 h 34"/>
                  <a:gd name="T38" fmla="*/ 21 w 25"/>
                  <a:gd name="T39" fmla="*/ 31 h 34"/>
                  <a:gd name="T40" fmla="*/ 25 w 25"/>
                  <a:gd name="T41" fmla="*/ 31 h 34"/>
                  <a:gd name="T42" fmla="*/ 25 w 25"/>
                  <a:gd name="T43" fmla="*/ 22 h 34"/>
                  <a:gd name="T44" fmla="*/ 25 w 25"/>
                  <a:gd name="T45" fmla="*/ 15 h 34"/>
                  <a:gd name="T46" fmla="*/ 25 w 25"/>
                  <a:gd name="T47" fmla="*/ 6 h 34"/>
                  <a:gd name="T48" fmla="*/ 25 w 25"/>
                  <a:gd name="T49" fmla="*/ 0 h 34"/>
                  <a:gd name="T50" fmla="*/ 25 w 25"/>
                  <a:gd name="T51" fmla="*/ 0 h 3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34"/>
                  <a:gd name="T80" fmla="*/ 25 w 25"/>
                  <a:gd name="T81" fmla="*/ 34 h 3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34">
                    <a:moveTo>
                      <a:pt x="25" y="0"/>
                    </a:moveTo>
                    <a:lnTo>
                      <a:pt x="21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3" y="12"/>
                    </a:lnTo>
                    <a:lnTo>
                      <a:pt x="3" y="18"/>
                    </a:lnTo>
                    <a:lnTo>
                      <a:pt x="0" y="28"/>
                    </a:lnTo>
                    <a:lnTo>
                      <a:pt x="0" y="34"/>
                    </a:lnTo>
                    <a:lnTo>
                      <a:pt x="6" y="34"/>
                    </a:lnTo>
                    <a:lnTo>
                      <a:pt x="9" y="34"/>
                    </a:lnTo>
                    <a:lnTo>
                      <a:pt x="12" y="34"/>
                    </a:lnTo>
                    <a:lnTo>
                      <a:pt x="15" y="31"/>
                    </a:lnTo>
                    <a:lnTo>
                      <a:pt x="18" y="31"/>
                    </a:lnTo>
                    <a:lnTo>
                      <a:pt x="21" y="31"/>
                    </a:lnTo>
                    <a:lnTo>
                      <a:pt x="25" y="31"/>
                    </a:lnTo>
                    <a:lnTo>
                      <a:pt x="25" y="22"/>
                    </a:lnTo>
                    <a:lnTo>
                      <a:pt x="25" y="15"/>
                    </a:lnTo>
                    <a:lnTo>
                      <a:pt x="25" y="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1" name="Freeform 378"/>
              <p:cNvSpPr>
                <a:spLocks/>
              </p:cNvSpPr>
              <p:nvPr/>
            </p:nvSpPr>
            <p:spPr bwMode="auto">
              <a:xfrm>
                <a:off x="4905" y="2600"/>
                <a:ext cx="25" cy="31"/>
              </a:xfrm>
              <a:custGeom>
                <a:avLst/>
                <a:gdLst>
                  <a:gd name="T0" fmla="*/ 0 w 25"/>
                  <a:gd name="T1" fmla="*/ 3 h 31"/>
                  <a:gd name="T2" fmla="*/ 0 w 25"/>
                  <a:gd name="T3" fmla="*/ 9 h 31"/>
                  <a:gd name="T4" fmla="*/ 0 w 25"/>
                  <a:gd name="T5" fmla="*/ 15 h 31"/>
                  <a:gd name="T6" fmla="*/ 0 w 25"/>
                  <a:gd name="T7" fmla="*/ 21 h 31"/>
                  <a:gd name="T8" fmla="*/ 0 w 25"/>
                  <a:gd name="T9" fmla="*/ 31 h 31"/>
                  <a:gd name="T10" fmla="*/ 3 w 25"/>
                  <a:gd name="T11" fmla="*/ 31 h 31"/>
                  <a:gd name="T12" fmla="*/ 6 w 25"/>
                  <a:gd name="T13" fmla="*/ 31 h 31"/>
                  <a:gd name="T14" fmla="*/ 6 w 25"/>
                  <a:gd name="T15" fmla="*/ 31 h 31"/>
                  <a:gd name="T16" fmla="*/ 9 w 25"/>
                  <a:gd name="T17" fmla="*/ 31 h 31"/>
                  <a:gd name="T18" fmla="*/ 12 w 25"/>
                  <a:gd name="T19" fmla="*/ 31 h 31"/>
                  <a:gd name="T20" fmla="*/ 15 w 25"/>
                  <a:gd name="T21" fmla="*/ 31 h 31"/>
                  <a:gd name="T22" fmla="*/ 21 w 25"/>
                  <a:gd name="T23" fmla="*/ 28 h 31"/>
                  <a:gd name="T24" fmla="*/ 25 w 25"/>
                  <a:gd name="T25" fmla="*/ 28 h 31"/>
                  <a:gd name="T26" fmla="*/ 25 w 25"/>
                  <a:gd name="T27" fmla="*/ 21 h 31"/>
                  <a:gd name="T28" fmla="*/ 25 w 25"/>
                  <a:gd name="T29" fmla="*/ 15 h 31"/>
                  <a:gd name="T30" fmla="*/ 25 w 25"/>
                  <a:gd name="T31" fmla="*/ 6 h 31"/>
                  <a:gd name="T32" fmla="*/ 25 w 25"/>
                  <a:gd name="T33" fmla="*/ 0 h 31"/>
                  <a:gd name="T34" fmla="*/ 21 w 25"/>
                  <a:gd name="T35" fmla="*/ 0 h 31"/>
                  <a:gd name="T36" fmla="*/ 18 w 25"/>
                  <a:gd name="T37" fmla="*/ 0 h 31"/>
                  <a:gd name="T38" fmla="*/ 15 w 25"/>
                  <a:gd name="T39" fmla="*/ 0 h 31"/>
                  <a:gd name="T40" fmla="*/ 12 w 25"/>
                  <a:gd name="T41" fmla="*/ 0 h 31"/>
                  <a:gd name="T42" fmla="*/ 9 w 25"/>
                  <a:gd name="T43" fmla="*/ 0 h 31"/>
                  <a:gd name="T44" fmla="*/ 6 w 25"/>
                  <a:gd name="T45" fmla="*/ 3 h 31"/>
                  <a:gd name="T46" fmla="*/ 3 w 25"/>
                  <a:gd name="T47" fmla="*/ 3 h 31"/>
                  <a:gd name="T48" fmla="*/ 0 w 25"/>
                  <a:gd name="T49" fmla="*/ 3 h 31"/>
                  <a:gd name="T50" fmla="*/ 0 w 25"/>
                  <a:gd name="T51" fmla="*/ 3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31"/>
                  <a:gd name="T80" fmla="*/ 25 w 25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31">
                    <a:moveTo>
                      <a:pt x="0" y="3"/>
                    </a:moveTo>
                    <a:lnTo>
                      <a:pt x="0" y="9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0" y="31"/>
                    </a:lnTo>
                    <a:lnTo>
                      <a:pt x="3" y="31"/>
                    </a:lnTo>
                    <a:lnTo>
                      <a:pt x="6" y="31"/>
                    </a:lnTo>
                    <a:lnTo>
                      <a:pt x="9" y="31"/>
                    </a:lnTo>
                    <a:lnTo>
                      <a:pt x="12" y="31"/>
                    </a:lnTo>
                    <a:lnTo>
                      <a:pt x="15" y="31"/>
                    </a:lnTo>
                    <a:lnTo>
                      <a:pt x="21" y="28"/>
                    </a:lnTo>
                    <a:lnTo>
                      <a:pt x="25" y="28"/>
                    </a:lnTo>
                    <a:lnTo>
                      <a:pt x="25" y="21"/>
                    </a:lnTo>
                    <a:lnTo>
                      <a:pt x="25" y="15"/>
                    </a:lnTo>
                    <a:lnTo>
                      <a:pt x="25" y="6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6" y="3"/>
                    </a:lnTo>
                    <a:lnTo>
                      <a:pt x="3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2" name="Freeform 379"/>
              <p:cNvSpPr>
                <a:spLocks/>
              </p:cNvSpPr>
              <p:nvPr/>
            </p:nvSpPr>
            <p:spPr bwMode="auto">
              <a:xfrm>
                <a:off x="4908" y="2473"/>
                <a:ext cx="22" cy="40"/>
              </a:xfrm>
              <a:custGeom>
                <a:avLst/>
                <a:gdLst>
                  <a:gd name="T0" fmla="*/ 22 w 22"/>
                  <a:gd name="T1" fmla="*/ 0 h 40"/>
                  <a:gd name="T2" fmla="*/ 18 w 22"/>
                  <a:gd name="T3" fmla="*/ 0 h 40"/>
                  <a:gd name="T4" fmla="*/ 15 w 22"/>
                  <a:gd name="T5" fmla="*/ 0 h 40"/>
                  <a:gd name="T6" fmla="*/ 12 w 22"/>
                  <a:gd name="T7" fmla="*/ 3 h 40"/>
                  <a:gd name="T8" fmla="*/ 9 w 22"/>
                  <a:gd name="T9" fmla="*/ 3 h 40"/>
                  <a:gd name="T10" fmla="*/ 6 w 22"/>
                  <a:gd name="T11" fmla="*/ 3 h 40"/>
                  <a:gd name="T12" fmla="*/ 6 w 22"/>
                  <a:gd name="T13" fmla="*/ 6 h 40"/>
                  <a:gd name="T14" fmla="*/ 3 w 22"/>
                  <a:gd name="T15" fmla="*/ 6 h 40"/>
                  <a:gd name="T16" fmla="*/ 0 w 22"/>
                  <a:gd name="T17" fmla="*/ 6 h 40"/>
                  <a:gd name="T18" fmla="*/ 0 w 22"/>
                  <a:gd name="T19" fmla="*/ 15 h 40"/>
                  <a:gd name="T20" fmla="*/ 0 w 22"/>
                  <a:gd name="T21" fmla="*/ 22 h 40"/>
                  <a:gd name="T22" fmla="*/ 0 w 22"/>
                  <a:gd name="T23" fmla="*/ 31 h 40"/>
                  <a:gd name="T24" fmla="*/ 0 w 22"/>
                  <a:gd name="T25" fmla="*/ 40 h 40"/>
                  <a:gd name="T26" fmla="*/ 3 w 22"/>
                  <a:gd name="T27" fmla="*/ 37 h 40"/>
                  <a:gd name="T28" fmla="*/ 6 w 22"/>
                  <a:gd name="T29" fmla="*/ 37 h 40"/>
                  <a:gd name="T30" fmla="*/ 6 w 22"/>
                  <a:gd name="T31" fmla="*/ 37 h 40"/>
                  <a:gd name="T32" fmla="*/ 9 w 22"/>
                  <a:gd name="T33" fmla="*/ 34 h 40"/>
                  <a:gd name="T34" fmla="*/ 12 w 22"/>
                  <a:gd name="T35" fmla="*/ 34 h 40"/>
                  <a:gd name="T36" fmla="*/ 15 w 22"/>
                  <a:gd name="T37" fmla="*/ 34 h 40"/>
                  <a:gd name="T38" fmla="*/ 18 w 22"/>
                  <a:gd name="T39" fmla="*/ 34 h 40"/>
                  <a:gd name="T40" fmla="*/ 22 w 22"/>
                  <a:gd name="T41" fmla="*/ 31 h 40"/>
                  <a:gd name="T42" fmla="*/ 22 w 22"/>
                  <a:gd name="T43" fmla="*/ 25 h 40"/>
                  <a:gd name="T44" fmla="*/ 22 w 22"/>
                  <a:gd name="T45" fmla="*/ 15 h 40"/>
                  <a:gd name="T46" fmla="*/ 22 w 22"/>
                  <a:gd name="T47" fmla="*/ 6 h 40"/>
                  <a:gd name="T48" fmla="*/ 22 w 22"/>
                  <a:gd name="T49" fmla="*/ 0 h 40"/>
                  <a:gd name="T50" fmla="*/ 22 w 22"/>
                  <a:gd name="T51" fmla="*/ 0 h 4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2"/>
                  <a:gd name="T79" fmla="*/ 0 h 40"/>
                  <a:gd name="T80" fmla="*/ 22 w 22"/>
                  <a:gd name="T81" fmla="*/ 40 h 40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2" h="40">
                    <a:moveTo>
                      <a:pt x="22" y="0"/>
                    </a:moveTo>
                    <a:lnTo>
                      <a:pt x="18" y="0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15"/>
                    </a:lnTo>
                    <a:lnTo>
                      <a:pt x="0" y="22"/>
                    </a:lnTo>
                    <a:lnTo>
                      <a:pt x="0" y="31"/>
                    </a:lnTo>
                    <a:lnTo>
                      <a:pt x="0" y="40"/>
                    </a:lnTo>
                    <a:lnTo>
                      <a:pt x="3" y="37"/>
                    </a:lnTo>
                    <a:lnTo>
                      <a:pt x="6" y="37"/>
                    </a:lnTo>
                    <a:lnTo>
                      <a:pt x="9" y="34"/>
                    </a:lnTo>
                    <a:lnTo>
                      <a:pt x="12" y="34"/>
                    </a:lnTo>
                    <a:lnTo>
                      <a:pt x="15" y="34"/>
                    </a:lnTo>
                    <a:lnTo>
                      <a:pt x="18" y="34"/>
                    </a:lnTo>
                    <a:lnTo>
                      <a:pt x="22" y="31"/>
                    </a:lnTo>
                    <a:lnTo>
                      <a:pt x="22" y="25"/>
                    </a:lnTo>
                    <a:lnTo>
                      <a:pt x="22" y="15"/>
                    </a:lnTo>
                    <a:lnTo>
                      <a:pt x="22" y="6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3" name="Freeform 380"/>
              <p:cNvSpPr>
                <a:spLocks/>
              </p:cNvSpPr>
              <p:nvPr/>
            </p:nvSpPr>
            <p:spPr bwMode="auto">
              <a:xfrm>
                <a:off x="4905" y="2405"/>
                <a:ext cx="25" cy="43"/>
              </a:xfrm>
              <a:custGeom>
                <a:avLst/>
                <a:gdLst>
                  <a:gd name="T0" fmla="*/ 25 w 25"/>
                  <a:gd name="T1" fmla="*/ 0 h 43"/>
                  <a:gd name="T2" fmla="*/ 21 w 25"/>
                  <a:gd name="T3" fmla="*/ 0 h 43"/>
                  <a:gd name="T4" fmla="*/ 18 w 25"/>
                  <a:gd name="T5" fmla="*/ 3 h 43"/>
                  <a:gd name="T6" fmla="*/ 15 w 25"/>
                  <a:gd name="T7" fmla="*/ 3 h 43"/>
                  <a:gd name="T8" fmla="*/ 12 w 25"/>
                  <a:gd name="T9" fmla="*/ 3 h 43"/>
                  <a:gd name="T10" fmla="*/ 9 w 25"/>
                  <a:gd name="T11" fmla="*/ 6 h 43"/>
                  <a:gd name="T12" fmla="*/ 6 w 25"/>
                  <a:gd name="T13" fmla="*/ 9 h 43"/>
                  <a:gd name="T14" fmla="*/ 3 w 25"/>
                  <a:gd name="T15" fmla="*/ 9 h 43"/>
                  <a:gd name="T16" fmla="*/ 0 w 25"/>
                  <a:gd name="T17" fmla="*/ 9 h 43"/>
                  <a:gd name="T18" fmla="*/ 0 w 25"/>
                  <a:gd name="T19" fmla="*/ 19 h 43"/>
                  <a:gd name="T20" fmla="*/ 0 w 25"/>
                  <a:gd name="T21" fmla="*/ 28 h 43"/>
                  <a:gd name="T22" fmla="*/ 0 w 25"/>
                  <a:gd name="T23" fmla="*/ 34 h 43"/>
                  <a:gd name="T24" fmla="*/ 0 w 25"/>
                  <a:gd name="T25" fmla="*/ 43 h 43"/>
                  <a:gd name="T26" fmla="*/ 6 w 25"/>
                  <a:gd name="T27" fmla="*/ 43 h 43"/>
                  <a:gd name="T28" fmla="*/ 6 w 25"/>
                  <a:gd name="T29" fmla="*/ 40 h 43"/>
                  <a:gd name="T30" fmla="*/ 9 w 25"/>
                  <a:gd name="T31" fmla="*/ 40 h 43"/>
                  <a:gd name="T32" fmla="*/ 12 w 25"/>
                  <a:gd name="T33" fmla="*/ 37 h 43"/>
                  <a:gd name="T34" fmla="*/ 15 w 25"/>
                  <a:gd name="T35" fmla="*/ 37 h 43"/>
                  <a:gd name="T36" fmla="*/ 18 w 25"/>
                  <a:gd name="T37" fmla="*/ 37 h 43"/>
                  <a:gd name="T38" fmla="*/ 21 w 25"/>
                  <a:gd name="T39" fmla="*/ 34 h 43"/>
                  <a:gd name="T40" fmla="*/ 25 w 25"/>
                  <a:gd name="T41" fmla="*/ 34 h 43"/>
                  <a:gd name="T42" fmla="*/ 25 w 25"/>
                  <a:gd name="T43" fmla="*/ 25 h 43"/>
                  <a:gd name="T44" fmla="*/ 25 w 25"/>
                  <a:gd name="T45" fmla="*/ 16 h 43"/>
                  <a:gd name="T46" fmla="*/ 25 w 25"/>
                  <a:gd name="T47" fmla="*/ 9 h 43"/>
                  <a:gd name="T48" fmla="*/ 25 w 25"/>
                  <a:gd name="T49" fmla="*/ 0 h 43"/>
                  <a:gd name="T50" fmla="*/ 25 w 25"/>
                  <a:gd name="T51" fmla="*/ 0 h 4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43"/>
                  <a:gd name="T80" fmla="*/ 25 w 25"/>
                  <a:gd name="T81" fmla="*/ 43 h 43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43">
                    <a:moveTo>
                      <a:pt x="25" y="0"/>
                    </a:moveTo>
                    <a:lnTo>
                      <a:pt x="21" y="0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9" y="6"/>
                    </a:lnTo>
                    <a:lnTo>
                      <a:pt x="6" y="9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19"/>
                    </a:lnTo>
                    <a:lnTo>
                      <a:pt x="0" y="28"/>
                    </a:lnTo>
                    <a:lnTo>
                      <a:pt x="0" y="34"/>
                    </a:lnTo>
                    <a:lnTo>
                      <a:pt x="0" y="43"/>
                    </a:lnTo>
                    <a:lnTo>
                      <a:pt x="6" y="43"/>
                    </a:lnTo>
                    <a:lnTo>
                      <a:pt x="6" y="40"/>
                    </a:lnTo>
                    <a:lnTo>
                      <a:pt x="9" y="40"/>
                    </a:lnTo>
                    <a:lnTo>
                      <a:pt x="12" y="37"/>
                    </a:lnTo>
                    <a:lnTo>
                      <a:pt x="15" y="37"/>
                    </a:lnTo>
                    <a:lnTo>
                      <a:pt x="18" y="37"/>
                    </a:lnTo>
                    <a:lnTo>
                      <a:pt x="21" y="34"/>
                    </a:lnTo>
                    <a:lnTo>
                      <a:pt x="25" y="34"/>
                    </a:lnTo>
                    <a:lnTo>
                      <a:pt x="25" y="25"/>
                    </a:lnTo>
                    <a:lnTo>
                      <a:pt x="25" y="16"/>
                    </a:lnTo>
                    <a:lnTo>
                      <a:pt x="25" y="9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4" name="Freeform 381"/>
              <p:cNvSpPr>
                <a:spLocks/>
              </p:cNvSpPr>
              <p:nvPr/>
            </p:nvSpPr>
            <p:spPr bwMode="auto">
              <a:xfrm>
                <a:off x="4945" y="2387"/>
                <a:ext cx="25" cy="46"/>
              </a:xfrm>
              <a:custGeom>
                <a:avLst/>
                <a:gdLst>
                  <a:gd name="T0" fmla="*/ 25 w 25"/>
                  <a:gd name="T1" fmla="*/ 37 h 46"/>
                  <a:gd name="T2" fmla="*/ 25 w 25"/>
                  <a:gd name="T3" fmla="*/ 27 h 46"/>
                  <a:gd name="T4" fmla="*/ 25 w 25"/>
                  <a:gd name="T5" fmla="*/ 18 h 46"/>
                  <a:gd name="T6" fmla="*/ 25 w 25"/>
                  <a:gd name="T7" fmla="*/ 9 h 46"/>
                  <a:gd name="T8" fmla="*/ 25 w 25"/>
                  <a:gd name="T9" fmla="*/ 0 h 46"/>
                  <a:gd name="T10" fmla="*/ 22 w 25"/>
                  <a:gd name="T11" fmla="*/ 3 h 46"/>
                  <a:gd name="T12" fmla="*/ 18 w 25"/>
                  <a:gd name="T13" fmla="*/ 3 h 46"/>
                  <a:gd name="T14" fmla="*/ 15 w 25"/>
                  <a:gd name="T15" fmla="*/ 3 h 46"/>
                  <a:gd name="T16" fmla="*/ 12 w 25"/>
                  <a:gd name="T17" fmla="*/ 6 h 46"/>
                  <a:gd name="T18" fmla="*/ 9 w 25"/>
                  <a:gd name="T19" fmla="*/ 6 h 46"/>
                  <a:gd name="T20" fmla="*/ 6 w 25"/>
                  <a:gd name="T21" fmla="*/ 9 h 46"/>
                  <a:gd name="T22" fmla="*/ 3 w 25"/>
                  <a:gd name="T23" fmla="*/ 9 h 46"/>
                  <a:gd name="T24" fmla="*/ 0 w 25"/>
                  <a:gd name="T25" fmla="*/ 9 h 46"/>
                  <a:gd name="T26" fmla="*/ 0 w 25"/>
                  <a:gd name="T27" fmla="*/ 18 h 46"/>
                  <a:gd name="T28" fmla="*/ 0 w 25"/>
                  <a:gd name="T29" fmla="*/ 27 h 46"/>
                  <a:gd name="T30" fmla="*/ 0 w 25"/>
                  <a:gd name="T31" fmla="*/ 37 h 46"/>
                  <a:gd name="T32" fmla="*/ 0 w 25"/>
                  <a:gd name="T33" fmla="*/ 46 h 46"/>
                  <a:gd name="T34" fmla="*/ 3 w 25"/>
                  <a:gd name="T35" fmla="*/ 46 h 46"/>
                  <a:gd name="T36" fmla="*/ 6 w 25"/>
                  <a:gd name="T37" fmla="*/ 43 h 46"/>
                  <a:gd name="T38" fmla="*/ 9 w 25"/>
                  <a:gd name="T39" fmla="*/ 43 h 46"/>
                  <a:gd name="T40" fmla="*/ 12 w 25"/>
                  <a:gd name="T41" fmla="*/ 40 h 46"/>
                  <a:gd name="T42" fmla="*/ 15 w 25"/>
                  <a:gd name="T43" fmla="*/ 40 h 46"/>
                  <a:gd name="T44" fmla="*/ 18 w 25"/>
                  <a:gd name="T45" fmla="*/ 40 h 46"/>
                  <a:gd name="T46" fmla="*/ 22 w 25"/>
                  <a:gd name="T47" fmla="*/ 37 h 46"/>
                  <a:gd name="T48" fmla="*/ 25 w 25"/>
                  <a:gd name="T49" fmla="*/ 37 h 46"/>
                  <a:gd name="T50" fmla="*/ 25 w 25"/>
                  <a:gd name="T51" fmla="*/ 37 h 4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46"/>
                  <a:gd name="T80" fmla="*/ 25 w 25"/>
                  <a:gd name="T81" fmla="*/ 46 h 4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46">
                    <a:moveTo>
                      <a:pt x="25" y="37"/>
                    </a:moveTo>
                    <a:lnTo>
                      <a:pt x="25" y="27"/>
                    </a:lnTo>
                    <a:lnTo>
                      <a:pt x="25" y="18"/>
                    </a:lnTo>
                    <a:lnTo>
                      <a:pt x="25" y="9"/>
                    </a:lnTo>
                    <a:lnTo>
                      <a:pt x="25" y="0"/>
                    </a:lnTo>
                    <a:lnTo>
                      <a:pt x="22" y="3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6"/>
                    </a:lnTo>
                    <a:lnTo>
                      <a:pt x="9" y="6"/>
                    </a:lnTo>
                    <a:lnTo>
                      <a:pt x="6" y="9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0" y="27"/>
                    </a:lnTo>
                    <a:lnTo>
                      <a:pt x="0" y="37"/>
                    </a:lnTo>
                    <a:lnTo>
                      <a:pt x="0" y="46"/>
                    </a:lnTo>
                    <a:lnTo>
                      <a:pt x="3" y="46"/>
                    </a:lnTo>
                    <a:lnTo>
                      <a:pt x="6" y="43"/>
                    </a:lnTo>
                    <a:lnTo>
                      <a:pt x="9" y="43"/>
                    </a:lnTo>
                    <a:lnTo>
                      <a:pt x="12" y="40"/>
                    </a:lnTo>
                    <a:lnTo>
                      <a:pt x="15" y="40"/>
                    </a:lnTo>
                    <a:lnTo>
                      <a:pt x="18" y="40"/>
                    </a:lnTo>
                    <a:lnTo>
                      <a:pt x="22" y="37"/>
                    </a:lnTo>
                    <a:lnTo>
                      <a:pt x="25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5" name="Freeform 382"/>
              <p:cNvSpPr>
                <a:spLocks/>
              </p:cNvSpPr>
              <p:nvPr/>
            </p:nvSpPr>
            <p:spPr bwMode="auto">
              <a:xfrm>
                <a:off x="4948" y="2461"/>
                <a:ext cx="25" cy="40"/>
              </a:xfrm>
              <a:custGeom>
                <a:avLst/>
                <a:gdLst>
                  <a:gd name="T0" fmla="*/ 0 w 25"/>
                  <a:gd name="T1" fmla="*/ 40 h 40"/>
                  <a:gd name="T2" fmla="*/ 3 w 25"/>
                  <a:gd name="T3" fmla="*/ 40 h 40"/>
                  <a:gd name="T4" fmla="*/ 6 w 25"/>
                  <a:gd name="T5" fmla="*/ 37 h 40"/>
                  <a:gd name="T6" fmla="*/ 9 w 25"/>
                  <a:gd name="T7" fmla="*/ 37 h 40"/>
                  <a:gd name="T8" fmla="*/ 12 w 25"/>
                  <a:gd name="T9" fmla="*/ 37 h 40"/>
                  <a:gd name="T10" fmla="*/ 15 w 25"/>
                  <a:gd name="T11" fmla="*/ 37 h 40"/>
                  <a:gd name="T12" fmla="*/ 19 w 25"/>
                  <a:gd name="T13" fmla="*/ 34 h 40"/>
                  <a:gd name="T14" fmla="*/ 22 w 25"/>
                  <a:gd name="T15" fmla="*/ 34 h 40"/>
                  <a:gd name="T16" fmla="*/ 25 w 25"/>
                  <a:gd name="T17" fmla="*/ 34 h 40"/>
                  <a:gd name="T18" fmla="*/ 25 w 25"/>
                  <a:gd name="T19" fmla="*/ 24 h 40"/>
                  <a:gd name="T20" fmla="*/ 25 w 25"/>
                  <a:gd name="T21" fmla="*/ 15 h 40"/>
                  <a:gd name="T22" fmla="*/ 25 w 25"/>
                  <a:gd name="T23" fmla="*/ 6 h 40"/>
                  <a:gd name="T24" fmla="*/ 22 w 25"/>
                  <a:gd name="T25" fmla="*/ 0 h 40"/>
                  <a:gd name="T26" fmla="*/ 19 w 25"/>
                  <a:gd name="T27" fmla="*/ 0 h 40"/>
                  <a:gd name="T28" fmla="*/ 15 w 25"/>
                  <a:gd name="T29" fmla="*/ 0 h 40"/>
                  <a:gd name="T30" fmla="*/ 15 w 25"/>
                  <a:gd name="T31" fmla="*/ 0 h 40"/>
                  <a:gd name="T32" fmla="*/ 12 w 25"/>
                  <a:gd name="T33" fmla="*/ 3 h 40"/>
                  <a:gd name="T34" fmla="*/ 9 w 25"/>
                  <a:gd name="T35" fmla="*/ 3 h 40"/>
                  <a:gd name="T36" fmla="*/ 6 w 25"/>
                  <a:gd name="T37" fmla="*/ 3 h 40"/>
                  <a:gd name="T38" fmla="*/ 3 w 25"/>
                  <a:gd name="T39" fmla="*/ 6 h 40"/>
                  <a:gd name="T40" fmla="*/ 0 w 25"/>
                  <a:gd name="T41" fmla="*/ 6 h 40"/>
                  <a:gd name="T42" fmla="*/ 0 w 25"/>
                  <a:gd name="T43" fmla="*/ 15 h 40"/>
                  <a:gd name="T44" fmla="*/ 0 w 25"/>
                  <a:gd name="T45" fmla="*/ 21 h 40"/>
                  <a:gd name="T46" fmla="*/ 0 w 25"/>
                  <a:gd name="T47" fmla="*/ 31 h 40"/>
                  <a:gd name="T48" fmla="*/ 0 w 25"/>
                  <a:gd name="T49" fmla="*/ 40 h 40"/>
                  <a:gd name="T50" fmla="*/ 0 w 25"/>
                  <a:gd name="T51" fmla="*/ 40 h 4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40"/>
                  <a:gd name="T80" fmla="*/ 25 w 25"/>
                  <a:gd name="T81" fmla="*/ 40 h 40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40">
                    <a:moveTo>
                      <a:pt x="0" y="40"/>
                    </a:moveTo>
                    <a:lnTo>
                      <a:pt x="3" y="40"/>
                    </a:lnTo>
                    <a:lnTo>
                      <a:pt x="6" y="37"/>
                    </a:lnTo>
                    <a:lnTo>
                      <a:pt x="9" y="37"/>
                    </a:lnTo>
                    <a:lnTo>
                      <a:pt x="12" y="37"/>
                    </a:lnTo>
                    <a:lnTo>
                      <a:pt x="15" y="37"/>
                    </a:lnTo>
                    <a:lnTo>
                      <a:pt x="19" y="34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5" y="24"/>
                    </a:lnTo>
                    <a:lnTo>
                      <a:pt x="25" y="15"/>
                    </a:lnTo>
                    <a:lnTo>
                      <a:pt x="25" y="6"/>
                    </a:lnTo>
                    <a:lnTo>
                      <a:pt x="22" y="0"/>
                    </a:lnTo>
                    <a:lnTo>
                      <a:pt x="19" y="0"/>
                    </a:lnTo>
                    <a:lnTo>
                      <a:pt x="15" y="0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0" y="31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6" name="Freeform 383"/>
              <p:cNvSpPr>
                <a:spLocks/>
              </p:cNvSpPr>
              <p:nvPr/>
            </p:nvSpPr>
            <p:spPr bwMode="auto">
              <a:xfrm>
                <a:off x="4945" y="2597"/>
                <a:ext cx="25" cy="31"/>
              </a:xfrm>
              <a:custGeom>
                <a:avLst/>
                <a:gdLst>
                  <a:gd name="T0" fmla="*/ 25 w 25"/>
                  <a:gd name="T1" fmla="*/ 0 h 31"/>
                  <a:gd name="T2" fmla="*/ 22 w 25"/>
                  <a:gd name="T3" fmla="*/ 0 h 31"/>
                  <a:gd name="T4" fmla="*/ 18 w 25"/>
                  <a:gd name="T5" fmla="*/ 0 h 31"/>
                  <a:gd name="T6" fmla="*/ 15 w 25"/>
                  <a:gd name="T7" fmla="*/ 0 h 31"/>
                  <a:gd name="T8" fmla="*/ 12 w 25"/>
                  <a:gd name="T9" fmla="*/ 0 h 31"/>
                  <a:gd name="T10" fmla="*/ 9 w 25"/>
                  <a:gd name="T11" fmla="*/ 0 h 31"/>
                  <a:gd name="T12" fmla="*/ 6 w 25"/>
                  <a:gd name="T13" fmla="*/ 0 h 31"/>
                  <a:gd name="T14" fmla="*/ 3 w 25"/>
                  <a:gd name="T15" fmla="*/ 0 h 31"/>
                  <a:gd name="T16" fmla="*/ 0 w 25"/>
                  <a:gd name="T17" fmla="*/ 0 h 31"/>
                  <a:gd name="T18" fmla="*/ 0 w 25"/>
                  <a:gd name="T19" fmla="*/ 9 h 31"/>
                  <a:gd name="T20" fmla="*/ 0 w 25"/>
                  <a:gd name="T21" fmla="*/ 15 h 31"/>
                  <a:gd name="T22" fmla="*/ 0 w 25"/>
                  <a:gd name="T23" fmla="*/ 24 h 31"/>
                  <a:gd name="T24" fmla="*/ 0 w 25"/>
                  <a:gd name="T25" fmla="*/ 31 h 31"/>
                  <a:gd name="T26" fmla="*/ 3 w 25"/>
                  <a:gd name="T27" fmla="*/ 31 h 31"/>
                  <a:gd name="T28" fmla="*/ 6 w 25"/>
                  <a:gd name="T29" fmla="*/ 31 h 31"/>
                  <a:gd name="T30" fmla="*/ 9 w 25"/>
                  <a:gd name="T31" fmla="*/ 31 h 31"/>
                  <a:gd name="T32" fmla="*/ 12 w 25"/>
                  <a:gd name="T33" fmla="*/ 31 h 31"/>
                  <a:gd name="T34" fmla="*/ 15 w 25"/>
                  <a:gd name="T35" fmla="*/ 31 h 31"/>
                  <a:gd name="T36" fmla="*/ 18 w 25"/>
                  <a:gd name="T37" fmla="*/ 31 h 31"/>
                  <a:gd name="T38" fmla="*/ 22 w 25"/>
                  <a:gd name="T39" fmla="*/ 31 h 31"/>
                  <a:gd name="T40" fmla="*/ 25 w 25"/>
                  <a:gd name="T41" fmla="*/ 31 h 31"/>
                  <a:gd name="T42" fmla="*/ 25 w 25"/>
                  <a:gd name="T43" fmla="*/ 21 h 31"/>
                  <a:gd name="T44" fmla="*/ 25 w 25"/>
                  <a:gd name="T45" fmla="*/ 15 h 31"/>
                  <a:gd name="T46" fmla="*/ 25 w 25"/>
                  <a:gd name="T47" fmla="*/ 6 h 31"/>
                  <a:gd name="T48" fmla="*/ 25 w 25"/>
                  <a:gd name="T49" fmla="*/ 0 h 31"/>
                  <a:gd name="T50" fmla="*/ 25 w 25"/>
                  <a:gd name="T51" fmla="*/ 0 h 3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31"/>
                  <a:gd name="T80" fmla="*/ 25 w 25"/>
                  <a:gd name="T81" fmla="*/ 31 h 3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31">
                    <a:moveTo>
                      <a:pt x="25" y="0"/>
                    </a:moveTo>
                    <a:lnTo>
                      <a:pt x="22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5"/>
                    </a:lnTo>
                    <a:lnTo>
                      <a:pt x="0" y="24"/>
                    </a:lnTo>
                    <a:lnTo>
                      <a:pt x="0" y="31"/>
                    </a:lnTo>
                    <a:lnTo>
                      <a:pt x="3" y="31"/>
                    </a:lnTo>
                    <a:lnTo>
                      <a:pt x="6" y="31"/>
                    </a:lnTo>
                    <a:lnTo>
                      <a:pt x="9" y="31"/>
                    </a:lnTo>
                    <a:lnTo>
                      <a:pt x="12" y="31"/>
                    </a:lnTo>
                    <a:lnTo>
                      <a:pt x="15" y="31"/>
                    </a:lnTo>
                    <a:lnTo>
                      <a:pt x="18" y="31"/>
                    </a:lnTo>
                    <a:lnTo>
                      <a:pt x="22" y="31"/>
                    </a:lnTo>
                    <a:lnTo>
                      <a:pt x="25" y="31"/>
                    </a:lnTo>
                    <a:lnTo>
                      <a:pt x="25" y="21"/>
                    </a:lnTo>
                    <a:lnTo>
                      <a:pt x="25" y="15"/>
                    </a:lnTo>
                    <a:lnTo>
                      <a:pt x="25" y="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7" name="Freeform 384"/>
              <p:cNvSpPr>
                <a:spLocks/>
              </p:cNvSpPr>
              <p:nvPr/>
            </p:nvSpPr>
            <p:spPr bwMode="auto">
              <a:xfrm>
                <a:off x="4948" y="2529"/>
                <a:ext cx="25" cy="37"/>
              </a:xfrm>
              <a:custGeom>
                <a:avLst/>
                <a:gdLst>
                  <a:gd name="T0" fmla="*/ 0 w 25"/>
                  <a:gd name="T1" fmla="*/ 37 h 37"/>
                  <a:gd name="T2" fmla="*/ 3 w 25"/>
                  <a:gd name="T3" fmla="*/ 37 h 37"/>
                  <a:gd name="T4" fmla="*/ 6 w 25"/>
                  <a:gd name="T5" fmla="*/ 37 h 37"/>
                  <a:gd name="T6" fmla="*/ 9 w 25"/>
                  <a:gd name="T7" fmla="*/ 37 h 37"/>
                  <a:gd name="T8" fmla="*/ 12 w 25"/>
                  <a:gd name="T9" fmla="*/ 34 h 37"/>
                  <a:gd name="T10" fmla="*/ 15 w 25"/>
                  <a:gd name="T11" fmla="*/ 34 h 37"/>
                  <a:gd name="T12" fmla="*/ 19 w 25"/>
                  <a:gd name="T13" fmla="*/ 34 h 37"/>
                  <a:gd name="T14" fmla="*/ 22 w 25"/>
                  <a:gd name="T15" fmla="*/ 34 h 37"/>
                  <a:gd name="T16" fmla="*/ 25 w 25"/>
                  <a:gd name="T17" fmla="*/ 34 h 37"/>
                  <a:gd name="T18" fmla="*/ 25 w 25"/>
                  <a:gd name="T19" fmla="*/ 24 h 37"/>
                  <a:gd name="T20" fmla="*/ 25 w 25"/>
                  <a:gd name="T21" fmla="*/ 15 h 37"/>
                  <a:gd name="T22" fmla="*/ 25 w 25"/>
                  <a:gd name="T23" fmla="*/ 6 h 37"/>
                  <a:gd name="T24" fmla="*/ 25 w 25"/>
                  <a:gd name="T25" fmla="*/ 0 h 37"/>
                  <a:gd name="T26" fmla="*/ 22 w 25"/>
                  <a:gd name="T27" fmla="*/ 0 h 37"/>
                  <a:gd name="T28" fmla="*/ 19 w 25"/>
                  <a:gd name="T29" fmla="*/ 0 h 37"/>
                  <a:gd name="T30" fmla="*/ 15 w 25"/>
                  <a:gd name="T31" fmla="*/ 3 h 37"/>
                  <a:gd name="T32" fmla="*/ 12 w 25"/>
                  <a:gd name="T33" fmla="*/ 3 h 37"/>
                  <a:gd name="T34" fmla="*/ 9 w 25"/>
                  <a:gd name="T35" fmla="*/ 3 h 37"/>
                  <a:gd name="T36" fmla="*/ 6 w 25"/>
                  <a:gd name="T37" fmla="*/ 3 h 37"/>
                  <a:gd name="T38" fmla="*/ 3 w 25"/>
                  <a:gd name="T39" fmla="*/ 3 h 37"/>
                  <a:gd name="T40" fmla="*/ 0 w 25"/>
                  <a:gd name="T41" fmla="*/ 6 h 37"/>
                  <a:gd name="T42" fmla="*/ 0 w 25"/>
                  <a:gd name="T43" fmla="*/ 12 h 37"/>
                  <a:gd name="T44" fmla="*/ 0 w 25"/>
                  <a:gd name="T45" fmla="*/ 21 h 37"/>
                  <a:gd name="T46" fmla="*/ 0 w 25"/>
                  <a:gd name="T47" fmla="*/ 27 h 37"/>
                  <a:gd name="T48" fmla="*/ 0 w 25"/>
                  <a:gd name="T49" fmla="*/ 37 h 37"/>
                  <a:gd name="T50" fmla="*/ 0 w 25"/>
                  <a:gd name="T51" fmla="*/ 37 h 3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5"/>
                  <a:gd name="T79" fmla="*/ 0 h 37"/>
                  <a:gd name="T80" fmla="*/ 25 w 25"/>
                  <a:gd name="T81" fmla="*/ 37 h 3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5" h="37">
                    <a:moveTo>
                      <a:pt x="0" y="37"/>
                    </a:moveTo>
                    <a:lnTo>
                      <a:pt x="3" y="37"/>
                    </a:lnTo>
                    <a:lnTo>
                      <a:pt x="6" y="37"/>
                    </a:lnTo>
                    <a:lnTo>
                      <a:pt x="9" y="37"/>
                    </a:lnTo>
                    <a:lnTo>
                      <a:pt x="12" y="34"/>
                    </a:lnTo>
                    <a:lnTo>
                      <a:pt x="15" y="34"/>
                    </a:lnTo>
                    <a:lnTo>
                      <a:pt x="19" y="34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5" y="24"/>
                    </a:lnTo>
                    <a:lnTo>
                      <a:pt x="25" y="15"/>
                    </a:lnTo>
                    <a:lnTo>
                      <a:pt x="25" y="6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19" y="0"/>
                    </a:lnTo>
                    <a:lnTo>
                      <a:pt x="15" y="3"/>
                    </a:lnTo>
                    <a:lnTo>
                      <a:pt x="12" y="3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0" y="21"/>
                    </a:lnTo>
                    <a:lnTo>
                      <a:pt x="0" y="27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18" name="Rectangle 385"/>
              <p:cNvSpPr>
                <a:spLocks noChangeArrowheads="1"/>
              </p:cNvSpPr>
              <p:nvPr/>
            </p:nvSpPr>
            <p:spPr bwMode="auto">
              <a:xfrm>
                <a:off x="4872" y="2687"/>
                <a:ext cx="67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FPGA company</a:t>
                </a:r>
                <a:endParaRPr lang="en-US"/>
              </a:p>
            </p:txBody>
          </p:sp>
          <p:sp>
            <p:nvSpPr>
              <p:cNvPr id="4419" name="Line 388"/>
              <p:cNvSpPr>
                <a:spLocks noChangeShapeType="1"/>
              </p:cNvSpPr>
              <p:nvPr/>
            </p:nvSpPr>
            <p:spPr bwMode="auto">
              <a:xfrm>
                <a:off x="4926" y="2161"/>
                <a:ext cx="0" cy="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20" name="Freeform 389"/>
              <p:cNvSpPr>
                <a:spLocks/>
              </p:cNvSpPr>
              <p:nvPr/>
            </p:nvSpPr>
            <p:spPr bwMode="auto">
              <a:xfrm>
                <a:off x="3468" y="1926"/>
                <a:ext cx="1106" cy="736"/>
              </a:xfrm>
              <a:custGeom>
                <a:avLst/>
                <a:gdLst>
                  <a:gd name="T0" fmla="*/ 1106 w 358"/>
                  <a:gd name="T1" fmla="*/ 0 h 238"/>
                  <a:gd name="T2" fmla="*/ 0 w 358"/>
                  <a:gd name="T3" fmla="*/ 736 h 238"/>
                  <a:gd name="T4" fmla="*/ 0 60000 65536"/>
                  <a:gd name="T5" fmla="*/ 0 60000 65536"/>
                  <a:gd name="T6" fmla="*/ 0 w 358"/>
                  <a:gd name="T7" fmla="*/ 0 h 238"/>
                  <a:gd name="T8" fmla="*/ 358 w 358"/>
                  <a:gd name="T9" fmla="*/ 238 h 2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8" h="238">
                    <a:moveTo>
                      <a:pt x="358" y="0"/>
                    </a:moveTo>
                    <a:cubicBezTo>
                      <a:pt x="252" y="218"/>
                      <a:pt x="0" y="238"/>
                      <a:pt x="0" y="238"/>
                    </a:cubicBezTo>
                  </a:path>
                </a:pathLst>
              </a:cu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1" name="Freeform 390"/>
              <p:cNvSpPr>
                <a:spLocks/>
              </p:cNvSpPr>
              <p:nvPr/>
            </p:nvSpPr>
            <p:spPr bwMode="auto">
              <a:xfrm>
                <a:off x="3388" y="2634"/>
                <a:ext cx="102" cy="52"/>
              </a:xfrm>
              <a:custGeom>
                <a:avLst/>
                <a:gdLst>
                  <a:gd name="T0" fmla="*/ 96 w 102"/>
                  <a:gd name="T1" fmla="*/ 0 h 52"/>
                  <a:gd name="T2" fmla="*/ 0 w 102"/>
                  <a:gd name="T3" fmla="*/ 34 h 52"/>
                  <a:gd name="T4" fmla="*/ 102 w 102"/>
                  <a:gd name="T5" fmla="*/ 52 h 52"/>
                  <a:gd name="T6" fmla="*/ 96 w 102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52"/>
                  <a:gd name="T14" fmla="*/ 102 w 102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52">
                    <a:moveTo>
                      <a:pt x="96" y="0"/>
                    </a:moveTo>
                    <a:lnTo>
                      <a:pt x="0" y="34"/>
                    </a:lnTo>
                    <a:lnTo>
                      <a:pt x="102" y="5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2" name="Freeform 391"/>
              <p:cNvSpPr>
                <a:spLocks/>
              </p:cNvSpPr>
              <p:nvPr/>
            </p:nvSpPr>
            <p:spPr bwMode="auto">
              <a:xfrm>
                <a:off x="3011" y="1920"/>
                <a:ext cx="1403" cy="649"/>
              </a:xfrm>
              <a:custGeom>
                <a:avLst/>
                <a:gdLst>
                  <a:gd name="T0" fmla="*/ 1403 w 454"/>
                  <a:gd name="T1" fmla="*/ 0 h 210"/>
                  <a:gd name="T2" fmla="*/ 0 w 454"/>
                  <a:gd name="T3" fmla="*/ 649 h 210"/>
                  <a:gd name="T4" fmla="*/ 0 60000 65536"/>
                  <a:gd name="T5" fmla="*/ 0 60000 65536"/>
                  <a:gd name="T6" fmla="*/ 0 w 454"/>
                  <a:gd name="T7" fmla="*/ 0 h 210"/>
                  <a:gd name="T8" fmla="*/ 454 w 454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4" h="210">
                    <a:moveTo>
                      <a:pt x="454" y="0"/>
                    </a:moveTo>
                    <a:cubicBezTo>
                      <a:pt x="320" y="192"/>
                      <a:pt x="0" y="210"/>
                      <a:pt x="0" y="210"/>
                    </a:cubicBezTo>
                  </a:path>
                </a:pathLst>
              </a:cu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3" name="Freeform 392"/>
              <p:cNvSpPr>
                <a:spLocks/>
              </p:cNvSpPr>
              <p:nvPr/>
            </p:nvSpPr>
            <p:spPr bwMode="auto">
              <a:xfrm>
                <a:off x="2928" y="2541"/>
                <a:ext cx="102" cy="53"/>
              </a:xfrm>
              <a:custGeom>
                <a:avLst/>
                <a:gdLst>
                  <a:gd name="T0" fmla="*/ 98 w 102"/>
                  <a:gd name="T1" fmla="*/ 0 h 53"/>
                  <a:gd name="T2" fmla="*/ 0 w 102"/>
                  <a:gd name="T3" fmla="*/ 34 h 53"/>
                  <a:gd name="T4" fmla="*/ 102 w 102"/>
                  <a:gd name="T5" fmla="*/ 53 h 53"/>
                  <a:gd name="T6" fmla="*/ 98 w 102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"/>
                  <a:gd name="T13" fmla="*/ 0 h 53"/>
                  <a:gd name="T14" fmla="*/ 102 w 102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" h="53">
                    <a:moveTo>
                      <a:pt x="98" y="0"/>
                    </a:moveTo>
                    <a:lnTo>
                      <a:pt x="0" y="34"/>
                    </a:lnTo>
                    <a:lnTo>
                      <a:pt x="102" y="53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4" name="Freeform 393"/>
              <p:cNvSpPr>
                <a:spLocks/>
              </p:cNvSpPr>
              <p:nvPr/>
            </p:nvSpPr>
            <p:spPr bwMode="auto">
              <a:xfrm>
                <a:off x="3808" y="2417"/>
                <a:ext cx="9" cy="10"/>
              </a:xfrm>
              <a:custGeom>
                <a:avLst/>
                <a:gdLst>
                  <a:gd name="T0" fmla="*/ 9 w 9"/>
                  <a:gd name="T1" fmla="*/ 4 h 10"/>
                  <a:gd name="T2" fmla="*/ 9 w 9"/>
                  <a:gd name="T3" fmla="*/ 7 h 10"/>
                  <a:gd name="T4" fmla="*/ 9 w 9"/>
                  <a:gd name="T5" fmla="*/ 7 h 10"/>
                  <a:gd name="T6" fmla="*/ 6 w 9"/>
                  <a:gd name="T7" fmla="*/ 10 h 10"/>
                  <a:gd name="T8" fmla="*/ 6 w 9"/>
                  <a:gd name="T9" fmla="*/ 10 h 10"/>
                  <a:gd name="T10" fmla="*/ 3 w 9"/>
                  <a:gd name="T11" fmla="*/ 10 h 10"/>
                  <a:gd name="T12" fmla="*/ 3 w 9"/>
                  <a:gd name="T13" fmla="*/ 7 h 10"/>
                  <a:gd name="T14" fmla="*/ 0 w 9"/>
                  <a:gd name="T15" fmla="*/ 7 h 10"/>
                  <a:gd name="T16" fmla="*/ 0 w 9"/>
                  <a:gd name="T17" fmla="*/ 4 h 10"/>
                  <a:gd name="T18" fmla="*/ 0 w 9"/>
                  <a:gd name="T19" fmla="*/ 4 h 10"/>
                  <a:gd name="T20" fmla="*/ 3 w 9"/>
                  <a:gd name="T21" fmla="*/ 0 h 10"/>
                  <a:gd name="T22" fmla="*/ 3 w 9"/>
                  <a:gd name="T23" fmla="*/ 0 h 10"/>
                  <a:gd name="T24" fmla="*/ 6 w 9"/>
                  <a:gd name="T25" fmla="*/ 0 h 10"/>
                  <a:gd name="T26" fmla="*/ 6 w 9"/>
                  <a:gd name="T27" fmla="*/ 0 h 10"/>
                  <a:gd name="T28" fmla="*/ 9 w 9"/>
                  <a:gd name="T29" fmla="*/ 0 h 10"/>
                  <a:gd name="T30" fmla="*/ 9 w 9"/>
                  <a:gd name="T31" fmla="*/ 4 h 10"/>
                  <a:gd name="T32" fmla="*/ 9 w 9"/>
                  <a:gd name="T33" fmla="*/ 4 h 10"/>
                  <a:gd name="T34" fmla="*/ 9 w 9"/>
                  <a:gd name="T35" fmla="*/ 4 h 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10"/>
                  <a:gd name="T56" fmla="*/ 9 w 9"/>
                  <a:gd name="T57" fmla="*/ 10 h 1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10">
                    <a:moveTo>
                      <a:pt x="9" y="4"/>
                    </a:moveTo>
                    <a:lnTo>
                      <a:pt x="9" y="7"/>
                    </a:lnTo>
                    <a:lnTo>
                      <a:pt x="6" y="10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A3D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5" name="Freeform 394"/>
              <p:cNvSpPr>
                <a:spLocks/>
              </p:cNvSpPr>
              <p:nvPr/>
            </p:nvSpPr>
            <p:spPr bwMode="auto">
              <a:xfrm>
                <a:off x="3595" y="2402"/>
                <a:ext cx="37" cy="34"/>
              </a:xfrm>
              <a:custGeom>
                <a:avLst/>
                <a:gdLst>
                  <a:gd name="T0" fmla="*/ 6 w 37"/>
                  <a:gd name="T1" fmla="*/ 34 h 34"/>
                  <a:gd name="T2" fmla="*/ 6 w 37"/>
                  <a:gd name="T3" fmla="*/ 34 h 34"/>
                  <a:gd name="T4" fmla="*/ 6 w 37"/>
                  <a:gd name="T5" fmla="*/ 31 h 34"/>
                  <a:gd name="T6" fmla="*/ 6 w 37"/>
                  <a:gd name="T7" fmla="*/ 28 h 34"/>
                  <a:gd name="T8" fmla="*/ 6 w 37"/>
                  <a:gd name="T9" fmla="*/ 25 h 34"/>
                  <a:gd name="T10" fmla="*/ 6 w 37"/>
                  <a:gd name="T11" fmla="*/ 19 h 34"/>
                  <a:gd name="T12" fmla="*/ 6 w 37"/>
                  <a:gd name="T13" fmla="*/ 15 h 34"/>
                  <a:gd name="T14" fmla="*/ 9 w 37"/>
                  <a:gd name="T15" fmla="*/ 12 h 34"/>
                  <a:gd name="T16" fmla="*/ 12 w 37"/>
                  <a:gd name="T17" fmla="*/ 9 h 34"/>
                  <a:gd name="T18" fmla="*/ 18 w 37"/>
                  <a:gd name="T19" fmla="*/ 9 h 34"/>
                  <a:gd name="T20" fmla="*/ 22 w 37"/>
                  <a:gd name="T21" fmla="*/ 12 h 34"/>
                  <a:gd name="T22" fmla="*/ 25 w 37"/>
                  <a:gd name="T23" fmla="*/ 12 h 34"/>
                  <a:gd name="T24" fmla="*/ 28 w 37"/>
                  <a:gd name="T25" fmla="*/ 19 h 34"/>
                  <a:gd name="T26" fmla="*/ 28 w 37"/>
                  <a:gd name="T27" fmla="*/ 22 h 34"/>
                  <a:gd name="T28" fmla="*/ 28 w 37"/>
                  <a:gd name="T29" fmla="*/ 25 h 34"/>
                  <a:gd name="T30" fmla="*/ 28 w 37"/>
                  <a:gd name="T31" fmla="*/ 28 h 34"/>
                  <a:gd name="T32" fmla="*/ 28 w 37"/>
                  <a:gd name="T33" fmla="*/ 31 h 34"/>
                  <a:gd name="T34" fmla="*/ 28 w 37"/>
                  <a:gd name="T35" fmla="*/ 34 h 34"/>
                  <a:gd name="T36" fmla="*/ 28 w 37"/>
                  <a:gd name="T37" fmla="*/ 34 h 34"/>
                  <a:gd name="T38" fmla="*/ 28 w 37"/>
                  <a:gd name="T39" fmla="*/ 34 h 34"/>
                  <a:gd name="T40" fmla="*/ 31 w 37"/>
                  <a:gd name="T41" fmla="*/ 34 h 34"/>
                  <a:gd name="T42" fmla="*/ 31 w 37"/>
                  <a:gd name="T43" fmla="*/ 34 h 34"/>
                  <a:gd name="T44" fmla="*/ 34 w 37"/>
                  <a:gd name="T45" fmla="*/ 34 h 34"/>
                  <a:gd name="T46" fmla="*/ 34 w 37"/>
                  <a:gd name="T47" fmla="*/ 34 h 34"/>
                  <a:gd name="T48" fmla="*/ 37 w 37"/>
                  <a:gd name="T49" fmla="*/ 31 h 34"/>
                  <a:gd name="T50" fmla="*/ 37 w 37"/>
                  <a:gd name="T51" fmla="*/ 28 h 34"/>
                  <a:gd name="T52" fmla="*/ 37 w 37"/>
                  <a:gd name="T53" fmla="*/ 25 h 34"/>
                  <a:gd name="T54" fmla="*/ 37 w 37"/>
                  <a:gd name="T55" fmla="*/ 19 h 34"/>
                  <a:gd name="T56" fmla="*/ 34 w 37"/>
                  <a:gd name="T57" fmla="*/ 12 h 34"/>
                  <a:gd name="T58" fmla="*/ 31 w 37"/>
                  <a:gd name="T59" fmla="*/ 9 h 34"/>
                  <a:gd name="T60" fmla="*/ 28 w 37"/>
                  <a:gd name="T61" fmla="*/ 3 h 34"/>
                  <a:gd name="T62" fmla="*/ 22 w 37"/>
                  <a:gd name="T63" fmla="*/ 0 h 34"/>
                  <a:gd name="T64" fmla="*/ 15 w 37"/>
                  <a:gd name="T65" fmla="*/ 3 h 34"/>
                  <a:gd name="T66" fmla="*/ 6 w 37"/>
                  <a:gd name="T67" fmla="*/ 6 h 34"/>
                  <a:gd name="T68" fmla="*/ 3 w 37"/>
                  <a:gd name="T69" fmla="*/ 9 h 34"/>
                  <a:gd name="T70" fmla="*/ 0 w 37"/>
                  <a:gd name="T71" fmla="*/ 15 h 34"/>
                  <a:gd name="T72" fmla="*/ 0 w 37"/>
                  <a:gd name="T73" fmla="*/ 22 h 34"/>
                  <a:gd name="T74" fmla="*/ 3 w 37"/>
                  <a:gd name="T75" fmla="*/ 25 h 34"/>
                  <a:gd name="T76" fmla="*/ 3 w 37"/>
                  <a:gd name="T77" fmla="*/ 31 h 34"/>
                  <a:gd name="T78" fmla="*/ 6 w 37"/>
                  <a:gd name="T79" fmla="*/ 34 h 34"/>
                  <a:gd name="T80" fmla="*/ 6 w 37"/>
                  <a:gd name="T81" fmla="*/ 34 h 34"/>
                  <a:gd name="T82" fmla="*/ 6 w 37"/>
                  <a:gd name="T83" fmla="*/ 34 h 3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7"/>
                  <a:gd name="T127" fmla="*/ 0 h 34"/>
                  <a:gd name="T128" fmla="*/ 37 w 37"/>
                  <a:gd name="T129" fmla="*/ 34 h 3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7" h="34">
                    <a:moveTo>
                      <a:pt x="6" y="34"/>
                    </a:moveTo>
                    <a:lnTo>
                      <a:pt x="6" y="34"/>
                    </a:lnTo>
                    <a:lnTo>
                      <a:pt x="6" y="31"/>
                    </a:lnTo>
                    <a:lnTo>
                      <a:pt x="6" y="28"/>
                    </a:lnTo>
                    <a:lnTo>
                      <a:pt x="6" y="25"/>
                    </a:lnTo>
                    <a:lnTo>
                      <a:pt x="6" y="19"/>
                    </a:lnTo>
                    <a:lnTo>
                      <a:pt x="6" y="15"/>
                    </a:lnTo>
                    <a:lnTo>
                      <a:pt x="9" y="12"/>
                    </a:lnTo>
                    <a:lnTo>
                      <a:pt x="12" y="9"/>
                    </a:lnTo>
                    <a:lnTo>
                      <a:pt x="18" y="9"/>
                    </a:lnTo>
                    <a:lnTo>
                      <a:pt x="22" y="12"/>
                    </a:lnTo>
                    <a:lnTo>
                      <a:pt x="25" y="12"/>
                    </a:lnTo>
                    <a:lnTo>
                      <a:pt x="28" y="19"/>
                    </a:lnTo>
                    <a:lnTo>
                      <a:pt x="28" y="22"/>
                    </a:lnTo>
                    <a:lnTo>
                      <a:pt x="28" y="25"/>
                    </a:lnTo>
                    <a:lnTo>
                      <a:pt x="28" y="28"/>
                    </a:lnTo>
                    <a:lnTo>
                      <a:pt x="28" y="31"/>
                    </a:lnTo>
                    <a:lnTo>
                      <a:pt x="28" y="34"/>
                    </a:lnTo>
                    <a:lnTo>
                      <a:pt x="31" y="34"/>
                    </a:lnTo>
                    <a:lnTo>
                      <a:pt x="34" y="34"/>
                    </a:lnTo>
                    <a:lnTo>
                      <a:pt x="37" y="31"/>
                    </a:lnTo>
                    <a:lnTo>
                      <a:pt x="37" y="28"/>
                    </a:lnTo>
                    <a:lnTo>
                      <a:pt x="37" y="25"/>
                    </a:lnTo>
                    <a:lnTo>
                      <a:pt x="37" y="19"/>
                    </a:lnTo>
                    <a:lnTo>
                      <a:pt x="34" y="12"/>
                    </a:lnTo>
                    <a:lnTo>
                      <a:pt x="31" y="9"/>
                    </a:lnTo>
                    <a:lnTo>
                      <a:pt x="28" y="3"/>
                    </a:lnTo>
                    <a:lnTo>
                      <a:pt x="22" y="0"/>
                    </a:lnTo>
                    <a:lnTo>
                      <a:pt x="15" y="3"/>
                    </a:lnTo>
                    <a:lnTo>
                      <a:pt x="6" y="6"/>
                    </a:lnTo>
                    <a:lnTo>
                      <a:pt x="3" y="9"/>
                    </a:lnTo>
                    <a:lnTo>
                      <a:pt x="0" y="15"/>
                    </a:lnTo>
                    <a:lnTo>
                      <a:pt x="0" y="22"/>
                    </a:lnTo>
                    <a:lnTo>
                      <a:pt x="3" y="25"/>
                    </a:lnTo>
                    <a:lnTo>
                      <a:pt x="3" y="31"/>
                    </a:lnTo>
                    <a:lnTo>
                      <a:pt x="6" y="3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6" name="Freeform 395"/>
              <p:cNvSpPr>
                <a:spLocks/>
              </p:cNvSpPr>
              <p:nvPr/>
            </p:nvSpPr>
            <p:spPr bwMode="auto">
              <a:xfrm>
                <a:off x="3555" y="2424"/>
                <a:ext cx="37" cy="31"/>
              </a:xfrm>
              <a:custGeom>
                <a:avLst/>
                <a:gdLst>
                  <a:gd name="T0" fmla="*/ 6 w 37"/>
                  <a:gd name="T1" fmla="*/ 31 h 31"/>
                  <a:gd name="T2" fmla="*/ 6 w 37"/>
                  <a:gd name="T3" fmla="*/ 31 h 31"/>
                  <a:gd name="T4" fmla="*/ 6 w 37"/>
                  <a:gd name="T5" fmla="*/ 27 h 31"/>
                  <a:gd name="T6" fmla="*/ 6 w 37"/>
                  <a:gd name="T7" fmla="*/ 24 h 31"/>
                  <a:gd name="T8" fmla="*/ 6 w 37"/>
                  <a:gd name="T9" fmla="*/ 21 h 31"/>
                  <a:gd name="T10" fmla="*/ 6 w 37"/>
                  <a:gd name="T11" fmla="*/ 15 h 31"/>
                  <a:gd name="T12" fmla="*/ 6 w 37"/>
                  <a:gd name="T13" fmla="*/ 12 h 31"/>
                  <a:gd name="T14" fmla="*/ 9 w 37"/>
                  <a:gd name="T15" fmla="*/ 9 h 31"/>
                  <a:gd name="T16" fmla="*/ 12 w 37"/>
                  <a:gd name="T17" fmla="*/ 6 h 31"/>
                  <a:gd name="T18" fmla="*/ 18 w 37"/>
                  <a:gd name="T19" fmla="*/ 6 h 31"/>
                  <a:gd name="T20" fmla="*/ 21 w 37"/>
                  <a:gd name="T21" fmla="*/ 9 h 31"/>
                  <a:gd name="T22" fmla="*/ 24 w 37"/>
                  <a:gd name="T23" fmla="*/ 12 h 31"/>
                  <a:gd name="T24" fmla="*/ 28 w 37"/>
                  <a:gd name="T25" fmla="*/ 15 h 31"/>
                  <a:gd name="T26" fmla="*/ 28 w 37"/>
                  <a:gd name="T27" fmla="*/ 18 h 31"/>
                  <a:gd name="T28" fmla="*/ 31 w 37"/>
                  <a:gd name="T29" fmla="*/ 21 h 31"/>
                  <a:gd name="T30" fmla="*/ 28 w 37"/>
                  <a:gd name="T31" fmla="*/ 27 h 31"/>
                  <a:gd name="T32" fmla="*/ 28 w 37"/>
                  <a:gd name="T33" fmla="*/ 31 h 31"/>
                  <a:gd name="T34" fmla="*/ 28 w 37"/>
                  <a:gd name="T35" fmla="*/ 31 h 31"/>
                  <a:gd name="T36" fmla="*/ 28 w 37"/>
                  <a:gd name="T37" fmla="*/ 31 h 31"/>
                  <a:gd name="T38" fmla="*/ 31 w 37"/>
                  <a:gd name="T39" fmla="*/ 31 h 31"/>
                  <a:gd name="T40" fmla="*/ 31 w 37"/>
                  <a:gd name="T41" fmla="*/ 31 h 31"/>
                  <a:gd name="T42" fmla="*/ 31 w 37"/>
                  <a:gd name="T43" fmla="*/ 31 h 31"/>
                  <a:gd name="T44" fmla="*/ 34 w 37"/>
                  <a:gd name="T45" fmla="*/ 31 h 31"/>
                  <a:gd name="T46" fmla="*/ 34 w 37"/>
                  <a:gd name="T47" fmla="*/ 31 h 31"/>
                  <a:gd name="T48" fmla="*/ 37 w 37"/>
                  <a:gd name="T49" fmla="*/ 31 h 31"/>
                  <a:gd name="T50" fmla="*/ 37 w 37"/>
                  <a:gd name="T51" fmla="*/ 27 h 31"/>
                  <a:gd name="T52" fmla="*/ 37 w 37"/>
                  <a:gd name="T53" fmla="*/ 21 h 31"/>
                  <a:gd name="T54" fmla="*/ 37 w 37"/>
                  <a:gd name="T55" fmla="*/ 15 h 31"/>
                  <a:gd name="T56" fmla="*/ 34 w 37"/>
                  <a:gd name="T57" fmla="*/ 9 h 31"/>
                  <a:gd name="T58" fmla="*/ 31 w 37"/>
                  <a:gd name="T59" fmla="*/ 6 h 31"/>
                  <a:gd name="T60" fmla="*/ 28 w 37"/>
                  <a:gd name="T61" fmla="*/ 0 h 31"/>
                  <a:gd name="T62" fmla="*/ 21 w 37"/>
                  <a:gd name="T63" fmla="*/ 0 h 31"/>
                  <a:gd name="T64" fmla="*/ 15 w 37"/>
                  <a:gd name="T65" fmla="*/ 0 h 31"/>
                  <a:gd name="T66" fmla="*/ 6 w 37"/>
                  <a:gd name="T67" fmla="*/ 3 h 31"/>
                  <a:gd name="T68" fmla="*/ 3 w 37"/>
                  <a:gd name="T69" fmla="*/ 6 h 31"/>
                  <a:gd name="T70" fmla="*/ 0 w 37"/>
                  <a:gd name="T71" fmla="*/ 12 h 31"/>
                  <a:gd name="T72" fmla="*/ 0 w 37"/>
                  <a:gd name="T73" fmla="*/ 18 h 31"/>
                  <a:gd name="T74" fmla="*/ 3 w 37"/>
                  <a:gd name="T75" fmla="*/ 21 h 31"/>
                  <a:gd name="T76" fmla="*/ 3 w 37"/>
                  <a:gd name="T77" fmla="*/ 27 h 31"/>
                  <a:gd name="T78" fmla="*/ 6 w 37"/>
                  <a:gd name="T79" fmla="*/ 31 h 31"/>
                  <a:gd name="T80" fmla="*/ 6 w 37"/>
                  <a:gd name="T81" fmla="*/ 31 h 31"/>
                  <a:gd name="T82" fmla="*/ 6 w 37"/>
                  <a:gd name="T83" fmla="*/ 31 h 3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7"/>
                  <a:gd name="T127" fmla="*/ 0 h 31"/>
                  <a:gd name="T128" fmla="*/ 37 w 37"/>
                  <a:gd name="T129" fmla="*/ 31 h 3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7" h="31">
                    <a:moveTo>
                      <a:pt x="6" y="31"/>
                    </a:moveTo>
                    <a:lnTo>
                      <a:pt x="6" y="31"/>
                    </a:lnTo>
                    <a:lnTo>
                      <a:pt x="6" y="27"/>
                    </a:lnTo>
                    <a:lnTo>
                      <a:pt x="6" y="24"/>
                    </a:lnTo>
                    <a:lnTo>
                      <a:pt x="6" y="21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9" y="9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21" y="9"/>
                    </a:lnTo>
                    <a:lnTo>
                      <a:pt x="24" y="12"/>
                    </a:lnTo>
                    <a:lnTo>
                      <a:pt x="28" y="15"/>
                    </a:lnTo>
                    <a:lnTo>
                      <a:pt x="28" y="18"/>
                    </a:lnTo>
                    <a:lnTo>
                      <a:pt x="31" y="21"/>
                    </a:lnTo>
                    <a:lnTo>
                      <a:pt x="28" y="27"/>
                    </a:lnTo>
                    <a:lnTo>
                      <a:pt x="28" y="31"/>
                    </a:lnTo>
                    <a:lnTo>
                      <a:pt x="31" y="31"/>
                    </a:lnTo>
                    <a:lnTo>
                      <a:pt x="34" y="31"/>
                    </a:lnTo>
                    <a:lnTo>
                      <a:pt x="37" y="31"/>
                    </a:lnTo>
                    <a:lnTo>
                      <a:pt x="37" y="27"/>
                    </a:lnTo>
                    <a:lnTo>
                      <a:pt x="37" y="21"/>
                    </a:lnTo>
                    <a:lnTo>
                      <a:pt x="37" y="15"/>
                    </a:lnTo>
                    <a:lnTo>
                      <a:pt x="34" y="9"/>
                    </a:lnTo>
                    <a:lnTo>
                      <a:pt x="31" y="6"/>
                    </a:lnTo>
                    <a:lnTo>
                      <a:pt x="28" y="0"/>
                    </a:lnTo>
                    <a:lnTo>
                      <a:pt x="21" y="0"/>
                    </a:lnTo>
                    <a:lnTo>
                      <a:pt x="15" y="0"/>
                    </a:lnTo>
                    <a:lnTo>
                      <a:pt x="6" y="3"/>
                    </a:lnTo>
                    <a:lnTo>
                      <a:pt x="3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3" y="21"/>
                    </a:lnTo>
                    <a:lnTo>
                      <a:pt x="3" y="27"/>
                    </a:lnTo>
                    <a:lnTo>
                      <a:pt x="6" y="3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7" name="Freeform 396"/>
              <p:cNvSpPr>
                <a:spLocks/>
              </p:cNvSpPr>
              <p:nvPr/>
            </p:nvSpPr>
            <p:spPr bwMode="auto">
              <a:xfrm>
                <a:off x="3635" y="2387"/>
                <a:ext cx="34" cy="30"/>
              </a:xfrm>
              <a:custGeom>
                <a:avLst/>
                <a:gdLst>
                  <a:gd name="T0" fmla="*/ 3 w 34"/>
                  <a:gd name="T1" fmla="*/ 30 h 30"/>
                  <a:gd name="T2" fmla="*/ 3 w 34"/>
                  <a:gd name="T3" fmla="*/ 27 h 30"/>
                  <a:gd name="T4" fmla="*/ 3 w 34"/>
                  <a:gd name="T5" fmla="*/ 27 h 30"/>
                  <a:gd name="T6" fmla="*/ 3 w 34"/>
                  <a:gd name="T7" fmla="*/ 24 h 30"/>
                  <a:gd name="T8" fmla="*/ 3 w 34"/>
                  <a:gd name="T9" fmla="*/ 21 h 30"/>
                  <a:gd name="T10" fmla="*/ 3 w 34"/>
                  <a:gd name="T11" fmla="*/ 15 h 30"/>
                  <a:gd name="T12" fmla="*/ 6 w 34"/>
                  <a:gd name="T13" fmla="*/ 12 h 30"/>
                  <a:gd name="T14" fmla="*/ 6 w 34"/>
                  <a:gd name="T15" fmla="*/ 9 h 30"/>
                  <a:gd name="T16" fmla="*/ 9 w 34"/>
                  <a:gd name="T17" fmla="*/ 9 h 30"/>
                  <a:gd name="T18" fmla="*/ 16 w 34"/>
                  <a:gd name="T19" fmla="*/ 9 h 30"/>
                  <a:gd name="T20" fmla="*/ 19 w 34"/>
                  <a:gd name="T21" fmla="*/ 9 h 30"/>
                  <a:gd name="T22" fmla="*/ 22 w 34"/>
                  <a:gd name="T23" fmla="*/ 12 h 30"/>
                  <a:gd name="T24" fmla="*/ 25 w 34"/>
                  <a:gd name="T25" fmla="*/ 15 h 30"/>
                  <a:gd name="T26" fmla="*/ 25 w 34"/>
                  <a:gd name="T27" fmla="*/ 18 h 30"/>
                  <a:gd name="T28" fmla="*/ 25 w 34"/>
                  <a:gd name="T29" fmla="*/ 21 h 30"/>
                  <a:gd name="T30" fmla="*/ 25 w 34"/>
                  <a:gd name="T31" fmla="*/ 24 h 30"/>
                  <a:gd name="T32" fmla="*/ 25 w 34"/>
                  <a:gd name="T33" fmla="*/ 27 h 30"/>
                  <a:gd name="T34" fmla="*/ 25 w 34"/>
                  <a:gd name="T35" fmla="*/ 27 h 30"/>
                  <a:gd name="T36" fmla="*/ 25 w 34"/>
                  <a:gd name="T37" fmla="*/ 27 h 30"/>
                  <a:gd name="T38" fmla="*/ 25 w 34"/>
                  <a:gd name="T39" fmla="*/ 30 h 30"/>
                  <a:gd name="T40" fmla="*/ 28 w 34"/>
                  <a:gd name="T41" fmla="*/ 30 h 30"/>
                  <a:gd name="T42" fmla="*/ 28 w 34"/>
                  <a:gd name="T43" fmla="*/ 30 h 30"/>
                  <a:gd name="T44" fmla="*/ 31 w 34"/>
                  <a:gd name="T45" fmla="*/ 30 h 30"/>
                  <a:gd name="T46" fmla="*/ 31 w 34"/>
                  <a:gd name="T47" fmla="*/ 30 h 30"/>
                  <a:gd name="T48" fmla="*/ 34 w 34"/>
                  <a:gd name="T49" fmla="*/ 27 h 30"/>
                  <a:gd name="T50" fmla="*/ 34 w 34"/>
                  <a:gd name="T51" fmla="*/ 24 h 30"/>
                  <a:gd name="T52" fmla="*/ 34 w 34"/>
                  <a:gd name="T53" fmla="*/ 21 h 30"/>
                  <a:gd name="T54" fmla="*/ 34 w 34"/>
                  <a:gd name="T55" fmla="*/ 15 h 30"/>
                  <a:gd name="T56" fmla="*/ 31 w 34"/>
                  <a:gd name="T57" fmla="*/ 12 h 30"/>
                  <a:gd name="T58" fmla="*/ 28 w 34"/>
                  <a:gd name="T59" fmla="*/ 6 h 30"/>
                  <a:gd name="T60" fmla="*/ 25 w 34"/>
                  <a:gd name="T61" fmla="*/ 3 h 30"/>
                  <a:gd name="T62" fmla="*/ 19 w 34"/>
                  <a:gd name="T63" fmla="*/ 0 h 30"/>
                  <a:gd name="T64" fmla="*/ 12 w 34"/>
                  <a:gd name="T65" fmla="*/ 0 h 30"/>
                  <a:gd name="T66" fmla="*/ 6 w 34"/>
                  <a:gd name="T67" fmla="*/ 3 h 30"/>
                  <a:gd name="T68" fmla="*/ 3 w 34"/>
                  <a:gd name="T69" fmla="*/ 9 h 30"/>
                  <a:gd name="T70" fmla="*/ 0 w 34"/>
                  <a:gd name="T71" fmla="*/ 12 h 30"/>
                  <a:gd name="T72" fmla="*/ 0 w 34"/>
                  <a:gd name="T73" fmla="*/ 18 h 30"/>
                  <a:gd name="T74" fmla="*/ 0 w 34"/>
                  <a:gd name="T75" fmla="*/ 21 h 30"/>
                  <a:gd name="T76" fmla="*/ 3 w 34"/>
                  <a:gd name="T77" fmla="*/ 24 h 30"/>
                  <a:gd name="T78" fmla="*/ 3 w 34"/>
                  <a:gd name="T79" fmla="*/ 27 h 30"/>
                  <a:gd name="T80" fmla="*/ 3 w 34"/>
                  <a:gd name="T81" fmla="*/ 30 h 30"/>
                  <a:gd name="T82" fmla="*/ 3 w 34"/>
                  <a:gd name="T83" fmla="*/ 30 h 3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4"/>
                  <a:gd name="T127" fmla="*/ 0 h 30"/>
                  <a:gd name="T128" fmla="*/ 34 w 34"/>
                  <a:gd name="T129" fmla="*/ 30 h 3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4" h="30">
                    <a:moveTo>
                      <a:pt x="3" y="30"/>
                    </a:moveTo>
                    <a:lnTo>
                      <a:pt x="3" y="27"/>
                    </a:lnTo>
                    <a:lnTo>
                      <a:pt x="3" y="24"/>
                    </a:lnTo>
                    <a:lnTo>
                      <a:pt x="3" y="21"/>
                    </a:lnTo>
                    <a:lnTo>
                      <a:pt x="3" y="15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9" y="9"/>
                    </a:lnTo>
                    <a:lnTo>
                      <a:pt x="16" y="9"/>
                    </a:lnTo>
                    <a:lnTo>
                      <a:pt x="19" y="9"/>
                    </a:lnTo>
                    <a:lnTo>
                      <a:pt x="22" y="12"/>
                    </a:lnTo>
                    <a:lnTo>
                      <a:pt x="25" y="15"/>
                    </a:lnTo>
                    <a:lnTo>
                      <a:pt x="25" y="18"/>
                    </a:lnTo>
                    <a:lnTo>
                      <a:pt x="25" y="21"/>
                    </a:lnTo>
                    <a:lnTo>
                      <a:pt x="25" y="24"/>
                    </a:lnTo>
                    <a:lnTo>
                      <a:pt x="25" y="27"/>
                    </a:lnTo>
                    <a:lnTo>
                      <a:pt x="25" y="30"/>
                    </a:lnTo>
                    <a:lnTo>
                      <a:pt x="28" y="30"/>
                    </a:lnTo>
                    <a:lnTo>
                      <a:pt x="31" y="30"/>
                    </a:lnTo>
                    <a:lnTo>
                      <a:pt x="34" y="27"/>
                    </a:lnTo>
                    <a:lnTo>
                      <a:pt x="34" y="24"/>
                    </a:lnTo>
                    <a:lnTo>
                      <a:pt x="34" y="21"/>
                    </a:lnTo>
                    <a:lnTo>
                      <a:pt x="34" y="15"/>
                    </a:lnTo>
                    <a:lnTo>
                      <a:pt x="31" y="12"/>
                    </a:lnTo>
                    <a:lnTo>
                      <a:pt x="28" y="6"/>
                    </a:lnTo>
                    <a:lnTo>
                      <a:pt x="25" y="3"/>
                    </a:lnTo>
                    <a:lnTo>
                      <a:pt x="19" y="0"/>
                    </a:lnTo>
                    <a:lnTo>
                      <a:pt x="12" y="0"/>
                    </a:lnTo>
                    <a:lnTo>
                      <a:pt x="6" y="3"/>
                    </a:lnTo>
                    <a:lnTo>
                      <a:pt x="3" y="9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21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8" name="Freeform 397"/>
              <p:cNvSpPr>
                <a:spLocks/>
              </p:cNvSpPr>
              <p:nvPr/>
            </p:nvSpPr>
            <p:spPr bwMode="auto">
              <a:xfrm>
                <a:off x="3669" y="2374"/>
                <a:ext cx="28" cy="28"/>
              </a:xfrm>
              <a:custGeom>
                <a:avLst/>
                <a:gdLst>
                  <a:gd name="T0" fmla="*/ 3 w 28"/>
                  <a:gd name="T1" fmla="*/ 25 h 28"/>
                  <a:gd name="T2" fmla="*/ 3 w 28"/>
                  <a:gd name="T3" fmla="*/ 25 h 28"/>
                  <a:gd name="T4" fmla="*/ 3 w 28"/>
                  <a:gd name="T5" fmla="*/ 25 h 28"/>
                  <a:gd name="T6" fmla="*/ 3 w 28"/>
                  <a:gd name="T7" fmla="*/ 22 h 28"/>
                  <a:gd name="T8" fmla="*/ 3 w 28"/>
                  <a:gd name="T9" fmla="*/ 19 h 28"/>
                  <a:gd name="T10" fmla="*/ 3 w 28"/>
                  <a:gd name="T11" fmla="*/ 16 h 28"/>
                  <a:gd name="T12" fmla="*/ 3 w 28"/>
                  <a:gd name="T13" fmla="*/ 13 h 28"/>
                  <a:gd name="T14" fmla="*/ 6 w 28"/>
                  <a:gd name="T15" fmla="*/ 9 h 28"/>
                  <a:gd name="T16" fmla="*/ 9 w 28"/>
                  <a:gd name="T17" fmla="*/ 6 h 28"/>
                  <a:gd name="T18" fmla="*/ 12 w 28"/>
                  <a:gd name="T19" fmla="*/ 6 h 28"/>
                  <a:gd name="T20" fmla="*/ 15 w 28"/>
                  <a:gd name="T21" fmla="*/ 6 h 28"/>
                  <a:gd name="T22" fmla="*/ 19 w 28"/>
                  <a:gd name="T23" fmla="*/ 9 h 28"/>
                  <a:gd name="T24" fmla="*/ 19 w 28"/>
                  <a:gd name="T25" fmla="*/ 13 h 28"/>
                  <a:gd name="T26" fmla="*/ 22 w 28"/>
                  <a:gd name="T27" fmla="*/ 16 h 28"/>
                  <a:gd name="T28" fmla="*/ 22 w 28"/>
                  <a:gd name="T29" fmla="*/ 19 h 28"/>
                  <a:gd name="T30" fmla="*/ 22 w 28"/>
                  <a:gd name="T31" fmla="*/ 22 h 28"/>
                  <a:gd name="T32" fmla="*/ 22 w 28"/>
                  <a:gd name="T33" fmla="*/ 25 h 28"/>
                  <a:gd name="T34" fmla="*/ 22 w 28"/>
                  <a:gd name="T35" fmla="*/ 25 h 28"/>
                  <a:gd name="T36" fmla="*/ 22 w 28"/>
                  <a:gd name="T37" fmla="*/ 25 h 28"/>
                  <a:gd name="T38" fmla="*/ 22 w 28"/>
                  <a:gd name="T39" fmla="*/ 28 h 28"/>
                  <a:gd name="T40" fmla="*/ 22 w 28"/>
                  <a:gd name="T41" fmla="*/ 28 h 28"/>
                  <a:gd name="T42" fmla="*/ 25 w 28"/>
                  <a:gd name="T43" fmla="*/ 28 h 28"/>
                  <a:gd name="T44" fmla="*/ 25 w 28"/>
                  <a:gd name="T45" fmla="*/ 28 h 28"/>
                  <a:gd name="T46" fmla="*/ 28 w 28"/>
                  <a:gd name="T47" fmla="*/ 28 h 28"/>
                  <a:gd name="T48" fmla="*/ 28 w 28"/>
                  <a:gd name="T49" fmla="*/ 25 h 28"/>
                  <a:gd name="T50" fmla="*/ 28 w 28"/>
                  <a:gd name="T51" fmla="*/ 22 h 28"/>
                  <a:gd name="T52" fmla="*/ 28 w 28"/>
                  <a:gd name="T53" fmla="*/ 19 h 28"/>
                  <a:gd name="T54" fmla="*/ 28 w 28"/>
                  <a:gd name="T55" fmla="*/ 16 h 28"/>
                  <a:gd name="T56" fmla="*/ 28 w 28"/>
                  <a:gd name="T57" fmla="*/ 9 h 28"/>
                  <a:gd name="T58" fmla="*/ 25 w 28"/>
                  <a:gd name="T59" fmla="*/ 6 h 28"/>
                  <a:gd name="T60" fmla="*/ 22 w 28"/>
                  <a:gd name="T61" fmla="*/ 0 h 28"/>
                  <a:gd name="T62" fmla="*/ 15 w 28"/>
                  <a:gd name="T63" fmla="*/ 0 h 28"/>
                  <a:gd name="T64" fmla="*/ 9 w 28"/>
                  <a:gd name="T65" fmla="*/ 0 h 28"/>
                  <a:gd name="T66" fmla="*/ 3 w 28"/>
                  <a:gd name="T67" fmla="*/ 3 h 28"/>
                  <a:gd name="T68" fmla="*/ 0 w 28"/>
                  <a:gd name="T69" fmla="*/ 6 h 28"/>
                  <a:gd name="T70" fmla="*/ 0 w 28"/>
                  <a:gd name="T71" fmla="*/ 13 h 28"/>
                  <a:gd name="T72" fmla="*/ 0 w 28"/>
                  <a:gd name="T73" fmla="*/ 16 h 28"/>
                  <a:gd name="T74" fmla="*/ 0 w 28"/>
                  <a:gd name="T75" fmla="*/ 19 h 28"/>
                  <a:gd name="T76" fmla="*/ 0 w 28"/>
                  <a:gd name="T77" fmla="*/ 22 h 28"/>
                  <a:gd name="T78" fmla="*/ 3 w 28"/>
                  <a:gd name="T79" fmla="*/ 25 h 28"/>
                  <a:gd name="T80" fmla="*/ 3 w 28"/>
                  <a:gd name="T81" fmla="*/ 25 h 28"/>
                  <a:gd name="T82" fmla="*/ 3 w 28"/>
                  <a:gd name="T83" fmla="*/ 25 h 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28"/>
                  <a:gd name="T128" fmla="*/ 28 w 28"/>
                  <a:gd name="T129" fmla="*/ 28 h 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28">
                    <a:moveTo>
                      <a:pt x="3" y="25"/>
                    </a:moveTo>
                    <a:lnTo>
                      <a:pt x="3" y="25"/>
                    </a:lnTo>
                    <a:lnTo>
                      <a:pt x="3" y="22"/>
                    </a:lnTo>
                    <a:lnTo>
                      <a:pt x="3" y="19"/>
                    </a:lnTo>
                    <a:lnTo>
                      <a:pt x="3" y="16"/>
                    </a:lnTo>
                    <a:lnTo>
                      <a:pt x="3" y="13"/>
                    </a:lnTo>
                    <a:lnTo>
                      <a:pt x="6" y="9"/>
                    </a:lnTo>
                    <a:lnTo>
                      <a:pt x="9" y="6"/>
                    </a:lnTo>
                    <a:lnTo>
                      <a:pt x="12" y="6"/>
                    </a:lnTo>
                    <a:lnTo>
                      <a:pt x="15" y="6"/>
                    </a:lnTo>
                    <a:lnTo>
                      <a:pt x="19" y="9"/>
                    </a:lnTo>
                    <a:lnTo>
                      <a:pt x="19" y="13"/>
                    </a:lnTo>
                    <a:lnTo>
                      <a:pt x="22" y="16"/>
                    </a:lnTo>
                    <a:lnTo>
                      <a:pt x="22" y="19"/>
                    </a:lnTo>
                    <a:lnTo>
                      <a:pt x="22" y="22"/>
                    </a:lnTo>
                    <a:lnTo>
                      <a:pt x="22" y="25"/>
                    </a:lnTo>
                    <a:lnTo>
                      <a:pt x="22" y="28"/>
                    </a:lnTo>
                    <a:lnTo>
                      <a:pt x="25" y="28"/>
                    </a:lnTo>
                    <a:lnTo>
                      <a:pt x="28" y="28"/>
                    </a:lnTo>
                    <a:lnTo>
                      <a:pt x="28" y="25"/>
                    </a:lnTo>
                    <a:lnTo>
                      <a:pt x="28" y="22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9"/>
                    </a:lnTo>
                    <a:lnTo>
                      <a:pt x="25" y="6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9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29" name="Freeform 398"/>
              <p:cNvSpPr>
                <a:spLocks/>
              </p:cNvSpPr>
              <p:nvPr/>
            </p:nvSpPr>
            <p:spPr bwMode="auto">
              <a:xfrm>
                <a:off x="3697" y="2365"/>
                <a:ext cx="28" cy="25"/>
              </a:xfrm>
              <a:custGeom>
                <a:avLst/>
                <a:gdLst>
                  <a:gd name="T0" fmla="*/ 3 w 28"/>
                  <a:gd name="T1" fmla="*/ 22 h 25"/>
                  <a:gd name="T2" fmla="*/ 3 w 28"/>
                  <a:gd name="T3" fmla="*/ 22 h 25"/>
                  <a:gd name="T4" fmla="*/ 3 w 28"/>
                  <a:gd name="T5" fmla="*/ 18 h 25"/>
                  <a:gd name="T6" fmla="*/ 3 w 28"/>
                  <a:gd name="T7" fmla="*/ 18 h 25"/>
                  <a:gd name="T8" fmla="*/ 3 w 28"/>
                  <a:gd name="T9" fmla="*/ 15 h 25"/>
                  <a:gd name="T10" fmla="*/ 3 w 28"/>
                  <a:gd name="T11" fmla="*/ 12 h 25"/>
                  <a:gd name="T12" fmla="*/ 3 w 28"/>
                  <a:gd name="T13" fmla="*/ 9 h 25"/>
                  <a:gd name="T14" fmla="*/ 6 w 28"/>
                  <a:gd name="T15" fmla="*/ 6 h 25"/>
                  <a:gd name="T16" fmla="*/ 9 w 28"/>
                  <a:gd name="T17" fmla="*/ 6 h 25"/>
                  <a:gd name="T18" fmla="*/ 12 w 28"/>
                  <a:gd name="T19" fmla="*/ 3 h 25"/>
                  <a:gd name="T20" fmla="*/ 15 w 28"/>
                  <a:gd name="T21" fmla="*/ 6 h 25"/>
                  <a:gd name="T22" fmla="*/ 18 w 28"/>
                  <a:gd name="T23" fmla="*/ 6 h 25"/>
                  <a:gd name="T24" fmla="*/ 18 w 28"/>
                  <a:gd name="T25" fmla="*/ 9 h 25"/>
                  <a:gd name="T26" fmla="*/ 21 w 28"/>
                  <a:gd name="T27" fmla="*/ 12 h 25"/>
                  <a:gd name="T28" fmla="*/ 21 w 28"/>
                  <a:gd name="T29" fmla="*/ 15 h 25"/>
                  <a:gd name="T30" fmla="*/ 21 w 28"/>
                  <a:gd name="T31" fmla="*/ 18 h 25"/>
                  <a:gd name="T32" fmla="*/ 18 w 28"/>
                  <a:gd name="T33" fmla="*/ 22 h 25"/>
                  <a:gd name="T34" fmla="*/ 18 w 28"/>
                  <a:gd name="T35" fmla="*/ 22 h 25"/>
                  <a:gd name="T36" fmla="*/ 18 w 28"/>
                  <a:gd name="T37" fmla="*/ 22 h 25"/>
                  <a:gd name="T38" fmla="*/ 21 w 28"/>
                  <a:gd name="T39" fmla="*/ 22 h 25"/>
                  <a:gd name="T40" fmla="*/ 21 w 28"/>
                  <a:gd name="T41" fmla="*/ 22 h 25"/>
                  <a:gd name="T42" fmla="*/ 21 w 28"/>
                  <a:gd name="T43" fmla="*/ 25 h 25"/>
                  <a:gd name="T44" fmla="*/ 25 w 28"/>
                  <a:gd name="T45" fmla="*/ 22 h 25"/>
                  <a:gd name="T46" fmla="*/ 25 w 28"/>
                  <a:gd name="T47" fmla="*/ 22 h 25"/>
                  <a:gd name="T48" fmla="*/ 25 w 28"/>
                  <a:gd name="T49" fmla="*/ 22 h 25"/>
                  <a:gd name="T50" fmla="*/ 28 w 28"/>
                  <a:gd name="T51" fmla="*/ 18 h 25"/>
                  <a:gd name="T52" fmla="*/ 28 w 28"/>
                  <a:gd name="T53" fmla="*/ 15 h 25"/>
                  <a:gd name="T54" fmla="*/ 28 w 28"/>
                  <a:gd name="T55" fmla="*/ 12 h 25"/>
                  <a:gd name="T56" fmla="*/ 25 w 28"/>
                  <a:gd name="T57" fmla="*/ 6 h 25"/>
                  <a:gd name="T58" fmla="*/ 21 w 28"/>
                  <a:gd name="T59" fmla="*/ 3 h 25"/>
                  <a:gd name="T60" fmla="*/ 18 w 28"/>
                  <a:gd name="T61" fmla="*/ 0 h 25"/>
                  <a:gd name="T62" fmla="*/ 15 w 28"/>
                  <a:gd name="T63" fmla="*/ 0 h 25"/>
                  <a:gd name="T64" fmla="*/ 9 w 28"/>
                  <a:gd name="T65" fmla="*/ 0 h 25"/>
                  <a:gd name="T66" fmla="*/ 3 w 28"/>
                  <a:gd name="T67" fmla="*/ 0 h 25"/>
                  <a:gd name="T68" fmla="*/ 0 w 28"/>
                  <a:gd name="T69" fmla="*/ 3 h 25"/>
                  <a:gd name="T70" fmla="*/ 0 w 28"/>
                  <a:gd name="T71" fmla="*/ 9 h 25"/>
                  <a:gd name="T72" fmla="*/ 0 w 28"/>
                  <a:gd name="T73" fmla="*/ 12 h 25"/>
                  <a:gd name="T74" fmla="*/ 0 w 28"/>
                  <a:gd name="T75" fmla="*/ 15 h 25"/>
                  <a:gd name="T76" fmla="*/ 3 w 28"/>
                  <a:gd name="T77" fmla="*/ 18 h 25"/>
                  <a:gd name="T78" fmla="*/ 3 w 28"/>
                  <a:gd name="T79" fmla="*/ 22 h 25"/>
                  <a:gd name="T80" fmla="*/ 3 w 28"/>
                  <a:gd name="T81" fmla="*/ 22 h 25"/>
                  <a:gd name="T82" fmla="*/ 3 w 28"/>
                  <a:gd name="T83" fmla="*/ 22 h 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25"/>
                  <a:gd name="T128" fmla="*/ 28 w 28"/>
                  <a:gd name="T129" fmla="*/ 25 h 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25">
                    <a:moveTo>
                      <a:pt x="3" y="22"/>
                    </a:moveTo>
                    <a:lnTo>
                      <a:pt x="3" y="22"/>
                    </a:lnTo>
                    <a:lnTo>
                      <a:pt x="3" y="18"/>
                    </a:lnTo>
                    <a:lnTo>
                      <a:pt x="3" y="15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6" y="6"/>
                    </a:lnTo>
                    <a:lnTo>
                      <a:pt x="9" y="6"/>
                    </a:lnTo>
                    <a:lnTo>
                      <a:pt x="12" y="3"/>
                    </a:lnTo>
                    <a:lnTo>
                      <a:pt x="15" y="6"/>
                    </a:lnTo>
                    <a:lnTo>
                      <a:pt x="18" y="6"/>
                    </a:lnTo>
                    <a:lnTo>
                      <a:pt x="18" y="9"/>
                    </a:lnTo>
                    <a:lnTo>
                      <a:pt x="21" y="12"/>
                    </a:lnTo>
                    <a:lnTo>
                      <a:pt x="21" y="15"/>
                    </a:lnTo>
                    <a:lnTo>
                      <a:pt x="21" y="18"/>
                    </a:lnTo>
                    <a:lnTo>
                      <a:pt x="18" y="22"/>
                    </a:lnTo>
                    <a:lnTo>
                      <a:pt x="21" y="22"/>
                    </a:lnTo>
                    <a:lnTo>
                      <a:pt x="21" y="25"/>
                    </a:lnTo>
                    <a:lnTo>
                      <a:pt x="25" y="22"/>
                    </a:lnTo>
                    <a:lnTo>
                      <a:pt x="28" y="18"/>
                    </a:lnTo>
                    <a:lnTo>
                      <a:pt x="28" y="15"/>
                    </a:lnTo>
                    <a:lnTo>
                      <a:pt x="28" y="12"/>
                    </a:lnTo>
                    <a:lnTo>
                      <a:pt x="25" y="6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9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3" y="18"/>
                    </a:ln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0" name="Freeform 399"/>
              <p:cNvSpPr>
                <a:spLocks/>
              </p:cNvSpPr>
              <p:nvPr/>
            </p:nvSpPr>
            <p:spPr bwMode="auto">
              <a:xfrm>
                <a:off x="3722" y="2353"/>
                <a:ext cx="24" cy="21"/>
              </a:xfrm>
              <a:custGeom>
                <a:avLst/>
                <a:gdLst>
                  <a:gd name="T0" fmla="*/ 3 w 24"/>
                  <a:gd name="T1" fmla="*/ 21 h 21"/>
                  <a:gd name="T2" fmla="*/ 3 w 24"/>
                  <a:gd name="T3" fmla="*/ 21 h 21"/>
                  <a:gd name="T4" fmla="*/ 3 w 24"/>
                  <a:gd name="T5" fmla="*/ 18 h 21"/>
                  <a:gd name="T6" fmla="*/ 3 w 24"/>
                  <a:gd name="T7" fmla="*/ 18 h 21"/>
                  <a:gd name="T8" fmla="*/ 3 w 24"/>
                  <a:gd name="T9" fmla="*/ 15 h 21"/>
                  <a:gd name="T10" fmla="*/ 3 w 24"/>
                  <a:gd name="T11" fmla="*/ 12 h 21"/>
                  <a:gd name="T12" fmla="*/ 3 w 24"/>
                  <a:gd name="T13" fmla="*/ 9 h 21"/>
                  <a:gd name="T14" fmla="*/ 6 w 24"/>
                  <a:gd name="T15" fmla="*/ 9 h 21"/>
                  <a:gd name="T16" fmla="*/ 6 w 24"/>
                  <a:gd name="T17" fmla="*/ 6 h 21"/>
                  <a:gd name="T18" fmla="*/ 9 w 24"/>
                  <a:gd name="T19" fmla="*/ 6 h 21"/>
                  <a:gd name="T20" fmla="*/ 12 w 24"/>
                  <a:gd name="T21" fmla="*/ 6 h 21"/>
                  <a:gd name="T22" fmla="*/ 15 w 24"/>
                  <a:gd name="T23" fmla="*/ 9 h 21"/>
                  <a:gd name="T24" fmla="*/ 15 w 24"/>
                  <a:gd name="T25" fmla="*/ 12 h 21"/>
                  <a:gd name="T26" fmla="*/ 18 w 24"/>
                  <a:gd name="T27" fmla="*/ 12 h 21"/>
                  <a:gd name="T28" fmla="*/ 18 w 24"/>
                  <a:gd name="T29" fmla="*/ 15 h 21"/>
                  <a:gd name="T30" fmla="*/ 18 w 24"/>
                  <a:gd name="T31" fmla="*/ 18 h 21"/>
                  <a:gd name="T32" fmla="*/ 15 w 24"/>
                  <a:gd name="T33" fmla="*/ 21 h 21"/>
                  <a:gd name="T34" fmla="*/ 18 w 24"/>
                  <a:gd name="T35" fmla="*/ 21 h 21"/>
                  <a:gd name="T36" fmla="*/ 18 w 24"/>
                  <a:gd name="T37" fmla="*/ 21 h 21"/>
                  <a:gd name="T38" fmla="*/ 21 w 24"/>
                  <a:gd name="T39" fmla="*/ 21 h 21"/>
                  <a:gd name="T40" fmla="*/ 21 w 24"/>
                  <a:gd name="T41" fmla="*/ 21 h 21"/>
                  <a:gd name="T42" fmla="*/ 24 w 24"/>
                  <a:gd name="T43" fmla="*/ 18 h 21"/>
                  <a:gd name="T44" fmla="*/ 24 w 24"/>
                  <a:gd name="T45" fmla="*/ 15 h 21"/>
                  <a:gd name="T46" fmla="*/ 21 w 24"/>
                  <a:gd name="T47" fmla="*/ 12 h 21"/>
                  <a:gd name="T48" fmla="*/ 21 w 24"/>
                  <a:gd name="T49" fmla="*/ 9 h 21"/>
                  <a:gd name="T50" fmla="*/ 18 w 24"/>
                  <a:gd name="T51" fmla="*/ 6 h 21"/>
                  <a:gd name="T52" fmla="*/ 18 w 24"/>
                  <a:gd name="T53" fmla="*/ 3 h 21"/>
                  <a:gd name="T54" fmla="*/ 12 w 24"/>
                  <a:gd name="T55" fmla="*/ 0 h 21"/>
                  <a:gd name="T56" fmla="*/ 9 w 24"/>
                  <a:gd name="T57" fmla="*/ 0 h 21"/>
                  <a:gd name="T58" fmla="*/ 3 w 24"/>
                  <a:gd name="T59" fmla="*/ 3 h 21"/>
                  <a:gd name="T60" fmla="*/ 0 w 24"/>
                  <a:gd name="T61" fmla="*/ 6 h 21"/>
                  <a:gd name="T62" fmla="*/ 0 w 24"/>
                  <a:gd name="T63" fmla="*/ 9 h 21"/>
                  <a:gd name="T64" fmla="*/ 0 w 24"/>
                  <a:gd name="T65" fmla="*/ 12 h 21"/>
                  <a:gd name="T66" fmla="*/ 0 w 24"/>
                  <a:gd name="T67" fmla="*/ 15 h 21"/>
                  <a:gd name="T68" fmla="*/ 0 w 24"/>
                  <a:gd name="T69" fmla="*/ 18 h 21"/>
                  <a:gd name="T70" fmla="*/ 3 w 24"/>
                  <a:gd name="T71" fmla="*/ 21 h 21"/>
                  <a:gd name="T72" fmla="*/ 3 w 24"/>
                  <a:gd name="T73" fmla="*/ 21 h 21"/>
                  <a:gd name="T74" fmla="*/ 3 w 24"/>
                  <a:gd name="T75" fmla="*/ 21 h 2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"/>
                  <a:gd name="T115" fmla="*/ 0 h 21"/>
                  <a:gd name="T116" fmla="*/ 24 w 24"/>
                  <a:gd name="T117" fmla="*/ 21 h 2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" h="21">
                    <a:moveTo>
                      <a:pt x="3" y="21"/>
                    </a:moveTo>
                    <a:lnTo>
                      <a:pt x="3" y="21"/>
                    </a:lnTo>
                    <a:lnTo>
                      <a:pt x="3" y="18"/>
                    </a:lnTo>
                    <a:lnTo>
                      <a:pt x="3" y="15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9" y="6"/>
                    </a:lnTo>
                    <a:lnTo>
                      <a:pt x="12" y="6"/>
                    </a:lnTo>
                    <a:lnTo>
                      <a:pt x="15" y="9"/>
                    </a:lnTo>
                    <a:lnTo>
                      <a:pt x="15" y="12"/>
                    </a:lnTo>
                    <a:lnTo>
                      <a:pt x="18" y="12"/>
                    </a:lnTo>
                    <a:lnTo>
                      <a:pt x="18" y="15"/>
                    </a:lnTo>
                    <a:lnTo>
                      <a:pt x="18" y="18"/>
                    </a:lnTo>
                    <a:lnTo>
                      <a:pt x="15" y="21"/>
                    </a:lnTo>
                    <a:lnTo>
                      <a:pt x="18" y="21"/>
                    </a:lnTo>
                    <a:lnTo>
                      <a:pt x="21" y="21"/>
                    </a:lnTo>
                    <a:lnTo>
                      <a:pt x="24" y="18"/>
                    </a:lnTo>
                    <a:lnTo>
                      <a:pt x="24" y="15"/>
                    </a:lnTo>
                    <a:lnTo>
                      <a:pt x="21" y="12"/>
                    </a:lnTo>
                    <a:lnTo>
                      <a:pt x="21" y="9"/>
                    </a:lnTo>
                    <a:lnTo>
                      <a:pt x="18" y="6"/>
                    </a:lnTo>
                    <a:lnTo>
                      <a:pt x="18" y="3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3" y="2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1" name="Freeform 400"/>
              <p:cNvSpPr>
                <a:spLocks/>
              </p:cNvSpPr>
              <p:nvPr/>
            </p:nvSpPr>
            <p:spPr bwMode="auto">
              <a:xfrm>
                <a:off x="3743" y="2346"/>
                <a:ext cx="19" cy="19"/>
              </a:xfrm>
              <a:custGeom>
                <a:avLst/>
                <a:gdLst>
                  <a:gd name="T0" fmla="*/ 3 w 19"/>
                  <a:gd name="T1" fmla="*/ 19 h 19"/>
                  <a:gd name="T2" fmla="*/ 3 w 19"/>
                  <a:gd name="T3" fmla="*/ 19 h 19"/>
                  <a:gd name="T4" fmla="*/ 0 w 19"/>
                  <a:gd name="T5" fmla="*/ 16 h 19"/>
                  <a:gd name="T6" fmla="*/ 0 w 19"/>
                  <a:gd name="T7" fmla="*/ 16 h 19"/>
                  <a:gd name="T8" fmla="*/ 0 w 19"/>
                  <a:gd name="T9" fmla="*/ 13 h 19"/>
                  <a:gd name="T10" fmla="*/ 0 w 19"/>
                  <a:gd name="T11" fmla="*/ 10 h 19"/>
                  <a:gd name="T12" fmla="*/ 3 w 19"/>
                  <a:gd name="T13" fmla="*/ 10 h 19"/>
                  <a:gd name="T14" fmla="*/ 3 w 19"/>
                  <a:gd name="T15" fmla="*/ 7 h 19"/>
                  <a:gd name="T16" fmla="*/ 6 w 19"/>
                  <a:gd name="T17" fmla="*/ 7 h 19"/>
                  <a:gd name="T18" fmla="*/ 9 w 19"/>
                  <a:gd name="T19" fmla="*/ 3 h 19"/>
                  <a:gd name="T20" fmla="*/ 9 w 19"/>
                  <a:gd name="T21" fmla="*/ 7 h 19"/>
                  <a:gd name="T22" fmla="*/ 13 w 19"/>
                  <a:gd name="T23" fmla="*/ 7 h 19"/>
                  <a:gd name="T24" fmla="*/ 13 w 19"/>
                  <a:gd name="T25" fmla="*/ 10 h 19"/>
                  <a:gd name="T26" fmla="*/ 16 w 19"/>
                  <a:gd name="T27" fmla="*/ 13 h 19"/>
                  <a:gd name="T28" fmla="*/ 16 w 19"/>
                  <a:gd name="T29" fmla="*/ 13 h 19"/>
                  <a:gd name="T30" fmla="*/ 16 w 19"/>
                  <a:gd name="T31" fmla="*/ 16 h 19"/>
                  <a:gd name="T32" fmla="*/ 16 w 19"/>
                  <a:gd name="T33" fmla="*/ 19 h 19"/>
                  <a:gd name="T34" fmla="*/ 16 w 19"/>
                  <a:gd name="T35" fmla="*/ 19 h 19"/>
                  <a:gd name="T36" fmla="*/ 16 w 19"/>
                  <a:gd name="T37" fmla="*/ 19 h 19"/>
                  <a:gd name="T38" fmla="*/ 19 w 19"/>
                  <a:gd name="T39" fmla="*/ 19 h 19"/>
                  <a:gd name="T40" fmla="*/ 19 w 19"/>
                  <a:gd name="T41" fmla="*/ 19 h 19"/>
                  <a:gd name="T42" fmla="*/ 19 w 19"/>
                  <a:gd name="T43" fmla="*/ 16 h 19"/>
                  <a:gd name="T44" fmla="*/ 19 w 19"/>
                  <a:gd name="T45" fmla="*/ 13 h 19"/>
                  <a:gd name="T46" fmla="*/ 19 w 19"/>
                  <a:gd name="T47" fmla="*/ 10 h 19"/>
                  <a:gd name="T48" fmla="*/ 19 w 19"/>
                  <a:gd name="T49" fmla="*/ 7 h 19"/>
                  <a:gd name="T50" fmla="*/ 16 w 19"/>
                  <a:gd name="T51" fmla="*/ 3 h 19"/>
                  <a:gd name="T52" fmla="*/ 16 w 19"/>
                  <a:gd name="T53" fmla="*/ 0 h 19"/>
                  <a:gd name="T54" fmla="*/ 13 w 19"/>
                  <a:gd name="T55" fmla="*/ 0 h 19"/>
                  <a:gd name="T56" fmla="*/ 6 w 19"/>
                  <a:gd name="T57" fmla="*/ 0 h 19"/>
                  <a:gd name="T58" fmla="*/ 3 w 19"/>
                  <a:gd name="T59" fmla="*/ 3 h 19"/>
                  <a:gd name="T60" fmla="*/ 0 w 19"/>
                  <a:gd name="T61" fmla="*/ 3 h 19"/>
                  <a:gd name="T62" fmla="*/ 0 w 19"/>
                  <a:gd name="T63" fmla="*/ 7 h 19"/>
                  <a:gd name="T64" fmla="*/ 0 w 19"/>
                  <a:gd name="T65" fmla="*/ 10 h 19"/>
                  <a:gd name="T66" fmla="*/ 0 w 19"/>
                  <a:gd name="T67" fmla="*/ 13 h 19"/>
                  <a:gd name="T68" fmla="*/ 0 w 19"/>
                  <a:gd name="T69" fmla="*/ 16 h 19"/>
                  <a:gd name="T70" fmla="*/ 0 w 19"/>
                  <a:gd name="T71" fmla="*/ 19 h 19"/>
                  <a:gd name="T72" fmla="*/ 3 w 19"/>
                  <a:gd name="T73" fmla="*/ 19 h 19"/>
                  <a:gd name="T74" fmla="*/ 3 w 19"/>
                  <a:gd name="T75" fmla="*/ 19 h 1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9"/>
                  <a:gd name="T115" fmla="*/ 0 h 19"/>
                  <a:gd name="T116" fmla="*/ 19 w 19"/>
                  <a:gd name="T117" fmla="*/ 19 h 1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9" h="19">
                    <a:moveTo>
                      <a:pt x="3" y="19"/>
                    </a:moveTo>
                    <a:lnTo>
                      <a:pt x="3" y="19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6" y="7"/>
                    </a:lnTo>
                    <a:lnTo>
                      <a:pt x="9" y="3"/>
                    </a:lnTo>
                    <a:lnTo>
                      <a:pt x="9" y="7"/>
                    </a:lnTo>
                    <a:lnTo>
                      <a:pt x="13" y="7"/>
                    </a:lnTo>
                    <a:lnTo>
                      <a:pt x="13" y="10"/>
                    </a:lnTo>
                    <a:lnTo>
                      <a:pt x="16" y="13"/>
                    </a:lnTo>
                    <a:lnTo>
                      <a:pt x="16" y="16"/>
                    </a:lnTo>
                    <a:lnTo>
                      <a:pt x="16" y="19"/>
                    </a:lnTo>
                    <a:lnTo>
                      <a:pt x="19" y="19"/>
                    </a:lnTo>
                    <a:lnTo>
                      <a:pt x="19" y="16"/>
                    </a:lnTo>
                    <a:lnTo>
                      <a:pt x="19" y="13"/>
                    </a:lnTo>
                    <a:lnTo>
                      <a:pt x="19" y="10"/>
                    </a:lnTo>
                    <a:lnTo>
                      <a:pt x="19" y="7"/>
                    </a:lnTo>
                    <a:lnTo>
                      <a:pt x="16" y="3"/>
                    </a:lnTo>
                    <a:lnTo>
                      <a:pt x="16" y="0"/>
                    </a:lnTo>
                    <a:lnTo>
                      <a:pt x="13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3" y="1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2" name="Freeform 401"/>
              <p:cNvSpPr>
                <a:spLocks/>
              </p:cNvSpPr>
              <p:nvPr/>
            </p:nvSpPr>
            <p:spPr bwMode="auto">
              <a:xfrm>
                <a:off x="3759" y="2337"/>
                <a:ext cx="21" cy="19"/>
              </a:xfrm>
              <a:custGeom>
                <a:avLst/>
                <a:gdLst>
                  <a:gd name="T0" fmla="*/ 3 w 21"/>
                  <a:gd name="T1" fmla="*/ 19 h 19"/>
                  <a:gd name="T2" fmla="*/ 3 w 21"/>
                  <a:gd name="T3" fmla="*/ 19 h 19"/>
                  <a:gd name="T4" fmla="*/ 3 w 21"/>
                  <a:gd name="T5" fmla="*/ 19 h 19"/>
                  <a:gd name="T6" fmla="*/ 3 w 21"/>
                  <a:gd name="T7" fmla="*/ 16 h 19"/>
                  <a:gd name="T8" fmla="*/ 3 w 21"/>
                  <a:gd name="T9" fmla="*/ 12 h 19"/>
                  <a:gd name="T10" fmla="*/ 3 w 21"/>
                  <a:gd name="T11" fmla="*/ 12 h 19"/>
                  <a:gd name="T12" fmla="*/ 3 w 21"/>
                  <a:gd name="T13" fmla="*/ 9 h 19"/>
                  <a:gd name="T14" fmla="*/ 3 w 21"/>
                  <a:gd name="T15" fmla="*/ 6 h 19"/>
                  <a:gd name="T16" fmla="*/ 6 w 21"/>
                  <a:gd name="T17" fmla="*/ 6 h 19"/>
                  <a:gd name="T18" fmla="*/ 9 w 21"/>
                  <a:gd name="T19" fmla="*/ 6 h 19"/>
                  <a:gd name="T20" fmla="*/ 12 w 21"/>
                  <a:gd name="T21" fmla="*/ 6 h 19"/>
                  <a:gd name="T22" fmla="*/ 12 w 21"/>
                  <a:gd name="T23" fmla="*/ 6 h 19"/>
                  <a:gd name="T24" fmla="*/ 15 w 21"/>
                  <a:gd name="T25" fmla="*/ 9 h 19"/>
                  <a:gd name="T26" fmla="*/ 15 w 21"/>
                  <a:gd name="T27" fmla="*/ 12 h 19"/>
                  <a:gd name="T28" fmla="*/ 15 w 21"/>
                  <a:gd name="T29" fmla="*/ 16 h 19"/>
                  <a:gd name="T30" fmla="*/ 15 w 21"/>
                  <a:gd name="T31" fmla="*/ 16 h 19"/>
                  <a:gd name="T32" fmla="*/ 15 w 21"/>
                  <a:gd name="T33" fmla="*/ 19 h 19"/>
                  <a:gd name="T34" fmla="*/ 15 w 21"/>
                  <a:gd name="T35" fmla="*/ 19 h 19"/>
                  <a:gd name="T36" fmla="*/ 15 w 21"/>
                  <a:gd name="T37" fmla="*/ 19 h 19"/>
                  <a:gd name="T38" fmla="*/ 18 w 21"/>
                  <a:gd name="T39" fmla="*/ 19 h 19"/>
                  <a:gd name="T40" fmla="*/ 18 w 21"/>
                  <a:gd name="T41" fmla="*/ 19 h 19"/>
                  <a:gd name="T42" fmla="*/ 18 w 21"/>
                  <a:gd name="T43" fmla="*/ 16 h 19"/>
                  <a:gd name="T44" fmla="*/ 21 w 21"/>
                  <a:gd name="T45" fmla="*/ 12 h 19"/>
                  <a:gd name="T46" fmla="*/ 18 w 21"/>
                  <a:gd name="T47" fmla="*/ 9 h 19"/>
                  <a:gd name="T48" fmla="*/ 18 w 21"/>
                  <a:gd name="T49" fmla="*/ 6 h 19"/>
                  <a:gd name="T50" fmla="*/ 18 w 21"/>
                  <a:gd name="T51" fmla="*/ 3 h 19"/>
                  <a:gd name="T52" fmla="*/ 15 w 21"/>
                  <a:gd name="T53" fmla="*/ 3 h 19"/>
                  <a:gd name="T54" fmla="*/ 12 w 21"/>
                  <a:gd name="T55" fmla="*/ 0 h 19"/>
                  <a:gd name="T56" fmla="*/ 6 w 21"/>
                  <a:gd name="T57" fmla="*/ 0 h 19"/>
                  <a:gd name="T58" fmla="*/ 3 w 21"/>
                  <a:gd name="T59" fmla="*/ 3 h 19"/>
                  <a:gd name="T60" fmla="*/ 0 w 21"/>
                  <a:gd name="T61" fmla="*/ 6 h 19"/>
                  <a:gd name="T62" fmla="*/ 0 w 21"/>
                  <a:gd name="T63" fmla="*/ 9 h 19"/>
                  <a:gd name="T64" fmla="*/ 0 w 21"/>
                  <a:gd name="T65" fmla="*/ 12 h 19"/>
                  <a:gd name="T66" fmla="*/ 0 w 21"/>
                  <a:gd name="T67" fmla="*/ 16 h 19"/>
                  <a:gd name="T68" fmla="*/ 0 w 21"/>
                  <a:gd name="T69" fmla="*/ 16 h 19"/>
                  <a:gd name="T70" fmla="*/ 3 w 21"/>
                  <a:gd name="T71" fmla="*/ 19 h 19"/>
                  <a:gd name="T72" fmla="*/ 3 w 21"/>
                  <a:gd name="T73" fmla="*/ 19 h 19"/>
                  <a:gd name="T74" fmla="*/ 3 w 21"/>
                  <a:gd name="T75" fmla="*/ 19 h 1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1"/>
                  <a:gd name="T115" fmla="*/ 0 h 19"/>
                  <a:gd name="T116" fmla="*/ 21 w 21"/>
                  <a:gd name="T117" fmla="*/ 19 h 1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1" h="19">
                    <a:moveTo>
                      <a:pt x="3" y="19"/>
                    </a:moveTo>
                    <a:lnTo>
                      <a:pt x="3" y="19"/>
                    </a:lnTo>
                    <a:lnTo>
                      <a:pt x="3" y="16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3" y="6"/>
                    </a:lnTo>
                    <a:lnTo>
                      <a:pt x="6" y="6"/>
                    </a:lnTo>
                    <a:lnTo>
                      <a:pt x="9" y="6"/>
                    </a:lnTo>
                    <a:lnTo>
                      <a:pt x="12" y="6"/>
                    </a:lnTo>
                    <a:lnTo>
                      <a:pt x="15" y="9"/>
                    </a:lnTo>
                    <a:lnTo>
                      <a:pt x="15" y="12"/>
                    </a:lnTo>
                    <a:lnTo>
                      <a:pt x="15" y="16"/>
                    </a:lnTo>
                    <a:lnTo>
                      <a:pt x="15" y="19"/>
                    </a:lnTo>
                    <a:lnTo>
                      <a:pt x="18" y="19"/>
                    </a:lnTo>
                    <a:lnTo>
                      <a:pt x="18" y="16"/>
                    </a:lnTo>
                    <a:lnTo>
                      <a:pt x="21" y="12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8" y="3"/>
                    </a:lnTo>
                    <a:lnTo>
                      <a:pt x="15" y="3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3" y="1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3" name="Freeform 402"/>
              <p:cNvSpPr>
                <a:spLocks/>
              </p:cNvSpPr>
              <p:nvPr/>
            </p:nvSpPr>
            <p:spPr bwMode="auto">
              <a:xfrm>
                <a:off x="3552" y="2343"/>
                <a:ext cx="231" cy="115"/>
              </a:xfrm>
              <a:custGeom>
                <a:avLst/>
                <a:gdLst>
                  <a:gd name="T0" fmla="*/ 3 w 231"/>
                  <a:gd name="T1" fmla="*/ 108 h 115"/>
                  <a:gd name="T2" fmla="*/ 9 w 231"/>
                  <a:gd name="T3" fmla="*/ 105 h 115"/>
                  <a:gd name="T4" fmla="*/ 18 w 231"/>
                  <a:gd name="T5" fmla="*/ 102 h 115"/>
                  <a:gd name="T6" fmla="*/ 31 w 231"/>
                  <a:gd name="T7" fmla="*/ 96 h 115"/>
                  <a:gd name="T8" fmla="*/ 46 w 231"/>
                  <a:gd name="T9" fmla="*/ 87 h 115"/>
                  <a:gd name="T10" fmla="*/ 65 w 231"/>
                  <a:gd name="T11" fmla="*/ 78 h 115"/>
                  <a:gd name="T12" fmla="*/ 86 w 231"/>
                  <a:gd name="T13" fmla="*/ 68 h 115"/>
                  <a:gd name="T14" fmla="*/ 105 w 231"/>
                  <a:gd name="T15" fmla="*/ 59 h 115"/>
                  <a:gd name="T16" fmla="*/ 126 w 231"/>
                  <a:gd name="T17" fmla="*/ 50 h 115"/>
                  <a:gd name="T18" fmla="*/ 148 w 231"/>
                  <a:gd name="T19" fmla="*/ 40 h 115"/>
                  <a:gd name="T20" fmla="*/ 166 w 231"/>
                  <a:gd name="T21" fmla="*/ 31 h 115"/>
                  <a:gd name="T22" fmla="*/ 185 w 231"/>
                  <a:gd name="T23" fmla="*/ 22 h 115"/>
                  <a:gd name="T24" fmla="*/ 204 w 231"/>
                  <a:gd name="T25" fmla="*/ 16 h 115"/>
                  <a:gd name="T26" fmla="*/ 216 w 231"/>
                  <a:gd name="T27" fmla="*/ 10 h 115"/>
                  <a:gd name="T28" fmla="*/ 225 w 231"/>
                  <a:gd name="T29" fmla="*/ 3 h 115"/>
                  <a:gd name="T30" fmla="*/ 231 w 231"/>
                  <a:gd name="T31" fmla="*/ 0 h 115"/>
                  <a:gd name="T32" fmla="*/ 231 w 231"/>
                  <a:gd name="T33" fmla="*/ 0 h 115"/>
                  <a:gd name="T34" fmla="*/ 228 w 231"/>
                  <a:gd name="T35" fmla="*/ 3 h 115"/>
                  <a:gd name="T36" fmla="*/ 219 w 231"/>
                  <a:gd name="T37" fmla="*/ 10 h 115"/>
                  <a:gd name="T38" fmla="*/ 207 w 231"/>
                  <a:gd name="T39" fmla="*/ 16 h 115"/>
                  <a:gd name="T40" fmla="*/ 191 w 231"/>
                  <a:gd name="T41" fmla="*/ 22 h 115"/>
                  <a:gd name="T42" fmla="*/ 173 w 231"/>
                  <a:gd name="T43" fmla="*/ 31 h 115"/>
                  <a:gd name="T44" fmla="*/ 154 w 231"/>
                  <a:gd name="T45" fmla="*/ 40 h 115"/>
                  <a:gd name="T46" fmla="*/ 132 w 231"/>
                  <a:gd name="T47" fmla="*/ 53 h 115"/>
                  <a:gd name="T48" fmla="*/ 111 w 231"/>
                  <a:gd name="T49" fmla="*/ 62 h 115"/>
                  <a:gd name="T50" fmla="*/ 89 w 231"/>
                  <a:gd name="T51" fmla="*/ 74 h 115"/>
                  <a:gd name="T52" fmla="*/ 71 w 231"/>
                  <a:gd name="T53" fmla="*/ 84 h 115"/>
                  <a:gd name="T54" fmla="*/ 52 w 231"/>
                  <a:gd name="T55" fmla="*/ 93 h 115"/>
                  <a:gd name="T56" fmla="*/ 37 w 231"/>
                  <a:gd name="T57" fmla="*/ 102 h 115"/>
                  <a:gd name="T58" fmla="*/ 21 w 231"/>
                  <a:gd name="T59" fmla="*/ 108 h 115"/>
                  <a:gd name="T60" fmla="*/ 12 w 231"/>
                  <a:gd name="T61" fmla="*/ 112 h 115"/>
                  <a:gd name="T62" fmla="*/ 6 w 231"/>
                  <a:gd name="T63" fmla="*/ 115 h 115"/>
                  <a:gd name="T64" fmla="*/ 3 w 231"/>
                  <a:gd name="T65" fmla="*/ 115 h 115"/>
                  <a:gd name="T66" fmla="*/ 3 w 231"/>
                  <a:gd name="T67" fmla="*/ 108 h 115"/>
                  <a:gd name="T68" fmla="*/ 3 w 231"/>
                  <a:gd name="T69" fmla="*/ 108 h 11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31"/>
                  <a:gd name="T106" fmla="*/ 0 h 115"/>
                  <a:gd name="T107" fmla="*/ 231 w 231"/>
                  <a:gd name="T108" fmla="*/ 115 h 11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31" h="115">
                    <a:moveTo>
                      <a:pt x="3" y="108"/>
                    </a:moveTo>
                    <a:lnTo>
                      <a:pt x="3" y="108"/>
                    </a:lnTo>
                    <a:lnTo>
                      <a:pt x="6" y="105"/>
                    </a:lnTo>
                    <a:lnTo>
                      <a:pt x="9" y="105"/>
                    </a:lnTo>
                    <a:lnTo>
                      <a:pt x="12" y="102"/>
                    </a:lnTo>
                    <a:lnTo>
                      <a:pt x="18" y="102"/>
                    </a:lnTo>
                    <a:lnTo>
                      <a:pt x="24" y="99"/>
                    </a:lnTo>
                    <a:lnTo>
                      <a:pt x="31" y="96"/>
                    </a:lnTo>
                    <a:lnTo>
                      <a:pt x="40" y="90"/>
                    </a:lnTo>
                    <a:lnTo>
                      <a:pt x="46" y="87"/>
                    </a:lnTo>
                    <a:lnTo>
                      <a:pt x="55" y="84"/>
                    </a:lnTo>
                    <a:lnTo>
                      <a:pt x="65" y="78"/>
                    </a:lnTo>
                    <a:lnTo>
                      <a:pt x="74" y="74"/>
                    </a:lnTo>
                    <a:lnTo>
                      <a:pt x="86" y="68"/>
                    </a:lnTo>
                    <a:lnTo>
                      <a:pt x="95" y="65"/>
                    </a:lnTo>
                    <a:lnTo>
                      <a:pt x="105" y="59"/>
                    </a:lnTo>
                    <a:lnTo>
                      <a:pt x="117" y="56"/>
                    </a:lnTo>
                    <a:lnTo>
                      <a:pt x="126" y="50"/>
                    </a:lnTo>
                    <a:lnTo>
                      <a:pt x="139" y="44"/>
                    </a:lnTo>
                    <a:lnTo>
                      <a:pt x="148" y="40"/>
                    </a:lnTo>
                    <a:lnTo>
                      <a:pt x="157" y="34"/>
                    </a:lnTo>
                    <a:lnTo>
                      <a:pt x="166" y="31"/>
                    </a:lnTo>
                    <a:lnTo>
                      <a:pt x="179" y="25"/>
                    </a:lnTo>
                    <a:lnTo>
                      <a:pt x="185" y="22"/>
                    </a:lnTo>
                    <a:lnTo>
                      <a:pt x="194" y="19"/>
                    </a:lnTo>
                    <a:lnTo>
                      <a:pt x="204" y="16"/>
                    </a:lnTo>
                    <a:lnTo>
                      <a:pt x="210" y="13"/>
                    </a:lnTo>
                    <a:lnTo>
                      <a:pt x="216" y="10"/>
                    </a:lnTo>
                    <a:lnTo>
                      <a:pt x="222" y="6"/>
                    </a:lnTo>
                    <a:lnTo>
                      <a:pt x="225" y="3"/>
                    </a:lnTo>
                    <a:lnTo>
                      <a:pt x="228" y="3"/>
                    </a:lnTo>
                    <a:lnTo>
                      <a:pt x="231" y="0"/>
                    </a:lnTo>
                    <a:lnTo>
                      <a:pt x="231" y="3"/>
                    </a:lnTo>
                    <a:lnTo>
                      <a:pt x="228" y="3"/>
                    </a:lnTo>
                    <a:lnTo>
                      <a:pt x="225" y="6"/>
                    </a:lnTo>
                    <a:lnTo>
                      <a:pt x="219" y="10"/>
                    </a:lnTo>
                    <a:lnTo>
                      <a:pt x="213" y="13"/>
                    </a:lnTo>
                    <a:lnTo>
                      <a:pt x="207" y="16"/>
                    </a:lnTo>
                    <a:lnTo>
                      <a:pt x="200" y="19"/>
                    </a:lnTo>
                    <a:lnTo>
                      <a:pt x="191" y="22"/>
                    </a:lnTo>
                    <a:lnTo>
                      <a:pt x="182" y="28"/>
                    </a:lnTo>
                    <a:lnTo>
                      <a:pt x="173" y="31"/>
                    </a:lnTo>
                    <a:lnTo>
                      <a:pt x="163" y="37"/>
                    </a:lnTo>
                    <a:lnTo>
                      <a:pt x="154" y="40"/>
                    </a:lnTo>
                    <a:lnTo>
                      <a:pt x="145" y="47"/>
                    </a:lnTo>
                    <a:lnTo>
                      <a:pt x="132" y="53"/>
                    </a:lnTo>
                    <a:lnTo>
                      <a:pt x="123" y="59"/>
                    </a:lnTo>
                    <a:lnTo>
                      <a:pt x="111" y="62"/>
                    </a:lnTo>
                    <a:lnTo>
                      <a:pt x="102" y="68"/>
                    </a:lnTo>
                    <a:lnTo>
                      <a:pt x="89" y="74"/>
                    </a:lnTo>
                    <a:lnTo>
                      <a:pt x="80" y="78"/>
                    </a:lnTo>
                    <a:lnTo>
                      <a:pt x="71" y="84"/>
                    </a:lnTo>
                    <a:lnTo>
                      <a:pt x="61" y="87"/>
                    </a:lnTo>
                    <a:lnTo>
                      <a:pt x="52" y="93"/>
                    </a:lnTo>
                    <a:lnTo>
                      <a:pt x="43" y="96"/>
                    </a:lnTo>
                    <a:lnTo>
                      <a:pt x="37" y="102"/>
                    </a:lnTo>
                    <a:lnTo>
                      <a:pt x="27" y="105"/>
                    </a:lnTo>
                    <a:lnTo>
                      <a:pt x="21" y="108"/>
                    </a:lnTo>
                    <a:lnTo>
                      <a:pt x="15" y="112"/>
                    </a:lnTo>
                    <a:lnTo>
                      <a:pt x="12" y="112"/>
                    </a:lnTo>
                    <a:lnTo>
                      <a:pt x="9" y="115"/>
                    </a:lnTo>
                    <a:lnTo>
                      <a:pt x="6" y="115"/>
                    </a:lnTo>
                    <a:lnTo>
                      <a:pt x="3" y="115"/>
                    </a:lnTo>
                    <a:lnTo>
                      <a:pt x="0" y="112"/>
                    </a:lnTo>
                    <a:lnTo>
                      <a:pt x="3" y="10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4" name="Freeform 403"/>
              <p:cNvSpPr>
                <a:spLocks/>
              </p:cNvSpPr>
              <p:nvPr/>
            </p:nvSpPr>
            <p:spPr bwMode="auto">
              <a:xfrm>
                <a:off x="3558" y="2464"/>
                <a:ext cx="43" cy="207"/>
              </a:xfrm>
              <a:custGeom>
                <a:avLst/>
                <a:gdLst>
                  <a:gd name="T0" fmla="*/ 0 w 43"/>
                  <a:gd name="T1" fmla="*/ 0 h 207"/>
                  <a:gd name="T2" fmla="*/ 0 w 43"/>
                  <a:gd name="T3" fmla="*/ 6 h 207"/>
                  <a:gd name="T4" fmla="*/ 3 w 43"/>
                  <a:gd name="T5" fmla="*/ 28 h 207"/>
                  <a:gd name="T6" fmla="*/ 9 w 43"/>
                  <a:gd name="T7" fmla="*/ 55 h 207"/>
                  <a:gd name="T8" fmla="*/ 15 w 43"/>
                  <a:gd name="T9" fmla="*/ 89 h 207"/>
                  <a:gd name="T10" fmla="*/ 18 w 43"/>
                  <a:gd name="T11" fmla="*/ 123 h 207"/>
                  <a:gd name="T12" fmla="*/ 25 w 43"/>
                  <a:gd name="T13" fmla="*/ 157 h 207"/>
                  <a:gd name="T14" fmla="*/ 25 w 43"/>
                  <a:gd name="T15" fmla="*/ 185 h 207"/>
                  <a:gd name="T16" fmla="*/ 25 w 43"/>
                  <a:gd name="T17" fmla="*/ 207 h 207"/>
                  <a:gd name="T18" fmla="*/ 25 w 43"/>
                  <a:gd name="T19" fmla="*/ 207 h 207"/>
                  <a:gd name="T20" fmla="*/ 25 w 43"/>
                  <a:gd name="T21" fmla="*/ 207 h 207"/>
                  <a:gd name="T22" fmla="*/ 28 w 43"/>
                  <a:gd name="T23" fmla="*/ 207 h 207"/>
                  <a:gd name="T24" fmla="*/ 31 w 43"/>
                  <a:gd name="T25" fmla="*/ 207 h 207"/>
                  <a:gd name="T26" fmla="*/ 34 w 43"/>
                  <a:gd name="T27" fmla="*/ 207 h 207"/>
                  <a:gd name="T28" fmla="*/ 37 w 43"/>
                  <a:gd name="T29" fmla="*/ 207 h 207"/>
                  <a:gd name="T30" fmla="*/ 40 w 43"/>
                  <a:gd name="T31" fmla="*/ 207 h 207"/>
                  <a:gd name="T32" fmla="*/ 43 w 43"/>
                  <a:gd name="T33" fmla="*/ 207 h 207"/>
                  <a:gd name="T34" fmla="*/ 43 w 43"/>
                  <a:gd name="T35" fmla="*/ 207 h 207"/>
                  <a:gd name="T36" fmla="*/ 43 w 43"/>
                  <a:gd name="T37" fmla="*/ 204 h 207"/>
                  <a:gd name="T38" fmla="*/ 40 w 43"/>
                  <a:gd name="T39" fmla="*/ 204 h 207"/>
                  <a:gd name="T40" fmla="*/ 37 w 43"/>
                  <a:gd name="T41" fmla="*/ 204 h 207"/>
                  <a:gd name="T42" fmla="*/ 34 w 43"/>
                  <a:gd name="T43" fmla="*/ 204 h 207"/>
                  <a:gd name="T44" fmla="*/ 34 w 43"/>
                  <a:gd name="T45" fmla="*/ 201 h 207"/>
                  <a:gd name="T46" fmla="*/ 31 w 43"/>
                  <a:gd name="T47" fmla="*/ 201 h 207"/>
                  <a:gd name="T48" fmla="*/ 31 w 43"/>
                  <a:gd name="T49" fmla="*/ 198 h 207"/>
                  <a:gd name="T50" fmla="*/ 31 w 43"/>
                  <a:gd name="T51" fmla="*/ 191 h 207"/>
                  <a:gd name="T52" fmla="*/ 31 w 43"/>
                  <a:gd name="T53" fmla="*/ 176 h 207"/>
                  <a:gd name="T54" fmla="*/ 28 w 43"/>
                  <a:gd name="T55" fmla="*/ 151 h 207"/>
                  <a:gd name="T56" fmla="*/ 25 w 43"/>
                  <a:gd name="T57" fmla="*/ 126 h 207"/>
                  <a:gd name="T58" fmla="*/ 21 w 43"/>
                  <a:gd name="T59" fmla="*/ 96 h 207"/>
                  <a:gd name="T60" fmla="*/ 15 w 43"/>
                  <a:gd name="T61" fmla="*/ 62 h 207"/>
                  <a:gd name="T62" fmla="*/ 9 w 43"/>
                  <a:gd name="T63" fmla="*/ 31 h 207"/>
                  <a:gd name="T64" fmla="*/ 0 w 43"/>
                  <a:gd name="T65" fmla="*/ 0 h 207"/>
                  <a:gd name="T66" fmla="*/ 0 w 43"/>
                  <a:gd name="T67" fmla="*/ 0 h 20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3"/>
                  <a:gd name="T103" fmla="*/ 0 h 207"/>
                  <a:gd name="T104" fmla="*/ 43 w 43"/>
                  <a:gd name="T105" fmla="*/ 207 h 20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3" h="207">
                    <a:moveTo>
                      <a:pt x="0" y="0"/>
                    </a:moveTo>
                    <a:lnTo>
                      <a:pt x="0" y="6"/>
                    </a:lnTo>
                    <a:lnTo>
                      <a:pt x="3" y="28"/>
                    </a:lnTo>
                    <a:lnTo>
                      <a:pt x="9" y="55"/>
                    </a:lnTo>
                    <a:lnTo>
                      <a:pt x="15" y="89"/>
                    </a:lnTo>
                    <a:lnTo>
                      <a:pt x="18" y="123"/>
                    </a:lnTo>
                    <a:lnTo>
                      <a:pt x="25" y="157"/>
                    </a:lnTo>
                    <a:lnTo>
                      <a:pt x="25" y="185"/>
                    </a:lnTo>
                    <a:lnTo>
                      <a:pt x="25" y="207"/>
                    </a:lnTo>
                    <a:lnTo>
                      <a:pt x="28" y="207"/>
                    </a:lnTo>
                    <a:lnTo>
                      <a:pt x="31" y="207"/>
                    </a:lnTo>
                    <a:lnTo>
                      <a:pt x="34" y="207"/>
                    </a:lnTo>
                    <a:lnTo>
                      <a:pt x="37" y="207"/>
                    </a:lnTo>
                    <a:lnTo>
                      <a:pt x="40" y="207"/>
                    </a:lnTo>
                    <a:lnTo>
                      <a:pt x="43" y="207"/>
                    </a:lnTo>
                    <a:lnTo>
                      <a:pt x="43" y="204"/>
                    </a:lnTo>
                    <a:lnTo>
                      <a:pt x="40" y="204"/>
                    </a:lnTo>
                    <a:lnTo>
                      <a:pt x="37" y="204"/>
                    </a:lnTo>
                    <a:lnTo>
                      <a:pt x="34" y="204"/>
                    </a:lnTo>
                    <a:lnTo>
                      <a:pt x="34" y="201"/>
                    </a:lnTo>
                    <a:lnTo>
                      <a:pt x="31" y="201"/>
                    </a:lnTo>
                    <a:lnTo>
                      <a:pt x="31" y="198"/>
                    </a:lnTo>
                    <a:lnTo>
                      <a:pt x="31" y="191"/>
                    </a:lnTo>
                    <a:lnTo>
                      <a:pt x="31" y="176"/>
                    </a:lnTo>
                    <a:lnTo>
                      <a:pt x="28" y="151"/>
                    </a:lnTo>
                    <a:lnTo>
                      <a:pt x="25" y="126"/>
                    </a:lnTo>
                    <a:lnTo>
                      <a:pt x="21" y="96"/>
                    </a:lnTo>
                    <a:lnTo>
                      <a:pt x="15" y="62"/>
                    </a:lnTo>
                    <a:lnTo>
                      <a:pt x="9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5" name="Freeform 404"/>
              <p:cNvSpPr>
                <a:spLocks/>
              </p:cNvSpPr>
              <p:nvPr/>
            </p:nvSpPr>
            <p:spPr bwMode="auto">
              <a:xfrm>
                <a:off x="3564" y="2458"/>
                <a:ext cx="99" cy="256"/>
              </a:xfrm>
              <a:custGeom>
                <a:avLst/>
                <a:gdLst>
                  <a:gd name="T0" fmla="*/ 3 w 99"/>
                  <a:gd name="T1" fmla="*/ 9 h 256"/>
                  <a:gd name="T2" fmla="*/ 3 w 99"/>
                  <a:gd name="T3" fmla="*/ 12 h 256"/>
                  <a:gd name="T4" fmla="*/ 6 w 99"/>
                  <a:gd name="T5" fmla="*/ 15 h 256"/>
                  <a:gd name="T6" fmla="*/ 9 w 99"/>
                  <a:gd name="T7" fmla="*/ 24 h 256"/>
                  <a:gd name="T8" fmla="*/ 15 w 99"/>
                  <a:gd name="T9" fmla="*/ 34 h 256"/>
                  <a:gd name="T10" fmla="*/ 22 w 99"/>
                  <a:gd name="T11" fmla="*/ 46 h 256"/>
                  <a:gd name="T12" fmla="*/ 28 w 99"/>
                  <a:gd name="T13" fmla="*/ 61 h 256"/>
                  <a:gd name="T14" fmla="*/ 37 w 99"/>
                  <a:gd name="T15" fmla="*/ 80 h 256"/>
                  <a:gd name="T16" fmla="*/ 43 w 99"/>
                  <a:gd name="T17" fmla="*/ 98 h 256"/>
                  <a:gd name="T18" fmla="*/ 53 w 99"/>
                  <a:gd name="T19" fmla="*/ 117 h 256"/>
                  <a:gd name="T20" fmla="*/ 62 w 99"/>
                  <a:gd name="T21" fmla="*/ 136 h 256"/>
                  <a:gd name="T22" fmla="*/ 68 w 99"/>
                  <a:gd name="T23" fmla="*/ 157 h 256"/>
                  <a:gd name="T24" fmla="*/ 77 w 99"/>
                  <a:gd name="T25" fmla="*/ 179 h 256"/>
                  <a:gd name="T26" fmla="*/ 83 w 99"/>
                  <a:gd name="T27" fmla="*/ 197 h 256"/>
                  <a:gd name="T28" fmla="*/ 90 w 99"/>
                  <a:gd name="T29" fmla="*/ 219 h 256"/>
                  <a:gd name="T30" fmla="*/ 96 w 99"/>
                  <a:gd name="T31" fmla="*/ 238 h 256"/>
                  <a:gd name="T32" fmla="*/ 99 w 99"/>
                  <a:gd name="T33" fmla="*/ 256 h 256"/>
                  <a:gd name="T34" fmla="*/ 99 w 99"/>
                  <a:gd name="T35" fmla="*/ 256 h 256"/>
                  <a:gd name="T36" fmla="*/ 96 w 99"/>
                  <a:gd name="T37" fmla="*/ 247 h 256"/>
                  <a:gd name="T38" fmla="*/ 96 w 99"/>
                  <a:gd name="T39" fmla="*/ 234 h 256"/>
                  <a:gd name="T40" fmla="*/ 96 w 99"/>
                  <a:gd name="T41" fmla="*/ 219 h 256"/>
                  <a:gd name="T42" fmla="*/ 93 w 99"/>
                  <a:gd name="T43" fmla="*/ 204 h 256"/>
                  <a:gd name="T44" fmla="*/ 87 w 99"/>
                  <a:gd name="T45" fmla="*/ 185 h 256"/>
                  <a:gd name="T46" fmla="*/ 83 w 99"/>
                  <a:gd name="T47" fmla="*/ 166 h 256"/>
                  <a:gd name="T48" fmla="*/ 74 w 99"/>
                  <a:gd name="T49" fmla="*/ 148 h 256"/>
                  <a:gd name="T50" fmla="*/ 71 w 99"/>
                  <a:gd name="T51" fmla="*/ 139 h 256"/>
                  <a:gd name="T52" fmla="*/ 65 w 99"/>
                  <a:gd name="T53" fmla="*/ 129 h 256"/>
                  <a:gd name="T54" fmla="*/ 62 w 99"/>
                  <a:gd name="T55" fmla="*/ 120 h 256"/>
                  <a:gd name="T56" fmla="*/ 56 w 99"/>
                  <a:gd name="T57" fmla="*/ 111 h 256"/>
                  <a:gd name="T58" fmla="*/ 53 w 99"/>
                  <a:gd name="T59" fmla="*/ 102 h 256"/>
                  <a:gd name="T60" fmla="*/ 46 w 99"/>
                  <a:gd name="T61" fmla="*/ 89 h 256"/>
                  <a:gd name="T62" fmla="*/ 43 w 99"/>
                  <a:gd name="T63" fmla="*/ 80 h 256"/>
                  <a:gd name="T64" fmla="*/ 40 w 99"/>
                  <a:gd name="T65" fmla="*/ 71 h 256"/>
                  <a:gd name="T66" fmla="*/ 34 w 99"/>
                  <a:gd name="T67" fmla="*/ 61 h 256"/>
                  <a:gd name="T68" fmla="*/ 31 w 99"/>
                  <a:gd name="T69" fmla="*/ 52 h 256"/>
                  <a:gd name="T70" fmla="*/ 28 w 99"/>
                  <a:gd name="T71" fmla="*/ 43 h 256"/>
                  <a:gd name="T72" fmla="*/ 25 w 99"/>
                  <a:gd name="T73" fmla="*/ 34 h 256"/>
                  <a:gd name="T74" fmla="*/ 22 w 99"/>
                  <a:gd name="T75" fmla="*/ 27 h 256"/>
                  <a:gd name="T76" fmla="*/ 22 w 99"/>
                  <a:gd name="T77" fmla="*/ 21 h 256"/>
                  <a:gd name="T78" fmla="*/ 19 w 99"/>
                  <a:gd name="T79" fmla="*/ 18 h 256"/>
                  <a:gd name="T80" fmla="*/ 19 w 99"/>
                  <a:gd name="T81" fmla="*/ 12 h 256"/>
                  <a:gd name="T82" fmla="*/ 15 w 99"/>
                  <a:gd name="T83" fmla="*/ 6 h 256"/>
                  <a:gd name="T84" fmla="*/ 12 w 99"/>
                  <a:gd name="T85" fmla="*/ 3 h 256"/>
                  <a:gd name="T86" fmla="*/ 9 w 99"/>
                  <a:gd name="T87" fmla="*/ 0 h 256"/>
                  <a:gd name="T88" fmla="*/ 6 w 99"/>
                  <a:gd name="T89" fmla="*/ 0 h 256"/>
                  <a:gd name="T90" fmla="*/ 3 w 99"/>
                  <a:gd name="T91" fmla="*/ 0 h 256"/>
                  <a:gd name="T92" fmla="*/ 0 w 99"/>
                  <a:gd name="T93" fmla="*/ 3 h 256"/>
                  <a:gd name="T94" fmla="*/ 0 w 99"/>
                  <a:gd name="T95" fmla="*/ 6 h 256"/>
                  <a:gd name="T96" fmla="*/ 3 w 99"/>
                  <a:gd name="T97" fmla="*/ 9 h 256"/>
                  <a:gd name="T98" fmla="*/ 3 w 99"/>
                  <a:gd name="T99" fmla="*/ 9 h 25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9"/>
                  <a:gd name="T151" fmla="*/ 0 h 256"/>
                  <a:gd name="T152" fmla="*/ 99 w 99"/>
                  <a:gd name="T153" fmla="*/ 256 h 25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9" h="256">
                    <a:moveTo>
                      <a:pt x="3" y="9"/>
                    </a:moveTo>
                    <a:lnTo>
                      <a:pt x="3" y="12"/>
                    </a:lnTo>
                    <a:lnTo>
                      <a:pt x="6" y="15"/>
                    </a:lnTo>
                    <a:lnTo>
                      <a:pt x="9" y="24"/>
                    </a:lnTo>
                    <a:lnTo>
                      <a:pt x="15" y="34"/>
                    </a:lnTo>
                    <a:lnTo>
                      <a:pt x="22" y="46"/>
                    </a:lnTo>
                    <a:lnTo>
                      <a:pt x="28" y="61"/>
                    </a:lnTo>
                    <a:lnTo>
                      <a:pt x="37" y="80"/>
                    </a:lnTo>
                    <a:lnTo>
                      <a:pt x="43" y="98"/>
                    </a:lnTo>
                    <a:lnTo>
                      <a:pt x="53" y="117"/>
                    </a:lnTo>
                    <a:lnTo>
                      <a:pt x="62" y="136"/>
                    </a:lnTo>
                    <a:lnTo>
                      <a:pt x="68" y="157"/>
                    </a:lnTo>
                    <a:lnTo>
                      <a:pt x="77" y="179"/>
                    </a:lnTo>
                    <a:lnTo>
                      <a:pt x="83" y="197"/>
                    </a:lnTo>
                    <a:lnTo>
                      <a:pt x="90" y="219"/>
                    </a:lnTo>
                    <a:lnTo>
                      <a:pt x="96" y="238"/>
                    </a:lnTo>
                    <a:lnTo>
                      <a:pt x="99" y="256"/>
                    </a:lnTo>
                    <a:lnTo>
                      <a:pt x="96" y="247"/>
                    </a:lnTo>
                    <a:lnTo>
                      <a:pt x="96" y="234"/>
                    </a:lnTo>
                    <a:lnTo>
                      <a:pt x="96" y="219"/>
                    </a:lnTo>
                    <a:lnTo>
                      <a:pt x="93" y="204"/>
                    </a:lnTo>
                    <a:lnTo>
                      <a:pt x="87" y="185"/>
                    </a:lnTo>
                    <a:lnTo>
                      <a:pt x="83" y="166"/>
                    </a:lnTo>
                    <a:lnTo>
                      <a:pt x="74" y="148"/>
                    </a:lnTo>
                    <a:lnTo>
                      <a:pt x="71" y="139"/>
                    </a:lnTo>
                    <a:lnTo>
                      <a:pt x="65" y="129"/>
                    </a:lnTo>
                    <a:lnTo>
                      <a:pt x="62" y="120"/>
                    </a:lnTo>
                    <a:lnTo>
                      <a:pt x="56" y="111"/>
                    </a:lnTo>
                    <a:lnTo>
                      <a:pt x="53" y="102"/>
                    </a:lnTo>
                    <a:lnTo>
                      <a:pt x="46" y="89"/>
                    </a:lnTo>
                    <a:lnTo>
                      <a:pt x="43" y="80"/>
                    </a:lnTo>
                    <a:lnTo>
                      <a:pt x="40" y="71"/>
                    </a:lnTo>
                    <a:lnTo>
                      <a:pt x="34" y="61"/>
                    </a:lnTo>
                    <a:lnTo>
                      <a:pt x="31" y="52"/>
                    </a:lnTo>
                    <a:lnTo>
                      <a:pt x="28" y="43"/>
                    </a:lnTo>
                    <a:lnTo>
                      <a:pt x="25" y="34"/>
                    </a:lnTo>
                    <a:lnTo>
                      <a:pt x="22" y="27"/>
                    </a:lnTo>
                    <a:lnTo>
                      <a:pt x="22" y="21"/>
                    </a:lnTo>
                    <a:lnTo>
                      <a:pt x="19" y="18"/>
                    </a:lnTo>
                    <a:lnTo>
                      <a:pt x="19" y="12"/>
                    </a:lnTo>
                    <a:lnTo>
                      <a:pt x="15" y="6"/>
                    </a:lnTo>
                    <a:lnTo>
                      <a:pt x="12" y="3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3" y="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6" name="Freeform 405"/>
              <p:cNvSpPr>
                <a:spLocks/>
              </p:cNvSpPr>
              <p:nvPr/>
            </p:nvSpPr>
            <p:spPr bwMode="auto">
              <a:xfrm>
                <a:off x="3576" y="2501"/>
                <a:ext cx="28" cy="185"/>
              </a:xfrm>
              <a:custGeom>
                <a:avLst/>
                <a:gdLst>
                  <a:gd name="T0" fmla="*/ 0 w 28"/>
                  <a:gd name="T1" fmla="*/ 0 h 185"/>
                  <a:gd name="T2" fmla="*/ 3 w 28"/>
                  <a:gd name="T3" fmla="*/ 9 h 185"/>
                  <a:gd name="T4" fmla="*/ 7 w 28"/>
                  <a:gd name="T5" fmla="*/ 28 h 185"/>
                  <a:gd name="T6" fmla="*/ 10 w 28"/>
                  <a:gd name="T7" fmla="*/ 55 h 185"/>
                  <a:gd name="T8" fmla="*/ 13 w 28"/>
                  <a:gd name="T9" fmla="*/ 86 h 185"/>
                  <a:gd name="T10" fmla="*/ 16 w 28"/>
                  <a:gd name="T11" fmla="*/ 117 h 185"/>
                  <a:gd name="T12" fmla="*/ 19 w 28"/>
                  <a:gd name="T13" fmla="*/ 145 h 185"/>
                  <a:gd name="T14" fmla="*/ 22 w 28"/>
                  <a:gd name="T15" fmla="*/ 170 h 185"/>
                  <a:gd name="T16" fmla="*/ 22 w 28"/>
                  <a:gd name="T17" fmla="*/ 182 h 185"/>
                  <a:gd name="T18" fmla="*/ 22 w 28"/>
                  <a:gd name="T19" fmla="*/ 182 h 185"/>
                  <a:gd name="T20" fmla="*/ 22 w 28"/>
                  <a:gd name="T21" fmla="*/ 182 h 185"/>
                  <a:gd name="T22" fmla="*/ 22 w 28"/>
                  <a:gd name="T23" fmla="*/ 182 h 185"/>
                  <a:gd name="T24" fmla="*/ 22 w 28"/>
                  <a:gd name="T25" fmla="*/ 182 h 185"/>
                  <a:gd name="T26" fmla="*/ 25 w 28"/>
                  <a:gd name="T27" fmla="*/ 185 h 185"/>
                  <a:gd name="T28" fmla="*/ 25 w 28"/>
                  <a:gd name="T29" fmla="*/ 182 h 185"/>
                  <a:gd name="T30" fmla="*/ 28 w 28"/>
                  <a:gd name="T31" fmla="*/ 182 h 185"/>
                  <a:gd name="T32" fmla="*/ 28 w 28"/>
                  <a:gd name="T33" fmla="*/ 179 h 185"/>
                  <a:gd name="T34" fmla="*/ 28 w 28"/>
                  <a:gd name="T35" fmla="*/ 173 h 185"/>
                  <a:gd name="T36" fmla="*/ 28 w 28"/>
                  <a:gd name="T37" fmla="*/ 157 h 185"/>
                  <a:gd name="T38" fmla="*/ 25 w 28"/>
                  <a:gd name="T39" fmla="*/ 139 h 185"/>
                  <a:gd name="T40" fmla="*/ 22 w 28"/>
                  <a:gd name="T41" fmla="*/ 114 h 185"/>
                  <a:gd name="T42" fmla="*/ 19 w 28"/>
                  <a:gd name="T43" fmla="*/ 86 h 185"/>
                  <a:gd name="T44" fmla="*/ 13 w 28"/>
                  <a:gd name="T45" fmla="*/ 59 h 185"/>
                  <a:gd name="T46" fmla="*/ 7 w 28"/>
                  <a:gd name="T47" fmla="*/ 28 h 185"/>
                  <a:gd name="T48" fmla="*/ 0 w 28"/>
                  <a:gd name="T49" fmla="*/ 0 h 185"/>
                  <a:gd name="T50" fmla="*/ 0 w 28"/>
                  <a:gd name="T51" fmla="*/ 0 h 18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8"/>
                  <a:gd name="T79" fmla="*/ 0 h 185"/>
                  <a:gd name="T80" fmla="*/ 28 w 28"/>
                  <a:gd name="T81" fmla="*/ 185 h 18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8" h="185">
                    <a:moveTo>
                      <a:pt x="0" y="0"/>
                    </a:moveTo>
                    <a:lnTo>
                      <a:pt x="3" y="9"/>
                    </a:lnTo>
                    <a:lnTo>
                      <a:pt x="7" y="28"/>
                    </a:lnTo>
                    <a:lnTo>
                      <a:pt x="10" y="55"/>
                    </a:lnTo>
                    <a:lnTo>
                      <a:pt x="13" y="86"/>
                    </a:lnTo>
                    <a:lnTo>
                      <a:pt x="16" y="117"/>
                    </a:lnTo>
                    <a:lnTo>
                      <a:pt x="19" y="145"/>
                    </a:lnTo>
                    <a:lnTo>
                      <a:pt x="22" y="170"/>
                    </a:lnTo>
                    <a:lnTo>
                      <a:pt x="22" y="182"/>
                    </a:lnTo>
                    <a:lnTo>
                      <a:pt x="25" y="185"/>
                    </a:lnTo>
                    <a:lnTo>
                      <a:pt x="25" y="182"/>
                    </a:lnTo>
                    <a:lnTo>
                      <a:pt x="28" y="182"/>
                    </a:lnTo>
                    <a:lnTo>
                      <a:pt x="28" y="179"/>
                    </a:lnTo>
                    <a:lnTo>
                      <a:pt x="28" y="173"/>
                    </a:lnTo>
                    <a:lnTo>
                      <a:pt x="28" y="157"/>
                    </a:lnTo>
                    <a:lnTo>
                      <a:pt x="25" y="139"/>
                    </a:lnTo>
                    <a:lnTo>
                      <a:pt x="22" y="114"/>
                    </a:lnTo>
                    <a:lnTo>
                      <a:pt x="19" y="86"/>
                    </a:lnTo>
                    <a:lnTo>
                      <a:pt x="13" y="59"/>
                    </a:lnTo>
                    <a:lnTo>
                      <a:pt x="7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7" name="Freeform 406"/>
              <p:cNvSpPr>
                <a:spLocks/>
              </p:cNvSpPr>
              <p:nvPr/>
            </p:nvSpPr>
            <p:spPr bwMode="auto">
              <a:xfrm>
                <a:off x="3583" y="2516"/>
                <a:ext cx="37" cy="183"/>
              </a:xfrm>
              <a:custGeom>
                <a:avLst/>
                <a:gdLst>
                  <a:gd name="T0" fmla="*/ 0 w 37"/>
                  <a:gd name="T1" fmla="*/ 0 h 183"/>
                  <a:gd name="T2" fmla="*/ 3 w 37"/>
                  <a:gd name="T3" fmla="*/ 6 h 183"/>
                  <a:gd name="T4" fmla="*/ 6 w 37"/>
                  <a:gd name="T5" fmla="*/ 28 h 183"/>
                  <a:gd name="T6" fmla="*/ 12 w 37"/>
                  <a:gd name="T7" fmla="*/ 53 h 183"/>
                  <a:gd name="T8" fmla="*/ 18 w 37"/>
                  <a:gd name="T9" fmla="*/ 84 h 183"/>
                  <a:gd name="T10" fmla="*/ 21 w 37"/>
                  <a:gd name="T11" fmla="*/ 115 h 183"/>
                  <a:gd name="T12" fmla="*/ 27 w 37"/>
                  <a:gd name="T13" fmla="*/ 146 h 183"/>
                  <a:gd name="T14" fmla="*/ 30 w 37"/>
                  <a:gd name="T15" fmla="*/ 167 h 183"/>
                  <a:gd name="T16" fmla="*/ 30 w 37"/>
                  <a:gd name="T17" fmla="*/ 180 h 183"/>
                  <a:gd name="T18" fmla="*/ 30 w 37"/>
                  <a:gd name="T19" fmla="*/ 180 h 183"/>
                  <a:gd name="T20" fmla="*/ 30 w 37"/>
                  <a:gd name="T21" fmla="*/ 180 h 183"/>
                  <a:gd name="T22" fmla="*/ 30 w 37"/>
                  <a:gd name="T23" fmla="*/ 180 h 183"/>
                  <a:gd name="T24" fmla="*/ 34 w 37"/>
                  <a:gd name="T25" fmla="*/ 183 h 183"/>
                  <a:gd name="T26" fmla="*/ 34 w 37"/>
                  <a:gd name="T27" fmla="*/ 183 h 183"/>
                  <a:gd name="T28" fmla="*/ 34 w 37"/>
                  <a:gd name="T29" fmla="*/ 183 h 183"/>
                  <a:gd name="T30" fmla="*/ 37 w 37"/>
                  <a:gd name="T31" fmla="*/ 180 h 183"/>
                  <a:gd name="T32" fmla="*/ 37 w 37"/>
                  <a:gd name="T33" fmla="*/ 176 h 183"/>
                  <a:gd name="T34" fmla="*/ 37 w 37"/>
                  <a:gd name="T35" fmla="*/ 173 h 183"/>
                  <a:gd name="T36" fmla="*/ 37 w 37"/>
                  <a:gd name="T37" fmla="*/ 170 h 183"/>
                  <a:gd name="T38" fmla="*/ 37 w 37"/>
                  <a:gd name="T39" fmla="*/ 164 h 183"/>
                  <a:gd name="T40" fmla="*/ 34 w 37"/>
                  <a:gd name="T41" fmla="*/ 155 h 183"/>
                  <a:gd name="T42" fmla="*/ 34 w 37"/>
                  <a:gd name="T43" fmla="*/ 146 h 183"/>
                  <a:gd name="T44" fmla="*/ 30 w 37"/>
                  <a:gd name="T45" fmla="*/ 136 h 183"/>
                  <a:gd name="T46" fmla="*/ 30 w 37"/>
                  <a:gd name="T47" fmla="*/ 124 h 183"/>
                  <a:gd name="T48" fmla="*/ 27 w 37"/>
                  <a:gd name="T49" fmla="*/ 112 h 183"/>
                  <a:gd name="T50" fmla="*/ 24 w 37"/>
                  <a:gd name="T51" fmla="*/ 99 h 183"/>
                  <a:gd name="T52" fmla="*/ 21 w 37"/>
                  <a:gd name="T53" fmla="*/ 84 h 183"/>
                  <a:gd name="T54" fmla="*/ 18 w 37"/>
                  <a:gd name="T55" fmla="*/ 71 h 183"/>
                  <a:gd name="T56" fmla="*/ 15 w 37"/>
                  <a:gd name="T57" fmla="*/ 56 h 183"/>
                  <a:gd name="T58" fmla="*/ 12 w 37"/>
                  <a:gd name="T59" fmla="*/ 44 h 183"/>
                  <a:gd name="T60" fmla="*/ 9 w 37"/>
                  <a:gd name="T61" fmla="*/ 28 h 183"/>
                  <a:gd name="T62" fmla="*/ 6 w 37"/>
                  <a:gd name="T63" fmla="*/ 16 h 183"/>
                  <a:gd name="T64" fmla="*/ 0 w 37"/>
                  <a:gd name="T65" fmla="*/ 0 h 183"/>
                  <a:gd name="T66" fmla="*/ 0 w 37"/>
                  <a:gd name="T67" fmla="*/ 0 h 18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7"/>
                  <a:gd name="T103" fmla="*/ 0 h 183"/>
                  <a:gd name="T104" fmla="*/ 37 w 37"/>
                  <a:gd name="T105" fmla="*/ 183 h 18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7" h="183">
                    <a:moveTo>
                      <a:pt x="0" y="0"/>
                    </a:moveTo>
                    <a:lnTo>
                      <a:pt x="3" y="6"/>
                    </a:lnTo>
                    <a:lnTo>
                      <a:pt x="6" y="28"/>
                    </a:lnTo>
                    <a:lnTo>
                      <a:pt x="12" y="53"/>
                    </a:lnTo>
                    <a:lnTo>
                      <a:pt x="18" y="84"/>
                    </a:lnTo>
                    <a:lnTo>
                      <a:pt x="21" y="115"/>
                    </a:lnTo>
                    <a:lnTo>
                      <a:pt x="27" y="146"/>
                    </a:lnTo>
                    <a:lnTo>
                      <a:pt x="30" y="167"/>
                    </a:lnTo>
                    <a:lnTo>
                      <a:pt x="30" y="180"/>
                    </a:lnTo>
                    <a:lnTo>
                      <a:pt x="34" y="183"/>
                    </a:lnTo>
                    <a:lnTo>
                      <a:pt x="37" y="180"/>
                    </a:lnTo>
                    <a:lnTo>
                      <a:pt x="37" y="176"/>
                    </a:lnTo>
                    <a:lnTo>
                      <a:pt x="37" y="173"/>
                    </a:lnTo>
                    <a:lnTo>
                      <a:pt x="37" y="170"/>
                    </a:lnTo>
                    <a:lnTo>
                      <a:pt x="37" y="164"/>
                    </a:lnTo>
                    <a:lnTo>
                      <a:pt x="34" y="155"/>
                    </a:lnTo>
                    <a:lnTo>
                      <a:pt x="34" y="146"/>
                    </a:lnTo>
                    <a:lnTo>
                      <a:pt x="30" y="136"/>
                    </a:lnTo>
                    <a:lnTo>
                      <a:pt x="30" y="124"/>
                    </a:lnTo>
                    <a:lnTo>
                      <a:pt x="27" y="112"/>
                    </a:lnTo>
                    <a:lnTo>
                      <a:pt x="24" y="99"/>
                    </a:lnTo>
                    <a:lnTo>
                      <a:pt x="21" y="84"/>
                    </a:lnTo>
                    <a:lnTo>
                      <a:pt x="18" y="71"/>
                    </a:lnTo>
                    <a:lnTo>
                      <a:pt x="15" y="56"/>
                    </a:lnTo>
                    <a:lnTo>
                      <a:pt x="12" y="44"/>
                    </a:lnTo>
                    <a:lnTo>
                      <a:pt x="9" y="28"/>
                    </a:lnTo>
                    <a:lnTo>
                      <a:pt x="6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4438" name="Freeform 407"/>
              <p:cNvSpPr>
                <a:spLocks/>
              </p:cNvSpPr>
              <p:nvPr/>
            </p:nvSpPr>
            <p:spPr bwMode="auto">
              <a:xfrm>
                <a:off x="3592" y="2529"/>
                <a:ext cx="46" cy="179"/>
              </a:xfrm>
              <a:custGeom>
                <a:avLst/>
                <a:gdLst>
                  <a:gd name="T0" fmla="*/ 0 w 46"/>
                  <a:gd name="T1" fmla="*/ 0 h 179"/>
                  <a:gd name="T2" fmla="*/ 0 w 46"/>
                  <a:gd name="T3" fmla="*/ 3 h 179"/>
                  <a:gd name="T4" fmla="*/ 3 w 46"/>
                  <a:gd name="T5" fmla="*/ 6 h 179"/>
                  <a:gd name="T6" fmla="*/ 3 w 46"/>
                  <a:gd name="T7" fmla="*/ 15 h 179"/>
                  <a:gd name="T8" fmla="*/ 6 w 46"/>
                  <a:gd name="T9" fmla="*/ 24 h 179"/>
                  <a:gd name="T10" fmla="*/ 9 w 46"/>
                  <a:gd name="T11" fmla="*/ 37 h 179"/>
                  <a:gd name="T12" fmla="*/ 12 w 46"/>
                  <a:gd name="T13" fmla="*/ 52 h 179"/>
                  <a:gd name="T14" fmla="*/ 18 w 46"/>
                  <a:gd name="T15" fmla="*/ 65 h 179"/>
                  <a:gd name="T16" fmla="*/ 21 w 46"/>
                  <a:gd name="T17" fmla="*/ 80 h 179"/>
                  <a:gd name="T18" fmla="*/ 25 w 46"/>
                  <a:gd name="T19" fmla="*/ 99 h 179"/>
                  <a:gd name="T20" fmla="*/ 28 w 46"/>
                  <a:gd name="T21" fmla="*/ 114 h 179"/>
                  <a:gd name="T22" fmla="*/ 31 w 46"/>
                  <a:gd name="T23" fmla="*/ 126 h 179"/>
                  <a:gd name="T24" fmla="*/ 34 w 46"/>
                  <a:gd name="T25" fmla="*/ 142 h 179"/>
                  <a:gd name="T26" fmla="*/ 37 w 46"/>
                  <a:gd name="T27" fmla="*/ 154 h 179"/>
                  <a:gd name="T28" fmla="*/ 40 w 46"/>
                  <a:gd name="T29" fmla="*/ 163 h 179"/>
                  <a:gd name="T30" fmla="*/ 40 w 46"/>
                  <a:gd name="T31" fmla="*/ 170 h 179"/>
                  <a:gd name="T32" fmla="*/ 40 w 46"/>
                  <a:gd name="T33" fmla="*/ 176 h 179"/>
                  <a:gd name="T34" fmla="*/ 40 w 46"/>
                  <a:gd name="T35" fmla="*/ 176 h 179"/>
                  <a:gd name="T36" fmla="*/ 40 w 46"/>
                  <a:gd name="T37" fmla="*/ 176 h 179"/>
                  <a:gd name="T38" fmla="*/ 40 w 46"/>
                  <a:gd name="T39" fmla="*/ 179 h 179"/>
                  <a:gd name="T40" fmla="*/ 43 w 46"/>
                  <a:gd name="T41" fmla="*/ 179 h 179"/>
                  <a:gd name="T42" fmla="*/ 43 w 46"/>
                  <a:gd name="T43" fmla="*/ 179 h 179"/>
                  <a:gd name="T44" fmla="*/ 43 w 46"/>
                  <a:gd name="T45" fmla="*/ 179 h 179"/>
                  <a:gd name="T46" fmla="*/ 46 w 46"/>
                  <a:gd name="T47" fmla="*/ 176 h 179"/>
                  <a:gd name="T48" fmla="*/ 46 w 46"/>
                  <a:gd name="T49" fmla="*/ 173 h 179"/>
                  <a:gd name="T50" fmla="*/ 46 w 46"/>
                  <a:gd name="T51" fmla="*/ 170 h 179"/>
                  <a:gd name="T52" fmla="*/ 46 w 46"/>
                  <a:gd name="T53" fmla="*/ 167 h 179"/>
                  <a:gd name="T54" fmla="*/ 46 w 46"/>
                  <a:gd name="T55" fmla="*/ 160 h 179"/>
                  <a:gd name="T56" fmla="*/ 43 w 46"/>
                  <a:gd name="T57" fmla="*/ 151 h 179"/>
                  <a:gd name="T58" fmla="*/ 40 w 46"/>
                  <a:gd name="T59" fmla="*/ 142 h 179"/>
                  <a:gd name="T60" fmla="*/ 40 w 46"/>
                  <a:gd name="T61" fmla="*/ 133 h 179"/>
                  <a:gd name="T62" fmla="*/ 37 w 46"/>
                  <a:gd name="T63" fmla="*/ 120 h 179"/>
                  <a:gd name="T64" fmla="*/ 34 w 46"/>
                  <a:gd name="T65" fmla="*/ 108 h 179"/>
                  <a:gd name="T66" fmla="*/ 28 w 46"/>
                  <a:gd name="T67" fmla="*/ 95 h 179"/>
                  <a:gd name="T68" fmla="*/ 25 w 46"/>
                  <a:gd name="T69" fmla="*/ 83 h 179"/>
                  <a:gd name="T70" fmla="*/ 21 w 46"/>
                  <a:gd name="T71" fmla="*/ 68 h 179"/>
                  <a:gd name="T72" fmla="*/ 18 w 46"/>
                  <a:gd name="T73" fmla="*/ 55 h 179"/>
                  <a:gd name="T74" fmla="*/ 12 w 46"/>
                  <a:gd name="T75" fmla="*/ 40 h 179"/>
                  <a:gd name="T76" fmla="*/ 9 w 46"/>
                  <a:gd name="T77" fmla="*/ 27 h 179"/>
                  <a:gd name="T78" fmla="*/ 3 w 46"/>
                  <a:gd name="T79" fmla="*/ 12 h 179"/>
                  <a:gd name="T80" fmla="*/ 0 w 46"/>
                  <a:gd name="T81" fmla="*/ 0 h 179"/>
                  <a:gd name="T82" fmla="*/ 0 w 46"/>
                  <a:gd name="T83" fmla="*/ 0 h 17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6"/>
                  <a:gd name="T127" fmla="*/ 0 h 179"/>
                  <a:gd name="T128" fmla="*/ 46 w 46"/>
                  <a:gd name="T129" fmla="*/ 179 h 17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6" h="179">
                    <a:moveTo>
                      <a:pt x="0" y="0"/>
                    </a:moveTo>
                    <a:lnTo>
                      <a:pt x="0" y="3"/>
                    </a:lnTo>
                    <a:lnTo>
                      <a:pt x="3" y="6"/>
                    </a:lnTo>
                    <a:lnTo>
                      <a:pt x="3" y="15"/>
                    </a:lnTo>
                    <a:lnTo>
                      <a:pt x="6" y="24"/>
                    </a:lnTo>
                    <a:lnTo>
                      <a:pt x="9" y="37"/>
                    </a:lnTo>
                    <a:lnTo>
                      <a:pt x="12" y="52"/>
                    </a:lnTo>
                    <a:lnTo>
                      <a:pt x="18" y="65"/>
                    </a:lnTo>
                    <a:lnTo>
                      <a:pt x="21" y="80"/>
                    </a:lnTo>
                    <a:lnTo>
                      <a:pt x="25" y="99"/>
                    </a:lnTo>
                    <a:lnTo>
                      <a:pt x="28" y="114"/>
                    </a:lnTo>
                    <a:lnTo>
                      <a:pt x="31" y="126"/>
                    </a:lnTo>
                    <a:lnTo>
                      <a:pt x="34" y="142"/>
                    </a:lnTo>
                    <a:lnTo>
                      <a:pt x="37" y="154"/>
                    </a:lnTo>
                    <a:lnTo>
                      <a:pt x="40" y="163"/>
                    </a:lnTo>
                    <a:lnTo>
                      <a:pt x="40" y="170"/>
                    </a:lnTo>
                    <a:lnTo>
                      <a:pt x="40" y="176"/>
                    </a:lnTo>
                    <a:lnTo>
                      <a:pt x="40" y="179"/>
                    </a:lnTo>
                    <a:lnTo>
                      <a:pt x="43" y="179"/>
                    </a:lnTo>
                    <a:lnTo>
                      <a:pt x="46" y="176"/>
                    </a:lnTo>
                    <a:lnTo>
                      <a:pt x="46" y="173"/>
                    </a:lnTo>
                    <a:lnTo>
                      <a:pt x="46" y="170"/>
                    </a:lnTo>
                    <a:lnTo>
                      <a:pt x="46" y="167"/>
                    </a:lnTo>
                    <a:lnTo>
                      <a:pt x="46" y="160"/>
                    </a:lnTo>
                    <a:lnTo>
                      <a:pt x="43" y="151"/>
                    </a:lnTo>
                    <a:lnTo>
                      <a:pt x="40" y="142"/>
                    </a:lnTo>
                    <a:lnTo>
                      <a:pt x="40" y="133"/>
                    </a:lnTo>
                    <a:lnTo>
                      <a:pt x="37" y="120"/>
                    </a:lnTo>
                    <a:lnTo>
                      <a:pt x="34" y="108"/>
                    </a:lnTo>
                    <a:lnTo>
                      <a:pt x="28" y="95"/>
                    </a:lnTo>
                    <a:lnTo>
                      <a:pt x="25" y="83"/>
                    </a:lnTo>
                    <a:lnTo>
                      <a:pt x="21" y="68"/>
                    </a:lnTo>
                    <a:lnTo>
                      <a:pt x="18" y="55"/>
                    </a:lnTo>
                    <a:lnTo>
                      <a:pt x="12" y="40"/>
                    </a:lnTo>
                    <a:lnTo>
                      <a:pt x="9" y="27"/>
                    </a:lnTo>
                    <a:lnTo>
                      <a:pt x="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4105" name="Freeform 409"/>
            <p:cNvSpPr>
              <a:spLocks/>
            </p:cNvSpPr>
            <p:nvPr/>
          </p:nvSpPr>
          <p:spPr bwMode="auto">
            <a:xfrm>
              <a:off x="3613" y="2390"/>
              <a:ext cx="173" cy="95"/>
            </a:xfrm>
            <a:custGeom>
              <a:avLst/>
              <a:gdLst>
                <a:gd name="T0" fmla="*/ 4 w 173"/>
                <a:gd name="T1" fmla="*/ 89 h 95"/>
                <a:gd name="T2" fmla="*/ 7 w 173"/>
                <a:gd name="T3" fmla="*/ 86 h 95"/>
                <a:gd name="T4" fmla="*/ 13 w 173"/>
                <a:gd name="T5" fmla="*/ 83 h 95"/>
                <a:gd name="T6" fmla="*/ 22 w 173"/>
                <a:gd name="T7" fmla="*/ 80 h 95"/>
                <a:gd name="T8" fmla="*/ 34 w 173"/>
                <a:gd name="T9" fmla="*/ 71 h 95"/>
                <a:gd name="T10" fmla="*/ 50 w 173"/>
                <a:gd name="T11" fmla="*/ 65 h 95"/>
                <a:gd name="T12" fmla="*/ 62 w 173"/>
                <a:gd name="T13" fmla="*/ 58 h 95"/>
                <a:gd name="T14" fmla="*/ 78 w 173"/>
                <a:gd name="T15" fmla="*/ 49 h 95"/>
                <a:gd name="T16" fmla="*/ 93 w 173"/>
                <a:gd name="T17" fmla="*/ 40 h 95"/>
                <a:gd name="T18" fmla="*/ 109 w 173"/>
                <a:gd name="T19" fmla="*/ 31 h 95"/>
                <a:gd name="T20" fmla="*/ 124 w 173"/>
                <a:gd name="T21" fmla="*/ 24 h 95"/>
                <a:gd name="T22" fmla="*/ 139 w 173"/>
                <a:gd name="T23" fmla="*/ 15 h 95"/>
                <a:gd name="T24" fmla="*/ 149 w 173"/>
                <a:gd name="T25" fmla="*/ 9 h 95"/>
                <a:gd name="T26" fmla="*/ 161 w 173"/>
                <a:gd name="T27" fmla="*/ 6 h 95"/>
                <a:gd name="T28" fmla="*/ 167 w 173"/>
                <a:gd name="T29" fmla="*/ 3 h 95"/>
                <a:gd name="T30" fmla="*/ 170 w 173"/>
                <a:gd name="T31" fmla="*/ 0 h 95"/>
                <a:gd name="T32" fmla="*/ 170 w 173"/>
                <a:gd name="T33" fmla="*/ 0 h 95"/>
                <a:gd name="T34" fmla="*/ 167 w 173"/>
                <a:gd name="T35" fmla="*/ 3 h 95"/>
                <a:gd name="T36" fmla="*/ 161 w 173"/>
                <a:gd name="T37" fmla="*/ 6 h 95"/>
                <a:gd name="T38" fmla="*/ 152 w 173"/>
                <a:gd name="T39" fmla="*/ 12 h 95"/>
                <a:gd name="T40" fmla="*/ 143 w 173"/>
                <a:gd name="T41" fmla="*/ 18 h 95"/>
                <a:gd name="T42" fmla="*/ 127 w 173"/>
                <a:gd name="T43" fmla="*/ 27 h 95"/>
                <a:gd name="T44" fmla="*/ 115 w 173"/>
                <a:gd name="T45" fmla="*/ 34 h 95"/>
                <a:gd name="T46" fmla="*/ 99 w 173"/>
                <a:gd name="T47" fmla="*/ 43 h 95"/>
                <a:gd name="T48" fmla="*/ 84 w 173"/>
                <a:gd name="T49" fmla="*/ 52 h 95"/>
                <a:gd name="T50" fmla="*/ 68 w 173"/>
                <a:gd name="T51" fmla="*/ 61 h 95"/>
                <a:gd name="T52" fmla="*/ 53 w 173"/>
                <a:gd name="T53" fmla="*/ 71 h 95"/>
                <a:gd name="T54" fmla="*/ 38 w 173"/>
                <a:gd name="T55" fmla="*/ 80 h 95"/>
                <a:gd name="T56" fmla="*/ 25 w 173"/>
                <a:gd name="T57" fmla="*/ 86 h 95"/>
                <a:gd name="T58" fmla="*/ 16 w 173"/>
                <a:gd name="T59" fmla="*/ 92 h 95"/>
                <a:gd name="T60" fmla="*/ 10 w 173"/>
                <a:gd name="T61" fmla="*/ 95 h 95"/>
                <a:gd name="T62" fmla="*/ 4 w 173"/>
                <a:gd name="T63" fmla="*/ 95 h 95"/>
                <a:gd name="T64" fmla="*/ 0 w 173"/>
                <a:gd name="T65" fmla="*/ 95 h 95"/>
                <a:gd name="T66" fmla="*/ 4 w 173"/>
                <a:gd name="T67" fmla="*/ 89 h 95"/>
                <a:gd name="T68" fmla="*/ 4 w 173"/>
                <a:gd name="T69" fmla="*/ 89 h 9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3"/>
                <a:gd name="T106" fmla="*/ 0 h 95"/>
                <a:gd name="T107" fmla="*/ 173 w 173"/>
                <a:gd name="T108" fmla="*/ 95 h 9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3" h="95">
                  <a:moveTo>
                    <a:pt x="4" y="89"/>
                  </a:moveTo>
                  <a:lnTo>
                    <a:pt x="4" y="89"/>
                  </a:lnTo>
                  <a:lnTo>
                    <a:pt x="7" y="86"/>
                  </a:lnTo>
                  <a:lnTo>
                    <a:pt x="10" y="86"/>
                  </a:lnTo>
                  <a:lnTo>
                    <a:pt x="13" y="83"/>
                  </a:lnTo>
                  <a:lnTo>
                    <a:pt x="19" y="80"/>
                  </a:lnTo>
                  <a:lnTo>
                    <a:pt x="22" y="80"/>
                  </a:lnTo>
                  <a:lnTo>
                    <a:pt x="28" y="74"/>
                  </a:lnTo>
                  <a:lnTo>
                    <a:pt x="34" y="71"/>
                  </a:lnTo>
                  <a:lnTo>
                    <a:pt x="41" y="68"/>
                  </a:lnTo>
                  <a:lnTo>
                    <a:pt x="50" y="65"/>
                  </a:lnTo>
                  <a:lnTo>
                    <a:pt x="56" y="61"/>
                  </a:lnTo>
                  <a:lnTo>
                    <a:pt x="62" y="58"/>
                  </a:lnTo>
                  <a:lnTo>
                    <a:pt x="71" y="52"/>
                  </a:lnTo>
                  <a:lnTo>
                    <a:pt x="78" y="49"/>
                  </a:lnTo>
                  <a:lnTo>
                    <a:pt x="87" y="43"/>
                  </a:lnTo>
                  <a:lnTo>
                    <a:pt x="93" y="40"/>
                  </a:lnTo>
                  <a:lnTo>
                    <a:pt x="102" y="37"/>
                  </a:lnTo>
                  <a:lnTo>
                    <a:pt x="109" y="31"/>
                  </a:lnTo>
                  <a:lnTo>
                    <a:pt x="118" y="27"/>
                  </a:lnTo>
                  <a:lnTo>
                    <a:pt x="124" y="24"/>
                  </a:lnTo>
                  <a:lnTo>
                    <a:pt x="130" y="21"/>
                  </a:lnTo>
                  <a:lnTo>
                    <a:pt x="139" y="15"/>
                  </a:lnTo>
                  <a:lnTo>
                    <a:pt x="146" y="12"/>
                  </a:lnTo>
                  <a:lnTo>
                    <a:pt x="149" y="9"/>
                  </a:lnTo>
                  <a:lnTo>
                    <a:pt x="155" y="6"/>
                  </a:lnTo>
                  <a:lnTo>
                    <a:pt x="161" y="6"/>
                  </a:lnTo>
                  <a:lnTo>
                    <a:pt x="164" y="3"/>
                  </a:lnTo>
                  <a:lnTo>
                    <a:pt x="167" y="3"/>
                  </a:lnTo>
                  <a:lnTo>
                    <a:pt x="170" y="0"/>
                  </a:lnTo>
                  <a:lnTo>
                    <a:pt x="173" y="0"/>
                  </a:lnTo>
                  <a:lnTo>
                    <a:pt x="170" y="0"/>
                  </a:lnTo>
                  <a:lnTo>
                    <a:pt x="167" y="3"/>
                  </a:lnTo>
                  <a:lnTo>
                    <a:pt x="161" y="6"/>
                  </a:lnTo>
                  <a:lnTo>
                    <a:pt x="158" y="9"/>
                  </a:lnTo>
                  <a:lnTo>
                    <a:pt x="152" y="12"/>
                  </a:lnTo>
                  <a:lnTo>
                    <a:pt x="149" y="15"/>
                  </a:lnTo>
                  <a:lnTo>
                    <a:pt x="143" y="18"/>
                  </a:lnTo>
                  <a:lnTo>
                    <a:pt x="136" y="21"/>
                  </a:lnTo>
                  <a:lnTo>
                    <a:pt x="127" y="27"/>
                  </a:lnTo>
                  <a:lnTo>
                    <a:pt x="121" y="31"/>
                  </a:lnTo>
                  <a:lnTo>
                    <a:pt x="115" y="34"/>
                  </a:lnTo>
                  <a:lnTo>
                    <a:pt x="105" y="40"/>
                  </a:lnTo>
                  <a:lnTo>
                    <a:pt x="99" y="43"/>
                  </a:lnTo>
                  <a:lnTo>
                    <a:pt x="90" y="49"/>
                  </a:lnTo>
                  <a:lnTo>
                    <a:pt x="84" y="52"/>
                  </a:lnTo>
                  <a:lnTo>
                    <a:pt x="75" y="58"/>
                  </a:lnTo>
                  <a:lnTo>
                    <a:pt x="68" y="61"/>
                  </a:lnTo>
                  <a:lnTo>
                    <a:pt x="59" y="68"/>
                  </a:lnTo>
                  <a:lnTo>
                    <a:pt x="53" y="71"/>
                  </a:lnTo>
                  <a:lnTo>
                    <a:pt x="47" y="74"/>
                  </a:lnTo>
                  <a:lnTo>
                    <a:pt x="38" y="80"/>
                  </a:lnTo>
                  <a:lnTo>
                    <a:pt x="31" y="83"/>
                  </a:lnTo>
                  <a:lnTo>
                    <a:pt x="25" y="86"/>
                  </a:lnTo>
                  <a:lnTo>
                    <a:pt x="22" y="89"/>
                  </a:lnTo>
                  <a:lnTo>
                    <a:pt x="16" y="92"/>
                  </a:lnTo>
                  <a:lnTo>
                    <a:pt x="13" y="92"/>
                  </a:lnTo>
                  <a:lnTo>
                    <a:pt x="10" y="95"/>
                  </a:lnTo>
                  <a:lnTo>
                    <a:pt x="7" y="95"/>
                  </a:lnTo>
                  <a:lnTo>
                    <a:pt x="4" y="95"/>
                  </a:lnTo>
                  <a:lnTo>
                    <a:pt x="0" y="95"/>
                  </a:lnTo>
                  <a:lnTo>
                    <a:pt x="0" y="92"/>
                  </a:lnTo>
                  <a:lnTo>
                    <a:pt x="4" y="8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6" name="Freeform 410"/>
            <p:cNvSpPr>
              <a:spLocks/>
            </p:cNvSpPr>
            <p:nvPr/>
          </p:nvSpPr>
          <p:spPr bwMode="auto">
            <a:xfrm>
              <a:off x="3629" y="2458"/>
              <a:ext cx="130" cy="74"/>
            </a:xfrm>
            <a:custGeom>
              <a:avLst/>
              <a:gdLst>
                <a:gd name="T0" fmla="*/ 3 w 130"/>
                <a:gd name="T1" fmla="*/ 68 h 74"/>
                <a:gd name="T2" fmla="*/ 3 w 130"/>
                <a:gd name="T3" fmla="*/ 68 h 74"/>
                <a:gd name="T4" fmla="*/ 9 w 130"/>
                <a:gd name="T5" fmla="*/ 64 h 74"/>
                <a:gd name="T6" fmla="*/ 12 w 130"/>
                <a:gd name="T7" fmla="*/ 61 h 74"/>
                <a:gd name="T8" fmla="*/ 22 w 130"/>
                <a:gd name="T9" fmla="*/ 58 h 74"/>
                <a:gd name="T10" fmla="*/ 31 w 130"/>
                <a:gd name="T11" fmla="*/ 52 h 74"/>
                <a:gd name="T12" fmla="*/ 40 w 130"/>
                <a:gd name="T13" fmla="*/ 46 h 74"/>
                <a:gd name="T14" fmla="*/ 52 w 130"/>
                <a:gd name="T15" fmla="*/ 40 h 74"/>
                <a:gd name="T16" fmla="*/ 65 w 130"/>
                <a:gd name="T17" fmla="*/ 34 h 74"/>
                <a:gd name="T18" fmla="*/ 77 w 130"/>
                <a:gd name="T19" fmla="*/ 27 h 74"/>
                <a:gd name="T20" fmla="*/ 86 w 130"/>
                <a:gd name="T21" fmla="*/ 21 h 74"/>
                <a:gd name="T22" fmla="*/ 99 w 130"/>
                <a:gd name="T23" fmla="*/ 15 h 74"/>
                <a:gd name="T24" fmla="*/ 108 w 130"/>
                <a:gd name="T25" fmla="*/ 9 h 74"/>
                <a:gd name="T26" fmla="*/ 114 w 130"/>
                <a:gd name="T27" fmla="*/ 6 h 74"/>
                <a:gd name="T28" fmla="*/ 123 w 130"/>
                <a:gd name="T29" fmla="*/ 3 h 74"/>
                <a:gd name="T30" fmla="*/ 127 w 130"/>
                <a:gd name="T31" fmla="*/ 0 h 74"/>
                <a:gd name="T32" fmla="*/ 130 w 130"/>
                <a:gd name="T33" fmla="*/ 0 h 74"/>
                <a:gd name="T34" fmla="*/ 127 w 130"/>
                <a:gd name="T35" fmla="*/ 0 h 74"/>
                <a:gd name="T36" fmla="*/ 123 w 130"/>
                <a:gd name="T37" fmla="*/ 3 h 74"/>
                <a:gd name="T38" fmla="*/ 117 w 130"/>
                <a:gd name="T39" fmla="*/ 6 h 74"/>
                <a:gd name="T40" fmla="*/ 111 w 130"/>
                <a:gd name="T41" fmla="*/ 12 h 74"/>
                <a:gd name="T42" fmla="*/ 102 w 130"/>
                <a:gd name="T43" fmla="*/ 18 h 74"/>
                <a:gd name="T44" fmla="*/ 93 w 130"/>
                <a:gd name="T45" fmla="*/ 24 h 74"/>
                <a:gd name="T46" fmla="*/ 80 w 130"/>
                <a:gd name="T47" fmla="*/ 30 h 74"/>
                <a:gd name="T48" fmla="*/ 68 w 130"/>
                <a:gd name="T49" fmla="*/ 37 h 74"/>
                <a:gd name="T50" fmla="*/ 59 w 130"/>
                <a:gd name="T51" fmla="*/ 46 h 74"/>
                <a:gd name="T52" fmla="*/ 46 w 130"/>
                <a:gd name="T53" fmla="*/ 52 h 74"/>
                <a:gd name="T54" fmla="*/ 34 w 130"/>
                <a:gd name="T55" fmla="*/ 58 h 74"/>
                <a:gd name="T56" fmla="*/ 25 w 130"/>
                <a:gd name="T57" fmla="*/ 64 h 74"/>
                <a:gd name="T58" fmla="*/ 15 w 130"/>
                <a:gd name="T59" fmla="*/ 68 h 74"/>
                <a:gd name="T60" fmla="*/ 9 w 130"/>
                <a:gd name="T61" fmla="*/ 74 h 74"/>
                <a:gd name="T62" fmla="*/ 6 w 130"/>
                <a:gd name="T63" fmla="*/ 74 h 74"/>
                <a:gd name="T64" fmla="*/ 3 w 130"/>
                <a:gd name="T65" fmla="*/ 74 h 74"/>
                <a:gd name="T66" fmla="*/ 0 w 130"/>
                <a:gd name="T67" fmla="*/ 74 h 74"/>
                <a:gd name="T68" fmla="*/ 0 w 130"/>
                <a:gd name="T69" fmla="*/ 71 h 74"/>
                <a:gd name="T70" fmla="*/ 3 w 130"/>
                <a:gd name="T71" fmla="*/ 68 h 74"/>
                <a:gd name="T72" fmla="*/ 3 w 130"/>
                <a:gd name="T73" fmla="*/ 68 h 74"/>
                <a:gd name="T74" fmla="*/ 3 w 130"/>
                <a:gd name="T75" fmla="*/ 68 h 7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0"/>
                <a:gd name="T115" fmla="*/ 0 h 74"/>
                <a:gd name="T116" fmla="*/ 130 w 130"/>
                <a:gd name="T117" fmla="*/ 74 h 7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0" h="74">
                  <a:moveTo>
                    <a:pt x="3" y="68"/>
                  </a:moveTo>
                  <a:lnTo>
                    <a:pt x="3" y="68"/>
                  </a:lnTo>
                  <a:lnTo>
                    <a:pt x="9" y="64"/>
                  </a:lnTo>
                  <a:lnTo>
                    <a:pt x="12" y="61"/>
                  </a:lnTo>
                  <a:lnTo>
                    <a:pt x="22" y="58"/>
                  </a:lnTo>
                  <a:lnTo>
                    <a:pt x="31" y="52"/>
                  </a:lnTo>
                  <a:lnTo>
                    <a:pt x="40" y="46"/>
                  </a:lnTo>
                  <a:lnTo>
                    <a:pt x="52" y="40"/>
                  </a:lnTo>
                  <a:lnTo>
                    <a:pt x="65" y="34"/>
                  </a:lnTo>
                  <a:lnTo>
                    <a:pt x="77" y="27"/>
                  </a:lnTo>
                  <a:lnTo>
                    <a:pt x="86" y="21"/>
                  </a:lnTo>
                  <a:lnTo>
                    <a:pt x="99" y="15"/>
                  </a:lnTo>
                  <a:lnTo>
                    <a:pt x="108" y="9"/>
                  </a:lnTo>
                  <a:lnTo>
                    <a:pt x="114" y="6"/>
                  </a:lnTo>
                  <a:lnTo>
                    <a:pt x="123" y="3"/>
                  </a:lnTo>
                  <a:lnTo>
                    <a:pt x="127" y="0"/>
                  </a:lnTo>
                  <a:lnTo>
                    <a:pt x="130" y="0"/>
                  </a:lnTo>
                  <a:lnTo>
                    <a:pt x="127" y="0"/>
                  </a:lnTo>
                  <a:lnTo>
                    <a:pt x="123" y="3"/>
                  </a:lnTo>
                  <a:lnTo>
                    <a:pt x="117" y="6"/>
                  </a:lnTo>
                  <a:lnTo>
                    <a:pt x="111" y="12"/>
                  </a:lnTo>
                  <a:lnTo>
                    <a:pt x="102" y="18"/>
                  </a:lnTo>
                  <a:lnTo>
                    <a:pt x="93" y="24"/>
                  </a:lnTo>
                  <a:lnTo>
                    <a:pt x="80" y="30"/>
                  </a:lnTo>
                  <a:lnTo>
                    <a:pt x="68" y="37"/>
                  </a:lnTo>
                  <a:lnTo>
                    <a:pt x="59" y="46"/>
                  </a:lnTo>
                  <a:lnTo>
                    <a:pt x="46" y="52"/>
                  </a:lnTo>
                  <a:lnTo>
                    <a:pt x="34" y="58"/>
                  </a:lnTo>
                  <a:lnTo>
                    <a:pt x="25" y="64"/>
                  </a:lnTo>
                  <a:lnTo>
                    <a:pt x="15" y="68"/>
                  </a:lnTo>
                  <a:lnTo>
                    <a:pt x="9" y="74"/>
                  </a:lnTo>
                  <a:lnTo>
                    <a:pt x="6" y="74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0" y="71"/>
                  </a:lnTo>
                  <a:lnTo>
                    <a:pt x="3" y="6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7" name="Freeform 411"/>
            <p:cNvSpPr>
              <a:spLocks/>
            </p:cNvSpPr>
            <p:nvPr/>
          </p:nvSpPr>
          <p:spPr bwMode="auto">
            <a:xfrm>
              <a:off x="3644" y="2495"/>
              <a:ext cx="130" cy="77"/>
            </a:xfrm>
            <a:custGeom>
              <a:avLst/>
              <a:gdLst>
                <a:gd name="T0" fmla="*/ 3 w 130"/>
                <a:gd name="T1" fmla="*/ 71 h 77"/>
                <a:gd name="T2" fmla="*/ 3 w 130"/>
                <a:gd name="T3" fmla="*/ 68 h 77"/>
                <a:gd name="T4" fmla="*/ 7 w 130"/>
                <a:gd name="T5" fmla="*/ 68 h 77"/>
                <a:gd name="T6" fmla="*/ 13 w 130"/>
                <a:gd name="T7" fmla="*/ 65 h 77"/>
                <a:gd name="T8" fmla="*/ 22 w 130"/>
                <a:gd name="T9" fmla="*/ 58 h 77"/>
                <a:gd name="T10" fmla="*/ 31 w 130"/>
                <a:gd name="T11" fmla="*/ 52 h 77"/>
                <a:gd name="T12" fmla="*/ 44 w 130"/>
                <a:gd name="T13" fmla="*/ 49 h 77"/>
                <a:gd name="T14" fmla="*/ 53 w 130"/>
                <a:gd name="T15" fmla="*/ 43 h 77"/>
                <a:gd name="T16" fmla="*/ 65 w 130"/>
                <a:gd name="T17" fmla="*/ 34 h 77"/>
                <a:gd name="T18" fmla="*/ 78 w 130"/>
                <a:gd name="T19" fmla="*/ 27 h 77"/>
                <a:gd name="T20" fmla="*/ 90 w 130"/>
                <a:gd name="T21" fmla="*/ 21 h 77"/>
                <a:gd name="T22" fmla="*/ 99 w 130"/>
                <a:gd name="T23" fmla="*/ 15 h 77"/>
                <a:gd name="T24" fmla="*/ 108 w 130"/>
                <a:gd name="T25" fmla="*/ 12 h 77"/>
                <a:gd name="T26" fmla="*/ 118 w 130"/>
                <a:gd name="T27" fmla="*/ 6 h 77"/>
                <a:gd name="T28" fmla="*/ 124 w 130"/>
                <a:gd name="T29" fmla="*/ 3 h 77"/>
                <a:gd name="T30" fmla="*/ 130 w 130"/>
                <a:gd name="T31" fmla="*/ 3 h 77"/>
                <a:gd name="T32" fmla="*/ 130 w 130"/>
                <a:gd name="T33" fmla="*/ 0 h 77"/>
                <a:gd name="T34" fmla="*/ 130 w 130"/>
                <a:gd name="T35" fmla="*/ 3 h 77"/>
                <a:gd name="T36" fmla="*/ 127 w 130"/>
                <a:gd name="T37" fmla="*/ 3 h 77"/>
                <a:gd name="T38" fmla="*/ 121 w 130"/>
                <a:gd name="T39" fmla="*/ 9 h 77"/>
                <a:gd name="T40" fmla="*/ 112 w 130"/>
                <a:gd name="T41" fmla="*/ 12 h 77"/>
                <a:gd name="T42" fmla="*/ 102 w 130"/>
                <a:gd name="T43" fmla="*/ 18 h 77"/>
                <a:gd name="T44" fmla="*/ 93 w 130"/>
                <a:gd name="T45" fmla="*/ 24 h 77"/>
                <a:gd name="T46" fmla="*/ 81 w 130"/>
                <a:gd name="T47" fmla="*/ 34 h 77"/>
                <a:gd name="T48" fmla="*/ 71 w 130"/>
                <a:gd name="T49" fmla="*/ 40 h 77"/>
                <a:gd name="T50" fmla="*/ 59 w 130"/>
                <a:gd name="T51" fmla="*/ 46 h 77"/>
                <a:gd name="T52" fmla="*/ 47 w 130"/>
                <a:gd name="T53" fmla="*/ 52 h 77"/>
                <a:gd name="T54" fmla="*/ 34 w 130"/>
                <a:gd name="T55" fmla="*/ 61 h 77"/>
                <a:gd name="T56" fmla="*/ 25 w 130"/>
                <a:gd name="T57" fmla="*/ 65 h 77"/>
                <a:gd name="T58" fmla="*/ 16 w 130"/>
                <a:gd name="T59" fmla="*/ 71 h 77"/>
                <a:gd name="T60" fmla="*/ 10 w 130"/>
                <a:gd name="T61" fmla="*/ 74 h 77"/>
                <a:gd name="T62" fmla="*/ 7 w 130"/>
                <a:gd name="T63" fmla="*/ 77 h 77"/>
                <a:gd name="T64" fmla="*/ 3 w 130"/>
                <a:gd name="T65" fmla="*/ 77 h 77"/>
                <a:gd name="T66" fmla="*/ 0 w 130"/>
                <a:gd name="T67" fmla="*/ 74 h 77"/>
                <a:gd name="T68" fmla="*/ 0 w 130"/>
                <a:gd name="T69" fmla="*/ 74 h 77"/>
                <a:gd name="T70" fmla="*/ 0 w 130"/>
                <a:gd name="T71" fmla="*/ 71 h 77"/>
                <a:gd name="T72" fmla="*/ 3 w 130"/>
                <a:gd name="T73" fmla="*/ 71 h 77"/>
                <a:gd name="T74" fmla="*/ 3 w 130"/>
                <a:gd name="T75" fmla="*/ 71 h 7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0"/>
                <a:gd name="T115" fmla="*/ 0 h 77"/>
                <a:gd name="T116" fmla="*/ 130 w 130"/>
                <a:gd name="T117" fmla="*/ 77 h 7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0" h="77">
                  <a:moveTo>
                    <a:pt x="3" y="71"/>
                  </a:moveTo>
                  <a:lnTo>
                    <a:pt x="3" y="68"/>
                  </a:lnTo>
                  <a:lnTo>
                    <a:pt x="7" y="68"/>
                  </a:lnTo>
                  <a:lnTo>
                    <a:pt x="13" y="65"/>
                  </a:lnTo>
                  <a:lnTo>
                    <a:pt x="22" y="58"/>
                  </a:lnTo>
                  <a:lnTo>
                    <a:pt x="31" y="52"/>
                  </a:lnTo>
                  <a:lnTo>
                    <a:pt x="44" y="49"/>
                  </a:lnTo>
                  <a:lnTo>
                    <a:pt x="53" y="43"/>
                  </a:lnTo>
                  <a:lnTo>
                    <a:pt x="65" y="34"/>
                  </a:lnTo>
                  <a:lnTo>
                    <a:pt x="78" y="27"/>
                  </a:lnTo>
                  <a:lnTo>
                    <a:pt x="90" y="21"/>
                  </a:lnTo>
                  <a:lnTo>
                    <a:pt x="99" y="15"/>
                  </a:lnTo>
                  <a:lnTo>
                    <a:pt x="108" y="12"/>
                  </a:lnTo>
                  <a:lnTo>
                    <a:pt x="118" y="6"/>
                  </a:lnTo>
                  <a:lnTo>
                    <a:pt x="124" y="3"/>
                  </a:lnTo>
                  <a:lnTo>
                    <a:pt x="130" y="3"/>
                  </a:lnTo>
                  <a:lnTo>
                    <a:pt x="130" y="0"/>
                  </a:lnTo>
                  <a:lnTo>
                    <a:pt x="130" y="3"/>
                  </a:lnTo>
                  <a:lnTo>
                    <a:pt x="127" y="3"/>
                  </a:lnTo>
                  <a:lnTo>
                    <a:pt x="121" y="9"/>
                  </a:lnTo>
                  <a:lnTo>
                    <a:pt x="112" y="12"/>
                  </a:lnTo>
                  <a:lnTo>
                    <a:pt x="102" y="18"/>
                  </a:lnTo>
                  <a:lnTo>
                    <a:pt x="93" y="24"/>
                  </a:lnTo>
                  <a:lnTo>
                    <a:pt x="81" y="34"/>
                  </a:lnTo>
                  <a:lnTo>
                    <a:pt x="71" y="40"/>
                  </a:lnTo>
                  <a:lnTo>
                    <a:pt x="59" y="46"/>
                  </a:lnTo>
                  <a:lnTo>
                    <a:pt x="47" y="52"/>
                  </a:lnTo>
                  <a:lnTo>
                    <a:pt x="34" y="61"/>
                  </a:lnTo>
                  <a:lnTo>
                    <a:pt x="25" y="65"/>
                  </a:lnTo>
                  <a:lnTo>
                    <a:pt x="16" y="71"/>
                  </a:lnTo>
                  <a:lnTo>
                    <a:pt x="10" y="74"/>
                  </a:lnTo>
                  <a:lnTo>
                    <a:pt x="7" y="77"/>
                  </a:lnTo>
                  <a:lnTo>
                    <a:pt x="3" y="77"/>
                  </a:lnTo>
                  <a:lnTo>
                    <a:pt x="0" y="74"/>
                  </a:lnTo>
                  <a:lnTo>
                    <a:pt x="0" y="71"/>
                  </a:lnTo>
                  <a:lnTo>
                    <a:pt x="3" y="7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8" name="Freeform 412"/>
            <p:cNvSpPr>
              <a:spLocks/>
            </p:cNvSpPr>
            <p:nvPr/>
          </p:nvSpPr>
          <p:spPr bwMode="auto">
            <a:xfrm>
              <a:off x="3660" y="2541"/>
              <a:ext cx="126" cy="74"/>
            </a:xfrm>
            <a:custGeom>
              <a:avLst/>
              <a:gdLst>
                <a:gd name="T0" fmla="*/ 3 w 126"/>
                <a:gd name="T1" fmla="*/ 68 h 74"/>
                <a:gd name="T2" fmla="*/ 3 w 126"/>
                <a:gd name="T3" fmla="*/ 65 h 74"/>
                <a:gd name="T4" fmla="*/ 9 w 126"/>
                <a:gd name="T5" fmla="*/ 65 h 74"/>
                <a:gd name="T6" fmla="*/ 15 w 126"/>
                <a:gd name="T7" fmla="*/ 62 h 74"/>
                <a:gd name="T8" fmla="*/ 21 w 126"/>
                <a:gd name="T9" fmla="*/ 56 h 74"/>
                <a:gd name="T10" fmla="*/ 31 w 126"/>
                <a:gd name="T11" fmla="*/ 53 h 74"/>
                <a:gd name="T12" fmla="*/ 40 w 126"/>
                <a:gd name="T13" fmla="*/ 46 h 74"/>
                <a:gd name="T14" fmla="*/ 52 w 126"/>
                <a:gd name="T15" fmla="*/ 40 h 74"/>
                <a:gd name="T16" fmla="*/ 62 w 126"/>
                <a:gd name="T17" fmla="*/ 34 h 74"/>
                <a:gd name="T18" fmla="*/ 74 w 126"/>
                <a:gd name="T19" fmla="*/ 28 h 74"/>
                <a:gd name="T20" fmla="*/ 86 w 126"/>
                <a:gd name="T21" fmla="*/ 22 h 74"/>
                <a:gd name="T22" fmla="*/ 96 w 126"/>
                <a:gd name="T23" fmla="*/ 15 h 74"/>
                <a:gd name="T24" fmla="*/ 105 w 126"/>
                <a:gd name="T25" fmla="*/ 9 h 74"/>
                <a:gd name="T26" fmla="*/ 114 w 126"/>
                <a:gd name="T27" fmla="*/ 6 h 74"/>
                <a:gd name="T28" fmla="*/ 120 w 126"/>
                <a:gd name="T29" fmla="*/ 3 h 74"/>
                <a:gd name="T30" fmla="*/ 123 w 126"/>
                <a:gd name="T31" fmla="*/ 0 h 74"/>
                <a:gd name="T32" fmla="*/ 126 w 126"/>
                <a:gd name="T33" fmla="*/ 0 h 74"/>
                <a:gd name="T34" fmla="*/ 123 w 126"/>
                <a:gd name="T35" fmla="*/ 0 h 74"/>
                <a:gd name="T36" fmla="*/ 120 w 126"/>
                <a:gd name="T37" fmla="*/ 3 h 74"/>
                <a:gd name="T38" fmla="*/ 114 w 126"/>
                <a:gd name="T39" fmla="*/ 6 h 74"/>
                <a:gd name="T40" fmla="*/ 108 w 126"/>
                <a:gd name="T41" fmla="*/ 12 h 74"/>
                <a:gd name="T42" fmla="*/ 99 w 126"/>
                <a:gd name="T43" fmla="*/ 19 h 74"/>
                <a:gd name="T44" fmla="*/ 89 w 126"/>
                <a:gd name="T45" fmla="*/ 25 h 74"/>
                <a:gd name="T46" fmla="*/ 77 w 126"/>
                <a:gd name="T47" fmla="*/ 31 h 74"/>
                <a:gd name="T48" fmla="*/ 68 w 126"/>
                <a:gd name="T49" fmla="*/ 37 h 74"/>
                <a:gd name="T50" fmla="*/ 55 w 126"/>
                <a:gd name="T51" fmla="*/ 46 h 74"/>
                <a:gd name="T52" fmla="*/ 46 w 126"/>
                <a:gd name="T53" fmla="*/ 53 h 74"/>
                <a:gd name="T54" fmla="*/ 34 w 126"/>
                <a:gd name="T55" fmla="*/ 59 h 74"/>
                <a:gd name="T56" fmla="*/ 24 w 126"/>
                <a:gd name="T57" fmla="*/ 65 h 74"/>
                <a:gd name="T58" fmla="*/ 15 w 126"/>
                <a:gd name="T59" fmla="*/ 68 h 74"/>
                <a:gd name="T60" fmla="*/ 9 w 126"/>
                <a:gd name="T61" fmla="*/ 71 h 74"/>
                <a:gd name="T62" fmla="*/ 6 w 126"/>
                <a:gd name="T63" fmla="*/ 74 h 74"/>
                <a:gd name="T64" fmla="*/ 3 w 126"/>
                <a:gd name="T65" fmla="*/ 74 h 74"/>
                <a:gd name="T66" fmla="*/ 0 w 126"/>
                <a:gd name="T67" fmla="*/ 71 h 74"/>
                <a:gd name="T68" fmla="*/ 0 w 126"/>
                <a:gd name="T69" fmla="*/ 71 h 74"/>
                <a:gd name="T70" fmla="*/ 3 w 126"/>
                <a:gd name="T71" fmla="*/ 68 h 74"/>
                <a:gd name="T72" fmla="*/ 3 w 126"/>
                <a:gd name="T73" fmla="*/ 68 h 74"/>
                <a:gd name="T74" fmla="*/ 3 w 126"/>
                <a:gd name="T75" fmla="*/ 68 h 7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6"/>
                <a:gd name="T115" fmla="*/ 0 h 74"/>
                <a:gd name="T116" fmla="*/ 126 w 126"/>
                <a:gd name="T117" fmla="*/ 74 h 7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6" h="74">
                  <a:moveTo>
                    <a:pt x="3" y="68"/>
                  </a:moveTo>
                  <a:lnTo>
                    <a:pt x="3" y="65"/>
                  </a:lnTo>
                  <a:lnTo>
                    <a:pt x="9" y="65"/>
                  </a:lnTo>
                  <a:lnTo>
                    <a:pt x="15" y="62"/>
                  </a:lnTo>
                  <a:lnTo>
                    <a:pt x="21" y="56"/>
                  </a:lnTo>
                  <a:lnTo>
                    <a:pt x="31" y="53"/>
                  </a:lnTo>
                  <a:lnTo>
                    <a:pt x="40" y="46"/>
                  </a:lnTo>
                  <a:lnTo>
                    <a:pt x="52" y="40"/>
                  </a:lnTo>
                  <a:lnTo>
                    <a:pt x="62" y="34"/>
                  </a:lnTo>
                  <a:lnTo>
                    <a:pt x="74" y="28"/>
                  </a:lnTo>
                  <a:lnTo>
                    <a:pt x="86" y="22"/>
                  </a:lnTo>
                  <a:lnTo>
                    <a:pt x="96" y="15"/>
                  </a:lnTo>
                  <a:lnTo>
                    <a:pt x="105" y="9"/>
                  </a:lnTo>
                  <a:lnTo>
                    <a:pt x="114" y="6"/>
                  </a:lnTo>
                  <a:lnTo>
                    <a:pt x="120" y="3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23" y="0"/>
                  </a:lnTo>
                  <a:lnTo>
                    <a:pt x="120" y="3"/>
                  </a:lnTo>
                  <a:lnTo>
                    <a:pt x="114" y="6"/>
                  </a:lnTo>
                  <a:lnTo>
                    <a:pt x="108" y="12"/>
                  </a:lnTo>
                  <a:lnTo>
                    <a:pt x="99" y="19"/>
                  </a:lnTo>
                  <a:lnTo>
                    <a:pt x="89" y="25"/>
                  </a:lnTo>
                  <a:lnTo>
                    <a:pt x="77" y="31"/>
                  </a:lnTo>
                  <a:lnTo>
                    <a:pt x="68" y="37"/>
                  </a:lnTo>
                  <a:lnTo>
                    <a:pt x="55" y="46"/>
                  </a:lnTo>
                  <a:lnTo>
                    <a:pt x="46" y="53"/>
                  </a:lnTo>
                  <a:lnTo>
                    <a:pt x="34" y="59"/>
                  </a:lnTo>
                  <a:lnTo>
                    <a:pt x="24" y="65"/>
                  </a:lnTo>
                  <a:lnTo>
                    <a:pt x="15" y="68"/>
                  </a:lnTo>
                  <a:lnTo>
                    <a:pt x="9" y="71"/>
                  </a:lnTo>
                  <a:lnTo>
                    <a:pt x="6" y="74"/>
                  </a:lnTo>
                  <a:lnTo>
                    <a:pt x="3" y="74"/>
                  </a:lnTo>
                  <a:lnTo>
                    <a:pt x="0" y="71"/>
                  </a:lnTo>
                  <a:lnTo>
                    <a:pt x="3" y="6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9" name="Freeform 413"/>
            <p:cNvSpPr>
              <a:spLocks/>
            </p:cNvSpPr>
            <p:nvPr/>
          </p:nvSpPr>
          <p:spPr bwMode="auto">
            <a:xfrm>
              <a:off x="3672" y="2572"/>
              <a:ext cx="142" cy="86"/>
            </a:xfrm>
            <a:custGeom>
              <a:avLst/>
              <a:gdLst>
                <a:gd name="T0" fmla="*/ 0 w 142"/>
                <a:gd name="T1" fmla="*/ 77 h 86"/>
                <a:gd name="T2" fmla="*/ 3 w 142"/>
                <a:gd name="T3" fmla="*/ 77 h 86"/>
                <a:gd name="T4" fmla="*/ 6 w 142"/>
                <a:gd name="T5" fmla="*/ 74 h 86"/>
                <a:gd name="T6" fmla="*/ 12 w 142"/>
                <a:gd name="T7" fmla="*/ 71 h 86"/>
                <a:gd name="T8" fmla="*/ 22 w 142"/>
                <a:gd name="T9" fmla="*/ 65 h 86"/>
                <a:gd name="T10" fmla="*/ 34 w 142"/>
                <a:gd name="T11" fmla="*/ 62 h 86"/>
                <a:gd name="T12" fmla="*/ 46 w 142"/>
                <a:gd name="T13" fmla="*/ 52 h 86"/>
                <a:gd name="T14" fmla="*/ 59 w 142"/>
                <a:gd name="T15" fmla="*/ 46 h 86"/>
                <a:gd name="T16" fmla="*/ 71 w 142"/>
                <a:gd name="T17" fmla="*/ 40 h 86"/>
                <a:gd name="T18" fmla="*/ 84 w 142"/>
                <a:gd name="T19" fmla="*/ 31 h 86"/>
                <a:gd name="T20" fmla="*/ 96 w 142"/>
                <a:gd name="T21" fmla="*/ 25 h 86"/>
                <a:gd name="T22" fmla="*/ 108 w 142"/>
                <a:gd name="T23" fmla="*/ 18 h 86"/>
                <a:gd name="T24" fmla="*/ 118 w 142"/>
                <a:gd name="T25" fmla="*/ 12 h 86"/>
                <a:gd name="T26" fmla="*/ 127 w 142"/>
                <a:gd name="T27" fmla="*/ 6 h 86"/>
                <a:gd name="T28" fmla="*/ 136 w 142"/>
                <a:gd name="T29" fmla="*/ 3 h 86"/>
                <a:gd name="T30" fmla="*/ 139 w 142"/>
                <a:gd name="T31" fmla="*/ 0 h 86"/>
                <a:gd name="T32" fmla="*/ 142 w 142"/>
                <a:gd name="T33" fmla="*/ 0 h 86"/>
                <a:gd name="T34" fmla="*/ 142 w 142"/>
                <a:gd name="T35" fmla="*/ 0 h 86"/>
                <a:gd name="T36" fmla="*/ 136 w 142"/>
                <a:gd name="T37" fmla="*/ 3 h 86"/>
                <a:gd name="T38" fmla="*/ 130 w 142"/>
                <a:gd name="T39" fmla="*/ 6 h 86"/>
                <a:gd name="T40" fmla="*/ 121 w 142"/>
                <a:gd name="T41" fmla="*/ 12 h 86"/>
                <a:gd name="T42" fmla="*/ 111 w 142"/>
                <a:gd name="T43" fmla="*/ 18 h 86"/>
                <a:gd name="T44" fmla="*/ 99 w 142"/>
                <a:gd name="T45" fmla="*/ 28 h 86"/>
                <a:gd name="T46" fmla="*/ 87 w 142"/>
                <a:gd name="T47" fmla="*/ 34 h 86"/>
                <a:gd name="T48" fmla="*/ 74 w 142"/>
                <a:gd name="T49" fmla="*/ 43 h 86"/>
                <a:gd name="T50" fmla="*/ 62 w 142"/>
                <a:gd name="T51" fmla="*/ 52 h 86"/>
                <a:gd name="T52" fmla="*/ 50 w 142"/>
                <a:gd name="T53" fmla="*/ 59 h 86"/>
                <a:gd name="T54" fmla="*/ 37 w 142"/>
                <a:gd name="T55" fmla="*/ 68 h 86"/>
                <a:gd name="T56" fmla="*/ 25 w 142"/>
                <a:gd name="T57" fmla="*/ 74 h 86"/>
                <a:gd name="T58" fmla="*/ 16 w 142"/>
                <a:gd name="T59" fmla="*/ 77 h 86"/>
                <a:gd name="T60" fmla="*/ 9 w 142"/>
                <a:gd name="T61" fmla="*/ 83 h 86"/>
                <a:gd name="T62" fmla="*/ 3 w 142"/>
                <a:gd name="T63" fmla="*/ 86 h 86"/>
                <a:gd name="T64" fmla="*/ 0 w 142"/>
                <a:gd name="T65" fmla="*/ 86 h 86"/>
                <a:gd name="T66" fmla="*/ 0 w 142"/>
                <a:gd name="T67" fmla="*/ 83 h 86"/>
                <a:gd name="T68" fmla="*/ 0 w 142"/>
                <a:gd name="T69" fmla="*/ 80 h 86"/>
                <a:gd name="T70" fmla="*/ 0 w 142"/>
                <a:gd name="T71" fmla="*/ 80 h 86"/>
                <a:gd name="T72" fmla="*/ 0 w 142"/>
                <a:gd name="T73" fmla="*/ 77 h 86"/>
                <a:gd name="T74" fmla="*/ 0 w 142"/>
                <a:gd name="T75" fmla="*/ 77 h 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42"/>
                <a:gd name="T115" fmla="*/ 0 h 86"/>
                <a:gd name="T116" fmla="*/ 142 w 142"/>
                <a:gd name="T117" fmla="*/ 86 h 8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42" h="86">
                  <a:moveTo>
                    <a:pt x="0" y="77"/>
                  </a:moveTo>
                  <a:lnTo>
                    <a:pt x="3" y="77"/>
                  </a:lnTo>
                  <a:lnTo>
                    <a:pt x="6" y="74"/>
                  </a:lnTo>
                  <a:lnTo>
                    <a:pt x="12" y="71"/>
                  </a:lnTo>
                  <a:lnTo>
                    <a:pt x="22" y="65"/>
                  </a:lnTo>
                  <a:lnTo>
                    <a:pt x="34" y="62"/>
                  </a:lnTo>
                  <a:lnTo>
                    <a:pt x="46" y="52"/>
                  </a:lnTo>
                  <a:lnTo>
                    <a:pt x="59" y="46"/>
                  </a:lnTo>
                  <a:lnTo>
                    <a:pt x="71" y="40"/>
                  </a:lnTo>
                  <a:lnTo>
                    <a:pt x="84" y="31"/>
                  </a:lnTo>
                  <a:lnTo>
                    <a:pt x="96" y="25"/>
                  </a:lnTo>
                  <a:lnTo>
                    <a:pt x="108" y="18"/>
                  </a:lnTo>
                  <a:lnTo>
                    <a:pt x="118" y="12"/>
                  </a:lnTo>
                  <a:lnTo>
                    <a:pt x="127" y="6"/>
                  </a:lnTo>
                  <a:lnTo>
                    <a:pt x="136" y="3"/>
                  </a:lnTo>
                  <a:lnTo>
                    <a:pt x="139" y="0"/>
                  </a:lnTo>
                  <a:lnTo>
                    <a:pt x="142" y="0"/>
                  </a:lnTo>
                  <a:lnTo>
                    <a:pt x="136" y="3"/>
                  </a:lnTo>
                  <a:lnTo>
                    <a:pt x="130" y="6"/>
                  </a:lnTo>
                  <a:lnTo>
                    <a:pt x="121" y="12"/>
                  </a:lnTo>
                  <a:lnTo>
                    <a:pt x="111" y="18"/>
                  </a:lnTo>
                  <a:lnTo>
                    <a:pt x="99" y="28"/>
                  </a:lnTo>
                  <a:lnTo>
                    <a:pt x="87" y="34"/>
                  </a:lnTo>
                  <a:lnTo>
                    <a:pt x="74" y="43"/>
                  </a:lnTo>
                  <a:lnTo>
                    <a:pt x="62" y="52"/>
                  </a:lnTo>
                  <a:lnTo>
                    <a:pt x="50" y="59"/>
                  </a:lnTo>
                  <a:lnTo>
                    <a:pt x="37" y="68"/>
                  </a:lnTo>
                  <a:lnTo>
                    <a:pt x="25" y="74"/>
                  </a:lnTo>
                  <a:lnTo>
                    <a:pt x="16" y="77"/>
                  </a:lnTo>
                  <a:lnTo>
                    <a:pt x="9" y="83"/>
                  </a:lnTo>
                  <a:lnTo>
                    <a:pt x="3" y="86"/>
                  </a:lnTo>
                  <a:lnTo>
                    <a:pt x="0" y="86"/>
                  </a:lnTo>
                  <a:lnTo>
                    <a:pt x="0" y="83"/>
                  </a:lnTo>
                  <a:lnTo>
                    <a:pt x="0" y="80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0" name="Freeform 414"/>
            <p:cNvSpPr>
              <a:spLocks/>
            </p:cNvSpPr>
            <p:nvPr/>
          </p:nvSpPr>
          <p:spPr bwMode="auto">
            <a:xfrm>
              <a:off x="3647" y="2442"/>
              <a:ext cx="65" cy="229"/>
            </a:xfrm>
            <a:custGeom>
              <a:avLst/>
              <a:gdLst>
                <a:gd name="T0" fmla="*/ 0 w 65"/>
                <a:gd name="T1" fmla="*/ 3 h 229"/>
                <a:gd name="T2" fmla="*/ 0 w 65"/>
                <a:gd name="T3" fmla="*/ 3 h 229"/>
                <a:gd name="T4" fmla="*/ 4 w 65"/>
                <a:gd name="T5" fmla="*/ 6 h 229"/>
                <a:gd name="T6" fmla="*/ 4 w 65"/>
                <a:gd name="T7" fmla="*/ 13 h 229"/>
                <a:gd name="T8" fmla="*/ 7 w 65"/>
                <a:gd name="T9" fmla="*/ 19 h 229"/>
                <a:gd name="T10" fmla="*/ 7 w 65"/>
                <a:gd name="T11" fmla="*/ 25 h 229"/>
                <a:gd name="T12" fmla="*/ 10 w 65"/>
                <a:gd name="T13" fmla="*/ 31 h 229"/>
                <a:gd name="T14" fmla="*/ 13 w 65"/>
                <a:gd name="T15" fmla="*/ 40 h 229"/>
                <a:gd name="T16" fmla="*/ 16 w 65"/>
                <a:gd name="T17" fmla="*/ 50 h 229"/>
                <a:gd name="T18" fmla="*/ 19 w 65"/>
                <a:gd name="T19" fmla="*/ 59 h 229"/>
                <a:gd name="T20" fmla="*/ 22 w 65"/>
                <a:gd name="T21" fmla="*/ 68 h 229"/>
                <a:gd name="T22" fmla="*/ 25 w 65"/>
                <a:gd name="T23" fmla="*/ 77 h 229"/>
                <a:gd name="T24" fmla="*/ 28 w 65"/>
                <a:gd name="T25" fmla="*/ 87 h 229"/>
                <a:gd name="T26" fmla="*/ 31 w 65"/>
                <a:gd name="T27" fmla="*/ 96 h 229"/>
                <a:gd name="T28" fmla="*/ 34 w 65"/>
                <a:gd name="T29" fmla="*/ 102 h 229"/>
                <a:gd name="T30" fmla="*/ 37 w 65"/>
                <a:gd name="T31" fmla="*/ 108 h 229"/>
                <a:gd name="T32" fmla="*/ 41 w 65"/>
                <a:gd name="T33" fmla="*/ 114 h 229"/>
                <a:gd name="T34" fmla="*/ 44 w 65"/>
                <a:gd name="T35" fmla="*/ 127 h 229"/>
                <a:gd name="T36" fmla="*/ 50 w 65"/>
                <a:gd name="T37" fmla="*/ 142 h 229"/>
                <a:gd name="T38" fmla="*/ 53 w 65"/>
                <a:gd name="T39" fmla="*/ 158 h 229"/>
                <a:gd name="T40" fmla="*/ 59 w 65"/>
                <a:gd name="T41" fmla="*/ 176 h 229"/>
                <a:gd name="T42" fmla="*/ 62 w 65"/>
                <a:gd name="T43" fmla="*/ 195 h 229"/>
                <a:gd name="T44" fmla="*/ 62 w 65"/>
                <a:gd name="T45" fmla="*/ 210 h 229"/>
                <a:gd name="T46" fmla="*/ 65 w 65"/>
                <a:gd name="T47" fmla="*/ 223 h 229"/>
                <a:gd name="T48" fmla="*/ 65 w 65"/>
                <a:gd name="T49" fmla="*/ 229 h 229"/>
                <a:gd name="T50" fmla="*/ 65 w 65"/>
                <a:gd name="T51" fmla="*/ 226 h 229"/>
                <a:gd name="T52" fmla="*/ 65 w 65"/>
                <a:gd name="T53" fmla="*/ 213 h 229"/>
                <a:gd name="T54" fmla="*/ 62 w 65"/>
                <a:gd name="T55" fmla="*/ 198 h 229"/>
                <a:gd name="T56" fmla="*/ 59 w 65"/>
                <a:gd name="T57" fmla="*/ 179 h 229"/>
                <a:gd name="T58" fmla="*/ 59 w 65"/>
                <a:gd name="T59" fmla="*/ 158 h 229"/>
                <a:gd name="T60" fmla="*/ 53 w 65"/>
                <a:gd name="T61" fmla="*/ 139 h 229"/>
                <a:gd name="T62" fmla="*/ 50 w 65"/>
                <a:gd name="T63" fmla="*/ 124 h 229"/>
                <a:gd name="T64" fmla="*/ 44 w 65"/>
                <a:gd name="T65" fmla="*/ 111 h 229"/>
                <a:gd name="T66" fmla="*/ 37 w 65"/>
                <a:gd name="T67" fmla="*/ 99 h 229"/>
                <a:gd name="T68" fmla="*/ 31 w 65"/>
                <a:gd name="T69" fmla="*/ 87 h 229"/>
                <a:gd name="T70" fmla="*/ 25 w 65"/>
                <a:gd name="T71" fmla="*/ 68 h 229"/>
                <a:gd name="T72" fmla="*/ 19 w 65"/>
                <a:gd name="T73" fmla="*/ 50 h 229"/>
                <a:gd name="T74" fmla="*/ 16 w 65"/>
                <a:gd name="T75" fmla="*/ 31 h 229"/>
                <a:gd name="T76" fmla="*/ 13 w 65"/>
                <a:gd name="T77" fmla="*/ 19 h 229"/>
                <a:gd name="T78" fmla="*/ 10 w 65"/>
                <a:gd name="T79" fmla="*/ 6 h 229"/>
                <a:gd name="T80" fmla="*/ 7 w 65"/>
                <a:gd name="T81" fmla="*/ 3 h 229"/>
                <a:gd name="T82" fmla="*/ 7 w 65"/>
                <a:gd name="T83" fmla="*/ 3 h 229"/>
                <a:gd name="T84" fmla="*/ 4 w 65"/>
                <a:gd name="T85" fmla="*/ 0 h 229"/>
                <a:gd name="T86" fmla="*/ 4 w 65"/>
                <a:gd name="T87" fmla="*/ 0 h 229"/>
                <a:gd name="T88" fmla="*/ 0 w 65"/>
                <a:gd name="T89" fmla="*/ 3 h 229"/>
                <a:gd name="T90" fmla="*/ 0 w 65"/>
                <a:gd name="T91" fmla="*/ 3 h 2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65"/>
                <a:gd name="T139" fmla="*/ 0 h 229"/>
                <a:gd name="T140" fmla="*/ 65 w 65"/>
                <a:gd name="T141" fmla="*/ 229 h 2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65" h="229">
                  <a:moveTo>
                    <a:pt x="0" y="3"/>
                  </a:moveTo>
                  <a:lnTo>
                    <a:pt x="0" y="3"/>
                  </a:lnTo>
                  <a:lnTo>
                    <a:pt x="4" y="6"/>
                  </a:lnTo>
                  <a:lnTo>
                    <a:pt x="4" y="13"/>
                  </a:lnTo>
                  <a:lnTo>
                    <a:pt x="7" y="19"/>
                  </a:lnTo>
                  <a:lnTo>
                    <a:pt x="7" y="25"/>
                  </a:lnTo>
                  <a:lnTo>
                    <a:pt x="10" y="31"/>
                  </a:lnTo>
                  <a:lnTo>
                    <a:pt x="13" y="40"/>
                  </a:lnTo>
                  <a:lnTo>
                    <a:pt x="16" y="50"/>
                  </a:lnTo>
                  <a:lnTo>
                    <a:pt x="19" y="59"/>
                  </a:lnTo>
                  <a:lnTo>
                    <a:pt x="22" y="68"/>
                  </a:lnTo>
                  <a:lnTo>
                    <a:pt x="25" y="77"/>
                  </a:lnTo>
                  <a:lnTo>
                    <a:pt x="28" y="87"/>
                  </a:lnTo>
                  <a:lnTo>
                    <a:pt x="31" y="96"/>
                  </a:lnTo>
                  <a:lnTo>
                    <a:pt x="34" y="102"/>
                  </a:lnTo>
                  <a:lnTo>
                    <a:pt x="37" y="108"/>
                  </a:lnTo>
                  <a:lnTo>
                    <a:pt x="41" y="114"/>
                  </a:lnTo>
                  <a:lnTo>
                    <a:pt x="44" y="127"/>
                  </a:lnTo>
                  <a:lnTo>
                    <a:pt x="50" y="142"/>
                  </a:lnTo>
                  <a:lnTo>
                    <a:pt x="53" y="158"/>
                  </a:lnTo>
                  <a:lnTo>
                    <a:pt x="59" y="176"/>
                  </a:lnTo>
                  <a:lnTo>
                    <a:pt x="62" y="195"/>
                  </a:lnTo>
                  <a:lnTo>
                    <a:pt x="62" y="210"/>
                  </a:lnTo>
                  <a:lnTo>
                    <a:pt x="65" y="223"/>
                  </a:lnTo>
                  <a:lnTo>
                    <a:pt x="65" y="229"/>
                  </a:lnTo>
                  <a:lnTo>
                    <a:pt x="65" y="226"/>
                  </a:lnTo>
                  <a:lnTo>
                    <a:pt x="65" y="213"/>
                  </a:lnTo>
                  <a:lnTo>
                    <a:pt x="62" y="198"/>
                  </a:lnTo>
                  <a:lnTo>
                    <a:pt x="59" y="179"/>
                  </a:lnTo>
                  <a:lnTo>
                    <a:pt x="59" y="158"/>
                  </a:lnTo>
                  <a:lnTo>
                    <a:pt x="53" y="139"/>
                  </a:lnTo>
                  <a:lnTo>
                    <a:pt x="50" y="124"/>
                  </a:lnTo>
                  <a:lnTo>
                    <a:pt x="44" y="111"/>
                  </a:lnTo>
                  <a:lnTo>
                    <a:pt x="37" y="99"/>
                  </a:lnTo>
                  <a:lnTo>
                    <a:pt x="31" y="87"/>
                  </a:lnTo>
                  <a:lnTo>
                    <a:pt x="25" y="68"/>
                  </a:lnTo>
                  <a:lnTo>
                    <a:pt x="19" y="50"/>
                  </a:lnTo>
                  <a:lnTo>
                    <a:pt x="16" y="31"/>
                  </a:lnTo>
                  <a:lnTo>
                    <a:pt x="13" y="19"/>
                  </a:lnTo>
                  <a:lnTo>
                    <a:pt x="10" y="6"/>
                  </a:lnTo>
                  <a:lnTo>
                    <a:pt x="7" y="3"/>
                  </a:lnTo>
                  <a:lnTo>
                    <a:pt x="4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1" name="Freeform 415"/>
            <p:cNvSpPr>
              <a:spLocks/>
            </p:cNvSpPr>
            <p:nvPr/>
          </p:nvSpPr>
          <p:spPr bwMode="auto">
            <a:xfrm>
              <a:off x="3681" y="2424"/>
              <a:ext cx="65" cy="228"/>
            </a:xfrm>
            <a:custGeom>
              <a:avLst/>
              <a:gdLst>
                <a:gd name="T0" fmla="*/ 0 w 65"/>
                <a:gd name="T1" fmla="*/ 3 h 228"/>
                <a:gd name="T2" fmla="*/ 0 w 65"/>
                <a:gd name="T3" fmla="*/ 3 h 228"/>
                <a:gd name="T4" fmla="*/ 3 w 65"/>
                <a:gd name="T5" fmla="*/ 6 h 228"/>
                <a:gd name="T6" fmla="*/ 3 w 65"/>
                <a:gd name="T7" fmla="*/ 12 h 228"/>
                <a:gd name="T8" fmla="*/ 7 w 65"/>
                <a:gd name="T9" fmla="*/ 18 h 228"/>
                <a:gd name="T10" fmla="*/ 7 w 65"/>
                <a:gd name="T11" fmla="*/ 24 h 228"/>
                <a:gd name="T12" fmla="*/ 10 w 65"/>
                <a:gd name="T13" fmla="*/ 31 h 228"/>
                <a:gd name="T14" fmla="*/ 13 w 65"/>
                <a:gd name="T15" fmla="*/ 40 h 228"/>
                <a:gd name="T16" fmla="*/ 16 w 65"/>
                <a:gd name="T17" fmla="*/ 49 h 228"/>
                <a:gd name="T18" fmla="*/ 19 w 65"/>
                <a:gd name="T19" fmla="*/ 58 h 228"/>
                <a:gd name="T20" fmla="*/ 22 w 65"/>
                <a:gd name="T21" fmla="*/ 68 h 228"/>
                <a:gd name="T22" fmla="*/ 25 w 65"/>
                <a:gd name="T23" fmla="*/ 77 h 228"/>
                <a:gd name="T24" fmla="*/ 28 w 65"/>
                <a:gd name="T25" fmla="*/ 86 h 228"/>
                <a:gd name="T26" fmla="*/ 31 w 65"/>
                <a:gd name="T27" fmla="*/ 95 h 228"/>
                <a:gd name="T28" fmla="*/ 34 w 65"/>
                <a:gd name="T29" fmla="*/ 102 h 228"/>
                <a:gd name="T30" fmla="*/ 37 w 65"/>
                <a:gd name="T31" fmla="*/ 108 h 228"/>
                <a:gd name="T32" fmla="*/ 41 w 65"/>
                <a:gd name="T33" fmla="*/ 114 h 228"/>
                <a:gd name="T34" fmla="*/ 44 w 65"/>
                <a:gd name="T35" fmla="*/ 126 h 228"/>
                <a:gd name="T36" fmla="*/ 50 w 65"/>
                <a:gd name="T37" fmla="*/ 142 h 228"/>
                <a:gd name="T38" fmla="*/ 53 w 65"/>
                <a:gd name="T39" fmla="*/ 157 h 228"/>
                <a:gd name="T40" fmla="*/ 59 w 65"/>
                <a:gd name="T41" fmla="*/ 176 h 228"/>
                <a:gd name="T42" fmla="*/ 62 w 65"/>
                <a:gd name="T43" fmla="*/ 194 h 228"/>
                <a:gd name="T44" fmla="*/ 65 w 65"/>
                <a:gd name="T45" fmla="*/ 210 h 228"/>
                <a:gd name="T46" fmla="*/ 65 w 65"/>
                <a:gd name="T47" fmla="*/ 222 h 228"/>
                <a:gd name="T48" fmla="*/ 65 w 65"/>
                <a:gd name="T49" fmla="*/ 228 h 228"/>
                <a:gd name="T50" fmla="*/ 65 w 65"/>
                <a:gd name="T51" fmla="*/ 225 h 228"/>
                <a:gd name="T52" fmla="*/ 65 w 65"/>
                <a:gd name="T53" fmla="*/ 213 h 228"/>
                <a:gd name="T54" fmla="*/ 62 w 65"/>
                <a:gd name="T55" fmla="*/ 197 h 228"/>
                <a:gd name="T56" fmla="*/ 62 w 65"/>
                <a:gd name="T57" fmla="*/ 179 h 228"/>
                <a:gd name="T58" fmla="*/ 59 w 65"/>
                <a:gd name="T59" fmla="*/ 157 h 228"/>
                <a:gd name="T60" fmla="*/ 53 w 65"/>
                <a:gd name="T61" fmla="*/ 139 h 228"/>
                <a:gd name="T62" fmla="*/ 50 w 65"/>
                <a:gd name="T63" fmla="*/ 123 h 228"/>
                <a:gd name="T64" fmla="*/ 44 w 65"/>
                <a:gd name="T65" fmla="*/ 111 h 228"/>
                <a:gd name="T66" fmla="*/ 41 w 65"/>
                <a:gd name="T67" fmla="*/ 108 h 228"/>
                <a:gd name="T68" fmla="*/ 37 w 65"/>
                <a:gd name="T69" fmla="*/ 102 h 228"/>
                <a:gd name="T70" fmla="*/ 34 w 65"/>
                <a:gd name="T71" fmla="*/ 92 h 228"/>
                <a:gd name="T72" fmla="*/ 31 w 65"/>
                <a:gd name="T73" fmla="*/ 86 h 228"/>
                <a:gd name="T74" fmla="*/ 28 w 65"/>
                <a:gd name="T75" fmla="*/ 77 h 228"/>
                <a:gd name="T76" fmla="*/ 25 w 65"/>
                <a:gd name="T77" fmla="*/ 68 h 228"/>
                <a:gd name="T78" fmla="*/ 22 w 65"/>
                <a:gd name="T79" fmla="*/ 58 h 228"/>
                <a:gd name="T80" fmla="*/ 22 w 65"/>
                <a:gd name="T81" fmla="*/ 49 h 228"/>
                <a:gd name="T82" fmla="*/ 19 w 65"/>
                <a:gd name="T83" fmla="*/ 40 h 228"/>
                <a:gd name="T84" fmla="*/ 16 w 65"/>
                <a:gd name="T85" fmla="*/ 31 h 228"/>
                <a:gd name="T86" fmla="*/ 13 w 65"/>
                <a:gd name="T87" fmla="*/ 24 h 228"/>
                <a:gd name="T88" fmla="*/ 10 w 65"/>
                <a:gd name="T89" fmla="*/ 18 h 228"/>
                <a:gd name="T90" fmla="*/ 10 w 65"/>
                <a:gd name="T91" fmla="*/ 12 h 228"/>
                <a:gd name="T92" fmla="*/ 10 w 65"/>
                <a:gd name="T93" fmla="*/ 6 h 228"/>
                <a:gd name="T94" fmla="*/ 7 w 65"/>
                <a:gd name="T95" fmla="*/ 6 h 228"/>
                <a:gd name="T96" fmla="*/ 7 w 65"/>
                <a:gd name="T97" fmla="*/ 3 h 228"/>
                <a:gd name="T98" fmla="*/ 7 w 65"/>
                <a:gd name="T99" fmla="*/ 3 h 228"/>
                <a:gd name="T100" fmla="*/ 7 w 65"/>
                <a:gd name="T101" fmla="*/ 0 h 228"/>
                <a:gd name="T102" fmla="*/ 3 w 65"/>
                <a:gd name="T103" fmla="*/ 0 h 228"/>
                <a:gd name="T104" fmla="*/ 0 w 65"/>
                <a:gd name="T105" fmla="*/ 3 h 228"/>
                <a:gd name="T106" fmla="*/ 0 w 65"/>
                <a:gd name="T107" fmla="*/ 3 h 22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5"/>
                <a:gd name="T163" fmla="*/ 0 h 228"/>
                <a:gd name="T164" fmla="*/ 65 w 65"/>
                <a:gd name="T165" fmla="*/ 228 h 22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5" h="228">
                  <a:moveTo>
                    <a:pt x="0" y="3"/>
                  </a:moveTo>
                  <a:lnTo>
                    <a:pt x="0" y="3"/>
                  </a:lnTo>
                  <a:lnTo>
                    <a:pt x="3" y="6"/>
                  </a:lnTo>
                  <a:lnTo>
                    <a:pt x="3" y="12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31"/>
                  </a:lnTo>
                  <a:lnTo>
                    <a:pt x="13" y="40"/>
                  </a:lnTo>
                  <a:lnTo>
                    <a:pt x="16" y="49"/>
                  </a:lnTo>
                  <a:lnTo>
                    <a:pt x="19" y="58"/>
                  </a:lnTo>
                  <a:lnTo>
                    <a:pt x="22" y="68"/>
                  </a:lnTo>
                  <a:lnTo>
                    <a:pt x="25" y="77"/>
                  </a:lnTo>
                  <a:lnTo>
                    <a:pt x="28" y="86"/>
                  </a:lnTo>
                  <a:lnTo>
                    <a:pt x="31" y="95"/>
                  </a:lnTo>
                  <a:lnTo>
                    <a:pt x="34" y="102"/>
                  </a:lnTo>
                  <a:lnTo>
                    <a:pt x="37" y="108"/>
                  </a:lnTo>
                  <a:lnTo>
                    <a:pt x="41" y="114"/>
                  </a:lnTo>
                  <a:lnTo>
                    <a:pt x="44" y="126"/>
                  </a:lnTo>
                  <a:lnTo>
                    <a:pt x="50" y="142"/>
                  </a:lnTo>
                  <a:lnTo>
                    <a:pt x="53" y="157"/>
                  </a:lnTo>
                  <a:lnTo>
                    <a:pt x="59" y="176"/>
                  </a:lnTo>
                  <a:lnTo>
                    <a:pt x="62" y="194"/>
                  </a:lnTo>
                  <a:lnTo>
                    <a:pt x="65" y="210"/>
                  </a:lnTo>
                  <a:lnTo>
                    <a:pt x="65" y="222"/>
                  </a:lnTo>
                  <a:lnTo>
                    <a:pt x="65" y="228"/>
                  </a:lnTo>
                  <a:lnTo>
                    <a:pt x="65" y="225"/>
                  </a:lnTo>
                  <a:lnTo>
                    <a:pt x="65" y="213"/>
                  </a:lnTo>
                  <a:lnTo>
                    <a:pt x="62" y="197"/>
                  </a:lnTo>
                  <a:lnTo>
                    <a:pt x="62" y="179"/>
                  </a:lnTo>
                  <a:lnTo>
                    <a:pt x="59" y="157"/>
                  </a:lnTo>
                  <a:lnTo>
                    <a:pt x="53" y="139"/>
                  </a:lnTo>
                  <a:lnTo>
                    <a:pt x="50" y="123"/>
                  </a:lnTo>
                  <a:lnTo>
                    <a:pt x="44" y="111"/>
                  </a:lnTo>
                  <a:lnTo>
                    <a:pt x="41" y="108"/>
                  </a:lnTo>
                  <a:lnTo>
                    <a:pt x="37" y="102"/>
                  </a:lnTo>
                  <a:lnTo>
                    <a:pt x="34" y="92"/>
                  </a:lnTo>
                  <a:lnTo>
                    <a:pt x="31" y="86"/>
                  </a:lnTo>
                  <a:lnTo>
                    <a:pt x="28" y="77"/>
                  </a:lnTo>
                  <a:lnTo>
                    <a:pt x="25" y="68"/>
                  </a:lnTo>
                  <a:lnTo>
                    <a:pt x="22" y="58"/>
                  </a:lnTo>
                  <a:lnTo>
                    <a:pt x="22" y="49"/>
                  </a:lnTo>
                  <a:lnTo>
                    <a:pt x="19" y="40"/>
                  </a:lnTo>
                  <a:lnTo>
                    <a:pt x="16" y="31"/>
                  </a:lnTo>
                  <a:lnTo>
                    <a:pt x="13" y="24"/>
                  </a:lnTo>
                  <a:lnTo>
                    <a:pt x="10" y="18"/>
                  </a:lnTo>
                  <a:lnTo>
                    <a:pt x="10" y="12"/>
                  </a:lnTo>
                  <a:lnTo>
                    <a:pt x="10" y="6"/>
                  </a:lnTo>
                  <a:lnTo>
                    <a:pt x="7" y="6"/>
                  </a:lnTo>
                  <a:lnTo>
                    <a:pt x="7" y="3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2" name="Freeform 416"/>
            <p:cNvSpPr>
              <a:spLocks/>
            </p:cNvSpPr>
            <p:nvPr/>
          </p:nvSpPr>
          <p:spPr bwMode="auto">
            <a:xfrm>
              <a:off x="3718" y="2405"/>
              <a:ext cx="65" cy="229"/>
            </a:xfrm>
            <a:custGeom>
              <a:avLst/>
              <a:gdLst>
                <a:gd name="T0" fmla="*/ 0 w 65"/>
                <a:gd name="T1" fmla="*/ 3 h 229"/>
                <a:gd name="T2" fmla="*/ 0 w 65"/>
                <a:gd name="T3" fmla="*/ 6 h 229"/>
                <a:gd name="T4" fmla="*/ 0 w 65"/>
                <a:gd name="T5" fmla="*/ 9 h 229"/>
                <a:gd name="T6" fmla="*/ 0 w 65"/>
                <a:gd name="T7" fmla="*/ 12 h 229"/>
                <a:gd name="T8" fmla="*/ 4 w 65"/>
                <a:gd name="T9" fmla="*/ 19 h 229"/>
                <a:gd name="T10" fmla="*/ 7 w 65"/>
                <a:gd name="T11" fmla="*/ 25 h 229"/>
                <a:gd name="T12" fmla="*/ 7 w 65"/>
                <a:gd name="T13" fmla="*/ 34 h 229"/>
                <a:gd name="T14" fmla="*/ 10 w 65"/>
                <a:gd name="T15" fmla="*/ 40 h 229"/>
                <a:gd name="T16" fmla="*/ 13 w 65"/>
                <a:gd name="T17" fmla="*/ 50 h 229"/>
                <a:gd name="T18" fmla="*/ 16 w 65"/>
                <a:gd name="T19" fmla="*/ 59 h 229"/>
                <a:gd name="T20" fmla="*/ 19 w 65"/>
                <a:gd name="T21" fmla="*/ 68 h 229"/>
                <a:gd name="T22" fmla="*/ 22 w 65"/>
                <a:gd name="T23" fmla="*/ 77 h 229"/>
                <a:gd name="T24" fmla="*/ 25 w 65"/>
                <a:gd name="T25" fmla="*/ 87 h 229"/>
                <a:gd name="T26" fmla="*/ 28 w 65"/>
                <a:gd name="T27" fmla="*/ 96 h 229"/>
                <a:gd name="T28" fmla="*/ 31 w 65"/>
                <a:gd name="T29" fmla="*/ 102 h 229"/>
                <a:gd name="T30" fmla="*/ 34 w 65"/>
                <a:gd name="T31" fmla="*/ 108 h 229"/>
                <a:gd name="T32" fmla="*/ 38 w 65"/>
                <a:gd name="T33" fmla="*/ 114 h 229"/>
                <a:gd name="T34" fmla="*/ 41 w 65"/>
                <a:gd name="T35" fmla="*/ 127 h 229"/>
                <a:gd name="T36" fmla="*/ 47 w 65"/>
                <a:gd name="T37" fmla="*/ 142 h 229"/>
                <a:gd name="T38" fmla="*/ 50 w 65"/>
                <a:gd name="T39" fmla="*/ 161 h 229"/>
                <a:gd name="T40" fmla="*/ 56 w 65"/>
                <a:gd name="T41" fmla="*/ 179 h 229"/>
                <a:gd name="T42" fmla="*/ 59 w 65"/>
                <a:gd name="T43" fmla="*/ 195 h 229"/>
                <a:gd name="T44" fmla="*/ 62 w 65"/>
                <a:gd name="T45" fmla="*/ 210 h 229"/>
                <a:gd name="T46" fmla="*/ 62 w 65"/>
                <a:gd name="T47" fmla="*/ 223 h 229"/>
                <a:gd name="T48" fmla="*/ 65 w 65"/>
                <a:gd name="T49" fmla="*/ 229 h 229"/>
                <a:gd name="T50" fmla="*/ 62 w 65"/>
                <a:gd name="T51" fmla="*/ 226 h 229"/>
                <a:gd name="T52" fmla="*/ 62 w 65"/>
                <a:gd name="T53" fmla="*/ 213 h 229"/>
                <a:gd name="T54" fmla="*/ 62 w 65"/>
                <a:gd name="T55" fmla="*/ 198 h 229"/>
                <a:gd name="T56" fmla="*/ 59 w 65"/>
                <a:gd name="T57" fmla="*/ 179 h 229"/>
                <a:gd name="T58" fmla="*/ 56 w 65"/>
                <a:gd name="T59" fmla="*/ 158 h 229"/>
                <a:gd name="T60" fmla="*/ 50 w 65"/>
                <a:gd name="T61" fmla="*/ 139 h 229"/>
                <a:gd name="T62" fmla="*/ 47 w 65"/>
                <a:gd name="T63" fmla="*/ 124 h 229"/>
                <a:gd name="T64" fmla="*/ 41 w 65"/>
                <a:gd name="T65" fmla="*/ 111 h 229"/>
                <a:gd name="T66" fmla="*/ 38 w 65"/>
                <a:gd name="T67" fmla="*/ 108 h 229"/>
                <a:gd name="T68" fmla="*/ 34 w 65"/>
                <a:gd name="T69" fmla="*/ 102 h 229"/>
                <a:gd name="T70" fmla="*/ 34 w 65"/>
                <a:gd name="T71" fmla="*/ 93 h 229"/>
                <a:gd name="T72" fmla="*/ 28 w 65"/>
                <a:gd name="T73" fmla="*/ 87 h 229"/>
                <a:gd name="T74" fmla="*/ 28 w 65"/>
                <a:gd name="T75" fmla="*/ 77 h 229"/>
                <a:gd name="T76" fmla="*/ 25 w 65"/>
                <a:gd name="T77" fmla="*/ 68 h 229"/>
                <a:gd name="T78" fmla="*/ 22 w 65"/>
                <a:gd name="T79" fmla="*/ 59 h 229"/>
                <a:gd name="T80" fmla="*/ 19 w 65"/>
                <a:gd name="T81" fmla="*/ 50 h 229"/>
                <a:gd name="T82" fmla="*/ 16 w 65"/>
                <a:gd name="T83" fmla="*/ 40 h 229"/>
                <a:gd name="T84" fmla="*/ 13 w 65"/>
                <a:gd name="T85" fmla="*/ 34 h 229"/>
                <a:gd name="T86" fmla="*/ 10 w 65"/>
                <a:gd name="T87" fmla="*/ 25 h 229"/>
                <a:gd name="T88" fmla="*/ 10 w 65"/>
                <a:gd name="T89" fmla="*/ 19 h 229"/>
                <a:gd name="T90" fmla="*/ 7 w 65"/>
                <a:gd name="T91" fmla="*/ 12 h 229"/>
                <a:gd name="T92" fmla="*/ 7 w 65"/>
                <a:gd name="T93" fmla="*/ 9 h 229"/>
                <a:gd name="T94" fmla="*/ 7 w 65"/>
                <a:gd name="T95" fmla="*/ 6 h 229"/>
                <a:gd name="T96" fmla="*/ 4 w 65"/>
                <a:gd name="T97" fmla="*/ 3 h 229"/>
                <a:gd name="T98" fmla="*/ 4 w 65"/>
                <a:gd name="T99" fmla="*/ 3 h 229"/>
                <a:gd name="T100" fmla="*/ 4 w 65"/>
                <a:gd name="T101" fmla="*/ 0 h 229"/>
                <a:gd name="T102" fmla="*/ 0 w 65"/>
                <a:gd name="T103" fmla="*/ 0 h 229"/>
                <a:gd name="T104" fmla="*/ 0 w 65"/>
                <a:gd name="T105" fmla="*/ 3 h 229"/>
                <a:gd name="T106" fmla="*/ 0 w 65"/>
                <a:gd name="T107" fmla="*/ 3 h 2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5"/>
                <a:gd name="T163" fmla="*/ 0 h 229"/>
                <a:gd name="T164" fmla="*/ 65 w 65"/>
                <a:gd name="T165" fmla="*/ 229 h 2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5" h="229">
                  <a:moveTo>
                    <a:pt x="0" y="3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4" y="19"/>
                  </a:lnTo>
                  <a:lnTo>
                    <a:pt x="7" y="25"/>
                  </a:lnTo>
                  <a:lnTo>
                    <a:pt x="7" y="34"/>
                  </a:lnTo>
                  <a:lnTo>
                    <a:pt x="10" y="40"/>
                  </a:lnTo>
                  <a:lnTo>
                    <a:pt x="13" y="50"/>
                  </a:lnTo>
                  <a:lnTo>
                    <a:pt x="16" y="59"/>
                  </a:lnTo>
                  <a:lnTo>
                    <a:pt x="19" y="68"/>
                  </a:lnTo>
                  <a:lnTo>
                    <a:pt x="22" y="77"/>
                  </a:lnTo>
                  <a:lnTo>
                    <a:pt x="25" y="87"/>
                  </a:lnTo>
                  <a:lnTo>
                    <a:pt x="28" y="96"/>
                  </a:lnTo>
                  <a:lnTo>
                    <a:pt x="31" y="102"/>
                  </a:lnTo>
                  <a:lnTo>
                    <a:pt x="34" y="108"/>
                  </a:lnTo>
                  <a:lnTo>
                    <a:pt x="38" y="114"/>
                  </a:lnTo>
                  <a:lnTo>
                    <a:pt x="41" y="127"/>
                  </a:lnTo>
                  <a:lnTo>
                    <a:pt x="47" y="142"/>
                  </a:lnTo>
                  <a:lnTo>
                    <a:pt x="50" y="161"/>
                  </a:lnTo>
                  <a:lnTo>
                    <a:pt x="56" y="179"/>
                  </a:lnTo>
                  <a:lnTo>
                    <a:pt x="59" y="195"/>
                  </a:lnTo>
                  <a:lnTo>
                    <a:pt x="62" y="210"/>
                  </a:lnTo>
                  <a:lnTo>
                    <a:pt x="62" y="223"/>
                  </a:lnTo>
                  <a:lnTo>
                    <a:pt x="65" y="229"/>
                  </a:lnTo>
                  <a:lnTo>
                    <a:pt x="62" y="226"/>
                  </a:lnTo>
                  <a:lnTo>
                    <a:pt x="62" y="213"/>
                  </a:lnTo>
                  <a:lnTo>
                    <a:pt x="62" y="198"/>
                  </a:lnTo>
                  <a:lnTo>
                    <a:pt x="59" y="179"/>
                  </a:lnTo>
                  <a:lnTo>
                    <a:pt x="56" y="158"/>
                  </a:lnTo>
                  <a:lnTo>
                    <a:pt x="50" y="139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8" y="108"/>
                  </a:lnTo>
                  <a:lnTo>
                    <a:pt x="34" y="102"/>
                  </a:lnTo>
                  <a:lnTo>
                    <a:pt x="34" y="93"/>
                  </a:lnTo>
                  <a:lnTo>
                    <a:pt x="28" y="87"/>
                  </a:lnTo>
                  <a:lnTo>
                    <a:pt x="28" y="77"/>
                  </a:lnTo>
                  <a:lnTo>
                    <a:pt x="25" y="68"/>
                  </a:lnTo>
                  <a:lnTo>
                    <a:pt x="22" y="59"/>
                  </a:lnTo>
                  <a:lnTo>
                    <a:pt x="19" y="50"/>
                  </a:lnTo>
                  <a:lnTo>
                    <a:pt x="16" y="40"/>
                  </a:lnTo>
                  <a:lnTo>
                    <a:pt x="13" y="34"/>
                  </a:lnTo>
                  <a:lnTo>
                    <a:pt x="10" y="25"/>
                  </a:lnTo>
                  <a:lnTo>
                    <a:pt x="10" y="19"/>
                  </a:lnTo>
                  <a:lnTo>
                    <a:pt x="7" y="12"/>
                  </a:lnTo>
                  <a:lnTo>
                    <a:pt x="7" y="9"/>
                  </a:lnTo>
                  <a:lnTo>
                    <a:pt x="7" y="6"/>
                  </a:lnTo>
                  <a:lnTo>
                    <a:pt x="4" y="3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3" name="Freeform 417"/>
            <p:cNvSpPr>
              <a:spLocks/>
            </p:cNvSpPr>
            <p:nvPr/>
          </p:nvSpPr>
          <p:spPr bwMode="auto">
            <a:xfrm>
              <a:off x="3752" y="2387"/>
              <a:ext cx="65" cy="228"/>
            </a:xfrm>
            <a:custGeom>
              <a:avLst/>
              <a:gdLst>
                <a:gd name="T0" fmla="*/ 0 w 65"/>
                <a:gd name="T1" fmla="*/ 6 h 228"/>
                <a:gd name="T2" fmla="*/ 0 w 65"/>
                <a:gd name="T3" fmla="*/ 6 h 228"/>
                <a:gd name="T4" fmla="*/ 0 w 65"/>
                <a:gd name="T5" fmla="*/ 9 h 228"/>
                <a:gd name="T6" fmla="*/ 0 w 65"/>
                <a:gd name="T7" fmla="*/ 12 h 228"/>
                <a:gd name="T8" fmla="*/ 4 w 65"/>
                <a:gd name="T9" fmla="*/ 18 h 228"/>
                <a:gd name="T10" fmla="*/ 7 w 65"/>
                <a:gd name="T11" fmla="*/ 24 h 228"/>
                <a:gd name="T12" fmla="*/ 7 w 65"/>
                <a:gd name="T13" fmla="*/ 34 h 228"/>
                <a:gd name="T14" fmla="*/ 10 w 65"/>
                <a:gd name="T15" fmla="*/ 43 h 228"/>
                <a:gd name="T16" fmla="*/ 13 w 65"/>
                <a:gd name="T17" fmla="*/ 49 h 228"/>
                <a:gd name="T18" fmla="*/ 16 w 65"/>
                <a:gd name="T19" fmla="*/ 61 h 228"/>
                <a:gd name="T20" fmla="*/ 19 w 65"/>
                <a:gd name="T21" fmla="*/ 71 h 228"/>
                <a:gd name="T22" fmla="*/ 22 w 65"/>
                <a:gd name="T23" fmla="*/ 80 h 228"/>
                <a:gd name="T24" fmla="*/ 25 w 65"/>
                <a:gd name="T25" fmla="*/ 86 h 228"/>
                <a:gd name="T26" fmla="*/ 28 w 65"/>
                <a:gd name="T27" fmla="*/ 95 h 228"/>
                <a:gd name="T28" fmla="*/ 31 w 65"/>
                <a:gd name="T29" fmla="*/ 101 h 228"/>
                <a:gd name="T30" fmla="*/ 34 w 65"/>
                <a:gd name="T31" fmla="*/ 111 h 228"/>
                <a:gd name="T32" fmla="*/ 38 w 65"/>
                <a:gd name="T33" fmla="*/ 114 h 228"/>
                <a:gd name="T34" fmla="*/ 44 w 65"/>
                <a:gd name="T35" fmla="*/ 126 h 228"/>
                <a:gd name="T36" fmla="*/ 47 w 65"/>
                <a:gd name="T37" fmla="*/ 142 h 228"/>
                <a:gd name="T38" fmla="*/ 53 w 65"/>
                <a:gd name="T39" fmla="*/ 160 h 228"/>
                <a:gd name="T40" fmla="*/ 56 w 65"/>
                <a:gd name="T41" fmla="*/ 179 h 228"/>
                <a:gd name="T42" fmla="*/ 59 w 65"/>
                <a:gd name="T43" fmla="*/ 197 h 228"/>
                <a:gd name="T44" fmla="*/ 62 w 65"/>
                <a:gd name="T45" fmla="*/ 213 h 228"/>
                <a:gd name="T46" fmla="*/ 62 w 65"/>
                <a:gd name="T47" fmla="*/ 222 h 228"/>
                <a:gd name="T48" fmla="*/ 65 w 65"/>
                <a:gd name="T49" fmla="*/ 228 h 228"/>
                <a:gd name="T50" fmla="*/ 65 w 65"/>
                <a:gd name="T51" fmla="*/ 225 h 228"/>
                <a:gd name="T52" fmla="*/ 62 w 65"/>
                <a:gd name="T53" fmla="*/ 216 h 228"/>
                <a:gd name="T54" fmla="*/ 62 w 65"/>
                <a:gd name="T55" fmla="*/ 200 h 228"/>
                <a:gd name="T56" fmla="*/ 59 w 65"/>
                <a:gd name="T57" fmla="*/ 182 h 228"/>
                <a:gd name="T58" fmla="*/ 56 w 65"/>
                <a:gd name="T59" fmla="*/ 160 h 228"/>
                <a:gd name="T60" fmla="*/ 53 w 65"/>
                <a:gd name="T61" fmla="*/ 142 h 228"/>
                <a:gd name="T62" fmla="*/ 47 w 65"/>
                <a:gd name="T63" fmla="*/ 126 h 228"/>
                <a:gd name="T64" fmla="*/ 41 w 65"/>
                <a:gd name="T65" fmla="*/ 114 h 228"/>
                <a:gd name="T66" fmla="*/ 41 w 65"/>
                <a:gd name="T67" fmla="*/ 108 h 228"/>
                <a:gd name="T68" fmla="*/ 38 w 65"/>
                <a:gd name="T69" fmla="*/ 101 h 228"/>
                <a:gd name="T70" fmla="*/ 34 w 65"/>
                <a:gd name="T71" fmla="*/ 95 h 228"/>
                <a:gd name="T72" fmla="*/ 31 w 65"/>
                <a:gd name="T73" fmla="*/ 86 h 228"/>
                <a:gd name="T74" fmla="*/ 28 w 65"/>
                <a:gd name="T75" fmla="*/ 77 h 228"/>
                <a:gd name="T76" fmla="*/ 25 w 65"/>
                <a:gd name="T77" fmla="*/ 68 h 228"/>
                <a:gd name="T78" fmla="*/ 22 w 65"/>
                <a:gd name="T79" fmla="*/ 58 h 228"/>
                <a:gd name="T80" fmla="*/ 19 w 65"/>
                <a:gd name="T81" fmla="*/ 49 h 228"/>
                <a:gd name="T82" fmla="*/ 16 w 65"/>
                <a:gd name="T83" fmla="*/ 40 h 228"/>
                <a:gd name="T84" fmla="*/ 13 w 65"/>
                <a:gd name="T85" fmla="*/ 34 h 228"/>
                <a:gd name="T86" fmla="*/ 10 w 65"/>
                <a:gd name="T87" fmla="*/ 24 h 228"/>
                <a:gd name="T88" fmla="*/ 10 w 65"/>
                <a:gd name="T89" fmla="*/ 18 h 228"/>
                <a:gd name="T90" fmla="*/ 7 w 65"/>
                <a:gd name="T91" fmla="*/ 12 h 228"/>
                <a:gd name="T92" fmla="*/ 7 w 65"/>
                <a:gd name="T93" fmla="*/ 9 h 228"/>
                <a:gd name="T94" fmla="*/ 7 w 65"/>
                <a:gd name="T95" fmla="*/ 6 h 228"/>
                <a:gd name="T96" fmla="*/ 7 w 65"/>
                <a:gd name="T97" fmla="*/ 6 h 228"/>
                <a:gd name="T98" fmla="*/ 4 w 65"/>
                <a:gd name="T99" fmla="*/ 3 h 228"/>
                <a:gd name="T100" fmla="*/ 4 w 65"/>
                <a:gd name="T101" fmla="*/ 3 h 228"/>
                <a:gd name="T102" fmla="*/ 0 w 65"/>
                <a:gd name="T103" fmla="*/ 0 h 228"/>
                <a:gd name="T104" fmla="*/ 0 w 65"/>
                <a:gd name="T105" fmla="*/ 6 h 228"/>
                <a:gd name="T106" fmla="*/ 0 w 65"/>
                <a:gd name="T107" fmla="*/ 6 h 22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5"/>
                <a:gd name="T163" fmla="*/ 0 h 228"/>
                <a:gd name="T164" fmla="*/ 65 w 65"/>
                <a:gd name="T165" fmla="*/ 228 h 22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5" h="228">
                  <a:moveTo>
                    <a:pt x="0" y="6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4" y="18"/>
                  </a:lnTo>
                  <a:lnTo>
                    <a:pt x="7" y="24"/>
                  </a:lnTo>
                  <a:lnTo>
                    <a:pt x="7" y="34"/>
                  </a:lnTo>
                  <a:lnTo>
                    <a:pt x="10" y="43"/>
                  </a:lnTo>
                  <a:lnTo>
                    <a:pt x="13" y="49"/>
                  </a:lnTo>
                  <a:lnTo>
                    <a:pt x="16" y="61"/>
                  </a:lnTo>
                  <a:lnTo>
                    <a:pt x="19" y="71"/>
                  </a:lnTo>
                  <a:lnTo>
                    <a:pt x="22" y="80"/>
                  </a:lnTo>
                  <a:lnTo>
                    <a:pt x="25" y="86"/>
                  </a:lnTo>
                  <a:lnTo>
                    <a:pt x="28" y="95"/>
                  </a:lnTo>
                  <a:lnTo>
                    <a:pt x="31" y="101"/>
                  </a:lnTo>
                  <a:lnTo>
                    <a:pt x="34" y="111"/>
                  </a:lnTo>
                  <a:lnTo>
                    <a:pt x="38" y="114"/>
                  </a:lnTo>
                  <a:lnTo>
                    <a:pt x="44" y="126"/>
                  </a:lnTo>
                  <a:lnTo>
                    <a:pt x="47" y="142"/>
                  </a:lnTo>
                  <a:lnTo>
                    <a:pt x="53" y="160"/>
                  </a:lnTo>
                  <a:lnTo>
                    <a:pt x="56" y="179"/>
                  </a:lnTo>
                  <a:lnTo>
                    <a:pt x="59" y="197"/>
                  </a:lnTo>
                  <a:lnTo>
                    <a:pt x="62" y="213"/>
                  </a:lnTo>
                  <a:lnTo>
                    <a:pt x="62" y="222"/>
                  </a:lnTo>
                  <a:lnTo>
                    <a:pt x="65" y="228"/>
                  </a:lnTo>
                  <a:lnTo>
                    <a:pt x="65" y="225"/>
                  </a:lnTo>
                  <a:lnTo>
                    <a:pt x="62" y="216"/>
                  </a:lnTo>
                  <a:lnTo>
                    <a:pt x="62" y="200"/>
                  </a:lnTo>
                  <a:lnTo>
                    <a:pt x="59" y="182"/>
                  </a:lnTo>
                  <a:lnTo>
                    <a:pt x="56" y="160"/>
                  </a:lnTo>
                  <a:lnTo>
                    <a:pt x="53" y="142"/>
                  </a:lnTo>
                  <a:lnTo>
                    <a:pt x="47" y="126"/>
                  </a:lnTo>
                  <a:lnTo>
                    <a:pt x="41" y="114"/>
                  </a:lnTo>
                  <a:lnTo>
                    <a:pt x="41" y="108"/>
                  </a:lnTo>
                  <a:lnTo>
                    <a:pt x="38" y="101"/>
                  </a:lnTo>
                  <a:lnTo>
                    <a:pt x="34" y="95"/>
                  </a:lnTo>
                  <a:lnTo>
                    <a:pt x="31" y="86"/>
                  </a:lnTo>
                  <a:lnTo>
                    <a:pt x="28" y="77"/>
                  </a:lnTo>
                  <a:lnTo>
                    <a:pt x="25" y="68"/>
                  </a:lnTo>
                  <a:lnTo>
                    <a:pt x="22" y="58"/>
                  </a:lnTo>
                  <a:lnTo>
                    <a:pt x="19" y="49"/>
                  </a:lnTo>
                  <a:lnTo>
                    <a:pt x="16" y="40"/>
                  </a:lnTo>
                  <a:lnTo>
                    <a:pt x="13" y="34"/>
                  </a:lnTo>
                  <a:lnTo>
                    <a:pt x="10" y="24"/>
                  </a:lnTo>
                  <a:lnTo>
                    <a:pt x="10" y="18"/>
                  </a:lnTo>
                  <a:lnTo>
                    <a:pt x="7" y="12"/>
                  </a:lnTo>
                  <a:lnTo>
                    <a:pt x="7" y="9"/>
                  </a:lnTo>
                  <a:lnTo>
                    <a:pt x="7" y="6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4" name="Freeform 418"/>
            <p:cNvSpPr>
              <a:spLocks/>
            </p:cNvSpPr>
            <p:nvPr/>
          </p:nvSpPr>
          <p:spPr bwMode="auto">
            <a:xfrm>
              <a:off x="3617" y="2461"/>
              <a:ext cx="61" cy="228"/>
            </a:xfrm>
            <a:custGeom>
              <a:avLst/>
              <a:gdLst>
                <a:gd name="T0" fmla="*/ 0 w 61"/>
                <a:gd name="T1" fmla="*/ 3 h 228"/>
                <a:gd name="T2" fmla="*/ 0 w 61"/>
                <a:gd name="T3" fmla="*/ 3 h 228"/>
                <a:gd name="T4" fmla="*/ 0 w 61"/>
                <a:gd name="T5" fmla="*/ 6 h 228"/>
                <a:gd name="T6" fmla="*/ 0 w 61"/>
                <a:gd name="T7" fmla="*/ 12 h 228"/>
                <a:gd name="T8" fmla="*/ 3 w 61"/>
                <a:gd name="T9" fmla="*/ 18 h 228"/>
                <a:gd name="T10" fmla="*/ 6 w 61"/>
                <a:gd name="T11" fmla="*/ 24 h 228"/>
                <a:gd name="T12" fmla="*/ 6 w 61"/>
                <a:gd name="T13" fmla="*/ 31 h 228"/>
                <a:gd name="T14" fmla="*/ 9 w 61"/>
                <a:gd name="T15" fmla="*/ 40 h 228"/>
                <a:gd name="T16" fmla="*/ 12 w 61"/>
                <a:gd name="T17" fmla="*/ 49 h 228"/>
                <a:gd name="T18" fmla="*/ 15 w 61"/>
                <a:gd name="T19" fmla="*/ 58 h 228"/>
                <a:gd name="T20" fmla="*/ 18 w 61"/>
                <a:gd name="T21" fmla="*/ 68 h 228"/>
                <a:gd name="T22" fmla="*/ 21 w 61"/>
                <a:gd name="T23" fmla="*/ 77 h 228"/>
                <a:gd name="T24" fmla="*/ 24 w 61"/>
                <a:gd name="T25" fmla="*/ 86 h 228"/>
                <a:gd name="T26" fmla="*/ 27 w 61"/>
                <a:gd name="T27" fmla="*/ 95 h 228"/>
                <a:gd name="T28" fmla="*/ 30 w 61"/>
                <a:gd name="T29" fmla="*/ 102 h 228"/>
                <a:gd name="T30" fmla="*/ 34 w 61"/>
                <a:gd name="T31" fmla="*/ 108 h 228"/>
                <a:gd name="T32" fmla="*/ 37 w 61"/>
                <a:gd name="T33" fmla="*/ 114 h 228"/>
                <a:gd name="T34" fmla="*/ 43 w 61"/>
                <a:gd name="T35" fmla="*/ 126 h 228"/>
                <a:gd name="T36" fmla="*/ 46 w 61"/>
                <a:gd name="T37" fmla="*/ 142 h 228"/>
                <a:gd name="T38" fmla="*/ 49 w 61"/>
                <a:gd name="T39" fmla="*/ 157 h 228"/>
                <a:gd name="T40" fmla="*/ 55 w 61"/>
                <a:gd name="T41" fmla="*/ 176 h 228"/>
                <a:gd name="T42" fmla="*/ 58 w 61"/>
                <a:gd name="T43" fmla="*/ 194 h 228"/>
                <a:gd name="T44" fmla="*/ 61 w 61"/>
                <a:gd name="T45" fmla="*/ 210 h 228"/>
                <a:gd name="T46" fmla="*/ 61 w 61"/>
                <a:gd name="T47" fmla="*/ 222 h 228"/>
                <a:gd name="T48" fmla="*/ 61 w 61"/>
                <a:gd name="T49" fmla="*/ 228 h 228"/>
                <a:gd name="T50" fmla="*/ 61 w 61"/>
                <a:gd name="T51" fmla="*/ 225 h 228"/>
                <a:gd name="T52" fmla="*/ 61 w 61"/>
                <a:gd name="T53" fmla="*/ 213 h 228"/>
                <a:gd name="T54" fmla="*/ 58 w 61"/>
                <a:gd name="T55" fmla="*/ 197 h 228"/>
                <a:gd name="T56" fmla="*/ 58 w 61"/>
                <a:gd name="T57" fmla="*/ 179 h 228"/>
                <a:gd name="T58" fmla="*/ 55 w 61"/>
                <a:gd name="T59" fmla="*/ 157 h 228"/>
                <a:gd name="T60" fmla="*/ 49 w 61"/>
                <a:gd name="T61" fmla="*/ 139 h 228"/>
                <a:gd name="T62" fmla="*/ 46 w 61"/>
                <a:gd name="T63" fmla="*/ 123 h 228"/>
                <a:gd name="T64" fmla="*/ 40 w 61"/>
                <a:gd name="T65" fmla="*/ 111 h 228"/>
                <a:gd name="T66" fmla="*/ 40 w 61"/>
                <a:gd name="T67" fmla="*/ 108 h 228"/>
                <a:gd name="T68" fmla="*/ 37 w 61"/>
                <a:gd name="T69" fmla="*/ 102 h 228"/>
                <a:gd name="T70" fmla="*/ 34 w 61"/>
                <a:gd name="T71" fmla="*/ 92 h 228"/>
                <a:gd name="T72" fmla="*/ 30 w 61"/>
                <a:gd name="T73" fmla="*/ 86 h 228"/>
                <a:gd name="T74" fmla="*/ 27 w 61"/>
                <a:gd name="T75" fmla="*/ 77 h 228"/>
                <a:gd name="T76" fmla="*/ 24 w 61"/>
                <a:gd name="T77" fmla="*/ 68 h 228"/>
                <a:gd name="T78" fmla="*/ 21 w 61"/>
                <a:gd name="T79" fmla="*/ 58 h 228"/>
                <a:gd name="T80" fmla="*/ 18 w 61"/>
                <a:gd name="T81" fmla="*/ 49 h 228"/>
                <a:gd name="T82" fmla="*/ 15 w 61"/>
                <a:gd name="T83" fmla="*/ 40 h 228"/>
                <a:gd name="T84" fmla="*/ 12 w 61"/>
                <a:gd name="T85" fmla="*/ 31 h 228"/>
                <a:gd name="T86" fmla="*/ 9 w 61"/>
                <a:gd name="T87" fmla="*/ 24 h 228"/>
                <a:gd name="T88" fmla="*/ 9 w 61"/>
                <a:gd name="T89" fmla="*/ 18 h 228"/>
                <a:gd name="T90" fmla="*/ 6 w 61"/>
                <a:gd name="T91" fmla="*/ 12 h 228"/>
                <a:gd name="T92" fmla="*/ 6 w 61"/>
                <a:gd name="T93" fmla="*/ 6 h 228"/>
                <a:gd name="T94" fmla="*/ 6 w 61"/>
                <a:gd name="T95" fmla="*/ 6 h 228"/>
                <a:gd name="T96" fmla="*/ 3 w 61"/>
                <a:gd name="T97" fmla="*/ 3 h 228"/>
                <a:gd name="T98" fmla="*/ 3 w 61"/>
                <a:gd name="T99" fmla="*/ 3 h 228"/>
                <a:gd name="T100" fmla="*/ 3 w 61"/>
                <a:gd name="T101" fmla="*/ 0 h 228"/>
                <a:gd name="T102" fmla="*/ 0 w 61"/>
                <a:gd name="T103" fmla="*/ 0 h 228"/>
                <a:gd name="T104" fmla="*/ 0 w 61"/>
                <a:gd name="T105" fmla="*/ 3 h 228"/>
                <a:gd name="T106" fmla="*/ 0 w 61"/>
                <a:gd name="T107" fmla="*/ 3 h 22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1"/>
                <a:gd name="T163" fmla="*/ 0 h 228"/>
                <a:gd name="T164" fmla="*/ 61 w 61"/>
                <a:gd name="T165" fmla="*/ 228 h 22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1" h="228">
                  <a:moveTo>
                    <a:pt x="0" y="3"/>
                  </a:moveTo>
                  <a:lnTo>
                    <a:pt x="0" y="3"/>
                  </a:lnTo>
                  <a:lnTo>
                    <a:pt x="0" y="6"/>
                  </a:lnTo>
                  <a:lnTo>
                    <a:pt x="0" y="12"/>
                  </a:lnTo>
                  <a:lnTo>
                    <a:pt x="3" y="18"/>
                  </a:lnTo>
                  <a:lnTo>
                    <a:pt x="6" y="24"/>
                  </a:lnTo>
                  <a:lnTo>
                    <a:pt x="6" y="31"/>
                  </a:lnTo>
                  <a:lnTo>
                    <a:pt x="9" y="40"/>
                  </a:lnTo>
                  <a:lnTo>
                    <a:pt x="12" y="49"/>
                  </a:lnTo>
                  <a:lnTo>
                    <a:pt x="15" y="58"/>
                  </a:lnTo>
                  <a:lnTo>
                    <a:pt x="18" y="68"/>
                  </a:lnTo>
                  <a:lnTo>
                    <a:pt x="21" y="77"/>
                  </a:lnTo>
                  <a:lnTo>
                    <a:pt x="24" y="86"/>
                  </a:lnTo>
                  <a:lnTo>
                    <a:pt x="27" y="95"/>
                  </a:lnTo>
                  <a:lnTo>
                    <a:pt x="30" y="102"/>
                  </a:lnTo>
                  <a:lnTo>
                    <a:pt x="34" y="108"/>
                  </a:lnTo>
                  <a:lnTo>
                    <a:pt x="37" y="114"/>
                  </a:lnTo>
                  <a:lnTo>
                    <a:pt x="43" y="126"/>
                  </a:lnTo>
                  <a:lnTo>
                    <a:pt x="46" y="142"/>
                  </a:lnTo>
                  <a:lnTo>
                    <a:pt x="49" y="157"/>
                  </a:lnTo>
                  <a:lnTo>
                    <a:pt x="55" y="176"/>
                  </a:lnTo>
                  <a:lnTo>
                    <a:pt x="58" y="194"/>
                  </a:lnTo>
                  <a:lnTo>
                    <a:pt x="61" y="210"/>
                  </a:lnTo>
                  <a:lnTo>
                    <a:pt x="61" y="222"/>
                  </a:lnTo>
                  <a:lnTo>
                    <a:pt x="61" y="228"/>
                  </a:lnTo>
                  <a:lnTo>
                    <a:pt x="61" y="225"/>
                  </a:lnTo>
                  <a:lnTo>
                    <a:pt x="61" y="213"/>
                  </a:lnTo>
                  <a:lnTo>
                    <a:pt x="58" y="197"/>
                  </a:lnTo>
                  <a:lnTo>
                    <a:pt x="58" y="179"/>
                  </a:lnTo>
                  <a:lnTo>
                    <a:pt x="55" y="157"/>
                  </a:lnTo>
                  <a:lnTo>
                    <a:pt x="49" y="139"/>
                  </a:lnTo>
                  <a:lnTo>
                    <a:pt x="46" y="123"/>
                  </a:lnTo>
                  <a:lnTo>
                    <a:pt x="40" y="111"/>
                  </a:lnTo>
                  <a:lnTo>
                    <a:pt x="40" y="108"/>
                  </a:lnTo>
                  <a:lnTo>
                    <a:pt x="37" y="102"/>
                  </a:lnTo>
                  <a:lnTo>
                    <a:pt x="34" y="92"/>
                  </a:lnTo>
                  <a:lnTo>
                    <a:pt x="30" y="86"/>
                  </a:lnTo>
                  <a:lnTo>
                    <a:pt x="27" y="77"/>
                  </a:lnTo>
                  <a:lnTo>
                    <a:pt x="24" y="68"/>
                  </a:lnTo>
                  <a:lnTo>
                    <a:pt x="21" y="58"/>
                  </a:lnTo>
                  <a:lnTo>
                    <a:pt x="18" y="49"/>
                  </a:lnTo>
                  <a:lnTo>
                    <a:pt x="15" y="40"/>
                  </a:lnTo>
                  <a:lnTo>
                    <a:pt x="12" y="31"/>
                  </a:lnTo>
                  <a:lnTo>
                    <a:pt x="9" y="24"/>
                  </a:lnTo>
                  <a:lnTo>
                    <a:pt x="9" y="18"/>
                  </a:lnTo>
                  <a:lnTo>
                    <a:pt x="6" y="12"/>
                  </a:lnTo>
                  <a:lnTo>
                    <a:pt x="6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5" name="Freeform 419"/>
            <p:cNvSpPr>
              <a:spLocks/>
            </p:cNvSpPr>
            <p:nvPr/>
          </p:nvSpPr>
          <p:spPr bwMode="auto">
            <a:xfrm>
              <a:off x="3499" y="2464"/>
              <a:ext cx="68" cy="136"/>
            </a:xfrm>
            <a:custGeom>
              <a:avLst/>
              <a:gdLst>
                <a:gd name="T0" fmla="*/ 53 w 68"/>
                <a:gd name="T1" fmla="*/ 0 h 136"/>
                <a:gd name="T2" fmla="*/ 53 w 68"/>
                <a:gd name="T3" fmla="*/ 9 h 136"/>
                <a:gd name="T4" fmla="*/ 53 w 68"/>
                <a:gd name="T5" fmla="*/ 21 h 136"/>
                <a:gd name="T6" fmla="*/ 53 w 68"/>
                <a:gd name="T7" fmla="*/ 40 h 136"/>
                <a:gd name="T8" fmla="*/ 46 w 68"/>
                <a:gd name="T9" fmla="*/ 62 h 136"/>
                <a:gd name="T10" fmla="*/ 40 w 68"/>
                <a:gd name="T11" fmla="*/ 83 h 136"/>
                <a:gd name="T12" fmla="*/ 28 w 68"/>
                <a:gd name="T13" fmla="*/ 105 h 136"/>
                <a:gd name="T14" fmla="*/ 12 w 68"/>
                <a:gd name="T15" fmla="*/ 126 h 136"/>
                <a:gd name="T16" fmla="*/ 0 w 68"/>
                <a:gd name="T17" fmla="*/ 136 h 136"/>
                <a:gd name="T18" fmla="*/ 6 w 68"/>
                <a:gd name="T19" fmla="*/ 136 h 136"/>
                <a:gd name="T20" fmla="*/ 12 w 68"/>
                <a:gd name="T21" fmla="*/ 136 h 136"/>
                <a:gd name="T22" fmla="*/ 19 w 68"/>
                <a:gd name="T23" fmla="*/ 133 h 136"/>
                <a:gd name="T24" fmla="*/ 31 w 68"/>
                <a:gd name="T25" fmla="*/ 133 h 136"/>
                <a:gd name="T26" fmla="*/ 40 w 68"/>
                <a:gd name="T27" fmla="*/ 130 h 136"/>
                <a:gd name="T28" fmla="*/ 53 w 68"/>
                <a:gd name="T29" fmla="*/ 130 h 136"/>
                <a:gd name="T30" fmla="*/ 62 w 68"/>
                <a:gd name="T31" fmla="*/ 123 h 136"/>
                <a:gd name="T32" fmla="*/ 68 w 68"/>
                <a:gd name="T33" fmla="*/ 123 h 136"/>
                <a:gd name="T34" fmla="*/ 65 w 68"/>
                <a:gd name="T35" fmla="*/ 123 h 136"/>
                <a:gd name="T36" fmla="*/ 59 w 68"/>
                <a:gd name="T37" fmla="*/ 123 h 136"/>
                <a:gd name="T38" fmla="*/ 53 w 68"/>
                <a:gd name="T39" fmla="*/ 123 h 136"/>
                <a:gd name="T40" fmla="*/ 46 w 68"/>
                <a:gd name="T41" fmla="*/ 123 h 136"/>
                <a:gd name="T42" fmla="*/ 40 w 68"/>
                <a:gd name="T43" fmla="*/ 123 h 136"/>
                <a:gd name="T44" fmla="*/ 34 w 68"/>
                <a:gd name="T45" fmla="*/ 123 h 136"/>
                <a:gd name="T46" fmla="*/ 28 w 68"/>
                <a:gd name="T47" fmla="*/ 123 h 136"/>
                <a:gd name="T48" fmla="*/ 25 w 68"/>
                <a:gd name="T49" fmla="*/ 123 h 136"/>
                <a:gd name="T50" fmla="*/ 28 w 68"/>
                <a:gd name="T51" fmla="*/ 123 h 136"/>
                <a:gd name="T52" fmla="*/ 31 w 68"/>
                <a:gd name="T53" fmla="*/ 117 h 136"/>
                <a:gd name="T54" fmla="*/ 37 w 68"/>
                <a:gd name="T55" fmla="*/ 108 h 136"/>
                <a:gd name="T56" fmla="*/ 46 w 68"/>
                <a:gd name="T57" fmla="*/ 92 h 136"/>
                <a:gd name="T58" fmla="*/ 50 w 68"/>
                <a:gd name="T59" fmla="*/ 74 h 136"/>
                <a:gd name="T60" fmla="*/ 56 w 68"/>
                <a:gd name="T61" fmla="*/ 49 h 136"/>
                <a:gd name="T62" fmla="*/ 56 w 68"/>
                <a:gd name="T63" fmla="*/ 18 h 136"/>
                <a:gd name="T64" fmla="*/ 53 w 68"/>
                <a:gd name="T65" fmla="*/ 0 h 1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"/>
                <a:gd name="T100" fmla="*/ 0 h 136"/>
                <a:gd name="T101" fmla="*/ 68 w 68"/>
                <a:gd name="T102" fmla="*/ 136 h 1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" h="136">
                  <a:moveTo>
                    <a:pt x="53" y="0"/>
                  </a:moveTo>
                  <a:lnTo>
                    <a:pt x="53" y="0"/>
                  </a:lnTo>
                  <a:lnTo>
                    <a:pt x="53" y="3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3" y="40"/>
                  </a:lnTo>
                  <a:lnTo>
                    <a:pt x="50" y="52"/>
                  </a:lnTo>
                  <a:lnTo>
                    <a:pt x="46" y="62"/>
                  </a:lnTo>
                  <a:lnTo>
                    <a:pt x="43" y="74"/>
                  </a:lnTo>
                  <a:lnTo>
                    <a:pt x="40" y="83"/>
                  </a:lnTo>
                  <a:lnTo>
                    <a:pt x="34" y="96"/>
                  </a:lnTo>
                  <a:lnTo>
                    <a:pt x="28" y="105"/>
                  </a:lnTo>
                  <a:lnTo>
                    <a:pt x="22" y="117"/>
                  </a:lnTo>
                  <a:lnTo>
                    <a:pt x="12" y="126"/>
                  </a:lnTo>
                  <a:lnTo>
                    <a:pt x="0" y="136"/>
                  </a:lnTo>
                  <a:lnTo>
                    <a:pt x="3" y="136"/>
                  </a:lnTo>
                  <a:lnTo>
                    <a:pt x="6" y="136"/>
                  </a:lnTo>
                  <a:lnTo>
                    <a:pt x="12" y="136"/>
                  </a:lnTo>
                  <a:lnTo>
                    <a:pt x="16" y="133"/>
                  </a:lnTo>
                  <a:lnTo>
                    <a:pt x="19" y="133"/>
                  </a:lnTo>
                  <a:lnTo>
                    <a:pt x="25" y="133"/>
                  </a:lnTo>
                  <a:lnTo>
                    <a:pt x="31" y="133"/>
                  </a:lnTo>
                  <a:lnTo>
                    <a:pt x="34" y="133"/>
                  </a:lnTo>
                  <a:lnTo>
                    <a:pt x="40" y="130"/>
                  </a:lnTo>
                  <a:lnTo>
                    <a:pt x="46" y="130"/>
                  </a:lnTo>
                  <a:lnTo>
                    <a:pt x="53" y="130"/>
                  </a:lnTo>
                  <a:lnTo>
                    <a:pt x="59" y="126"/>
                  </a:lnTo>
                  <a:lnTo>
                    <a:pt x="62" y="123"/>
                  </a:lnTo>
                  <a:lnTo>
                    <a:pt x="68" y="123"/>
                  </a:lnTo>
                  <a:lnTo>
                    <a:pt x="65" y="123"/>
                  </a:lnTo>
                  <a:lnTo>
                    <a:pt x="62" y="123"/>
                  </a:lnTo>
                  <a:lnTo>
                    <a:pt x="59" y="123"/>
                  </a:lnTo>
                  <a:lnTo>
                    <a:pt x="56" y="123"/>
                  </a:lnTo>
                  <a:lnTo>
                    <a:pt x="53" y="123"/>
                  </a:lnTo>
                  <a:lnTo>
                    <a:pt x="50" y="123"/>
                  </a:lnTo>
                  <a:lnTo>
                    <a:pt x="46" y="123"/>
                  </a:lnTo>
                  <a:lnTo>
                    <a:pt x="43" y="123"/>
                  </a:lnTo>
                  <a:lnTo>
                    <a:pt x="40" y="123"/>
                  </a:lnTo>
                  <a:lnTo>
                    <a:pt x="37" y="123"/>
                  </a:lnTo>
                  <a:lnTo>
                    <a:pt x="34" y="123"/>
                  </a:lnTo>
                  <a:lnTo>
                    <a:pt x="31" y="123"/>
                  </a:lnTo>
                  <a:lnTo>
                    <a:pt x="28" y="123"/>
                  </a:lnTo>
                  <a:lnTo>
                    <a:pt x="25" y="123"/>
                  </a:lnTo>
                  <a:lnTo>
                    <a:pt x="28" y="123"/>
                  </a:lnTo>
                  <a:lnTo>
                    <a:pt x="31" y="120"/>
                  </a:lnTo>
                  <a:lnTo>
                    <a:pt x="31" y="117"/>
                  </a:lnTo>
                  <a:lnTo>
                    <a:pt x="34" y="111"/>
                  </a:lnTo>
                  <a:lnTo>
                    <a:pt x="37" y="108"/>
                  </a:lnTo>
                  <a:lnTo>
                    <a:pt x="40" y="102"/>
                  </a:lnTo>
                  <a:lnTo>
                    <a:pt x="46" y="92"/>
                  </a:lnTo>
                  <a:lnTo>
                    <a:pt x="50" y="83"/>
                  </a:lnTo>
                  <a:lnTo>
                    <a:pt x="50" y="74"/>
                  </a:lnTo>
                  <a:lnTo>
                    <a:pt x="53" y="62"/>
                  </a:lnTo>
                  <a:lnTo>
                    <a:pt x="56" y="49"/>
                  </a:lnTo>
                  <a:lnTo>
                    <a:pt x="56" y="34"/>
                  </a:lnTo>
                  <a:lnTo>
                    <a:pt x="56" y="18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6" name="Freeform 420"/>
            <p:cNvSpPr>
              <a:spLocks/>
            </p:cNvSpPr>
            <p:nvPr/>
          </p:nvSpPr>
          <p:spPr bwMode="auto">
            <a:xfrm>
              <a:off x="3527" y="2510"/>
              <a:ext cx="52" cy="84"/>
            </a:xfrm>
            <a:custGeom>
              <a:avLst/>
              <a:gdLst>
                <a:gd name="T0" fmla="*/ 52 w 52"/>
                <a:gd name="T1" fmla="*/ 74 h 84"/>
                <a:gd name="T2" fmla="*/ 52 w 52"/>
                <a:gd name="T3" fmla="*/ 74 h 84"/>
                <a:gd name="T4" fmla="*/ 52 w 52"/>
                <a:gd name="T5" fmla="*/ 74 h 84"/>
                <a:gd name="T6" fmla="*/ 49 w 52"/>
                <a:gd name="T7" fmla="*/ 74 h 84"/>
                <a:gd name="T8" fmla="*/ 46 w 52"/>
                <a:gd name="T9" fmla="*/ 77 h 84"/>
                <a:gd name="T10" fmla="*/ 43 w 52"/>
                <a:gd name="T11" fmla="*/ 77 h 84"/>
                <a:gd name="T12" fmla="*/ 40 w 52"/>
                <a:gd name="T13" fmla="*/ 77 h 84"/>
                <a:gd name="T14" fmla="*/ 37 w 52"/>
                <a:gd name="T15" fmla="*/ 80 h 84"/>
                <a:gd name="T16" fmla="*/ 34 w 52"/>
                <a:gd name="T17" fmla="*/ 80 h 84"/>
                <a:gd name="T18" fmla="*/ 31 w 52"/>
                <a:gd name="T19" fmla="*/ 80 h 84"/>
                <a:gd name="T20" fmla="*/ 28 w 52"/>
                <a:gd name="T21" fmla="*/ 80 h 84"/>
                <a:gd name="T22" fmla="*/ 22 w 52"/>
                <a:gd name="T23" fmla="*/ 84 h 84"/>
                <a:gd name="T24" fmla="*/ 18 w 52"/>
                <a:gd name="T25" fmla="*/ 84 h 84"/>
                <a:gd name="T26" fmla="*/ 12 w 52"/>
                <a:gd name="T27" fmla="*/ 84 h 84"/>
                <a:gd name="T28" fmla="*/ 9 w 52"/>
                <a:gd name="T29" fmla="*/ 84 h 84"/>
                <a:gd name="T30" fmla="*/ 6 w 52"/>
                <a:gd name="T31" fmla="*/ 84 h 84"/>
                <a:gd name="T32" fmla="*/ 3 w 52"/>
                <a:gd name="T33" fmla="*/ 80 h 84"/>
                <a:gd name="T34" fmla="*/ 0 w 52"/>
                <a:gd name="T35" fmla="*/ 80 h 84"/>
                <a:gd name="T36" fmla="*/ 0 w 52"/>
                <a:gd name="T37" fmla="*/ 80 h 84"/>
                <a:gd name="T38" fmla="*/ 0 w 52"/>
                <a:gd name="T39" fmla="*/ 80 h 84"/>
                <a:gd name="T40" fmla="*/ 3 w 52"/>
                <a:gd name="T41" fmla="*/ 77 h 84"/>
                <a:gd name="T42" fmla="*/ 6 w 52"/>
                <a:gd name="T43" fmla="*/ 77 h 84"/>
                <a:gd name="T44" fmla="*/ 9 w 52"/>
                <a:gd name="T45" fmla="*/ 77 h 84"/>
                <a:gd name="T46" fmla="*/ 12 w 52"/>
                <a:gd name="T47" fmla="*/ 74 h 84"/>
                <a:gd name="T48" fmla="*/ 15 w 52"/>
                <a:gd name="T49" fmla="*/ 74 h 84"/>
                <a:gd name="T50" fmla="*/ 22 w 52"/>
                <a:gd name="T51" fmla="*/ 71 h 84"/>
                <a:gd name="T52" fmla="*/ 25 w 52"/>
                <a:gd name="T53" fmla="*/ 68 h 84"/>
                <a:gd name="T54" fmla="*/ 28 w 52"/>
                <a:gd name="T55" fmla="*/ 65 h 84"/>
                <a:gd name="T56" fmla="*/ 31 w 52"/>
                <a:gd name="T57" fmla="*/ 62 h 84"/>
                <a:gd name="T58" fmla="*/ 34 w 52"/>
                <a:gd name="T59" fmla="*/ 59 h 84"/>
                <a:gd name="T60" fmla="*/ 34 w 52"/>
                <a:gd name="T61" fmla="*/ 53 h 84"/>
                <a:gd name="T62" fmla="*/ 37 w 52"/>
                <a:gd name="T63" fmla="*/ 50 h 84"/>
                <a:gd name="T64" fmla="*/ 37 w 52"/>
                <a:gd name="T65" fmla="*/ 40 h 84"/>
                <a:gd name="T66" fmla="*/ 34 w 52"/>
                <a:gd name="T67" fmla="*/ 34 h 84"/>
                <a:gd name="T68" fmla="*/ 34 w 52"/>
                <a:gd name="T69" fmla="*/ 25 h 84"/>
                <a:gd name="T70" fmla="*/ 34 w 52"/>
                <a:gd name="T71" fmla="*/ 19 h 84"/>
                <a:gd name="T72" fmla="*/ 37 w 52"/>
                <a:gd name="T73" fmla="*/ 12 h 84"/>
                <a:gd name="T74" fmla="*/ 37 w 52"/>
                <a:gd name="T75" fmla="*/ 6 h 84"/>
                <a:gd name="T76" fmla="*/ 37 w 52"/>
                <a:gd name="T77" fmla="*/ 3 h 84"/>
                <a:gd name="T78" fmla="*/ 40 w 52"/>
                <a:gd name="T79" fmla="*/ 0 h 84"/>
                <a:gd name="T80" fmla="*/ 40 w 52"/>
                <a:gd name="T81" fmla="*/ 0 h 84"/>
                <a:gd name="T82" fmla="*/ 40 w 52"/>
                <a:gd name="T83" fmla="*/ 0 h 84"/>
                <a:gd name="T84" fmla="*/ 43 w 52"/>
                <a:gd name="T85" fmla="*/ 6 h 84"/>
                <a:gd name="T86" fmla="*/ 43 w 52"/>
                <a:gd name="T87" fmla="*/ 12 h 84"/>
                <a:gd name="T88" fmla="*/ 46 w 52"/>
                <a:gd name="T89" fmla="*/ 25 h 84"/>
                <a:gd name="T90" fmla="*/ 49 w 52"/>
                <a:gd name="T91" fmla="*/ 34 h 84"/>
                <a:gd name="T92" fmla="*/ 52 w 52"/>
                <a:gd name="T93" fmla="*/ 46 h 84"/>
                <a:gd name="T94" fmla="*/ 52 w 52"/>
                <a:gd name="T95" fmla="*/ 62 h 84"/>
                <a:gd name="T96" fmla="*/ 52 w 52"/>
                <a:gd name="T97" fmla="*/ 74 h 84"/>
                <a:gd name="T98" fmla="*/ 52 w 52"/>
                <a:gd name="T99" fmla="*/ 74 h 8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2"/>
                <a:gd name="T151" fmla="*/ 0 h 84"/>
                <a:gd name="T152" fmla="*/ 52 w 52"/>
                <a:gd name="T153" fmla="*/ 84 h 8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2" h="84">
                  <a:moveTo>
                    <a:pt x="52" y="74"/>
                  </a:moveTo>
                  <a:lnTo>
                    <a:pt x="52" y="74"/>
                  </a:lnTo>
                  <a:lnTo>
                    <a:pt x="49" y="74"/>
                  </a:lnTo>
                  <a:lnTo>
                    <a:pt x="46" y="77"/>
                  </a:lnTo>
                  <a:lnTo>
                    <a:pt x="43" y="77"/>
                  </a:lnTo>
                  <a:lnTo>
                    <a:pt x="40" y="77"/>
                  </a:lnTo>
                  <a:lnTo>
                    <a:pt x="37" y="80"/>
                  </a:lnTo>
                  <a:lnTo>
                    <a:pt x="34" y="80"/>
                  </a:lnTo>
                  <a:lnTo>
                    <a:pt x="31" y="80"/>
                  </a:lnTo>
                  <a:lnTo>
                    <a:pt x="28" y="80"/>
                  </a:lnTo>
                  <a:lnTo>
                    <a:pt x="22" y="84"/>
                  </a:lnTo>
                  <a:lnTo>
                    <a:pt x="18" y="84"/>
                  </a:lnTo>
                  <a:lnTo>
                    <a:pt x="12" y="84"/>
                  </a:lnTo>
                  <a:lnTo>
                    <a:pt x="9" y="84"/>
                  </a:lnTo>
                  <a:lnTo>
                    <a:pt x="6" y="84"/>
                  </a:lnTo>
                  <a:lnTo>
                    <a:pt x="3" y="80"/>
                  </a:lnTo>
                  <a:lnTo>
                    <a:pt x="0" y="80"/>
                  </a:lnTo>
                  <a:lnTo>
                    <a:pt x="3" y="77"/>
                  </a:lnTo>
                  <a:lnTo>
                    <a:pt x="6" y="77"/>
                  </a:lnTo>
                  <a:lnTo>
                    <a:pt x="9" y="77"/>
                  </a:lnTo>
                  <a:lnTo>
                    <a:pt x="12" y="74"/>
                  </a:lnTo>
                  <a:lnTo>
                    <a:pt x="15" y="74"/>
                  </a:lnTo>
                  <a:lnTo>
                    <a:pt x="22" y="71"/>
                  </a:lnTo>
                  <a:lnTo>
                    <a:pt x="25" y="68"/>
                  </a:lnTo>
                  <a:lnTo>
                    <a:pt x="28" y="65"/>
                  </a:lnTo>
                  <a:lnTo>
                    <a:pt x="31" y="62"/>
                  </a:lnTo>
                  <a:lnTo>
                    <a:pt x="34" y="59"/>
                  </a:lnTo>
                  <a:lnTo>
                    <a:pt x="34" y="53"/>
                  </a:lnTo>
                  <a:lnTo>
                    <a:pt x="37" y="50"/>
                  </a:lnTo>
                  <a:lnTo>
                    <a:pt x="37" y="40"/>
                  </a:lnTo>
                  <a:lnTo>
                    <a:pt x="34" y="34"/>
                  </a:lnTo>
                  <a:lnTo>
                    <a:pt x="34" y="25"/>
                  </a:lnTo>
                  <a:lnTo>
                    <a:pt x="34" y="19"/>
                  </a:lnTo>
                  <a:lnTo>
                    <a:pt x="37" y="12"/>
                  </a:lnTo>
                  <a:lnTo>
                    <a:pt x="37" y="6"/>
                  </a:lnTo>
                  <a:lnTo>
                    <a:pt x="37" y="3"/>
                  </a:lnTo>
                  <a:lnTo>
                    <a:pt x="40" y="0"/>
                  </a:lnTo>
                  <a:lnTo>
                    <a:pt x="43" y="6"/>
                  </a:lnTo>
                  <a:lnTo>
                    <a:pt x="43" y="12"/>
                  </a:lnTo>
                  <a:lnTo>
                    <a:pt x="46" y="25"/>
                  </a:lnTo>
                  <a:lnTo>
                    <a:pt x="49" y="34"/>
                  </a:lnTo>
                  <a:lnTo>
                    <a:pt x="52" y="46"/>
                  </a:lnTo>
                  <a:lnTo>
                    <a:pt x="52" y="62"/>
                  </a:lnTo>
                  <a:lnTo>
                    <a:pt x="52" y="74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7" name="Freeform 421"/>
            <p:cNvSpPr>
              <a:spLocks/>
            </p:cNvSpPr>
            <p:nvPr/>
          </p:nvSpPr>
          <p:spPr bwMode="auto">
            <a:xfrm>
              <a:off x="3848" y="3116"/>
              <a:ext cx="9" cy="9"/>
            </a:xfrm>
            <a:custGeom>
              <a:avLst/>
              <a:gdLst>
                <a:gd name="T0" fmla="*/ 9 w 9"/>
                <a:gd name="T1" fmla="*/ 3 h 9"/>
                <a:gd name="T2" fmla="*/ 9 w 9"/>
                <a:gd name="T3" fmla="*/ 6 h 9"/>
                <a:gd name="T4" fmla="*/ 6 w 9"/>
                <a:gd name="T5" fmla="*/ 6 h 9"/>
                <a:gd name="T6" fmla="*/ 6 w 9"/>
                <a:gd name="T7" fmla="*/ 9 h 9"/>
                <a:gd name="T8" fmla="*/ 6 w 9"/>
                <a:gd name="T9" fmla="*/ 9 h 9"/>
                <a:gd name="T10" fmla="*/ 3 w 9"/>
                <a:gd name="T11" fmla="*/ 9 h 9"/>
                <a:gd name="T12" fmla="*/ 3 w 9"/>
                <a:gd name="T13" fmla="*/ 6 h 9"/>
                <a:gd name="T14" fmla="*/ 0 w 9"/>
                <a:gd name="T15" fmla="*/ 6 h 9"/>
                <a:gd name="T16" fmla="*/ 0 w 9"/>
                <a:gd name="T17" fmla="*/ 3 h 9"/>
                <a:gd name="T18" fmla="*/ 0 w 9"/>
                <a:gd name="T19" fmla="*/ 3 h 9"/>
                <a:gd name="T20" fmla="*/ 3 w 9"/>
                <a:gd name="T21" fmla="*/ 0 h 9"/>
                <a:gd name="T22" fmla="*/ 3 w 9"/>
                <a:gd name="T23" fmla="*/ 0 h 9"/>
                <a:gd name="T24" fmla="*/ 6 w 9"/>
                <a:gd name="T25" fmla="*/ 0 h 9"/>
                <a:gd name="T26" fmla="*/ 6 w 9"/>
                <a:gd name="T27" fmla="*/ 0 h 9"/>
                <a:gd name="T28" fmla="*/ 6 w 9"/>
                <a:gd name="T29" fmla="*/ 0 h 9"/>
                <a:gd name="T30" fmla="*/ 9 w 9"/>
                <a:gd name="T31" fmla="*/ 3 h 9"/>
                <a:gd name="T32" fmla="*/ 9 w 9"/>
                <a:gd name="T33" fmla="*/ 3 h 9"/>
                <a:gd name="T34" fmla="*/ 9 w 9"/>
                <a:gd name="T35" fmla="*/ 3 h 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"/>
                <a:gd name="T55" fmla="*/ 0 h 9"/>
                <a:gd name="T56" fmla="*/ 9 w 9"/>
                <a:gd name="T57" fmla="*/ 9 h 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" h="9">
                  <a:moveTo>
                    <a:pt x="9" y="3"/>
                  </a:moveTo>
                  <a:lnTo>
                    <a:pt x="9" y="6"/>
                  </a:lnTo>
                  <a:lnTo>
                    <a:pt x="6" y="6"/>
                  </a:lnTo>
                  <a:lnTo>
                    <a:pt x="6" y="9"/>
                  </a:lnTo>
                  <a:lnTo>
                    <a:pt x="3" y="9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3" y="0"/>
                  </a:lnTo>
                  <a:lnTo>
                    <a:pt x="6" y="0"/>
                  </a:lnTo>
                  <a:lnTo>
                    <a:pt x="9" y="3"/>
                  </a:lnTo>
                  <a:close/>
                </a:path>
              </a:pathLst>
            </a:custGeom>
            <a:solidFill>
              <a:srgbClr val="A3D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8" name="Freeform 422"/>
            <p:cNvSpPr>
              <a:spLocks/>
            </p:cNvSpPr>
            <p:nvPr/>
          </p:nvSpPr>
          <p:spPr bwMode="auto">
            <a:xfrm>
              <a:off x="3635" y="3103"/>
              <a:ext cx="37" cy="31"/>
            </a:xfrm>
            <a:custGeom>
              <a:avLst/>
              <a:gdLst>
                <a:gd name="T0" fmla="*/ 6 w 37"/>
                <a:gd name="T1" fmla="*/ 31 h 31"/>
                <a:gd name="T2" fmla="*/ 6 w 37"/>
                <a:gd name="T3" fmla="*/ 31 h 31"/>
                <a:gd name="T4" fmla="*/ 6 w 37"/>
                <a:gd name="T5" fmla="*/ 28 h 31"/>
                <a:gd name="T6" fmla="*/ 6 w 37"/>
                <a:gd name="T7" fmla="*/ 25 h 31"/>
                <a:gd name="T8" fmla="*/ 6 w 37"/>
                <a:gd name="T9" fmla="*/ 22 h 31"/>
                <a:gd name="T10" fmla="*/ 6 w 37"/>
                <a:gd name="T11" fmla="*/ 16 h 31"/>
                <a:gd name="T12" fmla="*/ 6 w 37"/>
                <a:gd name="T13" fmla="*/ 13 h 31"/>
                <a:gd name="T14" fmla="*/ 9 w 37"/>
                <a:gd name="T15" fmla="*/ 10 h 31"/>
                <a:gd name="T16" fmla="*/ 12 w 37"/>
                <a:gd name="T17" fmla="*/ 7 h 31"/>
                <a:gd name="T18" fmla="*/ 19 w 37"/>
                <a:gd name="T19" fmla="*/ 7 h 31"/>
                <a:gd name="T20" fmla="*/ 22 w 37"/>
                <a:gd name="T21" fmla="*/ 10 h 31"/>
                <a:gd name="T22" fmla="*/ 25 w 37"/>
                <a:gd name="T23" fmla="*/ 13 h 31"/>
                <a:gd name="T24" fmla="*/ 28 w 37"/>
                <a:gd name="T25" fmla="*/ 16 h 31"/>
                <a:gd name="T26" fmla="*/ 28 w 37"/>
                <a:gd name="T27" fmla="*/ 19 h 31"/>
                <a:gd name="T28" fmla="*/ 28 w 37"/>
                <a:gd name="T29" fmla="*/ 22 h 31"/>
                <a:gd name="T30" fmla="*/ 28 w 37"/>
                <a:gd name="T31" fmla="*/ 28 h 31"/>
                <a:gd name="T32" fmla="*/ 28 w 37"/>
                <a:gd name="T33" fmla="*/ 31 h 31"/>
                <a:gd name="T34" fmla="*/ 28 w 37"/>
                <a:gd name="T35" fmla="*/ 31 h 31"/>
                <a:gd name="T36" fmla="*/ 28 w 37"/>
                <a:gd name="T37" fmla="*/ 31 h 31"/>
                <a:gd name="T38" fmla="*/ 28 w 37"/>
                <a:gd name="T39" fmla="*/ 31 h 31"/>
                <a:gd name="T40" fmla="*/ 31 w 37"/>
                <a:gd name="T41" fmla="*/ 31 h 31"/>
                <a:gd name="T42" fmla="*/ 31 w 37"/>
                <a:gd name="T43" fmla="*/ 31 h 31"/>
                <a:gd name="T44" fmla="*/ 34 w 37"/>
                <a:gd name="T45" fmla="*/ 31 h 31"/>
                <a:gd name="T46" fmla="*/ 34 w 37"/>
                <a:gd name="T47" fmla="*/ 31 h 31"/>
                <a:gd name="T48" fmla="*/ 37 w 37"/>
                <a:gd name="T49" fmla="*/ 28 h 31"/>
                <a:gd name="T50" fmla="*/ 37 w 37"/>
                <a:gd name="T51" fmla="*/ 28 h 31"/>
                <a:gd name="T52" fmla="*/ 37 w 37"/>
                <a:gd name="T53" fmla="*/ 22 h 31"/>
                <a:gd name="T54" fmla="*/ 37 w 37"/>
                <a:gd name="T55" fmla="*/ 16 h 31"/>
                <a:gd name="T56" fmla="*/ 34 w 37"/>
                <a:gd name="T57" fmla="*/ 10 h 31"/>
                <a:gd name="T58" fmla="*/ 31 w 37"/>
                <a:gd name="T59" fmla="*/ 7 h 31"/>
                <a:gd name="T60" fmla="*/ 28 w 37"/>
                <a:gd name="T61" fmla="*/ 0 h 31"/>
                <a:gd name="T62" fmla="*/ 22 w 37"/>
                <a:gd name="T63" fmla="*/ 0 h 31"/>
                <a:gd name="T64" fmla="*/ 16 w 37"/>
                <a:gd name="T65" fmla="*/ 0 h 31"/>
                <a:gd name="T66" fmla="*/ 6 w 37"/>
                <a:gd name="T67" fmla="*/ 3 h 31"/>
                <a:gd name="T68" fmla="*/ 3 w 37"/>
                <a:gd name="T69" fmla="*/ 7 h 31"/>
                <a:gd name="T70" fmla="*/ 0 w 37"/>
                <a:gd name="T71" fmla="*/ 13 h 31"/>
                <a:gd name="T72" fmla="*/ 0 w 37"/>
                <a:gd name="T73" fmla="*/ 19 h 31"/>
                <a:gd name="T74" fmla="*/ 3 w 37"/>
                <a:gd name="T75" fmla="*/ 22 h 31"/>
                <a:gd name="T76" fmla="*/ 3 w 37"/>
                <a:gd name="T77" fmla="*/ 28 h 31"/>
                <a:gd name="T78" fmla="*/ 6 w 37"/>
                <a:gd name="T79" fmla="*/ 31 h 31"/>
                <a:gd name="T80" fmla="*/ 6 w 37"/>
                <a:gd name="T81" fmla="*/ 31 h 31"/>
                <a:gd name="T82" fmla="*/ 6 w 37"/>
                <a:gd name="T83" fmla="*/ 31 h 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7"/>
                <a:gd name="T127" fmla="*/ 0 h 31"/>
                <a:gd name="T128" fmla="*/ 37 w 37"/>
                <a:gd name="T129" fmla="*/ 31 h 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7" h="31">
                  <a:moveTo>
                    <a:pt x="6" y="31"/>
                  </a:moveTo>
                  <a:lnTo>
                    <a:pt x="6" y="31"/>
                  </a:lnTo>
                  <a:lnTo>
                    <a:pt x="6" y="28"/>
                  </a:lnTo>
                  <a:lnTo>
                    <a:pt x="6" y="25"/>
                  </a:lnTo>
                  <a:lnTo>
                    <a:pt x="6" y="22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9" y="10"/>
                  </a:lnTo>
                  <a:lnTo>
                    <a:pt x="12" y="7"/>
                  </a:lnTo>
                  <a:lnTo>
                    <a:pt x="19" y="7"/>
                  </a:lnTo>
                  <a:lnTo>
                    <a:pt x="22" y="10"/>
                  </a:lnTo>
                  <a:lnTo>
                    <a:pt x="25" y="13"/>
                  </a:lnTo>
                  <a:lnTo>
                    <a:pt x="28" y="16"/>
                  </a:lnTo>
                  <a:lnTo>
                    <a:pt x="28" y="19"/>
                  </a:lnTo>
                  <a:lnTo>
                    <a:pt x="28" y="22"/>
                  </a:lnTo>
                  <a:lnTo>
                    <a:pt x="28" y="28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4" y="31"/>
                  </a:lnTo>
                  <a:lnTo>
                    <a:pt x="37" y="28"/>
                  </a:lnTo>
                  <a:lnTo>
                    <a:pt x="37" y="22"/>
                  </a:lnTo>
                  <a:lnTo>
                    <a:pt x="37" y="16"/>
                  </a:lnTo>
                  <a:lnTo>
                    <a:pt x="34" y="10"/>
                  </a:lnTo>
                  <a:lnTo>
                    <a:pt x="31" y="7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6" y="3"/>
                  </a:lnTo>
                  <a:lnTo>
                    <a:pt x="3" y="7"/>
                  </a:lnTo>
                  <a:lnTo>
                    <a:pt x="0" y="13"/>
                  </a:lnTo>
                  <a:lnTo>
                    <a:pt x="0" y="19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6" y="3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19" name="Freeform 423"/>
            <p:cNvSpPr>
              <a:spLocks/>
            </p:cNvSpPr>
            <p:nvPr/>
          </p:nvSpPr>
          <p:spPr bwMode="auto">
            <a:xfrm>
              <a:off x="3595" y="3122"/>
              <a:ext cx="37" cy="34"/>
            </a:xfrm>
            <a:custGeom>
              <a:avLst/>
              <a:gdLst>
                <a:gd name="T0" fmla="*/ 6 w 37"/>
                <a:gd name="T1" fmla="*/ 31 h 34"/>
                <a:gd name="T2" fmla="*/ 6 w 37"/>
                <a:gd name="T3" fmla="*/ 31 h 34"/>
                <a:gd name="T4" fmla="*/ 6 w 37"/>
                <a:gd name="T5" fmla="*/ 28 h 34"/>
                <a:gd name="T6" fmla="*/ 6 w 37"/>
                <a:gd name="T7" fmla="*/ 25 h 34"/>
                <a:gd name="T8" fmla="*/ 6 w 37"/>
                <a:gd name="T9" fmla="*/ 22 h 34"/>
                <a:gd name="T10" fmla="*/ 6 w 37"/>
                <a:gd name="T11" fmla="*/ 15 h 34"/>
                <a:gd name="T12" fmla="*/ 6 w 37"/>
                <a:gd name="T13" fmla="*/ 12 h 34"/>
                <a:gd name="T14" fmla="*/ 9 w 37"/>
                <a:gd name="T15" fmla="*/ 9 h 34"/>
                <a:gd name="T16" fmla="*/ 12 w 37"/>
                <a:gd name="T17" fmla="*/ 9 h 34"/>
                <a:gd name="T18" fmla="*/ 18 w 37"/>
                <a:gd name="T19" fmla="*/ 6 h 34"/>
                <a:gd name="T20" fmla="*/ 22 w 37"/>
                <a:gd name="T21" fmla="*/ 9 h 34"/>
                <a:gd name="T22" fmla="*/ 25 w 37"/>
                <a:gd name="T23" fmla="*/ 12 h 34"/>
                <a:gd name="T24" fmla="*/ 28 w 37"/>
                <a:gd name="T25" fmla="*/ 15 h 34"/>
                <a:gd name="T26" fmla="*/ 28 w 37"/>
                <a:gd name="T27" fmla="*/ 18 h 34"/>
                <a:gd name="T28" fmla="*/ 28 w 37"/>
                <a:gd name="T29" fmla="*/ 22 h 34"/>
                <a:gd name="T30" fmla="*/ 28 w 37"/>
                <a:gd name="T31" fmla="*/ 28 h 34"/>
                <a:gd name="T32" fmla="*/ 28 w 37"/>
                <a:gd name="T33" fmla="*/ 31 h 34"/>
                <a:gd name="T34" fmla="*/ 28 w 37"/>
                <a:gd name="T35" fmla="*/ 31 h 34"/>
                <a:gd name="T36" fmla="*/ 28 w 37"/>
                <a:gd name="T37" fmla="*/ 31 h 34"/>
                <a:gd name="T38" fmla="*/ 28 w 37"/>
                <a:gd name="T39" fmla="*/ 31 h 34"/>
                <a:gd name="T40" fmla="*/ 31 w 37"/>
                <a:gd name="T41" fmla="*/ 31 h 34"/>
                <a:gd name="T42" fmla="*/ 31 w 37"/>
                <a:gd name="T43" fmla="*/ 34 h 34"/>
                <a:gd name="T44" fmla="*/ 34 w 37"/>
                <a:gd name="T45" fmla="*/ 31 h 34"/>
                <a:gd name="T46" fmla="*/ 34 w 37"/>
                <a:gd name="T47" fmla="*/ 31 h 34"/>
                <a:gd name="T48" fmla="*/ 37 w 37"/>
                <a:gd name="T49" fmla="*/ 31 h 34"/>
                <a:gd name="T50" fmla="*/ 37 w 37"/>
                <a:gd name="T51" fmla="*/ 28 h 34"/>
                <a:gd name="T52" fmla="*/ 37 w 37"/>
                <a:gd name="T53" fmla="*/ 22 h 34"/>
                <a:gd name="T54" fmla="*/ 37 w 37"/>
                <a:gd name="T55" fmla="*/ 15 h 34"/>
                <a:gd name="T56" fmla="*/ 34 w 37"/>
                <a:gd name="T57" fmla="*/ 12 h 34"/>
                <a:gd name="T58" fmla="*/ 31 w 37"/>
                <a:gd name="T59" fmla="*/ 6 h 34"/>
                <a:gd name="T60" fmla="*/ 28 w 37"/>
                <a:gd name="T61" fmla="*/ 0 h 34"/>
                <a:gd name="T62" fmla="*/ 22 w 37"/>
                <a:gd name="T63" fmla="*/ 0 h 34"/>
                <a:gd name="T64" fmla="*/ 15 w 37"/>
                <a:gd name="T65" fmla="*/ 0 h 34"/>
                <a:gd name="T66" fmla="*/ 6 w 37"/>
                <a:gd name="T67" fmla="*/ 3 h 34"/>
                <a:gd name="T68" fmla="*/ 3 w 37"/>
                <a:gd name="T69" fmla="*/ 6 h 34"/>
                <a:gd name="T70" fmla="*/ 0 w 37"/>
                <a:gd name="T71" fmla="*/ 12 h 34"/>
                <a:gd name="T72" fmla="*/ 0 w 37"/>
                <a:gd name="T73" fmla="*/ 18 h 34"/>
                <a:gd name="T74" fmla="*/ 3 w 37"/>
                <a:gd name="T75" fmla="*/ 22 h 34"/>
                <a:gd name="T76" fmla="*/ 3 w 37"/>
                <a:gd name="T77" fmla="*/ 28 h 34"/>
                <a:gd name="T78" fmla="*/ 6 w 37"/>
                <a:gd name="T79" fmla="*/ 31 h 34"/>
                <a:gd name="T80" fmla="*/ 6 w 37"/>
                <a:gd name="T81" fmla="*/ 31 h 34"/>
                <a:gd name="T82" fmla="*/ 6 w 37"/>
                <a:gd name="T83" fmla="*/ 31 h 3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7"/>
                <a:gd name="T127" fmla="*/ 0 h 34"/>
                <a:gd name="T128" fmla="*/ 37 w 37"/>
                <a:gd name="T129" fmla="*/ 34 h 3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7" h="34">
                  <a:moveTo>
                    <a:pt x="6" y="31"/>
                  </a:moveTo>
                  <a:lnTo>
                    <a:pt x="6" y="31"/>
                  </a:lnTo>
                  <a:lnTo>
                    <a:pt x="6" y="28"/>
                  </a:lnTo>
                  <a:lnTo>
                    <a:pt x="6" y="25"/>
                  </a:lnTo>
                  <a:lnTo>
                    <a:pt x="6" y="22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2" y="9"/>
                  </a:lnTo>
                  <a:lnTo>
                    <a:pt x="18" y="6"/>
                  </a:lnTo>
                  <a:lnTo>
                    <a:pt x="22" y="9"/>
                  </a:lnTo>
                  <a:lnTo>
                    <a:pt x="25" y="12"/>
                  </a:lnTo>
                  <a:lnTo>
                    <a:pt x="28" y="15"/>
                  </a:lnTo>
                  <a:lnTo>
                    <a:pt x="28" y="18"/>
                  </a:lnTo>
                  <a:lnTo>
                    <a:pt x="28" y="22"/>
                  </a:lnTo>
                  <a:lnTo>
                    <a:pt x="28" y="28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1" y="34"/>
                  </a:lnTo>
                  <a:lnTo>
                    <a:pt x="34" y="31"/>
                  </a:lnTo>
                  <a:lnTo>
                    <a:pt x="37" y="31"/>
                  </a:lnTo>
                  <a:lnTo>
                    <a:pt x="37" y="28"/>
                  </a:lnTo>
                  <a:lnTo>
                    <a:pt x="37" y="22"/>
                  </a:lnTo>
                  <a:lnTo>
                    <a:pt x="37" y="15"/>
                  </a:lnTo>
                  <a:lnTo>
                    <a:pt x="34" y="12"/>
                  </a:lnTo>
                  <a:lnTo>
                    <a:pt x="31" y="6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5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6" y="3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0" name="Freeform 424"/>
            <p:cNvSpPr>
              <a:spLocks/>
            </p:cNvSpPr>
            <p:nvPr/>
          </p:nvSpPr>
          <p:spPr bwMode="auto">
            <a:xfrm>
              <a:off x="3675" y="3085"/>
              <a:ext cx="34" cy="31"/>
            </a:xfrm>
            <a:custGeom>
              <a:avLst/>
              <a:gdLst>
                <a:gd name="T0" fmla="*/ 3 w 34"/>
                <a:gd name="T1" fmla="*/ 31 h 31"/>
                <a:gd name="T2" fmla="*/ 3 w 34"/>
                <a:gd name="T3" fmla="*/ 28 h 31"/>
                <a:gd name="T4" fmla="*/ 3 w 34"/>
                <a:gd name="T5" fmla="*/ 28 h 31"/>
                <a:gd name="T6" fmla="*/ 3 w 34"/>
                <a:gd name="T7" fmla="*/ 25 h 31"/>
                <a:gd name="T8" fmla="*/ 3 w 34"/>
                <a:gd name="T9" fmla="*/ 21 h 31"/>
                <a:gd name="T10" fmla="*/ 3 w 34"/>
                <a:gd name="T11" fmla="*/ 15 h 31"/>
                <a:gd name="T12" fmla="*/ 6 w 34"/>
                <a:gd name="T13" fmla="*/ 12 h 31"/>
                <a:gd name="T14" fmla="*/ 6 w 34"/>
                <a:gd name="T15" fmla="*/ 9 h 31"/>
                <a:gd name="T16" fmla="*/ 9 w 34"/>
                <a:gd name="T17" fmla="*/ 9 h 31"/>
                <a:gd name="T18" fmla="*/ 16 w 34"/>
                <a:gd name="T19" fmla="*/ 9 h 31"/>
                <a:gd name="T20" fmla="*/ 19 w 34"/>
                <a:gd name="T21" fmla="*/ 9 h 31"/>
                <a:gd name="T22" fmla="*/ 22 w 34"/>
                <a:gd name="T23" fmla="*/ 12 h 31"/>
                <a:gd name="T24" fmla="*/ 25 w 34"/>
                <a:gd name="T25" fmla="*/ 15 h 31"/>
                <a:gd name="T26" fmla="*/ 25 w 34"/>
                <a:gd name="T27" fmla="*/ 18 h 31"/>
                <a:gd name="T28" fmla="*/ 25 w 34"/>
                <a:gd name="T29" fmla="*/ 21 h 31"/>
                <a:gd name="T30" fmla="*/ 25 w 34"/>
                <a:gd name="T31" fmla="*/ 25 h 31"/>
                <a:gd name="T32" fmla="*/ 25 w 34"/>
                <a:gd name="T33" fmla="*/ 28 h 31"/>
                <a:gd name="T34" fmla="*/ 25 w 34"/>
                <a:gd name="T35" fmla="*/ 28 h 31"/>
                <a:gd name="T36" fmla="*/ 25 w 34"/>
                <a:gd name="T37" fmla="*/ 31 h 31"/>
                <a:gd name="T38" fmla="*/ 25 w 34"/>
                <a:gd name="T39" fmla="*/ 31 h 31"/>
                <a:gd name="T40" fmla="*/ 28 w 34"/>
                <a:gd name="T41" fmla="*/ 31 h 31"/>
                <a:gd name="T42" fmla="*/ 28 w 34"/>
                <a:gd name="T43" fmla="*/ 31 h 31"/>
                <a:gd name="T44" fmla="*/ 31 w 34"/>
                <a:gd name="T45" fmla="*/ 31 h 31"/>
                <a:gd name="T46" fmla="*/ 31 w 34"/>
                <a:gd name="T47" fmla="*/ 31 h 31"/>
                <a:gd name="T48" fmla="*/ 31 w 34"/>
                <a:gd name="T49" fmla="*/ 28 h 31"/>
                <a:gd name="T50" fmla="*/ 34 w 34"/>
                <a:gd name="T51" fmla="*/ 25 h 31"/>
                <a:gd name="T52" fmla="*/ 34 w 34"/>
                <a:gd name="T53" fmla="*/ 21 h 31"/>
                <a:gd name="T54" fmla="*/ 31 w 34"/>
                <a:gd name="T55" fmla="*/ 15 h 31"/>
                <a:gd name="T56" fmla="*/ 31 w 34"/>
                <a:gd name="T57" fmla="*/ 12 h 31"/>
                <a:gd name="T58" fmla="*/ 28 w 34"/>
                <a:gd name="T59" fmla="*/ 6 h 31"/>
                <a:gd name="T60" fmla="*/ 25 w 34"/>
                <a:gd name="T61" fmla="*/ 3 h 31"/>
                <a:gd name="T62" fmla="*/ 19 w 34"/>
                <a:gd name="T63" fmla="*/ 0 h 31"/>
                <a:gd name="T64" fmla="*/ 13 w 34"/>
                <a:gd name="T65" fmla="*/ 0 h 31"/>
                <a:gd name="T66" fmla="*/ 6 w 34"/>
                <a:gd name="T67" fmla="*/ 3 h 31"/>
                <a:gd name="T68" fmla="*/ 0 w 34"/>
                <a:gd name="T69" fmla="*/ 9 h 31"/>
                <a:gd name="T70" fmla="*/ 0 w 34"/>
                <a:gd name="T71" fmla="*/ 12 h 31"/>
                <a:gd name="T72" fmla="*/ 0 w 34"/>
                <a:gd name="T73" fmla="*/ 18 h 31"/>
                <a:gd name="T74" fmla="*/ 0 w 34"/>
                <a:gd name="T75" fmla="*/ 21 h 31"/>
                <a:gd name="T76" fmla="*/ 3 w 34"/>
                <a:gd name="T77" fmla="*/ 25 h 31"/>
                <a:gd name="T78" fmla="*/ 3 w 34"/>
                <a:gd name="T79" fmla="*/ 28 h 31"/>
                <a:gd name="T80" fmla="*/ 3 w 34"/>
                <a:gd name="T81" fmla="*/ 31 h 31"/>
                <a:gd name="T82" fmla="*/ 3 w 34"/>
                <a:gd name="T83" fmla="*/ 31 h 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4"/>
                <a:gd name="T127" fmla="*/ 0 h 31"/>
                <a:gd name="T128" fmla="*/ 34 w 34"/>
                <a:gd name="T129" fmla="*/ 31 h 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4" h="31">
                  <a:moveTo>
                    <a:pt x="3" y="31"/>
                  </a:moveTo>
                  <a:lnTo>
                    <a:pt x="3" y="28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6" y="9"/>
                  </a:lnTo>
                  <a:lnTo>
                    <a:pt x="9" y="9"/>
                  </a:lnTo>
                  <a:lnTo>
                    <a:pt x="16" y="9"/>
                  </a:lnTo>
                  <a:lnTo>
                    <a:pt x="19" y="9"/>
                  </a:lnTo>
                  <a:lnTo>
                    <a:pt x="22" y="12"/>
                  </a:lnTo>
                  <a:lnTo>
                    <a:pt x="25" y="15"/>
                  </a:lnTo>
                  <a:lnTo>
                    <a:pt x="25" y="18"/>
                  </a:lnTo>
                  <a:lnTo>
                    <a:pt x="25" y="21"/>
                  </a:lnTo>
                  <a:lnTo>
                    <a:pt x="25" y="25"/>
                  </a:lnTo>
                  <a:lnTo>
                    <a:pt x="25" y="28"/>
                  </a:lnTo>
                  <a:lnTo>
                    <a:pt x="25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4" y="25"/>
                  </a:lnTo>
                  <a:lnTo>
                    <a:pt x="34" y="21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28" y="6"/>
                  </a:lnTo>
                  <a:lnTo>
                    <a:pt x="25" y="3"/>
                  </a:lnTo>
                  <a:lnTo>
                    <a:pt x="19" y="0"/>
                  </a:lnTo>
                  <a:lnTo>
                    <a:pt x="13" y="0"/>
                  </a:lnTo>
                  <a:lnTo>
                    <a:pt x="6" y="3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5"/>
                  </a:lnTo>
                  <a:lnTo>
                    <a:pt x="3" y="28"/>
                  </a:lnTo>
                  <a:lnTo>
                    <a:pt x="3" y="3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1" name="Freeform 425"/>
            <p:cNvSpPr>
              <a:spLocks/>
            </p:cNvSpPr>
            <p:nvPr/>
          </p:nvSpPr>
          <p:spPr bwMode="auto">
            <a:xfrm>
              <a:off x="3706" y="3072"/>
              <a:ext cx="31" cy="28"/>
            </a:xfrm>
            <a:custGeom>
              <a:avLst/>
              <a:gdLst>
                <a:gd name="T0" fmla="*/ 6 w 31"/>
                <a:gd name="T1" fmla="*/ 28 h 28"/>
                <a:gd name="T2" fmla="*/ 6 w 31"/>
                <a:gd name="T3" fmla="*/ 25 h 28"/>
                <a:gd name="T4" fmla="*/ 6 w 31"/>
                <a:gd name="T5" fmla="*/ 25 h 28"/>
                <a:gd name="T6" fmla="*/ 6 w 31"/>
                <a:gd name="T7" fmla="*/ 22 h 28"/>
                <a:gd name="T8" fmla="*/ 3 w 31"/>
                <a:gd name="T9" fmla="*/ 19 h 28"/>
                <a:gd name="T10" fmla="*/ 6 w 31"/>
                <a:gd name="T11" fmla="*/ 16 h 28"/>
                <a:gd name="T12" fmla="*/ 6 w 31"/>
                <a:gd name="T13" fmla="*/ 13 h 28"/>
                <a:gd name="T14" fmla="*/ 9 w 31"/>
                <a:gd name="T15" fmla="*/ 10 h 28"/>
                <a:gd name="T16" fmla="*/ 12 w 31"/>
                <a:gd name="T17" fmla="*/ 7 h 28"/>
                <a:gd name="T18" fmla="*/ 16 w 31"/>
                <a:gd name="T19" fmla="*/ 7 h 28"/>
                <a:gd name="T20" fmla="*/ 19 w 31"/>
                <a:gd name="T21" fmla="*/ 10 h 28"/>
                <a:gd name="T22" fmla="*/ 22 w 31"/>
                <a:gd name="T23" fmla="*/ 10 h 28"/>
                <a:gd name="T24" fmla="*/ 22 w 31"/>
                <a:gd name="T25" fmla="*/ 13 h 28"/>
                <a:gd name="T26" fmla="*/ 25 w 31"/>
                <a:gd name="T27" fmla="*/ 16 h 28"/>
                <a:gd name="T28" fmla="*/ 25 w 31"/>
                <a:gd name="T29" fmla="*/ 19 h 28"/>
                <a:gd name="T30" fmla="*/ 25 w 31"/>
                <a:gd name="T31" fmla="*/ 22 h 28"/>
                <a:gd name="T32" fmla="*/ 22 w 31"/>
                <a:gd name="T33" fmla="*/ 25 h 28"/>
                <a:gd name="T34" fmla="*/ 22 w 31"/>
                <a:gd name="T35" fmla="*/ 25 h 28"/>
                <a:gd name="T36" fmla="*/ 25 w 31"/>
                <a:gd name="T37" fmla="*/ 25 h 28"/>
                <a:gd name="T38" fmla="*/ 25 w 31"/>
                <a:gd name="T39" fmla="*/ 28 h 28"/>
                <a:gd name="T40" fmla="*/ 25 w 31"/>
                <a:gd name="T41" fmla="*/ 28 h 28"/>
                <a:gd name="T42" fmla="*/ 28 w 31"/>
                <a:gd name="T43" fmla="*/ 28 h 28"/>
                <a:gd name="T44" fmla="*/ 28 w 31"/>
                <a:gd name="T45" fmla="*/ 28 h 28"/>
                <a:gd name="T46" fmla="*/ 31 w 31"/>
                <a:gd name="T47" fmla="*/ 28 h 28"/>
                <a:gd name="T48" fmla="*/ 31 w 31"/>
                <a:gd name="T49" fmla="*/ 25 h 28"/>
                <a:gd name="T50" fmla="*/ 31 w 31"/>
                <a:gd name="T51" fmla="*/ 22 h 28"/>
                <a:gd name="T52" fmla="*/ 31 w 31"/>
                <a:gd name="T53" fmla="*/ 19 h 28"/>
                <a:gd name="T54" fmla="*/ 31 w 31"/>
                <a:gd name="T55" fmla="*/ 16 h 28"/>
                <a:gd name="T56" fmla="*/ 31 w 31"/>
                <a:gd name="T57" fmla="*/ 10 h 28"/>
                <a:gd name="T58" fmla="*/ 28 w 31"/>
                <a:gd name="T59" fmla="*/ 7 h 28"/>
                <a:gd name="T60" fmla="*/ 25 w 31"/>
                <a:gd name="T61" fmla="*/ 4 h 28"/>
                <a:gd name="T62" fmla="*/ 19 w 31"/>
                <a:gd name="T63" fmla="*/ 0 h 28"/>
                <a:gd name="T64" fmla="*/ 12 w 31"/>
                <a:gd name="T65" fmla="*/ 0 h 28"/>
                <a:gd name="T66" fmla="*/ 6 w 31"/>
                <a:gd name="T67" fmla="*/ 4 h 28"/>
                <a:gd name="T68" fmla="*/ 3 w 31"/>
                <a:gd name="T69" fmla="*/ 7 h 28"/>
                <a:gd name="T70" fmla="*/ 0 w 31"/>
                <a:gd name="T71" fmla="*/ 13 h 28"/>
                <a:gd name="T72" fmla="*/ 0 w 31"/>
                <a:gd name="T73" fmla="*/ 16 h 28"/>
                <a:gd name="T74" fmla="*/ 3 w 31"/>
                <a:gd name="T75" fmla="*/ 19 h 28"/>
                <a:gd name="T76" fmla="*/ 3 w 31"/>
                <a:gd name="T77" fmla="*/ 25 h 28"/>
                <a:gd name="T78" fmla="*/ 6 w 31"/>
                <a:gd name="T79" fmla="*/ 25 h 28"/>
                <a:gd name="T80" fmla="*/ 6 w 31"/>
                <a:gd name="T81" fmla="*/ 28 h 28"/>
                <a:gd name="T82" fmla="*/ 6 w 31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"/>
                <a:gd name="T127" fmla="*/ 0 h 28"/>
                <a:gd name="T128" fmla="*/ 31 w 31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" h="28">
                  <a:moveTo>
                    <a:pt x="6" y="28"/>
                  </a:moveTo>
                  <a:lnTo>
                    <a:pt x="6" y="25"/>
                  </a:lnTo>
                  <a:lnTo>
                    <a:pt x="6" y="22"/>
                  </a:lnTo>
                  <a:lnTo>
                    <a:pt x="3" y="19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9" y="10"/>
                  </a:lnTo>
                  <a:lnTo>
                    <a:pt x="12" y="7"/>
                  </a:lnTo>
                  <a:lnTo>
                    <a:pt x="16" y="7"/>
                  </a:lnTo>
                  <a:lnTo>
                    <a:pt x="19" y="10"/>
                  </a:lnTo>
                  <a:lnTo>
                    <a:pt x="22" y="10"/>
                  </a:lnTo>
                  <a:lnTo>
                    <a:pt x="22" y="13"/>
                  </a:lnTo>
                  <a:lnTo>
                    <a:pt x="25" y="16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2" y="25"/>
                  </a:lnTo>
                  <a:lnTo>
                    <a:pt x="25" y="25"/>
                  </a:lnTo>
                  <a:lnTo>
                    <a:pt x="25" y="28"/>
                  </a:lnTo>
                  <a:lnTo>
                    <a:pt x="28" y="28"/>
                  </a:lnTo>
                  <a:lnTo>
                    <a:pt x="31" y="28"/>
                  </a:lnTo>
                  <a:lnTo>
                    <a:pt x="31" y="25"/>
                  </a:lnTo>
                  <a:lnTo>
                    <a:pt x="31" y="22"/>
                  </a:lnTo>
                  <a:lnTo>
                    <a:pt x="31" y="19"/>
                  </a:lnTo>
                  <a:lnTo>
                    <a:pt x="31" y="16"/>
                  </a:lnTo>
                  <a:lnTo>
                    <a:pt x="31" y="10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3" y="7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3" y="25"/>
                  </a:lnTo>
                  <a:lnTo>
                    <a:pt x="6" y="25"/>
                  </a:lnTo>
                  <a:lnTo>
                    <a:pt x="6" y="2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2" name="Freeform 426"/>
            <p:cNvSpPr>
              <a:spLocks/>
            </p:cNvSpPr>
            <p:nvPr/>
          </p:nvSpPr>
          <p:spPr bwMode="auto">
            <a:xfrm>
              <a:off x="3737" y="3063"/>
              <a:ext cx="28" cy="25"/>
            </a:xfrm>
            <a:custGeom>
              <a:avLst/>
              <a:gdLst>
                <a:gd name="T0" fmla="*/ 3 w 28"/>
                <a:gd name="T1" fmla="*/ 22 h 25"/>
                <a:gd name="T2" fmla="*/ 3 w 28"/>
                <a:gd name="T3" fmla="*/ 22 h 25"/>
                <a:gd name="T4" fmla="*/ 3 w 28"/>
                <a:gd name="T5" fmla="*/ 22 h 25"/>
                <a:gd name="T6" fmla="*/ 3 w 28"/>
                <a:gd name="T7" fmla="*/ 19 h 25"/>
                <a:gd name="T8" fmla="*/ 3 w 28"/>
                <a:gd name="T9" fmla="*/ 16 h 25"/>
                <a:gd name="T10" fmla="*/ 3 w 28"/>
                <a:gd name="T11" fmla="*/ 13 h 25"/>
                <a:gd name="T12" fmla="*/ 3 w 28"/>
                <a:gd name="T13" fmla="*/ 9 h 25"/>
                <a:gd name="T14" fmla="*/ 6 w 28"/>
                <a:gd name="T15" fmla="*/ 6 h 25"/>
                <a:gd name="T16" fmla="*/ 9 w 28"/>
                <a:gd name="T17" fmla="*/ 6 h 25"/>
                <a:gd name="T18" fmla="*/ 12 w 28"/>
                <a:gd name="T19" fmla="*/ 6 h 25"/>
                <a:gd name="T20" fmla="*/ 15 w 28"/>
                <a:gd name="T21" fmla="*/ 6 h 25"/>
                <a:gd name="T22" fmla="*/ 19 w 28"/>
                <a:gd name="T23" fmla="*/ 9 h 25"/>
                <a:gd name="T24" fmla="*/ 19 w 28"/>
                <a:gd name="T25" fmla="*/ 9 h 25"/>
                <a:gd name="T26" fmla="*/ 19 w 28"/>
                <a:gd name="T27" fmla="*/ 13 h 25"/>
                <a:gd name="T28" fmla="*/ 22 w 28"/>
                <a:gd name="T29" fmla="*/ 16 h 25"/>
                <a:gd name="T30" fmla="*/ 22 w 28"/>
                <a:gd name="T31" fmla="*/ 19 h 25"/>
                <a:gd name="T32" fmla="*/ 19 w 28"/>
                <a:gd name="T33" fmla="*/ 22 h 25"/>
                <a:gd name="T34" fmla="*/ 19 w 28"/>
                <a:gd name="T35" fmla="*/ 22 h 25"/>
                <a:gd name="T36" fmla="*/ 19 w 28"/>
                <a:gd name="T37" fmla="*/ 22 h 25"/>
                <a:gd name="T38" fmla="*/ 22 w 28"/>
                <a:gd name="T39" fmla="*/ 22 h 25"/>
                <a:gd name="T40" fmla="*/ 22 w 28"/>
                <a:gd name="T41" fmla="*/ 25 h 25"/>
                <a:gd name="T42" fmla="*/ 22 w 28"/>
                <a:gd name="T43" fmla="*/ 25 h 25"/>
                <a:gd name="T44" fmla="*/ 25 w 28"/>
                <a:gd name="T45" fmla="*/ 25 h 25"/>
                <a:gd name="T46" fmla="*/ 25 w 28"/>
                <a:gd name="T47" fmla="*/ 22 h 25"/>
                <a:gd name="T48" fmla="*/ 25 w 28"/>
                <a:gd name="T49" fmla="*/ 22 h 25"/>
                <a:gd name="T50" fmla="*/ 28 w 28"/>
                <a:gd name="T51" fmla="*/ 19 h 25"/>
                <a:gd name="T52" fmla="*/ 28 w 28"/>
                <a:gd name="T53" fmla="*/ 16 h 25"/>
                <a:gd name="T54" fmla="*/ 25 w 28"/>
                <a:gd name="T55" fmla="*/ 13 h 25"/>
                <a:gd name="T56" fmla="*/ 25 w 28"/>
                <a:gd name="T57" fmla="*/ 6 h 25"/>
                <a:gd name="T58" fmla="*/ 22 w 28"/>
                <a:gd name="T59" fmla="*/ 3 h 25"/>
                <a:gd name="T60" fmla="*/ 19 w 28"/>
                <a:gd name="T61" fmla="*/ 0 h 25"/>
                <a:gd name="T62" fmla="*/ 15 w 28"/>
                <a:gd name="T63" fmla="*/ 0 h 25"/>
                <a:gd name="T64" fmla="*/ 9 w 28"/>
                <a:gd name="T65" fmla="*/ 0 h 25"/>
                <a:gd name="T66" fmla="*/ 3 w 28"/>
                <a:gd name="T67" fmla="*/ 3 h 25"/>
                <a:gd name="T68" fmla="*/ 0 w 28"/>
                <a:gd name="T69" fmla="*/ 6 h 25"/>
                <a:gd name="T70" fmla="*/ 0 w 28"/>
                <a:gd name="T71" fmla="*/ 9 h 25"/>
                <a:gd name="T72" fmla="*/ 0 w 28"/>
                <a:gd name="T73" fmla="*/ 13 h 25"/>
                <a:gd name="T74" fmla="*/ 0 w 28"/>
                <a:gd name="T75" fmla="*/ 16 h 25"/>
                <a:gd name="T76" fmla="*/ 3 w 28"/>
                <a:gd name="T77" fmla="*/ 19 h 25"/>
                <a:gd name="T78" fmla="*/ 3 w 28"/>
                <a:gd name="T79" fmla="*/ 22 h 25"/>
                <a:gd name="T80" fmla="*/ 3 w 28"/>
                <a:gd name="T81" fmla="*/ 22 h 25"/>
                <a:gd name="T82" fmla="*/ 3 w 28"/>
                <a:gd name="T83" fmla="*/ 22 h 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5"/>
                <a:gd name="T128" fmla="*/ 28 w 28"/>
                <a:gd name="T129" fmla="*/ 25 h 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5">
                  <a:moveTo>
                    <a:pt x="3" y="22"/>
                  </a:moveTo>
                  <a:lnTo>
                    <a:pt x="3" y="22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3"/>
                  </a:lnTo>
                  <a:lnTo>
                    <a:pt x="3" y="9"/>
                  </a:lnTo>
                  <a:lnTo>
                    <a:pt x="6" y="6"/>
                  </a:lnTo>
                  <a:lnTo>
                    <a:pt x="9" y="6"/>
                  </a:lnTo>
                  <a:lnTo>
                    <a:pt x="12" y="6"/>
                  </a:lnTo>
                  <a:lnTo>
                    <a:pt x="15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2" y="16"/>
                  </a:lnTo>
                  <a:lnTo>
                    <a:pt x="22" y="19"/>
                  </a:lnTo>
                  <a:lnTo>
                    <a:pt x="19" y="22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5" y="25"/>
                  </a:lnTo>
                  <a:lnTo>
                    <a:pt x="25" y="22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5" y="13"/>
                  </a:lnTo>
                  <a:lnTo>
                    <a:pt x="25" y="6"/>
                  </a:lnTo>
                  <a:lnTo>
                    <a:pt x="22" y="3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3" y="2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3" name="Freeform 427"/>
            <p:cNvSpPr>
              <a:spLocks/>
            </p:cNvSpPr>
            <p:nvPr/>
          </p:nvSpPr>
          <p:spPr bwMode="auto">
            <a:xfrm>
              <a:off x="3762" y="3051"/>
              <a:ext cx="21" cy="21"/>
            </a:xfrm>
            <a:custGeom>
              <a:avLst/>
              <a:gdLst>
                <a:gd name="T0" fmla="*/ 3 w 21"/>
                <a:gd name="T1" fmla="*/ 21 h 21"/>
                <a:gd name="T2" fmla="*/ 3 w 21"/>
                <a:gd name="T3" fmla="*/ 21 h 21"/>
                <a:gd name="T4" fmla="*/ 3 w 21"/>
                <a:gd name="T5" fmla="*/ 18 h 21"/>
                <a:gd name="T6" fmla="*/ 3 w 21"/>
                <a:gd name="T7" fmla="*/ 18 h 21"/>
                <a:gd name="T8" fmla="*/ 3 w 21"/>
                <a:gd name="T9" fmla="*/ 15 h 21"/>
                <a:gd name="T10" fmla="*/ 3 w 21"/>
                <a:gd name="T11" fmla="*/ 12 h 21"/>
                <a:gd name="T12" fmla="*/ 3 w 21"/>
                <a:gd name="T13" fmla="*/ 9 h 21"/>
                <a:gd name="T14" fmla="*/ 3 w 21"/>
                <a:gd name="T15" fmla="*/ 9 h 21"/>
                <a:gd name="T16" fmla="*/ 6 w 21"/>
                <a:gd name="T17" fmla="*/ 6 h 21"/>
                <a:gd name="T18" fmla="*/ 9 w 21"/>
                <a:gd name="T19" fmla="*/ 6 h 21"/>
                <a:gd name="T20" fmla="*/ 12 w 21"/>
                <a:gd name="T21" fmla="*/ 6 h 21"/>
                <a:gd name="T22" fmla="*/ 15 w 21"/>
                <a:gd name="T23" fmla="*/ 9 h 21"/>
                <a:gd name="T24" fmla="*/ 15 w 21"/>
                <a:gd name="T25" fmla="*/ 12 h 21"/>
                <a:gd name="T26" fmla="*/ 18 w 21"/>
                <a:gd name="T27" fmla="*/ 12 h 21"/>
                <a:gd name="T28" fmla="*/ 18 w 21"/>
                <a:gd name="T29" fmla="*/ 15 h 21"/>
                <a:gd name="T30" fmla="*/ 18 w 21"/>
                <a:gd name="T31" fmla="*/ 18 h 21"/>
                <a:gd name="T32" fmla="*/ 15 w 21"/>
                <a:gd name="T33" fmla="*/ 21 h 21"/>
                <a:gd name="T34" fmla="*/ 15 w 21"/>
                <a:gd name="T35" fmla="*/ 21 h 21"/>
                <a:gd name="T36" fmla="*/ 18 w 21"/>
                <a:gd name="T37" fmla="*/ 21 h 21"/>
                <a:gd name="T38" fmla="*/ 21 w 21"/>
                <a:gd name="T39" fmla="*/ 21 h 21"/>
                <a:gd name="T40" fmla="*/ 21 w 21"/>
                <a:gd name="T41" fmla="*/ 21 h 21"/>
                <a:gd name="T42" fmla="*/ 21 w 21"/>
                <a:gd name="T43" fmla="*/ 18 h 21"/>
                <a:gd name="T44" fmla="*/ 21 w 21"/>
                <a:gd name="T45" fmla="*/ 15 h 21"/>
                <a:gd name="T46" fmla="*/ 21 w 21"/>
                <a:gd name="T47" fmla="*/ 12 h 21"/>
                <a:gd name="T48" fmla="*/ 21 w 21"/>
                <a:gd name="T49" fmla="*/ 9 h 21"/>
                <a:gd name="T50" fmla="*/ 18 w 21"/>
                <a:gd name="T51" fmla="*/ 6 h 21"/>
                <a:gd name="T52" fmla="*/ 15 w 21"/>
                <a:gd name="T53" fmla="*/ 3 h 21"/>
                <a:gd name="T54" fmla="*/ 12 w 21"/>
                <a:gd name="T55" fmla="*/ 0 h 21"/>
                <a:gd name="T56" fmla="*/ 9 w 21"/>
                <a:gd name="T57" fmla="*/ 0 h 21"/>
                <a:gd name="T58" fmla="*/ 3 w 21"/>
                <a:gd name="T59" fmla="*/ 3 h 21"/>
                <a:gd name="T60" fmla="*/ 0 w 21"/>
                <a:gd name="T61" fmla="*/ 6 h 21"/>
                <a:gd name="T62" fmla="*/ 0 w 21"/>
                <a:gd name="T63" fmla="*/ 9 h 21"/>
                <a:gd name="T64" fmla="*/ 0 w 21"/>
                <a:gd name="T65" fmla="*/ 12 h 21"/>
                <a:gd name="T66" fmla="*/ 0 w 21"/>
                <a:gd name="T67" fmla="*/ 15 h 21"/>
                <a:gd name="T68" fmla="*/ 0 w 21"/>
                <a:gd name="T69" fmla="*/ 18 h 21"/>
                <a:gd name="T70" fmla="*/ 3 w 21"/>
                <a:gd name="T71" fmla="*/ 21 h 21"/>
                <a:gd name="T72" fmla="*/ 3 w 21"/>
                <a:gd name="T73" fmla="*/ 21 h 21"/>
                <a:gd name="T74" fmla="*/ 3 w 21"/>
                <a:gd name="T75" fmla="*/ 21 h 2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1"/>
                <a:gd name="T115" fmla="*/ 0 h 21"/>
                <a:gd name="T116" fmla="*/ 21 w 21"/>
                <a:gd name="T117" fmla="*/ 21 h 2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1" h="21">
                  <a:moveTo>
                    <a:pt x="3" y="21"/>
                  </a:moveTo>
                  <a:lnTo>
                    <a:pt x="3" y="21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2"/>
                  </a:lnTo>
                  <a:lnTo>
                    <a:pt x="3" y="9"/>
                  </a:lnTo>
                  <a:lnTo>
                    <a:pt x="6" y="6"/>
                  </a:lnTo>
                  <a:lnTo>
                    <a:pt x="9" y="6"/>
                  </a:lnTo>
                  <a:lnTo>
                    <a:pt x="12" y="6"/>
                  </a:lnTo>
                  <a:lnTo>
                    <a:pt x="15" y="9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5" y="21"/>
                  </a:lnTo>
                  <a:lnTo>
                    <a:pt x="18" y="21"/>
                  </a:lnTo>
                  <a:lnTo>
                    <a:pt x="21" y="21"/>
                  </a:lnTo>
                  <a:lnTo>
                    <a:pt x="21" y="18"/>
                  </a:lnTo>
                  <a:lnTo>
                    <a:pt x="21" y="15"/>
                  </a:lnTo>
                  <a:lnTo>
                    <a:pt x="21" y="12"/>
                  </a:lnTo>
                  <a:lnTo>
                    <a:pt x="21" y="9"/>
                  </a:lnTo>
                  <a:lnTo>
                    <a:pt x="18" y="6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4" name="Freeform 428"/>
            <p:cNvSpPr>
              <a:spLocks/>
            </p:cNvSpPr>
            <p:nvPr/>
          </p:nvSpPr>
          <p:spPr bwMode="auto">
            <a:xfrm>
              <a:off x="3783" y="3045"/>
              <a:ext cx="19" cy="18"/>
            </a:xfrm>
            <a:custGeom>
              <a:avLst/>
              <a:gdLst>
                <a:gd name="T0" fmla="*/ 0 w 19"/>
                <a:gd name="T1" fmla="*/ 18 h 18"/>
                <a:gd name="T2" fmla="*/ 0 w 19"/>
                <a:gd name="T3" fmla="*/ 18 h 18"/>
                <a:gd name="T4" fmla="*/ 0 w 19"/>
                <a:gd name="T5" fmla="*/ 15 h 18"/>
                <a:gd name="T6" fmla="*/ 0 w 19"/>
                <a:gd name="T7" fmla="*/ 15 h 18"/>
                <a:gd name="T8" fmla="*/ 0 w 19"/>
                <a:gd name="T9" fmla="*/ 12 h 18"/>
                <a:gd name="T10" fmla="*/ 0 w 19"/>
                <a:gd name="T11" fmla="*/ 9 h 18"/>
                <a:gd name="T12" fmla="*/ 3 w 19"/>
                <a:gd name="T13" fmla="*/ 9 h 18"/>
                <a:gd name="T14" fmla="*/ 3 w 19"/>
                <a:gd name="T15" fmla="*/ 6 h 18"/>
                <a:gd name="T16" fmla="*/ 7 w 19"/>
                <a:gd name="T17" fmla="*/ 6 h 18"/>
                <a:gd name="T18" fmla="*/ 10 w 19"/>
                <a:gd name="T19" fmla="*/ 6 h 18"/>
                <a:gd name="T20" fmla="*/ 10 w 19"/>
                <a:gd name="T21" fmla="*/ 6 h 18"/>
                <a:gd name="T22" fmla="*/ 13 w 19"/>
                <a:gd name="T23" fmla="*/ 6 h 18"/>
                <a:gd name="T24" fmla="*/ 13 w 19"/>
                <a:gd name="T25" fmla="*/ 9 h 18"/>
                <a:gd name="T26" fmla="*/ 16 w 19"/>
                <a:gd name="T27" fmla="*/ 12 h 18"/>
                <a:gd name="T28" fmla="*/ 16 w 19"/>
                <a:gd name="T29" fmla="*/ 12 h 18"/>
                <a:gd name="T30" fmla="*/ 16 w 19"/>
                <a:gd name="T31" fmla="*/ 15 h 18"/>
                <a:gd name="T32" fmla="*/ 13 w 19"/>
                <a:gd name="T33" fmla="*/ 18 h 18"/>
                <a:gd name="T34" fmla="*/ 16 w 19"/>
                <a:gd name="T35" fmla="*/ 18 h 18"/>
                <a:gd name="T36" fmla="*/ 16 w 19"/>
                <a:gd name="T37" fmla="*/ 18 h 18"/>
                <a:gd name="T38" fmla="*/ 19 w 19"/>
                <a:gd name="T39" fmla="*/ 18 h 18"/>
                <a:gd name="T40" fmla="*/ 19 w 19"/>
                <a:gd name="T41" fmla="*/ 18 h 18"/>
                <a:gd name="T42" fmla="*/ 19 w 19"/>
                <a:gd name="T43" fmla="*/ 15 h 18"/>
                <a:gd name="T44" fmla="*/ 19 w 19"/>
                <a:gd name="T45" fmla="*/ 12 h 18"/>
                <a:gd name="T46" fmla="*/ 19 w 19"/>
                <a:gd name="T47" fmla="*/ 9 h 18"/>
                <a:gd name="T48" fmla="*/ 19 w 19"/>
                <a:gd name="T49" fmla="*/ 6 h 18"/>
                <a:gd name="T50" fmla="*/ 16 w 19"/>
                <a:gd name="T51" fmla="*/ 3 h 18"/>
                <a:gd name="T52" fmla="*/ 16 w 19"/>
                <a:gd name="T53" fmla="*/ 0 h 18"/>
                <a:gd name="T54" fmla="*/ 13 w 19"/>
                <a:gd name="T55" fmla="*/ 0 h 18"/>
                <a:gd name="T56" fmla="*/ 7 w 19"/>
                <a:gd name="T57" fmla="*/ 0 h 18"/>
                <a:gd name="T58" fmla="*/ 3 w 19"/>
                <a:gd name="T59" fmla="*/ 3 h 18"/>
                <a:gd name="T60" fmla="*/ 0 w 19"/>
                <a:gd name="T61" fmla="*/ 6 h 18"/>
                <a:gd name="T62" fmla="*/ 0 w 19"/>
                <a:gd name="T63" fmla="*/ 6 h 18"/>
                <a:gd name="T64" fmla="*/ 0 w 19"/>
                <a:gd name="T65" fmla="*/ 9 h 18"/>
                <a:gd name="T66" fmla="*/ 0 w 19"/>
                <a:gd name="T67" fmla="*/ 12 h 18"/>
                <a:gd name="T68" fmla="*/ 0 w 19"/>
                <a:gd name="T69" fmla="*/ 15 h 18"/>
                <a:gd name="T70" fmla="*/ 0 w 19"/>
                <a:gd name="T71" fmla="*/ 18 h 18"/>
                <a:gd name="T72" fmla="*/ 0 w 19"/>
                <a:gd name="T73" fmla="*/ 18 h 18"/>
                <a:gd name="T74" fmla="*/ 0 w 19"/>
                <a:gd name="T75" fmla="*/ 18 h 1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9"/>
                <a:gd name="T115" fmla="*/ 0 h 18"/>
                <a:gd name="T116" fmla="*/ 19 w 19"/>
                <a:gd name="T117" fmla="*/ 18 h 1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9" h="18">
                  <a:moveTo>
                    <a:pt x="0" y="18"/>
                  </a:moveTo>
                  <a:lnTo>
                    <a:pt x="0" y="18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6"/>
                  </a:lnTo>
                  <a:lnTo>
                    <a:pt x="7" y="6"/>
                  </a:lnTo>
                  <a:lnTo>
                    <a:pt x="10" y="6"/>
                  </a:lnTo>
                  <a:lnTo>
                    <a:pt x="13" y="6"/>
                  </a:lnTo>
                  <a:lnTo>
                    <a:pt x="13" y="9"/>
                  </a:lnTo>
                  <a:lnTo>
                    <a:pt x="16" y="12"/>
                  </a:lnTo>
                  <a:lnTo>
                    <a:pt x="16" y="15"/>
                  </a:lnTo>
                  <a:lnTo>
                    <a:pt x="13" y="18"/>
                  </a:lnTo>
                  <a:lnTo>
                    <a:pt x="16" y="18"/>
                  </a:lnTo>
                  <a:lnTo>
                    <a:pt x="19" y="18"/>
                  </a:lnTo>
                  <a:lnTo>
                    <a:pt x="19" y="15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9" y="6"/>
                  </a:lnTo>
                  <a:lnTo>
                    <a:pt x="16" y="3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5" name="Freeform 429"/>
            <p:cNvSpPr>
              <a:spLocks/>
            </p:cNvSpPr>
            <p:nvPr/>
          </p:nvSpPr>
          <p:spPr bwMode="auto">
            <a:xfrm>
              <a:off x="3799" y="3035"/>
              <a:ext cx="18" cy="19"/>
            </a:xfrm>
            <a:custGeom>
              <a:avLst/>
              <a:gdLst>
                <a:gd name="T0" fmla="*/ 3 w 18"/>
                <a:gd name="T1" fmla="*/ 19 h 19"/>
                <a:gd name="T2" fmla="*/ 3 w 18"/>
                <a:gd name="T3" fmla="*/ 19 h 19"/>
                <a:gd name="T4" fmla="*/ 0 w 18"/>
                <a:gd name="T5" fmla="*/ 19 h 19"/>
                <a:gd name="T6" fmla="*/ 0 w 18"/>
                <a:gd name="T7" fmla="*/ 16 h 19"/>
                <a:gd name="T8" fmla="*/ 0 w 18"/>
                <a:gd name="T9" fmla="*/ 13 h 19"/>
                <a:gd name="T10" fmla="*/ 0 w 18"/>
                <a:gd name="T11" fmla="*/ 13 h 19"/>
                <a:gd name="T12" fmla="*/ 3 w 18"/>
                <a:gd name="T13" fmla="*/ 10 h 19"/>
                <a:gd name="T14" fmla="*/ 3 w 18"/>
                <a:gd name="T15" fmla="*/ 7 h 19"/>
                <a:gd name="T16" fmla="*/ 6 w 18"/>
                <a:gd name="T17" fmla="*/ 7 h 19"/>
                <a:gd name="T18" fmla="*/ 9 w 18"/>
                <a:gd name="T19" fmla="*/ 7 h 19"/>
                <a:gd name="T20" fmla="*/ 9 w 18"/>
                <a:gd name="T21" fmla="*/ 7 h 19"/>
                <a:gd name="T22" fmla="*/ 12 w 18"/>
                <a:gd name="T23" fmla="*/ 7 h 19"/>
                <a:gd name="T24" fmla="*/ 12 w 18"/>
                <a:gd name="T25" fmla="*/ 10 h 19"/>
                <a:gd name="T26" fmla="*/ 15 w 18"/>
                <a:gd name="T27" fmla="*/ 13 h 19"/>
                <a:gd name="T28" fmla="*/ 15 w 18"/>
                <a:gd name="T29" fmla="*/ 16 h 19"/>
                <a:gd name="T30" fmla="*/ 15 w 18"/>
                <a:gd name="T31" fmla="*/ 16 h 19"/>
                <a:gd name="T32" fmla="*/ 12 w 18"/>
                <a:gd name="T33" fmla="*/ 19 h 19"/>
                <a:gd name="T34" fmla="*/ 15 w 18"/>
                <a:gd name="T35" fmla="*/ 19 h 19"/>
                <a:gd name="T36" fmla="*/ 15 w 18"/>
                <a:gd name="T37" fmla="*/ 19 h 19"/>
                <a:gd name="T38" fmla="*/ 18 w 18"/>
                <a:gd name="T39" fmla="*/ 19 h 19"/>
                <a:gd name="T40" fmla="*/ 18 w 18"/>
                <a:gd name="T41" fmla="*/ 19 h 19"/>
                <a:gd name="T42" fmla="*/ 18 w 18"/>
                <a:gd name="T43" fmla="*/ 16 h 19"/>
                <a:gd name="T44" fmla="*/ 18 w 18"/>
                <a:gd name="T45" fmla="*/ 16 h 19"/>
                <a:gd name="T46" fmla="*/ 18 w 18"/>
                <a:gd name="T47" fmla="*/ 13 h 19"/>
                <a:gd name="T48" fmla="*/ 18 w 18"/>
                <a:gd name="T49" fmla="*/ 7 h 19"/>
                <a:gd name="T50" fmla="*/ 15 w 18"/>
                <a:gd name="T51" fmla="*/ 7 h 19"/>
                <a:gd name="T52" fmla="*/ 15 w 18"/>
                <a:gd name="T53" fmla="*/ 4 h 19"/>
                <a:gd name="T54" fmla="*/ 12 w 18"/>
                <a:gd name="T55" fmla="*/ 0 h 19"/>
                <a:gd name="T56" fmla="*/ 6 w 18"/>
                <a:gd name="T57" fmla="*/ 0 h 19"/>
                <a:gd name="T58" fmla="*/ 3 w 18"/>
                <a:gd name="T59" fmla="*/ 4 h 19"/>
                <a:gd name="T60" fmla="*/ 0 w 18"/>
                <a:gd name="T61" fmla="*/ 7 h 19"/>
                <a:gd name="T62" fmla="*/ 0 w 18"/>
                <a:gd name="T63" fmla="*/ 10 h 19"/>
                <a:gd name="T64" fmla="*/ 0 w 18"/>
                <a:gd name="T65" fmla="*/ 13 h 19"/>
                <a:gd name="T66" fmla="*/ 0 w 18"/>
                <a:gd name="T67" fmla="*/ 16 h 19"/>
                <a:gd name="T68" fmla="*/ 0 w 18"/>
                <a:gd name="T69" fmla="*/ 16 h 19"/>
                <a:gd name="T70" fmla="*/ 0 w 18"/>
                <a:gd name="T71" fmla="*/ 19 h 19"/>
                <a:gd name="T72" fmla="*/ 3 w 18"/>
                <a:gd name="T73" fmla="*/ 19 h 19"/>
                <a:gd name="T74" fmla="*/ 3 w 18"/>
                <a:gd name="T75" fmla="*/ 19 h 1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8"/>
                <a:gd name="T115" fmla="*/ 0 h 19"/>
                <a:gd name="T116" fmla="*/ 18 w 18"/>
                <a:gd name="T117" fmla="*/ 19 h 1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8" h="19">
                  <a:moveTo>
                    <a:pt x="3" y="19"/>
                  </a:moveTo>
                  <a:lnTo>
                    <a:pt x="3" y="19"/>
                  </a:lnTo>
                  <a:lnTo>
                    <a:pt x="0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3" y="10"/>
                  </a:lnTo>
                  <a:lnTo>
                    <a:pt x="3" y="7"/>
                  </a:lnTo>
                  <a:lnTo>
                    <a:pt x="6" y="7"/>
                  </a:lnTo>
                  <a:lnTo>
                    <a:pt x="9" y="7"/>
                  </a:lnTo>
                  <a:lnTo>
                    <a:pt x="12" y="7"/>
                  </a:lnTo>
                  <a:lnTo>
                    <a:pt x="12" y="10"/>
                  </a:lnTo>
                  <a:lnTo>
                    <a:pt x="15" y="13"/>
                  </a:lnTo>
                  <a:lnTo>
                    <a:pt x="15" y="1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18" y="19"/>
                  </a:lnTo>
                  <a:lnTo>
                    <a:pt x="18" y="16"/>
                  </a:lnTo>
                  <a:lnTo>
                    <a:pt x="18" y="13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5" y="4"/>
                  </a:lnTo>
                  <a:lnTo>
                    <a:pt x="12" y="0"/>
                  </a:lnTo>
                  <a:lnTo>
                    <a:pt x="6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3" y="1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6" name="Freeform 430"/>
            <p:cNvSpPr>
              <a:spLocks/>
            </p:cNvSpPr>
            <p:nvPr/>
          </p:nvSpPr>
          <p:spPr bwMode="auto">
            <a:xfrm>
              <a:off x="3592" y="3042"/>
              <a:ext cx="232" cy="114"/>
            </a:xfrm>
            <a:custGeom>
              <a:avLst/>
              <a:gdLst>
                <a:gd name="T0" fmla="*/ 3 w 232"/>
                <a:gd name="T1" fmla="*/ 108 h 114"/>
                <a:gd name="T2" fmla="*/ 9 w 232"/>
                <a:gd name="T3" fmla="*/ 105 h 114"/>
                <a:gd name="T4" fmla="*/ 18 w 232"/>
                <a:gd name="T5" fmla="*/ 102 h 114"/>
                <a:gd name="T6" fmla="*/ 31 w 232"/>
                <a:gd name="T7" fmla="*/ 95 h 114"/>
                <a:gd name="T8" fmla="*/ 46 w 232"/>
                <a:gd name="T9" fmla="*/ 86 h 114"/>
                <a:gd name="T10" fmla="*/ 65 w 232"/>
                <a:gd name="T11" fmla="*/ 80 h 114"/>
                <a:gd name="T12" fmla="*/ 83 w 232"/>
                <a:gd name="T13" fmla="*/ 71 h 114"/>
                <a:gd name="T14" fmla="*/ 105 w 232"/>
                <a:gd name="T15" fmla="*/ 58 h 114"/>
                <a:gd name="T16" fmla="*/ 126 w 232"/>
                <a:gd name="T17" fmla="*/ 49 h 114"/>
                <a:gd name="T18" fmla="*/ 148 w 232"/>
                <a:gd name="T19" fmla="*/ 40 h 114"/>
                <a:gd name="T20" fmla="*/ 167 w 232"/>
                <a:gd name="T21" fmla="*/ 30 h 114"/>
                <a:gd name="T22" fmla="*/ 185 w 232"/>
                <a:gd name="T23" fmla="*/ 21 h 114"/>
                <a:gd name="T24" fmla="*/ 201 w 232"/>
                <a:gd name="T25" fmla="*/ 15 h 114"/>
                <a:gd name="T26" fmla="*/ 216 w 232"/>
                <a:gd name="T27" fmla="*/ 9 h 114"/>
                <a:gd name="T28" fmla="*/ 225 w 232"/>
                <a:gd name="T29" fmla="*/ 3 h 114"/>
                <a:gd name="T30" fmla="*/ 232 w 232"/>
                <a:gd name="T31" fmla="*/ 0 h 114"/>
                <a:gd name="T32" fmla="*/ 232 w 232"/>
                <a:gd name="T33" fmla="*/ 0 h 114"/>
                <a:gd name="T34" fmla="*/ 228 w 232"/>
                <a:gd name="T35" fmla="*/ 3 h 114"/>
                <a:gd name="T36" fmla="*/ 219 w 232"/>
                <a:gd name="T37" fmla="*/ 9 h 114"/>
                <a:gd name="T38" fmla="*/ 207 w 232"/>
                <a:gd name="T39" fmla="*/ 15 h 114"/>
                <a:gd name="T40" fmla="*/ 191 w 232"/>
                <a:gd name="T41" fmla="*/ 21 h 114"/>
                <a:gd name="T42" fmla="*/ 173 w 232"/>
                <a:gd name="T43" fmla="*/ 30 h 114"/>
                <a:gd name="T44" fmla="*/ 154 w 232"/>
                <a:gd name="T45" fmla="*/ 43 h 114"/>
                <a:gd name="T46" fmla="*/ 133 w 232"/>
                <a:gd name="T47" fmla="*/ 52 h 114"/>
                <a:gd name="T48" fmla="*/ 111 w 232"/>
                <a:gd name="T49" fmla="*/ 61 h 114"/>
                <a:gd name="T50" fmla="*/ 89 w 232"/>
                <a:gd name="T51" fmla="*/ 74 h 114"/>
                <a:gd name="T52" fmla="*/ 71 w 232"/>
                <a:gd name="T53" fmla="*/ 83 h 114"/>
                <a:gd name="T54" fmla="*/ 52 w 232"/>
                <a:gd name="T55" fmla="*/ 92 h 114"/>
                <a:gd name="T56" fmla="*/ 34 w 232"/>
                <a:gd name="T57" fmla="*/ 102 h 114"/>
                <a:gd name="T58" fmla="*/ 21 w 232"/>
                <a:gd name="T59" fmla="*/ 108 h 114"/>
                <a:gd name="T60" fmla="*/ 12 w 232"/>
                <a:gd name="T61" fmla="*/ 111 h 114"/>
                <a:gd name="T62" fmla="*/ 6 w 232"/>
                <a:gd name="T63" fmla="*/ 114 h 114"/>
                <a:gd name="T64" fmla="*/ 3 w 232"/>
                <a:gd name="T65" fmla="*/ 114 h 114"/>
                <a:gd name="T66" fmla="*/ 3 w 232"/>
                <a:gd name="T67" fmla="*/ 108 h 114"/>
                <a:gd name="T68" fmla="*/ 3 w 232"/>
                <a:gd name="T69" fmla="*/ 108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114"/>
                <a:gd name="T107" fmla="*/ 232 w 232"/>
                <a:gd name="T108" fmla="*/ 114 h 11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114">
                  <a:moveTo>
                    <a:pt x="3" y="108"/>
                  </a:moveTo>
                  <a:lnTo>
                    <a:pt x="3" y="108"/>
                  </a:lnTo>
                  <a:lnTo>
                    <a:pt x="6" y="108"/>
                  </a:lnTo>
                  <a:lnTo>
                    <a:pt x="9" y="105"/>
                  </a:lnTo>
                  <a:lnTo>
                    <a:pt x="12" y="102"/>
                  </a:lnTo>
                  <a:lnTo>
                    <a:pt x="18" y="102"/>
                  </a:lnTo>
                  <a:lnTo>
                    <a:pt x="25" y="98"/>
                  </a:lnTo>
                  <a:lnTo>
                    <a:pt x="31" y="95"/>
                  </a:lnTo>
                  <a:lnTo>
                    <a:pt x="40" y="92"/>
                  </a:lnTo>
                  <a:lnTo>
                    <a:pt x="46" y="86"/>
                  </a:lnTo>
                  <a:lnTo>
                    <a:pt x="55" y="83"/>
                  </a:lnTo>
                  <a:lnTo>
                    <a:pt x="65" y="80"/>
                  </a:lnTo>
                  <a:lnTo>
                    <a:pt x="74" y="74"/>
                  </a:lnTo>
                  <a:lnTo>
                    <a:pt x="83" y="71"/>
                  </a:lnTo>
                  <a:lnTo>
                    <a:pt x="96" y="64"/>
                  </a:lnTo>
                  <a:lnTo>
                    <a:pt x="105" y="58"/>
                  </a:lnTo>
                  <a:lnTo>
                    <a:pt x="117" y="55"/>
                  </a:lnTo>
                  <a:lnTo>
                    <a:pt x="126" y="49"/>
                  </a:lnTo>
                  <a:lnTo>
                    <a:pt x="136" y="43"/>
                  </a:lnTo>
                  <a:lnTo>
                    <a:pt x="148" y="40"/>
                  </a:lnTo>
                  <a:lnTo>
                    <a:pt x="157" y="34"/>
                  </a:lnTo>
                  <a:lnTo>
                    <a:pt x="167" y="30"/>
                  </a:lnTo>
                  <a:lnTo>
                    <a:pt x="176" y="24"/>
                  </a:lnTo>
                  <a:lnTo>
                    <a:pt x="185" y="21"/>
                  </a:lnTo>
                  <a:lnTo>
                    <a:pt x="194" y="18"/>
                  </a:lnTo>
                  <a:lnTo>
                    <a:pt x="201" y="15"/>
                  </a:lnTo>
                  <a:lnTo>
                    <a:pt x="210" y="12"/>
                  </a:lnTo>
                  <a:lnTo>
                    <a:pt x="216" y="9"/>
                  </a:lnTo>
                  <a:lnTo>
                    <a:pt x="222" y="6"/>
                  </a:lnTo>
                  <a:lnTo>
                    <a:pt x="225" y="3"/>
                  </a:lnTo>
                  <a:lnTo>
                    <a:pt x="228" y="3"/>
                  </a:lnTo>
                  <a:lnTo>
                    <a:pt x="232" y="0"/>
                  </a:lnTo>
                  <a:lnTo>
                    <a:pt x="232" y="3"/>
                  </a:lnTo>
                  <a:lnTo>
                    <a:pt x="228" y="3"/>
                  </a:lnTo>
                  <a:lnTo>
                    <a:pt x="222" y="6"/>
                  </a:lnTo>
                  <a:lnTo>
                    <a:pt x="219" y="9"/>
                  </a:lnTo>
                  <a:lnTo>
                    <a:pt x="213" y="12"/>
                  </a:lnTo>
                  <a:lnTo>
                    <a:pt x="207" y="15"/>
                  </a:lnTo>
                  <a:lnTo>
                    <a:pt x="201" y="18"/>
                  </a:lnTo>
                  <a:lnTo>
                    <a:pt x="191" y="21"/>
                  </a:lnTo>
                  <a:lnTo>
                    <a:pt x="182" y="27"/>
                  </a:lnTo>
                  <a:lnTo>
                    <a:pt x="173" y="30"/>
                  </a:lnTo>
                  <a:lnTo>
                    <a:pt x="164" y="37"/>
                  </a:lnTo>
                  <a:lnTo>
                    <a:pt x="154" y="43"/>
                  </a:lnTo>
                  <a:lnTo>
                    <a:pt x="142" y="46"/>
                  </a:lnTo>
                  <a:lnTo>
                    <a:pt x="133" y="52"/>
                  </a:lnTo>
                  <a:lnTo>
                    <a:pt x="123" y="58"/>
                  </a:lnTo>
                  <a:lnTo>
                    <a:pt x="111" y="61"/>
                  </a:lnTo>
                  <a:lnTo>
                    <a:pt x="102" y="68"/>
                  </a:lnTo>
                  <a:lnTo>
                    <a:pt x="89" y="74"/>
                  </a:lnTo>
                  <a:lnTo>
                    <a:pt x="80" y="77"/>
                  </a:lnTo>
                  <a:lnTo>
                    <a:pt x="71" y="83"/>
                  </a:lnTo>
                  <a:lnTo>
                    <a:pt x="62" y="89"/>
                  </a:lnTo>
                  <a:lnTo>
                    <a:pt x="52" y="92"/>
                  </a:lnTo>
                  <a:lnTo>
                    <a:pt x="43" y="95"/>
                  </a:lnTo>
                  <a:lnTo>
                    <a:pt x="34" y="102"/>
                  </a:lnTo>
                  <a:lnTo>
                    <a:pt x="28" y="105"/>
                  </a:lnTo>
                  <a:lnTo>
                    <a:pt x="21" y="108"/>
                  </a:lnTo>
                  <a:lnTo>
                    <a:pt x="15" y="111"/>
                  </a:lnTo>
                  <a:lnTo>
                    <a:pt x="12" y="111"/>
                  </a:lnTo>
                  <a:lnTo>
                    <a:pt x="9" y="114"/>
                  </a:lnTo>
                  <a:lnTo>
                    <a:pt x="6" y="114"/>
                  </a:lnTo>
                  <a:lnTo>
                    <a:pt x="3" y="114"/>
                  </a:lnTo>
                  <a:lnTo>
                    <a:pt x="0" y="111"/>
                  </a:lnTo>
                  <a:lnTo>
                    <a:pt x="3" y="10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7" name="Freeform 431"/>
            <p:cNvSpPr>
              <a:spLocks/>
            </p:cNvSpPr>
            <p:nvPr/>
          </p:nvSpPr>
          <p:spPr bwMode="auto">
            <a:xfrm>
              <a:off x="3595" y="3162"/>
              <a:ext cx="46" cy="207"/>
            </a:xfrm>
            <a:custGeom>
              <a:avLst/>
              <a:gdLst>
                <a:gd name="T0" fmla="*/ 0 w 46"/>
                <a:gd name="T1" fmla="*/ 0 h 207"/>
                <a:gd name="T2" fmla="*/ 3 w 46"/>
                <a:gd name="T3" fmla="*/ 6 h 207"/>
                <a:gd name="T4" fmla="*/ 6 w 46"/>
                <a:gd name="T5" fmla="*/ 28 h 207"/>
                <a:gd name="T6" fmla="*/ 12 w 46"/>
                <a:gd name="T7" fmla="*/ 56 h 207"/>
                <a:gd name="T8" fmla="*/ 18 w 46"/>
                <a:gd name="T9" fmla="*/ 90 h 207"/>
                <a:gd name="T10" fmla="*/ 22 w 46"/>
                <a:gd name="T11" fmla="*/ 124 h 207"/>
                <a:gd name="T12" fmla="*/ 25 w 46"/>
                <a:gd name="T13" fmla="*/ 158 h 207"/>
                <a:gd name="T14" fmla="*/ 28 w 46"/>
                <a:gd name="T15" fmla="*/ 189 h 207"/>
                <a:gd name="T16" fmla="*/ 28 w 46"/>
                <a:gd name="T17" fmla="*/ 207 h 207"/>
                <a:gd name="T18" fmla="*/ 28 w 46"/>
                <a:gd name="T19" fmla="*/ 207 h 207"/>
                <a:gd name="T20" fmla="*/ 28 w 46"/>
                <a:gd name="T21" fmla="*/ 207 h 207"/>
                <a:gd name="T22" fmla="*/ 31 w 46"/>
                <a:gd name="T23" fmla="*/ 207 h 207"/>
                <a:gd name="T24" fmla="*/ 31 w 46"/>
                <a:gd name="T25" fmla="*/ 207 h 207"/>
                <a:gd name="T26" fmla="*/ 34 w 46"/>
                <a:gd name="T27" fmla="*/ 207 h 207"/>
                <a:gd name="T28" fmla="*/ 37 w 46"/>
                <a:gd name="T29" fmla="*/ 207 h 207"/>
                <a:gd name="T30" fmla="*/ 43 w 46"/>
                <a:gd name="T31" fmla="*/ 207 h 207"/>
                <a:gd name="T32" fmla="*/ 46 w 46"/>
                <a:gd name="T33" fmla="*/ 207 h 207"/>
                <a:gd name="T34" fmla="*/ 46 w 46"/>
                <a:gd name="T35" fmla="*/ 207 h 207"/>
                <a:gd name="T36" fmla="*/ 43 w 46"/>
                <a:gd name="T37" fmla="*/ 207 h 207"/>
                <a:gd name="T38" fmla="*/ 43 w 46"/>
                <a:gd name="T39" fmla="*/ 204 h 207"/>
                <a:gd name="T40" fmla="*/ 40 w 46"/>
                <a:gd name="T41" fmla="*/ 204 h 207"/>
                <a:gd name="T42" fmla="*/ 37 w 46"/>
                <a:gd name="T43" fmla="*/ 204 h 207"/>
                <a:gd name="T44" fmla="*/ 37 w 46"/>
                <a:gd name="T45" fmla="*/ 201 h 207"/>
                <a:gd name="T46" fmla="*/ 34 w 46"/>
                <a:gd name="T47" fmla="*/ 201 h 207"/>
                <a:gd name="T48" fmla="*/ 34 w 46"/>
                <a:gd name="T49" fmla="*/ 198 h 207"/>
                <a:gd name="T50" fmla="*/ 34 w 46"/>
                <a:gd name="T51" fmla="*/ 192 h 207"/>
                <a:gd name="T52" fmla="*/ 34 w 46"/>
                <a:gd name="T53" fmla="*/ 176 h 207"/>
                <a:gd name="T54" fmla="*/ 31 w 46"/>
                <a:gd name="T55" fmla="*/ 155 h 207"/>
                <a:gd name="T56" fmla="*/ 28 w 46"/>
                <a:gd name="T57" fmla="*/ 127 h 207"/>
                <a:gd name="T58" fmla="*/ 25 w 46"/>
                <a:gd name="T59" fmla="*/ 96 h 207"/>
                <a:gd name="T60" fmla="*/ 18 w 46"/>
                <a:gd name="T61" fmla="*/ 62 h 207"/>
                <a:gd name="T62" fmla="*/ 12 w 46"/>
                <a:gd name="T63" fmla="*/ 31 h 207"/>
                <a:gd name="T64" fmla="*/ 0 w 46"/>
                <a:gd name="T65" fmla="*/ 0 h 207"/>
                <a:gd name="T66" fmla="*/ 0 w 46"/>
                <a:gd name="T67" fmla="*/ 0 h 2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"/>
                <a:gd name="T103" fmla="*/ 0 h 207"/>
                <a:gd name="T104" fmla="*/ 46 w 46"/>
                <a:gd name="T105" fmla="*/ 207 h 2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" h="207">
                  <a:moveTo>
                    <a:pt x="0" y="0"/>
                  </a:moveTo>
                  <a:lnTo>
                    <a:pt x="3" y="6"/>
                  </a:lnTo>
                  <a:lnTo>
                    <a:pt x="6" y="28"/>
                  </a:lnTo>
                  <a:lnTo>
                    <a:pt x="12" y="56"/>
                  </a:lnTo>
                  <a:lnTo>
                    <a:pt x="18" y="90"/>
                  </a:lnTo>
                  <a:lnTo>
                    <a:pt x="22" y="124"/>
                  </a:lnTo>
                  <a:lnTo>
                    <a:pt x="25" y="158"/>
                  </a:lnTo>
                  <a:lnTo>
                    <a:pt x="28" y="189"/>
                  </a:lnTo>
                  <a:lnTo>
                    <a:pt x="28" y="207"/>
                  </a:lnTo>
                  <a:lnTo>
                    <a:pt x="31" y="207"/>
                  </a:lnTo>
                  <a:lnTo>
                    <a:pt x="34" y="207"/>
                  </a:lnTo>
                  <a:lnTo>
                    <a:pt x="37" y="207"/>
                  </a:lnTo>
                  <a:lnTo>
                    <a:pt x="43" y="207"/>
                  </a:lnTo>
                  <a:lnTo>
                    <a:pt x="46" y="207"/>
                  </a:lnTo>
                  <a:lnTo>
                    <a:pt x="43" y="207"/>
                  </a:lnTo>
                  <a:lnTo>
                    <a:pt x="43" y="204"/>
                  </a:lnTo>
                  <a:lnTo>
                    <a:pt x="40" y="204"/>
                  </a:lnTo>
                  <a:lnTo>
                    <a:pt x="37" y="204"/>
                  </a:lnTo>
                  <a:lnTo>
                    <a:pt x="37" y="201"/>
                  </a:lnTo>
                  <a:lnTo>
                    <a:pt x="34" y="201"/>
                  </a:lnTo>
                  <a:lnTo>
                    <a:pt x="34" y="198"/>
                  </a:lnTo>
                  <a:lnTo>
                    <a:pt x="34" y="192"/>
                  </a:lnTo>
                  <a:lnTo>
                    <a:pt x="34" y="176"/>
                  </a:lnTo>
                  <a:lnTo>
                    <a:pt x="31" y="155"/>
                  </a:lnTo>
                  <a:lnTo>
                    <a:pt x="28" y="127"/>
                  </a:lnTo>
                  <a:lnTo>
                    <a:pt x="25" y="96"/>
                  </a:lnTo>
                  <a:lnTo>
                    <a:pt x="18" y="62"/>
                  </a:lnTo>
                  <a:lnTo>
                    <a:pt x="12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8" name="Freeform 432"/>
            <p:cNvSpPr>
              <a:spLocks/>
            </p:cNvSpPr>
            <p:nvPr/>
          </p:nvSpPr>
          <p:spPr bwMode="auto">
            <a:xfrm>
              <a:off x="3604" y="3156"/>
              <a:ext cx="99" cy="259"/>
            </a:xfrm>
            <a:custGeom>
              <a:avLst/>
              <a:gdLst>
                <a:gd name="T0" fmla="*/ 3 w 99"/>
                <a:gd name="T1" fmla="*/ 9 h 259"/>
                <a:gd name="T2" fmla="*/ 3 w 99"/>
                <a:gd name="T3" fmla="*/ 12 h 259"/>
                <a:gd name="T4" fmla="*/ 6 w 99"/>
                <a:gd name="T5" fmla="*/ 15 h 259"/>
                <a:gd name="T6" fmla="*/ 9 w 99"/>
                <a:gd name="T7" fmla="*/ 25 h 259"/>
                <a:gd name="T8" fmla="*/ 16 w 99"/>
                <a:gd name="T9" fmla="*/ 34 h 259"/>
                <a:gd name="T10" fmla="*/ 22 w 99"/>
                <a:gd name="T11" fmla="*/ 49 h 259"/>
                <a:gd name="T12" fmla="*/ 28 w 99"/>
                <a:gd name="T13" fmla="*/ 62 h 259"/>
                <a:gd name="T14" fmla="*/ 37 w 99"/>
                <a:gd name="T15" fmla="*/ 80 h 259"/>
                <a:gd name="T16" fmla="*/ 43 w 99"/>
                <a:gd name="T17" fmla="*/ 99 h 259"/>
                <a:gd name="T18" fmla="*/ 53 w 99"/>
                <a:gd name="T19" fmla="*/ 117 h 259"/>
                <a:gd name="T20" fmla="*/ 62 w 99"/>
                <a:gd name="T21" fmla="*/ 136 h 259"/>
                <a:gd name="T22" fmla="*/ 68 w 99"/>
                <a:gd name="T23" fmla="*/ 158 h 259"/>
                <a:gd name="T24" fmla="*/ 77 w 99"/>
                <a:gd name="T25" fmla="*/ 179 h 259"/>
                <a:gd name="T26" fmla="*/ 84 w 99"/>
                <a:gd name="T27" fmla="*/ 201 h 259"/>
                <a:gd name="T28" fmla="*/ 90 w 99"/>
                <a:gd name="T29" fmla="*/ 219 h 259"/>
                <a:gd name="T30" fmla="*/ 93 w 99"/>
                <a:gd name="T31" fmla="*/ 241 h 259"/>
                <a:gd name="T32" fmla="*/ 99 w 99"/>
                <a:gd name="T33" fmla="*/ 259 h 259"/>
                <a:gd name="T34" fmla="*/ 99 w 99"/>
                <a:gd name="T35" fmla="*/ 256 h 259"/>
                <a:gd name="T36" fmla="*/ 96 w 99"/>
                <a:gd name="T37" fmla="*/ 247 h 259"/>
                <a:gd name="T38" fmla="*/ 96 w 99"/>
                <a:gd name="T39" fmla="*/ 235 h 259"/>
                <a:gd name="T40" fmla="*/ 96 w 99"/>
                <a:gd name="T41" fmla="*/ 219 h 259"/>
                <a:gd name="T42" fmla="*/ 93 w 99"/>
                <a:gd name="T43" fmla="*/ 204 h 259"/>
                <a:gd name="T44" fmla="*/ 87 w 99"/>
                <a:gd name="T45" fmla="*/ 185 h 259"/>
                <a:gd name="T46" fmla="*/ 84 w 99"/>
                <a:gd name="T47" fmla="*/ 167 h 259"/>
                <a:gd name="T48" fmla="*/ 74 w 99"/>
                <a:gd name="T49" fmla="*/ 148 h 259"/>
                <a:gd name="T50" fmla="*/ 71 w 99"/>
                <a:gd name="T51" fmla="*/ 139 h 259"/>
                <a:gd name="T52" fmla="*/ 65 w 99"/>
                <a:gd name="T53" fmla="*/ 133 h 259"/>
                <a:gd name="T54" fmla="*/ 62 w 99"/>
                <a:gd name="T55" fmla="*/ 120 h 259"/>
                <a:gd name="T56" fmla="*/ 56 w 99"/>
                <a:gd name="T57" fmla="*/ 111 h 259"/>
                <a:gd name="T58" fmla="*/ 53 w 99"/>
                <a:gd name="T59" fmla="*/ 102 h 259"/>
                <a:gd name="T60" fmla="*/ 47 w 99"/>
                <a:gd name="T61" fmla="*/ 93 h 259"/>
                <a:gd name="T62" fmla="*/ 43 w 99"/>
                <a:gd name="T63" fmla="*/ 80 h 259"/>
                <a:gd name="T64" fmla="*/ 40 w 99"/>
                <a:gd name="T65" fmla="*/ 71 h 259"/>
                <a:gd name="T66" fmla="*/ 34 w 99"/>
                <a:gd name="T67" fmla="*/ 62 h 259"/>
                <a:gd name="T68" fmla="*/ 31 w 99"/>
                <a:gd name="T69" fmla="*/ 52 h 259"/>
                <a:gd name="T70" fmla="*/ 28 w 99"/>
                <a:gd name="T71" fmla="*/ 43 h 259"/>
                <a:gd name="T72" fmla="*/ 25 w 99"/>
                <a:gd name="T73" fmla="*/ 37 h 259"/>
                <a:gd name="T74" fmla="*/ 22 w 99"/>
                <a:gd name="T75" fmla="*/ 28 h 259"/>
                <a:gd name="T76" fmla="*/ 19 w 99"/>
                <a:gd name="T77" fmla="*/ 22 h 259"/>
                <a:gd name="T78" fmla="*/ 19 w 99"/>
                <a:gd name="T79" fmla="*/ 18 h 259"/>
                <a:gd name="T80" fmla="*/ 16 w 99"/>
                <a:gd name="T81" fmla="*/ 12 h 259"/>
                <a:gd name="T82" fmla="*/ 16 w 99"/>
                <a:gd name="T83" fmla="*/ 6 h 259"/>
                <a:gd name="T84" fmla="*/ 13 w 99"/>
                <a:gd name="T85" fmla="*/ 3 h 259"/>
                <a:gd name="T86" fmla="*/ 9 w 99"/>
                <a:gd name="T87" fmla="*/ 0 h 259"/>
                <a:gd name="T88" fmla="*/ 6 w 99"/>
                <a:gd name="T89" fmla="*/ 0 h 259"/>
                <a:gd name="T90" fmla="*/ 3 w 99"/>
                <a:gd name="T91" fmla="*/ 0 h 259"/>
                <a:gd name="T92" fmla="*/ 0 w 99"/>
                <a:gd name="T93" fmla="*/ 3 h 259"/>
                <a:gd name="T94" fmla="*/ 0 w 99"/>
                <a:gd name="T95" fmla="*/ 6 h 259"/>
                <a:gd name="T96" fmla="*/ 3 w 99"/>
                <a:gd name="T97" fmla="*/ 9 h 259"/>
                <a:gd name="T98" fmla="*/ 3 w 99"/>
                <a:gd name="T99" fmla="*/ 9 h 25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99"/>
                <a:gd name="T151" fmla="*/ 0 h 259"/>
                <a:gd name="T152" fmla="*/ 99 w 99"/>
                <a:gd name="T153" fmla="*/ 259 h 25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99" h="259">
                  <a:moveTo>
                    <a:pt x="3" y="9"/>
                  </a:moveTo>
                  <a:lnTo>
                    <a:pt x="3" y="12"/>
                  </a:lnTo>
                  <a:lnTo>
                    <a:pt x="6" y="15"/>
                  </a:lnTo>
                  <a:lnTo>
                    <a:pt x="9" y="25"/>
                  </a:lnTo>
                  <a:lnTo>
                    <a:pt x="16" y="34"/>
                  </a:lnTo>
                  <a:lnTo>
                    <a:pt x="22" y="49"/>
                  </a:lnTo>
                  <a:lnTo>
                    <a:pt x="28" y="62"/>
                  </a:lnTo>
                  <a:lnTo>
                    <a:pt x="37" y="80"/>
                  </a:lnTo>
                  <a:lnTo>
                    <a:pt x="43" y="99"/>
                  </a:lnTo>
                  <a:lnTo>
                    <a:pt x="53" y="117"/>
                  </a:lnTo>
                  <a:lnTo>
                    <a:pt x="62" y="136"/>
                  </a:lnTo>
                  <a:lnTo>
                    <a:pt x="68" y="158"/>
                  </a:lnTo>
                  <a:lnTo>
                    <a:pt x="77" y="179"/>
                  </a:lnTo>
                  <a:lnTo>
                    <a:pt x="84" y="201"/>
                  </a:lnTo>
                  <a:lnTo>
                    <a:pt x="90" y="219"/>
                  </a:lnTo>
                  <a:lnTo>
                    <a:pt x="93" y="241"/>
                  </a:lnTo>
                  <a:lnTo>
                    <a:pt x="99" y="259"/>
                  </a:lnTo>
                  <a:lnTo>
                    <a:pt x="99" y="256"/>
                  </a:lnTo>
                  <a:lnTo>
                    <a:pt x="96" y="247"/>
                  </a:lnTo>
                  <a:lnTo>
                    <a:pt x="96" y="235"/>
                  </a:lnTo>
                  <a:lnTo>
                    <a:pt x="96" y="219"/>
                  </a:lnTo>
                  <a:lnTo>
                    <a:pt x="93" y="204"/>
                  </a:lnTo>
                  <a:lnTo>
                    <a:pt x="87" y="185"/>
                  </a:lnTo>
                  <a:lnTo>
                    <a:pt x="84" y="167"/>
                  </a:lnTo>
                  <a:lnTo>
                    <a:pt x="74" y="148"/>
                  </a:lnTo>
                  <a:lnTo>
                    <a:pt x="71" y="139"/>
                  </a:lnTo>
                  <a:lnTo>
                    <a:pt x="65" y="133"/>
                  </a:lnTo>
                  <a:lnTo>
                    <a:pt x="62" y="120"/>
                  </a:lnTo>
                  <a:lnTo>
                    <a:pt x="56" y="111"/>
                  </a:lnTo>
                  <a:lnTo>
                    <a:pt x="53" y="102"/>
                  </a:lnTo>
                  <a:lnTo>
                    <a:pt x="47" y="93"/>
                  </a:lnTo>
                  <a:lnTo>
                    <a:pt x="43" y="80"/>
                  </a:lnTo>
                  <a:lnTo>
                    <a:pt x="40" y="71"/>
                  </a:lnTo>
                  <a:lnTo>
                    <a:pt x="34" y="62"/>
                  </a:lnTo>
                  <a:lnTo>
                    <a:pt x="31" y="52"/>
                  </a:lnTo>
                  <a:lnTo>
                    <a:pt x="28" y="43"/>
                  </a:lnTo>
                  <a:lnTo>
                    <a:pt x="25" y="37"/>
                  </a:lnTo>
                  <a:lnTo>
                    <a:pt x="22" y="28"/>
                  </a:lnTo>
                  <a:lnTo>
                    <a:pt x="19" y="22"/>
                  </a:lnTo>
                  <a:lnTo>
                    <a:pt x="19" y="18"/>
                  </a:lnTo>
                  <a:lnTo>
                    <a:pt x="16" y="12"/>
                  </a:lnTo>
                  <a:lnTo>
                    <a:pt x="16" y="6"/>
                  </a:lnTo>
                  <a:lnTo>
                    <a:pt x="13" y="3"/>
                  </a:lnTo>
                  <a:lnTo>
                    <a:pt x="9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29" name="Freeform 433"/>
            <p:cNvSpPr>
              <a:spLocks/>
            </p:cNvSpPr>
            <p:nvPr/>
          </p:nvSpPr>
          <p:spPr bwMode="auto">
            <a:xfrm>
              <a:off x="3617" y="3202"/>
              <a:ext cx="27" cy="183"/>
            </a:xfrm>
            <a:custGeom>
              <a:avLst/>
              <a:gdLst>
                <a:gd name="T0" fmla="*/ 0 w 27"/>
                <a:gd name="T1" fmla="*/ 0 h 183"/>
                <a:gd name="T2" fmla="*/ 3 w 27"/>
                <a:gd name="T3" fmla="*/ 6 h 183"/>
                <a:gd name="T4" fmla="*/ 3 w 27"/>
                <a:gd name="T5" fmla="*/ 25 h 183"/>
                <a:gd name="T6" fmla="*/ 9 w 27"/>
                <a:gd name="T7" fmla="*/ 53 h 183"/>
                <a:gd name="T8" fmla="*/ 12 w 27"/>
                <a:gd name="T9" fmla="*/ 84 h 183"/>
                <a:gd name="T10" fmla="*/ 15 w 27"/>
                <a:gd name="T11" fmla="*/ 115 h 183"/>
                <a:gd name="T12" fmla="*/ 18 w 27"/>
                <a:gd name="T13" fmla="*/ 142 h 183"/>
                <a:gd name="T14" fmla="*/ 21 w 27"/>
                <a:gd name="T15" fmla="*/ 167 h 183"/>
                <a:gd name="T16" fmla="*/ 21 w 27"/>
                <a:gd name="T17" fmla="*/ 179 h 183"/>
                <a:gd name="T18" fmla="*/ 21 w 27"/>
                <a:gd name="T19" fmla="*/ 179 h 183"/>
                <a:gd name="T20" fmla="*/ 21 w 27"/>
                <a:gd name="T21" fmla="*/ 179 h 183"/>
                <a:gd name="T22" fmla="*/ 21 w 27"/>
                <a:gd name="T23" fmla="*/ 179 h 183"/>
                <a:gd name="T24" fmla="*/ 21 w 27"/>
                <a:gd name="T25" fmla="*/ 183 h 183"/>
                <a:gd name="T26" fmla="*/ 24 w 27"/>
                <a:gd name="T27" fmla="*/ 183 h 183"/>
                <a:gd name="T28" fmla="*/ 24 w 27"/>
                <a:gd name="T29" fmla="*/ 183 h 183"/>
                <a:gd name="T30" fmla="*/ 27 w 27"/>
                <a:gd name="T31" fmla="*/ 179 h 183"/>
                <a:gd name="T32" fmla="*/ 27 w 27"/>
                <a:gd name="T33" fmla="*/ 176 h 183"/>
                <a:gd name="T34" fmla="*/ 27 w 27"/>
                <a:gd name="T35" fmla="*/ 170 h 183"/>
                <a:gd name="T36" fmla="*/ 27 w 27"/>
                <a:gd name="T37" fmla="*/ 155 h 183"/>
                <a:gd name="T38" fmla="*/ 24 w 27"/>
                <a:gd name="T39" fmla="*/ 136 h 183"/>
                <a:gd name="T40" fmla="*/ 21 w 27"/>
                <a:gd name="T41" fmla="*/ 112 h 183"/>
                <a:gd name="T42" fmla="*/ 15 w 27"/>
                <a:gd name="T43" fmla="*/ 84 h 183"/>
                <a:gd name="T44" fmla="*/ 12 w 27"/>
                <a:gd name="T45" fmla="*/ 56 h 183"/>
                <a:gd name="T46" fmla="*/ 6 w 27"/>
                <a:gd name="T47" fmla="*/ 25 h 183"/>
                <a:gd name="T48" fmla="*/ 0 w 27"/>
                <a:gd name="T49" fmla="*/ 0 h 183"/>
                <a:gd name="T50" fmla="*/ 0 w 27"/>
                <a:gd name="T51" fmla="*/ 0 h 18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7"/>
                <a:gd name="T79" fmla="*/ 0 h 183"/>
                <a:gd name="T80" fmla="*/ 27 w 27"/>
                <a:gd name="T81" fmla="*/ 183 h 18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7" h="183">
                  <a:moveTo>
                    <a:pt x="0" y="0"/>
                  </a:moveTo>
                  <a:lnTo>
                    <a:pt x="3" y="6"/>
                  </a:lnTo>
                  <a:lnTo>
                    <a:pt x="3" y="25"/>
                  </a:lnTo>
                  <a:lnTo>
                    <a:pt x="9" y="53"/>
                  </a:lnTo>
                  <a:lnTo>
                    <a:pt x="12" y="84"/>
                  </a:lnTo>
                  <a:lnTo>
                    <a:pt x="15" y="115"/>
                  </a:lnTo>
                  <a:lnTo>
                    <a:pt x="18" y="142"/>
                  </a:lnTo>
                  <a:lnTo>
                    <a:pt x="21" y="167"/>
                  </a:lnTo>
                  <a:lnTo>
                    <a:pt x="21" y="179"/>
                  </a:lnTo>
                  <a:lnTo>
                    <a:pt x="21" y="183"/>
                  </a:lnTo>
                  <a:lnTo>
                    <a:pt x="24" y="183"/>
                  </a:lnTo>
                  <a:lnTo>
                    <a:pt x="27" y="179"/>
                  </a:lnTo>
                  <a:lnTo>
                    <a:pt x="27" y="176"/>
                  </a:lnTo>
                  <a:lnTo>
                    <a:pt x="27" y="170"/>
                  </a:lnTo>
                  <a:lnTo>
                    <a:pt x="27" y="155"/>
                  </a:lnTo>
                  <a:lnTo>
                    <a:pt x="24" y="136"/>
                  </a:lnTo>
                  <a:lnTo>
                    <a:pt x="21" y="112"/>
                  </a:lnTo>
                  <a:lnTo>
                    <a:pt x="15" y="84"/>
                  </a:lnTo>
                  <a:lnTo>
                    <a:pt x="12" y="56"/>
                  </a:lnTo>
                  <a:lnTo>
                    <a:pt x="6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0" name="Freeform 434"/>
            <p:cNvSpPr>
              <a:spLocks/>
            </p:cNvSpPr>
            <p:nvPr/>
          </p:nvSpPr>
          <p:spPr bwMode="auto">
            <a:xfrm>
              <a:off x="3623" y="3215"/>
              <a:ext cx="37" cy="182"/>
            </a:xfrm>
            <a:custGeom>
              <a:avLst/>
              <a:gdLst>
                <a:gd name="T0" fmla="*/ 0 w 37"/>
                <a:gd name="T1" fmla="*/ 0 h 182"/>
                <a:gd name="T2" fmla="*/ 3 w 37"/>
                <a:gd name="T3" fmla="*/ 9 h 182"/>
                <a:gd name="T4" fmla="*/ 6 w 37"/>
                <a:gd name="T5" fmla="*/ 27 h 182"/>
                <a:gd name="T6" fmla="*/ 12 w 37"/>
                <a:gd name="T7" fmla="*/ 52 h 182"/>
                <a:gd name="T8" fmla="*/ 18 w 37"/>
                <a:gd name="T9" fmla="*/ 83 h 182"/>
                <a:gd name="T10" fmla="*/ 21 w 37"/>
                <a:gd name="T11" fmla="*/ 114 h 182"/>
                <a:gd name="T12" fmla="*/ 28 w 37"/>
                <a:gd name="T13" fmla="*/ 145 h 182"/>
                <a:gd name="T14" fmla="*/ 31 w 37"/>
                <a:gd name="T15" fmla="*/ 166 h 182"/>
                <a:gd name="T16" fmla="*/ 31 w 37"/>
                <a:gd name="T17" fmla="*/ 179 h 182"/>
                <a:gd name="T18" fmla="*/ 31 w 37"/>
                <a:gd name="T19" fmla="*/ 179 h 182"/>
                <a:gd name="T20" fmla="*/ 31 w 37"/>
                <a:gd name="T21" fmla="*/ 179 h 182"/>
                <a:gd name="T22" fmla="*/ 31 w 37"/>
                <a:gd name="T23" fmla="*/ 182 h 182"/>
                <a:gd name="T24" fmla="*/ 31 w 37"/>
                <a:gd name="T25" fmla="*/ 182 h 182"/>
                <a:gd name="T26" fmla="*/ 34 w 37"/>
                <a:gd name="T27" fmla="*/ 182 h 182"/>
                <a:gd name="T28" fmla="*/ 34 w 37"/>
                <a:gd name="T29" fmla="*/ 182 h 182"/>
                <a:gd name="T30" fmla="*/ 37 w 37"/>
                <a:gd name="T31" fmla="*/ 179 h 182"/>
                <a:gd name="T32" fmla="*/ 37 w 37"/>
                <a:gd name="T33" fmla="*/ 176 h 182"/>
                <a:gd name="T34" fmla="*/ 37 w 37"/>
                <a:gd name="T35" fmla="*/ 176 h 182"/>
                <a:gd name="T36" fmla="*/ 37 w 37"/>
                <a:gd name="T37" fmla="*/ 170 h 182"/>
                <a:gd name="T38" fmla="*/ 37 w 37"/>
                <a:gd name="T39" fmla="*/ 163 h 182"/>
                <a:gd name="T40" fmla="*/ 34 w 37"/>
                <a:gd name="T41" fmla="*/ 154 h 182"/>
                <a:gd name="T42" fmla="*/ 34 w 37"/>
                <a:gd name="T43" fmla="*/ 148 h 182"/>
                <a:gd name="T44" fmla="*/ 31 w 37"/>
                <a:gd name="T45" fmla="*/ 136 h 182"/>
                <a:gd name="T46" fmla="*/ 31 w 37"/>
                <a:gd name="T47" fmla="*/ 123 h 182"/>
                <a:gd name="T48" fmla="*/ 28 w 37"/>
                <a:gd name="T49" fmla="*/ 111 h 182"/>
                <a:gd name="T50" fmla="*/ 24 w 37"/>
                <a:gd name="T51" fmla="*/ 99 h 182"/>
                <a:gd name="T52" fmla="*/ 21 w 37"/>
                <a:gd name="T53" fmla="*/ 86 h 182"/>
                <a:gd name="T54" fmla="*/ 18 w 37"/>
                <a:gd name="T55" fmla="*/ 71 h 182"/>
                <a:gd name="T56" fmla="*/ 15 w 37"/>
                <a:gd name="T57" fmla="*/ 55 h 182"/>
                <a:gd name="T58" fmla="*/ 12 w 37"/>
                <a:gd name="T59" fmla="*/ 43 h 182"/>
                <a:gd name="T60" fmla="*/ 9 w 37"/>
                <a:gd name="T61" fmla="*/ 27 h 182"/>
                <a:gd name="T62" fmla="*/ 3 w 37"/>
                <a:gd name="T63" fmla="*/ 15 h 182"/>
                <a:gd name="T64" fmla="*/ 0 w 37"/>
                <a:gd name="T65" fmla="*/ 0 h 182"/>
                <a:gd name="T66" fmla="*/ 0 w 37"/>
                <a:gd name="T67" fmla="*/ 0 h 1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7"/>
                <a:gd name="T103" fmla="*/ 0 h 182"/>
                <a:gd name="T104" fmla="*/ 37 w 37"/>
                <a:gd name="T105" fmla="*/ 182 h 1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7" h="182">
                  <a:moveTo>
                    <a:pt x="0" y="0"/>
                  </a:moveTo>
                  <a:lnTo>
                    <a:pt x="3" y="9"/>
                  </a:lnTo>
                  <a:lnTo>
                    <a:pt x="6" y="27"/>
                  </a:lnTo>
                  <a:lnTo>
                    <a:pt x="12" y="52"/>
                  </a:lnTo>
                  <a:lnTo>
                    <a:pt x="18" y="83"/>
                  </a:lnTo>
                  <a:lnTo>
                    <a:pt x="21" y="114"/>
                  </a:lnTo>
                  <a:lnTo>
                    <a:pt x="28" y="145"/>
                  </a:lnTo>
                  <a:lnTo>
                    <a:pt x="31" y="166"/>
                  </a:lnTo>
                  <a:lnTo>
                    <a:pt x="31" y="179"/>
                  </a:lnTo>
                  <a:lnTo>
                    <a:pt x="31" y="182"/>
                  </a:lnTo>
                  <a:lnTo>
                    <a:pt x="34" y="182"/>
                  </a:lnTo>
                  <a:lnTo>
                    <a:pt x="37" y="179"/>
                  </a:lnTo>
                  <a:lnTo>
                    <a:pt x="37" y="176"/>
                  </a:lnTo>
                  <a:lnTo>
                    <a:pt x="37" y="170"/>
                  </a:lnTo>
                  <a:lnTo>
                    <a:pt x="37" y="163"/>
                  </a:lnTo>
                  <a:lnTo>
                    <a:pt x="34" y="154"/>
                  </a:lnTo>
                  <a:lnTo>
                    <a:pt x="34" y="148"/>
                  </a:lnTo>
                  <a:lnTo>
                    <a:pt x="31" y="136"/>
                  </a:lnTo>
                  <a:lnTo>
                    <a:pt x="31" y="123"/>
                  </a:lnTo>
                  <a:lnTo>
                    <a:pt x="28" y="111"/>
                  </a:lnTo>
                  <a:lnTo>
                    <a:pt x="24" y="99"/>
                  </a:lnTo>
                  <a:lnTo>
                    <a:pt x="21" y="86"/>
                  </a:lnTo>
                  <a:lnTo>
                    <a:pt x="18" y="71"/>
                  </a:lnTo>
                  <a:lnTo>
                    <a:pt x="15" y="55"/>
                  </a:lnTo>
                  <a:lnTo>
                    <a:pt x="12" y="43"/>
                  </a:lnTo>
                  <a:lnTo>
                    <a:pt x="9" y="27"/>
                  </a:lnTo>
                  <a:lnTo>
                    <a:pt x="3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1" name="Freeform 435"/>
            <p:cNvSpPr>
              <a:spLocks/>
            </p:cNvSpPr>
            <p:nvPr/>
          </p:nvSpPr>
          <p:spPr bwMode="auto">
            <a:xfrm>
              <a:off x="3632" y="3227"/>
              <a:ext cx="46" cy="179"/>
            </a:xfrm>
            <a:custGeom>
              <a:avLst/>
              <a:gdLst>
                <a:gd name="T0" fmla="*/ 0 w 46"/>
                <a:gd name="T1" fmla="*/ 0 h 179"/>
                <a:gd name="T2" fmla="*/ 0 w 46"/>
                <a:gd name="T3" fmla="*/ 3 h 179"/>
                <a:gd name="T4" fmla="*/ 3 w 46"/>
                <a:gd name="T5" fmla="*/ 6 h 179"/>
                <a:gd name="T6" fmla="*/ 3 w 46"/>
                <a:gd name="T7" fmla="*/ 15 h 179"/>
                <a:gd name="T8" fmla="*/ 6 w 46"/>
                <a:gd name="T9" fmla="*/ 25 h 179"/>
                <a:gd name="T10" fmla="*/ 9 w 46"/>
                <a:gd name="T11" fmla="*/ 37 h 179"/>
                <a:gd name="T12" fmla="*/ 12 w 46"/>
                <a:gd name="T13" fmla="*/ 53 h 179"/>
                <a:gd name="T14" fmla="*/ 19 w 46"/>
                <a:gd name="T15" fmla="*/ 68 h 179"/>
                <a:gd name="T16" fmla="*/ 22 w 46"/>
                <a:gd name="T17" fmla="*/ 83 h 179"/>
                <a:gd name="T18" fmla="*/ 25 w 46"/>
                <a:gd name="T19" fmla="*/ 99 h 179"/>
                <a:gd name="T20" fmla="*/ 28 w 46"/>
                <a:gd name="T21" fmla="*/ 114 h 179"/>
                <a:gd name="T22" fmla="*/ 31 w 46"/>
                <a:gd name="T23" fmla="*/ 127 h 179"/>
                <a:gd name="T24" fmla="*/ 34 w 46"/>
                <a:gd name="T25" fmla="*/ 142 h 179"/>
                <a:gd name="T26" fmla="*/ 37 w 46"/>
                <a:gd name="T27" fmla="*/ 154 h 179"/>
                <a:gd name="T28" fmla="*/ 37 w 46"/>
                <a:gd name="T29" fmla="*/ 164 h 179"/>
                <a:gd name="T30" fmla="*/ 40 w 46"/>
                <a:gd name="T31" fmla="*/ 173 h 179"/>
                <a:gd name="T32" fmla="*/ 40 w 46"/>
                <a:gd name="T33" fmla="*/ 176 h 179"/>
                <a:gd name="T34" fmla="*/ 40 w 46"/>
                <a:gd name="T35" fmla="*/ 176 h 179"/>
                <a:gd name="T36" fmla="*/ 40 w 46"/>
                <a:gd name="T37" fmla="*/ 176 h 179"/>
                <a:gd name="T38" fmla="*/ 40 w 46"/>
                <a:gd name="T39" fmla="*/ 179 h 179"/>
                <a:gd name="T40" fmla="*/ 40 w 46"/>
                <a:gd name="T41" fmla="*/ 179 h 179"/>
                <a:gd name="T42" fmla="*/ 43 w 46"/>
                <a:gd name="T43" fmla="*/ 179 h 179"/>
                <a:gd name="T44" fmla="*/ 43 w 46"/>
                <a:gd name="T45" fmla="*/ 179 h 179"/>
                <a:gd name="T46" fmla="*/ 46 w 46"/>
                <a:gd name="T47" fmla="*/ 176 h 179"/>
                <a:gd name="T48" fmla="*/ 46 w 46"/>
                <a:gd name="T49" fmla="*/ 173 h 179"/>
                <a:gd name="T50" fmla="*/ 46 w 46"/>
                <a:gd name="T51" fmla="*/ 173 h 179"/>
                <a:gd name="T52" fmla="*/ 46 w 46"/>
                <a:gd name="T53" fmla="*/ 167 h 179"/>
                <a:gd name="T54" fmla="*/ 43 w 46"/>
                <a:gd name="T55" fmla="*/ 161 h 179"/>
                <a:gd name="T56" fmla="*/ 43 w 46"/>
                <a:gd name="T57" fmla="*/ 154 h 179"/>
                <a:gd name="T58" fmla="*/ 40 w 46"/>
                <a:gd name="T59" fmla="*/ 142 h 179"/>
                <a:gd name="T60" fmla="*/ 37 w 46"/>
                <a:gd name="T61" fmla="*/ 133 h 179"/>
                <a:gd name="T62" fmla="*/ 34 w 46"/>
                <a:gd name="T63" fmla="*/ 120 h 179"/>
                <a:gd name="T64" fmla="*/ 31 w 46"/>
                <a:gd name="T65" fmla="*/ 108 h 179"/>
                <a:gd name="T66" fmla="*/ 28 w 46"/>
                <a:gd name="T67" fmla="*/ 96 h 179"/>
                <a:gd name="T68" fmla="*/ 25 w 46"/>
                <a:gd name="T69" fmla="*/ 83 h 179"/>
                <a:gd name="T70" fmla="*/ 22 w 46"/>
                <a:gd name="T71" fmla="*/ 68 h 179"/>
                <a:gd name="T72" fmla="*/ 19 w 46"/>
                <a:gd name="T73" fmla="*/ 56 h 179"/>
                <a:gd name="T74" fmla="*/ 12 w 46"/>
                <a:gd name="T75" fmla="*/ 40 h 179"/>
                <a:gd name="T76" fmla="*/ 9 w 46"/>
                <a:gd name="T77" fmla="*/ 28 h 179"/>
                <a:gd name="T78" fmla="*/ 3 w 46"/>
                <a:gd name="T79" fmla="*/ 12 h 179"/>
                <a:gd name="T80" fmla="*/ 0 w 46"/>
                <a:gd name="T81" fmla="*/ 0 h 179"/>
                <a:gd name="T82" fmla="*/ 0 w 46"/>
                <a:gd name="T83" fmla="*/ 0 h 17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6"/>
                <a:gd name="T127" fmla="*/ 0 h 179"/>
                <a:gd name="T128" fmla="*/ 46 w 46"/>
                <a:gd name="T129" fmla="*/ 179 h 17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6" h="179">
                  <a:moveTo>
                    <a:pt x="0" y="0"/>
                  </a:moveTo>
                  <a:lnTo>
                    <a:pt x="0" y="3"/>
                  </a:lnTo>
                  <a:lnTo>
                    <a:pt x="3" y="6"/>
                  </a:lnTo>
                  <a:lnTo>
                    <a:pt x="3" y="15"/>
                  </a:lnTo>
                  <a:lnTo>
                    <a:pt x="6" y="25"/>
                  </a:lnTo>
                  <a:lnTo>
                    <a:pt x="9" y="37"/>
                  </a:lnTo>
                  <a:lnTo>
                    <a:pt x="12" y="53"/>
                  </a:lnTo>
                  <a:lnTo>
                    <a:pt x="19" y="68"/>
                  </a:lnTo>
                  <a:lnTo>
                    <a:pt x="22" y="83"/>
                  </a:lnTo>
                  <a:lnTo>
                    <a:pt x="25" y="99"/>
                  </a:lnTo>
                  <a:lnTo>
                    <a:pt x="28" y="114"/>
                  </a:lnTo>
                  <a:lnTo>
                    <a:pt x="31" y="127"/>
                  </a:lnTo>
                  <a:lnTo>
                    <a:pt x="34" y="142"/>
                  </a:lnTo>
                  <a:lnTo>
                    <a:pt x="37" y="154"/>
                  </a:lnTo>
                  <a:lnTo>
                    <a:pt x="37" y="164"/>
                  </a:lnTo>
                  <a:lnTo>
                    <a:pt x="40" y="173"/>
                  </a:lnTo>
                  <a:lnTo>
                    <a:pt x="40" y="176"/>
                  </a:lnTo>
                  <a:lnTo>
                    <a:pt x="40" y="179"/>
                  </a:lnTo>
                  <a:lnTo>
                    <a:pt x="43" y="179"/>
                  </a:lnTo>
                  <a:lnTo>
                    <a:pt x="46" y="176"/>
                  </a:lnTo>
                  <a:lnTo>
                    <a:pt x="46" y="173"/>
                  </a:lnTo>
                  <a:lnTo>
                    <a:pt x="46" y="167"/>
                  </a:lnTo>
                  <a:lnTo>
                    <a:pt x="43" y="161"/>
                  </a:lnTo>
                  <a:lnTo>
                    <a:pt x="43" y="154"/>
                  </a:lnTo>
                  <a:lnTo>
                    <a:pt x="40" y="142"/>
                  </a:lnTo>
                  <a:lnTo>
                    <a:pt x="37" y="133"/>
                  </a:lnTo>
                  <a:lnTo>
                    <a:pt x="34" y="120"/>
                  </a:lnTo>
                  <a:lnTo>
                    <a:pt x="31" y="108"/>
                  </a:lnTo>
                  <a:lnTo>
                    <a:pt x="28" y="96"/>
                  </a:lnTo>
                  <a:lnTo>
                    <a:pt x="25" y="83"/>
                  </a:lnTo>
                  <a:lnTo>
                    <a:pt x="22" y="68"/>
                  </a:lnTo>
                  <a:lnTo>
                    <a:pt x="19" y="56"/>
                  </a:lnTo>
                  <a:lnTo>
                    <a:pt x="12" y="40"/>
                  </a:lnTo>
                  <a:lnTo>
                    <a:pt x="9" y="28"/>
                  </a:lnTo>
                  <a:lnTo>
                    <a:pt x="3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2" name="Freeform 436"/>
            <p:cNvSpPr>
              <a:spLocks/>
            </p:cNvSpPr>
            <p:nvPr/>
          </p:nvSpPr>
          <p:spPr bwMode="auto">
            <a:xfrm>
              <a:off x="3654" y="3088"/>
              <a:ext cx="170" cy="96"/>
            </a:xfrm>
            <a:custGeom>
              <a:avLst/>
              <a:gdLst>
                <a:gd name="T0" fmla="*/ 3 w 170"/>
                <a:gd name="T1" fmla="*/ 90 h 96"/>
                <a:gd name="T2" fmla="*/ 6 w 170"/>
                <a:gd name="T3" fmla="*/ 86 h 96"/>
                <a:gd name="T4" fmla="*/ 12 w 170"/>
                <a:gd name="T5" fmla="*/ 83 h 96"/>
                <a:gd name="T6" fmla="*/ 21 w 170"/>
                <a:gd name="T7" fmla="*/ 80 h 96"/>
                <a:gd name="T8" fmla="*/ 34 w 170"/>
                <a:gd name="T9" fmla="*/ 74 h 96"/>
                <a:gd name="T10" fmla="*/ 46 w 170"/>
                <a:gd name="T11" fmla="*/ 65 h 96"/>
                <a:gd name="T12" fmla="*/ 61 w 170"/>
                <a:gd name="T13" fmla="*/ 59 h 96"/>
                <a:gd name="T14" fmla="*/ 77 w 170"/>
                <a:gd name="T15" fmla="*/ 49 h 96"/>
                <a:gd name="T16" fmla="*/ 92 w 170"/>
                <a:gd name="T17" fmla="*/ 40 h 96"/>
                <a:gd name="T18" fmla="*/ 108 w 170"/>
                <a:gd name="T19" fmla="*/ 31 h 96"/>
                <a:gd name="T20" fmla="*/ 123 w 170"/>
                <a:gd name="T21" fmla="*/ 25 h 96"/>
                <a:gd name="T22" fmla="*/ 136 w 170"/>
                <a:gd name="T23" fmla="*/ 18 h 96"/>
                <a:gd name="T24" fmla="*/ 148 w 170"/>
                <a:gd name="T25" fmla="*/ 9 h 96"/>
                <a:gd name="T26" fmla="*/ 157 w 170"/>
                <a:gd name="T27" fmla="*/ 6 h 96"/>
                <a:gd name="T28" fmla="*/ 166 w 170"/>
                <a:gd name="T29" fmla="*/ 3 h 96"/>
                <a:gd name="T30" fmla="*/ 170 w 170"/>
                <a:gd name="T31" fmla="*/ 0 h 96"/>
                <a:gd name="T32" fmla="*/ 170 w 170"/>
                <a:gd name="T33" fmla="*/ 0 h 96"/>
                <a:gd name="T34" fmla="*/ 166 w 170"/>
                <a:gd name="T35" fmla="*/ 3 h 96"/>
                <a:gd name="T36" fmla="*/ 160 w 170"/>
                <a:gd name="T37" fmla="*/ 6 h 96"/>
                <a:gd name="T38" fmla="*/ 151 w 170"/>
                <a:gd name="T39" fmla="*/ 12 h 96"/>
                <a:gd name="T40" fmla="*/ 142 w 170"/>
                <a:gd name="T41" fmla="*/ 18 h 96"/>
                <a:gd name="T42" fmla="*/ 126 w 170"/>
                <a:gd name="T43" fmla="*/ 28 h 96"/>
                <a:gd name="T44" fmla="*/ 114 w 170"/>
                <a:gd name="T45" fmla="*/ 34 h 96"/>
                <a:gd name="T46" fmla="*/ 98 w 170"/>
                <a:gd name="T47" fmla="*/ 43 h 96"/>
                <a:gd name="T48" fmla="*/ 83 w 170"/>
                <a:gd name="T49" fmla="*/ 56 h 96"/>
                <a:gd name="T50" fmla="*/ 68 w 170"/>
                <a:gd name="T51" fmla="*/ 62 h 96"/>
                <a:gd name="T52" fmla="*/ 52 w 170"/>
                <a:gd name="T53" fmla="*/ 71 h 96"/>
                <a:gd name="T54" fmla="*/ 37 w 170"/>
                <a:gd name="T55" fmla="*/ 80 h 96"/>
                <a:gd name="T56" fmla="*/ 24 w 170"/>
                <a:gd name="T57" fmla="*/ 86 h 96"/>
                <a:gd name="T58" fmla="*/ 15 w 170"/>
                <a:gd name="T59" fmla="*/ 93 h 96"/>
                <a:gd name="T60" fmla="*/ 9 w 170"/>
                <a:gd name="T61" fmla="*/ 96 h 96"/>
                <a:gd name="T62" fmla="*/ 3 w 170"/>
                <a:gd name="T63" fmla="*/ 96 h 96"/>
                <a:gd name="T64" fmla="*/ 0 w 170"/>
                <a:gd name="T65" fmla="*/ 96 h 96"/>
                <a:gd name="T66" fmla="*/ 3 w 170"/>
                <a:gd name="T67" fmla="*/ 90 h 96"/>
                <a:gd name="T68" fmla="*/ 3 w 170"/>
                <a:gd name="T69" fmla="*/ 90 h 9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0"/>
                <a:gd name="T106" fmla="*/ 0 h 96"/>
                <a:gd name="T107" fmla="*/ 170 w 170"/>
                <a:gd name="T108" fmla="*/ 96 h 9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0" h="96">
                  <a:moveTo>
                    <a:pt x="3" y="90"/>
                  </a:moveTo>
                  <a:lnTo>
                    <a:pt x="3" y="90"/>
                  </a:lnTo>
                  <a:lnTo>
                    <a:pt x="6" y="86"/>
                  </a:lnTo>
                  <a:lnTo>
                    <a:pt x="9" y="86"/>
                  </a:lnTo>
                  <a:lnTo>
                    <a:pt x="12" y="83"/>
                  </a:lnTo>
                  <a:lnTo>
                    <a:pt x="18" y="80"/>
                  </a:lnTo>
                  <a:lnTo>
                    <a:pt x="21" y="80"/>
                  </a:lnTo>
                  <a:lnTo>
                    <a:pt x="27" y="77"/>
                  </a:lnTo>
                  <a:lnTo>
                    <a:pt x="34" y="74"/>
                  </a:lnTo>
                  <a:lnTo>
                    <a:pt x="40" y="68"/>
                  </a:lnTo>
                  <a:lnTo>
                    <a:pt x="46" y="65"/>
                  </a:lnTo>
                  <a:lnTo>
                    <a:pt x="55" y="62"/>
                  </a:lnTo>
                  <a:lnTo>
                    <a:pt x="61" y="59"/>
                  </a:lnTo>
                  <a:lnTo>
                    <a:pt x="71" y="52"/>
                  </a:lnTo>
                  <a:lnTo>
                    <a:pt x="77" y="49"/>
                  </a:lnTo>
                  <a:lnTo>
                    <a:pt x="86" y="46"/>
                  </a:lnTo>
                  <a:lnTo>
                    <a:pt x="92" y="40"/>
                  </a:lnTo>
                  <a:lnTo>
                    <a:pt x="102" y="37"/>
                  </a:lnTo>
                  <a:lnTo>
                    <a:pt x="108" y="31"/>
                  </a:lnTo>
                  <a:lnTo>
                    <a:pt x="117" y="28"/>
                  </a:lnTo>
                  <a:lnTo>
                    <a:pt x="123" y="25"/>
                  </a:lnTo>
                  <a:lnTo>
                    <a:pt x="129" y="22"/>
                  </a:lnTo>
                  <a:lnTo>
                    <a:pt x="136" y="18"/>
                  </a:lnTo>
                  <a:lnTo>
                    <a:pt x="145" y="12"/>
                  </a:lnTo>
                  <a:lnTo>
                    <a:pt x="148" y="9"/>
                  </a:lnTo>
                  <a:lnTo>
                    <a:pt x="154" y="9"/>
                  </a:lnTo>
                  <a:lnTo>
                    <a:pt x="157" y="6"/>
                  </a:lnTo>
                  <a:lnTo>
                    <a:pt x="163" y="3"/>
                  </a:lnTo>
                  <a:lnTo>
                    <a:pt x="166" y="3"/>
                  </a:lnTo>
                  <a:lnTo>
                    <a:pt x="170" y="0"/>
                  </a:lnTo>
                  <a:lnTo>
                    <a:pt x="166" y="3"/>
                  </a:lnTo>
                  <a:lnTo>
                    <a:pt x="163" y="3"/>
                  </a:lnTo>
                  <a:lnTo>
                    <a:pt x="160" y="6"/>
                  </a:lnTo>
                  <a:lnTo>
                    <a:pt x="157" y="9"/>
                  </a:lnTo>
                  <a:lnTo>
                    <a:pt x="151" y="12"/>
                  </a:lnTo>
                  <a:lnTo>
                    <a:pt x="148" y="15"/>
                  </a:lnTo>
                  <a:lnTo>
                    <a:pt x="142" y="18"/>
                  </a:lnTo>
                  <a:lnTo>
                    <a:pt x="136" y="22"/>
                  </a:lnTo>
                  <a:lnTo>
                    <a:pt x="126" y="28"/>
                  </a:lnTo>
                  <a:lnTo>
                    <a:pt x="120" y="31"/>
                  </a:lnTo>
                  <a:lnTo>
                    <a:pt x="114" y="34"/>
                  </a:lnTo>
                  <a:lnTo>
                    <a:pt x="105" y="40"/>
                  </a:lnTo>
                  <a:lnTo>
                    <a:pt x="98" y="43"/>
                  </a:lnTo>
                  <a:lnTo>
                    <a:pt x="89" y="49"/>
                  </a:lnTo>
                  <a:lnTo>
                    <a:pt x="83" y="56"/>
                  </a:lnTo>
                  <a:lnTo>
                    <a:pt x="74" y="59"/>
                  </a:lnTo>
                  <a:lnTo>
                    <a:pt x="68" y="62"/>
                  </a:lnTo>
                  <a:lnTo>
                    <a:pt x="58" y="68"/>
                  </a:lnTo>
                  <a:lnTo>
                    <a:pt x="52" y="71"/>
                  </a:lnTo>
                  <a:lnTo>
                    <a:pt x="43" y="74"/>
                  </a:lnTo>
                  <a:lnTo>
                    <a:pt x="37" y="80"/>
                  </a:lnTo>
                  <a:lnTo>
                    <a:pt x="30" y="83"/>
                  </a:lnTo>
                  <a:lnTo>
                    <a:pt x="24" y="86"/>
                  </a:lnTo>
                  <a:lnTo>
                    <a:pt x="21" y="90"/>
                  </a:lnTo>
                  <a:lnTo>
                    <a:pt x="15" y="93"/>
                  </a:lnTo>
                  <a:lnTo>
                    <a:pt x="12" y="93"/>
                  </a:lnTo>
                  <a:lnTo>
                    <a:pt x="9" y="96"/>
                  </a:lnTo>
                  <a:lnTo>
                    <a:pt x="6" y="96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93"/>
                  </a:lnTo>
                  <a:lnTo>
                    <a:pt x="3" y="9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3" name="Freeform 437"/>
            <p:cNvSpPr>
              <a:spLocks/>
            </p:cNvSpPr>
            <p:nvPr/>
          </p:nvSpPr>
          <p:spPr bwMode="auto">
            <a:xfrm>
              <a:off x="3669" y="3156"/>
              <a:ext cx="127" cy="77"/>
            </a:xfrm>
            <a:custGeom>
              <a:avLst/>
              <a:gdLst>
                <a:gd name="T0" fmla="*/ 3 w 127"/>
                <a:gd name="T1" fmla="*/ 68 h 77"/>
                <a:gd name="T2" fmla="*/ 3 w 127"/>
                <a:gd name="T3" fmla="*/ 68 h 77"/>
                <a:gd name="T4" fmla="*/ 6 w 127"/>
                <a:gd name="T5" fmla="*/ 65 h 77"/>
                <a:gd name="T6" fmla="*/ 12 w 127"/>
                <a:gd name="T7" fmla="*/ 62 h 77"/>
                <a:gd name="T8" fmla="*/ 22 w 127"/>
                <a:gd name="T9" fmla="*/ 59 h 77"/>
                <a:gd name="T10" fmla="*/ 31 w 127"/>
                <a:gd name="T11" fmla="*/ 52 h 77"/>
                <a:gd name="T12" fmla="*/ 40 w 127"/>
                <a:gd name="T13" fmla="*/ 46 h 77"/>
                <a:gd name="T14" fmla="*/ 53 w 127"/>
                <a:gd name="T15" fmla="*/ 40 h 77"/>
                <a:gd name="T16" fmla="*/ 65 w 127"/>
                <a:gd name="T17" fmla="*/ 34 h 77"/>
                <a:gd name="T18" fmla="*/ 74 w 127"/>
                <a:gd name="T19" fmla="*/ 28 h 77"/>
                <a:gd name="T20" fmla="*/ 87 w 127"/>
                <a:gd name="T21" fmla="*/ 22 h 77"/>
                <a:gd name="T22" fmla="*/ 99 w 127"/>
                <a:gd name="T23" fmla="*/ 15 h 77"/>
                <a:gd name="T24" fmla="*/ 108 w 127"/>
                <a:gd name="T25" fmla="*/ 12 h 77"/>
                <a:gd name="T26" fmla="*/ 114 w 127"/>
                <a:gd name="T27" fmla="*/ 6 h 77"/>
                <a:gd name="T28" fmla="*/ 121 w 127"/>
                <a:gd name="T29" fmla="*/ 3 h 77"/>
                <a:gd name="T30" fmla="*/ 127 w 127"/>
                <a:gd name="T31" fmla="*/ 0 h 77"/>
                <a:gd name="T32" fmla="*/ 127 w 127"/>
                <a:gd name="T33" fmla="*/ 0 h 77"/>
                <a:gd name="T34" fmla="*/ 127 w 127"/>
                <a:gd name="T35" fmla="*/ 0 h 77"/>
                <a:gd name="T36" fmla="*/ 124 w 127"/>
                <a:gd name="T37" fmla="*/ 3 h 77"/>
                <a:gd name="T38" fmla="*/ 117 w 127"/>
                <a:gd name="T39" fmla="*/ 6 h 77"/>
                <a:gd name="T40" fmla="*/ 111 w 127"/>
                <a:gd name="T41" fmla="*/ 12 h 77"/>
                <a:gd name="T42" fmla="*/ 102 w 127"/>
                <a:gd name="T43" fmla="*/ 18 h 77"/>
                <a:gd name="T44" fmla="*/ 90 w 127"/>
                <a:gd name="T45" fmla="*/ 25 h 77"/>
                <a:gd name="T46" fmla="*/ 80 w 127"/>
                <a:gd name="T47" fmla="*/ 31 h 77"/>
                <a:gd name="T48" fmla="*/ 68 w 127"/>
                <a:gd name="T49" fmla="*/ 40 h 77"/>
                <a:gd name="T50" fmla="*/ 56 w 127"/>
                <a:gd name="T51" fmla="*/ 46 h 77"/>
                <a:gd name="T52" fmla="*/ 46 w 127"/>
                <a:gd name="T53" fmla="*/ 52 h 77"/>
                <a:gd name="T54" fmla="*/ 34 w 127"/>
                <a:gd name="T55" fmla="*/ 59 h 77"/>
                <a:gd name="T56" fmla="*/ 25 w 127"/>
                <a:gd name="T57" fmla="*/ 65 h 77"/>
                <a:gd name="T58" fmla="*/ 15 w 127"/>
                <a:gd name="T59" fmla="*/ 71 h 77"/>
                <a:gd name="T60" fmla="*/ 9 w 127"/>
                <a:gd name="T61" fmla="*/ 74 h 77"/>
                <a:gd name="T62" fmla="*/ 6 w 127"/>
                <a:gd name="T63" fmla="*/ 74 h 77"/>
                <a:gd name="T64" fmla="*/ 3 w 127"/>
                <a:gd name="T65" fmla="*/ 77 h 77"/>
                <a:gd name="T66" fmla="*/ 0 w 127"/>
                <a:gd name="T67" fmla="*/ 74 h 77"/>
                <a:gd name="T68" fmla="*/ 0 w 127"/>
                <a:gd name="T69" fmla="*/ 71 h 77"/>
                <a:gd name="T70" fmla="*/ 0 w 127"/>
                <a:gd name="T71" fmla="*/ 68 h 77"/>
                <a:gd name="T72" fmla="*/ 3 w 127"/>
                <a:gd name="T73" fmla="*/ 68 h 77"/>
                <a:gd name="T74" fmla="*/ 3 w 127"/>
                <a:gd name="T75" fmla="*/ 68 h 7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7"/>
                <a:gd name="T115" fmla="*/ 0 h 77"/>
                <a:gd name="T116" fmla="*/ 127 w 127"/>
                <a:gd name="T117" fmla="*/ 77 h 7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7" h="77">
                  <a:moveTo>
                    <a:pt x="3" y="68"/>
                  </a:moveTo>
                  <a:lnTo>
                    <a:pt x="3" y="68"/>
                  </a:lnTo>
                  <a:lnTo>
                    <a:pt x="6" y="65"/>
                  </a:lnTo>
                  <a:lnTo>
                    <a:pt x="12" y="62"/>
                  </a:lnTo>
                  <a:lnTo>
                    <a:pt x="22" y="59"/>
                  </a:lnTo>
                  <a:lnTo>
                    <a:pt x="31" y="52"/>
                  </a:lnTo>
                  <a:lnTo>
                    <a:pt x="40" y="46"/>
                  </a:lnTo>
                  <a:lnTo>
                    <a:pt x="53" y="40"/>
                  </a:lnTo>
                  <a:lnTo>
                    <a:pt x="65" y="34"/>
                  </a:lnTo>
                  <a:lnTo>
                    <a:pt x="74" y="28"/>
                  </a:lnTo>
                  <a:lnTo>
                    <a:pt x="87" y="22"/>
                  </a:lnTo>
                  <a:lnTo>
                    <a:pt x="99" y="15"/>
                  </a:lnTo>
                  <a:lnTo>
                    <a:pt x="108" y="12"/>
                  </a:lnTo>
                  <a:lnTo>
                    <a:pt x="114" y="6"/>
                  </a:lnTo>
                  <a:lnTo>
                    <a:pt x="121" y="3"/>
                  </a:lnTo>
                  <a:lnTo>
                    <a:pt x="127" y="0"/>
                  </a:lnTo>
                  <a:lnTo>
                    <a:pt x="124" y="3"/>
                  </a:lnTo>
                  <a:lnTo>
                    <a:pt x="117" y="6"/>
                  </a:lnTo>
                  <a:lnTo>
                    <a:pt x="111" y="12"/>
                  </a:lnTo>
                  <a:lnTo>
                    <a:pt x="102" y="18"/>
                  </a:lnTo>
                  <a:lnTo>
                    <a:pt x="90" y="25"/>
                  </a:lnTo>
                  <a:lnTo>
                    <a:pt x="80" y="31"/>
                  </a:lnTo>
                  <a:lnTo>
                    <a:pt x="68" y="40"/>
                  </a:lnTo>
                  <a:lnTo>
                    <a:pt x="56" y="46"/>
                  </a:lnTo>
                  <a:lnTo>
                    <a:pt x="46" y="52"/>
                  </a:lnTo>
                  <a:lnTo>
                    <a:pt x="34" y="59"/>
                  </a:lnTo>
                  <a:lnTo>
                    <a:pt x="25" y="65"/>
                  </a:lnTo>
                  <a:lnTo>
                    <a:pt x="15" y="71"/>
                  </a:lnTo>
                  <a:lnTo>
                    <a:pt x="9" y="74"/>
                  </a:lnTo>
                  <a:lnTo>
                    <a:pt x="6" y="74"/>
                  </a:lnTo>
                  <a:lnTo>
                    <a:pt x="3" y="77"/>
                  </a:lnTo>
                  <a:lnTo>
                    <a:pt x="0" y="74"/>
                  </a:lnTo>
                  <a:lnTo>
                    <a:pt x="0" y="71"/>
                  </a:lnTo>
                  <a:lnTo>
                    <a:pt x="0" y="68"/>
                  </a:lnTo>
                  <a:lnTo>
                    <a:pt x="3" y="6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4" name="Freeform 438"/>
            <p:cNvSpPr>
              <a:spLocks/>
            </p:cNvSpPr>
            <p:nvPr/>
          </p:nvSpPr>
          <p:spPr bwMode="auto">
            <a:xfrm>
              <a:off x="3684" y="3193"/>
              <a:ext cx="130" cy="77"/>
            </a:xfrm>
            <a:custGeom>
              <a:avLst/>
              <a:gdLst>
                <a:gd name="T0" fmla="*/ 4 w 130"/>
                <a:gd name="T1" fmla="*/ 71 h 77"/>
                <a:gd name="T2" fmla="*/ 4 w 130"/>
                <a:gd name="T3" fmla="*/ 71 h 77"/>
                <a:gd name="T4" fmla="*/ 7 w 130"/>
                <a:gd name="T5" fmla="*/ 68 h 77"/>
                <a:gd name="T6" fmla="*/ 13 w 130"/>
                <a:gd name="T7" fmla="*/ 65 h 77"/>
                <a:gd name="T8" fmla="*/ 22 w 130"/>
                <a:gd name="T9" fmla="*/ 59 h 77"/>
                <a:gd name="T10" fmla="*/ 31 w 130"/>
                <a:gd name="T11" fmla="*/ 56 h 77"/>
                <a:gd name="T12" fmla="*/ 41 w 130"/>
                <a:gd name="T13" fmla="*/ 49 h 77"/>
                <a:gd name="T14" fmla="*/ 53 w 130"/>
                <a:gd name="T15" fmla="*/ 43 h 77"/>
                <a:gd name="T16" fmla="*/ 65 w 130"/>
                <a:gd name="T17" fmla="*/ 37 h 77"/>
                <a:gd name="T18" fmla="*/ 78 w 130"/>
                <a:gd name="T19" fmla="*/ 28 h 77"/>
                <a:gd name="T20" fmla="*/ 90 w 130"/>
                <a:gd name="T21" fmla="*/ 22 h 77"/>
                <a:gd name="T22" fmla="*/ 99 w 130"/>
                <a:gd name="T23" fmla="*/ 19 h 77"/>
                <a:gd name="T24" fmla="*/ 109 w 130"/>
                <a:gd name="T25" fmla="*/ 12 h 77"/>
                <a:gd name="T26" fmla="*/ 118 w 130"/>
                <a:gd name="T27" fmla="*/ 6 h 77"/>
                <a:gd name="T28" fmla="*/ 124 w 130"/>
                <a:gd name="T29" fmla="*/ 3 h 77"/>
                <a:gd name="T30" fmla="*/ 130 w 130"/>
                <a:gd name="T31" fmla="*/ 3 h 77"/>
                <a:gd name="T32" fmla="*/ 130 w 130"/>
                <a:gd name="T33" fmla="*/ 0 h 77"/>
                <a:gd name="T34" fmla="*/ 130 w 130"/>
                <a:gd name="T35" fmla="*/ 3 h 77"/>
                <a:gd name="T36" fmla="*/ 127 w 130"/>
                <a:gd name="T37" fmla="*/ 6 h 77"/>
                <a:gd name="T38" fmla="*/ 121 w 130"/>
                <a:gd name="T39" fmla="*/ 9 h 77"/>
                <a:gd name="T40" fmla="*/ 112 w 130"/>
                <a:gd name="T41" fmla="*/ 12 h 77"/>
                <a:gd name="T42" fmla="*/ 102 w 130"/>
                <a:gd name="T43" fmla="*/ 19 h 77"/>
                <a:gd name="T44" fmla="*/ 93 w 130"/>
                <a:gd name="T45" fmla="*/ 25 h 77"/>
                <a:gd name="T46" fmla="*/ 81 w 130"/>
                <a:gd name="T47" fmla="*/ 34 h 77"/>
                <a:gd name="T48" fmla="*/ 68 w 130"/>
                <a:gd name="T49" fmla="*/ 40 h 77"/>
                <a:gd name="T50" fmla="*/ 59 w 130"/>
                <a:gd name="T51" fmla="*/ 46 h 77"/>
                <a:gd name="T52" fmla="*/ 47 w 130"/>
                <a:gd name="T53" fmla="*/ 56 h 77"/>
                <a:gd name="T54" fmla="*/ 34 w 130"/>
                <a:gd name="T55" fmla="*/ 62 h 77"/>
                <a:gd name="T56" fmla="*/ 25 w 130"/>
                <a:gd name="T57" fmla="*/ 68 h 77"/>
                <a:gd name="T58" fmla="*/ 16 w 130"/>
                <a:gd name="T59" fmla="*/ 71 h 77"/>
                <a:gd name="T60" fmla="*/ 10 w 130"/>
                <a:gd name="T61" fmla="*/ 74 h 77"/>
                <a:gd name="T62" fmla="*/ 4 w 130"/>
                <a:gd name="T63" fmla="*/ 77 h 77"/>
                <a:gd name="T64" fmla="*/ 4 w 130"/>
                <a:gd name="T65" fmla="*/ 77 h 77"/>
                <a:gd name="T66" fmla="*/ 0 w 130"/>
                <a:gd name="T67" fmla="*/ 74 h 77"/>
                <a:gd name="T68" fmla="*/ 0 w 130"/>
                <a:gd name="T69" fmla="*/ 74 h 77"/>
                <a:gd name="T70" fmla="*/ 0 w 130"/>
                <a:gd name="T71" fmla="*/ 71 h 77"/>
                <a:gd name="T72" fmla="*/ 4 w 130"/>
                <a:gd name="T73" fmla="*/ 71 h 77"/>
                <a:gd name="T74" fmla="*/ 4 w 130"/>
                <a:gd name="T75" fmla="*/ 71 h 7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0"/>
                <a:gd name="T115" fmla="*/ 0 h 77"/>
                <a:gd name="T116" fmla="*/ 130 w 130"/>
                <a:gd name="T117" fmla="*/ 77 h 7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0" h="77">
                  <a:moveTo>
                    <a:pt x="4" y="71"/>
                  </a:moveTo>
                  <a:lnTo>
                    <a:pt x="4" y="71"/>
                  </a:lnTo>
                  <a:lnTo>
                    <a:pt x="7" y="68"/>
                  </a:lnTo>
                  <a:lnTo>
                    <a:pt x="13" y="65"/>
                  </a:lnTo>
                  <a:lnTo>
                    <a:pt x="22" y="59"/>
                  </a:lnTo>
                  <a:lnTo>
                    <a:pt x="31" y="56"/>
                  </a:lnTo>
                  <a:lnTo>
                    <a:pt x="41" y="49"/>
                  </a:lnTo>
                  <a:lnTo>
                    <a:pt x="53" y="43"/>
                  </a:lnTo>
                  <a:lnTo>
                    <a:pt x="65" y="37"/>
                  </a:lnTo>
                  <a:lnTo>
                    <a:pt x="78" y="28"/>
                  </a:lnTo>
                  <a:lnTo>
                    <a:pt x="90" y="22"/>
                  </a:lnTo>
                  <a:lnTo>
                    <a:pt x="99" y="19"/>
                  </a:lnTo>
                  <a:lnTo>
                    <a:pt x="109" y="12"/>
                  </a:lnTo>
                  <a:lnTo>
                    <a:pt x="118" y="6"/>
                  </a:lnTo>
                  <a:lnTo>
                    <a:pt x="124" y="3"/>
                  </a:lnTo>
                  <a:lnTo>
                    <a:pt x="130" y="3"/>
                  </a:lnTo>
                  <a:lnTo>
                    <a:pt x="130" y="0"/>
                  </a:lnTo>
                  <a:lnTo>
                    <a:pt x="130" y="3"/>
                  </a:lnTo>
                  <a:lnTo>
                    <a:pt x="127" y="6"/>
                  </a:lnTo>
                  <a:lnTo>
                    <a:pt x="121" y="9"/>
                  </a:lnTo>
                  <a:lnTo>
                    <a:pt x="112" y="12"/>
                  </a:lnTo>
                  <a:lnTo>
                    <a:pt x="102" y="19"/>
                  </a:lnTo>
                  <a:lnTo>
                    <a:pt x="93" y="25"/>
                  </a:lnTo>
                  <a:lnTo>
                    <a:pt x="81" y="34"/>
                  </a:lnTo>
                  <a:lnTo>
                    <a:pt x="68" y="40"/>
                  </a:lnTo>
                  <a:lnTo>
                    <a:pt x="59" y="46"/>
                  </a:lnTo>
                  <a:lnTo>
                    <a:pt x="47" y="56"/>
                  </a:lnTo>
                  <a:lnTo>
                    <a:pt x="34" y="62"/>
                  </a:lnTo>
                  <a:lnTo>
                    <a:pt x="25" y="68"/>
                  </a:lnTo>
                  <a:lnTo>
                    <a:pt x="16" y="71"/>
                  </a:lnTo>
                  <a:lnTo>
                    <a:pt x="10" y="74"/>
                  </a:lnTo>
                  <a:lnTo>
                    <a:pt x="4" y="77"/>
                  </a:lnTo>
                  <a:lnTo>
                    <a:pt x="0" y="74"/>
                  </a:lnTo>
                  <a:lnTo>
                    <a:pt x="0" y="71"/>
                  </a:lnTo>
                  <a:lnTo>
                    <a:pt x="4" y="7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5" name="Freeform 439"/>
            <p:cNvSpPr>
              <a:spLocks/>
            </p:cNvSpPr>
            <p:nvPr/>
          </p:nvSpPr>
          <p:spPr bwMode="auto">
            <a:xfrm>
              <a:off x="3700" y="3239"/>
              <a:ext cx="124" cy="75"/>
            </a:xfrm>
            <a:custGeom>
              <a:avLst/>
              <a:gdLst>
                <a:gd name="T0" fmla="*/ 3 w 124"/>
                <a:gd name="T1" fmla="*/ 68 h 75"/>
                <a:gd name="T2" fmla="*/ 3 w 124"/>
                <a:gd name="T3" fmla="*/ 65 h 75"/>
                <a:gd name="T4" fmla="*/ 9 w 124"/>
                <a:gd name="T5" fmla="*/ 65 h 75"/>
                <a:gd name="T6" fmla="*/ 12 w 124"/>
                <a:gd name="T7" fmla="*/ 62 h 75"/>
                <a:gd name="T8" fmla="*/ 22 w 124"/>
                <a:gd name="T9" fmla="*/ 56 h 75"/>
                <a:gd name="T10" fmla="*/ 31 w 124"/>
                <a:gd name="T11" fmla="*/ 53 h 75"/>
                <a:gd name="T12" fmla="*/ 40 w 124"/>
                <a:gd name="T13" fmla="*/ 47 h 75"/>
                <a:gd name="T14" fmla="*/ 52 w 124"/>
                <a:gd name="T15" fmla="*/ 41 h 75"/>
                <a:gd name="T16" fmla="*/ 62 w 124"/>
                <a:gd name="T17" fmla="*/ 34 h 75"/>
                <a:gd name="T18" fmla="*/ 74 w 124"/>
                <a:gd name="T19" fmla="*/ 28 h 75"/>
                <a:gd name="T20" fmla="*/ 83 w 124"/>
                <a:gd name="T21" fmla="*/ 22 h 75"/>
                <a:gd name="T22" fmla="*/ 96 w 124"/>
                <a:gd name="T23" fmla="*/ 16 h 75"/>
                <a:gd name="T24" fmla="*/ 105 w 124"/>
                <a:gd name="T25" fmla="*/ 10 h 75"/>
                <a:gd name="T26" fmla="*/ 111 w 124"/>
                <a:gd name="T27" fmla="*/ 7 h 75"/>
                <a:gd name="T28" fmla="*/ 117 w 124"/>
                <a:gd name="T29" fmla="*/ 3 h 75"/>
                <a:gd name="T30" fmla="*/ 124 w 124"/>
                <a:gd name="T31" fmla="*/ 0 h 75"/>
                <a:gd name="T32" fmla="*/ 124 w 124"/>
                <a:gd name="T33" fmla="*/ 0 h 75"/>
                <a:gd name="T34" fmla="*/ 124 w 124"/>
                <a:gd name="T35" fmla="*/ 0 h 75"/>
                <a:gd name="T36" fmla="*/ 120 w 124"/>
                <a:gd name="T37" fmla="*/ 3 h 75"/>
                <a:gd name="T38" fmla="*/ 114 w 124"/>
                <a:gd name="T39" fmla="*/ 7 h 75"/>
                <a:gd name="T40" fmla="*/ 108 w 124"/>
                <a:gd name="T41" fmla="*/ 13 h 75"/>
                <a:gd name="T42" fmla="*/ 99 w 124"/>
                <a:gd name="T43" fmla="*/ 19 h 75"/>
                <a:gd name="T44" fmla="*/ 90 w 124"/>
                <a:gd name="T45" fmla="*/ 25 h 75"/>
                <a:gd name="T46" fmla="*/ 77 w 124"/>
                <a:gd name="T47" fmla="*/ 31 h 75"/>
                <a:gd name="T48" fmla="*/ 68 w 124"/>
                <a:gd name="T49" fmla="*/ 37 h 75"/>
                <a:gd name="T50" fmla="*/ 56 w 124"/>
                <a:gd name="T51" fmla="*/ 47 h 75"/>
                <a:gd name="T52" fmla="*/ 43 w 124"/>
                <a:gd name="T53" fmla="*/ 53 h 75"/>
                <a:gd name="T54" fmla="*/ 34 w 124"/>
                <a:gd name="T55" fmla="*/ 59 h 75"/>
                <a:gd name="T56" fmla="*/ 25 w 124"/>
                <a:gd name="T57" fmla="*/ 65 h 75"/>
                <a:gd name="T58" fmla="*/ 15 w 124"/>
                <a:gd name="T59" fmla="*/ 68 h 75"/>
                <a:gd name="T60" fmla="*/ 9 w 124"/>
                <a:gd name="T61" fmla="*/ 71 h 75"/>
                <a:gd name="T62" fmla="*/ 6 w 124"/>
                <a:gd name="T63" fmla="*/ 75 h 75"/>
                <a:gd name="T64" fmla="*/ 3 w 124"/>
                <a:gd name="T65" fmla="*/ 75 h 75"/>
                <a:gd name="T66" fmla="*/ 0 w 124"/>
                <a:gd name="T67" fmla="*/ 71 h 75"/>
                <a:gd name="T68" fmla="*/ 0 w 124"/>
                <a:gd name="T69" fmla="*/ 71 h 75"/>
                <a:gd name="T70" fmla="*/ 3 w 124"/>
                <a:gd name="T71" fmla="*/ 68 h 75"/>
                <a:gd name="T72" fmla="*/ 3 w 124"/>
                <a:gd name="T73" fmla="*/ 68 h 75"/>
                <a:gd name="T74" fmla="*/ 3 w 124"/>
                <a:gd name="T75" fmla="*/ 68 h 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4"/>
                <a:gd name="T115" fmla="*/ 0 h 75"/>
                <a:gd name="T116" fmla="*/ 124 w 124"/>
                <a:gd name="T117" fmla="*/ 75 h 7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4" h="75">
                  <a:moveTo>
                    <a:pt x="3" y="68"/>
                  </a:moveTo>
                  <a:lnTo>
                    <a:pt x="3" y="65"/>
                  </a:lnTo>
                  <a:lnTo>
                    <a:pt x="9" y="65"/>
                  </a:lnTo>
                  <a:lnTo>
                    <a:pt x="12" y="62"/>
                  </a:lnTo>
                  <a:lnTo>
                    <a:pt x="22" y="56"/>
                  </a:lnTo>
                  <a:lnTo>
                    <a:pt x="31" y="53"/>
                  </a:lnTo>
                  <a:lnTo>
                    <a:pt x="40" y="47"/>
                  </a:lnTo>
                  <a:lnTo>
                    <a:pt x="52" y="41"/>
                  </a:lnTo>
                  <a:lnTo>
                    <a:pt x="62" y="34"/>
                  </a:lnTo>
                  <a:lnTo>
                    <a:pt x="74" y="28"/>
                  </a:lnTo>
                  <a:lnTo>
                    <a:pt x="83" y="22"/>
                  </a:lnTo>
                  <a:lnTo>
                    <a:pt x="96" y="16"/>
                  </a:lnTo>
                  <a:lnTo>
                    <a:pt x="105" y="10"/>
                  </a:lnTo>
                  <a:lnTo>
                    <a:pt x="111" y="7"/>
                  </a:lnTo>
                  <a:lnTo>
                    <a:pt x="117" y="3"/>
                  </a:lnTo>
                  <a:lnTo>
                    <a:pt x="124" y="0"/>
                  </a:lnTo>
                  <a:lnTo>
                    <a:pt x="120" y="3"/>
                  </a:lnTo>
                  <a:lnTo>
                    <a:pt x="114" y="7"/>
                  </a:lnTo>
                  <a:lnTo>
                    <a:pt x="108" y="13"/>
                  </a:lnTo>
                  <a:lnTo>
                    <a:pt x="99" y="19"/>
                  </a:lnTo>
                  <a:lnTo>
                    <a:pt x="90" y="25"/>
                  </a:lnTo>
                  <a:lnTo>
                    <a:pt x="77" y="31"/>
                  </a:lnTo>
                  <a:lnTo>
                    <a:pt x="68" y="37"/>
                  </a:lnTo>
                  <a:lnTo>
                    <a:pt x="56" y="47"/>
                  </a:lnTo>
                  <a:lnTo>
                    <a:pt x="43" y="53"/>
                  </a:lnTo>
                  <a:lnTo>
                    <a:pt x="34" y="59"/>
                  </a:lnTo>
                  <a:lnTo>
                    <a:pt x="25" y="65"/>
                  </a:lnTo>
                  <a:lnTo>
                    <a:pt x="15" y="68"/>
                  </a:lnTo>
                  <a:lnTo>
                    <a:pt x="9" y="71"/>
                  </a:lnTo>
                  <a:lnTo>
                    <a:pt x="6" y="75"/>
                  </a:lnTo>
                  <a:lnTo>
                    <a:pt x="3" y="75"/>
                  </a:lnTo>
                  <a:lnTo>
                    <a:pt x="0" y="71"/>
                  </a:lnTo>
                  <a:lnTo>
                    <a:pt x="3" y="6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6" name="Freeform 440"/>
            <p:cNvSpPr>
              <a:spLocks/>
            </p:cNvSpPr>
            <p:nvPr/>
          </p:nvSpPr>
          <p:spPr bwMode="auto">
            <a:xfrm>
              <a:off x="3712" y="3270"/>
              <a:ext cx="142" cy="87"/>
            </a:xfrm>
            <a:custGeom>
              <a:avLst/>
              <a:gdLst>
                <a:gd name="T0" fmla="*/ 0 w 142"/>
                <a:gd name="T1" fmla="*/ 81 h 87"/>
                <a:gd name="T2" fmla="*/ 3 w 142"/>
                <a:gd name="T3" fmla="*/ 77 h 87"/>
                <a:gd name="T4" fmla="*/ 6 w 142"/>
                <a:gd name="T5" fmla="*/ 74 h 87"/>
                <a:gd name="T6" fmla="*/ 13 w 142"/>
                <a:gd name="T7" fmla="*/ 71 h 87"/>
                <a:gd name="T8" fmla="*/ 22 w 142"/>
                <a:gd name="T9" fmla="*/ 68 h 87"/>
                <a:gd name="T10" fmla="*/ 34 w 142"/>
                <a:gd name="T11" fmla="*/ 62 h 87"/>
                <a:gd name="T12" fmla="*/ 44 w 142"/>
                <a:gd name="T13" fmla="*/ 53 h 87"/>
                <a:gd name="T14" fmla="*/ 56 w 142"/>
                <a:gd name="T15" fmla="*/ 47 h 87"/>
                <a:gd name="T16" fmla="*/ 71 w 142"/>
                <a:gd name="T17" fmla="*/ 40 h 87"/>
                <a:gd name="T18" fmla="*/ 84 w 142"/>
                <a:gd name="T19" fmla="*/ 31 h 87"/>
                <a:gd name="T20" fmla="*/ 96 w 142"/>
                <a:gd name="T21" fmla="*/ 25 h 87"/>
                <a:gd name="T22" fmla="*/ 108 w 142"/>
                <a:gd name="T23" fmla="*/ 19 h 87"/>
                <a:gd name="T24" fmla="*/ 118 w 142"/>
                <a:gd name="T25" fmla="*/ 13 h 87"/>
                <a:gd name="T26" fmla="*/ 127 w 142"/>
                <a:gd name="T27" fmla="*/ 6 h 87"/>
                <a:gd name="T28" fmla="*/ 136 w 142"/>
                <a:gd name="T29" fmla="*/ 3 h 87"/>
                <a:gd name="T30" fmla="*/ 139 w 142"/>
                <a:gd name="T31" fmla="*/ 0 h 87"/>
                <a:gd name="T32" fmla="*/ 142 w 142"/>
                <a:gd name="T33" fmla="*/ 0 h 87"/>
                <a:gd name="T34" fmla="*/ 142 w 142"/>
                <a:gd name="T35" fmla="*/ 0 h 87"/>
                <a:gd name="T36" fmla="*/ 136 w 142"/>
                <a:gd name="T37" fmla="*/ 3 h 87"/>
                <a:gd name="T38" fmla="*/ 130 w 142"/>
                <a:gd name="T39" fmla="*/ 6 h 87"/>
                <a:gd name="T40" fmla="*/ 121 w 142"/>
                <a:gd name="T41" fmla="*/ 13 h 87"/>
                <a:gd name="T42" fmla="*/ 112 w 142"/>
                <a:gd name="T43" fmla="*/ 19 h 87"/>
                <a:gd name="T44" fmla="*/ 99 w 142"/>
                <a:gd name="T45" fmla="*/ 28 h 87"/>
                <a:gd name="T46" fmla="*/ 87 w 142"/>
                <a:gd name="T47" fmla="*/ 34 h 87"/>
                <a:gd name="T48" fmla="*/ 74 w 142"/>
                <a:gd name="T49" fmla="*/ 44 h 87"/>
                <a:gd name="T50" fmla="*/ 62 w 142"/>
                <a:gd name="T51" fmla="*/ 53 h 87"/>
                <a:gd name="T52" fmla="*/ 50 w 142"/>
                <a:gd name="T53" fmla="*/ 59 h 87"/>
                <a:gd name="T54" fmla="*/ 37 w 142"/>
                <a:gd name="T55" fmla="*/ 68 h 87"/>
                <a:gd name="T56" fmla="*/ 25 w 142"/>
                <a:gd name="T57" fmla="*/ 74 h 87"/>
                <a:gd name="T58" fmla="*/ 16 w 142"/>
                <a:gd name="T59" fmla="*/ 81 h 87"/>
                <a:gd name="T60" fmla="*/ 10 w 142"/>
                <a:gd name="T61" fmla="*/ 84 h 87"/>
                <a:gd name="T62" fmla="*/ 3 w 142"/>
                <a:gd name="T63" fmla="*/ 87 h 87"/>
                <a:gd name="T64" fmla="*/ 0 w 142"/>
                <a:gd name="T65" fmla="*/ 87 h 87"/>
                <a:gd name="T66" fmla="*/ 0 w 142"/>
                <a:gd name="T67" fmla="*/ 84 h 87"/>
                <a:gd name="T68" fmla="*/ 0 w 142"/>
                <a:gd name="T69" fmla="*/ 81 h 87"/>
                <a:gd name="T70" fmla="*/ 0 w 142"/>
                <a:gd name="T71" fmla="*/ 81 h 87"/>
                <a:gd name="T72" fmla="*/ 0 w 142"/>
                <a:gd name="T73" fmla="*/ 81 h 87"/>
                <a:gd name="T74" fmla="*/ 0 w 142"/>
                <a:gd name="T75" fmla="*/ 81 h 8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42"/>
                <a:gd name="T115" fmla="*/ 0 h 87"/>
                <a:gd name="T116" fmla="*/ 142 w 142"/>
                <a:gd name="T117" fmla="*/ 87 h 8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42" h="87">
                  <a:moveTo>
                    <a:pt x="0" y="81"/>
                  </a:moveTo>
                  <a:lnTo>
                    <a:pt x="3" y="77"/>
                  </a:lnTo>
                  <a:lnTo>
                    <a:pt x="6" y="74"/>
                  </a:lnTo>
                  <a:lnTo>
                    <a:pt x="13" y="71"/>
                  </a:lnTo>
                  <a:lnTo>
                    <a:pt x="22" y="68"/>
                  </a:lnTo>
                  <a:lnTo>
                    <a:pt x="34" y="62"/>
                  </a:lnTo>
                  <a:lnTo>
                    <a:pt x="44" y="53"/>
                  </a:lnTo>
                  <a:lnTo>
                    <a:pt x="56" y="47"/>
                  </a:lnTo>
                  <a:lnTo>
                    <a:pt x="71" y="40"/>
                  </a:lnTo>
                  <a:lnTo>
                    <a:pt x="84" y="31"/>
                  </a:lnTo>
                  <a:lnTo>
                    <a:pt x="96" y="25"/>
                  </a:lnTo>
                  <a:lnTo>
                    <a:pt x="108" y="19"/>
                  </a:lnTo>
                  <a:lnTo>
                    <a:pt x="118" y="13"/>
                  </a:lnTo>
                  <a:lnTo>
                    <a:pt x="127" y="6"/>
                  </a:lnTo>
                  <a:lnTo>
                    <a:pt x="136" y="3"/>
                  </a:lnTo>
                  <a:lnTo>
                    <a:pt x="139" y="0"/>
                  </a:lnTo>
                  <a:lnTo>
                    <a:pt x="142" y="0"/>
                  </a:lnTo>
                  <a:lnTo>
                    <a:pt x="136" y="3"/>
                  </a:lnTo>
                  <a:lnTo>
                    <a:pt x="130" y="6"/>
                  </a:lnTo>
                  <a:lnTo>
                    <a:pt x="121" y="13"/>
                  </a:lnTo>
                  <a:lnTo>
                    <a:pt x="112" y="19"/>
                  </a:lnTo>
                  <a:lnTo>
                    <a:pt x="99" y="28"/>
                  </a:lnTo>
                  <a:lnTo>
                    <a:pt x="87" y="34"/>
                  </a:lnTo>
                  <a:lnTo>
                    <a:pt x="74" y="44"/>
                  </a:lnTo>
                  <a:lnTo>
                    <a:pt x="62" y="53"/>
                  </a:lnTo>
                  <a:lnTo>
                    <a:pt x="50" y="59"/>
                  </a:lnTo>
                  <a:lnTo>
                    <a:pt x="37" y="68"/>
                  </a:lnTo>
                  <a:lnTo>
                    <a:pt x="25" y="74"/>
                  </a:lnTo>
                  <a:lnTo>
                    <a:pt x="16" y="81"/>
                  </a:lnTo>
                  <a:lnTo>
                    <a:pt x="10" y="84"/>
                  </a:lnTo>
                  <a:lnTo>
                    <a:pt x="3" y="87"/>
                  </a:lnTo>
                  <a:lnTo>
                    <a:pt x="0" y="87"/>
                  </a:lnTo>
                  <a:lnTo>
                    <a:pt x="0" y="84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7" name="Freeform 441"/>
            <p:cNvSpPr>
              <a:spLocks/>
            </p:cNvSpPr>
            <p:nvPr/>
          </p:nvSpPr>
          <p:spPr bwMode="auto">
            <a:xfrm>
              <a:off x="3688" y="3140"/>
              <a:ext cx="64" cy="229"/>
            </a:xfrm>
            <a:custGeom>
              <a:avLst/>
              <a:gdLst>
                <a:gd name="T0" fmla="*/ 0 w 64"/>
                <a:gd name="T1" fmla="*/ 4 h 229"/>
                <a:gd name="T2" fmla="*/ 0 w 64"/>
                <a:gd name="T3" fmla="*/ 4 h 229"/>
                <a:gd name="T4" fmla="*/ 3 w 64"/>
                <a:gd name="T5" fmla="*/ 7 h 229"/>
                <a:gd name="T6" fmla="*/ 3 w 64"/>
                <a:gd name="T7" fmla="*/ 13 h 229"/>
                <a:gd name="T8" fmla="*/ 6 w 64"/>
                <a:gd name="T9" fmla="*/ 19 h 229"/>
                <a:gd name="T10" fmla="*/ 6 w 64"/>
                <a:gd name="T11" fmla="*/ 25 h 229"/>
                <a:gd name="T12" fmla="*/ 9 w 64"/>
                <a:gd name="T13" fmla="*/ 31 h 229"/>
                <a:gd name="T14" fmla="*/ 12 w 64"/>
                <a:gd name="T15" fmla="*/ 41 h 229"/>
                <a:gd name="T16" fmla="*/ 15 w 64"/>
                <a:gd name="T17" fmla="*/ 50 h 229"/>
                <a:gd name="T18" fmla="*/ 18 w 64"/>
                <a:gd name="T19" fmla="*/ 59 h 229"/>
                <a:gd name="T20" fmla="*/ 21 w 64"/>
                <a:gd name="T21" fmla="*/ 68 h 229"/>
                <a:gd name="T22" fmla="*/ 24 w 64"/>
                <a:gd name="T23" fmla="*/ 78 h 229"/>
                <a:gd name="T24" fmla="*/ 27 w 64"/>
                <a:gd name="T25" fmla="*/ 87 h 229"/>
                <a:gd name="T26" fmla="*/ 30 w 64"/>
                <a:gd name="T27" fmla="*/ 96 h 229"/>
                <a:gd name="T28" fmla="*/ 34 w 64"/>
                <a:gd name="T29" fmla="*/ 102 h 229"/>
                <a:gd name="T30" fmla="*/ 37 w 64"/>
                <a:gd name="T31" fmla="*/ 109 h 229"/>
                <a:gd name="T32" fmla="*/ 37 w 64"/>
                <a:gd name="T33" fmla="*/ 115 h 229"/>
                <a:gd name="T34" fmla="*/ 43 w 64"/>
                <a:gd name="T35" fmla="*/ 127 h 229"/>
                <a:gd name="T36" fmla="*/ 49 w 64"/>
                <a:gd name="T37" fmla="*/ 143 h 229"/>
                <a:gd name="T38" fmla="*/ 52 w 64"/>
                <a:gd name="T39" fmla="*/ 158 h 229"/>
                <a:gd name="T40" fmla="*/ 55 w 64"/>
                <a:gd name="T41" fmla="*/ 177 h 229"/>
                <a:gd name="T42" fmla="*/ 61 w 64"/>
                <a:gd name="T43" fmla="*/ 195 h 229"/>
                <a:gd name="T44" fmla="*/ 61 w 64"/>
                <a:gd name="T45" fmla="*/ 211 h 229"/>
                <a:gd name="T46" fmla="*/ 64 w 64"/>
                <a:gd name="T47" fmla="*/ 223 h 229"/>
                <a:gd name="T48" fmla="*/ 64 w 64"/>
                <a:gd name="T49" fmla="*/ 229 h 229"/>
                <a:gd name="T50" fmla="*/ 64 w 64"/>
                <a:gd name="T51" fmla="*/ 226 h 229"/>
                <a:gd name="T52" fmla="*/ 64 w 64"/>
                <a:gd name="T53" fmla="*/ 214 h 229"/>
                <a:gd name="T54" fmla="*/ 61 w 64"/>
                <a:gd name="T55" fmla="*/ 198 h 229"/>
                <a:gd name="T56" fmla="*/ 58 w 64"/>
                <a:gd name="T57" fmla="*/ 180 h 229"/>
                <a:gd name="T58" fmla="*/ 55 w 64"/>
                <a:gd name="T59" fmla="*/ 158 h 229"/>
                <a:gd name="T60" fmla="*/ 52 w 64"/>
                <a:gd name="T61" fmla="*/ 140 h 229"/>
                <a:gd name="T62" fmla="*/ 49 w 64"/>
                <a:gd name="T63" fmla="*/ 124 h 229"/>
                <a:gd name="T64" fmla="*/ 43 w 64"/>
                <a:gd name="T65" fmla="*/ 112 h 229"/>
                <a:gd name="T66" fmla="*/ 37 w 64"/>
                <a:gd name="T67" fmla="*/ 102 h 229"/>
                <a:gd name="T68" fmla="*/ 30 w 64"/>
                <a:gd name="T69" fmla="*/ 87 h 229"/>
                <a:gd name="T70" fmla="*/ 24 w 64"/>
                <a:gd name="T71" fmla="*/ 68 h 229"/>
                <a:gd name="T72" fmla="*/ 18 w 64"/>
                <a:gd name="T73" fmla="*/ 50 h 229"/>
                <a:gd name="T74" fmla="*/ 15 w 64"/>
                <a:gd name="T75" fmla="*/ 31 h 229"/>
                <a:gd name="T76" fmla="*/ 9 w 64"/>
                <a:gd name="T77" fmla="*/ 19 h 229"/>
                <a:gd name="T78" fmla="*/ 9 w 64"/>
                <a:gd name="T79" fmla="*/ 10 h 229"/>
                <a:gd name="T80" fmla="*/ 6 w 64"/>
                <a:gd name="T81" fmla="*/ 4 h 229"/>
                <a:gd name="T82" fmla="*/ 6 w 64"/>
                <a:gd name="T83" fmla="*/ 4 h 229"/>
                <a:gd name="T84" fmla="*/ 3 w 64"/>
                <a:gd name="T85" fmla="*/ 0 h 229"/>
                <a:gd name="T86" fmla="*/ 3 w 64"/>
                <a:gd name="T87" fmla="*/ 0 h 229"/>
                <a:gd name="T88" fmla="*/ 0 w 64"/>
                <a:gd name="T89" fmla="*/ 4 h 229"/>
                <a:gd name="T90" fmla="*/ 0 w 64"/>
                <a:gd name="T91" fmla="*/ 4 h 2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64"/>
                <a:gd name="T139" fmla="*/ 0 h 229"/>
                <a:gd name="T140" fmla="*/ 64 w 64"/>
                <a:gd name="T141" fmla="*/ 229 h 2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64" h="229">
                  <a:moveTo>
                    <a:pt x="0" y="4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3"/>
                  </a:lnTo>
                  <a:lnTo>
                    <a:pt x="6" y="19"/>
                  </a:lnTo>
                  <a:lnTo>
                    <a:pt x="6" y="25"/>
                  </a:lnTo>
                  <a:lnTo>
                    <a:pt x="9" y="31"/>
                  </a:lnTo>
                  <a:lnTo>
                    <a:pt x="12" y="41"/>
                  </a:lnTo>
                  <a:lnTo>
                    <a:pt x="15" y="50"/>
                  </a:lnTo>
                  <a:lnTo>
                    <a:pt x="18" y="59"/>
                  </a:lnTo>
                  <a:lnTo>
                    <a:pt x="21" y="68"/>
                  </a:lnTo>
                  <a:lnTo>
                    <a:pt x="24" y="78"/>
                  </a:lnTo>
                  <a:lnTo>
                    <a:pt x="27" y="87"/>
                  </a:lnTo>
                  <a:lnTo>
                    <a:pt x="30" y="96"/>
                  </a:lnTo>
                  <a:lnTo>
                    <a:pt x="34" y="102"/>
                  </a:lnTo>
                  <a:lnTo>
                    <a:pt x="37" y="109"/>
                  </a:lnTo>
                  <a:lnTo>
                    <a:pt x="37" y="115"/>
                  </a:lnTo>
                  <a:lnTo>
                    <a:pt x="43" y="127"/>
                  </a:lnTo>
                  <a:lnTo>
                    <a:pt x="49" y="143"/>
                  </a:lnTo>
                  <a:lnTo>
                    <a:pt x="52" y="158"/>
                  </a:lnTo>
                  <a:lnTo>
                    <a:pt x="55" y="177"/>
                  </a:lnTo>
                  <a:lnTo>
                    <a:pt x="61" y="195"/>
                  </a:lnTo>
                  <a:lnTo>
                    <a:pt x="61" y="211"/>
                  </a:lnTo>
                  <a:lnTo>
                    <a:pt x="64" y="223"/>
                  </a:lnTo>
                  <a:lnTo>
                    <a:pt x="64" y="229"/>
                  </a:lnTo>
                  <a:lnTo>
                    <a:pt x="64" y="226"/>
                  </a:lnTo>
                  <a:lnTo>
                    <a:pt x="64" y="214"/>
                  </a:lnTo>
                  <a:lnTo>
                    <a:pt x="61" y="198"/>
                  </a:lnTo>
                  <a:lnTo>
                    <a:pt x="58" y="180"/>
                  </a:lnTo>
                  <a:lnTo>
                    <a:pt x="55" y="158"/>
                  </a:lnTo>
                  <a:lnTo>
                    <a:pt x="52" y="140"/>
                  </a:lnTo>
                  <a:lnTo>
                    <a:pt x="49" y="124"/>
                  </a:lnTo>
                  <a:lnTo>
                    <a:pt x="43" y="112"/>
                  </a:lnTo>
                  <a:lnTo>
                    <a:pt x="37" y="102"/>
                  </a:lnTo>
                  <a:lnTo>
                    <a:pt x="30" y="87"/>
                  </a:lnTo>
                  <a:lnTo>
                    <a:pt x="24" y="68"/>
                  </a:lnTo>
                  <a:lnTo>
                    <a:pt x="18" y="50"/>
                  </a:lnTo>
                  <a:lnTo>
                    <a:pt x="15" y="31"/>
                  </a:lnTo>
                  <a:lnTo>
                    <a:pt x="9" y="19"/>
                  </a:lnTo>
                  <a:lnTo>
                    <a:pt x="9" y="10"/>
                  </a:lnTo>
                  <a:lnTo>
                    <a:pt x="6" y="4"/>
                  </a:lnTo>
                  <a:lnTo>
                    <a:pt x="3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8" name="Freeform 442"/>
            <p:cNvSpPr>
              <a:spLocks/>
            </p:cNvSpPr>
            <p:nvPr/>
          </p:nvSpPr>
          <p:spPr bwMode="auto">
            <a:xfrm>
              <a:off x="3722" y="3122"/>
              <a:ext cx="64" cy="229"/>
            </a:xfrm>
            <a:custGeom>
              <a:avLst/>
              <a:gdLst>
                <a:gd name="T0" fmla="*/ 0 w 64"/>
                <a:gd name="T1" fmla="*/ 3 h 229"/>
                <a:gd name="T2" fmla="*/ 0 w 64"/>
                <a:gd name="T3" fmla="*/ 6 h 229"/>
                <a:gd name="T4" fmla="*/ 3 w 64"/>
                <a:gd name="T5" fmla="*/ 6 h 229"/>
                <a:gd name="T6" fmla="*/ 3 w 64"/>
                <a:gd name="T7" fmla="*/ 12 h 229"/>
                <a:gd name="T8" fmla="*/ 6 w 64"/>
                <a:gd name="T9" fmla="*/ 18 h 229"/>
                <a:gd name="T10" fmla="*/ 6 w 64"/>
                <a:gd name="T11" fmla="*/ 25 h 229"/>
                <a:gd name="T12" fmla="*/ 9 w 64"/>
                <a:gd name="T13" fmla="*/ 34 h 229"/>
                <a:gd name="T14" fmla="*/ 12 w 64"/>
                <a:gd name="T15" fmla="*/ 40 h 229"/>
                <a:gd name="T16" fmla="*/ 15 w 64"/>
                <a:gd name="T17" fmla="*/ 49 h 229"/>
                <a:gd name="T18" fmla="*/ 18 w 64"/>
                <a:gd name="T19" fmla="*/ 59 h 229"/>
                <a:gd name="T20" fmla="*/ 21 w 64"/>
                <a:gd name="T21" fmla="*/ 68 h 229"/>
                <a:gd name="T22" fmla="*/ 24 w 64"/>
                <a:gd name="T23" fmla="*/ 77 h 229"/>
                <a:gd name="T24" fmla="*/ 27 w 64"/>
                <a:gd name="T25" fmla="*/ 86 h 229"/>
                <a:gd name="T26" fmla="*/ 30 w 64"/>
                <a:gd name="T27" fmla="*/ 96 h 229"/>
                <a:gd name="T28" fmla="*/ 34 w 64"/>
                <a:gd name="T29" fmla="*/ 102 h 229"/>
                <a:gd name="T30" fmla="*/ 37 w 64"/>
                <a:gd name="T31" fmla="*/ 108 h 229"/>
                <a:gd name="T32" fmla="*/ 40 w 64"/>
                <a:gd name="T33" fmla="*/ 114 h 229"/>
                <a:gd name="T34" fmla="*/ 43 w 64"/>
                <a:gd name="T35" fmla="*/ 127 h 229"/>
                <a:gd name="T36" fmla="*/ 49 w 64"/>
                <a:gd name="T37" fmla="*/ 142 h 229"/>
                <a:gd name="T38" fmla="*/ 52 w 64"/>
                <a:gd name="T39" fmla="*/ 161 h 229"/>
                <a:gd name="T40" fmla="*/ 55 w 64"/>
                <a:gd name="T41" fmla="*/ 179 h 229"/>
                <a:gd name="T42" fmla="*/ 61 w 64"/>
                <a:gd name="T43" fmla="*/ 195 h 229"/>
                <a:gd name="T44" fmla="*/ 61 w 64"/>
                <a:gd name="T45" fmla="*/ 210 h 229"/>
                <a:gd name="T46" fmla="*/ 64 w 64"/>
                <a:gd name="T47" fmla="*/ 222 h 229"/>
                <a:gd name="T48" fmla="*/ 64 w 64"/>
                <a:gd name="T49" fmla="*/ 229 h 229"/>
                <a:gd name="T50" fmla="*/ 64 w 64"/>
                <a:gd name="T51" fmla="*/ 225 h 229"/>
                <a:gd name="T52" fmla="*/ 64 w 64"/>
                <a:gd name="T53" fmla="*/ 213 h 229"/>
                <a:gd name="T54" fmla="*/ 61 w 64"/>
                <a:gd name="T55" fmla="*/ 198 h 229"/>
                <a:gd name="T56" fmla="*/ 58 w 64"/>
                <a:gd name="T57" fmla="*/ 179 h 229"/>
                <a:gd name="T58" fmla="*/ 55 w 64"/>
                <a:gd name="T59" fmla="*/ 158 h 229"/>
                <a:gd name="T60" fmla="*/ 52 w 64"/>
                <a:gd name="T61" fmla="*/ 139 h 229"/>
                <a:gd name="T62" fmla="*/ 49 w 64"/>
                <a:gd name="T63" fmla="*/ 124 h 229"/>
                <a:gd name="T64" fmla="*/ 43 w 64"/>
                <a:gd name="T65" fmla="*/ 111 h 229"/>
                <a:gd name="T66" fmla="*/ 40 w 64"/>
                <a:gd name="T67" fmla="*/ 108 h 229"/>
                <a:gd name="T68" fmla="*/ 37 w 64"/>
                <a:gd name="T69" fmla="*/ 102 h 229"/>
                <a:gd name="T70" fmla="*/ 34 w 64"/>
                <a:gd name="T71" fmla="*/ 93 h 229"/>
                <a:gd name="T72" fmla="*/ 30 w 64"/>
                <a:gd name="T73" fmla="*/ 86 h 229"/>
                <a:gd name="T74" fmla="*/ 27 w 64"/>
                <a:gd name="T75" fmla="*/ 77 h 229"/>
                <a:gd name="T76" fmla="*/ 24 w 64"/>
                <a:gd name="T77" fmla="*/ 68 h 229"/>
                <a:gd name="T78" fmla="*/ 21 w 64"/>
                <a:gd name="T79" fmla="*/ 59 h 229"/>
                <a:gd name="T80" fmla="*/ 18 w 64"/>
                <a:gd name="T81" fmla="*/ 49 h 229"/>
                <a:gd name="T82" fmla="*/ 18 w 64"/>
                <a:gd name="T83" fmla="*/ 40 h 229"/>
                <a:gd name="T84" fmla="*/ 15 w 64"/>
                <a:gd name="T85" fmla="*/ 34 h 229"/>
                <a:gd name="T86" fmla="*/ 12 w 64"/>
                <a:gd name="T87" fmla="*/ 25 h 229"/>
                <a:gd name="T88" fmla="*/ 9 w 64"/>
                <a:gd name="T89" fmla="*/ 18 h 229"/>
                <a:gd name="T90" fmla="*/ 9 w 64"/>
                <a:gd name="T91" fmla="*/ 12 h 229"/>
                <a:gd name="T92" fmla="*/ 6 w 64"/>
                <a:gd name="T93" fmla="*/ 9 h 229"/>
                <a:gd name="T94" fmla="*/ 6 w 64"/>
                <a:gd name="T95" fmla="*/ 6 h 229"/>
                <a:gd name="T96" fmla="*/ 6 w 64"/>
                <a:gd name="T97" fmla="*/ 3 h 229"/>
                <a:gd name="T98" fmla="*/ 6 w 64"/>
                <a:gd name="T99" fmla="*/ 3 h 229"/>
                <a:gd name="T100" fmla="*/ 3 w 64"/>
                <a:gd name="T101" fmla="*/ 0 h 229"/>
                <a:gd name="T102" fmla="*/ 3 w 64"/>
                <a:gd name="T103" fmla="*/ 0 h 229"/>
                <a:gd name="T104" fmla="*/ 0 w 64"/>
                <a:gd name="T105" fmla="*/ 3 h 229"/>
                <a:gd name="T106" fmla="*/ 0 w 64"/>
                <a:gd name="T107" fmla="*/ 3 h 2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29"/>
                <a:gd name="T164" fmla="*/ 64 w 64"/>
                <a:gd name="T165" fmla="*/ 229 h 2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29">
                  <a:moveTo>
                    <a:pt x="0" y="3"/>
                  </a:moveTo>
                  <a:lnTo>
                    <a:pt x="0" y="6"/>
                  </a:lnTo>
                  <a:lnTo>
                    <a:pt x="3" y="6"/>
                  </a:lnTo>
                  <a:lnTo>
                    <a:pt x="3" y="12"/>
                  </a:lnTo>
                  <a:lnTo>
                    <a:pt x="6" y="18"/>
                  </a:lnTo>
                  <a:lnTo>
                    <a:pt x="6" y="25"/>
                  </a:lnTo>
                  <a:lnTo>
                    <a:pt x="9" y="34"/>
                  </a:lnTo>
                  <a:lnTo>
                    <a:pt x="12" y="40"/>
                  </a:lnTo>
                  <a:lnTo>
                    <a:pt x="15" y="49"/>
                  </a:lnTo>
                  <a:lnTo>
                    <a:pt x="18" y="59"/>
                  </a:lnTo>
                  <a:lnTo>
                    <a:pt x="21" y="68"/>
                  </a:lnTo>
                  <a:lnTo>
                    <a:pt x="24" y="77"/>
                  </a:lnTo>
                  <a:lnTo>
                    <a:pt x="27" y="86"/>
                  </a:lnTo>
                  <a:lnTo>
                    <a:pt x="30" y="96"/>
                  </a:lnTo>
                  <a:lnTo>
                    <a:pt x="34" y="102"/>
                  </a:lnTo>
                  <a:lnTo>
                    <a:pt x="37" y="108"/>
                  </a:lnTo>
                  <a:lnTo>
                    <a:pt x="40" y="114"/>
                  </a:lnTo>
                  <a:lnTo>
                    <a:pt x="43" y="127"/>
                  </a:lnTo>
                  <a:lnTo>
                    <a:pt x="49" y="142"/>
                  </a:lnTo>
                  <a:lnTo>
                    <a:pt x="52" y="161"/>
                  </a:lnTo>
                  <a:lnTo>
                    <a:pt x="55" y="179"/>
                  </a:lnTo>
                  <a:lnTo>
                    <a:pt x="61" y="195"/>
                  </a:lnTo>
                  <a:lnTo>
                    <a:pt x="61" y="210"/>
                  </a:lnTo>
                  <a:lnTo>
                    <a:pt x="64" y="222"/>
                  </a:lnTo>
                  <a:lnTo>
                    <a:pt x="64" y="229"/>
                  </a:lnTo>
                  <a:lnTo>
                    <a:pt x="64" y="225"/>
                  </a:lnTo>
                  <a:lnTo>
                    <a:pt x="64" y="213"/>
                  </a:lnTo>
                  <a:lnTo>
                    <a:pt x="61" y="198"/>
                  </a:lnTo>
                  <a:lnTo>
                    <a:pt x="58" y="179"/>
                  </a:lnTo>
                  <a:lnTo>
                    <a:pt x="55" y="158"/>
                  </a:lnTo>
                  <a:lnTo>
                    <a:pt x="52" y="139"/>
                  </a:lnTo>
                  <a:lnTo>
                    <a:pt x="49" y="124"/>
                  </a:lnTo>
                  <a:lnTo>
                    <a:pt x="43" y="111"/>
                  </a:lnTo>
                  <a:lnTo>
                    <a:pt x="40" y="108"/>
                  </a:lnTo>
                  <a:lnTo>
                    <a:pt x="37" y="102"/>
                  </a:lnTo>
                  <a:lnTo>
                    <a:pt x="34" y="93"/>
                  </a:lnTo>
                  <a:lnTo>
                    <a:pt x="30" y="86"/>
                  </a:lnTo>
                  <a:lnTo>
                    <a:pt x="27" y="77"/>
                  </a:lnTo>
                  <a:lnTo>
                    <a:pt x="24" y="68"/>
                  </a:lnTo>
                  <a:lnTo>
                    <a:pt x="21" y="59"/>
                  </a:lnTo>
                  <a:lnTo>
                    <a:pt x="18" y="49"/>
                  </a:lnTo>
                  <a:lnTo>
                    <a:pt x="18" y="40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9" y="18"/>
                  </a:lnTo>
                  <a:lnTo>
                    <a:pt x="9" y="12"/>
                  </a:lnTo>
                  <a:lnTo>
                    <a:pt x="6" y="9"/>
                  </a:lnTo>
                  <a:lnTo>
                    <a:pt x="6" y="6"/>
                  </a:lnTo>
                  <a:lnTo>
                    <a:pt x="6" y="3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39" name="Freeform 443"/>
            <p:cNvSpPr>
              <a:spLocks/>
            </p:cNvSpPr>
            <p:nvPr/>
          </p:nvSpPr>
          <p:spPr bwMode="auto">
            <a:xfrm>
              <a:off x="3756" y="3103"/>
              <a:ext cx="64" cy="229"/>
            </a:xfrm>
            <a:custGeom>
              <a:avLst/>
              <a:gdLst>
                <a:gd name="T0" fmla="*/ 0 w 64"/>
                <a:gd name="T1" fmla="*/ 3 h 229"/>
                <a:gd name="T2" fmla="*/ 3 w 64"/>
                <a:gd name="T3" fmla="*/ 7 h 229"/>
                <a:gd name="T4" fmla="*/ 3 w 64"/>
                <a:gd name="T5" fmla="*/ 10 h 229"/>
                <a:gd name="T6" fmla="*/ 3 w 64"/>
                <a:gd name="T7" fmla="*/ 13 h 229"/>
                <a:gd name="T8" fmla="*/ 6 w 64"/>
                <a:gd name="T9" fmla="*/ 19 h 229"/>
                <a:gd name="T10" fmla="*/ 6 w 64"/>
                <a:gd name="T11" fmla="*/ 25 h 229"/>
                <a:gd name="T12" fmla="*/ 9 w 64"/>
                <a:gd name="T13" fmla="*/ 34 h 229"/>
                <a:gd name="T14" fmla="*/ 12 w 64"/>
                <a:gd name="T15" fmla="*/ 44 h 229"/>
                <a:gd name="T16" fmla="*/ 15 w 64"/>
                <a:gd name="T17" fmla="*/ 50 h 229"/>
                <a:gd name="T18" fmla="*/ 18 w 64"/>
                <a:gd name="T19" fmla="*/ 59 h 229"/>
                <a:gd name="T20" fmla="*/ 21 w 64"/>
                <a:gd name="T21" fmla="*/ 71 h 229"/>
                <a:gd name="T22" fmla="*/ 24 w 64"/>
                <a:gd name="T23" fmla="*/ 81 h 229"/>
                <a:gd name="T24" fmla="*/ 27 w 64"/>
                <a:gd name="T25" fmla="*/ 87 h 229"/>
                <a:gd name="T26" fmla="*/ 30 w 64"/>
                <a:gd name="T27" fmla="*/ 96 h 229"/>
                <a:gd name="T28" fmla="*/ 34 w 64"/>
                <a:gd name="T29" fmla="*/ 105 h 229"/>
                <a:gd name="T30" fmla="*/ 37 w 64"/>
                <a:gd name="T31" fmla="*/ 112 h 229"/>
                <a:gd name="T32" fmla="*/ 40 w 64"/>
                <a:gd name="T33" fmla="*/ 115 h 229"/>
                <a:gd name="T34" fmla="*/ 43 w 64"/>
                <a:gd name="T35" fmla="*/ 127 h 229"/>
                <a:gd name="T36" fmla="*/ 49 w 64"/>
                <a:gd name="T37" fmla="*/ 143 h 229"/>
                <a:gd name="T38" fmla="*/ 52 w 64"/>
                <a:gd name="T39" fmla="*/ 161 h 229"/>
                <a:gd name="T40" fmla="*/ 58 w 64"/>
                <a:gd name="T41" fmla="*/ 180 h 229"/>
                <a:gd name="T42" fmla="*/ 61 w 64"/>
                <a:gd name="T43" fmla="*/ 198 h 229"/>
                <a:gd name="T44" fmla="*/ 64 w 64"/>
                <a:gd name="T45" fmla="*/ 214 h 229"/>
                <a:gd name="T46" fmla="*/ 64 w 64"/>
                <a:gd name="T47" fmla="*/ 223 h 229"/>
                <a:gd name="T48" fmla="*/ 64 w 64"/>
                <a:gd name="T49" fmla="*/ 229 h 229"/>
                <a:gd name="T50" fmla="*/ 64 w 64"/>
                <a:gd name="T51" fmla="*/ 226 h 229"/>
                <a:gd name="T52" fmla="*/ 64 w 64"/>
                <a:gd name="T53" fmla="*/ 214 h 229"/>
                <a:gd name="T54" fmla="*/ 61 w 64"/>
                <a:gd name="T55" fmla="*/ 198 h 229"/>
                <a:gd name="T56" fmla="*/ 61 w 64"/>
                <a:gd name="T57" fmla="*/ 180 h 229"/>
                <a:gd name="T58" fmla="*/ 58 w 64"/>
                <a:gd name="T59" fmla="*/ 161 h 229"/>
                <a:gd name="T60" fmla="*/ 52 w 64"/>
                <a:gd name="T61" fmla="*/ 139 h 229"/>
                <a:gd name="T62" fmla="*/ 49 w 64"/>
                <a:gd name="T63" fmla="*/ 124 h 229"/>
                <a:gd name="T64" fmla="*/ 43 w 64"/>
                <a:gd name="T65" fmla="*/ 112 h 229"/>
                <a:gd name="T66" fmla="*/ 40 w 64"/>
                <a:gd name="T67" fmla="*/ 109 h 229"/>
                <a:gd name="T68" fmla="*/ 37 w 64"/>
                <a:gd name="T69" fmla="*/ 102 h 229"/>
                <a:gd name="T70" fmla="*/ 34 w 64"/>
                <a:gd name="T71" fmla="*/ 96 h 229"/>
                <a:gd name="T72" fmla="*/ 30 w 64"/>
                <a:gd name="T73" fmla="*/ 87 h 229"/>
                <a:gd name="T74" fmla="*/ 27 w 64"/>
                <a:gd name="T75" fmla="*/ 78 h 229"/>
                <a:gd name="T76" fmla="*/ 24 w 64"/>
                <a:gd name="T77" fmla="*/ 68 h 229"/>
                <a:gd name="T78" fmla="*/ 21 w 64"/>
                <a:gd name="T79" fmla="*/ 59 h 229"/>
                <a:gd name="T80" fmla="*/ 21 w 64"/>
                <a:gd name="T81" fmla="*/ 50 h 229"/>
                <a:gd name="T82" fmla="*/ 18 w 64"/>
                <a:gd name="T83" fmla="*/ 41 h 229"/>
                <a:gd name="T84" fmla="*/ 15 w 64"/>
                <a:gd name="T85" fmla="*/ 34 h 229"/>
                <a:gd name="T86" fmla="*/ 12 w 64"/>
                <a:gd name="T87" fmla="*/ 25 h 229"/>
                <a:gd name="T88" fmla="*/ 12 w 64"/>
                <a:gd name="T89" fmla="*/ 19 h 229"/>
                <a:gd name="T90" fmla="*/ 9 w 64"/>
                <a:gd name="T91" fmla="*/ 13 h 229"/>
                <a:gd name="T92" fmla="*/ 9 w 64"/>
                <a:gd name="T93" fmla="*/ 10 h 229"/>
                <a:gd name="T94" fmla="*/ 6 w 64"/>
                <a:gd name="T95" fmla="*/ 7 h 229"/>
                <a:gd name="T96" fmla="*/ 6 w 64"/>
                <a:gd name="T97" fmla="*/ 7 h 229"/>
                <a:gd name="T98" fmla="*/ 6 w 64"/>
                <a:gd name="T99" fmla="*/ 3 h 229"/>
                <a:gd name="T100" fmla="*/ 6 w 64"/>
                <a:gd name="T101" fmla="*/ 3 h 229"/>
                <a:gd name="T102" fmla="*/ 3 w 64"/>
                <a:gd name="T103" fmla="*/ 0 h 229"/>
                <a:gd name="T104" fmla="*/ 0 w 64"/>
                <a:gd name="T105" fmla="*/ 3 h 229"/>
                <a:gd name="T106" fmla="*/ 0 w 64"/>
                <a:gd name="T107" fmla="*/ 3 h 2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29"/>
                <a:gd name="T164" fmla="*/ 64 w 64"/>
                <a:gd name="T165" fmla="*/ 229 h 2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29">
                  <a:moveTo>
                    <a:pt x="0" y="3"/>
                  </a:moveTo>
                  <a:lnTo>
                    <a:pt x="3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6" y="19"/>
                  </a:lnTo>
                  <a:lnTo>
                    <a:pt x="6" y="25"/>
                  </a:lnTo>
                  <a:lnTo>
                    <a:pt x="9" y="34"/>
                  </a:lnTo>
                  <a:lnTo>
                    <a:pt x="12" y="44"/>
                  </a:lnTo>
                  <a:lnTo>
                    <a:pt x="15" y="50"/>
                  </a:lnTo>
                  <a:lnTo>
                    <a:pt x="18" y="59"/>
                  </a:lnTo>
                  <a:lnTo>
                    <a:pt x="21" y="71"/>
                  </a:lnTo>
                  <a:lnTo>
                    <a:pt x="24" y="81"/>
                  </a:lnTo>
                  <a:lnTo>
                    <a:pt x="27" y="87"/>
                  </a:lnTo>
                  <a:lnTo>
                    <a:pt x="30" y="96"/>
                  </a:lnTo>
                  <a:lnTo>
                    <a:pt x="34" y="105"/>
                  </a:lnTo>
                  <a:lnTo>
                    <a:pt x="37" y="112"/>
                  </a:lnTo>
                  <a:lnTo>
                    <a:pt x="40" y="115"/>
                  </a:lnTo>
                  <a:lnTo>
                    <a:pt x="43" y="127"/>
                  </a:lnTo>
                  <a:lnTo>
                    <a:pt x="49" y="143"/>
                  </a:lnTo>
                  <a:lnTo>
                    <a:pt x="52" y="161"/>
                  </a:lnTo>
                  <a:lnTo>
                    <a:pt x="58" y="180"/>
                  </a:lnTo>
                  <a:lnTo>
                    <a:pt x="61" y="198"/>
                  </a:lnTo>
                  <a:lnTo>
                    <a:pt x="64" y="214"/>
                  </a:lnTo>
                  <a:lnTo>
                    <a:pt x="64" y="223"/>
                  </a:lnTo>
                  <a:lnTo>
                    <a:pt x="64" y="229"/>
                  </a:lnTo>
                  <a:lnTo>
                    <a:pt x="64" y="226"/>
                  </a:lnTo>
                  <a:lnTo>
                    <a:pt x="64" y="214"/>
                  </a:lnTo>
                  <a:lnTo>
                    <a:pt x="61" y="198"/>
                  </a:lnTo>
                  <a:lnTo>
                    <a:pt x="61" y="180"/>
                  </a:lnTo>
                  <a:lnTo>
                    <a:pt x="58" y="161"/>
                  </a:lnTo>
                  <a:lnTo>
                    <a:pt x="52" y="139"/>
                  </a:lnTo>
                  <a:lnTo>
                    <a:pt x="49" y="124"/>
                  </a:lnTo>
                  <a:lnTo>
                    <a:pt x="43" y="112"/>
                  </a:lnTo>
                  <a:lnTo>
                    <a:pt x="40" y="109"/>
                  </a:lnTo>
                  <a:lnTo>
                    <a:pt x="37" y="102"/>
                  </a:lnTo>
                  <a:lnTo>
                    <a:pt x="34" y="96"/>
                  </a:lnTo>
                  <a:lnTo>
                    <a:pt x="30" y="87"/>
                  </a:lnTo>
                  <a:lnTo>
                    <a:pt x="27" y="78"/>
                  </a:lnTo>
                  <a:lnTo>
                    <a:pt x="24" y="68"/>
                  </a:lnTo>
                  <a:lnTo>
                    <a:pt x="21" y="59"/>
                  </a:lnTo>
                  <a:lnTo>
                    <a:pt x="21" y="50"/>
                  </a:lnTo>
                  <a:lnTo>
                    <a:pt x="18" y="41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12" y="19"/>
                  </a:lnTo>
                  <a:lnTo>
                    <a:pt x="9" y="13"/>
                  </a:lnTo>
                  <a:lnTo>
                    <a:pt x="9" y="10"/>
                  </a:lnTo>
                  <a:lnTo>
                    <a:pt x="6" y="7"/>
                  </a:lnTo>
                  <a:lnTo>
                    <a:pt x="6" y="3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0" name="Freeform 444"/>
            <p:cNvSpPr>
              <a:spLocks/>
            </p:cNvSpPr>
            <p:nvPr/>
          </p:nvSpPr>
          <p:spPr bwMode="auto">
            <a:xfrm>
              <a:off x="3793" y="3085"/>
              <a:ext cx="61" cy="229"/>
            </a:xfrm>
            <a:custGeom>
              <a:avLst/>
              <a:gdLst>
                <a:gd name="T0" fmla="*/ 0 w 61"/>
                <a:gd name="T1" fmla="*/ 6 h 229"/>
                <a:gd name="T2" fmla="*/ 0 w 61"/>
                <a:gd name="T3" fmla="*/ 6 h 229"/>
                <a:gd name="T4" fmla="*/ 0 w 61"/>
                <a:gd name="T5" fmla="*/ 9 h 229"/>
                <a:gd name="T6" fmla="*/ 0 w 61"/>
                <a:gd name="T7" fmla="*/ 12 h 229"/>
                <a:gd name="T8" fmla="*/ 3 w 61"/>
                <a:gd name="T9" fmla="*/ 18 h 229"/>
                <a:gd name="T10" fmla="*/ 6 w 61"/>
                <a:gd name="T11" fmla="*/ 25 h 229"/>
                <a:gd name="T12" fmla="*/ 6 w 61"/>
                <a:gd name="T13" fmla="*/ 34 h 229"/>
                <a:gd name="T14" fmla="*/ 9 w 61"/>
                <a:gd name="T15" fmla="*/ 43 h 229"/>
                <a:gd name="T16" fmla="*/ 12 w 61"/>
                <a:gd name="T17" fmla="*/ 52 h 229"/>
                <a:gd name="T18" fmla="*/ 15 w 61"/>
                <a:gd name="T19" fmla="*/ 62 h 229"/>
                <a:gd name="T20" fmla="*/ 18 w 61"/>
                <a:gd name="T21" fmla="*/ 71 h 229"/>
                <a:gd name="T22" fmla="*/ 21 w 61"/>
                <a:gd name="T23" fmla="*/ 80 h 229"/>
                <a:gd name="T24" fmla="*/ 24 w 61"/>
                <a:gd name="T25" fmla="*/ 89 h 229"/>
                <a:gd name="T26" fmla="*/ 27 w 61"/>
                <a:gd name="T27" fmla="*/ 96 h 229"/>
                <a:gd name="T28" fmla="*/ 31 w 61"/>
                <a:gd name="T29" fmla="*/ 105 h 229"/>
                <a:gd name="T30" fmla="*/ 34 w 61"/>
                <a:gd name="T31" fmla="*/ 111 h 229"/>
                <a:gd name="T32" fmla="*/ 37 w 61"/>
                <a:gd name="T33" fmla="*/ 114 h 229"/>
                <a:gd name="T34" fmla="*/ 40 w 61"/>
                <a:gd name="T35" fmla="*/ 127 h 229"/>
                <a:gd name="T36" fmla="*/ 46 w 61"/>
                <a:gd name="T37" fmla="*/ 142 h 229"/>
                <a:gd name="T38" fmla="*/ 49 w 61"/>
                <a:gd name="T39" fmla="*/ 161 h 229"/>
                <a:gd name="T40" fmla="*/ 55 w 61"/>
                <a:gd name="T41" fmla="*/ 179 h 229"/>
                <a:gd name="T42" fmla="*/ 58 w 61"/>
                <a:gd name="T43" fmla="*/ 198 h 229"/>
                <a:gd name="T44" fmla="*/ 61 w 61"/>
                <a:gd name="T45" fmla="*/ 213 h 229"/>
                <a:gd name="T46" fmla="*/ 61 w 61"/>
                <a:gd name="T47" fmla="*/ 222 h 229"/>
                <a:gd name="T48" fmla="*/ 61 w 61"/>
                <a:gd name="T49" fmla="*/ 229 h 229"/>
                <a:gd name="T50" fmla="*/ 61 w 61"/>
                <a:gd name="T51" fmla="*/ 225 h 229"/>
                <a:gd name="T52" fmla="*/ 61 w 61"/>
                <a:gd name="T53" fmla="*/ 216 h 229"/>
                <a:gd name="T54" fmla="*/ 61 w 61"/>
                <a:gd name="T55" fmla="*/ 201 h 229"/>
                <a:gd name="T56" fmla="*/ 58 w 61"/>
                <a:gd name="T57" fmla="*/ 182 h 229"/>
                <a:gd name="T58" fmla="*/ 55 w 61"/>
                <a:gd name="T59" fmla="*/ 164 h 229"/>
                <a:gd name="T60" fmla="*/ 52 w 61"/>
                <a:gd name="T61" fmla="*/ 142 h 229"/>
                <a:gd name="T62" fmla="*/ 46 w 61"/>
                <a:gd name="T63" fmla="*/ 127 h 229"/>
                <a:gd name="T64" fmla="*/ 40 w 61"/>
                <a:gd name="T65" fmla="*/ 114 h 229"/>
                <a:gd name="T66" fmla="*/ 37 w 61"/>
                <a:gd name="T67" fmla="*/ 108 h 229"/>
                <a:gd name="T68" fmla="*/ 37 w 61"/>
                <a:gd name="T69" fmla="*/ 102 h 229"/>
                <a:gd name="T70" fmla="*/ 34 w 61"/>
                <a:gd name="T71" fmla="*/ 96 h 229"/>
                <a:gd name="T72" fmla="*/ 31 w 61"/>
                <a:gd name="T73" fmla="*/ 86 h 229"/>
                <a:gd name="T74" fmla="*/ 27 w 61"/>
                <a:gd name="T75" fmla="*/ 77 h 229"/>
                <a:gd name="T76" fmla="*/ 24 w 61"/>
                <a:gd name="T77" fmla="*/ 68 h 229"/>
                <a:gd name="T78" fmla="*/ 21 w 61"/>
                <a:gd name="T79" fmla="*/ 59 h 229"/>
                <a:gd name="T80" fmla="*/ 18 w 61"/>
                <a:gd name="T81" fmla="*/ 49 h 229"/>
                <a:gd name="T82" fmla="*/ 15 w 61"/>
                <a:gd name="T83" fmla="*/ 43 h 229"/>
                <a:gd name="T84" fmla="*/ 12 w 61"/>
                <a:gd name="T85" fmla="*/ 34 h 229"/>
                <a:gd name="T86" fmla="*/ 9 w 61"/>
                <a:gd name="T87" fmla="*/ 25 h 229"/>
                <a:gd name="T88" fmla="*/ 9 w 61"/>
                <a:gd name="T89" fmla="*/ 18 h 229"/>
                <a:gd name="T90" fmla="*/ 6 w 61"/>
                <a:gd name="T91" fmla="*/ 12 h 229"/>
                <a:gd name="T92" fmla="*/ 6 w 61"/>
                <a:gd name="T93" fmla="*/ 9 h 229"/>
                <a:gd name="T94" fmla="*/ 6 w 61"/>
                <a:gd name="T95" fmla="*/ 6 h 229"/>
                <a:gd name="T96" fmla="*/ 3 w 61"/>
                <a:gd name="T97" fmla="*/ 6 h 229"/>
                <a:gd name="T98" fmla="*/ 3 w 61"/>
                <a:gd name="T99" fmla="*/ 3 h 229"/>
                <a:gd name="T100" fmla="*/ 3 w 61"/>
                <a:gd name="T101" fmla="*/ 3 h 229"/>
                <a:gd name="T102" fmla="*/ 0 w 61"/>
                <a:gd name="T103" fmla="*/ 0 h 229"/>
                <a:gd name="T104" fmla="*/ 0 w 61"/>
                <a:gd name="T105" fmla="*/ 6 h 229"/>
                <a:gd name="T106" fmla="*/ 0 w 61"/>
                <a:gd name="T107" fmla="*/ 6 h 2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1"/>
                <a:gd name="T163" fmla="*/ 0 h 229"/>
                <a:gd name="T164" fmla="*/ 61 w 61"/>
                <a:gd name="T165" fmla="*/ 229 h 2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1" h="229">
                  <a:moveTo>
                    <a:pt x="0" y="6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3" y="18"/>
                  </a:lnTo>
                  <a:lnTo>
                    <a:pt x="6" y="25"/>
                  </a:lnTo>
                  <a:lnTo>
                    <a:pt x="6" y="34"/>
                  </a:lnTo>
                  <a:lnTo>
                    <a:pt x="9" y="43"/>
                  </a:lnTo>
                  <a:lnTo>
                    <a:pt x="12" y="52"/>
                  </a:lnTo>
                  <a:lnTo>
                    <a:pt x="15" y="62"/>
                  </a:lnTo>
                  <a:lnTo>
                    <a:pt x="18" y="71"/>
                  </a:lnTo>
                  <a:lnTo>
                    <a:pt x="21" y="80"/>
                  </a:lnTo>
                  <a:lnTo>
                    <a:pt x="24" y="89"/>
                  </a:lnTo>
                  <a:lnTo>
                    <a:pt x="27" y="96"/>
                  </a:lnTo>
                  <a:lnTo>
                    <a:pt x="31" y="105"/>
                  </a:lnTo>
                  <a:lnTo>
                    <a:pt x="34" y="111"/>
                  </a:lnTo>
                  <a:lnTo>
                    <a:pt x="37" y="114"/>
                  </a:lnTo>
                  <a:lnTo>
                    <a:pt x="40" y="127"/>
                  </a:lnTo>
                  <a:lnTo>
                    <a:pt x="46" y="142"/>
                  </a:lnTo>
                  <a:lnTo>
                    <a:pt x="49" y="161"/>
                  </a:lnTo>
                  <a:lnTo>
                    <a:pt x="55" y="179"/>
                  </a:lnTo>
                  <a:lnTo>
                    <a:pt x="58" y="198"/>
                  </a:lnTo>
                  <a:lnTo>
                    <a:pt x="61" y="213"/>
                  </a:lnTo>
                  <a:lnTo>
                    <a:pt x="61" y="222"/>
                  </a:lnTo>
                  <a:lnTo>
                    <a:pt x="61" y="229"/>
                  </a:lnTo>
                  <a:lnTo>
                    <a:pt x="61" y="225"/>
                  </a:lnTo>
                  <a:lnTo>
                    <a:pt x="61" y="216"/>
                  </a:lnTo>
                  <a:lnTo>
                    <a:pt x="61" y="201"/>
                  </a:lnTo>
                  <a:lnTo>
                    <a:pt x="58" y="182"/>
                  </a:lnTo>
                  <a:lnTo>
                    <a:pt x="55" y="164"/>
                  </a:lnTo>
                  <a:lnTo>
                    <a:pt x="52" y="142"/>
                  </a:lnTo>
                  <a:lnTo>
                    <a:pt x="46" y="127"/>
                  </a:lnTo>
                  <a:lnTo>
                    <a:pt x="40" y="114"/>
                  </a:lnTo>
                  <a:lnTo>
                    <a:pt x="37" y="108"/>
                  </a:lnTo>
                  <a:lnTo>
                    <a:pt x="37" y="102"/>
                  </a:lnTo>
                  <a:lnTo>
                    <a:pt x="34" y="96"/>
                  </a:lnTo>
                  <a:lnTo>
                    <a:pt x="31" y="86"/>
                  </a:lnTo>
                  <a:lnTo>
                    <a:pt x="27" y="77"/>
                  </a:lnTo>
                  <a:lnTo>
                    <a:pt x="24" y="68"/>
                  </a:lnTo>
                  <a:lnTo>
                    <a:pt x="21" y="59"/>
                  </a:lnTo>
                  <a:lnTo>
                    <a:pt x="18" y="49"/>
                  </a:lnTo>
                  <a:lnTo>
                    <a:pt x="15" y="43"/>
                  </a:lnTo>
                  <a:lnTo>
                    <a:pt x="12" y="34"/>
                  </a:lnTo>
                  <a:lnTo>
                    <a:pt x="9" y="25"/>
                  </a:lnTo>
                  <a:lnTo>
                    <a:pt x="9" y="18"/>
                  </a:lnTo>
                  <a:lnTo>
                    <a:pt x="6" y="12"/>
                  </a:lnTo>
                  <a:lnTo>
                    <a:pt x="6" y="9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1" name="Freeform 445"/>
            <p:cNvSpPr>
              <a:spLocks/>
            </p:cNvSpPr>
            <p:nvPr/>
          </p:nvSpPr>
          <p:spPr bwMode="auto">
            <a:xfrm>
              <a:off x="3654" y="3159"/>
              <a:ext cx="64" cy="229"/>
            </a:xfrm>
            <a:custGeom>
              <a:avLst/>
              <a:gdLst>
                <a:gd name="T0" fmla="*/ 0 w 64"/>
                <a:gd name="T1" fmla="*/ 3 h 229"/>
                <a:gd name="T2" fmla="*/ 3 w 64"/>
                <a:gd name="T3" fmla="*/ 3 h 229"/>
                <a:gd name="T4" fmla="*/ 3 w 64"/>
                <a:gd name="T5" fmla="*/ 6 h 229"/>
                <a:gd name="T6" fmla="*/ 3 w 64"/>
                <a:gd name="T7" fmla="*/ 12 h 229"/>
                <a:gd name="T8" fmla="*/ 6 w 64"/>
                <a:gd name="T9" fmla="*/ 19 h 229"/>
                <a:gd name="T10" fmla="*/ 6 w 64"/>
                <a:gd name="T11" fmla="*/ 25 h 229"/>
                <a:gd name="T12" fmla="*/ 9 w 64"/>
                <a:gd name="T13" fmla="*/ 31 h 229"/>
                <a:gd name="T14" fmla="*/ 12 w 64"/>
                <a:gd name="T15" fmla="*/ 40 h 229"/>
                <a:gd name="T16" fmla="*/ 15 w 64"/>
                <a:gd name="T17" fmla="*/ 49 h 229"/>
                <a:gd name="T18" fmla="*/ 18 w 64"/>
                <a:gd name="T19" fmla="*/ 59 h 229"/>
                <a:gd name="T20" fmla="*/ 21 w 64"/>
                <a:gd name="T21" fmla="*/ 68 h 229"/>
                <a:gd name="T22" fmla="*/ 24 w 64"/>
                <a:gd name="T23" fmla="*/ 77 h 229"/>
                <a:gd name="T24" fmla="*/ 27 w 64"/>
                <a:gd name="T25" fmla="*/ 87 h 229"/>
                <a:gd name="T26" fmla="*/ 30 w 64"/>
                <a:gd name="T27" fmla="*/ 96 h 229"/>
                <a:gd name="T28" fmla="*/ 34 w 64"/>
                <a:gd name="T29" fmla="*/ 102 h 229"/>
                <a:gd name="T30" fmla="*/ 37 w 64"/>
                <a:gd name="T31" fmla="*/ 108 h 229"/>
                <a:gd name="T32" fmla="*/ 40 w 64"/>
                <a:gd name="T33" fmla="*/ 114 h 229"/>
                <a:gd name="T34" fmla="*/ 43 w 64"/>
                <a:gd name="T35" fmla="*/ 127 h 229"/>
                <a:gd name="T36" fmla="*/ 49 w 64"/>
                <a:gd name="T37" fmla="*/ 142 h 229"/>
                <a:gd name="T38" fmla="*/ 52 w 64"/>
                <a:gd name="T39" fmla="*/ 158 h 229"/>
                <a:gd name="T40" fmla="*/ 58 w 64"/>
                <a:gd name="T41" fmla="*/ 176 h 229"/>
                <a:gd name="T42" fmla="*/ 61 w 64"/>
                <a:gd name="T43" fmla="*/ 195 h 229"/>
                <a:gd name="T44" fmla="*/ 61 w 64"/>
                <a:gd name="T45" fmla="*/ 210 h 229"/>
                <a:gd name="T46" fmla="*/ 64 w 64"/>
                <a:gd name="T47" fmla="*/ 222 h 229"/>
                <a:gd name="T48" fmla="*/ 64 w 64"/>
                <a:gd name="T49" fmla="*/ 229 h 229"/>
                <a:gd name="T50" fmla="*/ 64 w 64"/>
                <a:gd name="T51" fmla="*/ 226 h 229"/>
                <a:gd name="T52" fmla="*/ 64 w 64"/>
                <a:gd name="T53" fmla="*/ 213 h 229"/>
                <a:gd name="T54" fmla="*/ 61 w 64"/>
                <a:gd name="T55" fmla="*/ 198 h 229"/>
                <a:gd name="T56" fmla="*/ 61 w 64"/>
                <a:gd name="T57" fmla="*/ 179 h 229"/>
                <a:gd name="T58" fmla="*/ 58 w 64"/>
                <a:gd name="T59" fmla="*/ 158 h 229"/>
                <a:gd name="T60" fmla="*/ 52 w 64"/>
                <a:gd name="T61" fmla="*/ 139 h 229"/>
                <a:gd name="T62" fmla="*/ 49 w 64"/>
                <a:gd name="T63" fmla="*/ 124 h 229"/>
                <a:gd name="T64" fmla="*/ 43 w 64"/>
                <a:gd name="T65" fmla="*/ 111 h 229"/>
                <a:gd name="T66" fmla="*/ 40 w 64"/>
                <a:gd name="T67" fmla="*/ 108 h 229"/>
                <a:gd name="T68" fmla="*/ 37 w 64"/>
                <a:gd name="T69" fmla="*/ 102 h 229"/>
                <a:gd name="T70" fmla="*/ 34 w 64"/>
                <a:gd name="T71" fmla="*/ 93 h 229"/>
                <a:gd name="T72" fmla="*/ 30 w 64"/>
                <a:gd name="T73" fmla="*/ 87 h 229"/>
                <a:gd name="T74" fmla="*/ 27 w 64"/>
                <a:gd name="T75" fmla="*/ 77 h 229"/>
                <a:gd name="T76" fmla="*/ 24 w 64"/>
                <a:gd name="T77" fmla="*/ 68 h 229"/>
                <a:gd name="T78" fmla="*/ 21 w 64"/>
                <a:gd name="T79" fmla="*/ 59 h 229"/>
                <a:gd name="T80" fmla="*/ 21 w 64"/>
                <a:gd name="T81" fmla="*/ 49 h 229"/>
                <a:gd name="T82" fmla="*/ 18 w 64"/>
                <a:gd name="T83" fmla="*/ 40 h 229"/>
                <a:gd name="T84" fmla="*/ 15 w 64"/>
                <a:gd name="T85" fmla="*/ 31 h 229"/>
                <a:gd name="T86" fmla="*/ 12 w 64"/>
                <a:gd name="T87" fmla="*/ 25 h 229"/>
                <a:gd name="T88" fmla="*/ 12 w 64"/>
                <a:gd name="T89" fmla="*/ 19 h 229"/>
                <a:gd name="T90" fmla="*/ 9 w 64"/>
                <a:gd name="T91" fmla="*/ 12 h 229"/>
                <a:gd name="T92" fmla="*/ 9 w 64"/>
                <a:gd name="T93" fmla="*/ 9 h 229"/>
                <a:gd name="T94" fmla="*/ 6 w 64"/>
                <a:gd name="T95" fmla="*/ 6 h 229"/>
                <a:gd name="T96" fmla="*/ 6 w 64"/>
                <a:gd name="T97" fmla="*/ 3 h 229"/>
                <a:gd name="T98" fmla="*/ 6 w 64"/>
                <a:gd name="T99" fmla="*/ 3 h 229"/>
                <a:gd name="T100" fmla="*/ 6 w 64"/>
                <a:gd name="T101" fmla="*/ 0 h 229"/>
                <a:gd name="T102" fmla="*/ 3 w 64"/>
                <a:gd name="T103" fmla="*/ 0 h 229"/>
                <a:gd name="T104" fmla="*/ 0 w 64"/>
                <a:gd name="T105" fmla="*/ 3 h 229"/>
                <a:gd name="T106" fmla="*/ 0 w 64"/>
                <a:gd name="T107" fmla="*/ 3 h 2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4"/>
                <a:gd name="T163" fmla="*/ 0 h 229"/>
                <a:gd name="T164" fmla="*/ 64 w 64"/>
                <a:gd name="T165" fmla="*/ 229 h 2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4" h="229">
                  <a:moveTo>
                    <a:pt x="0" y="3"/>
                  </a:moveTo>
                  <a:lnTo>
                    <a:pt x="3" y="3"/>
                  </a:lnTo>
                  <a:lnTo>
                    <a:pt x="3" y="6"/>
                  </a:lnTo>
                  <a:lnTo>
                    <a:pt x="3" y="12"/>
                  </a:lnTo>
                  <a:lnTo>
                    <a:pt x="6" y="19"/>
                  </a:lnTo>
                  <a:lnTo>
                    <a:pt x="6" y="25"/>
                  </a:lnTo>
                  <a:lnTo>
                    <a:pt x="9" y="31"/>
                  </a:lnTo>
                  <a:lnTo>
                    <a:pt x="12" y="40"/>
                  </a:lnTo>
                  <a:lnTo>
                    <a:pt x="15" y="49"/>
                  </a:lnTo>
                  <a:lnTo>
                    <a:pt x="18" y="59"/>
                  </a:lnTo>
                  <a:lnTo>
                    <a:pt x="21" y="68"/>
                  </a:lnTo>
                  <a:lnTo>
                    <a:pt x="24" y="77"/>
                  </a:lnTo>
                  <a:lnTo>
                    <a:pt x="27" y="87"/>
                  </a:lnTo>
                  <a:lnTo>
                    <a:pt x="30" y="96"/>
                  </a:lnTo>
                  <a:lnTo>
                    <a:pt x="34" y="102"/>
                  </a:lnTo>
                  <a:lnTo>
                    <a:pt x="37" y="108"/>
                  </a:lnTo>
                  <a:lnTo>
                    <a:pt x="40" y="114"/>
                  </a:lnTo>
                  <a:lnTo>
                    <a:pt x="43" y="127"/>
                  </a:lnTo>
                  <a:lnTo>
                    <a:pt x="49" y="142"/>
                  </a:lnTo>
                  <a:lnTo>
                    <a:pt x="52" y="158"/>
                  </a:lnTo>
                  <a:lnTo>
                    <a:pt x="58" y="176"/>
                  </a:lnTo>
                  <a:lnTo>
                    <a:pt x="61" y="195"/>
                  </a:lnTo>
                  <a:lnTo>
                    <a:pt x="61" y="210"/>
                  </a:lnTo>
                  <a:lnTo>
                    <a:pt x="64" y="222"/>
                  </a:lnTo>
                  <a:lnTo>
                    <a:pt x="64" y="229"/>
                  </a:lnTo>
                  <a:lnTo>
                    <a:pt x="64" y="226"/>
                  </a:lnTo>
                  <a:lnTo>
                    <a:pt x="64" y="213"/>
                  </a:lnTo>
                  <a:lnTo>
                    <a:pt x="61" y="198"/>
                  </a:lnTo>
                  <a:lnTo>
                    <a:pt x="61" y="179"/>
                  </a:lnTo>
                  <a:lnTo>
                    <a:pt x="58" y="158"/>
                  </a:lnTo>
                  <a:lnTo>
                    <a:pt x="52" y="139"/>
                  </a:lnTo>
                  <a:lnTo>
                    <a:pt x="49" y="124"/>
                  </a:lnTo>
                  <a:lnTo>
                    <a:pt x="43" y="111"/>
                  </a:lnTo>
                  <a:lnTo>
                    <a:pt x="40" y="108"/>
                  </a:lnTo>
                  <a:lnTo>
                    <a:pt x="37" y="102"/>
                  </a:lnTo>
                  <a:lnTo>
                    <a:pt x="34" y="93"/>
                  </a:lnTo>
                  <a:lnTo>
                    <a:pt x="30" y="87"/>
                  </a:lnTo>
                  <a:lnTo>
                    <a:pt x="27" y="77"/>
                  </a:lnTo>
                  <a:lnTo>
                    <a:pt x="24" y="68"/>
                  </a:lnTo>
                  <a:lnTo>
                    <a:pt x="21" y="59"/>
                  </a:lnTo>
                  <a:lnTo>
                    <a:pt x="21" y="49"/>
                  </a:lnTo>
                  <a:lnTo>
                    <a:pt x="18" y="40"/>
                  </a:lnTo>
                  <a:lnTo>
                    <a:pt x="15" y="31"/>
                  </a:lnTo>
                  <a:lnTo>
                    <a:pt x="12" y="25"/>
                  </a:lnTo>
                  <a:lnTo>
                    <a:pt x="12" y="19"/>
                  </a:lnTo>
                  <a:lnTo>
                    <a:pt x="9" y="12"/>
                  </a:lnTo>
                  <a:lnTo>
                    <a:pt x="9" y="9"/>
                  </a:lnTo>
                  <a:lnTo>
                    <a:pt x="6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2" name="Freeform 446"/>
            <p:cNvSpPr>
              <a:spLocks/>
            </p:cNvSpPr>
            <p:nvPr/>
          </p:nvSpPr>
          <p:spPr bwMode="auto">
            <a:xfrm>
              <a:off x="3539" y="3162"/>
              <a:ext cx="68" cy="136"/>
            </a:xfrm>
            <a:custGeom>
              <a:avLst/>
              <a:gdLst>
                <a:gd name="T0" fmla="*/ 53 w 68"/>
                <a:gd name="T1" fmla="*/ 0 h 136"/>
                <a:gd name="T2" fmla="*/ 53 w 68"/>
                <a:gd name="T3" fmla="*/ 9 h 136"/>
                <a:gd name="T4" fmla="*/ 53 w 68"/>
                <a:gd name="T5" fmla="*/ 22 h 136"/>
                <a:gd name="T6" fmla="*/ 53 w 68"/>
                <a:gd name="T7" fmla="*/ 40 h 136"/>
                <a:gd name="T8" fmla="*/ 47 w 68"/>
                <a:gd name="T9" fmla="*/ 62 h 136"/>
                <a:gd name="T10" fmla="*/ 40 w 68"/>
                <a:gd name="T11" fmla="*/ 84 h 136"/>
                <a:gd name="T12" fmla="*/ 28 w 68"/>
                <a:gd name="T13" fmla="*/ 108 h 136"/>
                <a:gd name="T14" fmla="*/ 13 w 68"/>
                <a:gd name="T15" fmla="*/ 127 h 136"/>
                <a:gd name="T16" fmla="*/ 0 w 68"/>
                <a:gd name="T17" fmla="*/ 136 h 136"/>
                <a:gd name="T18" fmla="*/ 3 w 68"/>
                <a:gd name="T19" fmla="*/ 136 h 136"/>
                <a:gd name="T20" fmla="*/ 13 w 68"/>
                <a:gd name="T21" fmla="*/ 136 h 136"/>
                <a:gd name="T22" fmla="*/ 19 w 68"/>
                <a:gd name="T23" fmla="*/ 133 h 136"/>
                <a:gd name="T24" fmla="*/ 31 w 68"/>
                <a:gd name="T25" fmla="*/ 133 h 136"/>
                <a:gd name="T26" fmla="*/ 40 w 68"/>
                <a:gd name="T27" fmla="*/ 133 h 136"/>
                <a:gd name="T28" fmla="*/ 53 w 68"/>
                <a:gd name="T29" fmla="*/ 130 h 136"/>
                <a:gd name="T30" fmla="*/ 62 w 68"/>
                <a:gd name="T31" fmla="*/ 127 h 136"/>
                <a:gd name="T32" fmla="*/ 68 w 68"/>
                <a:gd name="T33" fmla="*/ 124 h 136"/>
                <a:gd name="T34" fmla="*/ 65 w 68"/>
                <a:gd name="T35" fmla="*/ 124 h 136"/>
                <a:gd name="T36" fmla="*/ 59 w 68"/>
                <a:gd name="T37" fmla="*/ 124 h 136"/>
                <a:gd name="T38" fmla="*/ 53 w 68"/>
                <a:gd name="T39" fmla="*/ 124 h 136"/>
                <a:gd name="T40" fmla="*/ 47 w 68"/>
                <a:gd name="T41" fmla="*/ 124 h 136"/>
                <a:gd name="T42" fmla="*/ 40 w 68"/>
                <a:gd name="T43" fmla="*/ 124 h 136"/>
                <a:gd name="T44" fmla="*/ 34 w 68"/>
                <a:gd name="T45" fmla="*/ 124 h 136"/>
                <a:gd name="T46" fmla="*/ 28 w 68"/>
                <a:gd name="T47" fmla="*/ 124 h 136"/>
                <a:gd name="T48" fmla="*/ 25 w 68"/>
                <a:gd name="T49" fmla="*/ 124 h 136"/>
                <a:gd name="T50" fmla="*/ 28 w 68"/>
                <a:gd name="T51" fmla="*/ 124 h 136"/>
                <a:gd name="T52" fmla="*/ 31 w 68"/>
                <a:gd name="T53" fmla="*/ 118 h 136"/>
                <a:gd name="T54" fmla="*/ 37 w 68"/>
                <a:gd name="T55" fmla="*/ 108 h 136"/>
                <a:gd name="T56" fmla="*/ 44 w 68"/>
                <a:gd name="T57" fmla="*/ 93 h 136"/>
                <a:gd name="T58" fmla="*/ 50 w 68"/>
                <a:gd name="T59" fmla="*/ 74 h 136"/>
                <a:gd name="T60" fmla="*/ 56 w 68"/>
                <a:gd name="T61" fmla="*/ 50 h 136"/>
                <a:gd name="T62" fmla="*/ 56 w 68"/>
                <a:gd name="T63" fmla="*/ 19 h 136"/>
                <a:gd name="T64" fmla="*/ 53 w 68"/>
                <a:gd name="T65" fmla="*/ 0 h 1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"/>
                <a:gd name="T100" fmla="*/ 0 h 136"/>
                <a:gd name="T101" fmla="*/ 68 w 68"/>
                <a:gd name="T102" fmla="*/ 136 h 1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" h="136">
                  <a:moveTo>
                    <a:pt x="53" y="0"/>
                  </a:moveTo>
                  <a:lnTo>
                    <a:pt x="53" y="0"/>
                  </a:lnTo>
                  <a:lnTo>
                    <a:pt x="53" y="3"/>
                  </a:lnTo>
                  <a:lnTo>
                    <a:pt x="53" y="9"/>
                  </a:lnTo>
                  <a:lnTo>
                    <a:pt x="53" y="16"/>
                  </a:lnTo>
                  <a:lnTo>
                    <a:pt x="53" y="22"/>
                  </a:lnTo>
                  <a:lnTo>
                    <a:pt x="53" y="31"/>
                  </a:lnTo>
                  <a:lnTo>
                    <a:pt x="53" y="40"/>
                  </a:lnTo>
                  <a:lnTo>
                    <a:pt x="50" y="53"/>
                  </a:lnTo>
                  <a:lnTo>
                    <a:pt x="47" y="62"/>
                  </a:lnTo>
                  <a:lnTo>
                    <a:pt x="44" y="74"/>
                  </a:lnTo>
                  <a:lnTo>
                    <a:pt x="40" y="84"/>
                  </a:lnTo>
                  <a:lnTo>
                    <a:pt x="34" y="96"/>
                  </a:lnTo>
                  <a:lnTo>
                    <a:pt x="28" y="108"/>
                  </a:lnTo>
                  <a:lnTo>
                    <a:pt x="22" y="118"/>
                  </a:lnTo>
                  <a:lnTo>
                    <a:pt x="13" y="127"/>
                  </a:lnTo>
                  <a:lnTo>
                    <a:pt x="0" y="136"/>
                  </a:lnTo>
                  <a:lnTo>
                    <a:pt x="3" y="136"/>
                  </a:lnTo>
                  <a:lnTo>
                    <a:pt x="6" y="136"/>
                  </a:lnTo>
                  <a:lnTo>
                    <a:pt x="13" y="136"/>
                  </a:lnTo>
                  <a:lnTo>
                    <a:pt x="16" y="136"/>
                  </a:lnTo>
                  <a:lnTo>
                    <a:pt x="19" y="133"/>
                  </a:lnTo>
                  <a:lnTo>
                    <a:pt x="25" y="133"/>
                  </a:lnTo>
                  <a:lnTo>
                    <a:pt x="31" y="133"/>
                  </a:lnTo>
                  <a:lnTo>
                    <a:pt x="34" y="133"/>
                  </a:lnTo>
                  <a:lnTo>
                    <a:pt x="40" y="133"/>
                  </a:lnTo>
                  <a:lnTo>
                    <a:pt x="47" y="130"/>
                  </a:lnTo>
                  <a:lnTo>
                    <a:pt x="53" y="130"/>
                  </a:lnTo>
                  <a:lnTo>
                    <a:pt x="56" y="127"/>
                  </a:lnTo>
                  <a:lnTo>
                    <a:pt x="62" y="127"/>
                  </a:lnTo>
                  <a:lnTo>
                    <a:pt x="68" y="124"/>
                  </a:lnTo>
                  <a:lnTo>
                    <a:pt x="65" y="124"/>
                  </a:lnTo>
                  <a:lnTo>
                    <a:pt x="62" y="124"/>
                  </a:lnTo>
                  <a:lnTo>
                    <a:pt x="59" y="124"/>
                  </a:lnTo>
                  <a:lnTo>
                    <a:pt x="56" y="124"/>
                  </a:lnTo>
                  <a:lnTo>
                    <a:pt x="53" y="124"/>
                  </a:lnTo>
                  <a:lnTo>
                    <a:pt x="50" y="124"/>
                  </a:lnTo>
                  <a:lnTo>
                    <a:pt x="47" y="124"/>
                  </a:lnTo>
                  <a:lnTo>
                    <a:pt x="44" y="124"/>
                  </a:lnTo>
                  <a:lnTo>
                    <a:pt x="40" y="124"/>
                  </a:lnTo>
                  <a:lnTo>
                    <a:pt x="37" y="124"/>
                  </a:lnTo>
                  <a:lnTo>
                    <a:pt x="34" y="124"/>
                  </a:lnTo>
                  <a:lnTo>
                    <a:pt x="31" y="124"/>
                  </a:lnTo>
                  <a:lnTo>
                    <a:pt x="28" y="124"/>
                  </a:lnTo>
                  <a:lnTo>
                    <a:pt x="25" y="124"/>
                  </a:lnTo>
                  <a:lnTo>
                    <a:pt x="28" y="124"/>
                  </a:lnTo>
                  <a:lnTo>
                    <a:pt x="28" y="121"/>
                  </a:lnTo>
                  <a:lnTo>
                    <a:pt x="31" y="118"/>
                  </a:lnTo>
                  <a:lnTo>
                    <a:pt x="34" y="111"/>
                  </a:lnTo>
                  <a:lnTo>
                    <a:pt x="37" y="108"/>
                  </a:lnTo>
                  <a:lnTo>
                    <a:pt x="40" y="102"/>
                  </a:lnTo>
                  <a:lnTo>
                    <a:pt x="44" y="93"/>
                  </a:lnTo>
                  <a:lnTo>
                    <a:pt x="47" y="84"/>
                  </a:lnTo>
                  <a:lnTo>
                    <a:pt x="50" y="74"/>
                  </a:lnTo>
                  <a:lnTo>
                    <a:pt x="53" y="62"/>
                  </a:lnTo>
                  <a:lnTo>
                    <a:pt x="56" y="50"/>
                  </a:lnTo>
                  <a:lnTo>
                    <a:pt x="56" y="34"/>
                  </a:lnTo>
                  <a:lnTo>
                    <a:pt x="56" y="19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3" name="Freeform 447"/>
            <p:cNvSpPr>
              <a:spLocks/>
            </p:cNvSpPr>
            <p:nvPr/>
          </p:nvSpPr>
          <p:spPr bwMode="auto">
            <a:xfrm>
              <a:off x="3567" y="3208"/>
              <a:ext cx="53" cy="84"/>
            </a:xfrm>
            <a:custGeom>
              <a:avLst/>
              <a:gdLst>
                <a:gd name="T0" fmla="*/ 53 w 53"/>
                <a:gd name="T1" fmla="*/ 75 h 84"/>
                <a:gd name="T2" fmla="*/ 53 w 53"/>
                <a:gd name="T3" fmla="*/ 75 h 84"/>
                <a:gd name="T4" fmla="*/ 50 w 53"/>
                <a:gd name="T5" fmla="*/ 75 h 84"/>
                <a:gd name="T6" fmla="*/ 50 w 53"/>
                <a:gd name="T7" fmla="*/ 75 h 84"/>
                <a:gd name="T8" fmla="*/ 46 w 53"/>
                <a:gd name="T9" fmla="*/ 78 h 84"/>
                <a:gd name="T10" fmla="*/ 43 w 53"/>
                <a:gd name="T11" fmla="*/ 78 h 84"/>
                <a:gd name="T12" fmla="*/ 40 w 53"/>
                <a:gd name="T13" fmla="*/ 78 h 84"/>
                <a:gd name="T14" fmla="*/ 37 w 53"/>
                <a:gd name="T15" fmla="*/ 81 h 84"/>
                <a:gd name="T16" fmla="*/ 34 w 53"/>
                <a:gd name="T17" fmla="*/ 81 h 84"/>
                <a:gd name="T18" fmla="*/ 31 w 53"/>
                <a:gd name="T19" fmla="*/ 81 h 84"/>
                <a:gd name="T20" fmla="*/ 25 w 53"/>
                <a:gd name="T21" fmla="*/ 84 h 84"/>
                <a:gd name="T22" fmla="*/ 22 w 53"/>
                <a:gd name="T23" fmla="*/ 84 h 84"/>
                <a:gd name="T24" fmla="*/ 19 w 53"/>
                <a:gd name="T25" fmla="*/ 84 h 84"/>
                <a:gd name="T26" fmla="*/ 12 w 53"/>
                <a:gd name="T27" fmla="*/ 84 h 84"/>
                <a:gd name="T28" fmla="*/ 9 w 53"/>
                <a:gd name="T29" fmla="*/ 84 h 84"/>
                <a:gd name="T30" fmla="*/ 6 w 53"/>
                <a:gd name="T31" fmla="*/ 84 h 84"/>
                <a:gd name="T32" fmla="*/ 0 w 53"/>
                <a:gd name="T33" fmla="*/ 84 h 84"/>
                <a:gd name="T34" fmla="*/ 0 w 53"/>
                <a:gd name="T35" fmla="*/ 81 h 84"/>
                <a:gd name="T36" fmla="*/ 0 w 53"/>
                <a:gd name="T37" fmla="*/ 81 h 84"/>
                <a:gd name="T38" fmla="*/ 0 w 53"/>
                <a:gd name="T39" fmla="*/ 81 h 84"/>
                <a:gd name="T40" fmla="*/ 3 w 53"/>
                <a:gd name="T41" fmla="*/ 81 h 84"/>
                <a:gd name="T42" fmla="*/ 3 w 53"/>
                <a:gd name="T43" fmla="*/ 78 h 84"/>
                <a:gd name="T44" fmla="*/ 9 w 53"/>
                <a:gd name="T45" fmla="*/ 78 h 84"/>
                <a:gd name="T46" fmla="*/ 12 w 53"/>
                <a:gd name="T47" fmla="*/ 75 h 84"/>
                <a:gd name="T48" fmla="*/ 16 w 53"/>
                <a:gd name="T49" fmla="*/ 75 h 84"/>
                <a:gd name="T50" fmla="*/ 19 w 53"/>
                <a:gd name="T51" fmla="*/ 72 h 84"/>
                <a:gd name="T52" fmla="*/ 25 w 53"/>
                <a:gd name="T53" fmla="*/ 68 h 84"/>
                <a:gd name="T54" fmla="*/ 28 w 53"/>
                <a:gd name="T55" fmla="*/ 65 h 84"/>
                <a:gd name="T56" fmla="*/ 31 w 53"/>
                <a:gd name="T57" fmla="*/ 62 h 84"/>
                <a:gd name="T58" fmla="*/ 34 w 53"/>
                <a:gd name="T59" fmla="*/ 59 h 84"/>
                <a:gd name="T60" fmla="*/ 34 w 53"/>
                <a:gd name="T61" fmla="*/ 53 h 84"/>
                <a:gd name="T62" fmla="*/ 37 w 53"/>
                <a:gd name="T63" fmla="*/ 50 h 84"/>
                <a:gd name="T64" fmla="*/ 34 w 53"/>
                <a:gd name="T65" fmla="*/ 44 h 84"/>
                <a:gd name="T66" fmla="*/ 34 w 53"/>
                <a:gd name="T67" fmla="*/ 34 h 84"/>
                <a:gd name="T68" fmla="*/ 34 w 53"/>
                <a:gd name="T69" fmla="*/ 25 h 84"/>
                <a:gd name="T70" fmla="*/ 34 w 53"/>
                <a:gd name="T71" fmla="*/ 19 h 84"/>
                <a:gd name="T72" fmla="*/ 37 w 53"/>
                <a:gd name="T73" fmla="*/ 13 h 84"/>
                <a:gd name="T74" fmla="*/ 37 w 53"/>
                <a:gd name="T75" fmla="*/ 7 h 84"/>
                <a:gd name="T76" fmla="*/ 37 w 53"/>
                <a:gd name="T77" fmla="*/ 4 h 84"/>
                <a:gd name="T78" fmla="*/ 40 w 53"/>
                <a:gd name="T79" fmla="*/ 0 h 84"/>
                <a:gd name="T80" fmla="*/ 40 w 53"/>
                <a:gd name="T81" fmla="*/ 0 h 84"/>
                <a:gd name="T82" fmla="*/ 40 w 53"/>
                <a:gd name="T83" fmla="*/ 4 h 84"/>
                <a:gd name="T84" fmla="*/ 43 w 53"/>
                <a:gd name="T85" fmla="*/ 7 h 84"/>
                <a:gd name="T86" fmla="*/ 43 w 53"/>
                <a:gd name="T87" fmla="*/ 16 h 84"/>
                <a:gd name="T88" fmla="*/ 46 w 53"/>
                <a:gd name="T89" fmla="*/ 25 h 84"/>
                <a:gd name="T90" fmla="*/ 50 w 53"/>
                <a:gd name="T91" fmla="*/ 34 h 84"/>
                <a:gd name="T92" fmla="*/ 50 w 53"/>
                <a:gd name="T93" fmla="*/ 47 h 84"/>
                <a:gd name="T94" fmla="*/ 53 w 53"/>
                <a:gd name="T95" fmla="*/ 62 h 84"/>
                <a:gd name="T96" fmla="*/ 53 w 53"/>
                <a:gd name="T97" fmla="*/ 75 h 84"/>
                <a:gd name="T98" fmla="*/ 53 w 53"/>
                <a:gd name="T99" fmla="*/ 75 h 8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3"/>
                <a:gd name="T151" fmla="*/ 0 h 84"/>
                <a:gd name="T152" fmla="*/ 53 w 53"/>
                <a:gd name="T153" fmla="*/ 84 h 8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3" h="84">
                  <a:moveTo>
                    <a:pt x="53" y="75"/>
                  </a:moveTo>
                  <a:lnTo>
                    <a:pt x="53" y="75"/>
                  </a:lnTo>
                  <a:lnTo>
                    <a:pt x="50" y="75"/>
                  </a:lnTo>
                  <a:lnTo>
                    <a:pt x="46" y="78"/>
                  </a:lnTo>
                  <a:lnTo>
                    <a:pt x="43" y="78"/>
                  </a:lnTo>
                  <a:lnTo>
                    <a:pt x="40" y="78"/>
                  </a:lnTo>
                  <a:lnTo>
                    <a:pt x="37" y="81"/>
                  </a:lnTo>
                  <a:lnTo>
                    <a:pt x="34" y="81"/>
                  </a:lnTo>
                  <a:lnTo>
                    <a:pt x="31" y="81"/>
                  </a:lnTo>
                  <a:lnTo>
                    <a:pt x="25" y="84"/>
                  </a:lnTo>
                  <a:lnTo>
                    <a:pt x="22" y="84"/>
                  </a:lnTo>
                  <a:lnTo>
                    <a:pt x="19" y="84"/>
                  </a:lnTo>
                  <a:lnTo>
                    <a:pt x="12" y="84"/>
                  </a:lnTo>
                  <a:lnTo>
                    <a:pt x="9" y="84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81"/>
                  </a:lnTo>
                  <a:lnTo>
                    <a:pt x="3" y="81"/>
                  </a:lnTo>
                  <a:lnTo>
                    <a:pt x="3" y="78"/>
                  </a:lnTo>
                  <a:lnTo>
                    <a:pt x="9" y="78"/>
                  </a:lnTo>
                  <a:lnTo>
                    <a:pt x="12" y="75"/>
                  </a:lnTo>
                  <a:lnTo>
                    <a:pt x="16" y="75"/>
                  </a:lnTo>
                  <a:lnTo>
                    <a:pt x="19" y="72"/>
                  </a:lnTo>
                  <a:lnTo>
                    <a:pt x="25" y="68"/>
                  </a:lnTo>
                  <a:lnTo>
                    <a:pt x="28" y="65"/>
                  </a:lnTo>
                  <a:lnTo>
                    <a:pt x="31" y="62"/>
                  </a:lnTo>
                  <a:lnTo>
                    <a:pt x="34" y="59"/>
                  </a:lnTo>
                  <a:lnTo>
                    <a:pt x="34" y="53"/>
                  </a:lnTo>
                  <a:lnTo>
                    <a:pt x="37" y="50"/>
                  </a:lnTo>
                  <a:lnTo>
                    <a:pt x="34" y="44"/>
                  </a:lnTo>
                  <a:lnTo>
                    <a:pt x="34" y="34"/>
                  </a:lnTo>
                  <a:lnTo>
                    <a:pt x="34" y="25"/>
                  </a:lnTo>
                  <a:lnTo>
                    <a:pt x="34" y="19"/>
                  </a:lnTo>
                  <a:lnTo>
                    <a:pt x="37" y="13"/>
                  </a:lnTo>
                  <a:lnTo>
                    <a:pt x="37" y="7"/>
                  </a:lnTo>
                  <a:lnTo>
                    <a:pt x="37" y="4"/>
                  </a:lnTo>
                  <a:lnTo>
                    <a:pt x="40" y="0"/>
                  </a:lnTo>
                  <a:lnTo>
                    <a:pt x="40" y="4"/>
                  </a:lnTo>
                  <a:lnTo>
                    <a:pt x="43" y="7"/>
                  </a:lnTo>
                  <a:lnTo>
                    <a:pt x="43" y="16"/>
                  </a:lnTo>
                  <a:lnTo>
                    <a:pt x="46" y="25"/>
                  </a:lnTo>
                  <a:lnTo>
                    <a:pt x="50" y="34"/>
                  </a:lnTo>
                  <a:lnTo>
                    <a:pt x="50" y="47"/>
                  </a:lnTo>
                  <a:lnTo>
                    <a:pt x="53" y="62"/>
                  </a:lnTo>
                  <a:lnTo>
                    <a:pt x="53" y="75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4" name="Freeform 448"/>
            <p:cNvSpPr>
              <a:spLocks/>
            </p:cNvSpPr>
            <p:nvPr/>
          </p:nvSpPr>
          <p:spPr bwMode="auto">
            <a:xfrm>
              <a:off x="2449" y="2773"/>
              <a:ext cx="2403" cy="816"/>
            </a:xfrm>
            <a:custGeom>
              <a:avLst/>
              <a:gdLst>
                <a:gd name="T0" fmla="*/ 2403 w 778"/>
                <a:gd name="T1" fmla="*/ 0 h 264"/>
                <a:gd name="T2" fmla="*/ 0 w 778"/>
                <a:gd name="T3" fmla="*/ 495 h 264"/>
                <a:gd name="T4" fmla="*/ 0 60000 65536"/>
                <a:gd name="T5" fmla="*/ 0 60000 65536"/>
                <a:gd name="T6" fmla="*/ 0 w 778"/>
                <a:gd name="T7" fmla="*/ 0 h 264"/>
                <a:gd name="T8" fmla="*/ 778 w 778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8" h="264">
                  <a:moveTo>
                    <a:pt x="778" y="0"/>
                  </a:moveTo>
                  <a:cubicBezTo>
                    <a:pt x="462" y="264"/>
                    <a:pt x="0" y="160"/>
                    <a:pt x="0" y="160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5" name="Freeform 449"/>
            <p:cNvSpPr>
              <a:spLocks/>
            </p:cNvSpPr>
            <p:nvPr/>
          </p:nvSpPr>
          <p:spPr bwMode="auto">
            <a:xfrm>
              <a:off x="2368" y="3246"/>
              <a:ext cx="105" cy="52"/>
            </a:xfrm>
            <a:custGeom>
              <a:avLst/>
              <a:gdLst>
                <a:gd name="T0" fmla="*/ 105 w 105"/>
                <a:gd name="T1" fmla="*/ 0 h 52"/>
                <a:gd name="T2" fmla="*/ 0 w 105"/>
                <a:gd name="T3" fmla="*/ 3 h 52"/>
                <a:gd name="T4" fmla="*/ 93 w 105"/>
                <a:gd name="T5" fmla="*/ 52 h 52"/>
                <a:gd name="T6" fmla="*/ 105 w 105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52"/>
                <a:gd name="T14" fmla="*/ 105 w 105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52">
                  <a:moveTo>
                    <a:pt x="105" y="0"/>
                  </a:moveTo>
                  <a:lnTo>
                    <a:pt x="0" y="3"/>
                  </a:lnTo>
                  <a:lnTo>
                    <a:pt x="93" y="5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6" name="Freeform 450"/>
            <p:cNvSpPr>
              <a:spLocks/>
            </p:cNvSpPr>
            <p:nvPr/>
          </p:nvSpPr>
          <p:spPr bwMode="auto">
            <a:xfrm>
              <a:off x="3067" y="925"/>
              <a:ext cx="426" cy="167"/>
            </a:xfrm>
            <a:custGeom>
              <a:avLst/>
              <a:gdLst>
                <a:gd name="T0" fmla="*/ 0 w 138"/>
                <a:gd name="T1" fmla="*/ 0 h 54"/>
                <a:gd name="T2" fmla="*/ 426 w 138"/>
                <a:gd name="T3" fmla="*/ 167 h 54"/>
                <a:gd name="T4" fmla="*/ 0 60000 65536"/>
                <a:gd name="T5" fmla="*/ 0 60000 65536"/>
                <a:gd name="T6" fmla="*/ 0 w 138"/>
                <a:gd name="T7" fmla="*/ 0 h 54"/>
                <a:gd name="T8" fmla="*/ 138 w 138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54">
                  <a:moveTo>
                    <a:pt x="0" y="0"/>
                  </a:moveTo>
                  <a:cubicBezTo>
                    <a:pt x="82" y="12"/>
                    <a:pt x="138" y="54"/>
                    <a:pt x="138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7" name="Freeform 451"/>
            <p:cNvSpPr>
              <a:spLocks/>
            </p:cNvSpPr>
            <p:nvPr/>
          </p:nvSpPr>
          <p:spPr bwMode="auto">
            <a:xfrm>
              <a:off x="3462" y="1058"/>
              <a:ext cx="96" cy="83"/>
            </a:xfrm>
            <a:custGeom>
              <a:avLst/>
              <a:gdLst>
                <a:gd name="T0" fmla="*/ 0 w 96"/>
                <a:gd name="T1" fmla="*/ 43 h 83"/>
                <a:gd name="T2" fmla="*/ 96 w 96"/>
                <a:gd name="T3" fmla="*/ 83 h 83"/>
                <a:gd name="T4" fmla="*/ 34 w 96"/>
                <a:gd name="T5" fmla="*/ 0 h 83"/>
                <a:gd name="T6" fmla="*/ 0 w 96"/>
                <a:gd name="T7" fmla="*/ 43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83"/>
                <a:gd name="T14" fmla="*/ 96 w 96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83">
                  <a:moveTo>
                    <a:pt x="0" y="43"/>
                  </a:moveTo>
                  <a:lnTo>
                    <a:pt x="96" y="83"/>
                  </a:lnTo>
                  <a:lnTo>
                    <a:pt x="34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8" name="Freeform 452"/>
            <p:cNvSpPr>
              <a:spLocks/>
            </p:cNvSpPr>
            <p:nvPr/>
          </p:nvSpPr>
          <p:spPr bwMode="auto">
            <a:xfrm>
              <a:off x="3067" y="925"/>
              <a:ext cx="426" cy="167"/>
            </a:xfrm>
            <a:custGeom>
              <a:avLst/>
              <a:gdLst>
                <a:gd name="T0" fmla="*/ 0 w 138"/>
                <a:gd name="T1" fmla="*/ 0 h 54"/>
                <a:gd name="T2" fmla="*/ 426 w 138"/>
                <a:gd name="T3" fmla="*/ 167 h 54"/>
                <a:gd name="T4" fmla="*/ 0 60000 65536"/>
                <a:gd name="T5" fmla="*/ 0 60000 65536"/>
                <a:gd name="T6" fmla="*/ 0 w 138"/>
                <a:gd name="T7" fmla="*/ 0 h 54"/>
                <a:gd name="T8" fmla="*/ 138 w 138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54">
                  <a:moveTo>
                    <a:pt x="0" y="0"/>
                  </a:moveTo>
                  <a:cubicBezTo>
                    <a:pt x="82" y="12"/>
                    <a:pt x="138" y="54"/>
                    <a:pt x="138" y="54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49" name="Freeform 453"/>
            <p:cNvSpPr>
              <a:spLocks/>
            </p:cNvSpPr>
            <p:nvPr/>
          </p:nvSpPr>
          <p:spPr bwMode="auto">
            <a:xfrm>
              <a:off x="3462" y="1058"/>
              <a:ext cx="96" cy="83"/>
            </a:xfrm>
            <a:custGeom>
              <a:avLst/>
              <a:gdLst>
                <a:gd name="T0" fmla="*/ 0 w 96"/>
                <a:gd name="T1" fmla="*/ 43 h 83"/>
                <a:gd name="T2" fmla="*/ 96 w 96"/>
                <a:gd name="T3" fmla="*/ 83 h 83"/>
                <a:gd name="T4" fmla="*/ 34 w 96"/>
                <a:gd name="T5" fmla="*/ 0 h 83"/>
                <a:gd name="T6" fmla="*/ 0 w 96"/>
                <a:gd name="T7" fmla="*/ 43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83"/>
                <a:gd name="T14" fmla="*/ 96 w 96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83">
                  <a:moveTo>
                    <a:pt x="0" y="43"/>
                  </a:moveTo>
                  <a:lnTo>
                    <a:pt x="96" y="83"/>
                  </a:lnTo>
                  <a:lnTo>
                    <a:pt x="34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0" name="Freeform 454"/>
            <p:cNvSpPr>
              <a:spLocks/>
            </p:cNvSpPr>
            <p:nvPr/>
          </p:nvSpPr>
          <p:spPr bwMode="auto">
            <a:xfrm>
              <a:off x="2443" y="1926"/>
              <a:ext cx="1866" cy="284"/>
            </a:xfrm>
            <a:custGeom>
              <a:avLst/>
              <a:gdLst>
                <a:gd name="T0" fmla="*/ 1866 w 604"/>
                <a:gd name="T1" fmla="*/ 0 h 92"/>
                <a:gd name="T2" fmla="*/ 0 w 604"/>
                <a:gd name="T3" fmla="*/ 284 h 92"/>
                <a:gd name="T4" fmla="*/ 0 60000 65536"/>
                <a:gd name="T5" fmla="*/ 0 60000 65536"/>
                <a:gd name="T6" fmla="*/ 0 w 604"/>
                <a:gd name="T7" fmla="*/ 0 h 92"/>
                <a:gd name="T8" fmla="*/ 604 w 604"/>
                <a:gd name="T9" fmla="*/ 92 h 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04" h="92">
                  <a:moveTo>
                    <a:pt x="604" y="0"/>
                  </a:moveTo>
                  <a:cubicBezTo>
                    <a:pt x="392" y="68"/>
                    <a:pt x="0" y="92"/>
                    <a:pt x="0" y="92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1" name="Freeform 455"/>
            <p:cNvSpPr>
              <a:spLocks/>
            </p:cNvSpPr>
            <p:nvPr/>
          </p:nvSpPr>
          <p:spPr bwMode="auto">
            <a:xfrm>
              <a:off x="2359" y="2183"/>
              <a:ext cx="102" cy="52"/>
            </a:xfrm>
            <a:custGeom>
              <a:avLst/>
              <a:gdLst>
                <a:gd name="T0" fmla="*/ 99 w 102"/>
                <a:gd name="T1" fmla="*/ 0 h 52"/>
                <a:gd name="T2" fmla="*/ 0 w 102"/>
                <a:gd name="T3" fmla="*/ 34 h 52"/>
                <a:gd name="T4" fmla="*/ 102 w 102"/>
                <a:gd name="T5" fmla="*/ 52 h 52"/>
                <a:gd name="T6" fmla="*/ 99 w 102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2"/>
                <a:gd name="T14" fmla="*/ 102 w 102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2">
                  <a:moveTo>
                    <a:pt x="99" y="0"/>
                  </a:moveTo>
                  <a:lnTo>
                    <a:pt x="0" y="34"/>
                  </a:lnTo>
                  <a:lnTo>
                    <a:pt x="102" y="52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2" name="Freeform 456"/>
            <p:cNvSpPr>
              <a:spLocks/>
            </p:cNvSpPr>
            <p:nvPr/>
          </p:nvSpPr>
          <p:spPr bwMode="auto">
            <a:xfrm>
              <a:off x="1506" y="1957"/>
              <a:ext cx="279" cy="247"/>
            </a:xfrm>
            <a:custGeom>
              <a:avLst/>
              <a:gdLst>
                <a:gd name="T0" fmla="*/ 173 w 279"/>
                <a:gd name="T1" fmla="*/ 9 h 247"/>
                <a:gd name="T2" fmla="*/ 192 w 279"/>
                <a:gd name="T3" fmla="*/ 6 h 247"/>
                <a:gd name="T4" fmla="*/ 211 w 279"/>
                <a:gd name="T5" fmla="*/ 3 h 247"/>
                <a:gd name="T6" fmla="*/ 232 w 279"/>
                <a:gd name="T7" fmla="*/ 0 h 247"/>
                <a:gd name="T8" fmla="*/ 248 w 279"/>
                <a:gd name="T9" fmla="*/ 0 h 247"/>
                <a:gd name="T10" fmla="*/ 254 w 279"/>
                <a:gd name="T11" fmla="*/ 3 h 247"/>
                <a:gd name="T12" fmla="*/ 257 w 279"/>
                <a:gd name="T13" fmla="*/ 9 h 247"/>
                <a:gd name="T14" fmla="*/ 260 w 279"/>
                <a:gd name="T15" fmla="*/ 15 h 247"/>
                <a:gd name="T16" fmla="*/ 269 w 279"/>
                <a:gd name="T17" fmla="*/ 25 h 247"/>
                <a:gd name="T18" fmla="*/ 279 w 279"/>
                <a:gd name="T19" fmla="*/ 40 h 247"/>
                <a:gd name="T20" fmla="*/ 279 w 279"/>
                <a:gd name="T21" fmla="*/ 56 h 247"/>
                <a:gd name="T22" fmla="*/ 269 w 279"/>
                <a:gd name="T23" fmla="*/ 62 h 247"/>
                <a:gd name="T24" fmla="*/ 257 w 279"/>
                <a:gd name="T25" fmla="*/ 62 h 247"/>
                <a:gd name="T26" fmla="*/ 248 w 279"/>
                <a:gd name="T27" fmla="*/ 68 h 247"/>
                <a:gd name="T28" fmla="*/ 245 w 279"/>
                <a:gd name="T29" fmla="*/ 80 h 247"/>
                <a:gd name="T30" fmla="*/ 248 w 279"/>
                <a:gd name="T31" fmla="*/ 93 h 247"/>
                <a:gd name="T32" fmla="*/ 235 w 279"/>
                <a:gd name="T33" fmla="*/ 207 h 247"/>
                <a:gd name="T34" fmla="*/ 235 w 279"/>
                <a:gd name="T35" fmla="*/ 229 h 247"/>
                <a:gd name="T36" fmla="*/ 223 w 279"/>
                <a:gd name="T37" fmla="*/ 238 h 247"/>
                <a:gd name="T38" fmla="*/ 211 w 279"/>
                <a:gd name="T39" fmla="*/ 244 h 247"/>
                <a:gd name="T40" fmla="*/ 198 w 279"/>
                <a:gd name="T41" fmla="*/ 247 h 247"/>
                <a:gd name="T42" fmla="*/ 180 w 279"/>
                <a:gd name="T43" fmla="*/ 247 h 247"/>
                <a:gd name="T44" fmla="*/ 161 w 279"/>
                <a:gd name="T45" fmla="*/ 247 h 247"/>
                <a:gd name="T46" fmla="*/ 146 w 279"/>
                <a:gd name="T47" fmla="*/ 244 h 247"/>
                <a:gd name="T48" fmla="*/ 130 w 279"/>
                <a:gd name="T49" fmla="*/ 241 h 247"/>
                <a:gd name="T50" fmla="*/ 118 w 279"/>
                <a:gd name="T51" fmla="*/ 226 h 247"/>
                <a:gd name="T52" fmla="*/ 118 w 279"/>
                <a:gd name="T53" fmla="*/ 207 h 247"/>
                <a:gd name="T54" fmla="*/ 112 w 279"/>
                <a:gd name="T55" fmla="*/ 189 h 247"/>
                <a:gd name="T56" fmla="*/ 102 w 279"/>
                <a:gd name="T57" fmla="*/ 173 h 247"/>
                <a:gd name="T58" fmla="*/ 90 w 279"/>
                <a:gd name="T59" fmla="*/ 161 h 247"/>
                <a:gd name="T60" fmla="*/ 81 w 279"/>
                <a:gd name="T61" fmla="*/ 145 h 247"/>
                <a:gd name="T62" fmla="*/ 68 w 279"/>
                <a:gd name="T63" fmla="*/ 139 h 247"/>
                <a:gd name="T64" fmla="*/ 62 w 279"/>
                <a:gd name="T65" fmla="*/ 142 h 247"/>
                <a:gd name="T66" fmla="*/ 56 w 279"/>
                <a:gd name="T67" fmla="*/ 145 h 247"/>
                <a:gd name="T68" fmla="*/ 47 w 279"/>
                <a:gd name="T69" fmla="*/ 148 h 247"/>
                <a:gd name="T70" fmla="*/ 38 w 279"/>
                <a:gd name="T71" fmla="*/ 148 h 247"/>
                <a:gd name="T72" fmla="*/ 22 w 279"/>
                <a:gd name="T73" fmla="*/ 142 h 247"/>
                <a:gd name="T74" fmla="*/ 10 w 279"/>
                <a:gd name="T75" fmla="*/ 136 h 247"/>
                <a:gd name="T76" fmla="*/ 0 w 279"/>
                <a:gd name="T77" fmla="*/ 124 h 247"/>
                <a:gd name="T78" fmla="*/ 0 w 279"/>
                <a:gd name="T79" fmla="*/ 105 h 247"/>
                <a:gd name="T80" fmla="*/ 7 w 279"/>
                <a:gd name="T81" fmla="*/ 87 h 247"/>
                <a:gd name="T82" fmla="*/ 19 w 279"/>
                <a:gd name="T83" fmla="*/ 71 h 247"/>
                <a:gd name="T84" fmla="*/ 34 w 279"/>
                <a:gd name="T85" fmla="*/ 56 h 247"/>
                <a:gd name="T86" fmla="*/ 53 w 279"/>
                <a:gd name="T87" fmla="*/ 46 h 247"/>
                <a:gd name="T88" fmla="*/ 75 w 279"/>
                <a:gd name="T89" fmla="*/ 34 h 247"/>
                <a:gd name="T90" fmla="*/ 96 w 279"/>
                <a:gd name="T91" fmla="*/ 28 h 247"/>
                <a:gd name="T92" fmla="*/ 121 w 279"/>
                <a:gd name="T93" fmla="*/ 22 h 247"/>
                <a:gd name="T94" fmla="*/ 136 w 279"/>
                <a:gd name="T95" fmla="*/ 19 h 247"/>
                <a:gd name="T96" fmla="*/ 143 w 279"/>
                <a:gd name="T97" fmla="*/ 15 h 247"/>
                <a:gd name="T98" fmla="*/ 149 w 279"/>
                <a:gd name="T99" fmla="*/ 12 h 247"/>
                <a:gd name="T100" fmla="*/ 158 w 279"/>
                <a:gd name="T101" fmla="*/ 12 h 247"/>
                <a:gd name="T102" fmla="*/ 161 w 279"/>
                <a:gd name="T103" fmla="*/ 12 h 24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79"/>
                <a:gd name="T157" fmla="*/ 0 h 247"/>
                <a:gd name="T158" fmla="*/ 279 w 279"/>
                <a:gd name="T159" fmla="*/ 247 h 24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79" h="247">
                  <a:moveTo>
                    <a:pt x="161" y="12"/>
                  </a:moveTo>
                  <a:lnTo>
                    <a:pt x="173" y="9"/>
                  </a:lnTo>
                  <a:lnTo>
                    <a:pt x="183" y="9"/>
                  </a:lnTo>
                  <a:lnTo>
                    <a:pt x="192" y="6"/>
                  </a:lnTo>
                  <a:lnTo>
                    <a:pt x="201" y="3"/>
                  </a:lnTo>
                  <a:lnTo>
                    <a:pt x="211" y="3"/>
                  </a:lnTo>
                  <a:lnTo>
                    <a:pt x="223" y="0"/>
                  </a:lnTo>
                  <a:lnTo>
                    <a:pt x="232" y="0"/>
                  </a:lnTo>
                  <a:lnTo>
                    <a:pt x="245" y="0"/>
                  </a:lnTo>
                  <a:lnTo>
                    <a:pt x="248" y="0"/>
                  </a:lnTo>
                  <a:lnTo>
                    <a:pt x="251" y="0"/>
                  </a:lnTo>
                  <a:lnTo>
                    <a:pt x="254" y="3"/>
                  </a:lnTo>
                  <a:lnTo>
                    <a:pt x="257" y="6"/>
                  </a:lnTo>
                  <a:lnTo>
                    <a:pt x="257" y="9"/>
                  </a:lnTo>
                  <a:lnTo>
                    <a:pt x="260" y="12"/>
                  </a:lnTo>
                  <a:lnTo>
                    <a:pt x="260" y="15"/>
                  </a:lnTo>
                  <a:lnTo>
                    <a:pt x="263" y="19"/>
                  </a:lnTo>
                  <a:lnTo>
                    <a:pt x="269" y="25"/>
                  </a:lnTo>
                  <a:lnTo>
                    <a:pt x="275" y="34"/>
                  </a:lnTo>
                  <a:lnTo>
                    <a:pt x="279" y="40"/>
                  </a:lnTo>
                  <a:lnTo>
                    <a:pt x="279" y="49"/>
                  </a:lnTo>
                  <a:lnTo>
                    <a:pt x="279" y="56"/>
                  </a:lnTo>
                  <a:lnTo>
                    <a:pt x="275" y="59"/>
                  </a:lnTo>
                  <a:lnTo>
                    <a:pt x="269" y="62"/>
                  </a:lnTo>
                  <a:lnTo>
                    <a:pt x="263" y="62"/>
                  </a:lnTo>
                  <a:lnTo>
                    <a:pt x="257" y="62"/>
                  </a:lnTo>
                  <a:lnTo>
                    <a:pt x="251" y="65"/>
                  </a:lnTo>
                  <a:lnTo>
                    <a:pt x="248" y="68"/>
                  </a:lnTo>
                  <a:lnTo>
                    <a:pt x="245" y="71"/>
                  </a:lnTo>
                  <a:lnTo>
                    <a:pt x="245" y="80"/>
                  </a:lnTo>
                  <a:lnTo>
                    <a:pt x="245" y="87"/>
                  </a:lnTo>
                  <a:lnTo>
                    <a:pt x="248" y="93"/>
                  </a:lnTo>
                  <a:lnTo>
                    <a:pt x="248" y="111"/>
                  </a:lnTo>
                  <a:lnTo>
                    <a:pt x="235" y="207"/>
                  </a:lnTo>
                  <a:lnTo>
                    <a:pt x="241" y="226"/>
                  </a:lnTo>
                  <a:lnTo>
                    <a:pt x="235" y="229"/>
                  </a:lnTo>
                  <a:lnTo>
                    <a:pt x="229" y="235"/>
                  </a:lnTo>
                  <a:lnTo>
                    <a:pt x="223" y="238"/>
                  </a:lnTo>
                  <a:lnTo>
                    <a:pt x="217" y="241"/>
                  </a:lnTo>
                  <a:lnTo>
                    <a:pt x="211" y="244"/>
                  </a:lnTo>
                  <a:lnTo>
                    <a:pt x="204" y="244"/>
                  </a:lnTo>
                  <a:lnTo>
                    <a:pt x="198" y="247"/>
                  </a:lnTo>
                  <a:lnTo>
                    <a:pt x="189" y="247"/>
                  </a:lnTo>
                  <a:lnTo>
                    <a:pt x="180" y="247"/>
                  </a:lnTo>
                  <a:lnTo>
                    <a:pt x="170" y="247"/>
                  </a:lnTo>
                  <a:lnTo>
                    <a:pt x="161" y="247"/>
                  </a:lnTo>
                  <a:lnTo>
                    <a:pt x="155" y="247"/>
                  </a:lnTo>
                  <a:lnTo>
                    <a:pt x="146" y="244"/>
                  </a:lnTo>
                  <a:lnTo>
                    <a:pt x="139" y="244"/>
                  </a:lnTo>
                  <a:lnTo>
                    <a:pt x="130" y="241"/>
                  </a:lnTo>
                  <a:lnTo>
                    <a:pt x="124" y="235"/>
                  </a:lnTo>
                  <a:lnTo>
                    <a:pt x="118" y="226"/>
                  </a:lnTo>
                  <a:lnTo>
                    <a:pt x="118" y="216"/>
                  </a:lnTo>
                  <a:lnTo>
                    <a:pt x="118" y="207"/>
                  </a:lnTo>
                  <a:lnTo>
                    <a:pt x="115" y="198"/>
                  </a:lnTo>
                  <a:lnTo>
                    <a:pt x="112" y="189"/>
                  </a:lnTo>
                  <a:lnTo>
                    <a:pt x="106" y="179"/>
                  </a:lnTo>
                  <a:lnTo>
                    <a:pt x="102" y="173"/>
                  </a:lnTo>
                  <a:lnTo>
                    <a:pt x="96" y="167"/>
                  </a:lnTo>
                  <a:lnTo>
                    <a:pt x="90" y="161"/>
                  </a:lnTo>
                  <a:lnTo>
                    <a:pt x="87" y="155"/>
                  </a:lnTo>
                  <a:lnTo>
                    <a:pt x="81" y="145"/>
                  </a:lnTo>
                  <a:lnTo>
                    <a:pt x="75" y="139"/>
                  </a:lnTo>
                  <a:lnTo>
                    <a:pt x="68" y="139"/>
                  </a:lnTo>
                  <a:lnTo>
                    <a:pt x="65" y="142"/>
                  </a:lnTo>
                  <a:lnTo>
                    <a:pt x="62" y="142"/>
                  </a:lnTo>
                  <a:lnTo>
                    <a:pt x="59" y="145"/>
                  </a:lnTo>
                  <a:lnTo>
                    <a:pt x="56" y="145"/>
                  </a:lnTo>
                  <a:lnTo>
                    <a:pt x="53" y="145"/>
                  </a:lnTo>
                  <a:lnTo>
                    <a:pt x="47" y="148"/>
                  </a:lnTo>
                  <a:lnTo>
                    <a:pt x="44" y="148"/>
                  </a:lnTo>
                  <a:lnTo>
                    <a:pt x="38" y="148"/>
                  </a:lnTo>
                  <a:lnTo>
                    <a:pt x="28" y="145"/>
                  </a:lnTo>
                  <a:lnTo>
                    <a:pt x="22" y="142"/>
                  </a:lnTo>
                  <a:lnTo>
                    <a:pt x="13" y="139"/>
                  </a:lnTo>
                  <a:lnTo>
                    <a:pt x="10" y="136"/>
                  </a:lnTo>
                  <a:lnTo>
                    <a:pt x="4" y="130"/>
                  </a:lnTo>
                  <a:lnTo>
                    <a:pt x="0" y="124"/>
                  </a:lnTo>
                  <a:lnTo>
                    <a:pt x="0" y="117"/>
                  </a:lnTo>
                  <a:lnTo>
                    <a:pt x="0" y="105"/>
                  </a:lnTo>
                  <a:lnTo>
                    <a:pt x="4" y="96"/>
                  </a:lnTo>
                  <a:lnTo>
                    <a:pt x="7" y="87"/>
                  </a:lnTo>
                  <a:lnTo>
                    <a:pt x="13" y="77"/>
                  </a:lnTo>
                  <a:lnTo>
                    <a:pt x="19" y="71"/>
                  </a:lnTo>
                  <a:lnTo>
                    <a:pt x="25" y="62"/>
                  </a:lnTo>
                  <a:lnTo>
                    <a:pt x="34" y="56"/>
                  </a:lnTo>
                  <a:lnTo>
                    <a:pt x="41" y="49"/>
                  </a:lnTo>
                  <a:lnTo>
                    <a:pt x="53" y="46"/>
                  </a:lnTo>
                  <a:lnTo>
                    <a:pt x="62" y="40"/>
                  </a:lnTo>
                  <a:lnTo>
                    <a:pt x="75" y="34"/>
                  </a:lnTo>
                  <a:lnTo>
                    <a:pt x="84" y="31"/>
                  </a:lnTo>
                  <a:lnTo>
                    <a:pt x="96" y="28"/>
                  </a:lnTo>
                  <a:lnTo>
                    <a:pt x="109" y="25"/>
                  </a:lnTo>
                  <a:lnTo>
                    <a:pt x="121" y="22"/>
                  </a:lnTo>
                  <a:lnTo>
                    <a:pt x="133" y="19"/>
                  </a:lnTo>
                  <a:lnTo>
                    <a:pt x="136" y="19"/>
                  </a:lnTo>
                  <a:lnTo>
                    <a:pt x="139" y="19"/>
                  </a:lnTo>
                  <a:lnTo>
                    <a:pt x="143" y="15"/>
                  </a:lnTo>
                  <a:lnTo>
                    <a:pt x="146" y="15"/>
                  </a:lnTo>
                  <a:lnTo>
                    <a:pt x="149" y="12"/>
                  </a:lnTo>
                  <a:lnTo>
                    <a:pt x="152" y="12"/>
                  </a:lnTo>
                  <a:lnTo>
                    <a:pt x="158" y="12"/>
                  </a:lnTo>
                  <a:lnTo>
                    <a:pt x="161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3" name="Freeform 457"/>
            <p:cNvSpPr>
              <a:spLocks/>
            </p:cNvSpPr>
            <p:nvPr/>
          </p:nvSpPr>
          <p:spPr bwMode="auto">
            <a:xfrm>
              <a:off x="1578" y="2189"/>
              <a:ext cx="219" cy="522"/>
            </a:xfrm>
            <a:custGeom>
              <a:avLst/>
              <a:gdLst>
                <a:gd name="T0" fmla="*/ 123 w 219"/>
                <a:gd name="T1" fmla="*/ 9 h 522"/>
                <a:gd name="T2" fmla="*/ 139 w 219"/>
                <a:gd name="T3" fmla="*/ 6 h 522"/>
                <a:gd name="T4" fmla="*/ 148 w 219"/>
                <a:gd name="T5" fmla="*/ 3 h 522"/>
                <a:gd name="T6" fmla="*/ 163 w 219"/>
                <a:gd name="T7" fmla="*/ 0 h 522"/>
                <a:gd name="T8" fmla="*/ 179 w 219"/>
                <a:gd name="T9" fmla="*/ 3 h 522"/>
                <a:gd name="T10" fmla="*/ 182 w 219"/>
                <a:gd name="T11" fmla="*/ 21 h 522"/>
                <a:gd name="T12" fmla="*/ 191 w 219"/>
                <a:gd name="T13" fmla="*/ 43 h 522"/>
                <a:gd name="T14" fmla="*/ 197 w 219"/>
                <a:gd name="T15" fmla="*/ 65 h 522"/>
                <a:gd name="T16" fmla="*/ 203 w 219"/>
                <a:gd name="T17" fmla="*/ 86 h 522"/>
                <a:gd name="T18" fmla="*/ 210 w 219"/>
                <a:gd name="T19" fmla="*/ 108 h 522"/>
                <a:gd name="T20" fmla="*/ 210 w 219"/>
                <a:gd name="T21" fmla="*/ 204 h 522"/>
                <a:gd name="T22" fmla="*/ 219 w 219"/>
                <a:gd name="T23" fmla="*/ 306 h 522"/>
                <a:gd name="T24" fmla="*/ 207 w 219"/>
                <a:gd name="T25" fmla="*/ 346 h 522"/>
                <a:gd name="T26" fmla="*/ 194 w 219"/>
                <a:gd name="T27" fmla="*/ 377 h 522"/>
                <a:gd name="T28" fmla="*/ 179 w 219"/>
                <a:gd name="T29" fmla="*/ 411 h 522"/>
                <a:gd name="T30" fmla="*/ 160 w 219"/>
                <a:gd name="T31" fmla="*/ 445 h 522"/>
                <a:gd name="T32" fmla="*/ 154 w 219"/>
                <a:gd name="T33" fmla="*/ 232 h 522"/>
                <a:gd name="T34" fmla="*/ 145 w 219"/>
                <a:gd name="T35" fmla="*/ 204 h 522"/>
                <a:gd name="T36" fmla="*/ 139 w 219"/>
                <a:gd name="T37" fmla="*/ 176 h 522"/>
                <a:gd name="T38" fmla="*/ 135 w 219"/>
                <a:gd name="T39" fmla="*/ 145 h 522"/>
                <a:gd name="T40" fmla="*/ 123 w 219"/>
                <a:gd name="T41" fmla="*/ 148 h 522"/>
                <a:gd name="T42" fmla="*/ 111 w 219"/>
                <a:gd name="T43" fmla="*/ 185 h 522"/>
                <a:gd name="T44" fmla="*/ 108 w 219"/>
                <a:gd name="T45" fmla="*/ 219 h 522"/>
                <a:gd name="T46" fmla="*/ 101 w 219"/>
                <a:gd name="T47" fmla="*/ 259 h 522"/>
                <a:gd name="T48" fmla="*/ 95 w 219"/>
                <a:gd name="T49" fmla="*/ 299 h 522"/>
                <a:gd name="T50" fmla="*/ 80 w 219"/>
                <a:gd name="T51" fmla="*/ 330 h 522"/>
                <a:gd name="T52" fmla="*/ 64 w 219"/>
                <a:gd name="T53" fmla="*/ 358 h 522"/>
                <a:gd name="T54" fmla="*/ 49 w 219"/>
                <a:gd name="T55" fmla="*/ 389 h 522"/>
                <a:gd name="T56" fmla="*/ 43 w 219"/>
                <a:gd name="T57" fmla="*/ 423 h 522"/>
                <a:gd name="T58" fmla="*/ 37 w 219"/>
                <a:gd name="T59" fmla="*/ 454 h 522"/>
                <a:gd name="T60" fmla="*/ 30 w 219"/>
                <a:gd name="T61" fmla="*/ 479 h 522"/>
                <a:gd name="T62" fmla="*/ 18 w 219"/>
                <a:gd name="T63" fmla="*/ 507 h 522"/>
                <a:gd name="T64" fmla="*/ 3 w 219"/>
                <a:gd name="T65" fmla="*/ 500 h 522"/>
                <a:gd name="T66" fmla="*/ 0 w 219"/>
                <a:gd name="T67" fmla="*/ 460 h 522"/>
                <a:gd name="T68" fmla="*/ 40 w 219"/>
                <a:gd name="T69" fmla="*/ 86 h 522"/>
                <a:gd name="T70" fmla="*/ 43 w 219"/>
                <a:gd name="T71" fmla="*/ 58 h 522"/>
                <a:gd name="T72" fmla="*/ 46 w 219"/>
                <a:gd name="T73" fmla="*/ 28 h 522"/>
                <a:gd name="T74" fmla="*/ 43 w 219"/>
                <a:gd name="T75" fmla="*/ 15 h 522"/>
                <a:gd name="T76" fmla="*/ 49 w 219"/>
                <a:gd name="T77" fmla="*/ 6 h 522"/>
                <a:gd name="T78" fmla="*/ 64 w 219"/>
                <a:gd name="T79" fmla="*/ 0 h 522"/>
                <a:gd name="T80" fmla="*/ 80 w 219"/>
                <a:gd name="T81" fmla="*/ 3 h 522"/>
                <a:gd name="T82" fmla="*/ 98 w 219"/>
                <a:gd name="T83" fmla="*/ 6 h 522"/>
                <a:gd name="T84" fmla="*/ 117 w 219"/>
                <a:gd name="T85" fmla="*/ 9 h 52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19"/>
                <a:gd name="T130" fmla="*/ 0 h 522"/>
                <a:gd name="T131" fmla="*/ 219 w 219"/>
                <a:gd name="T132" fmla="*/ 522 h 52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19" h="522">
                  <a:moveTo>
                    <a:pt x="117" y="9"/>
                  </a:moveTo>
                  <a:lnTo>
                    <a:pt x="123" y="9"/>
                  </a:lnTo>
                  <a:lnTo>
                    <a:pt x="132" y="9"/>
                  </a:lnTo>
                  <a:lnTo>
                    <a:pt x="139" y="6"/>
                  </a:lnTo>
                  <a:lnTo>
                    <a:pt x="145" y="6"/>
                  </a:lnTo>
                  <a:lnTo>
                    <a:pt x="148" y="3"/>
                  </a:lnTo>
                  <a:lnTo>
                    <a:pt x="154" y="3"/>
                  </a:lnTo>
                  <a:lnTo>
                    <a:pt x="163" y="0"/>
                  </a:lnTo>
                  <a:lnTo>
                    <a:pt x="169" y="0"/>
                  </a:lnTo>
                  <a:lnTo>
                    <a:pt x="179" y="3"/>
                  </a:lnTo>
                  <a:lnTo>
                    <a:pt x="182" y="12"/>
                  </a:lnTo>
                  <a:lnTo>
                    <a:pt x="182" y="21"/>
                  </a:lnTo>
                  <a:lnTo>
                    <a:pt x="185" y="31"/>
                  </a:lnTo>
                  <a:lnTo>
                    <a:pt x="191" y="43"/>
                  </a:lnTo>
                  <a:lnTo>
                    <a:pt x="194" y="52"/>
                  </a:lnTo>
                  <a:lnTo>
                    <a:pt x="197" y="65"/>
                  </a:lnTo>
                  <a:lnTo>
                    <a:pt x="200" y="74"/>
                  </a:lnTo>
                  <a:lnTo>
                    <a:pt x="203" y="86"/>
                  </a:lnTo>
                  <a:lnTo>
                    <a:pt x="207" y="96"/>
                  </a:lnTo>
                  <a:lnTo>
                    <a:pt x="210" y="108"/>
                  </a:lnTo>
                  <a:lnTo>
                    <a:pt x="210" y="120"/>
                  </a:lnTo>
                  <a:lnTo>
                    <a:pt x="210" y="204"/>
                  </a:lnTo>
                  <a:lnTo>
                    <a:pt x="219" y="244"/>
                  </a:lnTo>
                  <a:lnTo>
                    <a:pt x="219" y="306"/>
                  </a:lnTo>
                  <a:lnTo>
                    <a:pt x="213" y="327"/>
                  </a:lnTo>
                  <a:lnTo>
                    <a:pt x="207" y="346"/>
                  </a:lnTo>
                  <a:lnTo>
                    <a:pt x="200" y="361"/>
                  </a:lnTo>
                  <a:lnTo>
                    <a:pt x="194" y="377"/>
                  </a:lnTo>
                  <a:lnTo>
                    <a:pt x="188" y="392"/>
                  </a:lnTo>
                  <a:lnTo>
                    <a:pt x="179" y="411"/>
                  </a:lnTo>
                  <a:lnTo>
                    <a:pt x="173" y="426"/>
                  </a:lnTo>
                  <a:lnTo>
                    <a:pt x="160" y="445"/>
                  </a:lnTo>
                  <a:lnTo>
                    <a:pt x="160" y="247"/>
                  </a:lnTo>
                  <a:lnTo>
                    <a:pt x="154" y="232"/>
                  </a:lnTo>
                  <a:lnTo>
                    <a:pt x="148" y="216"/>
                  </a:lnTo>
                  <a:lnTo>
                    <a:pt x="145" y="204"/>
                  </a:lnTo>
                  <a:lnTo>
                    <a:pt x="142" y="188"/>
                  </a:lnTo>
                  <a:lnTo>
                    <a:pt x="139" y="176"/>
                  </a:lnTo>
                  <a:lnTo>
                    <a:pt x="139" y="160"/>
                  </a:lnTo>
                  <a:lnTo>
                    <a:pt x="135" y="145"/>
                  </a:lnTo>
                  <a:lnTo>
                    <a:pt x="135" y="130"/>
                  </a:lnTo>
                  <a:lnTo>
                    <a:pt x="123" y="148"/>
                  </a:lnTo>
                  <a:lnTo>
                    <a:pt x="117" y="167"/>
                  </a:lnTo>
                  <a:lnTo>
                    <a:pt x="111" y="185"/>
                  </a:lnTo>
                  <a:lnTo>
                    <a:pt x="108" y="201"/>
                  </a:lnTo>
                  <a:lnTo>
                    <a:pt x="108" y="219"/>
                  </a:lnTo>
                  <a:lnTo>
                    <a:pt x="105" y="238"/>
                  </a:lnTo>
                  <a:lnTo>
                    <a:pt x="101" y="259"/>
                  </a:lnTo>
                  <a:lnTo>
                    <a:pt x="98" y="281"/>
                  </a:lnTo>
                  <a:lnTo>
                    <a:pt x="95" y="299"/>
                  </a:lnTo>
                  <a:lnTo>
                    <a:pt x="86" y="315"/>
                  </a:lnTo>
                  <a:lnTo>
                    <a:pt x="80" y="330"/>
                  </a:lnTo>
                  <a:lnTo>
                    <a:pt x="71" y="343"/>
                  </a:lnTo>
                  <a:lnTo>
                    <a:pt x="64" y="358"/>
                  </a:lnTo>
                  <a:lnTo>
                    <a:pt x="55" y="374"/>
                  </a:lnTo>
                  <a:lnTo>
                    <a:pt x="49" y="389"/>
                  </a:lnTo>
                  <a:lnTo>
                    <a:pt x="46" y="408"/>
                  </a:lnTo>
                  <a:lnTo>
                    <a:pt x="43" y="423"/>
                  </a:lnTo>
                  <a:lnTo>
                    <a:pt x="40" y="439"/>
                  </a:lnTo>
                  <a:lnTo>
                    <a:pt x="37" y="454"/>
                  </a:lnTo>
                  <a:lnTo>
                    <a:pt x="34" y="466"/>
                  </a:lnTo>
                  <a:lnTo>
                    <a:pt x="30" y="479"/>
                  </a:lnTo>
                  <a:lnTo>
                    <a:pt x="27" y="494"/>
                  </a:lnTo>
                  <a:lnTo>
                    <a:pt x="18" y="507"/>
                  </a:lnTo>
                  <a:lnTo>
                    <a:pt x="9" y="522"/>
                  </a:lnTo>
                  <a:lnTo>
                    <a:pt x="3" y="500"/>
                  </a:lnTo>
                  <a:lnTo>
                    <a:pt x="0" y="482"/>
                  </a:lnTo>
                  <a:lnTo>
                    <a:pt x="0" y="460"/>
                  </a:lnTo>
                  <a:lnTo>
                    <a:pt x="0" y="439"/>
                  </a:lnTo>
                  <a:lnTo>
                    <a:pt x="40" y="86"/>
                  </a:lnTo>
                  <a:lnTo>
                    <a:pt x="40" y="71"/>
                  </a:lnTo>
                  <a:lnTo>
                    <a:pt x="43" y="58"/>
                  </a:lnTo>
                  <a:lnTo>
                    <a:pt x="46" y="46"/>
                  </a:lnTo>
                  <a:lnTo>
                    <a:pt x="46" y="28"/>
                  </a:lnTo>
                  <a:lnTo>
                    <a:pt x="46" y="21"/>
                  </a:lnTo>
                  <a:lnTo>
                    <a:pt x="43" y="15"/>
                  </a:lnTo>
                  <a:lnTo>
                    <a:pt x="43" y="9"/>
                  </a:lnTo>
                  <a:lnTo>
                    <a:pt x="49" y="6"/>
                  </a:lnTo>
                  <a:lnTo>
                    <a:pt x="55" y="3"/>
                  </a:lnTo>
                  <a:lnTo>
                    <a:pt x="64" y="0"/>
                  </a:lnTo>
                  <a:lnTo>
                    <a:pt x="74" y="3"/>
                  </a:lnTo>
                  <a:lnTo>
                    <a:pt x="80" y="3"/>
                  </a:lnTo>
                  <a:lnTo>
                    <a:pt x="89" y="6"/>
                  </a:lnTo>
                  <a:lnTo>
                    <a:pt x="98" y="6"/>
                  </a:lnTo>
                  <a:lnTo>
                    <a:pt x="108" y="9"/>
                  </a:lnTo>
                  <a:lnTo>
                    <a:pt x="117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4" name="Freeform 458"/>
            <p:cNvSpPr>
              <a:spLocks/>
            </p:cNvSpPr>
            <p:nvPr/>
          </p:nvSpPr>
          <p:spPr bwMode="auto">
            <a:xfrm>
              <a:off x="1392" y="2189"/>
              <a:ext cx="108" cy="96"/>
            </a:xfrm>
            <a:custGeom>
              <a:avLst/>
              <a:gdLst>
                <a:gd name="T0" fmla="*/ 25 w 108"/>
                <a:gd name="T1" fmla="*/ 96 h 96"/>
                <a:gd name="T2" fmla="*/ 31 w 108"/>
                <a:gd name="T3" fmla="*/ 92 h 96"/>
                <a:gd name="T4" fmla="*/ 37 w 108"/>
                <a:gd name="T5" fmla="*/ 89 h 96"/>
                <a:gd name="T6" fmla="*/ 40 w 108"/>
                <a:gd name="T7" fmla="*/ 86 h 96"/>
                <a:gd name="T8" fmla="*/ 43 w 108"/>
                <a:gd name="T9" fmla="*/ 80 h 96"/>
                <a:gd name="T10" fmla="*/ 43 w 108"/>
                <a:gd name="T11" fmla="*/ 74 h 96"/>
                <a:gd name="T12" fmla="*/ 47 w 108"/>
                <a:gd name="T13" fmla="*/ 68 h 96"/>
                <a:gd name="T14" fmla="*/ 50 w 108"/>
                <a:gd name="T15" fmla="*/ 62 h 96"/>
                <a:gd name="T16" fmla="*/ 56 w 108"/>
                <a:gd name="T17" fmla="*/ 55 h 96"/>
                <a:gd name="T18" fmla="*/ 62 w 108"/>
                <a:gd name="T19" fmla="*/ 46 h 96"/>
                <a:gd name="T20" fmla="*/ 68 w 108"/>
                <a:gd name="T21" fmla="*/ 40 h 96"/>
                <a:gd name="T22" fmla="*/ 74 w 108"/>
                <a:gd name="T23" fmla="*/ 37 h 96"/>
                <a:gd name="T24" fmla="*/ 84 w 108"/>
                <a:gd name="T25" fmla="*/ 31 h 96"/>
                <a:gd name="T26" fmla="*/ 90 w 108"/>
                <a:gd name="T27" fmla="*/ 24 h 96"/>
                <a:gd name="T28" fmla="*/ 96 w 108"/>
                <a:gd name="T29" fmla="*/ 18 h 96"/>
                <a:gd name="T30" fmla="*/ 102 w 108"/>
                <a:gd name="T31" fmla="*/ 12 h 96"/>
                <a:gd name="T32" fmla="*/ 108 w 108"/>
                <a:gd name="T33" fmla="*/ 6 h 96"/>
                <a:gd name="T34" fmla="*/ 105 w 108"/>
                <a:gd name="T35" fmla="*/ 3 h 96"/>
                <a:gd name="T36" fmla="*/ 99 w 108"/>
                <a:gd name="T37" fmla="*/ 3 h 96"/>
                <a:gd name="T38" fmla="*/ 96 w 108"/>
                <a:gd name="T39" fmla="*/ 0 h 96"/>
                <a:gd name="T40" fmla="*/ 93 w 108"/>
                <a:gd name="T41" fmla="*/ 0 h 96"/>
                <a:gd name="T42" fmla="*/ 84 w 108"/>
                <a:gd name="T43" fmla="*/ 3 h 96"/>
                <a:gd name="T44" fmla="*/ 74 w 108"/>
                <a:gd name="T45" fmla="*/ 3 h 96"/>
                <a:gd name="T46" fmla="*/ 68 w 108"/>
                <a:gd name="T47" fmla="*/ 9 h 96"/>
                <a:gd name="T48" fmla="*/ 65 w 108"/>
                <a:gd name="T49" fmla="*/ 12 h 96"/>
                <a:gd name="T50" fmla="*/ 59 w 108"/>
                <a:gd name="T51" fmla="*/ 18 h 96"/>
                <a:gd name="T52" fmla="*/ 53 w 108"/>
                <a:gd name="T53" fmla="*/ 28 h 96"/>
                <a:gd name="T54" fmla="*/ 50 w 108"/>
                <a:gd name="T55" fmla="*/ 34 h 96"/>
                <a:gd name="T56" fmla="*/ 43 w 108"/>
                <a:gd name="T57" fmla="*/ 40 h 96"/>
                <a:gd name="T58" fmla="*/ 37 w 108"/>
                <a:gd name="T59" fmla="*/ 46 h 96"/>
                <a:gd name="T60" fmla="*/ 31 w 108"/>
                <a:gd name="T61" fmla="*/ 52 h 96"/>
                <a:gd name="T62" fmla="*/ 25 w 108"/>
                <a:gd name="T63" fmla="*/ 58 h 96"/>
                <a:gd name="T64" fmla="*/ 19 w 108"/>
                <a:gd name="T65" fmla="*/ 65 h 96"/>
                <a:gd name="T66" fmla="*/ 13 w 108"/>
                <a:gd name="T67" fmla="*/ 68 h 96"/>
                <a:gd name="T68" fmla="*/ 9 w 108"/>
                <a:gd name="T69" fmla="*/ 74 h 96"/>
                <a:gd name="T70" fmla="*/ 3 w 108"/>
                <a:gd name="T71" fmla="*/ 83 h 96"/>
                <a:gd name="T72" fmla="*/ 0 w 108"/>
                <a:gd name="T73" fmla="*/ 89 h 96"/>
                <a:gd name="T74" fmla="*/ 3 w 108"/>
                <a:gd name="T75" fmla="*/ 89 h 96"/>
                <a:gd name="T76" fmla="*/ 6 w 108"/>
                <a:gd name="T77" fmla="*/ 92 h 96"/>
                <a:gd name="T78" fmla="*/ 9 w 108"/>
                <a:gd name="T79" fmla="*/ 92 h 96"/>
                <a:gd name="T80" fmla="*/ 13 w 108"/>
                <a:gd name="T81" fmla="*/ 92 h 96"/>
                <a:gd name="T82" fmla="*/ 16 w 108"/>
                <a:gd name="T83" fmla="*/ 92 h 96"/>
                <a:gd name="T84" fmla="*/ 19 w 108"/>
                <a:gd name="T85" fmla="*/ 96 h 96"/>
                <a:gd name="T86" fmla="*/ 22 w 108"/>
                <a:gd name="T87" fmla="*/ 96 h 96"/>
                <a:gd name="T88" fmla="*/ 25 w 108"/>
                <a:gd name="T89" fmla="*/ 96 h 96"/>
                <a:gd name="T90" fmla="*/ 25 w 108"/>
                <a:gd name="T91" fmla="*/ 96 h 9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08"/>
                <a:gd name="T139" fmla="*/ 0 h 96"/>
                <a:gd name="T140" fmla="*/ 108 w 108"/>
                <a:gd name="T141" fmla="*/ 96 h 9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08" h="96">
                  <a:moveTo>
                    <a:pt x="25" y="96"/>
                  </a:moveTo>
                  <a:lnTo>
                    <a:pt x="31" y="92"/>
                  </a:lnTo>
                  <a:lnTo>
                    <a:pt x="37" y="89"/>
                  </a:lnTo>
                  <a:lnTo>
                    <a:pt x="40" y="86"/>
                  </a:lnTo>
                  <a:lnTo>
                    <a:pt x="43" y="80"/>
                  </a:lnTo>
                  <a:lnTo>
                    <a:pt x="43" y="74"/>
                  </a:lnTo>
                  <a:lnTo>
                    <a:pt x="47" y="68"/>
                  </a:lnTo>
                  <a:lnTo>
                    <a:pt x="50" y="62"/>
                  </a:lnTo>
                  <a:lnTo>
                    <a:pt x="56" y="55"/>
                  </a:lnTo>
                  <a:lnTo>
                    <a:pt x="62" y="46"/>
                  </a:lnTo>
                  <a:lnTo>
                    <a:pt x="68" y="40"/>
                  </a:lnTo>
                  <a:lnTo>
                    <a:pt x="74" y="37"/>
                  </a:lnTo>
                  <a:lnTo>
                    <a:pt x="84" y="31"/>
                  </a:lnTo>
                  <a:lnTo>
                    <a:pt x="90" y="24"/>
                  </a:lnTo>
                  <a:lnTo>
                    <a:pt x="96" y="18"/>
                  </a:lnTo>
                  <a:lnTo>
                    <a:pt x="102" y="12"/>
                  </a:lnTo>
                  <a:lnTo>
                    <a:pt x="108" y="6"/>
                  </a:lnTo>
                  <a:lnTo>
                    <a:pt x="105" y="3"/>
                  </a:lnTo>
                  <a:lnTo>
                    <a:pt x="99" y="3"/>
                  </a:lnTo>
                  <a:lnTo>
                    <a:pt x="96" y="0"/>
                  </a:lnTo>
                  <a:lnTo>
                    <a:pt x="93" y="0"/>
                  </a:lnTo>
                  <a:lnTo>
                    <a:pt x="84" y="3"/>
                  </a:lnTo>
                  <a:lnTo>
                    <a:pt x="74" y="3"/>
                  </a:lnTo>
                  <a:lnTo>
                    <a:pt x="68" y="9"/>
                  </a:lnTo>
                  <a:lnTo>
                    <a:pt x="65" y="12"/>
                  </a:lnTo>
                  <a:lnTo>
                    <a:pt x="59" y="18"/>
                  </a:lnTo>
                  <a:lnTo>
                    <a:pt x="53" y="28"/>
                  </a:lnTo>
                  <a:lnTo>
                    <a:pt x="50" y="34"/>
                  </a:lnTo>
                  <a:lnTo>
                    <a:pt x="43" y="40"/>
                  </a:lnTo>
                  <a:lnTo>
                    <a:pt x="37" y="46"/>
                  </a:lnTo>
                  <a:lnTo>
                    <a:pt x="31" y="52"/>
                  </a:lnTo>
                  <a:lnTo>
                    <a:pt x="25" y="58"/>
                  </a:lnTo>
                  <a:lnTo>
                    <a:pt x="19" y="65"/>
                  </a:lnTo>
                  <a:lnTo>
                    <a:pt x="13" y="68"/>
                  </a:lnTo>
                  <a:lnTo>
                    <a:pt x="9" y="74"/>
                  </a:lnTo>
                  <a:lnTo>
                    <a:pt x="3" y="83"/>
                  </a:lnTo>
                  <a:lnTo>
                    <a:pt x="0" y="89"/>
                  </a:lnTo>
                  <a:lnTo>
                    <a:pt x="3" y="89"/>
                  </a:lnTo>
                  <a:lnTo>
                    <a:pt x="6" y="92"/>
                  </a:lnTo>
                  <a:lnTo>
                    <a:pt x="9" y="92"/>
                  </a:lnTo>
                  <a:lnTo>
                    <a:pt x="13" y="92"/>
                  </a:lnTo>
                  <a:lnTo>
                    <a:pt x="16" y="92"/>
                  </a:lnTo>
                  <a:lnTo>
                    <a:pt x="19" y="96"/>
                  </a:lnTo>
                  <a:lnTo>
                    <a:pt x="22" y="96"/>
                  </a:lnTo>
                  <a:lnTo>
                    <a:pt x="25" y="96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5" name="Freeform 459"/>
            <p:cNvSpPr>
              <a:spLocks/>
            </p:cNvSpPr>
            <p:nvPr/>
          </p:nvSpPr>
          <p:spPr bwMode="auto">
            <a:xfrm>
              <a:off x="1744" y="1867"/>
              <a:ext cx="501" cy="646"/>
            </a:xfrm>
            <a:custGeom>
              <a:avLst/>
              <a:gdLst>
                <a:gd name="T0" fmla="*/ 467 w 501"/>
                <a:gd name="T1" fmla="*/ 68 h 646"/>
                <a:gd name="T2" fmla="*/ 467 w 501"/>
                <a:gd name="T3" fmla="*/ 189 h 646"/>
                <a:gd name="T4" fmla="*/ 470 w 501"/>
                <a:gd name="T5" fmla="*/ 306 h 646"/>
                <a:gd name="T6" fmla="*/ 476 w 501"/>
                <a:gd name="T7" fmla="*/ 393 h 646"/>
                <a:gd name="T8" fmla="*/ 482 w 501"/>
                <a:gd name="T9" fmla="*/ 476 h 646"/>
                <a:gd name="T10" fmla="*/ 495 w 501"/>
                <a:gd name="T11" fmla="*/ 563 h 646"/>
                <a:gd name="T12" fmla="*/ 448 w 501"/>
                <a:gd name="T13" fmla="*/ 646 h 646"/>
                <a:gd name="T14" fmla="*/ 47 w 501"/>
                <a:gd name="T15" fmla="*/ 563 h 646"/>
                <a:gd name="T16" fmla="*/ 44 w 501"/>
                <a:gd name="T17" fmla="*/ 520 h 646"/>
                <a:gd name="T18" fmla="*/ 41 w 501"/>
                <a:gd name="T19" fmla="*/ 482 h 646"/>
                <a:gd name="T20" fmla="*/ 34 w 501"/>
                <a:gd name="T21" fmla="*/ 445 h 646"/>
                <a:gd name="T22" fmla="*/ 25 w 501"/>
                <a:gd name="T23" fmla="*/ 402 h 646"/>
                <a:gd name="T24" fmla="*/ 19 w 501"/>
                <a:gd name="T25" fmla="*/ 380 h 646"/>
                <a:gd name="T26" fmla="*/ 13 w 501"/>
                <a:gd name="T27" fmla="*/ 359 h 646"/>
                <a:gd name="T28" fmla="*/ 7 w 501"/>
                <a:gd name="T29" fmla="*/ 340 h 646"/>
                <a:gd name="T30" fmla="*/ 0 w 501"/>
                <a:gd name="T31" fmla="*/ 319 h 646"/>
                <a:gd name="T32" fmla="*/ 68 w 501"/>
                <a:gd name="T33" fmla="*/ 300 h 646"/>
                <a:gd name="T34" fmla="*/ 62 w 501"/>
                <a:gd name="T35" fmla="*/ 294 h 646"/>
                <a:gd name="T36" fmla="*/ 56 w 501"/>
                <a:gd name="T37" fmla="*/ 288 h 646"/>
                <a:gd name="T38" fmla="*/ 53 w 501"/>
                <a:gd name="T39" fmla="*/ 279 h 646"/>
                <a:gd name="T40" fmla="*/ 53 w 501"/>
                <a:gd name="T41" fmla="*/ 269 h 646"/>
                <a:gd name="T42" fmla="*/ 59 w 501"/>
                <a:gd name="T43" fmla="*/ 263 h 646"/>
                <a:gd name="T44" fmla="*/ 68 w 501"/>
                <a:gd name="T45" fmla="*/ 260 h 646"/>
                <a:gd name="T46" fmla="*/ 81 w 501"/>
                <a:gd name="T47" fmla="*/ 257 h 646"/>
                <a:gd name="T48" fmla="*/ 93 w 501"/>
                <a:gd name="T49" fmla="*/ 257 h 646"/>
                <a:gd name="T50" fmla="*/ 105 w 501"/>
                <a:gd name="T51" fmla="*/ 257 h 646"/>
                <a:gd name="T52" fmla="*/ 118 w 501"/>
                <a:gd name="T53" fmla="*/ 257 h 646"/>
                <a:gd name="T54" fmla="*/ 130 w 501"/>
                <a:gd name="T55" fmla="*/ 257 h 646"/>
                <a:gd name="T56" fmla="*/ 142 w 501"/>
                <a:gd name="T57" fmla="*/ 254 h 646"/>
                <a:gd name="T58" fmla="*/ 155 w 501"/>
                <a:gd name="T59" fmla="*/ 254 h 646"/>
                <a:gd name="T60" fmla="*/ 167 w 501"/>
                <a:gd name="T61" fmla="*/ 254 h 646"/>
                <a:gd name="T62" fmla="*/ 180 w 501"/>
                <a:gd name="T63" fmla="*/ 254 h 646"/>
                <a:gd name="T64" fmla="*/ 427 w 501"/>
                <a:gd name="T65" fmla="*/ 254 h 646"/>
                <a:gd name="T66" fmla="*/ 442 w 501"/>
                <a:gd name="T67" fmla="*/ 0 h 646"/>
                <a:gd name="T68" fmla="*/ 467 w 501"/>
                <a:gd name="T69" fmla="*/ 0 h 64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01"/>
                <a:gd name="T106" fmla="*/ 0 h 646"/>
                <a:gd name="T107" fmla="*/ 501 w 501"/>
                <a:gd name="T108" fmla="*/ 646 h 64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01" h="646">
                  <a:moveTo>
                    <a:pt x="467" y="0"/>
                  </a:moveTo>
                  <a:lnTo>
                    <a:pt x="467" y="68"/>
                  </a:lnTo>
                  <a:lnTo>
                    <a:pt x="467" y="130"/>
                  </a:lnTo>
                  <a:lnTo>
                    <a:pt x="467" y="189"/>
                  </a:lnTo>
                  <a:lnTo>
                    <a:pt x="467" y="257"/>
                  </a:lnTo>
                  <a:lnTo>
                    <a:pt x="470" y="306"/>
                  </a:lnTo>
                  <a:lnTo>
                    <a:pt x="473" y="353"/>
                  </a:lnTo>
                  <a:lnTo>
                    <a:pt x="476" y="393"/>
                  </a:lnTo>
                  <a:lnTo>
                    <a:pt x="479" y="436"/>
                  </a:lnTo>
                  <a:lnTo>
                    <a:pt x="482" y="476"/>
                  </a:lnTo>
                  <a:lnTo>
                    <a:pt x="488" y="516"/>
                  </a:lnTo>
                  <a:lnTo>
                    <a:pt x="495" y="563"/>
                  </a:lnTo>
                  <a:lnTo>
                    <a:pt x="501" y="609"/>
                  </a:lnTo>
                  <a:lnTo>
                    <a:pt x="448" y="646"/>
                  </a:lnTo>
                  <a:lnTo>
                    <a:pt x="448" y="566"/>
                  </a:lnTo>
                  <a:lnTo>
                    <a:pt x="47" y="563"/>
                  </a:lnTo>
                  <a:lnTo>
                    <a:pt x="47" y="541"/>
                  </a:lnTo>
                  <a:lnTo>
                    <a:pt x="44" y="520"/>
                  </a:lnTo>
                  <a:lnTo>
                    <a:pt x="41" y="501"/>
                  </a:lnTo>
                  <a:lnTo>
                    <a:pt x="41" y="482"/>
                  </a:lnTo>
                  <a:lnTo>
                    <a:pt x="37" y="464"/>
                  </a:lnTo>
                  <a:lnTo>
                    <a:pt x="34" y="445"/>
                  </a:lnTo>
                  <a:lnTo>
                    <a:pt x="31" y="424"/>
                  </a:lnTo>
                  <a:lnTo>
                    <a:pt x="25" y="402"/>
                  </a:lnTo>
                  <a:lnTo>
                    <a:pt x="22" y="390"/>
                  </a:lnTo>
                  <a:lnTo>
                    <a:pt x="19" y="380"/>
                  </a:lnTo>
                  <a:lnTo>
                    <a:pt x="16" y="368"/>
                  </a:lnTo>
                  <a:lnTo>
                    <a:pt x="13" y="359"/>
                  </a:lnTo>
                  <a:lnTo>
                    <a:pt x="10" y="350"/>
                  </a:lnTo>
                  <a:lnTo>
                    <a:pt x="7" y="340"/>
                  </a:lnTo>
                  <a:lnTo>
                    <a:pt x="3" y="328"/>
                  </a:lnTo>
                  <a:lnTo>
                    <a:pt x="0" y="319"/>
                  </a:lnTo>
                  <a:lnTo>
                    <a:pt x="75" y="306"/>
                  </a:lnTo>
                  <a:lnTo>
                    <a:pt x="68" y="300"/>
                  </a:lnTo>
                  <a:lnTo>
                    <a:pt x="65" y="297"/>
                  </a:lnTo>
                  <a:lnTo>
                    <a:pt x="62" y="294"/>
                  </a:lnTo>
                  <a:lnTo>
                    <a:pt x="59" y="291"/>
                  </a:lnTo>
                  <a:lnTo>
                    <a:pt x="56" y="288"/>
                  </a:lnTo>
                  <a:lnTo>
                    <a:pt x="53" y="285"/>
                  </a:lnTo>
                  <a:lnTo>
                    <a:pt x="53" y="279"/>
                  </a:lnTo>
                  <a:lnTo>
                    <a:pt x="53" y="272"/>
                  </a:lnTo>
                  <a:lnTo>
                    <a:pt x="53" y="269"/>
                  </a:lnTo>
                  <a:lnTo>
                    <a:pt x="56" y="266"/>
                  </a:lnTo>
                  <a:lnTo>
                    <a:pt x="59" y="263"/>
                  </a:lnTo>
                  <a:lnTo>
                    <a:pt x="62" y="260"/>
                  </a:lnTo>
                  <a:lnTo>
                    <a:pt x="68" y="260"/>
                  </a:lnTo>
                  <a:lnTo>
                    <a:pt x="75" y="260"/>
                  </a:lnTo>
                  <a:lnTo>
                    <a:pt x="81" y="257"/>
                  </a:lnTo>
                  <a:lnTo>
                    <a:pt x="87" y="257"/>
                  </a:lnTo>
                  <a:lnTo>
                    <a:pt x="93" y="257"/>
                  </a:lnTo>
                  <a:lnTo>
                    <a:pt x="102" y="257"/>
                  </a:lnTo>
                  <a:lnTo>
                    <a:pt x="105" y="257"/>
                  </a:lnTo>
                  <a:lnTo>
                    <a:pt x="112" y="257"/>
                  </a:lnTo>
                  <a:lnTo>
                    <a:pt x="118" y="257"/>
                  </a:lnTo>
                  <a:lnTo>
                    <a:pt x="124" y="257"/>
                  </a:lnTo>
                  <a:lnTo>
                    <a:pt x="130" y="257"/>
                  </a:lnTo>
                  <a:lnTo>
                    <a:pt x="136" y="257"/>
                  </a:lnTo>
                  <a:lnTo>
                    <a:pt x="142" y="254"/>
                  </a:lnTo>
                  <a:lnTo>
                    <a:pt x="149" y="254"/>
                  </a:lnTo>
                  <a:lnTo>
                    <a:pt x="155" y="254"/>
                  </a:lnTo>
                  <a:lnTo>
                    <a:pt x="161" y="254"/>
                  </a:lnTo>
                  <a:lnTo>
                    <a:pt x="167" y="254"/>
                  </a:lnTo>
                  <a:lnTo>
                    <a:pt x="173" y="254"/>
                  </a:lnTo>
                  <a:lnTo>
                    <a:pt x="180" y="254"/>
                  </a:lnTo>
                  <a:lnTo>
                    <a:pt x="186" y="254"/>
                  </a:lnTo>
                  <a:lnTo>
                    <a:pt x="427" y="254"/>
                  </a:lnTo>
                  <a:lnTo>
                    <a:pt x="427" y="34"/>
                  </a:lnTo>
                  <a:lnTo>
                    <a:pt x="442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6" name="Freeform 460"/>
            <p:cNvSpPr>
              <a:spLocks/>
            </p:cNvSpPr>
            <p:nvPr/>
          </p:nvSpPr>
          <p:spPr bwMode="auto">
            <a:xfrm>
              <a:off x="1815" y="2343"/>
              <a:ext cx="68" cy="81"/>
            </a:xfrm>
            <a:custGeom>
              <a:avLst/>
              <a:gdLst>
                <a:gd name="T0" fmla="*/ 47 w 68"/>
                <a:gd name="T1" fmla="*/ 78 h 81"/>
                <a:gd name="T2" fmla="*/ 68 w 68"/>
                <a:gd name="T3" fmla="*/ 0 h 81"/>
                <a:gd name="T4" fmla="*/ 25 w 68"/>
                <a:gd name="T5" fmla="*/ 3 h 81"/>
                <a:gd name="T6" fmla="*/ 0 w 68"/>
                <a:gd name="T7" fmla="*/ 81 h 81"/>
                <a:gd name="T8" fmla="*/ 47 w 68"/>
                <a:gd name="T9" fmla="*/ 78 h 81"/>
                <a:gd name="T10" fmla="*/ 47 w 68"/>
                <a:gd name="T11" fmla="*/ 78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"/>
                <a:gd name="T19" fmla="*/ 0 h 81"/>
                <a:gd name="T20" fmla="*/ 68 w 68"/>
                <a:gd name="T21" fmla="*/ 81 h 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" h="81">
                  <a:moveTo>
                    <a:pt x="47" y="78"/>
                  </a:moveTo>
                  <a:lnTo>
                    <a:pt x="68" y="0"/>
                  </a:lnTo>
                  <a:lnTo>
                    <a:pt x="25" y="3"/>
                  </a:lnTo>
                  <a:lnTo>
                    <a:pt x="0" y="81"/>
                  </a:lnTo>
                  <a:lnTo>
                    <a:pt x="47" y="78"/>
                  </a:ln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7" name="Freeform 461"/>
            <p:cNvSpPr>
              <a:spLocks/>
            </p:cNvSpPr>
            <p:nvPr/>
          </p:nvSpPr>
          <p:spPr bwMode="auto">
            <a:xfrm>
              <a:off x="1899" y="2331"/>
              <a:ext cx="43" cy="93"/>
            </a:xfrm>
            <a:custGeom>
              <a:avLst/>
              <a:gdLst>
                <a:gd name="T0" fmla="*/ 28 w 43"/>
                <a:gd name="T1" fmla="*/ 0 h 93"/>
                <a:gd name="T2" fmla="*/ 0 w 43"/>
                <a:gd name="T3" fmla="*/ 93 h 93"/>
                <a:gd name="T4" fmla="*/ 12 w 43"/>
                <a:gd name="T5" fmla="*/ 93 h 93"/>
                <a:gd name="T6" fmla="*/ 43 w 43"/>
                <a:gd name="T7" fmla="*/ 3 h 93"/>
                <a:gd name="T8" fmla="*/ 28 w 43"/>
                <a:gd name="T9" fmla="*/ 0 h 93"/>
                <a:gd name="T10" fmla="*/ 28 w 43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93"/>
                <a:gd name="T20" fmla="*/ 43 w 43"/>
                <a:gd name="T21" fmla="*/ 93 h 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93">
                  <a:moveTo>
                    <a:pt x="28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43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8" name="Freeform 462"/>
            <p:cNvSpPr>
              <a:spLocks/>
            </p:cNvSpPr>
            <p:nvPr/>
          </p:nvSpPr>
          <p:spPr bwMode="auto">
            <a:xfrm>
              <a:off x="1911" y="2334"/>
              <a:ext cx="43" cy="90"/>
            </a:xfrm>
            <a:custGeom>
              <a:avLst/>
              <a:gdLst>
                <a:gd name="T0" fmla="*/ 19 w 43"/>
                <a:gd name="T1" fmla="*/ 90 h 90"/>
                <a:gd name="T2" fmla="*/ 43 w 43"/>
                <a:gd name="T3" fmla="*/ 0 h 90"/>
                <a:gd name="T4" fmla="*/ 25 w 43"/>
                <a:gd name="T5" fmla="*/ 0 h 90"/>
                <a:gd name="T6" fmla="*/ 0 w 43"/>
                <a:gd name="T7" fmla="*/ 90 h 90"/>
                <a:gd name="T8" fmla="*/ 19 w 43"/>
                <a:gd name="T9" fmla="*/ 90 h 90"/>
                <a:gd name="T10" fmla="*/ 19 w 43"/>
                <a:gd name="T11" fmla="*/ 90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90"/>
                <a:gd name="T20" fmla="*/ 43 w 43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90">
                  <a:moveTo>
                    <a:pt x="19" y="90"/>
                  </a:moveTo>
                  <a:lnTo>
                    <a:pt x="43" y="0"/>
                  </a:lnTo>
                  <a:lnTo>
                    <a:pt x="25" y="0"/>
                  </a:lnTo>
                  <a:lnTo>
                    <a:pt x="0" y="90"/>
                  </a:lnTo>
                  <a:lnTo>
                    <a:pt x="19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59" name="Freeform 463"/>
            <p:cNvSpPr>
              <a:spLocks/>
            </p:cNvSpPr>
            <p:nvPr/>
          </p:nvSpPr>
          <p:spPr bwMode="auto">
            <a:xfrm>
              <a:off x="1976" y="2331"/>
              <a:ext cx="49" cy="96"/>
            </a:xfrm>
            <a:custGeom>
              <a:avLst/>
              <a:gdLst>
                <a:gd name="T0" fmla="*/ 22 w 49"/>
                <a:gd name="T1" fmla="*/ 96 h 96"/>
                <a:gd name="T2" fmla="*/ 37 w 49"/>
                <a:gd name="T3" fmla="*/ 18 h 96"/>
                <a:gd name="T4" fmla="*/ 49 w 49"/>
                <a:gd name="T5" fmla="*/ 9 h 96"/>
                <a:gd name="T6" fmla="*/ 19 w 49"/>
                <a:gd name="T7" fmla="*/ 0 h 96"/>
                <a:gd name="T8" fmla="*/ 16 w 49"/>
                <a:gd name="T9" fmla="*/ 12 h 96"/>
                <a:gd name="T10" fmla="*/ 0 w 49"/>
                <a:gd name="T11" fmla="*/ 96 h 96"/>
                <a:gd name="T12" fmla="*/ 22 w 49"/>
                <a:gd name="T13" fmla="*/ 96 h 96"/>
                <a:gd name="T14" fmla="*/ 22 w 49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9"/>
                <a:gd name="T25" fmla="*/ 0 h 96"/>
                <a:gd name="T26" fmla="*/ 49 w 49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9" h="96">
                  <a:moveTo>
                    <a:pt x="22" y="96"/>
                  </a:moveTo>
                  <a:lnTo>
                    <a:pt x="37" y="18"/>
                  </a:lnTo>
                  <a:lnTo>
                    <a:pt x="49" y="9"/>
                  </a:lnTo>
                  <a:lnTo>
                    <a:pt x="19" y="0"/>
                  </a:lnTo>
                  <a:lnTo>
                    <a:pt x="16" y="12"/>
                  </a:lnTo>
                  <a:lnTo>
                    <a:pt x="0" y="96"/>
                  </a:lnTo>
                  <a:lnTo>
                    <a:pt x="22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0" name="Freeform 464"/>
            <p:cNvSpPr>
              <a:spLocks/>
            </p:cNvSpPr>
            <p:nvPr/>
          </p:nvSpPr>
          <p:spPr bwMode="auto">
            <a:xfrm>
              <a:off x="2041" y="2334"/>
              <a:ext cx="43" cy="90"/>
            </a:xfrm>
            <a:custGeom>
              <a:avLst/>
              <a:gdLst>
                <a:gd name="T0" fmla="*/ 25 w 43"/>
                <a:gd name="T1" fmla="*/ 87 h 90"/>
                <a:gd name="T2" fmla="*/ 43 w 43"/>
                <a:gd name="T3" fmla="*/ 0 h 90"/>
                <a:gd name="T4" fmla="*/ 15 w 43"/>
                <a:gd name="T5" fmla="*/ 0 h 90"/>
                <a:gd name="T6" fmla="*/ 0 w 43"/>
                <a:gd name="T7" fmla="*/ 90 h 90"/>
                <a:gd name="T8" fmla="*/ 25 w 43"/>
                <a:gd name="T9" fmla="*/ 87 h 90"/>
                <a:gd name="T10" fmla="*/ 25 w 43"/>
                <a:gd name="T11" fmla="*/ 87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90"/>
                <a:gd name="T20" fmla="*/ 43 w 43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90">
                  <a:moveTo>
                    <a:pt x="25" y="87"/>
                  </a:moveTo>
                  <a:lnTo>
                    <a:pt x="43" y="0"/>
                  </a:lnTo>
                  <a:lnTo>
                    <a:pt x="15" y="0"/>
                  </a:lnTo>
                  <a:lnTo>
                    <a:pt x="0" y="90"/>
                  </a:lnTo>
                  <a:lnTo>
                    <a:pt x="25" y="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1" name="Freeform 465"/>
            <p:cNvSpPr>
              <a:spLocks/>
            </p:cNvSpPr>
            <p:nvPr/>
          </p:nvSpPr>
          <p:spPr bwMode="auto">
            <a:xfrm>
              <a:off x="2007" y="2217"/>
              <a:ext cx="43" cy="98"/>
            </a:xfrm>
            <a:custGeom>
              <a:avLst/>
              <a:gdLst>
                <a:gd name="T0" fmla="*/ 22 w 43"/>
                <a:gd name="T1" fmla="*/ 95 h 98"/>
                <a:gd name="T2" fmla="*/ 43 w 43"/>
                <a:gd name="T3" fmla="*/ 9 h 98"/>
                <a:gd name="T4" fmla="*/ 15 w 43"/>
                <a:gd name="T5" fmla="*/ 0 h 98"/>
                <a:gd name="T6" fmla="*/ 15 w 43"/>
                <a:gd name="T7" fmla="*/ 18 h 98"/>
                <a:gd name="T8" fmla="*/ 0 w 43"/>
                <a:gd name="T9" fmla="*/ 98 h 98"/>
                <a:gd name="T10" fmla="*/ 22 w 43"/>
                <a:gd name="T11" fmla="*/ 95 h 98"/>
                <a:gd name="T12" fmla="*/ 22 w 43"/>
                <a:gd name="T13" fmla="*/ 95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"/>
                <a:gd name="T22" fmla="*/ 0 h 98"/>
                <a:gd name="T23" fmla="*/ 43 w 43"/>
                <a:gd name="T24" fmla="*/ 98 h 9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" h="98">
                  <a:moveTo>
                    <a:pt x="22" y="95"/>
                  </a:moveTo>
                  <a:lnTo>
                    <a:pt x="43" y="9"/>
                  </a:lnTo>
                  <a:lnTo>
                    <a:pt x="15" y="0"/>
                  </a:lnTo>
                  <a:lnTo>
                    <a:pt x="15" y="18"/>
                  </a:lnTo>
                  <a:lnTo>
                    <a:pt x="0" y="98"/>
                  </a:lnTo>
                  <a:lnTo>
                    <a:pt x="22" y="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2" name="Freeform 466"/>
            <p:cNvSpPr>
              <a:spLocks/>
            </p:cNvSpPr>
            <p:nvPr/>
          </p:nvSpPr>
          <p:spPr bwMode="auto">
            <a:xfrm>
              <a:off x="1812" y="2210"/>
              <a:ext cx="50" cy="102"/>
            </a:xfrm>
            <a:custGeom>
              <a:avLst/>
              <a:gdLst>
                <a:gd name="T0" fmla="*/ 13 w 50"/>
                <a:gd name="T1" fmla="*/ 102 h 102"/>
                <a:gd name="T2" fmla="*/ 50 w 50"/>
                <a:gd name="T3" fmla="*/ 3 h 102"/>
                <a:gd name="T4" fmla="*/ 34 w 50"/>
                <a:gd name="T5" fmla="*/ 0 h 102"/>
                <a:gd name="T6" fmla="*/ 0 w 50"/>
                <a:gd name="T7" fmla="*/ 96 h 102"/>
                <a:gd name="T8" fmla="*/ 13 w 50"/>
                <a:gd name="T9" fmla="*/ 102 h 102"/>
                <a:gd name="T10" fmla="*/ 13 w 50"/>
                <a:gd name="T11" fmla="*/ 102 h 1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0"/>
                <a:gd name="T19" fmla="*/ 0 h 102"/>
                <a:gd name="T20" fmla="*/ 50 w 50"/>
                <a:gd name="T21" fmla="*/ 102 h 10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0" h="102">
                  <a:moveTo>
                    <a:pt x="13" y="102"/>
                  </a:moveTo>
                  <a:lnTo>
                    <a:pt x="50" y="3"/>
                  </a:lnTo>
                  <a:lnTo>
                    <a:pt x="34" y="0"/>
                  </a:lnTo>
                  <a:lnTo>
                    <a:pt x="0" y="96"/>
                  </a:lnTo>
                  <a:lnTo>
                    <a:pt x="13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3" name="Freeform 467"/>
            <p:cNvSpPr>
              <a:spLocks/>
            </p:cNvSpPr>
            <p:nvPr/>
          </p:nvSpPr>
          <p:spPr bwMode="auto">
            <a:xfrm>
              <a:off x="1945" y="2210"/>
              <a:ext cx="43" cy="105"/>
            </a:xfrm>
            <a:custGeom>
              <a:avLst/>
              <a:gdLst>
                <a:gd name="T0" fmla="*/ 22 w 43"/>
                <a:gd name="T1" fmla="*/ 105 h 105"/>
                <a:gd name="T2" fmla="*/ 43 w 43"/>
                <a:gd name="T3" fmla="*/ 16 h 105"/>
                <a:gd name="T4" fmla="*/ 19 w 43"/>
                <a:gd name="T5" fmla="*/ 0 h 105"/>
                <a:gd name="T6" fmla="*/ 0 w 43"/>
                <a:gd name="T7" fmla="*/ 105 h 105"/>
                <a:gd name="T8" fmla="*/ 22 w 43"/>
                <a:gd name="T9" fmla="*/ 105 h 105"/>
                <a:gd name="T10" fmla="*/ 22 w 43"/>
                <a:gd name="T11" fmla="*/ 105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105"/>
                <a:gd name="T20" fmla="*/ 43 w 43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105">
                  <a:moveTo>
                    <a:pt x="22" y="105"/>
                  </a:moveTo>
                  <a:lnTo>
                    <a:pt x="43" y="16"/>
                  </a:lnTo>
                  <a:lnTo>
                    <a:pt x="19" y="0"/>
                  </a:lnTo>
                  <a:lnTo>
                    <a:pt x="0" y="105"/>
                  </a:lnTo>
                  <a:lnTo>
                    <a:pt x="22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4" name="Freeform 468"/>
            <p:cNvSpPr>
              <a:spLocks/>
            </p:cNvSpPr>
            <p:nvPr/>
          </p:nvSpPr>
          <p:spPr bwMode="auto">
            <a:xfrm>
              <a:off x="2075" y="2223"/>
              <a:ext cx="31" cy="96"/>
            </a:xfrm>
            <a:custGeom>
              <a:avLst/>
              <a:gdLst>
                <a:gd name="T0" fmla="*/ 0 w 31"/>
                <a:gd name="T1" fmla="*/ 92 h 96"/>
                <a:gd name="T2" fmla="*/ 15 w 31"/>
                <a:gd name="T3" fmla="*/ 21 h 96"/>
                <a:gd name="T4" fmla="*/ 0 w 31"/>
                <a:gd name="T5" fmla="*/ 6 h 96"/>
                <a:gd name="T6" fmla="*/ 22 w 31"/>
                <a:gd name="T7" fmla="*/ 0 h 96"/>
                <a:gd name="T8" fmla="*/ 31 w 31"/>
                <a:gd name="T9" fmla="*/ 12 h 96"/>
                <a:gd name="T10" fmla="*/ 15 w 31"/>
                <a:gd name="T11" fmla="*/ 96 h 96"/>
                <a:gd name="T12" fmla="*/ 0 w 31"/>
                <a:gd name="T13" fmla="*/ 92 h 96"/>
                <a:gd name="T14" fmla="*/ 0 w 31"/>
                <a:gd name="T15" fmla="*/ 92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1"/>
                <a:gd name="T25" fmla="*/ 0 h 96"/>
                <a:gd name="T26" fmla="*/ 31 w 3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1" h="96">
                  <a:moveTo>
                    <a:pt x="0" y="92"/>
                  </a:moveTo>
                  <a:lnTo>
                    <a:pt x="15" y="21"/>
                  </a:lnTo>
                  <a:lnTo>
                    <a:pt x="0" y="6"/>
                  </a:lnTo>
                  <a:lnTo>
                    <a:pt x="22" y="0"/>
                  </a:lnTo>
                  <a:lnTo>
                    <a:pt x="31" y="12"/>
                  </a:lnTo>
                  <a:lnTo>
                    <a:pt x="15" y="96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5" name="Freeform 469"/>
            <p:cNvSpPr>
              <a:spLocks/>
            </p:cNvSpPr>
            <p:nvPr/>
          </p:nvSpPr>
          <p:spPr bwMode="auto">
            <a:xfrm>
              <a:off x="2087" y="2213"/>
              <a:ext cx="37" cy="106"/>
            </a:xfrm>
            <a:custGeom>
              <a:avLst/>
              <a:gdLst>
                <a:gd name="T0" fmla="*/ 13 w 37"/>
                <a:gd name="T1" fmla="*/ 102 h 106"/>
                <a:gd name="T2" fmla="*/ 37 w 37"/>
                <a:gd name="T3" fmla="*/ 7 h 106"/>
                <a:gd name="T4" fmla="*/ 25 w 37"/>
                <a:gd name="T5" fmla="*/ 0 h 106"/>
                <a:gd name="T6" fmla="*/ 16 w 37"/>
                <a:gd name="T7" fmla="*/ 16 h 106"/>
                <a:gd name="T8" fmla="*/ 0 w 37"/>
                <a:gd name="T9" fmla="*/ 106 h 106"/>
                <a:gd name="T10" fmla="*/ 13 w 37"/>
                <a:gd name="T11" fmla="*/ 102 h 106"/>
                <a:gd name="T12" fmla="*/ 13 w 37"/>
                <a:gd name="T13" fmla="*/ 102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7"/>
                <a:gd name="T22" fmla="*/ 0 h 106"/>
                <a:gd name="T23" fmla="*/ 37 w 37"/>
                <a:gd name="T24" fmla="*/ 106 h 1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7" h="106">
                  <a:moveTo>
                    <a:pt x="13" y="102"/>
                  </a:moveTo>
                  <a:lnTo>
                    <a:pt x="37" y="7"/>
                  </a:lnTo>
                  <a:lnTo>
                    <a:pt x="25" y="0"/>
                  </a:lnTo>
                  <a:lnTo>
                    <a:pt x="16" y="16"/>
                  </a:lnTo>
                  <a:lnTo>
                    <a:pt x="0" y="106"/>
                  </a:lnTo>
                  <a:lnTo>
                    <a:pt x="13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6" name="Freeform 470"/>
            <p:cNvSpPr>
              <a:spLocks/>
            </p:cNvSpPr>
            <p:nvPr/>
          </p:nvSpPr>
          <p:spPr bwMode="auto">
            <a:xfrm>
              <a:off x="1519" y="1818"/>
              <a:ext cx="142" cy="154"/>
            </a:xfrm>
            <a:custGeom>
              <a:avLst/>
              <a:gdLst>
                <a:gd name="T0" fmla="*/ 136 w 142"/>
                <a:gd name="T1" fmla="*/ 65 h 154"/>
                <a:gd name="T2" fmla="*/ 136 w 142"/>
                <a:gd name="T3" fmla="*/ 62 h 154"/>
                <a:gd name="T4" fmla="*/ 139 w 142"/>
                <a:gd name="T5" fmla="*/ 59 h 154"/>
                <a:gd name="T6" fmla="*/ 142 w 142"/>
                <a:gd name="T7" fmla="*/ 56 h 154"/>
                <a:gd name="T8" fmla="*/ 142 w 142"/>
                <a:gd name="T9" fmla="*/ 53 h 154"/>
                <a:gd name="T10" fmla="*/ 142 w 142"/>
                <a:gd name="T11" fmla="*/ 43 h 154"/>
                <a:gd name="T12" fmla="*/ 139 w 142"/>
                <a:gd name="T13" fmla="*/ 34 h 154"/>
                <a:gd name="T14" fmla="*/ 136 w 142"/>
                <a:gd name="T15" fmla="*/ 25 h 154"/>
                <a:gd name="T16" fmla="*/ 133 w 142"/>
                <a:gd name="T17" fmla="*/ 19 h 154"/>
                <a:gd name="T18" fmla="*/ 126 w 142"/>
                <a:gd name="T19" fmla="*/ 9 h 154"/>
                <a:gd name="T20" fmla="*/ 120 w 142"/>
                <a:gd name="T21" fmla="*/ 3 h 154"/>
                <a:gd name="T22" fmla="*/ 111 w 142"/>
                <a:gd name="T23" fmla="*/ 0 h 154"/>
                <a:gd name="T24" fmla="*/ 102 w 142"/>
                <a:gd name="T25" fmla="*/ 0 h 154"/>
                <a:gd name="T26" fmla="*/ 93 w 142"/>
                <a:gd name="T27" fmla="*/ 0 h 154"/>
                <a:gd name="T28" fmla="*/ 86 w 142"/>
                <a:gd name="T29" fmla="*/ 3 h 154"/>
                <a:gd name="T30" fmla="*/ 80 w 142"/>
                <a:gd name="T31" fmla="*/ 3 h 154"/>
                <a:gd name="T32" fmla="*/ 74 w 142"/>
                <a:gd name="T33" fmla="*/ 6 h 154"/>
                <a:gd name="T34" fmla="*/ 68 w 142"/>
                <a:gd name="T35" fmla="*/ 9 h 154"/>
                <a:gd name="T36" fmla="*/ 62 w 142"/>
                <a:gd name="T37" fmla="*/ 15 h 154"/>
                <a:gd name="T38" fmla="*/ 55 w 142"/>
                <a:gd name="T39" fmla="*/ 19 h 154"/>
                <a:gd name="T40" fmla="*/ 49 w 142"/>
                <a:gd name="T41" fmla="*/ 22 h 154"/>
                <a:gd name="T42" fmla="*/ 40 w 142"/>
                <a:gd name="T43" fmla="*/ 25 h 154"/>
                <a:gd name="T44" fmla="*/ 31 w 142"/>
                <a:gd name="T45" fmla="*/ 28 h 154"/>
                <a:gd name="T46" fmla="*/ 25 w 142"/>
                <a:gd name="T47" fmla="*/ 34 h 154"/>
                <a:gd name="T48" fmla="*/ 15 w 142"/>
                <a:gd name="T49" fmla="*/ 37 h 154"/>
                <a:gd name="T50" fmla="*/ 9 w 142"/>
                <a:gd name="T51" fmla="*/ 43 h 154"/>
                <a:gd name="T52" fmla="*/ 6 w 142"/>
                <a:gd name="T53" fmla="*/ 49 h 154"/>
                <a:gd name="T54" fmla="*/ 3 w 142"/>
                <a:gd name="T55" fmla="*/ 56 h 154"/>
                <a:gd name="T56" fmla="*/ 0 w 142"/>
                <a:gd name="T57" fmla="*/ 65 h 154"/>
                <a:gd name="T58" fmla="*/ 3 w 142"/>
                <a:gd name="T59" fmla="*/ 80 h 154"/>
                <a:gd name="T60" fmla="*/ 6 w 142"/>
                <a:gd name="T61" fmla="*/ 96 h 154"/>
                <a:gd name="T62" fmla="*/ 9 w 142"/>
                <a:gd name="T63" fmla="*/ 111 h 154"/>
                <a:gd name="T64" fmla="*/ 18 w 142"/>
                <a:gd name="T65" fmla="*/ 124 h 154"/>
                <a:gd name="T66" fmla="*/ 28 w 142"/>
                <a:gd name="T67" fmla="*/ 136 h 154"/>
                <a:gd name="T68" fmla="*/ 40 w 142"/>
                <a:gd name="T69" fmla="*/ 145 h 154"/>
                <a:gd name="T70" fmla="*/ 55 w 142"/>
                <a:gd name="T71" fmla="*/ 151 h 154"/>
                <a:gd name="T72" fmla="*/ 71 w 142"/>
                <a:gd name="T73" fmla="*/ 154 h 154"/>
                <a:gd name="T74" fmla="*/ 80 w 142"/>
                <a:gd name="T75" fmla="*/ 151 h 154"/>
                <a:gd name="T76" fmla="*/ 83 w 142"/>
                <a:gd name="T77" fmla="*/ 148 h 154"/>
                <a:gd name="T78" fmla="*/ 89 w 142"/>
                <a:gd name="T79" fmla="*/ 145 h 154"/>
                <a:gd name="T80" fmla="*/ 93 w 142"/>
                <a:gd name="T81" fmla="*/ 139 h 154"/>
                <a:gd name="T82" fmla="*/ 93 w 142"/>
                <a:gd name="T83" fmla="*/ 133 h 154"/>
                <a:gd name="T84" fmla="*/ 93 w 142"/>
                <a:gd name="T85" fmla="*/ 127 h 154"/>
                <a:gd name="T86" fmla="*/ 96 w 142"/>
                <a:gd name="T87" fmla="*/ 117 h 154"/>
                <a:gd name="T88" fmla="*/ 96 w 142"/>
                <a:gd name="T89" fmla="*/ 111 h 154"/>
                <a:gd name="T90" fmla="*/ 68 w 142"/>
                <a:gd name="T91" fmla="*/ 68 h 154"/>
                <a:gd name="T92" fmla="*/ 71 w 142"/>
                <a:gd name="T93" fmla="*/ 65 h 154"/>
                <a:gd name="T94" fmla="*/ 74 w 142"/>
                <a:gd name="T95" fmla="*/ 59 h 154"/>
                <a:gd name="T96" fmla="*/ 77 w 142"/>
                <a:gd name="T97" fmla="*/ 56 h 154"/>
                <a:gd name="T98" fmla="*/ 83 w 142"/>
                <a:gd name="T99" fmla="*/ 49 h 154"/>
                <a:gd name="T100" fmla="*/ 86 w 142"/>
                <a:gd name="T101" fmla="*/ 46 h 154"/>
                <a:gd name="T102" fmla="*/ 89 w 142"/>
                <a:gd name="T103" fmla="*/ 43 h 154"/>
                <a:gd name="T104" fmla="*/ 96 w 142"/>
                <a:gd name="T105" fmla="*/ 40 h 154"/>
                <a:gd name="T106" fmla="*/ 102 w 142"/>
                <a:gd name="T107" fmla="*/ 37 h 154"/>
                <a:gd name="T108" fmla="*/ 105 w 142"/>
                <a:gd name="T109" fmla="*/ 40 h 154"/>
                <a:gd name="T110" fmla="*/ 108 w 142"/>
                <a:gd name="T111" fmla="*/ 46 h 154"/>
                <a:gd name="T112" fmla="*/ 114 w 142"/>
                <a:gd name="T113" fmla="*/ 49 h 154"/>
                <a:gd name="T114" fmla="*/ 117 w 142"/>
                <a:gd name="T115" fmla="*/ 53 h 154"/>
                <a:gd name="T116" fmla="*/ 120 w 142"/>
                <a:gd name="T117" fmla="*/ 56 h 154"/>
                <a:gd name="T118" fmla="*/ 126 w 142"/>
                <a:gd name="T119" fmla="*/ 56 h 154"/>
                <a:gd name="T120" fmla="*/ 130 w 142"/>
                <a:gd name="T121" fmla="*/ 59 h 154"/>
                <a:gd name="T122" fmla="*/ 136 w 142"/>
                <a:gd name="T123" fmla="*/ 65 h 154"/>
                <a:gd name="T124" fmla="*/ 136 w 142"/>
                <a:gd name="T125" fmla="*/ 65 h 1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42"/>
                <a:gd name="T190" fmla="*/ 0 h 154"/>
                <a:gd name="T191" fmla="*/ 142 w 142"/>
                <a:gd name="T192" fmla="*/ 154 h 15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42" h="154">
                  <a:moveTo>
                    <a:pt x="136" y="65"/>
                  </a:moveTo>
                  <a:lnTo>
                    <a:pt x="136" y="62"/>
                  </a:lnTo>
                  <a:lnTo>
                    <a:pt x="139" y="59"/>
                  </a:lnTo>
                  <a:lnTo>
                    <a:pt x="142" y="56"/>
                  </a:lnTo>
                  <a:lnTo>
                    <a:pt x="142" y="53"/>
                  </a:lnTo>
                  <a:lnTo>
                    <a:pt x="142" y="43"/>
                  </a:lnTo>
                  <a:lnTo>
                    <a:pt x="139" y="34"/>
                  </a:lnTo>
                  <a:lnTo>
                    <a:pt x="136" y="25"/>
                  </a:lnTo>
                  <a:lnTo>
                    <a:pt x="133" y="19"/>
                  </a:lnTo>
                  <a:lnTo>
                    <a:pt x="126" y="9"/>
                  </a:lnTo>
                  <a:lnTo>
                    <a:pt x="120" y="3"/>
                  </a:lnTo>
                  <a:lnTo>
                    <a:pt x="111" y="0"/>
                  </a:lnTo>
                  <a:lnTo>
                    <a:pt x="102" y="0"/>
                  </a:lnTo>
                  <a:lnTo>
                    <a:pt x="93" y="0"/>
                  </a:lnTo>
                  <a:lnTo>
                    <a:pt x="86" y="3"/>
                  </a:lnTo>
                  <a:lnTo>
                    <a:pt x="80" y="3"/>
                  </a:lnTo>
                  <a:lnTo>
                    <a:pt x="74" y="6"/>
                  </a:lnTo>
                  <a:lnTo>
                    <a:pt x="68" y="9"/>
                  </a:lnTo>
                  <a:lnTo>
                    <a:pt x="62" y="15"/>
                  </a:lnTo>
                  <a:lnTo>
                    <a:pt x="55" y="19"/>
                  </a:lnTo>
                  <a:lnTo>
                    <a:pt x="49" y="22"/>
                  </a:lnTo>
                  <a:lnTo>
                    <a:pt x="40" y="25"/>
                  </a:lnTo>
                  <a:lnTo>
                    <a:pt x="31" y="28"/>
                  </a:lnTo>
                  <a:lnTo>
                    <a:pt x="25" y="34"/>
                  </a:lnTo>
                  <a:lnTo>
                    <a:pt x="15" y="37"/>
                  </a:lnTo>
                  <a:lnTo>
                    <a:pt x="9" y="43"/>
                  </a:lnTo>
                  <a:lnTo>
                    <a:pt x="6" y="49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3" y="80"/>
                  </a:lnTo>
                  <a:lnTo>
                    <a:pt x="6" y="96"/>
                  </a:lnTo>
                  <a:lnTo>
                    <a:pt x="9" y="111"/>
                  </a:lnTo>
                  <a:lnTo>
                    <a:pt x="18" y="124"/>
                  </a:lnTo>
                  <a:lnTo>
                    <a:pt x="28" y="136"/>
                  </a:lnTo>
                  <a:lnTo>
                    <a:pt x="40" y="145"/>
                  </a:lnTo>
                  <a:lnTo>
                    <a:pt x="55" y="151"/>
                  </a:lnTo>
                  <a:lnTo>
                    <a:pt x="71" y="154"/>
                  </a:lnTo>
                  <a:lnTo>
                    <a:pt x="80" y="151"/>
                  </a:lnTo>
                  <a:lnTo>
                    <a:pt x="83" y="148"/>
                  </a:lnTo>
                  <a:lnTo>
                    <a:pt x="89" y="145"/>
                  </a:lnTo>
                  <a:lnTo>
                    <a:pt x="93" y="139"/>
                  </a:lnTo>
                  <a:lnTo>
                    <a:pt x="93" y="133"/>
                  </a:lnTo>
                  <a:lnTo>
                    <a:pt x="93" y="127"/>
                  </a:lnTo>
                  <a:lnTo>
                    <a:pt x="96" y="117"/>
                  </a:lnTo>
                  <a:lnTo>
                    <a:pt x="96" y="111"/>
                  </a:lnTo>
                  <a:lnTo>
                    <a:pt x="68" y="68"/>
                  </a:lnTo>
                  <a:lnTo>
                    <a:pt x="71" y="65"/>
                  </a:lnTo>
                  <a:lnTo>
                    <a:pt x="74" y="59"/>
                  </a:lnTo>
                  <a:lnTo>
                    <a:pt x="77" y="56"/>
                  </a:lnTo>
                  <a:lnTo>
                    <a:pt x="83" y="49"/>
                  </a:lnTo>
                  <a:lnTo>
                    <a:pt x="86" y="46"/>
                  </a:lnTo>
                  <a:lnTo>
                    <a:pt x="89" y="43"/>
                  </a:lnTo>
                  <a:lnTo>
                    <a:pt x="96" y="40"/>
                  </a:lnTo>
                  <a:lnTo>
                    <a:pt x="102" y="37"/>
                  </a:lnTo>
                  <a:lnTo>
                    <a:pt x="105" y="40"/>
                  </a:lnTo>
                  <a:lnTo>
                    <a:pt x="108" y="46"/>
                  </a:lnTo>
                  <a:lnTo>
                    <a:pt x="114" y="49"/>
                  </a:lnTo>
                  <a:lnTo>
                    <a:pt x="117" y="53"/>
                  </a:lnTo>
                  <a:lnTo>
                    <a:pt x="120" y="56"/>
                  </a:lnTo>
                  <a:lnTo>
                    <a:pt x="126" y="56"/>
                  </a:lnTo>
                  <a:lnTo>
                    <a:pt x="130" y="59"/>
                  </a:lnTo>
                  <a:lnTo>
                    <a:pt x="136" y="6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7" name="Freeform 471"/>
            <p:cNvSpPr>
              <a:spLocks/>
            </p:cNvSpPr>
            <p:nvPr/>
          </p:nvSpPr>
          <p:spPr bwMode="auto">
            <a:xfrm>
              <a:off x="1605" y="2251"/>
              <a:ext cx="37" cy="49"/>
            </a:xfrm>
            <a:custGeom>
              <a:avLst/>
              <a:gdLst>
                <a:gd name="T0" fmla="*/ 37 w 37"/>
                <a:gd name="T1" fmla="*/ 46 h 49"/>
                <a:gd name="T2" fmla="*/ 31 w 37"/>
                <a:gd name="T3" fmla="*/ 40 h 49"/>
                <a:gd name="T4" fmla="*/ 28 w 37"/>
                <a:gd name="T5" fmla="*/ 34 h 49"/>
                <a:gd name="T6" fmla="*/ 25 w 37"/>
                <a:gd name="T7" fmla="*/ 27 h 49"/>
                <a:gd name="T8" fmla="*/ 19 w 37"/>
                <a:gd name="T9" fmla="*/ 21 h 49"/>
                <a:gd name="T10" fmla="*/ 16 w 37"/>
                <a:gd name="T11" fmla="*/ 18 h 49"/>
                <a:gd name="T12" fmla="*/ 10 w 37"/>
                <a:gd name="T13" fmla="*/ 12 h 49"/>
                <a:gd name="T14" fmla="*/ 7 w 37"/>
                <a:gd name="T15" fmla="*/ 6 h 49"/>
                <a:gd name="T16" fmla="*/ 0 w 37"/>
                <a:gd name="T17" fmla="*/ 0 h 49"/>
                <a:gd name="T18" fmla="*/ 0 w 37"/>
                <a:gd name="T19" fmla="*/ 6 h 49"/>
                <a:gd name="T20" fmla="*/ 0 w 37"/>
                <a:gd name="T21" fmla="*/ 15 h 49"/>
                <a:gd name="T22" fmla="*/ 0 w 37"/>
                <a:gd name="T23" fmla="*/ 24 h 49"/>
                <a:gd name="T24" fmla="*/ 3 w 37"/>
                <a:gd name="T25" fmla="*/ 30 h 49"/>
                <a:gd name="T26" fmla="*/ 7 w 37"/>
                <a:gd name="T27" fmla="*/ 40 h 49"/>
                <a:gd name="T28" fmla="*/ 10 w 37"/>
                <a:gd name="T29" fmla="*/ 43 h 49"/>
                <a:gd name="T30" fmla="*/ 16 w 37"/>
                <a:gd name="T31" fmla="*/ 49 h 49"/>
                <a:gd name="T32" fmla="*/ 25 w 37"/>
                <a:gd name="T33" fmla="*/ 49 h 49"/>
                <a:gd name="T34" fmla="*/ 28 w 37"/>
                <a:gd name="T35" fmla="*/ 49 h 49"/>
                <a:gd name="T36" fmla="*/ 31 w 37"/>
                <a:gd name="T37" fmla="*/ 49 h 49"/>
                <a:gd name="T38" fmla="*/ 34 w 37"/>
                <a:gd name="T39" fmla="*/ 46 h 49"/>
                <a:gd name="T40" fmla="*/ 37 w 37"/>
                <a:gd name="T41" fmla="*/ 46 h 49"/>
                <a:gd name="T42" fmla="*/ 37 w 37"/>
                <a:gd name="T43" fmla="*/ 46 h 4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7"/>
                <a:gd name="T67" fmla="*/ 0 h 49"/>
                <a:gd name="T68" fmla="*/ 37 w 37"/>
                <a:gd name="T69" fmla="*/ 49 h 4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7" h="49">
                  <a:moveTo>
                    <a:pt x="37" y="46"/>
                  </a:moveTo>
                  <a:lnTo>
                    <a:pt x="31" y="40"/>
                  </a:lnTo>
                  <a:lnTo>
                    <a:pt x="28" y="34"/>
                  </a:lnTo>
                  <a:lnTo>
                    <a:pt x="25" y="27"/>
                  </a:lnTo>
                  <a:lnTo>
                    <a:pt x="19" y="21"/>
                  </a:lnTo>
                  <a:lnTo>
                    <a:pt x="16" y="18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15"/>
                  </a:lnTo>
                  <a:lnTo>
                    <a:pt x="0" y="24"/>
                  </a:lnTo>
                  <a:lnTo>
                    <a:pt x="3" y="30"/>
                  </a:lnTo>
                  <a:lnTo>
                    <a:pt x="7" y="40"/>
                  </a:lnTo>
                  <a:lnTo>
                    <a:pt x="10" y="43"/>
                  </a:lnTo>
                  <a:lnTo>
                    <a:pt x="16" y="49"/>
                  </a:lnTo>
                  <a:lnTo>
                    <a:pt x="25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4" y="46"/>
                  </a:lnTo>
                  <a:lnTo>
                    <a:pt x="37" y="46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8" name="Freeform 472"/>
            <p:cNvSpPr>
              <a:spLocks/>
            </p:cNvSpPr>
            <p:nvPr/>
          </p:nvSpPr>
          <p:spPr bwMode="auto">
            <a:xfrm>
              <a:off x="1482" y="2180"/>
              <a:ext cx="96" cy="139"/>
            </a:xfrm>
            <a:custGeom>
              <a:avLst/>
              <a:gdLst>
                <a:gd name="T0" fmla="*/ 65 w 96"/>
                <a:gd name="T1" fmla="*/ 135 h 139"/>
                <a:gd name="T2" fmla="*/ 58 w 96"/>
                <a:gd name="T3" fmla="*/ 126 h 139"/>
                <a:gd name="T4" fmla="*/ 52 w 96"/>
                <a:gd name="T5" fmla="*/ 117 h 139"/>
                <a:gd name="T6" fmla="*/ 43 w 96"/>
                <a:gd name="T7" fmla="*/ 108 h 139"/>
                <a:gd name="T8" fmla="*/ 37 w 96"/>
                <a:gd name="T9" fmla="*/ 98 h 139"/>
                <a:gd name="T10" fmla="*/ 31 w 96"/>
                <a:gd name="T11" fmla="*/ 89 h 139"/>
                <a:gd name="T12" fmla="*/ 28 w 96"/>
                <a:gd name="T13" fmla="*/ 80 h 139"/>
                <a:gd name="T14" fmla="*/ 24 w 96"/>
                <a:gd name="T15" fmla="*/ 67 h 139"/>
                <a:gd name="T16" fmla="*/ 24 w 96"/>
                <a:gd name="T17" fmla="*/ 55 h 139"/>
                <a:gd name="T18" fmla="*/ 24 w 96"/>
                <a:gd name="T19" fmla="*/ 46 h 139"/>
                <a:gd name="T20" fmla="*/ 31 w 96"/>
                <a:gd name="T21" fmla="*/ 37 h 139"/>
                <a:gd name="T22" fmla="*/ 37 w 96"/>
                <a:gd name="T23" fmla="*/ 30 h 139"/>
                <a:gd name="T24" fmla="*/ 46 w 96"/>
                <a:gd name="T25" fmla="*/ 24 h 139"/>
                <a:gd name="T26" fmla="*/ 58 w 96"/>
                <a:gd name="T27" fmla="*/ 21 h 139"/>
                <a:gd name="T28" fmla="*/ 71 w 96"/>
                <a:gd name="T29" fmla="*/ 18 h 139"/>
                <a:gd name="T30" fmla="*/ 83 w 96"/>
                <a:gd name="T31" fmla="*/ 15 h 139"/>
                <a:gd name="T32" fmla="*/ 96 w 96"/>
                <a:gd name="T33" fmla="*/ 12 h 139"/>
                <a:gd name="T34" fmla="*/ 92 w 96"/>
                <a:gd name="T35" fmla="*/ 9 h 139"/>
                <a:gd name="T36" fmla="*/ 89 w 96"/>
                <a:gd name="T37" fmla="*/ 6 h 139"/>
                <a:gd name="T38" fmla="*/ 86 w 96"/>
                <a:gd name="T39" fmla="*/ 6 h 139"/>
                <a:gd name="T40" fmla="*/ 83 w 96"/>
                <a:gd name="T41" fmla="*/ 3 h 139"/>
                <a:gd name="T42" fmla="*/ 80 w 96"/>
                <a:gd name="T43" fmla="*/ 3 h 139"/>
                <a:gd name="T44" fmla="*/ 77 w 96"/>
                <a:gd name="T45" fmla="*/ 0 h 139"/>
                <a:gd name="T46" fmla="*/ 74 w 96"/>
                <a:gd name="T47" fmla="*/ 0 h 139"/>
                <a:gd name="T48" fmla="*/ 71 w 96"/>
                <a:gd name="T49" fmla="*/ 0 h 139"/>
                <a:gd name="T50" fmla="*/ 58 w 96"/>
                <a:gd name="T51" fmla="*/ 0 h 139"/>
                <a:gd name="T52" fmla="*/ 46 w 96"/>
                <a:gd name="T53" fmla="*/ 0 h 139"/>
                <a:gd name="T54" fmla="*/ 34 w 96"/>
                <a:gd name="T55" fmla="*/ 3 h 139"/>
                <a:gd name="T56" fmla="*/ 21 w 96"/>
                <a:gd name="T57" fmla="*/ 6 h 139"/>
                <a:gd name="T58" fmla="*/ 12 w 96"/>
                <a:gd name="T59" fmla="*/ 12 h 139"/>
                <a:gd name="T60" fmla="*/ 6 w 96"/>
                <a:gd name="T61" fmla="*/ 18 h 139"/>
                <a:gd name="T62" fmla="*/ 0 w 96"/>
                <a:gd name="T63" fmla="*/ 24 h 139"/>
                <a:gd name="T64" fmla="*/ 0 w 96"/>
                <a:gd name="T65" fmla="*/ 33 h 139"/>
                <a:gd name="T66" fmla="*/ 0 w 96"/>
                <a:gd name="T67" fmla="*/ 49 h 139"/>
                <a:gd name="T68" fmla="*/ 6 w 96"/>
                <a:gd name="T69" fmla="*/ 61 h 139"/>
                <a:gd name="T70" fmla="*/ 9 w 96"/>
                <a:gd name="T71" fmla="*/ 71 h 139"/>
                <a:gd name="T72" fmla="*/ 15 w 96"/>
                <a:gd name="T73" fmla="*/ 86 h 139"/>
                <a:gd name="T74" fmla="*/ 18 w 96"/>
                <a:gd name="T75" fmla="*/ 95 h 139"/>
                <a:gd name="T76" fmla="*/ 24 w 96"/>
                <a:gd name="T77" fmla="*/ 105 h 139"/>
                <a:gd name="T78" fmla="*/ 28 w 96"/>
                <a:gd name="T79" fmla="*/ 114 h 139"/>
                <a:gd name="T80" fmla="*/ 34 w 96"/>
                <a:gd name="T81" fmla="*/ 123 h 139"/>
                <a:gd name="T82" fmla="*/ 40 w 96"/>
                <a:gd name="T83" fmla="*/ 129 h 139"/>
                <a:gd name="T84" fmla="*/ 46 w 96"/>
                <a:gd name="T85" fmla="*/ 135 h 139"/>
                <a:gd name="T86" fmla="*/ 55 w 96"/>
                <a:gd name="T87" fmla="*/ 139 h 139"/>
                <a:gd name="T88" fmla="*/ 65 w 96"/>
                <a:gd name="T89" fmla="*/ 135 h 139"/>
                <a:gd name="T90" fmla="*/ 65 w 96"/>
                <a:gd name="T91" fmla="*/ 135 h 13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96"/>
                <a:gd name="T139" fmla="*/ 0 h 139"/>
                <a:gd name="T140" fmla="*/ 96 w 96"/>
                <a:gd name="T141" fmla="*/ 139 h 13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96" h="139">
                  <a:moveTo>
                    <a:pt x="65" y="135"/>
                  </a:moveTo>
                  <a:lnTo>
                    <a:pt x="58" y="126"/>
                  </a:lnTo>
                  <a:lnTo>
                    <a:pt x="52" y="117"/>
                  </a:lnTo>
                  <a:lnTo>
                    <a:pt x="43" y="108"/>
                  </a:lnTo>
                  <a:lnTo>
                    <a:pt x="37" y="98"/>
                  </a:lnTo>
                  <a:lnTo>
                    <a:pt x="31" y="89"/>
                  </a:lnTo>
                  <a:lnTo>
                    <a:pt x="28" y="80"/>
                  </a:lnTo>
                  <a:lnTo>
                    <a:pt x="24" y="67"/>
                  </a:lnTo>
                  <a:lnTo>
                    <a:pt x="24" y="55"/>
                  </a:lnTo>
                  <a:lnTo>
                    <a:pt x="24" y="46"/>
                  </a:lnTo>
                  <a:lnTo>
                    <a:pt x="31" y="37"/>
                  </a:lnTo>
                  <a:lnTo>
                    <a:pt x="37" y="30"/>
                  </a:lnTo>
                  <a:lnTo>
                    <a:pt x="46" y="24"/>
                  </a:lnTo>
                  <a:lnTo>
                    <a:pt x="58" y="21"/>
                  </a:lnTo>
                  <a:lnTo>
                    <a:pt x="71" y="18"/>
                  </a:lnTo>
                  <a:lnTo>
                    <a:pt x="83" y="15"/>
                  </a:lnTo>
                  <a:lnTo>
                    <a:pt x="96" y="12"/>
                  </a:lnTo>
                  <a:lnTo>
                    <a:pt x="92" y="9"/>
                  </a:lnTo>
                  <a:lnTo>
                    <a:pt x="89" y="6"/>
                  </a:lnTo>
                  <a:lnTo>
                    <a:pt x="86" y="6"/>
                  </a:lnTo>
                  <a:lnTo>
                    <a:pt x="83" y="3"/>
                  </a:lnTo>
                  <a:lnTo>
                    <a:pt x="80" y="3"/>
                  </a:lnTo>
                  <a:lnTo>
                    <a:pt x="77" y="0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58" y="0"/>
                  </a:lnTo>
                  <a:lnTo>
                    <a:pt x="46" y="0"/>
                  </a:lnTo>
                  <a:lnTo>
                    <a:pt x="34" y="3"/>
                  </a:lnTo>
                  <a:lnTo>
                    <a:pt x="21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0" y="49"/>
                  </a:lnTo>
                  <a:lnTo>
                    <a:pt x="6" y="61"/>
                  </a:lnTo>
                  <a:lnTo>
                    <a:pt x="9" y="71"/>
                  </a:lnTo>
                  <a:lnTo>
                    <a:pt x="15" y="86"/>
                  </a:lnTo>
                  <a:lnTo>
                    <a:pt x="18" y="95"/>
                  </a:lnTo>
                  <a:lnTo>
                    <a:pt x="24" y="105"/>
                  </a:lnTo>
                  <a:lnTo>
                    <a:pt x="28" y="114"/>
                  </a:lnTo>
                  <a:lnTo>
                    <a:pt x="34" y="123"/>
                  </a:lnTo>
                  <a:lnTo>
                    <a:pt x="40" y="129"/>
                  </a:lnTo>
                  <a:lnTo>
                    <a:pt x="46" y="135"/>
                  </a:lnTo>
                  <a:lnTo>
                    <a:pt x="55" y="139"/>
                  </a:lnTo>
                  <a:lnTo>
                    <a:pt x="65" y="135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69" name="Freeform 473"/>
            <p:cNvSpPr>
              <a:spLocks/>
            </p:cNvSpPr>
            <p:nvPr/>
          </p:nvSpPr>
          <p:spPr bwMode="auto">
            <a:xfrm>
              <a:off x="1395" y="2272"/>
              <a:ext cx="145" cy="139"/>
            </a:xfrm>
            <a:custGeom>
              <a:avLst/>
              <a:gdLst>
                <a:gd name="T0" fmla="*/ 0 w 145"/>
                <a:gd name="T1" fmla="*/ 0 h 139"/>
                <a:gd name="T2" fmla="*/ 10 w 145"/>
                <a:gd name="T3" fmla="*/ 3 h 139"/>
                <a:gd name="T4" fmla="*/ 19 w 145"/>
                <a:gd name="T5" fmla="*/ 9 h 139"/>
                <a:gd name="T6" fmla="*/ 25 w 145"/>
                <a:gd name="T7" fmla="*/ 13 h 139"/>
                <a:gd name="T8" fmla="*/ 34 w 145"/>
                <a:gd name="T9" fmla="*/ 19 h 139"/>
                <a:gd name="T10" fmla="*/ 44 w 145"/>
                <a:gd name="T11" fmla="*/ 22 h 139"/>
                <a:gd name="T12" fmla="*/ 50 w 145"/>
                <a:gd name="T13" fmla="*/ 25 h 139"/>
                <a:gd name="T14" fmla="*/ 59 w 145"/>
                <a:gd name="T15" fmla="*/ 31 h 139"/>
                <a:gd name="T16" fmla="*/ 65 w 145"/>
                <a:gd name="T17" fmla="*/ 34 h 139"/>
                <a:gd name="T18" fmla="*/ 74 w 145"/>
                <a:gd name="T19" fmla="*/ 37 h 139"/>
                <a:gd name="T20" fmla="*/ 81 w 145"/>
                <a:gd name="T21" fmla="*/ 37 h 139"/>
                <a:gd name="T22" fmla="*/ 90 w 145"/>
                <a:gd name="T23" fmla="*/ 40 h 139"/>
                <a:gd name="T24" fmla="*/ 99 w 145"/>
                <a:gd name="T25" fmla="*/ 43 h 139"/>
                <a:gd name="T26" fmla="*/ 108 w 145"/>
                <a:gd name="T27" fmla="*/ 47 h 139"/>
                <a:gd name="T28" fmla="*/ 118 w 145"/>
                <a:gd name="T29" fmla="*/ 47 h 139"/>
                <a:gd name="T30" fmla="*/ 127 w 145"/>
                <a:gd name="T31" fmla="*/ 47 h 139"/>
                <a:gd name="T32" fmla="*/ 139 w 145"/>
                <a:gd name="T33" fmla="*/ 47 h 139"/>
                <a:gd name="T34" fmla="*/ 139 w 145"/>
                <a:gd name="T35" fmla="*/ 56 h 139"/>
                <a:gd name="T36" fmla="*/ 142 w 145"/>
                <a:gd name="T37" fmla="*/ 62 h 139"/>
                <a:gd name="T38" fmla="*/ 142 w 145"/>
                <a:gd name="T39" fmla="*/ 68 h 139"/>
                <a:gd name="T40" fmla="*/ 145 w 145"/>
                <a:gd name="T41" fmla="*/ 77 h 139"/>
                <a:gd name="T42" fmla="*/ 145 w 145"/>
                <a:gd name="T43" fmla="*/ 133 h 139"/>
                <a:gd name="T44" fmla="*/ 142 w 145"/>
                <a:gd name="T45" fmla="*/ 136 h 139"/>
                <a:gd name="T46" fmla="*/ 139 w 145"/>
                <a:gd name="T47" fmla="*/ 136 h 139"/>
                <a:gd name="T48" fmla="*/ 136 w 145"/>
                <a:gd name="T49" fmla="*/ 139 h 139"/>
                <a:gd name="T50" fmla="*/ 133 w 145"/>
                <a:gd name="T51" fmla="*/ 139 h 139"/>
                <a:gd name="T52" fmla="*/ 127 w 145"/>
                <a:gd name="T53" fmla="*/ 139 h 139"/>
                <a:gd name="T54" fmla="*/ 118 w 145"/>
                <a:gd name="T55" fmla="*/ 136 h 139"/>
                <a:gd name="T56" fmla="*/ 111 w 145"/>
                <a:gd name="T57" fmla="*/ 136 h 139"/>
                <a:gd name="T58" fmla="*/ 108 w 145"/>
                <a:gd name="T59" fmla="*/ 133 h 139"/>
                <a:gd name="T60" fmla="*/ 102 w 145"/>
                <a:gd name="T61" fmla="*/ 130 h 139"/>
                <a:gd name="T62" fmla="*/ 96 w 145"/>
                <a:gd name="T63" fmla="*/ 130 h 139"/>
                <a:gd name="T64" fmla="*/ 90 w 145"/>
                <a:gd name="T65" fmla="*/ 127 h 139"/>
                <a:gd name="T66" fmla="*/ 84 w 145"/>
                <a:gd name="T67" fmla="*/ 124 h 139"/>
                <a:gd name="T68" fmla="*/ 74 w 145"/>
                <a:gd name="T69" fmla="*/ 124 h 139"/>
                <a:gd name="T70" fmla="*/ 65 w 145"/>
                <a:gd name="T71" fmla="*/ 121 h 139"/>
                <a:gd name="T72" fmla="*/ 59 w 145"/>
                <a:gd name="T73" fmla="*/ 121 h 139"/>
                <a:gd name="T74" fmla="*/ 50 w 145"/>
                <a:gd name="T75" fmla="*/ 118 h 139"/>
                <a:gd name="T76" fmla="*/ 40 w 145"/>
                <a:gd name="T77" fmla="*/ 118 h 139"/>
                <a:gd name="T78" fmla="*/ 34 w 145"/>
                <a:gd name="T79" fmla="*/ 115 h 139"/>
                <a:gd name="T80" fmla="*/ 25 w 145"/>
                <a:gd name="T81" fmla="*/ 111 h 139"/>
                <a:gd name="T82" fmla="*/ 19 w 145"/>
                <a:gd name="T83" fmla="*/ 105 h 139"/>
                <a:gd name="T84" fmla="*/ 13 w 145"/>
                <a:gd name="T85" fmla="*/ 99 h 139"/>
                <a:gd name="T86" fmla="*/ 10 w 145"/>
                <a:gd name="T87" fmla="*/ 93 h 139"/>
                <a:gd name="T88" fmla="*/ 10 w 145"/>
                <a:gd name="T89" fmla="*/ 81 h 139"/>
                <a:gd name="T90" fmla="*/ 10 w 145"/>
                <a:gd name="T91" fmla="*/ 74 h 139"/>
                <a:gd name="T92" fmla="*/ 6 w 145"/>
                <a:gd name="T93" fmla="*/ 56 h 139"/>
                <a:gd name="T94" fmla="*/ 6 w 145"/>
                <a:gd name="T95" fmla="*/ 37 h 139"/>
                <a:gd name="T96" fmla="*/ 3 w 145"/>
                <a:gd name="T97" fmla="*/ 19 h 139"/>
                <a:gd name="T98" fmla="*/ 0 w 145"/>
                <a:gd name="T99" fmla="*/ 0 h 139"/>
                <a:gd name="T100" fmla="*/ 0 w 145"/>
                <a:gd name="T101" fmla="*/ 0 h 13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5"/>
                <a:gd name="T154" fmla="*/ 0 h 139"/>
                <a:gd name="T155" fmla="*/ 145 w 145"/>
                <a:gd name="T156" fmla="*/ 139 h 13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5" h="139">
                  <a:moveTo>
                    <a:pt x="0" y="0"/>
                  </a:moveTo>
                  <a:lnTo>
                    <a:pt x="10" y="3"/>
                  </a:lnTo>
                  <a:lnTo>
                    <a:pt x="19" y="9"/>
                  </a:lnTo>
                  <a:lnTo>
                    <a:pt x="25" y="13"/>
                  </a:lnTo>
                  <a:lnTo>
                    <a:pt x="34" y="19"/>
                  </a:lnTo>
                  <a:lnTo>
                    <a:pt x="44" y="22"/>
                  </a:lnTo>
                  <a:lnTo>
                    <a:pt x="50" y="25"/>
                  </a:lnTo>
                  <a:lnTo>
                    <a:pt x="59" y="31"/>
                  </a:lnTo>
                  <a:lnTo>
                    <a:pt x="65" y="34"/>
                  </a:lnTo>
                  <a:lnTo>
                    <a:pt x="74" y="37"/>
                  </a:lnTo>
                  <a:lnTo>
                    <a:pt x="81" y="37"/>
                  </a:lnTo>
                  <a:lnTo>
                    <a:pt x="90" y="40"/>
                  </a:lnTo>
                  <a:lnTo>
                    <a:pt x="99" y="43"/>
                  </a:lnTo>
                  <a:lnTo>
                    <a:pt x="108" y="47"/>
                  </a:lnTo>
                  <a:lnTo>
                    <a:pt x="118" y="47"/>
                  </a:lnTo>
                  <a:lnTo>
                    <a:pt x="127" y="47"/>
                  </a:lnTo>
                  <a:lnTo>
                    <a:pt x="139" y="47"/>
                  </a:lnTo>
                  <a:lnTo>
                    <a:pt x="139" y="56"/>
                  </a:lnTo>
                  <a:lnTo>
                    <a:pt x="142" y="62"/>
                  </a:lnTo>
                  <a:lnTo>
                    <a:pt x="142" y="68"/>
                  </a:lnTo>
                  <a:lnTo>
                    <a:pt x="145" y="77"/>
                  </a:lnTo>
                  <a:lnTo>
                    <a:pt x="145" y="133"/>
                  </a:lnTo>
                  <a:lnTo>
                    <a:pt x="142" y="136"/>
                  </a:lnTo>
                  <a:lnTo>
                    <a:pt x="139" y="136"/>
                  </a:lnTo>
                  <a:lnTo>
                    <a:pt x="136" y="139"/>
                  </a:lnTo>
                  <a:lnTo>
                    <a:pt x="133" y="139"/>
                  </a:lnTo>
                  <a:lnTo>
                    <a:pt x="127" y="139"/>
                  </a:lnTo>
                  <a:lnTo>
                    <a:pt x="118" y="136"/>
                  </a:lnTo>
                  <a:lnTo>
                    <a:pt x="111" y="136"/>
                  </a:lnTo>
                  <a:lnTo>
                    <a:pt x="108" y="133"/>
                  </a:lnTo>
                  <a:lnTo>
                    <a:pt x="102" y="130"/>
                  </a:lnTo>
                  <a:lnTo>
                    <a:pt x="96" y="130"/>
                  </a:lnTo>
                  <a:lnTo>
                    <a:pt x="90" y="127"/>
                  </a:lnTo>
                  <a:lnTo>
                    <a:pt x="84" y="124"/>
                  </a:lnTo>
                  <a:lnTo>
                    <a:pt x="74" y="124"/>
                  </a:lnTo>
                  <a:lnTo>
                    <a:pt x="65" y="121"/>
                  </a:lnTo>
                  <a:lnTo>
                    <a:pt x="59" y="121"/>
                  </a:lnTo>
                  <a:lnTo>
                    <a:pt x="50" y="118"/>
                  </a:lnTo>
                  <a:lnTo>
                    <a:pt x="40" y="118"/>
                  </a:lnTo>
                  <a:lnTo>
                    <a:pt x="34" y="115"/>
                  </a:lnTo>
                  <a:lnTo>
                    <a:pt x="25" y="111"/>
                  </a:lnTo>
                  <a:lnTo>
                    <a:pt x="19" y="105"/>
                  </a:lnTo>
                  <a:lnTo>
                    <a:pt x="13" y="99"/>
                  </a:lnTo>
                  <a:lnTo>
                    <a:pt x="10" y="93"/>
                  </a:lnTo>
                  <a:lnTo>
                    <a:pt x="10" y="81"/>
                  </a:lnTo>
                  <a:lnTo>
                    <a:pt x="10" y="74"/>
                  </a:lnTo>
                  <a:lnTo>
                    <a:pt x="6" y="56"/>
                  </a:lnTo>
                  <a:lnTo>
                    <a:pt x="6" y="37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0" name="Freeform 474"/>
            <p:cNvSpPr>
              <a:spLocks/>
            </p:cNvSpPr>
            <p:nvPr/>
          </p:nvSpPr>
          <p:spPr bwMode="auto">
            <a:xfrm>
              <a:off x="1531" y="2309"/>
              <a:ext cx="118" cy="105"/>
            </a:xfrm>
            <a:custGeom>
              <a:avLst/>
              <a:gdLst>
                <a:gd name="T0" fmla="*/ 118 w 118"/>
                <a:gd name="T1" fmla="*/ 40 h 105"/>
                <a:gd name="T2" fmla="*/ 118 w 118"/>
                <a:gd name="T3" fmla="*/ 50 h 105"/>
                <a:gd name="T4" fmla="*/ 114 w 118"/>
                <a:gd name="T5" fmla="*/ 56 h 105"/>
                <a:gd name="T6" fmla="*/ 111 w 118"/>
                <a:gd name="T7" fmla="*/ 62 h 105"/>
                <a:gd name="T8" fmla="*/ 108 w 118"/>
                <a:gd name="T9" fmla="*/ 68 h 105"/>
                <a:gd name="T10" fmla="*/ 102 w 118"/>
                <a:gd name="T11" fmla="*/ 74 h 105"/>
                <a:gd name="T12" fmla="*/ 96 w 118"/>
                <a:gd name="T13" fmla="*/ 78 h 105"/>
                <a:gd name="T14" fmla="*/ 90 w 118"/>
                <a:gd name="T15" fmla="*/ 84 h 105"/>
                <a:gd name="T16" fmla="*/ 81 w 118"/>
                <a:gd name="T17" fmla="*/ 87 h 105"/>
                <a:gd name="T18" fmla="*/ 74 w 118"/>
                <a:gd name="T19" fmla="*/ 90 h 105"/>
                <a:gd name="T20" fmla="*/ 65 w 118"/>
                <a:gd name="T21" fmla="*/ 93 h 105"/>
                <a:gd name="T22" fmla="*/ 56 w 118"/>
                <a:gd name="T23" fmla="*/ 96 h 105"/>
                <a:gd name="T24" fmla="*/ 47 w 118"/>
                <a:gd name="T25" fmla="*/ 99 h 105"/>
                <a:gd name="T26" fmla="*/ 37 w 118"/>
                <a:gd name="T27" fmla="*/ 99 h 105"/>
                <a:gd name="T28" fmla="*/ 25 w 118"/>
                <a:gd name="T29" fmla="*/ 102 h 105"/>
                <a:gd name="T30" fmla="*/ 16 w 118"/>
                <a:gd name="T31" fmla="*/ 105 h 105"/>
                <a:gd name="T32" fmla="*/ 6 w 118"/>
                <a:gd name="T33" fmla="*/ 105 h 105"/>
                <a:gd name="T34" fmla="*/ 3 w 118"/>
                <a:gd name="T35" fmla="*/ 99 h 105"/>
                <a:gd name="T36" fmla="*/ 3 w 118"/>
                <a:gd name="T37" fmla="*/ 90 h 105"/>
                <a:gd name="T38" fmla="*/ 0 w 118"/>
                <a:gd name="T39" fmla="*/ 84 h 105"/>
                <a:gd name="T40" fmla="*/ 0 w 118"/>
                <a:gd name="T41" fmla="*/ 74 h 105"/>
                <a:gd name="T42" fmla="*/ 0 w 118"/>
                <a:gd name="T43" fmla="*/ 6 h 105"/>
                <a:gd name="T44" fmla="*/ 9 w 118"/>
                <a:gd name="T45" fmla="*/ 6 h 105"/>
                <a:gd name="T46" fmla="*/ 16 w 118"/>
                <a:gd name="T47" fmla="*/ 6 h 105"/>
                <a:gd name="T48" fmla="*/ 25 w 118"/>
                <a:gd name="T49" fmla="*/ 6 h 105"/>
                <a:gd name="T50" fmla="*/ 31 w 118"/>
                <a:gd name="T51" fmla="*/ 6 h 105"/>
                <a:gd name="T52" fmla="*/ 37 w 118"/>
                <a:gd name="T53" fmla="*/ 3 h 105"/>
                <a:gd name="T54" fmla="*/ 47 w 118"/>
                <a:gd name="T55" fmla="*/ 3 h 105"/>
                <a:gd name="T56" fmla="*/ 53 w 118"/>
                <a:gd name="T57" fmla="*/ 3 h 105"/>
                <a:gd name="T58" fmla="*/ 62 w 118"/>
                <a:gd name="T59" fmla="*/ 0 h 105"/>
                <a:gd name="T60" fmla="*/ 118 w 118"/>
                <a:gd name="T61" fmla="*/ 0 h 105"/>
                <a:gd name="T62" fmla="*/ 118 w 118"/>
                <a:gd name="T63" fmla="*/ 13 h 105"/>
                <a:gd name="T64" fmla="*/ 118 w 118"/>
                <a:gd name="T65" fmla="*/ 22 h 105"/>
                <a:gd name="T66" fmla="*/ 118 w 118"/>
                <a:gd name="T67" fmla="*/ 31 h 105"/>
                <a:gd name="T68" fmla="*/ 118 w 118"/>
                <a:gd name="T69" fmla="*/ 40 h 105"/>
                <a:gd name="T70" fmla="*/ 118 w 118"/>
                <a:gd name="T71" fmla="*/ 40 h 10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8"/>
                <a:gd name="T109" fmla="*/ 0 h 105"/>
                <a:gd name="T110" fmla="*/ 118 w 118"/>
                <a:gd name="T111" fmla="*/ 105 h 10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8" h="105">
                  <a:moveTo>
                    <a:pt x="118" y="40"/>
                  </a:moveTo>
                  <a:lnTo>
                    <a:pt x="118" y="50"/>
                  </a:lnTo>
                  <a:lnTo>
                    <a:pt x="114" y="56"/>
                  </a:lnTo>
                  <a:lnTo>
                    <a:pt x="111" y="62"/>
                  </a:lnTo>
                  <a:lnTo>
                    <a:pt x="108" y="68"/>
                  </a:lnTo>
                  <a:lnTo>
                    <a:pt x="102" y="74"/>
                  </a:lnTo>
                  <a:lnTo>
                    <a:pt x="96" y="78"/>
                  </a:lnTo>
                  <a:lnTo>
                    <a:pt x="90" y="84"/>
                  </a:lnTo>
                  <a:lnTo>
                    <a:pt x="81" y="87"/>
                  </a:lnTo>
                  <a:lnTo>
                    <a:pt x="74" y="90"/>
                  </a:lnTo>
                  <a:lnTo>
                    <a:pt x="65" y="93"/>
                  </a:lnTo>
                  <a:lnTo>
                    <a:pt x="56" y="96"/>
                  </a:lnTo>
                  <a:lnTo>
                    <a:pt x="47" y="99"/>
                  </a:lnTo>
                  <a:lnTo>
                    <a:pt x="37" y="99"/>
                  </a:lnTo>
                  <a:lnTo>
                    <a:pt x="25" y="102"/>
                  </a:lnTo>
                  <a:lnTo>
                    <a:pt x="16" y="105"/>
                  </a:lnTo>
                  <a:lnTo>
                    <a:pt x="6" y="105"/>
                  </a:lnTo>
                  <a:lnTo>
                    <a:pt x="3" y="99"/>
                  </a:lnTo>
                  <a:lnTo>
                    <a:pt x="3" y="90"/>
                  </a:lnTo>
                  <a:lnTo>
                    <a:pt x="0" y="84"/>
                  </a:lnTo>
                  <a:lnTo>
                    <a:pt x="0" y="74"/>
                  </a:lnTo>
                  <a:lnTo>
                    <a:pt x="0" y="6"/>
                  </a:lnTo>
                  <a:lnTo>
                    <a:pt x="9" y="6"/>
                  </a:lnTo>
                  <a:lnTo>
                    <a:pt x="16" y="6"/>
                  </a:lnTo>
                  <a:lnTo>
                    <a:pt x="25" y="6"/>
                  </a:lnTo>
                  <a:lnTo>
                    <a:pt x="31" y="6"/>
                  </a:lnTo>
                  <a:lnTo>
                    <a:pt x="37" y="3"/>
                  </a:lnTo>
                  <a:lnTo>
                    <a:pt x="47" y="3"/>
                  </a:lnTo>
                  <a:lnTo>
                    <a:pt x="53" y="3"/>
                  </a:lnTo>
                  <a:lnTo>
                    <a:pt x="62" y="0"/>
                  </a:lnTo>
                  <a:lnTo>
                    <a:pt x="118" y="0"/>
                  </a:lnTo>
                  <a:lnTo>
                    <a:pt x="118" y="13"/>
                  </a:lnTo>
                  <a:lnTo>
                    <a:pt x="118" y="22"/>
                  </a:lnTo>
                  <a:lnTo>
                    <a:pt x="118" y="31"/>
                  </a:lnTo>
                  <a:lnTo>
                    <a:pt x="118" y="4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1" name="Freeform 475"/>
            <p:cNvSpPr>
              <a:spLocks/>
            </p:cNvSpPr>
            <p:nvPr/>
          </p:nvSpPr>
          <p:spPr bwMode="auto">
            <a:xfrm>
              <a:off x="1513" y="1827"/>
              <a:ext cx="105" cy="152"/>
            </a:xfrm>
            <a:custGeom>
              <a:avLst/>
              <a:gdLst>
                <a:gd name="T0" fmla="*/ 71 w 105"/>
                <a:gd name="T1" fmla="*/ 13 h 152"/>
                <a:gd name="T2" fmla="*/ 49 w 105"/>
                <a:gd name="T3" fmla="*/ 22 h 152"/>
                <a:gd name="T4" fmla="*/ 31 w 105"/>
                <a:gd name="T5" fmla="*/ 37 h 152"/>
                <a:gd name="T6" fmla="*/ 21 w 105"/>
                <a:gd name="T7" fmla="*/ 56 h 152"/>
                <a:gd name="T8" fmla="*/ 18 w 105"/>
                <a:gd name="T9" fmla="*/ 78 h 152"/>
                <a:gd name="T10" fmla="*/ 27 w 105"/>
                <a:gd name="T11" fmla="*/ 93 h 152"/>
                <a:gd name="T12" fmla="*/ 40 w 105"/>
                <a:gd name="T13" fmla="*/ 108 h 152"/>
                <a:gd name="T14" fmla="*/ 49 w 105"/>
                <a:gd name="T15" fmla="*/ 124 h 152"/>
                <a:gd name="T16" fmla="*/ 52 w 105"/>
                <a:gd name="T17" fmla="*/ 133 h 152"/>
                <a:gd name="T18" fmla="*/ 65 w 105"/>
                <a:gd name="T19" fmla="*/ 133 h 152"/>
                <a:gd name="T20" fmla="*/ 74 w 105"/>
                <a:gd name="T21" fmla="*/ 133 h 152"/>
                <a:gd name="T22" fmla="*/ 83 w 105"/>
                <a:gd name="T23" fmla="*/ 133 h 152"/>
                <a:gd name="T24" fmla="*/ 89 w 105"/>
                <a:gd name="T25" fmla="*/ 127 h 152"/>
                <a:gd name="T26" fmla="*/ 86 w 105"/>
                <a:gd name="T27" fmla="*/ 118 h 152"/>
                <a:gd name="T28" fmla="*/ 83 w 105"/>
                <a:gd name="T29" fmla="*/ 108 h 152"/>
                <a:gd name="T30" fmla="*/ 83 w 105"/>
                <a:gd name="T31" fmla="*/ 99 h 152"/>
                <a:gd name="T32" fmla="*/ 86 w 105"/>
                <a:gd name="T33" fmla="*/ 96 h 152"/>
                <a:gd name="T34" fmla="*/ 92 w 105"/>
                <a:gd name="T35" fmla="*/ 99 h 152"/>
                <a:gd name="T36" fmla="*/ 95 w 105"/>
                <a:gd name="T37" fmla="*/ 105 h 152"/>
                <a:gd name="T38" fmla="*/ 102 w 105"/>
                <a:gd name="T39" fmla="*/ 118 h 152"/>
                <a:gd name="T40" fmla="*/ 105 w 105"/>
                <a:gd name="T41" fmla="*/ 127 h 152"/>
                <a:gd name="T42" fmla="*/ 105 w 105"/>
                <a:gd name="T43" fmla="*/ 139 h 152"/>
                <a:gd name="T44" fmla="*/ 95 w 105"/>
                <a:gd name="T45" fmla="*/ 149 h 152"/>
                <a:gd name="T46" fmla="*/ 80 w 105"/>
                <a:gd name="T47" fmla="*/ 152 h 152"/>
                <a:gd name="T48" fmla="*/ 61 w 105"/>
                <a:gd name="T49" fmla="*/ 152 h 152"/>
                <a:gd name="T50" fmla="*/ 46 w 105"/>
                <a:gd name="T51" fmla="*/ 149 h 152"/>
                <a:gd name="T52" fmla="*/ 34 w 105"/>
                <a:gd name="T53" fmla="*/ 142 h 152"/>
                <a:gd name="T54" fmla="*/ 27 w 105"/>
                <a:gd name="T55" fmla="*/ 127 h 152"/>
                <a:gd name="T56" fmla="*/ 21 w 105"/>
                <a:gd name="T57" fmla="*/ 115 h 152"/>
                <a:gd name="T58" fmla="*/ 12 w 105"/>
                <a:gd name="T59" fmla="*/ 102 h 152"/>
                <a:gd name="T60" fmla="*/ 6 w 105"/>
                <a:gd name="T61" fmla="*/ 87 h 152"/>
                <a:gd name="T62" fmla="*/ 3 w 105"/>
                <a:gd name="T63" fmla="*/ 68 h 152"/>
                <a:gd name="T64" fmla="*/ 3 w 105"/>
                <a:gd name="T65" fmla="*/ 47 h 152"/>
                <a:gd name="T66" fmla="*/ 15 w 105"/>
                <a:gd name="T67" fmla="*/ 28 h 152"/>
                <a:gd name="T68" fmla="*/ 37 w 105"/>
                <a:gd name="T69" fmla="*/ 13 h 152"/>
                <a:gd name="T70" fmla="*/ 61 w 105"/>
                <a:gd name="T71" fmla="*/ 3 h 152"/>
                <a:gd name="T72" fmla="*/ 80 w 105"/>
                <a:gd name="T73" fmla="*/ 6 h 15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5"/>
                <a:gd name="T112" fmla="*/ 0 h 152"/>
                <a:gd name="T113" fmla="*/ 105 w 105"/>
                <a:gd name="T114" fmla="*/ 152 h 15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5" h="152">
                  <a:moveTo>
                    <a:pt x="80" y="6"/>
                  </a:moveTo>
                  <a:lnTo>
                    <a:pt x="71" y="13"/>
                  </a:lnTo>
                  <a:lnTo>
                    <a:pt x="61" y="16"/>
                  </a:lnTo>
                  <a:lnTo>
                    <a:pt x="49" y="22"/>
                  </a:lnTo>
                  <a:lnTo>
                    <a:pt x="40" y="28"/>
                  </a:lnTo>
                  <a:lnTo>
                    <a:pt x="31" y="37"/>
                  </a:lnTo>
                  <a:lnTo>
                    <a:pt x="24" y="44"/>
                  </a:lnTo>
                  <a:lnTo>
                    <a:pt x="21" y="56"/>
                  </a:lnTo>
                  <a:lnTo>
                    <a:pt x="18" y="68"/>
                  </a:lnTo>
                  <a:lnTo>
                    <a:pt x="18" y="78"/>
                  </a:lnTo>
                  <a:lnTo>
                    <a:pt x="21" y="87"/>
                  </a:lnTo>
                  <a:lnTo>
                    <a:pt x="27" y="93"/>
                  </a:lnTo>
                  <a:lnTo>
                    <a:pt x="34" y="99"/>
                  </a:lnTo>
                  <a:lnTo>
                    <a:pt x="40" y="108"/>
                  </a:lnTo>
                  <a:lnTo>
                    <a:pt x="46" y="115"/>
                  </a:lnTo>
                  <a:lnTo>
                    <a:pt x="49" y="124"/>
                  </a:lnTo>
                  <a:lnTo>
                    <a:pt x="49" y="133"/>
                  </a:lnTo>
                  <a:lnTo>
                    <a:pt x="52" y="133"/>
                  </a:lnTo>
                  <a:lnTo>
                    <a:pt x="58" y="133"/>
                  </a:lnTo>
                  <a:lnTo>
                    <a:pt x="65" y="133"/>
                  </a:lnTo>
                  <a:lnTo>
                    <a:pt x="68" y="133"/>
                  </a:lnTo>
                  <a:lnTo>
                    <a:pt x="74" y="133"/>
                  </a:lnTo>
                  <a:lnTo>
                    <a:pt x="77" y="133"/>
                  </a:lnTo>
                  <a:lnTo>
                    <a:pt x="83" y="133"/>
                  </a:lnTo>
                  <a:lnTo>
                    <a:pt x="89" y="133"/>
                  </a:lnTo>
                  <a:lnTo>
                    <a:pt x="89" y="127"/>
                  </a:lnTo>
                  <a:lnTo>
                    <a:pt x="89" y="121"/>
                  </a:lnTo>
                  <a:lnTo>
                    <a:pt x="86" y="118"/>
                  </a:lnTo>
                  <a:lnTo>
                    <a:pt x="83" y="111"/>
                  </a:lnTo>
                  <a:lnTo>
                    <a:pt x="83" y="108"/>
                  </a:lnTo>
                  <a:lnTo>
                    <a:pt x="80" y="102"/>
                  </a:lnTo>
                  <a:lnTo>
                    <a:pt x="83" y="99"/>
                  </a:lnTo>
                  <a:lnTo>
                    <a:pt x="86" y="96"/>
                  </a:lnTo>
                  <a:lnTo>
                    <a:pt x="89" y="96"/>
                  </a:lnTo>
                  <a:lnTo>
                    <a:pt x="92" y="99"/>
                  </a:lnTo>
                  <a:lnTo>
                    <a:pt x="95" y="99"/>
                  </a:lnTo>
                  <a:lnTo>
                    <a:pt x="95" y="105"/>
                  </a:lnTo>
                  <a:lnTo>
                    <a:pt x="99" y="111"/>
                  </a:lnTo>
                  <a:lnTo>
                    <a:pt x="102" y="118"/>
                  </a:lnTo>
                  <a:lnTo>
                    <a:pt x="102" y="121"/>
                  </a:lnTo>
                  <a:lnTo>
                    <a:pt x="105" y="127"/>
                  </a:lnTo>
                  <a:lnTo>
                    <a:pt x="105" y="133"/>
                  </a:lnTo>
                  <a:lnTo>
                    <a:pt x="105" y="139"/>
                  </a:lnTo>
                  <a:lnTo>
                    <a:pt x="102" y="145"/>
                  </a:lnTo>
                  <a:lnTo>
                    <a:pt x="95" y="149"/>
                  </a:lnTo>
                  <a:lnTo>
                    <a:pt x="86" y="152"/>
                  </a:lnTo>
                  <a:lnTo>
                    <a:pt x="80" y="152"/>
                  </a:lnTo>
                  <a:lnTo>
                    <a:pt x="71" y="152"/>
                  </a:lnTo>
                  <a:lnTo>
                    <a:pt x="61" y="152"/>
                  </a:lnTo>
                  <a:lnTo>
                    <a:pt x="52" y="152"/>
                  </a:lnTo>
                  <a:lnTo>
                    <a:pt x="46" y="149"/>
                  </a:lnTo>
                  <a:lnTo>
                    <a:pt x="37" y="149"/>
                  </a:lnTo>
                  <a:lnTo>
                    <a:pt x="34" y="142"/>
                  </a:lnTo>
                  <a:lnTo>
                    <a:pt x="31" y="136"/>
                  </a:lnTo>
                  <a:lnTo>
                    <a:pt x="27" y="127"/>
                  </a:lnTo>
                  <a:lnTo>
                    <a:pt x="27" y="121"/>
                  </a:lnTo>
                  <a:lnTo>
                    <a:pt x="21" y="115"/>
                  </a:lnTo>
                  <a:lnTo>
                    <a:pt x="15" y="108"/>
                  </a:lnTo>
                  <a:lnTo>
                    <a:pt x="12" y="102"/>
                  </a:lnTo>
                  <a:lnTo>
                    <a:pt x="9" y="93"/>
                  </a:lnTo>
                  <a:lnTo>
                    <a:pt x="6" y="87"/>
                  </a:lnTo>
                  <a:lnTo>
                    <a:pt x="3" y="78"/>
                  </a:lnTo>
                  <a:lnTo>
                    <a:pt x="3" y="68"/>
                  </a:lnTo>
                  <a:lnTo>
                    <a:pt x="0" y="59"/>
                  </a:lnTo>
                  <a:lnTo>
                    <a:pt x="3" y="47"/>
                  </a:lnTo>
                  <a:lnTo>
                    <a:pt x="9" y="37"/>
                  </a:lnTo>
                  <a:lnTo>
                    <a:pt x="15" y="28"/>
                  </a:lnTo>
                  <a:lnTo>
                    <a:pt x="27" y="22"/>
                  </a:lnTo>
                  <a:lnTo>
                    <a:pt x="37" y="13"/>
                  </a:lnTo>
                  <a:lnTo>
                    <a:pt x="49" y="10"/>
                  </a:lnTo>
                  <a:lnTo>
                    <a:pt x="61" y="3"/>
                  </a:lnTo>
                  <a:lnTo>
                    <a:pt x="74" y="0"/>
                  </a:lnTo>
                  <a:lnTo>
                    <a:pt x="80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2" name="Freeform 476"/>
            <p:cNvSpPr>
              <a:spLocks/>
            </p:cNvSpPr>
            <p:nvPr/>
          </p:nvSpPr>
          <p:spPr bwMode="auto">
            <a:xfrm>
              <a:off x="1565" y="1833"/>
              <a:ext cx="56" cy="72"/>
            </a:xfrm>
            <a:custGeom>
              <a:avLst/>
              <a:gdLst>
                <a:gd name="T0" fmla="*/ 50 w 56"/>
                <a:gd name="T1" fmla="*/ 28 h 72"/>
                <a:gd name="T2" fmla="*/ 47 w 56"/>
                <a:gd name="T3" fmla="*/ 34 h 72"/>
                <a:gd name="T4" fmla="*/ 43 w 56"/>
                <a:gd name="T5" fmla="*/ 41 h 72"/>
                <a:gd name="T6" fmla="*/ 37 w 56"/>
                <a:gd name="T7" fmla="*/ 47 h 72"/>
                <a:gd name="T8" fmla="*/ 31 w 56"/>
                <a:gd name="T9" fmla="*/ 50 h 72"/>
                <a:gd name="T10" fmla="*/ 25 w 56"/>
                <a:gd name="T11" fmla="*/ 56 h 72"/>
                <a:gd name="T12" fmla="*/ 22 w 56"/>
                <a:gd name="T13" fmla="*/ 62 h 72"/>
                <a:gd name="T14" fmla="*/ 16 w 56"/>
                <a:gd name="T15" fmla="*/ 65 h 72"/>
                <a:gd name="T16" fmla="*/ 9 w 56"/>
                <a:gd name="T17" fmla="*/ 68 h 72"/>
                <a:gd name="T18" fmla="*/ 6 w 56"/>
                <a:gd name="T19" fmla="*/ 72 h 72"/>
                <a:gd name="T20" fmla="*/ 3 w 56"/>
                <a:gd name="T21" fmla="*/ 68 h 72"/>
                <a:gd name="T22" fmla="*/ 0 w 56"/>
                <a:gd name="T23" fmla="*/ 68 h 72"/>
                <a:gd name="T24" fmla="*/ 0 w 56"/>
                <a:gd name="T25" fmla="*/ 65 h 72"/>
                <a:gd name="T26" fmla="*/ 0 w 56"/>
                <a:gd name="T27" fmla="*/ 59 h 72"/>
                <a:gd name="T28" fmla="*/ 6 w 56"/>
                <a:gd name="T29" fmla="*/ 50 h 72"/>
                <a:gd name="T30" fmla="*/ 13 w 56"/>
                <a:gd name="T31" fmla="*/ 47 h 72"/>
                <a:gd name="T32" fmla="*/ 19 w 56"/>
                <a:gd name="T33" fmla="*/ 41 h 72"/>
                <a:gd name="T34" fmla="*/ 25 w 56"/>
                <a:gd name="T35" fmla="*/ 34 h 72"/>
                <a:gd name="T36" fmla="*/ 31 w 56"/>
                <a:gd name="T37" fmla="*/ 31 h 72"/>
                <a:gd name="T38" fmla="*/ 37 w 56"/>
                <a:gd name="T39" fmla="*/ 25 h 72"/>
                <a:gd name="T40" fmla="*/ 40 w 56"/>
                <a:gd name="T41" fmla="*/ 16 h 72"/>
                <a:gd name="T42" fmla="*/ 40 w 56"/>
                <a:gd name="T43" fmla="*/ 13 h 72"/>
                <a:gd name="T44" fmla="*/ 40 w 56"/>
                <a:gd name="T45" fmla="*/ 7 h 72"/>
                <a:gd name="T46" fmla="*/ 43 w 56"/>
                <a:gd name="T47" fmla="*/ 4 h 72"/>
                <a:gd name="T48" fmla="*/ 47 w 56"/>
                <a:gd name="T49" fmla="*/ 0 h 72"/>
                <a:gd name="T50" fmla="*/ 53 w 56"/>
                <a:gd name="T51" fmla="*/ 4 h 72"/>
                <a:gd name="T52" fmla="*/ 56 w 56"/>
                <a:gd name="T53" fmla="*/ 7 h 72"/>
                <a:gd name="T54" fmla="*/ 56 w 56"/>
                <a:gd name="T55" fmla="*/ 10 h 72"/>
                <a:gd name="T56" fmla="*/ 56 w 56"/>
                <a:gd name="T57" fmla="*/ 13 h 72"/>
                <a:gd name="T58" fmla="*/ 53 w 56"/>
                <a:gd name="T59" fmla="*/ 16 h 72"/>
                <a:gd name="T60" fmla="*/ 53 w 56"/>
                <a:gd name="T61" fmla="*/ 22 h 72"/>
                <a:gd name="T62" fmla="*/ 50 w 56"/>
                <a:gd name="T63" fmla="*/ 25 h 72"/>
                <a:gd name="T64" fmla="*/ 50 w 56"/>
                <a:gd name="T65" fmla="*/ 28 h 72"/>
                <a:gd name="T66" fmla="*/ 50 w 56"/>
                <a:gd name="T67" fmla="*/ 28 h 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72"/>
                <a:gd name="T104" fmla="*/ 56 w 56"/>
                <a:gd name="T105" fmla="*/ 72 h 7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72">
                  <a:moveTo>
                    <a:pt x="50" y="28"/>
                  </a:moveTo>
                  <a:lnTo>
                    <a:pt x="47" y="34"/>
                  </a:lnTo>
                  <a:lnTo>
                    <a:pt x="43" y="41"/>
                  </a:lnTo>
                  <a:lnTo>
                    <a:pt x="37" y="47"/>
                  </a:lnTo>
                  <a:lnTo>
                    <a:pt x="31" y="50"/>
                  </a:lnTo>
                  <a:lnTo>
                    <a:pt x="25" y="56"/>
                  </a:lnTo>
                  <a:lnTo>
                    <a:pt x="22" y="62"/>
                  </a:lnTo>
                  <a:lnTo>
                    <a:pt x="16" y="65"/>
                  </a:lnTo>
                  <a:lnTo>
                    <a:pt x="9" y="68"/>
                  </a:lnTo>
                  <a:lnTo>
                    <a:pt x="6" y="72"/>
                  </a:lnTo>
                  <a:lnTo>
                    <a:pt x="3" y="68"/>
                  </a:lnTo>
                  <a:lnTo>
                    <a:pt x="0" y="68"/>
                  </a:lnTo>
                  <a:lnTo>
                    <a:pt x="0" y="65"/>
                  </a:lnTo>
                  <a:lnTo>
                    <a:pt x="0" y="59"/>
                  </a:lnTo>
                  <a:lnTo>
                    <a:pt x="6" y="50"/>
                  </a:lnTo>
                  <a:lnTo>
                    <a:pt x="13" y="47"/>
                  </a:lnTo>
                  <a:lnTo>
                    <a:pt x="19" y="41"/>
                  </a:lnTo>
                  <a:lnTo>
                    <a:pt x="25" y="34"/>
                  </a:lnTo>
                  <a:lnTo>
                    <a:pt x="31" y="31"/>
                  </a:lnTo>
                  <a:lnTo>
                    <a:pt x="37" y="25"/>
                  </a:lnTo>
                  <a:lnTo>
                    <a:pt x="40" y="16"/>
                  </a:lnTo>
                  <a:lnTo>
                    <a:pt x="40" y="13"/>
                  </a:lnTo>
                  <a:lnTo>
                    <a:pt x="40" y="7"/>
                  </a:lnTo>
                  <a:lnTo>
                    <a:pt x="43" y="4"/>
                  </a:lnTo>
                  <a:lnTo>
                    <a:pt x="47" y="0"/>
                  </a:lnTo>
                  <a:lnTo>
                    <a:pt x="53" y="4"/>
                  </a:lnTo>
                  <a:lnTo>
                    <a:pt x="56" y="7"/>
                  </a:lnTo>
                  <a:lnTo>
                    <a:pt x="56" y="10"/>
                  </a:lnTo>
                  <a:lnTo>
                    <a:pt x="56" y="13"/>
                  </a:lnTo>
                  <a:lnTo>
                    <a:pt x="53" y="16"/>
                  </a:lnTo>
                  <a:lnTo>
                    <a:pt x="53" y="22"/>
                  </a:lnTo>
                  <a:lnTo>
                    <a:pt x="50" y="25"/>
                  </a:lnTo>
                  <a:lnTo>
                    <a:pt x="50" y="2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3" name="Freeform 477"/>
            <p:cNvSpPr>
              <a:spLocks/>
            </p:cNvSpPr>
            <p:nvPr/>
          </p:nvSpPr>
          <p:spPr bwMode="auto">
            <a:xfrm>
              <a:off x="1679" y="1837"/>
              <a:ext cx="433" cy="318"/>
            </a:xfrm>
            <a:custGeom>
              <a:avLst/>
              <a:gdLst>
                <a:gd name="T0" fmla="*/ 396 w 433"/>
                <a:gd name="T1" fmla="*/ 12 h 318"/>
                <a:gd name="T2" fmla="*/ 424 w 433"/>
                <a:gd name="T3" fmla="*/ 27 h 318"/>
                <a:gd name="T4" fmla="*/ 427 w 433"/>
                <a:gd name="T5" fmla="*/ 34 h 318"/>
                <a:gd name="T6" fmla="*/ 418 w 433"/>
                <a:gd name="T7" fmla="*/ 37 h 318"/>
                <a:gd name="T8" fmla="*/ 399 w 433"/>
                <a:gd name="T9" fmla="*/ 27 h 318"/>
                <a:gd name="T10" fmla="*/ 371 w 433"/>
                <a:gd name="T11" fmla="*/ 24 h 318"/>
                <a:gd name="T12" fmla="*/ 340 w 433"/>
                <a:gd name="T13" fmla="*/ 21 h 318"/>
                <a:gd name="T14" fmla="*/ 316 w 433"/>
                <a:gd name="T15" fmla="*/ 18 h 318"/>
                <a:gd name="T16" fmla="*/ 297 w 433"/>
                <a:gd name="T17" fmla="*/ 15 h 318"/>
                <a:gd name="T18" fmla="*/ 279 w 433"/>
                <a:gd name="T19" fmla="*/ 18 h 318"/>
                <a:gd name="T20" fmla="*/ 269 w 433"/>
                <a:gd name="T21" fmla="*/ 30 h 318"/>
                <a:gd name="T22" fmla="*/ 263 w 433"/>
                <a:gd name="T23" fmla="*/ 55 h 318"/>
                <a:gd name="T24" fmla="*/ 275 w 433"/>
                <a:gd name="T25" fmla="*/ 71 h 318"/>
                <a:gd name="T26" fmla="*/ 279 w 433"/>
                <a:gd name="T27" fmla="*/ 80 h 318"/>
                <a:gd name="T28" fmla="*/ 266 w 433"/>
                <a:gd name="T29" fmla="*/ 83 h 318"/>
                <a:gd name="T30" fmla="*/ 248 w 433"/>
                <a:gd name="T31" fmla="*/ 92 h 318"/>
                <a:gd name="T32" fmla="*/ 207 w 433"/>
                <a:gd name="T33" fmla="*/ 105 h 318"/>
                <a:gd name="T34" fmla="*/ 170 w 433"/>
                <a:gd name="T35" fmla="*/ 117 h 318"/>
                <a:gd name="T36" fmla="*/ 130 w 433"/>
                <a:gd name="T37" fmla="*/ 126 h 318"/>
                <a:gd name="T38" fmla="*/ 106 w 433"/>
                <a:gd name="T39" fmla="*/ 148 h 318"/>
                <a:gd name="T40" fmla="*/ 109 w 433"/>
                <a:gd name="T41" fmla="*/ 188 h 318"/>
                <a:gd name="T42" fmla="*/ 84 w 433"/>
                <a:gd name="T43" fmla="*/ 203 h 318"/>
                <a:gd name="T44" fmla="*/ 68 w 433"/>
                <a:gd name="T45" fmla="*/ 315 h 318"/>
                <a:gd name="T46" fmla="*/ 62 w 433"/>
                <a:gd name="T47" fmla="*/ 259 h 318"/>
                <a:gd name="T48" fmla="*/ 65 w 433"/>
                <a:gd name="T49" fmla="*/ 219 h 318"/>
                <a:gd name="T50" fmla="*/ 56 w 433"/>
                <a:gd name="T51" fmla="*/ 191 h 318"/>
                <a:gd name="T52" fmla="*/ 62 w 433"/>
                <a:gd name="T53" fmla="*/ 179 h 318"/>
                <a:gd name="T54" fmla="*/ 78 w 433"/>
                <a:gd name="T55" fmla="*/ 188 h 318"/>
                <a:gd name="T56" fmla="*/ 90 w 433"/>
                <a:gd name="T57" fmla="*/ 182 h 318"/>
                <a:gd name="T58" fmla="*/ 93 w 433"/>
                <a:gd name="T59" fmla="*/ 166 h 318"/>
                <a:gd name="T60" fmla="*/ 84 w 433"/>
                <a:gd name="T61" fmla="*/ 145 h 318"/>
                <a:gd name="T62" fmla="*/ 59 w 433"/>
                <a:gd name="T63" fmla="*/ 139 h 318"/>
                <a:gd name="T64" fmla="*/ 25 w 433"/>
                <a:gd name="T65" fmla="*/ 139 h 318"/>
                <a:gd name="T66" fmla="*/ 4 w 433"/>
                <a:gd name="T67" fmla="*/ 139 h 318"/>
                <a:gd name="T68" fmla="*/ 19 w 433"/>
                <a:gd name="T69" fmla="*/ 126 h 318"/>
                <a:gd name="T70" fmla="*/ 53 w 433"/>
                <a:gd name="T71" fmla="*/ 123 h 318"/>
                <a:gd name="T72" fmla="*/ 81 w 433"/>
                <a:gd name="T73" fmla="*/ 123 h 318"/>
                <a:gd name="T74" fmla="*/ 96 w 433"/>
                <a:gd name="T75" fmla="*/ 123 h 318"/>
                <a:gd name="T76" fmla="*/ 112 w 433"/>
                <a:gd name="T77" fmla="*/ 120 h 318"/>
                <a:gd name="T78" fmla="*/ 130 w 433"/>
                <a:gd name="T79" fmla="*/ 114 h 318"/>
                <a:gd name="T80" fmla="*/ 186 w 433"/>
                <a:gd name="T81" fmla="*/ 98 h 318"/>
                <a:gd name="T82" fmla="*/ 223 w 433"/>
                <a:gd name="T83" fmla="*/ 86 h 318"/>
                <a:gd name="T84" fmla="*/ 248 w 433"/>
                <a:gd name="T85" fmla="*/ 68 h 318"/>
                <a:gd name="T86" fmla="*/ 248 w 433"/>
                <a:gd name="T87" fmla="*/ 34 h 318"/>
                <a:gd name="T88" fmla="*/ 269 w 433"/>
                <a:gd name="T89" fmla="*/ 6 h 318"/>
                <a:gd name="T90" fmla="*/ 297 w 433"/>
                <a:gd name="T91" fmla="*/ 0 h 318"/>
                <a:gd name="T92" fmla="*/ 322 w 433"/>
                <a:gd name="T93" fmla="*/ 6 h 318"/>
                <a:gd name="T94" fmla="*/ 350 w 433"/>
                <a:gd name="T95" fmla="*/ 6 h 318"/>
                <a:gd name="T96" fmla="*/ 368 w 433"/>
                <a:gd name="T97" fmla="*/ 9 h 31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33"/>
                <a:gd name="T148" fmla="*/ 0 h 318"/>
                <a:gd name="T149" fmla="*/ 433 w 433"/>
                <a:gd name="T150" fmla="*/ 318 h 31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33" h="318">
                  <a:moveTo>
                    <a:pt x="368" y="9"/>
                  </a:moveTo>
                  <a:lnTo>
                    <a:pt x="377" y="9"/>
                  </a:lnTo>
                  <a:lnTo>
                    <a:pt x="387" y="9"/>
                  </a:lnTo>
                  <a:lnTo>
                    <a:pt x="396" y="12"/>
                  </a:lnTo>
                  <a:lnTo>
                    <a:pt x="402" y="15"/>
                  </a:lnTo>
                  <a:lnTo>
                    <a:pt x="408" y="18"/>
                  </a:lnTo>
                  <a:lnTo>
                    <a:pt x="418" y="24"/>
                  </a:lnTo>
                  <a:lnTo>
                    <a:pt x="424" y="27"/>
                  </a:lnTo>
                  <a:lnTo>
                    <a:pt x="433" y="30"/>
                  </a:lnTo>
                  <a:lnTo>
                    <a:pt x="430" y="30"/>
                  </a:lnTo>
                  <a:lnTo>
                    <a:pt x="427" y="30"/>
                  </a:lnTo>
                  <a:lnTo>
                    <a:pt x="427" y="34"/>
                  </a:lnTo>
                  <a:lnTo>
                    <a:pt x="427" y="37"/>
                  </a:lnTo>
                  <a:lnTo>
                    <a:pt x="430" y="37"/>
                  </a:lnTo>
                  <a:lnTo>
                    <a:pt x="424" y="37"/>
                  </a:lnTo>
                  <a:lnTo>
                    <a:pt x="418" y="37"/>
                  </a:lnTo>
                  <a:lnTo>
                    <a:pt x="414" y="37"/>
                  </a:lnTo>
                  <a:lnTo>
                    <a:pt x="408" y="34"/>
                  </a:lnTo>
                  <a:lnTo>
                    <a:pt x="402" y="30"/>
                  </a:lnTo>
                  <a:lnTo>
                    <a:pt x="399" y="27"/>
                  </a:lnTo>
                  <a:lnTo>
                    <a:pt x="393" y="27"/>
                  </a:lnTo>
                  <a:lnTo>
                    <a:pt x="390" y="24"/>
                  </a:lnTo>
                  <a:lnTo>
                    <a:pt x="380" y="24"/>
                  </a:lnTo>
                  <a:lnTo>
                    <a:pt x="371" y="24"/>
                  </a:lnTo>
                  <a:lnTo>
                    <a:pt x="362" y="24"/>
                  </a:lnTo>
                  <a:lnTo>
                    <a:pt x="356" y="21"/>
                  </a:lnTo>
                  <a:lnTo>
                    <a:pt x="346" y="21"/>
                  </a:lnTo>
                  <a:lnTo>
                    <a:pt x="340" y="21"/>
                  </a:lnTo>
                  <a:lnTo>
                    <a:pt x="331" y="21"/>
                  </a:lnTo>
                  <a:lnTo>
                    <a:pt x="325" y="24"/>
                  </a:lnTo>
                  <a:lnTo>
                    <a:pt x="319" y="21"/>
                  </a:lnTo>
                  <a:lnTo>
                    <a:pt x="316" y="18"/>
                  </a:lnTo>
                  <a:lnTo>
                    <a:pt x="313" y="18"/>
                  </a:lnTo>
                  <a:lnTo>
                    <a:pt x="306" y="15"/>
                  </a:lnTo>
                  <a:lnTo>
                    <a:pt x="303" y="15"/>
                  </a:lnTo>
                  <a:lnTo>
                    <a:pt x="297" y="15"/>
                  </a:lnTo>
                  <a:lnTo>
                    <a:pt x="291" y="15"/>
                  </a:lnTo>
                  <a:lnTo>
                    <a:pt x="285" y="15"/>
                  </a:lnTo>
                  <a:lnTo>
                    <a:pt x="282" y="18"/>
                  </a:lnTo>
                  <a:lnTo>
                    <a:pt x="279" y="18"/>
                  </a:lnTo>
                  <a:lnTo>
                    <a:pt x="275" y="21"/>
                  </a:lnTo>
                  <a:lnTo>
                    <a:pt x="272" y="24"/>
                  </a:lnTo>
                  <a:lnTo>
                    <a:pt x="272" y="27"/>
                  </a:lnTo>
                  <a:lnTo>
                    <a:pt x="269" y="30"/>
                  </a:lnTo>
                  <a:lnTo>
                    <a:pt x="266" y="34"/>
                  </a:lnTo>
                  <a:lnTo>
                    <a:pt x="266" y="37"/>
                  </a:lnTo>
                  <a:lnTo>
                    <a:pt x="263" y="46"/>
                  </a:lnTo>
                  <a:lnTo>
                    <a:pt x="263" y="55"/>
                  </a:lnTo>
                  <a:lnTo>
                    <a:pt x="266" y="64"/>
                  </a:lnTo>
                  <a:lnTo>
                    <a:pt x="272" y="74"/>
                  </a:lnTo>
                  <a:lnTo>
                    <a:pt x="275" y="74"/>
                  </a:lnTo>
                  <a:lnTo>
                    <a:pt x="275" y="71"/>
                  </a:lnTo>
                  <a:lnTo>
                    <a:pt x="279" y="71"/>
                  </a:lnTo>
                  <a:lnTo>
                    <a:pt x="282" y="71"/>
                  </a:lnTo>
                  <a:lnTo>
                    <a:pt x="279" y="77"/>
                  </a:lnTo>
                  <a:lnTo>
                    <a:pt x="279" y="80"/>
                  </a:lnTo>
                  <a:lnTo>
                    <a:pt x="279" y="83"/>
                  </a:lnTo>
                  <a:lnTo>
                    <a:pt x="275" y="83"/>
                  </a:lnTo>
                  <a:lnTo>
                    <a:pt x="269" y="83"/>
                  </a:lnTo>
                  <a:lnTo>
                    <a:pt x="266" y="83"/>
                  </a:lnTo>
                  <a:lnTo>
                    <a:pt x="263" y="83"/>
                  </a:lnTo>
                  <a:lnTo>
                    <a:pt x="260" y="83"/>
                  </a:lnTo>
                  <a:lnTo>
                    <a:pt x="257" y="89"/>
                  </a:lnTo>
                  <a:lnTo>
                    <a:pt x="248" y="92"/>
                  </a:lnTo>
                  <a:lnTo>
                    <a:pt x="238" y="95"/>
                  </a:lnTo>
                  <a:lnTo>
                    <a:pt x="229" y="98"/>
                  </a:lnTo>
                  <a:lnTo>
                    <a:pt x="217" y="101"/>
                  </a:lnTo>
                  <a:lnTo>
                    <a:pt x="207" y="105"/>
                  </a:lnTo>
                  <a:lnTo>
                    <a:pt x="198" y="108"/>
                  </a:lnTo>
                  <a:lnTo>
                    <a:pt x="189" y="111"/>
                  </a:lnTo>
                  <a:lnTo>
                    <a:pt x="180" y="117"/>
                  </a:lnTo>
                  <a:lnTo>
                    <a:pt x="170" y="117"/>
                  </a:lnTo>
                  <a:lnTo>
                    <a:pt x="161" y="120"/>
                  </a:lnTo>
                  <a:lnTo>
                    <a:pt x="149" y="123"/>
                  </a:lnTo>
                  <a:lnTo>
                    <a:pt x="140" y="126"/>
                  </a:lnTo>
                  <a:lnTo>
                    <a:pt x="130" y="126"/>
                  </a:lnTo>
                  <a:lnTo>
                    <a:pt x="121" y="129"/>
                  </a:lnTo>
                  <a:lnTo>
                    <a:pt x="112" y="132"/>
                  </a:lnTo>
                  <a:lnTo>
                    <a:pt x="99" y="135"/>
                  </a:lnTo>
                  <a:lnTo>
                    <a:pt x="106" y="148"/>
                  </a:lnTo>
                  <a:lnTo>
                    <a:pt x="109" y="157"/>
                  </a:lnTo>
                  <a:lnTo>
                    <a:pt x="112" y="169"/>
                  </a:lnTo>
                  <a:lnTo>
                    <a:pt x="112" y="182"/>
                  </a:lnTo>
                  <a:lnTo>
                    <a:pt x="109" y="188"/>
                  </a:lnTo>
                  <a:lnTo>
                    <a:pt x="102" y="191"/>
                  </a:lnTo>
                  <a:lnTo>
                    <a:pt x="96" y="194"/>
                  </a:lnTo>
                  <a:lnTo>
                    <a:pt x="90" y="197"/>
                  </a:lnTo>
                  <a:lnTo>
                    <a:pt x="84" y="203"/>
                  </a:lnTo>
                  <a:lnTo>
                    <a:pt x="78" y="207"/>
                  </a:lnTo>
                  <a:lnTo>
                    <a:pt x="78" y="213"/>
                  </a:lnTo>
                  <a:lnTo>
                    <a:pt x="84" y="219"/>
                  </a:lnTo>
                  <a:lnTo>
                    <a:pt x="68" y="315"/>
                  </a:lnTo>
                  <a:lnTo>
                    <a:pt x="59" y="318"/>
                  </a:lnTo>
                  <a:lnTo>
                    <a:pt x="59" y="296"/>
                  </a:lnTo>
                  <a:lnTo>
                    <a:pt x="59" y="278"/>
                  </a:lnTo>
                  <a:lnTo>
                    <a:pt x="62" y="259"/>
                  </a:lnTo>
                  <a:lnTo>
                    <a:pt x="65" y="241"/>
                  </a:lnTo>
                  <a:lnTo>
                    <a:pt x="68" y="231"/>
                  </a:lnTo>
                  <a:lnTo>
                    <a:pt x="68" y="225"/>
                  </a:lnTo>
                  <a:lnTo>
                    <a:pt x="65" y="219"/>
                  </a:lnTo>
                  <a:lnTo>
                    <a:pt x="65" y="210"/>
                  </a:lnTo>
                  <a:lnTo>
                    <a:pt x="62" y="203"/>
                  </a:lnTo>
                  <a:lnTo>
                    <a:pt x="59" y="197"/>
                  </a:lnTo>
                  <a:lnTo>
                    <a:pt x="56" y="191"/>
                  </a:lnTo>
                  <a:lnTo>
                    <a:pt x="53" y="182"/>
                  </a:lnTo>
                  <a:lnTo>
                    <a:pt x="56" y="179"/>
                  </a:lnTo>
                  <a:lnTo>
                    <a:pt x="59" y="179"/>
                  </a:lnTo>
                  <a:lnTo>
                    <a:pt x="62" y="179"/>
                  </a:lnTo>
                  <a:lnTo>
                    <a:pt x="68" y="182"/>
                  </a:lnTo>
                  <a:lnTo>
                    <a:pt x="75" y="191"/>
                  </a:lnTo>
                  <a:lnTo>
                    <a:pt x="78" y="188"/>
                  </a:lnTo>
                  <a:lnTo>
                    <a:pt x="84" y="185"/>
                  </a:lnTo>
                  <a:lnTo>
                    <a:pt x="87" y="185"/>
                  </a:lnTo>
                  <a:lnTo>
                    <a:pt x="90" y="182"/>
                  </a:lnTo>
                  <a:lnTo>
                    <a:pt x="93" y="179"/>
                  </a:lnTo>
                  <a:lnTo>
                    <a:pt x="96" y="176"/>
                  </a:lnTo>
                  <a:lnTo>
                    <a:pt x="96" y="173"/>
                  </a:lnTo>
                  <a:lnTo>
                    <a:pt x="93" y="166"/>
                  </a:lnTo>
                  <a:lnTo>
                    <a:pt x="93" y="160"/>
                  </a:lnTo>
                  <a:lnTo>
                    <a:pt x="90" y="154"/>
                  </a:lnTo>
                  <a:lnTo>
                    <a:pt x="87" y="151"/>
                  </a:lnTo>
                  <a:lnTo>
                    <a:pt x="84" y="145"/>
                  </a:lnTo>
                  <a:lnTo>
                    <a:pt x="81" y="142"/>
                  </a:lnTo>
                  <a:lnTo>
                    <a:pt x="78" y="139"/>
                  </a:lnTo>
                  <a:lnTo>
                    <a:pt x="68" y="139"/>
                  </a:lnTo>
                  <a:lnTo>
                    <a:pt x="59" y="139"/>
                  </a:lnTo>
                  <a:lnTo>
                    <a:pt x="50" y="139"/>
                  </a:lnTo>
                  <a:lnTo>
                    <a:pt x="44" y="139"/>
                  </a:lnTo>
                  <a:lnTo>
                    <a:pt x="34" y="139"/>
                  </a:lnTo>
                  <a:lnTo>
                    <a:pt x="25" y="139"/>
                  </a:lnTo>
                  <a:lnTo>
                    <a:pt x="16" y="139"/>
                  </a:lnTo>
                  <a:lnTo>
                    <a:pt x="10" y="142"/>
                  </a:lnTo>
                  <a:lnTo>
                    <a:pt x="7" y="139"/>
                  </a:lnTo>
                  <a:lnTo>
                    <a:pt x="4" y="139"/>
                  </a:lnTo>
                  <a:lnTo>
                    <a:pt x="0" y="135"/>
                  </a:lnTo>
                  <a:lnTo>
                    <a:pt x="0" y="132"/>
                  </a:lnTo>
                  <a:lnTo>
                    <a:pt x="10" y="129"/>
                  </a:lnTo>
                  <a:lnTo>
                    <a:pt x="19" y="126"/>
                  </a:lnTo>
                  <a:lnTo>
                    <a:pt x="28" y="123"/>
                  </a:lnTo>
                  <a:lnTo>
                    <a:pt x="38" y="123"/>
                  </a:lnTo>
                  <a:lnTo>
                    <a:pt x="47" y="123"/>
                  </a:lnTo>
                  <a:lnTo>
                    <a:pt x="53" y="123"/>
                  </a:lnTo>
                  <a:lnTo>
                    <a:pt x="65" y="123"/>
                  </a:lnTo>
                  <a:lnTo>
                    <a:pt x="75" y="123"/>
                  </a:lnTo>
                  <a:lnTo>
                    <a:pt x="78" y="123"/>
                  </a:lnTo>
                  <a:lnTo>
                    <a:pt x="81" y="123"/>
                  </a:lnTo>
                  <a:lnTo>
                    <a:pt x="84" y="123"/>
                  </a:lnTo>
                  <a:lnTo>
                    <a:pt x="87" y="123"/>
                  </a:lnTo>
                  <a:lnTo>
                    <a:pt x="93" y="123"/>
                  </a:lnTo>
                  <a:lnTo>
                    <a:pt x="96" y="123"/>
                  </a:lnTo>
                  <a:lnTo>
                    <a:pt x="99" y="123"/>
                  </a:lnTo>
                  <a:lnTo>
                    <a:pt x="102" y="120"/>
                  </a:lnTo>
                  <a:lnTo>
                    <a:pt x="106" y="120"/>
                  </a:lnTo>
                  <a:lnTo>
                    <a:pt x="112" y="120"/>
                  </a:lnTo>
                  <a:lnTo>
                    <a:pt x="118" y="117"/>
                  </a:lnTo>
                  <a:lnTo>
                    <a:pt x="121" y="117"/>
                  </a:lnTo>
                  <a:lnTo>
                    <a:pt x="124" y="117"/>
                  </a:lnTo>
                  <a:lnTo>
                    <a:pt x="130" y="114"/>
                  </a:lnTo>
                  <a:lnTo>
                    <a:pt x="133" y="114"/>
                  </a:lnTo>
                  <a:lnTo>
                    <a:pt x="140" y="111"/>
                  </a:lnTo>
                  <a:lnTo>
                    <a:pt x="177" y="105"/>
                  </a:lnTo>
                  <a:lnTo>
                    <a:pt x="186" y="98"/>
                  </a:lnTo>
                  <a:lnTo>
                    <a:pt x="195" y="95"/>
                  </a:lnTo>
                  <a:lnTo>
                    <a:pt x="204" y="92"/>
                  </a:lnTo>
                  <a:lnTo>
                    <a:pt x="214" y="89"/>
                  </a:lnTo>
                  <a:lnTo>
                    <a:pt x="223" y="86"/>
                  </a:lnTo>
                  <a:lnTo>
                    <a:pt x="232" y="83"/>
                  </a:lnTo>
                  <a:lnTo>
                    <a:pt x="241" y="80"/>
                  </a:lnTo>
                  <a:lnTo>
                    <a:pt x="251" y="77"/>
                  </a:lnTo>
                  <a:lnTo>
                    <a:pt x="248" y="68"/>
                  </a:lnTo>
                  <a:lnTo>
                    <a:pt x="245" y="61"/>
                  </a:lnTo>
                  <a:lnTo>
                    <a:pt x="245" y="52"/>
                  </a:lnTo>
                  <a:lnTo>
                    <a:pt x="248" y="43"/>
                  </a:lnTo>
                  <a:lnTo>
                    <a:pt x="248" y="34"/>
                  </a:lnTo>
                  <a:lnTo>
                    <a:pt x="254" y="24"/>
                  </a:lnTo>
                  <a:lnTo>
                    <a:pt x="257" y="15"/>
                  </a:lnTo>
                  <a:lnTo>
                    <a:pt x="266" y="9"/>
                  </a:lnTo>
                  <a:lnTo>
                    <a:pt x="269" y="6"/>
                  </a:lnTo>
                  <a:lnTo>
                    <a:pt x="275" y="3"/>
                  </a:lnTo>
                  <a:lnTo>
                    <a:pt x="282" y="3"/>
                  </a:lnTo>
                  <a:lnTo>
                    <a:pt x="288" y="0"/>
                  </a:lnTo>
                  <a:lnTo>
                    <a:pt x="297" y="0"/>
                  </a:lnTo>
                  <a:lnTo>
                    <a:pt x="303" y="0"/>
                  </a:lnTo>
                  <a:lnTo>
                    <a:pt x="309" y="0"/>
                  </a:lnTo>
                  <a:lnTo>
                    <a:pt x="316" y="3"/>
                  </a:lnTo>
                  <a:lnTo>
                    <a:pt x="322" y="6"/>
                  </a:lnTo>
                  <a:lnTo>
                    <a:pt x="328" y="6"/>
                  </a:lnTo>
                  <a:lnTo>
                    <a:pt x="334" y="6"/>
                  </a:lnTo>
                  <a:lnTo>
                    <a:pt x="340" y="6"/>
                  </a:lnTo>
                  <a:lnTo>
                    <a:pt x="350" y="6"/>
                  </a:lnTo>
                  <a:lnTo>
                    <a:pt x="356" y="6"/>
                  </a:lnTo>
                  <a:lnTo>
                    <a:pt x="362" y="6"/>
                  </a:lnTo>
                  <a:lnTo>
                    <a:pt x="368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4" name="Freeform 478"/>
            <p:cNvSpPr>
              <a:spLocks/>
            </p:cNvSpPr>
            <p:nvPr/>
          </p:nvSpPr>
          <p:spPr bwMode="auto">
            <a:xfrm>
              <a:off x="1627" y="1864"/>
              <a:ext cx="37" cy="90"/>
            </a:xfrm>
            <a:custGeom>
              <a:avLst/>
              <a:gdLst>
                <a:gd name="T0" fmla="*/ 25 w 37"/>
                <a:gd name="T1" fmla="*/ 7 h 90"/>
                <a:gd name="T2" fmla="*/ 28 w 37"/>
                <a:gd name="T3" fmla="*/ 16 h 90"/>
                <a:gd name="T4" fmla="*/ 31 w 37"/>
                <a:gd name="T5" fmla="*/ 25 h 90"/>
                <a:gd name="T6" fmla="*/ 34 w 37"/>
                <a:gd name="T7" fmla="*/ 34 h 90"/>
                <a:gd name="T8" fmla="*/ 34 w 37"/>
                <a:gd name="T9" fmla="*/ 47 h 90"/>
                <a:gd name="T10" fmla="*/ 37 w 37"/>
                <a:gd name="T11" fmla="*/ 56 h 90"/>
                <a:gd name="T12" fmla="*/ 34 w 37"/>
                <a:gd name="T13" fmla="*/ 65 h 90"/>
                <a:gd name="T14" fmla="*/ 31 w 37"/>
                <a:gd name="T15" fmla="*/ 74 h 90"/>
                <a:gd name="T16" fmla="*/ 25 w 37"/>
                <a:gd name="T17" fmla="*/ 84 h 90"/>
                <a:gd name="T18" fmla="*/ 22 w 37"/>
                <a:gd name="T19" fmla="*/ 84 h 90"/>
                <a:gd name="T20" fmla="*/ 22 w 37"/>
                <a:gd name="T21" fmla="*/ 87 h 90"/>
                <a:gd name="T22" fmla="*/ 18 w 37"/>
                <a:gd name="T23" fmla="*/ 87 h 90"/>
                <a:gd name="T24" fmla="*/ 15 w 37"/>
                <a:gd name="T25" fmla="*/ 90 h 90"/>
                <a:gd name="T26" fmla="*/ 12 w 37"/>
                <a:gd name="T27" fmla="*/ 90 h 90"/>
                <a:gd name="T28" fmla="*/ 6 w 37"/>
                <a:gd name="T29" fmla="*/ 90 h 90"/>
                <a:gd name="T30" fmla="*/ 6 w 37"/>
                <a:gd name="T31" fmla="*/ 90 h 90"/>
                <a:gd name="T32" fmla="*/ 3 w 37"/>
                <a:gd name="T33" fmla="*/ 87 h 90"/>
                <a:gd name="T34" fmla="*/ 0 w 37"/>
                <a:gd name="T35" fmla="*/ 84 h 90"/>
                <a:gd name="T36" fmla="*/ 0 w 37"/>
                <a:gd name="T37" fmla="*/ 84 h 90"/>
                <a:gd name="T38" fmla="*/ 0 w 37"/>
                <a:gd name="T39" fmla="*/ 81 h 90"/>
                <a:gd name="T40" fmla="*/ 0 w 37"/>
                <a:gd name="T41" fmla="*/ 81 h 90"/>
                <a:gd name="T42" fmla="*/ 3 w 37"/>
                <a:gd name="T43" fmla="*/ 78 h 90"/>
                <a:gd name="T44" fmla="*/ 6 w 37"/>
                <a:gd name="T45" fmla="*/ 74 h 90"/>
                <a:gd name="T46" fmla="*/ 9 w 37"/>
                <a:gd name="T47" fmla="*/ 71 h 90"/>
                <a:gd name="T48" fmla="*/ 12 w 37"/>
                <a:gd name="T49" fmla="*/ 71 h 90"/>
                <a:gd name="T50" fmla="*/ 15 w 37"/>
                <a:gd name="T51" fmla="*/ 68 h 90"/>
                <a:gd name="T52" fmla="*/ 18 w 37"/>
                <a:gd name="T53" fmla="*/ 65 h 90"/>
                <a:gd name="T54" fmla="*/ 22 w 37"/>
                <a:gd name="T55" fmla="*/ 62 h 90"/>
                <a:gd name="T56" fmla="*/ 22 w 37"/>
                <a:gd name="T57" fmla="*/ 59 h 90"/>
                <a:gd name="T58" fmla="*/ 22 w 37"/>
                <a:gd name="T59" fmla="*/ 44 h 90"/>
                <a:gd name="T60" fmla="*/ 18 w 37"/>
                <a:gd name="T61" fmla="*/ 31 h 90"/>
                <a:gd name="T62" fmla="*/ 12 w 37"/>
                <a:gd name="T63" fmla="*/ 16 h 90"/>
                <a:gd name="T64" fmla="*/ 9 w 37"/>
                <a:gd name="T65" fmla="*/ 3 h 90"/>
                <a:gd name="T66" fmla="*/ 12 w 37"/>
                <a:gd name="T67" fmla="*/ 0 h 90"/>
                <a:gd name="T68" fmla="*/ 15 w 37"/>
                <a:gd name="T69" fmla="*/ 0 h 90"/>
                <a:gd name="T70" fmla="*/ 22 w 37"/>
                <a:gd name="T71" fmla="*/ 3 h 90"/>
                <a:gd name="T72" fmla="*/ 25 w 37"/>
                <a:gd name="T73" fmla="*/ 7 h 90"/>
                <a:gd name="T74" fmla="*/ 25 w 37"/>
                <a:gd name="T75" fmla="*/ 7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7"/>
                <a:gd name="T115" fmla="*/ 0 h 90"/>
                <a:gd name="T116" fmla="*/ 37 w 37"/>
                <a:gd name="T117" fmla="*/ 90 h 9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7" h="90">
                  <a:moveTo>
                    <a:pt x="25" y="7"/>
                  </a:moveTo>
                  <a:lnTo>
                    <a:pt x="28" y="16"/>
                  </a:lnTo>
                  <a:lnTo>
                    <a:pt x="31" y="25"/>
                  </a:lnTo>
                  <a:lnTo>
                    <a:pt x="34" y="34"/>
                  </a:lnTo>
                  <a:lnTo>
                    <a:pt x="34" y="47"/>
                  </a:lnTo>
                  <a:lnTo>
                    <a:pt x="37" y="56"/>
                  </a:lnTo>
                  <a:lnTo>
                    <a:pt x="34" y="65"/>
                  </a:lnTo>
                  <a:lnTo>
                    <a:pt x="31" y="74"/>
                  </a:lnTo>
                  <a:lnTo>
                    <a:pt x="25" y="84"/>
                  </a:lnTo>
                  <a:lnTo>
                    <a:pt x="22" y="84"/>
                  </a:lnTo>
                  <a:lnTo>
                    <a:pt x="22" y="87"/>
                  </a:lnTo>
                  <a:lnTo>
                    <a:pt x="18" y="87"/>
                  </a:lnTo>
                  <a:lnTo>
                    <a:pt x="15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3" y="87"/>
                  </a:lnTo>
                  <a:lnTo>
                    <a:pt x="0" y="84"/>
                  </a:lnTo>
                  <a:lnTo>
                    <a:pt x="0" y="81"/>
                  </a:lnTo>
                  <a:lnTo>
                    <a:pt x="3" y="78"/>
                  </a:lnTo>
                  <a:lnTo>
                    <a:pt x="6" y="74"/>
                  </a:lnTo>
                  <a:lnTo>
                    <a:pt x="9" y="71"/>
                  </a:lnTo>
                  <a:lnTo>
                    <a:pt x="12" y="71"/>
                  </a:lnTo>
                  <a:lnTo>
                    <a:pt x="15" y="68"/>
                  </a:lnTo>
                  <a:lnTo>
                    <a:pt x="18" y="65"/>
                  </a:lnTo>
                  <a:lnTo>
                    <a:pt x="22" y="62"/>
                  </a:lnTo>
                  <a:lnTo>
                    <a:pt x="22" y="59"/>
                  </a:lnTo>
                  <a:lnTo>
                    <a:pt x="22" y="44"/>
                  </a:lnTo>
                  <a:lnTo>
                    <a:pt x="18" y="31"/>
                  </a:lnTo>
                  <a:lnTo>
                    <a:pt x="12" y="16"/>
                  </a:lnTo>
                  <a:lnTo>
                    <a:pt x="9" y="3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22" y="3"/>
                  </a:lnTo>
                  <a:lnTo>
                    <a:pt x="25" y="7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5" name="Freeform 479"/>
            <p:cNvSpPr>
              <a:spLocks/>
            </p:cNvSpPr>
            <p:nvPr/>
          </p:nvSpPr>
          <p:spPr bwMode="auto">
            <a:xfrm>
              <a:off x="2198" y="1877"/>
              <a:ext cx="50" cy="568"/>
            </a:xfrm>
            <a:custGeom>
              <a:avLst/>
              <a:gdLst>
                <a:gd name="T0" fmla="*/ 16 w 50"/>
                <a:gd name="T1" fmla="*/ 6 h 568"/>
                <a:gd name="T2" fmla="*/ 16 w 50"/>
                <a:gd name="T3" fmla="*/ 55 h 568"/>
                <a:gd name="T4" fmla="*/ 19 w 50"/>
                <a:gd name="T5" fmla="*/ 102 h 568"/>
                <a:gd name="T6" fmla="*/ 19 w 50"/>
                <a:gd name="T7" fmla="*/ 151 h 568"/>
                <a:gd name="T8" fmla="*/ 19 w 50"/>
                <a:gd name="T9" fmla="*/ 197 h 568"/>
                <a:gd name="T10" fmla="*/ 19 w 50"/>
                <a:gd name="T11" fmla="*/ 247 h 568"/>
                <a:gd name="T12" fmla="*/ 22 w 50"/>
                <a:gd name="T13" fmla="*/ 293 h 568"/>
                <a:gd name="T14" fmla="*/ 25 w 50"/>
                <a:gd name="T15" fmla="*/ 340 h 568"/>
                <a:gd name="T16" fmla="*/ 31 w 50"/>
                <a:gd name="T17" fmla="*/ 389 h 568"/>
                <a:gd name="T18" fmla="*/ 34 w 50"/>
                <a:gd name="T19" fmla="*/ 411 h 568"/>
                <a:gd name="T20" fmla="*/ 34 w 50"/>
                <a:gd name="T21" fmla="*/ 432 h 568"/>
                <a:gd name="T22" fmla="*/ 38 w 50"/>
                <a:gd name="T23" fmla="*/ 454 h 568"/>
                <a:gd name="T24" fmla="*/ 41 w 50"/>
                <a:gd name="T25" fmla="*/ 472 h 568"/>
                <a:gd name="T26" fmla="*/ 44 w 50"/>
                <a:gd name="T27" fmla="*/ 494 h 568"/>
                <a:gd name="T28" fmla="*/ 44 w 50"/>
                <a:gd name="T29" fmla="*/ 516 h 568"/>
                <a:gd name="T30" fmla="*/ 47 w 50"/>
                <a:gd name="T31" fmla="*/ 537 h 568"/>
                <a:gd name="T32" fmla="*/ 50 w 50"/>
                <a:gd name="T33" fmla="*/ 559 h 568"/>
                <a:gd name="T34" fmla="*/ 47 w 50"/>
                <a:gd name="T35" fmla="*/ 562 h 568"/>
                <a:gd name="T36" fmla="*/ 47 w 50"/>
                <a:gd name="T37" fmla="*/ 565 h 568"/>
                <a:gd name="T38" fmla="*/ 44 w 50"/>
                <a:gd name="T39" fmla="*/ 568 h 568"/>
                <a:gd name="T40" fmla="*/ 38 w 50"/>
                <a:gd name="T41" fmla="*/ 568 h 568"/>
                <a:gd name="T42" fmla="*/ 31 w 50"/>
                <a:gd name="T43" fmla="*/ 544 h 568"/>
                <a:gd name="T44" fmla="*/ 28 w 50"/>
                <a:gd name="T45" fmla="*/ 516 h 568"/>
                <a:gd name="T46" fmla="*/ 25 w 50"/>
                <a:gd name="T47" fmla="*/ 485 h 568"/>
                <a:gd name="T48" fmla="*/ 22 w 50"/>
                <a:gd name="T49" fmla="*/ 457 h 568"/>
                <a:gd name="T50" fmla="*/ 19 w 50"/>
                <a:gd name="T51" fmla="*/ 435 h 568"/>
                <a:gd name="T52" fmla="*/ 16 w 50"/>
                <a:gd name="T53" fmla="*/ 414 h 568"/>
                <a:gd name="T54" fmla="*/ 13 w 50"/>
                <a:gd name="T55" fmla="*/ 392 h 568"/>
                <a:gd name="T56" fmla="*/ 13 w 50"/>
                <a:gd name="T57" fmla="*/ 367 h 568"/>
                <a:gd name="T58" fmla="*/ 10 w 50"/>
                <a:gd name="T59" fmla="*/ 346 h 568"/>
                <a:gd name="T60" fmla="*/ 7 w 50"/>
                <a:gd name="T61" fmla="*/ 321 h 568"/>
                <a:gd name="T62" fmla="*/ 7 w 50"/>
                <a:gd name="T63" fmla="*/ 299 h 568"/>
                <a:gd name="T64" fmla="*/ 7 w 50"/>
                <a:gd name="T65" fmla="*/ 278 h 568"/>
                <a:gd name="T66" fmla="*/ 0 w 50"/>
                <a:gd name="T67" fmla="*/ 238 h 568"/>
                <a:gd name="T68" fmla="*/ 4 w 50"/>
                <a:gd name="T69" fmla="*/ 0 h 568"/>
                <a:gd name="T70" fmla="*/ 7 w 50"/>
                <a:gd name="T71" fmla="*/ 0 h 568"/>
                <a:gd name="T72" fmla="*/ 10 w 50"/>
                <a:gd name="T73" fmla="*/ 0 h 568"/>
                <a:gd name="T74" fmla="*/ 13 w 50"/>
                <a:gd name="T75" fmla="*/ 3 h 568"/>
                <a:gd name="T76" fmla="*/ 16 w 50"/>
                <a:gd name="T77" fmla="*/ 6 h 568"/>
                <a:gd name="T78" fmla="*/ 16 w 50"/>
                <a:gd name="T79" fmla="*/ 6 h 56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0"/>
                <a:gd name="T121" fmla="*/ 0 h 568"/>
                <a:gd name="T122" fmla="*/ 50 w 50"/>
                <a:gd name="T123" fmla="*/ 568 h 56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0" h="568">
                  <a:moveTo>
                    <a:pt x="16" y="6"/>
                  </a:moveTo>
                  <a:lnTo>
                    <a:pt x="16" y="55"/>
                  </a:lnTo>
                  <a:lnTo>
                    <a:pt x="19" y="102"/>
                  </a:lnTo>
                  <a:lnTo>
                    <a:pt x="19" y="151"/>
                  </a:lnTo>
                  <a:lnTo>
                    <a:pt x="19" y="197"/>
                  </a:lnTo>
                  <a:lnTo>
                    <a:pt x="19" y="247"/>
                  </a:lnTo>
                  <a:lnTo>
                    <a:pt x="22" y="293"/>
                  </a:lnTo>
                  <a:lnTo>
                    <a:pt x="25" y="340"/>
                  </a:lnTo>
                  <a:lnTo>
                    <a:pt x="31" y="389"/>
                  </a:lnTo>
                  <a:lnTo>
                    <a:pt x="34" y="411"/>
                  </a:lnTo>
                  <a:lnTo>
                    <a:pt x="34" y="432"/>
                  </a:lnTo>
                  <a:lnTo>
                    <a:pt x="38" y="454"/>
                  </a:lnTo>
                  <a:lnTo>
                    <a:pt x="41" y="472"/>
                  </a:lnTo>
                  <a:lnTo>
                    <a:pt x="44" y="494"/>
                  </a:lnTo>
                  <a:lnTo>
                    <a:pt x="44" y="516"/>
                  </a:lnTo>
                  <a:lnTo>
                    <a:pt x="47" y="537"/>
                  </a:lnTo>
                  <a:lnTo>
                    <a:pt x="50" y="559"/>
                  </a:lnTo>
                  <a:lnTo>
                    <a:pt x="47" y="562"/>
                  </a:lnTo>
                  <a:lnTo>
                    <a:pt x="47" y="565"/>
                  </a:lnTo>
                  <a:lnTo>
                    <a:pt x="44" y="568"/>
                  </a:lnTo>
                  <a:lnTo>
                    <a:pt x="38" y="568"/>
                  </a:lnTo>
                  <a:lnTo>
                    <a:pt x="31" y="544"/>
                  </a:lnTo>
                  <a:lnTo>
                    <a:pt x="28" y="516"/>
                  </a:lnTo>
                  <a:lnTo>
                    <a:pt x="25" y="485"/>
                  </a:lnTo>
                  <a:lnTo>
                    <a:pt x="22" y="457"/>
                  </a:lnTo>
                  <a:lnTo>
                    <a:pt x="19" y="435"/>
                  </a:lnTo>
                  <a:lnTo>
                    <a:pt x="16" y="414"/>
                  </a:lnTo>
                  <a:lnTo>
                    <a:pt x="13" y="392"/>
                  </a:lnTo>
                  <a:lnTo>
                    <a:pt x="13" y="367"/>
                  </a:lnTo>
                  <a:lnTo>
                    <a:pt x="10" y="346"/>
                  </a:lnTo>
                  <a:lnTo>
                    <a:pt x="7" y="321"/>
                  </a:lnTo>
                  <a:lnTo>
                    <a:pt x="7" y="299"/>
                  </a:lnTo>
                  <a:lnTo>
                    <a:pt x="7" y="278"/>
                  </a:lnTo>
                  <a:lnTo>
                    <a:pt x="0" y="238"/>
                  </a:lnTo>
                  <a:lnTo>
                    <a:pt x="4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6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6" name="Freeform 480"/>
            <p:cNvSpPr>
              <a:spLocks/>
            </p:cNvSpPr>
            <p:nvPr/>
          </p:nvSpPr>
          <p:spPr bwMode="auto">
            <a:xfrm>
              <a:off x="2161" y="1905"/>
              <a:ext cx="22" cy="256"/>
            </a:xfrm>
            <a:custGeom>
              <a:avLst/>
              <a:gdLst>
                <a:gd name="T0" fmla="*/ 19 w 22"/>
                <a:gd name="T1" fmla="*/ 6 h 256"/>
                <a:gd name="T2" fmla="*/ 19 w 22"/>
                <a:gd name="T3" fmla="*/ 67 h 256"/>
                <a:gd name="T4" fmla="*/ 19 w 22"/>
                <a:gd name="T5" fmla="*/ 129 h 256"/>
                <a:gd name="T6" fmla="*/ 16 w 22"/>
                <a:gd name="T7" fmla="*/ 188 h 256"/>
                <a:gd name="T8" fmla="*/ 22 w 22"/>
                <a:gd name="T9" fmla="*/ 250 h 256"/>
                <a:gd name="T10" fmla="*/ 19 w 22"/>
                <a:gd name="T11" fmla="*/ 250 h 256"/>
                <a:gd name="T12" fmla="*/ 19 w 22"/>
                <a:gd name="T13" fmla="*/ 253 h 256"/>
                <a:gd name="T14" fmla="*/ 19 w 22"/>
                <a:gd name="T15" fmla="*/ 256 h 256"/>
                <a:gd name="T16" fmla="*/ 16 w 22"/>
                <a:gd name="T17" fmla="*/ 256 h 256"/>
                <a:gd name="T18" fmla="*/ 13 w 22"/>
                <a:gd name="T19" fmla="*/ 256 h 256"/>
                <a:gd name="T20" fmla="*/ 10 w 22"/>
                <a:gd name="T21" fmla="*/ 256 h 256"/>
                <a:gd name="T22" fmla="*/ 7 w 22"/>
                <a:gd name="T23" fmla="*/ 256 h 256"/>
                <a:gd name="T24" fmla="*/ 4 w 22"/>
                <a:gd name="T25" fmla="*/ 250 h 256"/>
                <a:gd name="T26" fmla="*/ 0 w 22"/>
                <a:gd name="T27" fmla="*/ 191 h 256"/>
                <a:gd name="T28" fmla="*/ 0 w 22"/>
                <a:gd name="T29" fmla="*/ 129 h 256"/>
                <a:gd name="T30" fmla="*/ 4 w 22"/>
                <a:gd name="T31" fmla="*/ 64 h 256"/>
                <a:gd name="T32" fmla="*/ 7 w 22"/>
                <a:gd name="T33" fmla="*/ 3 h 256"/>
                <a:gd name="T34" fmla="*/ 10 w 22"/>
                <a:gd name="T35" fmla="*/ 0 h 256"/>
                <a:gd name="T36" fmla="*/ 13 w 22"/>
                <a:gd name="T37" fmla="*/ 0 h 256"/>
                <a:gd name="T38" fmla="*/ 16 w 22"/>
                <a:gd name="T39" fmla="*/ 3 h 256"/>
                <a:gd name="T40" fmla="*/ 19 w 22"/>
                <a:gd name="T41" fmla="*/ 6 h 256"/>
                <a:gd name="T42" fmla="*/ 19 w 22"/>
                <a:gd name="T43" fmla="*/ 6 h 2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2"/>
                <a:gd name="T67" fmla="*/ 0 h 256"/>
                <a:gd name="T68" fmla="*/ 22 w 22"/>
                <a:gd name="T69" fmla="*/ 256 h 2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2" h="256">
                  <a:moveTo>
                    <a:pt x="19" y="6"/>
                  </a:moveTo>
                  <a:lnTo>
                    <a:pt x="19" y="67"/>
                  </a:lnTo>
                  <a:lnTo>
                    <a:pt x="19" y="129"/>
                  </a:lnTo>
                  <a:lnTo>
                    <a:pt x="16" y="188"/>
                  </a:lnTo>
                  <a:lnTo>
                    <a:pt x="22" y="250"/>
                  </a:lnTo>
                  <a:lnTo>
                    <a:pt x="19" y="250"/>
                  </a:lnTo>
                  <a:lnTo>
                    <a:pt x="19" y="253"/>
                  </a:lnTo>
                  <a:lnTo>
                    <a:pt x="19" y="256"/>
                  </a:lnTo>
                  <a:lnTo>
                    <a:pt x="16" y="256"/>
                  </a:lnTo>
                  <a:lnTo>
                    <a:pt x="13" y="256"/>
                  </a:lnTo>
                  <a:lnTo>
                    <a:pt x="10" y="256"/>
                  </a:lnTo>
                  <a:lnTo>
                    <a:pt x="7" y="256"/>
                  </a:lnTo>
                  <a:lnTo>
                    <a:pt x="4" y="250"/>
                  </a:lnTo>
                  <a:lnTo>
                    <a:pt x="0" y="191"/>
                  </a:lnTo>
                  <a:lnTo>
                    <a:pt x="0" y="129"/>
                  </a:lnTo>
                  <a:lnTo>
                    <a:pt x="4" y="64"/>
                  </a:lnTo>
                  <a:lnTo>
                    <a:pt x="7" y="3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6" y="3"/>
                  </a:lnTo>
                  <a:lnTo>
                    <a:pt x="19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7" name="Freeform 481"/>
            <p:cNvSpPr>
              <a:spLocks/>
            </p:cNvSpPr>
            <p:nvPr/>
          </p:nvSpPr>
          <p:spPr bwMode="auto">
            <a:xfrm>
              <a:off x="1809" y="1917"/>
              <a:ext cx="309" cy="102"/>
            </a:xfrm>
            <a:custGeom>
              <a:avLst/>
              <a:gdLst>
                <a:gd name="T0" fmla="*/ 204 w 309"/>
                <a:gd name="T1" fmla="*/ 12 h 102"/>
                <a:gd name="T2" fmla="*/ 210 w 309"/>
                <a:gd name="T3" fmla="*/ 9 h 102"/>
                <a:gd name="T4" fmla="*/ 216 w 309"/>
                <a:gd name="T5" fmla="*/ 9 h 102"/>
                <a:gd name="T6" fmla="*/ 226 w 309"/>
                <a:gd name="T7" fmla="*/ 6 h 102"/>
                <a:gd name="T8" fmla="*/ 238 w 309"/>
                <a:gd name="T9" fmla="*/ 6 h 102"/>
                <a:gd name="T10" fmla="*/ 260 w 309"/>
                <a:gd name="T11" fmla="*/ 9 h 102"/>
                <a:gd name="T12" fmla="*/ 281 w 309"/>
                <a:gd name="T13" fmla="*/ 12 h 102"/>
                <a:gd name="T14" fmla="*/ 300 w 309"/>
                <a:gd name="T15" fmla="*/ 12 h 102"/>
                <a:gd name="T16" fmla="*/ 309 w 309"/>
                <a:gd name="T17" fmla="*/ 18 h 102"/>
                <a:gd name="T18" fmla="*/ 306 w 309"/>
                <a:gd name="T19" fmla="*/ 21 h 102"/>
                <a:gd name="T20" fmla="*/ 294 w 309"/>
                <a:gd name="T21" fmla="*/ 25 h 102"/>
                <a:gd name="T22" fmla="*/ 281 w 309"/>
                <a:gd name="T23" fmla="*/ 25 h 102"/>
                <a:gd name="T24" fmla="*/ 272 w 309"/>
                <a:gd name="T25" fmla="*/ 25 h 102"/>
                <a:gd name="T26" fmla="*/ 260 w 309"/>
                <a:gd name="T27" fmla="*/ 25 h 102"/>
                <a:gd name="T28" fmla="*/ 244 w 309"/>
                <a:gd name="T29" fmla="*/ 18 h 102"/>
                <a:gd name="T30" fmla="*/ 226 w 309"/>
                <a:gd name="T31" fmla="*/ 18 h 102"/>
                <a:gd name="T32" fmla="*/ 207 w 309"/>
                <a:gd name="T33" fmla="*/ 21 h 102"/>
                <a:gd name="T34" fmla="*/ 189 w 309"/>
                <a:gd name="T35" fmla="*/ 21 h 102"/>
                <a:gd name="T36" fmla="*/ 179 w 309"/>
                <a:gd name="T37" fmla="*/ 18 h 102"/>
                <a:gd name="T38" fmla="*/ 176 w 309"/>
                <a:gd name="T39" fmla="*/ 25 h 102"/>
                <a:gd name="T40" fmla="*/ 164 w 309"/>
                <a:gd name="T41" fmla="*/ 25 h 102"/>
                <a:gd name="T42" fmla="*/ 149 w 309"/>
                <a:gd name="T43" fmla="*/ 31 h 102"/>
                <a:gd name="T44" fmla="*/ 136 w 309"/>
                <a:gd name="T45" fmla="*/ 37 h 102"/>
                <a:gd name="T46" fmla="*/ 124 w 309"/>
                <a:gd name="T47" fmla="*/ 43 h 102"/>
                <a:gd name="T48" fmla="*/ 108 w 309"/>
                <a:gd name="T49" fmla="*/ 46 h 102"/>
                <a:gd name="T50" fmla="*/ 93 w 309"/>
                <a:gd name="T51" fmla="*/ 49 h 102"/>
                <a:gd name="T52" fmla="*/ 81 w 309"/>
                <a:gd name="T53" fmla="*/ 55 h 102"/>
                <a:gd name="T54" fmla="*/ 65 w 309"/>
                <a:gd name="T55" fmla="*/ 65 h 102"/>
                <a:gd name="T56" fmla="*/ 53 w 309"/>
                <a:gd name="T57" fmla="*/ 74 h 102"/>
                <a:gd name="T58" fmla="*/ 40 w 309"/>
                <a:gd name="T59" fmla="*/ 83 h 102"/>
                <a:gd name="T60" fmla="*/ 28 w 309"/>
                <a:gd name="T61" fmla="*/ 93 h 102"/>
                <a:gd name="T62" fmla="*/ 16 w 309"/>
                <a:gd name="T63" fmla="*/ 99 h 102"/>
                <a:gd name="T64" fmla="*/ 6 w 309"/>
                <a:gd name="T65" fmla="*/ 99 h 102"/>
                <a:gd name="T66" fmla="*/ 0 w 309"/>
                <a:gd name="T67" fmla="*/ 96 h 102"/>
                <a:gd name="T68" fmla="*/ 10 w 309"/>
                <a:gd name="T69" fmla="*/ 86 h 102"/>
                <a:gd name="T70" fmla="*/ 31 w 309"/>
                <a:gd name="T71" fmla="*/ 74 h 102"/>
                <a:gd name="T72" fmla="*/ 50 w 309"/>
                <a:gd name="T73" fmla="*/ 59 h 102"/>
                <a:gd name="T74" fmla="*/ 68 w 309"/>
                <a:gd name="T75" fmla="*/ 46 h 102"/>
                <a:gd name="T76" fmla="*/ 87 w 309"/>
                <a:gd name="T77" fmla="*/ 40 h 102"/>
                <a:gd name="T78" fmla="*/ 108 w 309"/>
                <a:gd name="T79" fmla="*/ 34 h 102"/>
                <a:gd name="T80" fmla="*/ 127 w 309"/>
                <a:gd name="T81" fmla="*/ 25 h 102"/>
                <a:gd name="T82" fmla="*/ 145 w 309"/>
                <a:gd name="T83" fmla="*/ 15 h 102"/>
                <a:gd name="T84" fmla="*/ 158 w 309"/>
                <a:gd name="T85" fmla="*/ 12 h 102"/>
                <a:gd name="T86" fmla="*/ 161 w 309"/>
                <a:gd name="T87" fmla="*/ 12 h 102"/>
                <a:gd name="T88" fmla="*/ 167 w 309"/>
                <a:gd name="T89" fmla="*/ 9 h 102"/>
                <a:gd name="T90" fmla="*/ 170 w 309"/>
                <a:gd name="T91" fmla="*/ 6 h 102"/>
                <a:gd name="T92" fmla="*/ 186 w 309"/>
                <a:gd name="T93" fmla="*/ 0 h 102"/>
                <a:gd name="T94" fmla="*/ 192 w 309"/>
                <a:gd name="T95" fmla="*/ 6 h 102"/>
                <a:gd name="T96" fmla="*/ 198 w 309"/>
                <a:gd name="T97" fmla="*/ 12 h 10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09"/>
                <a:gd name="T148" fmla="*/ 0 h 102"/>
                <a:gd name="T149" fmla="*/ 309 w 309"/>
                <a:gd name="T150" fmla="*/ 102 h 10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09" h="102">
                  <a:moveTo>
                    <a:pt x="198" y="12"/>
                  </a:moveTo>
                  <a:lnTo>
                    <a:pt x="204" y="12"/>
                  </a:lnTo>
                  <a:lnTo>
                    <a:pt x="207" y="12"/>
                  </a:lnTo>
                  <a:lnTo>
                    <a:pt x="210" y="9"/>
                  </a:lnTo>
                  <a:lnTo>
                    <a:pt x="213" y="9"/>
                  </a:lnTo>
                  <a:lnTo>
                    <a:pt x="216" y="9"/>
                  </a:lnTo>
                  <a:lnTo>
                    <a:pt x="223" y="6"/>
                  </a:lnTo>
                  <a:lnTo>
                    <a:pt x="226" y="6"/>
                  </a:lnTo>
                  <a:lnTo>
                    <a:pt x="229" y="6"/>
                  </a:lnTo>
                  <a:lnTo>
                    <a:pt x="238" y="6"/>
                  </a:lnTo>
                  <a:lnTo>
                    <a:pt x="250" y="9"/>
                  </a:lnTo>
                  <a:lnTo>
                    <a:pt x="260" y="9"/>
                  </a:lnTo>
                  <a:lnTo>
                    <a:pt x="269" y="12"/>
                  </a:lnTo>
                  <a:lnTo>
                    <a:pt x="281" y="12"/>
                  </a:lnTo>
                  <a:lnTo>
                    <a:pt x="291" y="12"/>
                  </a:lnTo>
                  <a:lnTo>
                    <a:pt x="300" y="12"/>
                  </a:lnTo>
                  <a:lnTo>
                    <a:pt x="309" y="12"/>
                  </a:lnTo>
                  <a:lnTo>
                    <a:pt x="309" y="18"/>
                  </a:lnTo>
                  <a:lnTo>
                    <a:pt x="306" y="21"/>
                  </a:lnTo>
                  <a:lnTo>
                    <a:pt x="300" y="25"/>
                  </a:lnTo>
                  <a:lnTo>
                    <a:pt x="294" y="25"/>
                  </a:lnTo>
                  <a:lnTo>
                    <a:pt x="288" y="25"/>
                  </a:lnTo>
                  <a:lnTo>
                    <a:pt x="281" y="25"/>
                  </a:lnTo>
                  <a:lnTo>
                    <a:pt x="275" y="25"/>
                  </a:lnTo>
                  <a:lnTo>
                    <a:pt x="272" y="25"/>
                  </a:lnTo>
                  <a:lnTo>
                    <a:pt x="266" y="25"/>
                  </a:lnTo>
                  <a:lnTo>
                    <a:pt x="260" y="25"/>
                  </a:lnTo>
                  <a:lnTo>
                    <a:pt x="254" y="21"/>
                  </a:lnTo>
                  <a:lnTo>
                    <a:pt x="244" y="18"/>
                  </a:lnTo>
                  <a:lnTo>
                    <a:pt x="235" y="18"/>
                  </a:lnTo>
                  <a:lnTo>
                    <a:pt x="226" y="18"/>
                  </a:lnTo>
                  <a:lnTo>
                    <a:pt x="216" y="21"/>
                  </a:lnTo>
                  <a:lnTo>
                    <a:pt x="207" y="21"/>
                  </a:lnTo>
                  <a:lnTo>
                    <a:pt x="198" y="25"/>
                  </a:lnTo>
                  <a:lnTo>
                    <a:pt x="189" y="21"/>
                  </a:lnTo>
                  <a:lnTo>
                    <a:pt x="179" y="15"/>
                  </a:lnTo>
                  <a:lnTo>
                    <a:pt x="179" y="18"/>
                  </a:lnTo>
                  <a:lnTo>
                    <a:pt x="176" y="21"/>
                  </a:lnTo>
                  <a:lnTo>
                    <a:pt x="176" y="25"/>
                  </a:lnTo>
                  <a:lnTo>
                    <a:pt x="170" y="25"/>
                  </a:lnTo>
                  <a:lnTo>
                    <a:pt x="164" y="25"/>
                  </a:lnTo>
                  <a:lnTo>
                    <a:pt x="155" y="28"/>
                  </a:lnTo>
                  <a:lnTo>
                    <a:pt x="149" y="31"/>
                  </a:lnTo>
                  <a:lnTo>
                    <a:pt x="142" y="34"/>
                  </a:lnTo>
                  <a:lnTo>
                    <a:pt x="136" y="37"/>
                  </a:lnTo>
                  <a:lnTo>
                    <a:pt x="130" y="40"/>
                  </a:lnTo>
                  <a:lnTo>
                    <a:pt x="124" y="43"/>
                  </a:lnTo>
                  <a:lnTo>
                    <a:pt x="118" y="46"/>
                  </a:lnTo>
                  <a:lnTo>
                    <a:pt x="108" y="46"/>
                  </a:lnTo>
                  <a:lnTo>
                    <a:pt x="99" y="46"/>
                  </a:lnTo>
                  <a:lnTo>
                    <a:pt x="93" y="49"/>
                  </a:lnTo>
                  <a:lnTo>
                    <a:pt x="87" y="52"/>
                  </a:lnTo>
                  <a:lnTo>
                    <a:pt x="81" y="55"/>
                  </a:lnTo>
                  <a:lnTo>
                    <a:pt x="71" y="62"/>
                  </a:lnTo>
                  <a:lnTo>
                    <a:pt x="65" y="65"/>
                  </a:lnTo>
                  <a:lnTo>
                    <a:pt x="59" y="71"/>
                  </a:lnTo>
                  <a:lnTo>
                    <a:pt x="53" y="74"/>
                  </a:lnTo>
                  <a:lnTo>
                    <a:pt x="47" y="80"/>
                  </a:lnTo>
                  <a:lnTo>
                    <a:pt x="40" y="83"/>
                  </a:lnTo>
                  <a:lnTo>
                    <a:pt x="37" y="89"/>
                  </a:lnTo>
                  <a:lnTo>
                    <a:pt x="28" y="93"/>
                  </a:lnTo>
                  <a:lnTo>
                    <a:pt x="22" y="96"/>
                  </a:lnTo>
                  <a:lnTo>
                    <a:pt x="16" y="99"/>
                  </a:lnTo>
                  <a:lnTo>
                    <a:pt x="10" y="102"/>
                  </a:lnTo>
                  <a:lnTo>
                    <a:pt x="6" y="99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93"/>
                  </a:lnTo>
                  <a:lnTo>
                    <a:pt x="10" y="86"/>
                  </a:lnTo>
                  <a:lnTo>
                    <a:pt x="22" y="80"/>
                  </a:lnTo>
                  <a:lnTo>
                    <a:pt x="31" y="74"/>
                  </a:lnTo>
                  <a:lnTo>
                    <a:pt x="40" y="68"/>
                  </a:lnTo>
                  <a:lnTo>
                    <a:pt x="50" y="59"/>
                  </a:lnTo>
                  <a:lnTo>
                    <a:pt x="59" y="52"/>
                  </a:lnTo>
                  <a:lnTo>
                    <a:pt x="68" y="46"/>
                  </a:lnTo>
                  <a:lnTo>
                    <a:pt x="77" y="43"/>
                  </a:lnTo>
                  <a:lnTo>
                    <a:pt x="87" y="40"/>
                  </a:lnTo>
                  <a:lnTo>
                    <a:pt x="99" y="37"/>
                  </a:lnTo>
                  <a:lnTo>
                    <a:pt x="108" y="34"/>
                  </a:lnTo>
                  <a:lnTo>
                    <a:pt x="118" y="31"/>
                  </a:lnTo>
                  <a:lnTo>
                    <a:pt x="127" y="25"/>
                  </a:lnTo>
                  <a:lnTo>
                    <a:pt x="136" y="18"/>
                  </a:lnTo>
                  <a:lnTo>
                    <a:pt x="145" y="15"/>
                  </a:lnTo>
                  <a:lnTo>
                    <a:pt x="155" y="12"/>
                  </a:lnTo>
                  <a:lnTo>
                    <a:pt x="158" y="12"/>
                  </a:lnTo>
                  <a:lnTo>
                    <a:pt x="161" y="12"/>
                  </a:lnTo>
                  <a:lnTo>
                    <a:pt x="164" y="9"/>
                  </a:lnTo>
                  <a:lnTo>
                    <a:pt x="167" y="9"/>
                  </a:lnTo>
                  <a:lnTo>
                    <a:pt x="170" y="6"/>
                  </a:lnTo>
                  <a:lnTo>
                    <a:pt x="173" y="3"/>
                  </a:lnTo>
                  <a:lnTo>
                    <a:pt x="186" y="0"/>
                  </a:lnTo>
                  <a:lnTo>
                    <a:pt x="189" y="3"/>
                  </a:lnTo>
                  <a:lnTo>
                    <a:pt x="192" y="6"/>
                  </a:lnTo>
                  <a:lnTo>
                    <a:pt x="195" y="9"/>
                  </a:lnTo>
                  <a:lnTo>
                    <a:pt x="198" y="1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8" name="Freeform 482"/>
            <p:cNvSpPr>
              <a:spLocks/>
            </p:cNvSpPr>
            <p:nvPr/>
          </p:nvSpPr>
          <p:spPr bwMode="auto">
            <a:xfrm>
              <a:off x="1612" y="1954"/>
              <a:ext cx="71" cy="46"/>
            </a:xfrm>
            <a:custGeom>
              <a:avLst/>
              <a:gdLst>
                <a:gd name="T0" fmla="*/ 67 w 71"/>
                <a:gd name="T1" fmla="*/ 31 h 46"/>
                <a:gd name="T2" fmla="*/ 71 w 71"/>
                <a:gd name="T3" fmla="*/ 28 h 46"/>
                <a:gd name="T4" fmla="*/ 67 w 71"/>
                <a:gd name="T5" fmla="*/ 31 h 46"/>
                <a:gd name="T6" fmla="*/ 64 w 71"/>
                <a:gd name="T7" fmla="*/ 34 h 46"/>
                <a:gd name="T8" fmla="*/ 64 w 71"/>
                <a:gd name="T9" fmla="*/ 37 h 46"/>
                <a:gd name="T10" fmla="*/ 61 w 71"/>
                <a:gd name="T11" fmla="*/ 40 h 46"/>
                <a:gd name="T12" fmla="*/ 58 w 71"/>
                <a:gd name="T13" fmla="*/ 43 h 46"/>
                <a:gd name="T14" fmla="*/ 52 w 71"/>
                <a:gd name="T15" fmla="*/ 43 h 46"/>
                <a:gd name="T16" fmla="*/ 49 w 71"/>
                <a:gd name="T17" fmla="*/ 43 h 46"/>
                <a:gd name="T18" fmla="*/ 46 w 71"/>
                <a:gd name="T19" fmla="*/ 43 h 46"/>
                <a:gd name="T20" fmla="*/ 40 w 71"/>
                <a:gd name="T21" fmla="*/ 46 h 46"/>
                <a:gd name="T22" fmla="*/ 37 w 71"/>
                <a:gd name="T23" fmla="*/ 46 h 46"/>
                <a:gd name="T24" fmla="*/ 30 w 71"/>
                <a:gd name="T25" fmla="*/ 43 h 46"/>
                <a:gd name="T26" fmla="*/ 24 w 71"/>
                <a:gd name="T27" fmla="*/ 43 h 46"/>
                <a:gd name="T28" fmla="*/ 21 w 71"/>
                <a:gd name="T29" fmla="*/ 43 h 46"/>
                <a:gd name="T30" fmla="*/ 15 w 71"/>
                <a:gd name="T31" fmla="*/ 40 h 46"/>
                <a:gd name="T32" fmla="*/ 12 w 71"/>
                <a:gd name="T33" fmla="*/ 40 h 46"/>
                <a:gd name="T34" fmla="*/ 6 w 71"/>
                <a:gd name="T35" fmla="*/ 40 h 46"/>
                <a:gd name="T36" fmla="*/ 3 w 71"/>
                <a:gd name="T37" fmla="*/ 37 h 46"/>
                <a:gd name="T38" fmla="*/ 3 w 71"/>
                <a:gd name="T39" fmla="*/ 34 h 46"/>
                <a:gd name="T40" fmla="*/ 0 w 71"/>
                <a:gd name="T41" fmla="*/ 31 h 46"/>
                <a:gd name="T42" fmla="*/ 3 w 71"/>
                <a:gd name="T43" fmla="*/ 28 h 46"/>
                <a:gd name="T44" fmla="*/ 9 w 71"/>
                <a:gd name="T45" fmla="*/ 28 h 46"/>
                <a:gd name="T46" fmla="*/ 15 w 71"/>
                <a:gd name="T47" fmla="*/ 31 h 46"/>
                <a:gd name="T48" fmla="*/ 21 w 71"/>
                <a:gd name="T49" fmla="*/ 31 h 46"/>
                <a:gd name="T50" fmla="*/ 27 w 71"/>
                <a:gd name="T51" fmla="*/ 34 h 46"/>
                <a:gd name="T52" fmla="*/ 33 w 71"/>
                <a:gd name="T53" fmla="*/ 34 h 46"/>
                <a:gd name="T54" fmla="*/ 40 w 71"/>
                <a:gd name="T55" fmla="*/ 34 h 46"/>
                <a:gd name="T56" fmla="*/ 46 w 71"/>
                <a:gd name="T57" fmla="*/ 31 h 46"/>
                <a:gd name="T58" fmla="*/ 52 w 71"/>
                <a:gd name="T59" fmla="*/ 25 h 46"/>
                <a:gd name="T60" fmla="*/ 49 w 71"/>
                <a:gd name="T61" fmla="*/ 18 h 46"/>
                <a:gd name="T62" fmla="*/ 46 w 71"/>
                <a:gd name="T63" fmla="*/ 12 h 46"/>
                <a:gd name="T64" fmla="*/ 43 w 71"/>
                <a:gd name="T65" fmla="*/ 6 h 46"/>
                <a:gd name="T66" fmla="*/ 43 w 71"/>
                <a:gd name="T67" fmla="*/ 0 h 46"/>
                <a:gd name="T68" fmla="*/ 49 w 71"/>
                <a:gd name="T69" fmla="*/ 3 h 46"/>
                <a:gd name="T70" fmla="*/ 55 w 71"/>
                <a:gd name="T71" fmla="*/ 6 h 46"/>
                <a:gd name="T72" fmla="*/ 58 w 71"/>
                <a:gd name="T73" fmla="*/ 9 h 46"/>
                <a:gd name="T74" fmla="*/ 58 w 71"/>
                <a:gd name="T75" fmla="*/ 12 h 46"/>
                <a:gd name="T76" fmla="*/ 61 w 71"/>
                <a:gd name="T77" fmla="*/ 18 h 46"/>
                <a:gd name="T78" fmla="*/ 64 w 71"/>
                <a:gd name="T79" fmla="*/ 22 h 46"/>
                <a:gd name="T80" fmla="*/ 64 w 71"/>
                <a:gd name="T81" fmla="*/ 25 h 46"/>
                <a:gd name="T82" fmla="*/ 67 w 71"/>
                <a:gd name="T83" fmla="*/ 31 h 46"/>
                <a:gd name="T84" fmla="*/ 67 w 71"/>
                <a:gd name="T85" fmla="*/ 31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71"/>
                <a:gd name="T130" fmla="*/ 0 h 46"/>
                <a:gd name="T131" fmla="*/ 71 w 71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71" h="46">
                  <a:moveTo>
                    <a:pt x="67" y="31"/>
                  </a:moveTo>
                  <a:lnTo>
                    <a:pt x="71" y="28"/>
                  </a:lnTo>
                  <a:lnTo>
                    <a:pt x="67" y="31"/>
                  </a:lnTo>
                  <a:lnTo>
                    <a:pt x="64" y="34"/>
                  </a:lnTo>
                  <a:lnTo>
                    <a:pt x="64" y="37"/>
                  </a:lnTo>
                  <a:lnTo>
                    <a:pt x="61" y="40"/>
                  </a:lnTo>
                  <a:lnTo>
                    <a:pt x="58" y="43"/>
                  </a:lnTo>
                  <a:lnTo>
                    <a:pt x="52" y="43"/>
                  </a:lnTo>
                  <a:lnTo>
                    <a:pt x="49" y="43"/>
                  </a:lnTo>
                  <a:lnTo>
                    <a:pt x="46" y="43"/>
                  </a:lnTo>
                  <a:lnTo>
                    <a:pt x="40" y="46"/>
                  </a:lnTo>
                  <a:lnTo>
                    <a:pt x="37" y="46"/>
                  </a:lnTo>
                  <a:lnTo>
                    <a:pt x="30" y="43"/>
                  </a:lnTo>
                  <a:lnTo>
                    <a:pt x="24" y="43"/>
                  </a:lnTo>
                  <a:lnTo>
                    <a:pt x="21" y="43"/>
                  </a:lnTo>
                  <a:lnTo>
                    <a:pt x="15" y="40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3" y="37"/>
                  </a:lnTo>
                  <a:lnTo>
                    <a:pt x="3" y="34"/>
                  </a:lnTo>
                  <a:lnTo>
                    <a:pt x="0" y="31"/>
                  </a:lnTo>
                  <a:lnTo>
                    <a:pt x="3" y="28"/>
                  </a:lnTo>
                  <a:lnTo>
                    <a:pt x="9" y="28"/>
                  </a:lnTo>
                  <a:lnTo>
                    <a:pt x="15" y="31"/>
                  </a:lnTo>
                  <a:lnTo>
                    <a:pt x="21" y="31"/>
                  </a:lnTo>
                  <a:lnTo>
                    <a:pt x="27" y="34"/>
                  </a:lnTo>
                  <a:lnTo>
                    <a:pt x="33" y="34"/>
                  </a:lnTo>
                  <a:lnTo>
                    <a:pt x="40" y="34"/>
                  </a:lnTo>
                  <a:lnTo>
                    <a:pt x="46" y="31"/>
                  </a:lnTo>
                  <a:lnTo>
                    <a:pt x="52" y="25"/>
                  </a:lnTo>
                  <a:lnTo>
                    <a:pt x="49" y="18"/>
                  </a:lnTo>
                  <a:lnTo>
                    <a:pt x="46" y="12"/>
                  </a:lnTo>
                  <a:lnTo>
                    <a:pt x="43" y="6"/>
                  </a:lnTo>
                  <a:lnTo>
                    <a:pt x="43" y="0"/>
                  </a:lnTo>
                  <a:lnTo>
                    <a:pt x="49" y="3"/>
                  </a:lnTo>
                  <a:lnTo>
                    <a:pt x="55" y="6"/>
                  </a:lnTo>
                  <a:lnTo>
                    <a:pt x="58" y="9"/>
                  </a:lnTo>
                  <a:lnTo>
                    <a:pt x="58" y="12"/>
                  </a:lnTo>
                  <a:lnTo>
                    <a:pt x="61" y="18"/>
                  </a:lnTo>
                  <a:lnTo>
                    <a:pt x="64" y="22"/>
                  </a:lnTo>
                  <a:lnTo>
                    <a:pt x="64" y="25"/>
                  </a:lnTo>
                  <a:lnTo>
                    <a:pt x="67" y="3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79" name="Freeform 483"/>
            <p:cNvSpPr>
              <a:spLocks/>
            </p:cNvSpPr>
            <p:nvPr/>
          </p:nvSpPr>
          <p:spPr bwMode="auto">
            <a:xfrm>
              <a:off x="1463" y="1994"/>
              <a:ext cx="176" cy="198"/>
            </a:xfrm>
            <a:custGeom>
              <a:avLst/>
              <a:gdLst>
                <a:gd name="T0" fmla="*/ 121 w 176"/>
                <a:gd name="T1" fmla="*/ 12 h 198"/>
                <a:gd name="T2" fmla="*/ 108 w 176"/>
                <a:gd name="T3" fmla="*/ 12 h 198"/>
                <a:gd name="T4" fmla="*/ 99 w 176"/>
                <a:gd name="T5" fmla="*/ 16 h 198"/>
                <a:gd name="T6" fmla="*/ 90 w 176"/>
                <a:gd name="T7" fmla="*/ 22 h 198"/>
                <a:gd name="T8" fmla="*/ 87 w 176"/>
                <a:gd name="T9" fmla="*/ 31 h 198"/>
                <a:gd name="T10" fmla="*/ 74 w 176"/>
                <a:gd name="T11" fmla="*/ 46 h 198"/>
                <a:gd name="T12" fmla="*/ 65 w 176"/>
                <a:gd name="T13" fmla="*/ 62 h 198"/>
                <a:gd name="T14" fmla="*/ 59 w 176"/>
                <a:gd name="T15" fmla="*/ 77 h 198"/>
                <a:gd name="T16" fmla="*/ 50 w 176"/>
                <a:gd name="T17" fmla="*/ 93 h 198"/>
                <a:gd name="T18" fmla="*/ 65 w 176"/>
                <a:gd name="T19" fmla="*/ 96 h 198"/>
                <a:gd name="T20" fmla="*/ 77 w 176"/>
                <a:gd name="T21" fmla="*/ 108 h 198"/>
                <a:gd name="T22" fmla="*/ 93 w 176"/>
                <a:gd name="T23" fmla="*/ 114 h 198"/>
                <a:gd name="T24" fmla="*/ 105 w 176"/>
                <a:gd name="T25" fmla="*/ 102 h 198"/>
                <a:gd name="T26" fmla="*/ 111 w 176"/>
                <a:gd name="T27" fmla="*/ 105 h 198"/>
                <a:gd name="T28" fmla="*/ 118 w 176"/>
                <a:gd name="T29" fmla="*/ 102 h 198"/>
                <a:gd name="T30" fmla="*/ 124 w 176"/>
                <a:gd name="T31" fmla="*/ 99 h 198"/>
                <a:gd name="T32" fmla="*/ 127 w 176"/>
                <a:gd name="T33" fmla="*/ 105 h 198"/>
                <a:gd name="T34" fmla="*/ 142 w 176"/>
                <a:gd name="T35" fmla="*/ 124 h 198"/>
                <a:gd name="T36" fmla="*/ 158 w 176"/>
                <a:gd name="T37" fmla="*/ 145 h 198"/>
                <a:gd name="T38" fmla="*/ 170 w 176"/>
                <a:gd name="T39" fmla="*/ 167 h 198"/>
                <a:gd name="T40" fmla="*/ 176 w 176"/>
                <a:gd name="T41" fmla="*/ 192 h 198"/>
                <a:gd name="T42" fmla="*/ 176 w 176"/>
                <a:gd name="T43" fmla="*/ 195 h 198"/>
                <a:gd name="T44" fmla="*/ 173 w 176"/>
                <a:gd name="T45" fmla="*/ 198 h 198"/>
                <a:gd name="T46" fmla="*/ 164 w 176"/>
                <a:gd name="T47" fmla="*/ 195 h 198"/>
                <a:gd name="T48" fmla="*/ 161 w 176"/>
                <a:gd name="T49" fmla="*/ 186 h 198"/>
                <a:gd name="T50" fmla="*/ 161 w 176"/>
                <a:gd name="T51" fmla="*/ 179 h 198"/>
                <a:gd name="T52" fmla="*/ 158 w 176"/>
                <a:gd name="T53" fmla="*/ 173 h 198"/>
                <a:gd name="T54" fmla="*/ 149 w 176"/>
                <a:gd name="T55" fmla="*/ 155 h 198"/>
                <a:gd name="T56" fmla="*/ 136 w 176"/>
                <a:gd name="T57" fmla="*/ 139 h 198"/>
                <a:gd name="T58" fmla="*/ 127 w 176"/>
                <a:gd name="T59" fmla="*/ 127 h 198"/>
                <a:gd name="T60" fmla="*/ 115 w 176"/>
                <a:gd name="T61" fmla="*/ 108 h 198"/>
                <a:gd name="T62" fmla="*/ 102 w 176"/>
                <a:gd name="T63" fmla="*/ 121 h 198"/>
                <a:gd name="T64" fmla="*/ 93 w 176"/>
                <a:gd name="T65" fmla="*/ 133 h 198"/>
                <a:gd name="T66" fmla="*/ 81 w 176"/>
                <a:gd name="T67" fmla="*/ 145 h 198"/>
                <a:gd name="T68" fmla="*/ 68 w 176"/>
                <a:gd name="T69" fmla="*/ 158 h 198"/>
                <a:gd name="T70" fmla="*/ 62 w 176"/>
                <a:gd name="T71" fmla="*/ 148 h 198"/>
                <a:gd name="T72" fmla="*/ 65 w 176"/>
                <a:gd name="T73" fmla="*/ 139 h 198"/>
                <a:gd name="T74" fmla="*/ 71 w 176"/>
                <a:gd name="T75" fmla="*/ 133 h 198"/>
                <a:gd name="T76" fmla="*/ 77 w 176"/>
                <a:gd name="T77" fmla="*/ 127 h 198"/>
                <a:gd name="T78" fmla="*/ 77 w 176"/>
                <a:gd name="T79" fmla="*/ 121 h 198"/>
                <a:gd name="T80" fmla="*/ 68 w 176"/>
                <a:gd name="T81" fmla="*/ 114 h 198"/>
                <a:gd name="T82" fmla="*/ 59 w 176"/>
                <a:gd name="T83" fmla="*/ 108 h 198"/>
                <a:gd name="T84" fmla="*/ 50 w 176"/>
                <a:gd name="T85" fmla="*/ 102 h 198"/>
                <a:gd name="T86" fmla="*/ 19 w 176"/>
                <a:gd name="T87" fmla="*/ 152 h 198"/>
                <a:gd name="T88" fmla="*/ 19 w 176"/>
                <a:gd name="T89" fmla="*/ 161 h 198"/>
                <a:gd name="T90" fmla="*/ 28 w 176"/>
                <a:gd name="T91" fmla="*/ 170 h 198"/>
                <a:gd name="T92" fmla="*/ 31 w 176"/>
                <a:gd name="T93" fmla="*/ 176 h 198"/>
                <a:gd name="T94" fmla="*/ 22 w 176"/>
                <a:gd name="T95" fmla="*/ 179 h 198"/>
                <a:gd name="T96" fmla="*/ 16 w 176"/>
                <a:gd name="T97" fmla="*/ 176 h 198"/>
                <a:gd name="T98" fmla="*/ 9 w 176"/>
                <a:gd name="T99" fmla="*/ 170 h 198"/>
                <a:gd name="T100" fmla="*/ 3 w 176"/>
                <a:gd name="T101" fmla="*/ 167 h 198"/>
                <a:gd name="T102" fmla="*/ 0 w 176"/>
                <a:gd name="T103" fmla="*/ 158 h 198"/>
                <a:gd name="T104" fmla="*/ 13 w 176"/>
                <a:gd name="T105" fmla="*/ 124 h 198"/>
                <a:gd name="T106" fmla="*/ 31 w 176"/>
                <a:gd name="T107" fmla="*/ 90 h 198"/>
                <a:gd name="T108" fmla="*/ 50 w 176"/>
                <a:gd name="T109" fmla="*/ 59 h 198"/>
                <a:gd name="T110" fmla="*/ 68 w 176"/>
                <a:gd name="T111" fmla="*/ 25 h 198"/>
                <a:gd name="T112" fmla="*/ 84 w 176"/>
                <a:gd name="T113" fmla="*/ 6 h 198"/>
                <a:gd name="T114" fmla="*/ 93 w 176"/>
                <a:gd name="T115" fmla="*/ 3 h 198"/>
                <a:gd name="T116" fmla="*/ 102 w 176"/>
                <a:gd name="T117" fmla="*/ 0 h 198"/>
                <a:gd name="T118" fmla="*/ 115 w 176"/>
                <a:gd name="T119" fmla="*/ 0 h 198"/>
                <a:gd name="T120" fmla="*/ 121 w 176"/>
                <a:gd name="T121" fmla="*/ 3 h 19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6"/>
                <a:gd name="T184" fmla="*/ 0 h 198"/>
                <a:gd name="T185" fmla="*/ 176 w 176"/>
                <a:gd name="T186" fmla="*/ 198 h 19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6" h="198">
                  <a:moveTo>
                    <a:pt x="121" y="3"/>
                  </a:moveTo>
                  <a:lnTo>
                    <a:pt x="121" y="12"/>
                  </a:lnTo>
                  <a:lnTo>
                    <a:pt x="115" y="9"/>
                  </a:lnTo>
                  <a:lnTo>
                    <a:pt x="108" y="12"/>
                  </a:lnTo>
                  <a:lnTo>
                    <a:pt x="105" y="12"/>
                  </a:lnTo>
                  <a:lnTo>
                    <a:pt x="99" y="16"/>
                  </a:lnTo>
                  <a:lnTo>
                    <a:pt x="96" y="19"/>
                  </a:lnTo>
                  <a:lnTo>
                    <a:pt x="90" y="22"/>
                  </a:lnTo>
                  <a:lnTo>
                    <a:pt x="87" y="25"/>
                  </a:lnTo>
                  <a:lnTo>
                    <a:pt x="87" y="31"/>
                  </a:lnTo>
                  <a:lnTo>
                    <a:pt x="81" y="37"/>
                  </a:lnTo>
                  <a:lnTo>
                    <a:pt x="74" y="46"/>
                  </a:lnTo>
                  <a:lnTo>
                    <a:pt x="71" y="53"/>
                  </a:lnTo>
                  <a:lnTo>
                    <a:pt x="65" y="62"/>
                  </a:lnTo>
                  <a:lnTo>
                    <a:pt x="62" y="68"/>
                  </a:lnTo>
                  <a:lnTo>
                    <a:pt x="59" y="77"/>
                  </a:lnTo>
                  <a:lnTo>
                    <a:pt x="53" y="84"/>
                  </a:lnTo>
                  <a:lnTo>
                    <a:pt x="50" y="93"/>
                  </a:lnTo>
                  <a:lnTo>
                    <a:pt x="59" y="93"/>
                  </a:lnTo>
                  <a:lnTo>
                    <a:pt x="65" y="96"/>
                  </a:lnTo>
                  <a:lnTo>
                    <a:pt x="71" y="102"/>
                  </a:lnTo>
                  <a:lnTo>
                    <a:pt x="77" y="108"/>
                  </a:lnTo>
                  <a:lnTo>
                    <a:pt x="84" y="111"/>
                  </a:lnTo>
                  <a:lnTo>
                    <a:pt x="93" y="114"/>
                  </a:lnTo>
                  <a:lnTo>
                    <a:pt x="99" y="111"/>
                  </a:lnTo>
                  <a:lnTo>
                    <a:pt x="105" y="102"/>
                  </a:lnTo>
                  <a:lnTo>
                    <a:pt x="108" y="105"/>
                  </a:lnTo>
                  <a:lnTo>
                    <a:pt x="111" y="105"/>
                  </a:lnTo>
                  <a:lnTo>
                    <a:pt x="115" y="105"/>
                  </a:lnTo>
                  <a:lnTo>
                    <a:pt x="118" y="102"/>
                  </a:lnTo>
                  <a:lnTo>
                    <a:pt x="121" y="102"/>
                  </a:lnTo>
                  <a:lnTo>
                    <a:pt x="124" y="99"/>
                  </a:lnTo>
                  <a:lnTo>
                    <a:pt x="127" y="102"/>
                  </a:lnTo>
                  <a:lnTo>
                    <a:pt x="127" y="105"/>
                  </a:lnTo>
                  <a:lnTo>
                    <a:pt x="136" y="114"/>
                  </a:lnTo>
                  <a:lnTo>
                    <a:pt x="142" y="124"/>
                  </a:lnTo>
                  <a:lnTo>
                    <a:pt x="152" y="136"/>
                  </a:lnTo>
                  <a:lnTo>
                    <a:pt x="158" y="145"/>
                  </a:lnTo>
                  <a:lnTo>
                    <a:pt x="164" y="155"/>
                  </a:lnTo>
                  <a:lnTo>
                    <a:pt x="170" y="167"/>
                  </a:lnTo>
                  <a:lnTo>
                    <a:pt x="173" y="179"/>
                  </a:lnTo>
                  <a:lnTo>
                    <a:pt x="176" y="192"/>
                  </a:lnTo>
                  <a:lnTo>
                    <a:pt x="176" y="195"/>
                  </a:lnTo>
                  <a:lnTo>
                    <a:pt x="173" y="198"/>
                  </a:lnTo>
                  <a:lnTo>
                    <a:pt x="170" y="195"/>
                  </a:lnTo>
                  <a:lnTo>
                    <a:pt x="164" y="195"/>
                  </a:lnTo>
                  <a:lnTo>
                    <a:pt x="164" y="192"/>
                  </a:lnTo>
                  <a:lnTo>
                    <a:pt x="161" y="186"/>
                  </a:lnTo>
                  <a:lnTo>
                    <a:pt x="161" y="182"/>
                  </a:lnTo>
                  <a:lnTo>
                    <a:pt x="161" y="179"/>
                  </a:lnTo>
                  <a:lnTo>
                    <a:pt x="158" y="176"/>
                  </a:lnTo>
                  <a:lnTo>
                    <a:pt x="158" y="173"/>
                  </a:lnTo>
                  <a:lnTo>
                    <a:pt x="152" y="164"/>
                  </a:lnTo>
                  <a:lnTo>
                    <a:pt x="149" y="155"/>
                  </a:lnTo>
                  <a:lnTo>
                    <a:pt x="142" y="148"/>
                  </a:lnTo>
                  <a:lnTo>
                    <a:pt x="136" y="139"/>
                  </a:lnTo>
                  <a:lnTo>
                    <a:pt x="130" y="133"/>
                  </a:lnTo>
                  <a:lnTo>
                    <a:pt x="127" y="127"/>
                  </a:lnTo>
                  <a:lnTo>
                    <a:pt x="121" y="118"/>
                  </a:lnTo>
                  <a:lnTo>
                    <a:pt x="115" y="108"/>
                  </a:lnTo>
                  <a:lnTo>
                    <a:pt x="108" y="114"/>
                  </a:lnTo>
                  <a:lnTo>
                    <a:pt x="102" y="121"/>
                  </a:lnTo>
                  <a:lnTo>
                    <a:pt x="99" y="127"/>
                  </a:lnTo>
                  <a:lnTo>
                    <a:pt x="93" y="133"/>
                  </a:lnTo>
                  <a:lnTo>
                    <a:pt x="87" y="139"/>
                  </a:lnTo>
                  <a:lnTo>
                    <a:pt x="81" y="145"/>
                  </a:lnTo>
                  <a:lnTo>
                    <a:pt x="74" y="152"/>
                  </a:lnTo>
                  <a:lnTo>
                    <a:pt x="68" y="158"/>
                  </a:lnTo>
                  <a:lnTo>
                    <a:pt x="59" y="152"/>
                  </a:lnTo>
                  <a:lnTo>
                    <a:pt x="62" y="148"/>
                  </a:lnTo>
                  <a:lnTo>
                    <a:pt x="65" y="145"/>
                  </a:lnTo>
                  <a:lnTo>
                    <a:pt x="65" y="139"/>
                  </a:lnTo>
                  <a:lnTo>
                    <a:pt x="68" y="136"/>
                  </a:lnTo>
                  <a:lnTo>
                    <a:pt x="71" y="133"/>
                  </a:lnTo>
                  <a:lnTo>
                    <a:pt x="74" y="130"/>
                  </a:lnTo>
                  <a:lnTo>
                    <a:pt x="77" y="127"/>
                  </a:lnTo>
                  <a:lnTo>
                    <a:pt x="81" y="124"/>
                  </a:lnTo>
                  <a:lnTo>
                    <a:pt x="77" y="121"/>
                  </a:lnTo>
                  <a:lnTo>
                    <a:pt x="71" y="118"/>
                  </a:lnTo>
                  <a:lnTo>
                    <a:pt x="68" y="114"/>
                  </a:lnTo>
                  <a:lnTo>
                    <a:pt x="65" y="111"/>
                  </a:lnTo>
                  <a:lnTo>
                    <a:pt x="59" y="108"/>
                  </a:lnTo>
                  <a:lnTo>
                    <a:pt x="53" y="105"/>
                  </a:lnTo>
                  <a:lnTo>
                    <a:pt x="50" y="102"/>
                  </a:lnTo>
                  <a:lnTo>
                    <a:pt x="47" y="99"/>
                  </a:lnTo>
                  <a:lnTo>
                    <a:pt x="19" y="152"/>
                  </a:lnTo>
                  <a:lnTo>
                    <a:pt x="16" y="155"/>
                  </a:lnTo>
                  <a:lnTo>
                    <a:pt x="19" y="161"/>
                  </a:lnTo>
                  <a:lnTo>
                    <a:pt x="22" y="167"/>
                  </a:lnTo>
                  <a:lnTo>
                    <a:pt x="28" y="170"/>
                  </a:lnTo>
                  <a:lnTo>
                    <a:pt x="31" y="173"/>
                  </a:lnTo>
                  <a:lnTo>
                    <a:pt x="31" y="176"/>
                  </a:lnTo>
                  <a:lnTo>
                    <a:pt x="31" y="179"/>
                  </a:lnTo>
                  <a:lnTo>
                    <a:pt x="22" y="179"/>
                  </a:lnTo>
                  <a:lnTo>
                    <a:pt x="19" y="179"/>
                  </a:lnTo>
                  <a:lnTo>
                    <a:pt x="16" y="176"/>
                  </a:lnTo>
                  <a:lnTo>
                    <a:pt x="13" y="173"/>
                  </a:lnTo>
                  <a:lnTo>
                    <a:pt x="9" y="170"/>
                  </a:lnTo>
                  <a:lnTo>
                    <a:pt x="6" y="170"/>
                  </a:lnTo>
                  <a:lnTo>
                    <a:pt x="3" y="167"/>
                  </a:lnTo>
                  <a:lnTo>
                    <a:pt x="0" y="164"/>
                  </a:lnTo>
                  <a:lnTo>
                    <a:pt x="0" y="158"/>
                  </a:lnTo>
                  <a:lnTo>
                    <a:pt x="3" y="139"/>
                  </a:lnTo>
                  <a:lnTo>
                    <a:pt x="13" y="124"/>
                  </a:lnTo>
                  <a:lnTo>
                    <a:pt x="22" y="108"/>
                  </a:lnTo>
                  <a:lnTo>
                    <a:pt x="31" y="90"/>
                  </a:lnTo>
                  <a:lnTo>
                    <a:pt x="40" y="74"/>
                  </a:lnTo>
                  <a:lnTo>
                    <a:pt x="50" y="59"/>
                  </a:lnTo>
                  <a:lnTo>
                    <a:pt x="59" y="43"/>
                  </a:lnTo>
                  <a:lnTo>
                    <a:pt x="68" y="25"/>
                  </a:lnTo>
                  <a:lnTo>
                    <a:pt x="81" y="9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3" y="3"/>
                  </a:lnTo>
                  <a:lnTo>
                    <a:pt x="99" y="3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1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0" name="Freeform 484"/>
            <p:cNvSpPr>
              <a:spLocks/>
            </p:cNvSpPr>
            <p:nvPr/>
          </p:nvSpPr>
          <p:spPr bwMode="auto">
            <a:xfrm>
              <a:off x="1815" y="2167"/>
              <a:ext cx="343" cy="22"/>
            </a:xfrm>
            <a:custGeom>
              <a:avLst/>
              <a:gdLst>
                <a:gd name="T0" fmla="*/ 340 w 343"/>
                <a:gd name="T1" fmla="*/ 6 h 22"/>
                <a:gd name="T2" fmla="*/ 343 w 343"/>
                <a:gd name="T3" fmla="*/ 6 h 22"/>
                <a:gd name="T4" fmla="*/ 343 w 343"/>
                <a:gd name="T5" fmla="*/ 13 h 22"/>
                <a:gd name="T6" fmla="*/ 343 w 343"/>
                <a:gd name="T7" fmla="*/ 16 h 22"/>
                <a:gd name="T8" fmla="*/ 340 w 343"/>
                <a:gd name="T9" fmla="*/ 19 h 22"/>
                <a:gd name="T10" fmla="*/ 319 w 343"/>
                <a:gd name="T11" fmla="*/ 19 h 22"/>
                <a:gd name="T12" fmla="*/ 297 w 343"/>
                <a:gd name="T13" fmla="*/ 19 h 22"/>
                <a:gd name="T14" fmla="*/ 275 w 343"/>
                <a:gd name="T15" fmla="*/ 19 h 22"/>
                <a:gd name="T16" fmla="*/ 257 w 343"/>
                <a:gd name="T17" fmla="*/ 19 h 22"/>
                <a:gd name="T18" fmla="*/ 235 w 343"/>
                <a:gd name="T19" fmla="*/ 22 h 22"/>
                <a:gd name="T20" fmla="*/ 217 w 343"/>
                <a:gd name="T21" fmla="*/ 22 h 22"/>
                <a:gd name="T22" fmla="*/ 195 w 343"/>
                <a:gd name="T23" fmla="*/ 22 h 22"/>
                <a:gd name="T24" fmla="*/ 173 w 343"/>
                <a:gd name="T25" fmla="*/ 19 h 22"/>
                <a:gd name="T26" fmla="*/ 155 w 343"/>
                <a:gd name="T27" fmla="*/ 19 h 22"/>
                <a:gd name="T28" fmla="*/ 133 w 343"/>
                <a:gd name="T29" fmla="*/ 19 h 22"/>
                <a:gd name="T30" fmla="*/ 112 w 343"/>
                <a:gd name="T31" fmla="*/ 19 h 22"/>
                <a:gd name="T32" fmla="*/ 93 w 343"/>
                <a:gd name="T33" fmla="*/ 19 h 22"/>
                <a:gd name="T34" fmla="*/ 71 w 343"/>
                <a:gd name="T35" fmla="*/ 19 h 22"/>
                <a:gd name="T36" fmla="*/ 50 w 343"/>
                <a:gd name="T37" fmla="*/ 16 h 22"/>
                <a:gd name="T38" fmla="*/ 28 w 343"/>
                <a:gd name="T39" fmla="*/ 16 h 22"/>
                <a:gd name="T40" fmla="*/ 7 w 343"/>
                <a:gd name="T41" fmla="*/ 13 h 22"/>
                <a:gd name="T42" fmla="*/ 4 w 343"/>
                <a:gd name="T43" fmla="*/ 13 h 22"/>
                <a:gd name="T44" fmla="*/ 0 w 343"/>
                <a:gd name="T45" fmla="*/ 9 h 22"/>
                <a:gd name="T46" fmla="*/ 0 w 343"/>
                <a:gd name="T47" fmla="*/ 6 h 22"/>
                <a:gd name="T48" fmla="*/ 4 w 343"/>
                <a:gd name="T49" fmla="*/ 3 h 22"/>
                <a:gd name="T50" fmla="*/ 16 w 343"/>
                <a:gd name="T51" fmla="*/ 3 h 22"/>
                <a:gd name="T52" fmla="*/ 28 w 343"/>
                <a:gd name="T53" fmla="*/ 0 h 22"/>
                <a:gd name="T54" fmla="*/ 41 w 343"/>
                <a:gd name="T55" fmla="*/ 0 h 22"/>
                <a:gd name="T56" fmla="*/ 53 w 343"/>
                <a:gd name="T57" fmla="*/ 0 h 22"/>
                <a:gd name="T58" fmla="*/ 68 w 343"/>
                <a:gd name="T59" fmla="*/ 0 h 22"/>
                <a:gd name="T60" fmla="*/ 81 w 343"/>
                <a:gd name="T61" fmla="*/ 3 h 22"/>
                <a:gd name="T62" fmla="*/ 93 w 343"/>
                <a:gd name="T63" fmla="*/ 3 h 22"/>
                <a:gd name="T64" fmla="*/ 105 w 343"/>
                <a:gd name="T65" fmla="*/ 3 h 22"/>
                <a:gd name="T66" fmla="*/ 118 w 343"/>
                <a:gd name="T67" fmla="*/ 3 h 22"/>
                <a:gd name="T68" fmla="*/ 130 w 343"/>
                <a:gd name="T69" fmla="*/ 3 h 22"/>
                <a:gd name="T70" fmla="*/ 143 w 343"/>
                <a:gd name="T71" fmla="*/ 3 h 22"/>
                <a:gd name="T72" fmla="*/ 155 w 343"/>
                <a:gd name="T73" fmla="*/ 3 h 22"/>
                <a:gd name="T74" fmla="*/ 167 w 343"/>
                <a:gd name="T75" fmla="*/ 6 h 22"/>
                <a:gd name="T76" fmla="*/ 180 w 343"/>
                <a:gd name="T77" fmla="*/ 6 h 22"/>
                <a:gd name="T78" fmla="*/ 192 w 343"/>
                <a:gd name="T79" fmla="*/ 6 h 22"/>
                <a:gd name="T80" fmla="*/ 204 w 343"/>
                <a:gd name="T81" fmla="*/ 3 h 22"/>
                <a:gd name="T82" fmla="*/ 214 w 343"/>
                <a:gd name="T83" fmla="*/ 6 h 22"/>
                <a:gd name="T84" fmla="*/ 223 w 343"/>
                <a:gd name="T85" fmla="*/ 6 h 22"/>
                <a:gd name="T86" fmla="*/ 232 w 343"/>
                <a:gd name="T87" fmla="*/ 6 h 22"/>
                <a:gd name="T88" fmla="*/ 241 w 343"/>
                <a:gd name="T89" fmla="*/ 6 h 22"/>
                <a:gd name="T90" fmla="*/ 248 w 343"/>
                <a:gd name="T91" fmla="*/ 6 h 22"/>
                <a:gd name="T92" fmla="*/ 257 w 343"/>
                <a:gd name="T93" fmla="*/ 6 h 22"/>
                <a:gd name="T94" fmla="*/ 266 w 343"/>
                <a:gd name="T95" fmla="*/ 6 h 22"/>
                <a:gd name="T96" fmla="*/ 272 w 343"/>
                <a:gd name="T97" fmla="*/ 6 h 22"/>
                <a:gd name="T98" fmla="*/ 282 w 343"/>
                <a:gd name="T99" fmla="*/ 6 h 22"/>
                <a:gd name="T100" fmla="*/ 288 w 343"/>
                <a:gd name="T101" fmla="*/ 6 h 22"/>
                <a:gd name="T102" fmla="*/ 297 w 343"/>
                <a:gd name="T103" fmla="*/ 6 h 22"/>
                <a:gd name="T104" fmla="*/ 306 w 343"/>
                <a:gd name="T105" fmla="*/ 6 h 22"/>
                <a:gd name="T106" fmla="*/ 312 w 343"/>
                <a:gd name="T107" fmla="*/ 6 h 22"/>
                <a:gd name="T108" fmla="*/ 322 w 343"/>
                <a:gd name="T109" fmla="*/ 6 h 22"/>
                <a:gd name="T110" fmla="*/ 331 w 343"/>
                <a:gd name="T111" fmla="*/ 6 h 22"/>
                <a:gd name="T112" fmla="*/ 340 w 343"/>
                <a:gd name="T113" fmla="*/ 6 h 22"/>
                <a:gd name="T114" fmla="*/ 340 w 343"/>
                <a:gd name="T115" fmla="*/ 6 h 2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43"/>
                <a:gd name="T175" fmla="*/ 0 h 22"/>
                <a:gd name="T176" fmla="*/ 343 w 343"/>
                <a:gd name="T177" fmla="*/ 22 h 2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43" h="22">
                  <a:moveTo>
                    <a:pt x="340" y="6"/>
                  </a:moveTo>
                  <a:lnTo>
                    <a:pt x="343" y="6"/>
                  </a:lnTo>
                  <a:lnTo>
                    <a:pt x="343" y="13"/>
                  </a:lnTo>
                  <a:lnTo>
                    <a:pt x="343" y="16"/>
                  </a:lnTo>
                  <a:lnTo>
                    <a:pt x="340" y="19"/>
                  </a:lnTo>
                  <a:lnTo>
                    <a:pt x="319" y="19"/>
                  </a:lnTo>
                  <a:lnTo>
                    <a:pt x="297" y="19"/>
                  </a:lnTo>
                  <a:lnTo>
                    <a:pt x="275" y="19"/>
                  </a:lnTo>
                  <a:lnTo>
                    <a:pt x="257" y="19"/>
                  </a:lnTo>
                  <a:lnTo>
                    <a:pt x="235" y="22"/>
                  </a:lnTo>
                  <a:lnTo>
                    <a:pt x="217" y="22"/>
                  </a:lnTo>
                  <a:lnTo>
                    <a:pt x="195" y="22"/>
                  </a:lnTo>
                  <a:lnTo>
                    <a:pt x="173" y="19"/>
                  </a:lnTo>
                  <a:lnTo>
                    <a:pt x="155" y="19"/>
                  </a:lnTo>
                  <a:lnTo>
                    <a:pt x="133" y="19"/>
                  </a:lnTo>
                  <a:lnTo>
                    <a:pt x="112" y="19"/>
                  </a:lnTo>
                  <a:lnTo>
                    <a:pt x="93" y="19"/>
                  </a:lnTo>
                  <a:lnTo>
                    <a:pt x="71" y="19"/>
                  </a:lnTo>
                  <a:lnTo>
                    <a:pt x="50" y="16"/>
                  </a:lnTo>
                  <a:lnTo>
                    <a:pt x="28" y="16"/>
                  </a:lnTo>
                  <a:lnTo>
                    <a:pt x="7" y="13"/>
                  </a:lnTo>
                  <a:lnTo>
                    <a:pt x="4" y="13"/>
                  </a:lnTo>
                  <a:lnTo>
                    <a:pt x="0" y="9"/>
                  </a:lnTo>
                  <a:lnTo>
                    <a:pt x="0" y="6"/>
                  </a:lnTo>
                  <a:lnTo>
                    <a:pt x="4" y="3"/>
                  </a:lnTo>
                  <a:lnTo>
                    <a:pt x="16" y="3"/>
                  </a:lnTo>
                  <a:lnTo>
                    <a:pt x="28" y="0"/>
                  </a:lnTo>
                  <a:lnTo>
                    <a:pt x="41" y="0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81" y="3"/>
                  </a:lnTo>
                  <a:lnTo>
                    <a:pt x="93" y="3"/>
                  </a:lnTo>
                  <a:lnTo>
                    <a:pt x="105" y="3"/>
                  </a:lnTo>
                  <a:lnTo>
                    <a:pt x="118" y="3"/>
                  </a:lnTo>
                  <a:lnTo>
                    <a:pt x="130" y="3"/>
                  </a:lnTo>
                  <a:lnTo>
                    <a:pt x="143" y="3"/>
                  </a:lnTo>
                  <a:lnTo>
                    <a:pt x="155" y="3"/>
                  </a:lnTo>
                  <a:lnTo>
                    <a:pt x="167" y="6"/>
                  </a:lnTo>
                  <a:lnTo>
                    <a:pt x="180" y="6"/>
                  </a:lnTo>
                  <a:lnTo>
                    <a:pt x="192" y="6"/>
                  </a:lnTo>
                  <a:lnTo>
                    <a:pt x="204" y="3"/>
                  </a:lnTo>
                  <a:lnTo>
                    <a:pt x="214" y="6"/>
                  </a:lnTo>
                  <a:lnTo>
                    <a:pt x="223" y="6"/>
                  </a:lnTo>
                  <a:lnTo>
                    <a:pt x="232" y="6"/>
                  </a:lnTo>
                  <a:lnTo>
                    <a:pt x="241" y="6"/>
                  </a:lnTo>
                  <a:lnTo>
                    <a:pt x="248" y="6"/>
                  </a:lnTo>
                  <a:lnTo>
                    <a:pt x="257" y="6"/>
                  </a:lnTo>
                  <a:lnTo>
                    <a:pt x="266" y="6"/>
                  </a:lnTo>
                  <a:lnTo>
                    <a:pt x="272" y="6"/>
                  </a:lnTo>
                  <a:lnTo>
                    <a:pt x="282" y="6"/>
                  </a:lnTo>
                  <a:lnTo>
                    <a:pt x="288" y="6"/>
                  </a:lnTo>
                  <a:lnTo>
                    <a:pt x="297" y="6"/>
                  </a:lnTo>
                  <a:lnTo>
                    <a:pt x="306" y="6"/>
                  </a:lnTo>
                  <a:lnTo>
                    <a:pt x="312" y="6"/>
                  </a:lnTo>
                  <a:lnTo>
                    <a:pt x="322" y="6"/>
                  </a:lnTo>
                  <a:lnTo>
                    <a:pt x="331" y="6"/>
                  </a:lnTo>
                  <a:lnTo>
                    <a:pt x="340" y="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1" name="Freeform 485"/>
            <p:cNvSpPr>
              <a:spLocks/>
            </p:cNvSpPr>
            <p:nvPr/>
          </p:nvSpPr>
          <p:spPr bwMode="auto">
            <a:xfrm>
              <a:off x="1398" y="2183"/>
              <a:ext cx="142" cy="105"/>
            </a:xfrm>
            <a:custGeom>
              <a:avLst/>
              <a:gdLst>
                <a:gd name="T0" fmla="*/ 99 w 142"/>
                <a:gd name="T1" fmla="*/ 6 h 105"/>
                <a:gd name="T2" fmla="*/ 99 w 142"/>
                <a:gd name="T3" fmla="*/ 6 h 105"/>
                <a:gd name="T4" fmla="*/ 102 w 142"/>
                <a:gd name="T5" fmla="*/ 9 h 105"/>
                <a:gd name="T6" fmla="*/ 115 w 142"/>
                <a:gd name="T7" fmla="*/ 6 h 105"/>
                <a:gd name="T8" fmla="*/ 124 w 142"/>
                <a:gd name="T9" fmla="*/ 3 h 105"/>
                <a:gd name="T10" fmla="*/ 133 w 142"/>
                <a:gd name="T11" fmla="*/ 3 h 105"/>
                <a:gd name="T12" fmla="*/ 136 w 142"/>
                <a:gd name="T13" fmla="*/ 6 h 105"/>
                <a:gd name="T14" fmla="*/ 136 w 142"/>
                <a:gd name="T15" fmla="*/ 12 h 105"/>
                <a:gd name="T16" fmla="*/ 121 w 142"/>
                <a:gd name="T17" fmla="*/ 15 h 105"/>
                <a:gd name="T18" fmla="*/ 108 w 142"/>
                <a:gd name="T19" fmla="*/ 18 h 105"/>
                <a:gd name="T20" fmla="*/ 96 w 142"/>
                <a:gd name="T21" fmla="*/ 24 h 105"/>
                <a:gd name="T22" fmla="*/ 93 w 142"/>
                <a:gd name="T23" fmla="*/ 37 h 105"/>
                <a:gd name="T24" fmla="*/ 93 w 142"/>
                <a:gd name="T25" fmla="*/ 55 h 105"/>
                <a:gd name="T26" fmla="*/ 99 w 142"/>
                <a:gd name="T27" fmla="*/ 71 h 105"/>
                <a:gd name="T28" fmla="*/ 105 w 142"/>
                <a:gd name="T29" fmla="*/ 86 h 105"/>
                <a:gd name="T30" fmla="*/ 112 w 142"/>
                <a:gd name="T31" fmla="*/ 98 h 105"/>
                <a:gd name="T32" fmla="*/ 105 w 142"/>
                <a:gd name="T33" fmla="*/ 102 h 105"/>
                <a:gd name="T34" fmla="*/ 96 w 142"/>
                <a:gd name="T35" fmla="*/ 95 h 105"/>
                <a:gd name="T36" fmla="*/ 87 w 142"/>
                <a:gd name="T37" fmla="*/ 80 h 105"/>
                <a:gd name="T38" fmla="*/ 81 w 142"/>
                <a:gd name="T39" fmla="*/ 61 h 105"/>
                <a:gd name="T40" fmla="*/ 78 w 142"/>
                <a:gd name="T41" fmla="*/ 43 h 105"/>
                <a:gd name="T42" fmla="*/ 78 w 142"/>
                <a:gd name="T43" fmla="*/ 30 h 105"/>
                <a:gd name="T44" fmla="*/ 81 w 142"/>
                <a:gd name="T45" fmla="*/ 18 h 105"/>
                <a:gd name="T46" fmla="*/ 84 w 142"/>
                <a:gd name="T47" fmla="*/ 12 h 105"/>
                <a:gd name="T48" fmla="*/ 62 w 142"/>
                <a:gd name="T49" fmla="*/ 21 h 105"/>
                <a:gd name="T50" fmla="*/ 47 w 142"/>
                <a:gd name="T51" fmla="*/ 37 h 105"/>
                <a:gd name="T52" fmla="*/ 34 w 142"/>
                <a:gd name="T53" fmla="*/ 55 h 105"/>
                <a:gd name="T54" fmla="*/ 22 w 142"/>
                <a:gd name="T55" fmla="*/ 74 h 105"/>
                <a:gd name="T56" fmla="*/ 19 w 142"/>
                <a:gd name="T57" fmla="*/ 80 h 105"/>
                <a:gd name="T58" fmla="*/ 13 w 142"/>
                <a:gd name="T59" fmla="*/ 86 h 105"/>
                <a:gd name="T60" fmla="*/ 7 w 142"/>
                <a:gd name="T61" fmla="*/ 83 h 105"/>
                <a:gd name="T62" fmla="*/ 0 w 142"/>
                <a:gd name="T63" fmla="*/ 80 h 105"/>
                <a:gd name="T64" fmla="*/ 10 w 142"/>
                <a:gd name="T65" fmla="*/ 68 h 105"/>
                <a:gd name="T66" fmla="*/ 22 w 142"/>
                <a:gd name="T67" fmla="*/ 52 h 105"/>
                <a:gd name="T68" fmla="*/ 28 w 142"/>
                <a:gd name="T69" fmla="*/ 40 h 105"/>
                <a:gd name="T70" fmla="*/ 41 w 142"/>
                <a:gd name="T71" fmla="*/ 24 h 105"/>
                <a:gd name="T72" fmla="*/ 50 w 142"/>
                <a:gd name="T73" fmla="*/ 12 h 105"/>
                <a:gd name="T74" fmla="*/ 62 w 142"/>
                <a:gd name="T75" fmla="*/ 3 h 105"/>
                <a:gd name="T76" fmla="*/ 78 w 142"/>
                <a:gd name="T77" fmla="*/ 0 h 105"/>
                <a:gd name="T78" fmla="*/ 99 w 142"/>
                <a:gd name="T79" fmla="*/ 3 h 10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42"/>
                <a:gd name="T121" fmla="*/ 0 h 105"/>
                <a:gd name="T122" fmla="*/ 142 w 142"/>
                <a:gd name="T123" fmla="*/ 105 h 10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42" h="105">
                  <a:moveTo>
                    <a:pt x="99" y="3"/>
                  </a:moveTo>
                  <a:lnTo>
                    <a:pt x="99" y="6"/>
                  </a:lnTo>
                  <a:lnTo>
                    <a:pt x="99" y="9"/>
                  </a:lnTo>
                  <a:lnTo>
                    <a:pt x="102" y="9"/>
                  </a:lnTo>
                  <a:lnTo>
                    <a:pt x="108" y="6"/>
                  </a:lnTo>
                  <a:lnTo>
                    <a:pt x="115" y="6"/>
                  </a:lnTo>
                  <a:lnTo>
                    <a:pt x="121" y="6"/>
                  </a:lnTo>
                  <a:lnTo>
                    <a:pt x="124" y="3"/>
                  </a:lnTo>
                  <a:lnTo>
                    <a:pt x="130" y="3"/>
                  </a:lnTo>
                  <a:lnTo>
                    <a:pt x="133" y="3"/>
                  </a:lnTo>
                  <a:lnTo>
                    <a:pt x="136" y="3"/>
                  </a:lnTo>
                  <a:lnTo>
                    <a:pt x="136" y="6"/>
                  </a:lnTo>
                  <a:lnTo>
                    <a:pt x="142" y="9"/>
                  </a:lnTo>
                  <a:lnTo>
                    <a:pt x="136" y="12"/>
                  </a:lnTo>
                  <a:lnTo>
                    <a:pt x="130" y="12"/>
                  </a:lnTo>
                  <a:lnTo>
                    <a:pt x="121" y="15"/>
                  </a:lnTo>
                  <a:lnTo>
                    <a:pt x="115" y="15"/>
                  </a:lnTo>
                  <a:lnTo>
                    <a:pt x="108" y="18"/>
                  </a:lnTo>
                  <a:lnTo>
                    <a:pt x="102" y="21"/>
                  </a:lnTo>
                  <a:lnTo>
                    <a:pt x="96" y="24"/>
                  </a:lnTo>
                  <a:lnTo>
                    <a:pt x="93" y="27"/>
                  </a:lnTo>
                  <a:lnTo>
                    <a:pt x="93" y="37"/>
                  </a:lnTo>
                  <a:lnTo>
                    <a:pt x="93" y="46"/>
                  </a:lnTo>
                  <a:lnTo>
                    <a:pt x="93" y="55"/>
                  </a:lnTo>
                  <a:lnTo>
                    <a:pt x="96" y="64"/>
                  </a:lnTo>
                  <a:lnTo>
                    <a:pt x="99" y="71"/>
                  </a:lnTo>
                  <a:lnTo>
                    <a:pt x="102" y="80"/>
                  </a:lnTo>
                  <a:lnTo>
                    <a:pt x="105" y="86"/>
                  </a:lnTo>
                  <a:lnTo>
                    <a:pt x="112" y="95"/>
                  </a:lnTo>
                  <a:lnTo>
                    <a:pt x="112" y="98"/>
                  </a:lnTo>
                  <a:lnTo>
                    <a:pt x="108" y="102"/>
                  </a:lnTo>
                  <a:lnTo>
                    <a:pt x="105" y="102"/>
                  </a:lnTo>
                  <a:lnTo>
                    <a:pt x="102" y="105"/>
                  </a:lnTo>
                  <a:lnTo>
                    <a:pt x="96" y="95"/>
                  </a:lnTo>
                  <a:lnTo>
                    <a:pt x="93" y="89"/>
                  </a:lnTo>
                  <a:lnTo>
                    <a:pt x="87" y="80"/>
                  </a:lnTo>
                  <a:lnTo>
                    <a:pt x="84" y="71"/>
                  </a:lnTo>
                  <a:lnTo>
                    <a:pt x="81" y="61"/>
                  </a:lnTo>
                  <a:lnTo>
                    <a:pt x="81" y="52"/>
                  </a:lnTo>
                  <a:lnTo>
                    <a:pt x="78" y="43"/>
                  </a:lnTo>
                  <a:lnTo>
                    <a:pt x="78" y="34"/>
                  </a:lnTo>
                  <a:lnTo>
                    <a:pt x="78" y="30"/>
                  </a:lnTo>
                  <a:lnTo>
                    <a:pt x="78" y="24"/>
                  </a:lnTo>
                  <a:lnTo>
                    <a:pt x="81" y="18"/>
                  </a:lnTo>
                  <a:lnTo>
                    <a:pt x="87" y="15"/>
                  </a:lnTo>
                  <a:lnTo>
                    <a:pt x="84" y="12"/>
                  </a:lnTo>
                  <a:lnTo>
                    <a:pt x="71" y="15"/>
                  </a:lnTo>
                  <a:lnTo>
                    <a:pt x="62" y="21"/>
                  </a:lnTo>
                  <a:lnTo>
                    <a:pt x="56" y="27"/>
                  </a:lnTo>
                  <a:lnTo>
                    <a:pt x="47" y="37"/>
                  </a:lnTo>
                  <a:lnTo>
                    <a:pt x="41" y="46"/>
                  </a:lnTo>
                  <a:lnTo>
                    <a:pt x="34" y="55"/>
                  </a:lnTo>
                  <a:lnTo>
                    <a:pt x="28" y="68"/>
                  </a:lnTo>
                  <a:lnTo>
                    <a:pt x="22" y="74"/>
                  </a:lnTo>
                  <a:lnTo>
                    <a:pt x="22" y="77"/>
                  </a:lnTo>
                  <a:lnTo>
                    <a:pt x="19" y="80"/>
                  </a:lnTo>
                  <a:lnTo>
                    <a:pt x="16" y="83"/>
                  </a:lnTo>
                  <a:lnTo>
                    <a:pt x="13" y="86"/>
                  </a:lnTo>
                  <a:lnTo>
                    <a:pt x="10" y="83"/>
                  </a:lnTo>
                  <a:lnTo>
                    <a:pt x="7" y="83"/>
                  </a:lnTo>
                  <a:lnTo>
                    <a:pt x="3" y="83"/>
                  </a:lnTo>
                  <a:lnTo>
                    <a:pt x="0" y="80"/>
                  </a:lnTo>
                  <a:lnTo>
                    <a:pt x="7" y="74"/>
                  </a:lnTo>
                  <a:lnTo>
                    <a:pt x="10" y="68"/>
                  </a:lnTo>
                  <a:lnTo>
                    <a:pt x="16" y="61"/>
                  </a:lnTo>
                  <a:lnTo>
                    <a:pt x="22" y="52"/>
                  </a:lnTo>
                  <a:lnTo>
                    <a:pt x="25" y="46"/>
                  </a:lnTo>
                  <a:lnTo>
                    <a:pt x="28" y="40"/>
                  </a:lnTo>
                  <a:lnTo>
                    <a:pt x="34" y="30"/>
                  </a:lnTo>
                  <a:lnTo>
                    <a:pt x="41" y="24"/>
                  </a:lnTo>
                  <a:lnTo>
                    <a:pt x="44" y="18"/>
                  </a:lnTo>
                  <a:lnTo>
                    <a:pt x="50" y="12"/>
                  </a:lnTo>
                  <a:lnTo>
                    <a:pt x="56" y="9"/>
                  </a:lnTo>
                  <a:lnTo>
                    <a:pt x="62" y="3"/>
                  </a:lnTo>
                  <a:lnTo>
                    <a:pt x="71" y="3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99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2" name="Freeform 486"/>
            <p:cNvSpPr>
              <a:spLocks/>
            </p:cNvSpPr>
            <p:nvPr/>
          </p:nvSpPr>
          <p:spPr bwMode="auto">
            <a:xfrm>
              <a:off x="1500" y="2183"/>
              <a:ext cx="139" cy="120"/>
            </a:xfrm>
            <a:custGeom>
              <a:avLst/>
              <a:gdLst>
                <a:gd name="T0" fmla="*/ 130 w 139"/>
                <a:gd name="T1" fmla="*/ 49 h 120"/>
                <a:gd name="T2" fmla="*/ 121 w 139"/>
                <a:gd name="T3" fmla="*/ 58 h 120"/>
                <a:gd name="T4" fmla="*/ 115 w 139"/>
                <a:gd name="T5" fmla="*/ 64 h 120"/>
                <a:gd name="T6" fmla="*/ 121 w 139"/>
                <a:gd name="T7" fmla="*/ 68 h 120"/>
                <a:gd name="T8" fmla="*/ 127 w 139"/>
                <a:gd name="T9" fmla="*/ 71 h 120"/>
                <a:gd name="T10" fmla="*/ 133 w 139"/>
                <a:gd name="T11" fmla="*/ 83 h 120"/>
                <a:gd name="T12" fmla="*/ 139 w 139"/>
                <a:gd name="T13" fmla="*/ 98 h 120"/>
                <a:gd name="T14" fmla="*/ 136 w 139"/>
                <a:gd name="T15" fmla="*/ 108 h 120"/>
                <a:gd name="T16" fmla="*/ 127 w 139"/>
                <a:gd name="T17" fmla="*/ 105 h 120"/>
                <a:gd name="T18" fmla="*/ 121 w 139"/>
                <a:gd name="T19" fmla="*/ 89 h 120"/>
                <a:gd name="T20" fmla="*/ 115 w 139"/>
                <a:gd name="T21" fmla="*/ 74 h 120"/>
                <a:gd name="T22" fmla="*/ 108 w 139"/>
                <a:gd name="T23" fmla="*/ 74 h 120"/>
                <a:gd name="T24" fmla="*/ 99 w 139"/>
                <a:gd name="T25" fmla="*/ 83 h 120"/>
                <a:gd name="T26" fmla="*/ 90 w 139"/>
                <a:gd name="T27" fmla="*/ 89 h 120"/>
                <a:gd name="T28" fmla="*/ 78 w 139"/>
                <a:gd name="T29" fmla="*/ 89 h 120"/>
                <a:gd name="T30" fmla="*/ 68 w 139"/>
                <a:gd name="T31" fmla="*/ 80 h 120"/>
                <a:gd name="T32" fmla="*/ 62 w 139"/>
                <a:gd name="T33" fmla="*/ 71 h 120"/>
                <a:gd name="T34" fmla="*/ 59 w 139"/>
                <a:gd name="T35" fmla="*/ 52 h 120"/>
                <a:gd name="T36" fmla="*/ 53 w 139"/>
                <a:gd name="T37" fmla="*/ 40 h 120"/>
                <a:gd name="T38" fmla="*/ 40 w 139"/>
                <a:gd name="T39" fmla="*/ 37 h 120"/>
                <a:gd name="T40" fmla="*/ 34 w 139"/>
                <a:gd name="T41" fmla="*/ 34 h 120"/>
                <a:gd name="T42" fmla="*/ 25 w 139"/>
                <a:gd name="T43" fmla="*/ 37 h 120"/>
                <a:gd name="T44" fmla="*/ 19 w 139"/>
                <a:gd name="T45" fmla="*/ 58 h 120"/>
                <a:gd name="T46" fmla="*/ 28 w 139"/>
                <a:gd name="T47" fmla="*/ 83 h 120"/>
                <a:gd name="T48" fmla="*/ 31 w 139"/>
                <a:gd name="T49" fmla="*/ 98 h 120"/>
                <a:gd name="T50" fmla="*/ 37 w 139"/>
                <a:gd name="T51" fmla="*/ 108 h 120"/>
                <a:gd name="T52" fmla="*/ 37 w 139"/>
                <a:gd name="T53" fmla="*/ 117 h 120"/>
                <a:gd name="T54" fmla="*/ 0 w 139"/>
                <a:gd name="T55" fmla="*/ 52 h 120"/>
                <a:gd name="T56" fmla="*/ 3 w 139"/>
                <a:gd name="T57" fmla="*/ 37 h 120"/>
                <a:gd name="T58" fmla="*/ 19 w 139"/>
                <a:gd name="T59" fmla="*/ 24 h 120"/>
                <a:gd name="T60" fmla="*/ 40 w 139"/>
                <a:gd name="T61" fmla="*/ 24 h 120"/>
                <a:gd name="T62" fmla="*/ 62 w 139"/>
                <a:gd name="T63" fmla="*/ 30 h 120"/>
                <a:gd name="T64" fmla="*/ 74 w 139"/>
                <a:gd name="T65" fmla="*/ 40 h 120"/>
                <a:gd name="T66" fmla="*/ 74 w 139"/>
                <a:gd name="T67" fmla="*/ 61 h 120"/>
                <a:gd name="T68" fmla="*/ 87 w 139"/>
                <a:gd name="T69" fmla="*/ 77 h 120"/>
                <a:gd name="T70" fmla="*/ 99 w 139"/>
                <a:gd name="T71" fmla="*/ 64 h 120"/>
                <a:gd name="T72" fmla="*/ 105 w 139"/>
                <a:gd name="T73" fmla="*/ 52 h 120"/>
                <a:gd name="T74" fmla="*/ 115 w 139"/>
                <a:gd name="T75" fmla="*/ 40 h 120"/>
                <a:gd name="T76" fmla="*/ 112 w 139"/>
                <a:gd name="T77" fmla="*/ 27 h 120"/>
                <a:gd name="T78" fmla="*/ 99 w 139"/>
                <a:gd name="T79" fmla="*/ 18 h 120"/>
                <a:gd name="T80" fmla="*/ 87 w 139"/>
                <a:gd name="T81" fmla="*/ 15 h 120"/>
                <a:gd name="T82" fmla="*/ 71 w 139"/>
                <a:gd name="T83" fmla="*/ 12 h 120"/>
                <a:gd name="T84" fmla="*/ 59 w 139"/>
                <a:gd name="T85" fmla="*/ 12 h 120"/>
                <a:gd name="T86" fmla="*/ 62 w 139"/>
                <a:gd name="T87" fmla="*/ 0 h 120"/>
                <a:gd name="T88" fmla="*/ 84 w 139"/>
                <a:gd name="T89" fmla="*/ 3 h 120"/>
                <a:gd name="T90" fmla="*/ 112 w 139"/>
                <a:gd name="T91" fmla="*/ 9 h 120"/>
                <a:gd name="T92" fmla="*/ 127 w 139"/>
                <a:gd name="T93" fmla="*/ 27 h 12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39"/>
                <a:gd name="T142" fmla="*/ 0 h 120"/>
                <a:gd name="T143" fmla="*/ 139 w 139"/>
                <a:gd name="T144" fmla="*/ 120 h 12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39" h="120">
                  <a:moveTo>
                    <a:pt x="127" y="27"/>
                  </a:moveTo>
                  <a:lnTo>
                    <a:pt x="133" y="46"/>
                  </a:lnTo>
                  <a:lnTo>
                    <a:pt x="130" y="49"/>
                  </a:lnTo>
                  <a:lnTo>
                    <a:pt x="127" y="52"/>
                  </a:lnTo>
                  <a:lnTo>
                    <a:pt x="124" y="55"/>
                  </a:lnTo>
                  <a:lnTo>
                    <a:pt x="121" y="58"/>
                  </a:lnTo>
                  <a:lnTo>
                    <a:pt x="118" y="58"/>
                  </a:lnTo>
                  <a:lnTo>
                    <a:pt x="115" y="61"/>
                  </a:lnTo>
                  <a:lnTo>
                    <a:pt x="115" y="64"/>
                  </a:lnTo>
                  <a:lnTo>
                    <a:pt x="112" y="68"/>
                  </a:lnTo>
                  <a:lnTo>
                    <a:pt x="115" y="68"/>
                  </a:lnTo>
                  <a:lnTo>
                    <a:pt x="121" y="68"/>
                  </a:lnTo>
                  <a:lnTo>
                    <a:pt x="124" y="68"/>
                  </a:lnTo>
                  <a:lnTo>
                    <a:pt x="127" y="71"/>
                  </a:lnTo>
                  <a:lnTo>
                    <a:pt x="130" y="74"/>
                  </a:lnTo>
                  <a:lnTo>
                    <a:pt x="133" y="80"/>
                  </a:lnTo>
                  <a:lnTo>
                    <a:pt x="133" y="83"/>
                  </a:lnTo>
                  <a:lnTo>
                    <a:pt x="136" y="89"/>
                  </a:lnTo>
                  <a:lnTo>
                    <a:pt x="136" y="95"/>
                  </a:lnTo>
                  <a:lnTo>
                    <a:pt x="139" y="98"/>
                  </a:lnTo>
                  <a:lnTo>
                    <a:pt x="139" y="105"/>
                  </a:lnTo>
                  <a:lnTo>
                    <a:pt x="136" y="108"/>
                  </a:lnTo>
                  <a:lnTo>
                    <a:pt x="133" y="108"/>
                  </a:lnTo>
                  <a:lnTo>
                    <a:pt x="130" y="108"/>
                  </a:lnTo>
                  <a:lnTo>
                    <a:pt x="127" y="105"/>
                  </a:lnTo>
                  <a:lnTo>
                    <a:pt x="124" y="98"/>
                  </a:lnTo>
                  <a:lnTo>
                    <a:pt x="121" y="92"/>
                  </a:lnTo>
                  <a:lnTo>
                    <a:pt x="121" y="89"/>
                  </a:lnTo>
                  <a:lnTo>
                    <a:pt x="118" y="83"/>
                  </a:lnTo>
                  <a:lnTo>
                    <a:pt x="115" y="77"/>
                  </a:lnTo>
                  <a:lnTo>
                    <a:pt x="115" y="74"/>
                  </a:lnTo>
                  <a:lnTo>
                    <a:pt x="112" y="68"/>
                  </a:lnTo>
                  <a:lnTo>
                    <a:pt x="112" y="71"/>
                  </a:lnTo>
                  <a:lnTo>
                    <a:pt x="108" y="74"/>
                  </a:lnTo>
                  <a:lnTo>
                    <a:pt x="105" y="77"/>
                  </a:lnTo>
                  <a:lnTo>
                    <a:pt x="102" y="80"/>
                  </a:lnTo>
                  <a:lnTo>
                    <a:pt x="99" y="83"/>
                  </a:lnTo>
                  <a:lnTo>
                    <a:pt x="99" y="86"/>
                  </a:lnTo>
                  <a:lnTo>
                    <a:pt x="93" y="89"/>
                  </a:lnTo>
                  <a:lnTo>
                    <a:pt x="90" y="89"/>
                  </a:lnTo>
                  <a:lnTo>
                    <a:pt x="87" y="92"/>
                  </a:lnTo>
                  <a:lnTo>
                    <a:pt x="84" y="89"/>
                  </a:lnTo>
                  <a:lnTo>
                    <a:pt x="78" y="89"/>
                  </a:lnTo>
                  <a:lnTo>
                    <a:pt x="74" y="86"/>
                  </a:lnTo>
                  <a:lnTo>
                    <a:pt x="71" y="83"/>
                  </a:lnTo>
                  <a:lnTo>
                    <a:pt x="68" y="80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2" y="71"/>
                  </a:lnTo>
                  <a:lnTo>
                    <a:pt x="59" y="64"/>
                  </a:lnTo>
                  <a:lnTo>
                    <a:pt x="59" y="58"/>
                  </a:lnTo>
                  <a:lnTo>
                    <a:pt x="59" y="52"/>
                  </a:lnTo>
                  <a:lnTo>
                    <a:pt x="59" y="46"/>
                  </a:lnTo>
                  <a:lnTo>
                    <a:pt x="56" y="40"/>
                  </a:lnTo>
                  <a:lnTo>
                    <a:pt x="53" y="40"/>
                  </a:lnTo>
                  <a:lnTo>
                    <a:pt x="44" y="40"/>
                  </a:lnTo>
                  <a:lnTo>
                    <a:pt x="40" y="40"/>
                  </a:lnTo>
                  <a:lnTo>
                    <a:pt x="40" y="37"/>
                  </a:lnTo>
                  <a:lnTo>
                    <a:pt x="37" y="37"/>
                  </a:lnTo>
                  <a:lnTo>
                    <a:pt x="34" y="34"/>
                  </a:lnTo>
                  <a:lnTo>
                    <a:pt x="31" y="34"/>
                  </a:lnTo>
                  <a:lnTo>
                    <a:pt x="28" y="34"/>
                  </a:lnTo>
                  <a:lnTo>
                    <a:pt x="25" y="37"/>
                  </a:lnTo>
                  <a:lnTo>
                    <a:pt x="22" y="43"/>
                  </a:lnTo>
                  <a:lnTo>
                    <a:pt x="19" y="49"/>
                  </a:lnTo>
                  <a:lnTo>
                    <a:pt x="19" y="58"/>
                  </a:lnTo>
                  <a:lnTo>
                    <a:pt x="22" y="68"/>
                  </a:lnTo>
                  <a:lnTo>
                    <a:pt x="25" y="74"/>
                  </a:lnTo>
                  <a:lnTo>
                    <a:pt x="28" y="83"/>
                  </a:lnTo>
                  <a:lnTo>
                    <a:pt x="31" y="89"/>
                  </a:lnTo>
                  <a:lnTo>
                    <a:pt x="31" y="95"/>
                  </a:lnTo>
                  <a:lnTo>
                    <a:pt x="31" y="98"/>
                  </a:lnTo>
                  <a:lnTo>
                    <a:pt x="34" y="98"/>
                  </a:lnTo>
                  <a:lnTo>
                    <a:pt x="37" y="102"/>
                  </a:lnTo>
                  <a:lnTo>
                    <a:pt x="37" y="108"/>
                  </a:lnTo>
                  <a:lnTo>
                    <a:pt x="40" y="111"/>
                  </a:lnTo>
                  <a:lnTo>
                    <a:pt x="40" y="114"/>
                  </a:lnTo>
                  <a:lnTo>
                    <a:pt x="37" y="117"/>
                  </a:lnTo>
                  <a:lnTo>
                    <a:pt x="31" y="120"/>
                  </a:lnTo>
                  <a:lnTo>
                    <a:pt x="28" y="120"/>
                  </a:lnTo>
                  <a:lnTo>
                    <a:pt x="0" y="52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3" y="37"/>
                  </a:lnTo>
                  <a:lnTo>
                    <a:pt x="6" y="30"/>
                  </a:lnTo>
                  <a:lnTo>
                    <a:pt x="13" y="27"/>
                  </a:lnTo>
                  <a:lnTo>
                    <a:pt x="19" y="24"/>
                  </a:lnTo>
                  <a:lnTo>
                    <a:pt x="25" y="24"/>
                  </a:lnTo>
                  <a:lnTo>
                    <a:pt x="31" y="24"/>
                  </a:lnTo>
                  <a:lnTo>
                    <a:pt x="40" y="24"/>
                  </a:lnTo>
                  <a:lnTo>
                    <a:pt x="47" y="27"/>
                  </a:lnTo>
                  <a:lnTo>
                    <a:pt x="53" y="30"/>
                  </a:lnTo>
                  <a:lnTo>
                    <a:pt x="62" y="30"/>
                  </a:lnTo>
                  <a:lnTo>
                    <a:pt x="68" y="30"/>
                  </a:lnTo>
                  <a:lnTo>
                    <a:pt x="74" y="37"/>
                  </a:lnTo>
                  <a:lnTo>
                    <a:pt x="74" y="40"/>
                  </a:lnTo>
                  <a:lnTo>
                    <a:pt x="78" y="46"/>
                  </a:lnTo>
                  <a:lnTo>
                    <a:pt x="74" y="55"/>
                  </a:lnTo>
                  <a:lnTo>
                    <a:pt x="74" y="61"/>
                  </a:lnTo>
                  <a:lnTo>
                    <a:pt x="78" y="68"/>
                  </a:lnTo>
                  <a:lnTo>
                    <a:pt x="81" y="74"/>
                  </a:lnTo>
                  <a:lnTo>
                    <a:pt x="87" y="77"/>
                  </a:lnTo>
                  <a:lnTo>
                    <a:pt x="93" y="74"/>
                  </a:lnTo>
                  <a:lnTo>
                    <a:pt x="96" y="71"/>
                  </a:lnTo>
                  <a:lnTo>
                    <a:pt x="99" y="64"/>
                  </a:lnTo>
                  <a:lnTo>
                    <a:pt x="99" y="61"/>
                  </a:lnTo>
                  <a:lnTo>
                    <a:pt x="102" y="55"/>
                  </a:lnTo>
                  <a:lnTo>
                    <a:pt x="105" y="52"/>
                  </a:lnTo>
                  <a:lnTo>
                    <a:pt x="112" y="49"/>
                  </a:lnTo>
                  <a:lnTo>
                    <a:pt x="115" y="46"/>
                  </a:lnTo>
                  <a:lnTo>
                    <a:pt x="115" y="40"/>
                  </a:lnTo>
                  <a:lnTo>
                    <a:pt x="115" y="37"/>
                  </a:lnTo>
                  <a:lnTo>
                    <a:pt x="112" y="30"/>
                  </a:lnTo>
                  <a:lnTo>
                    <a:pt x="112" y="27"/>
                  </a:lnTo>
                  <a:lnTo>
                    <a:pt x="108" y="24"/>
                  </a:lnTo>
                  <a:lnTo>
                    <a:pt x="105" y="21"/>
                  </a:lnTo>
                  <a:lnTo>
                    <a:pt x="99" y="18"/>
                  </a:lnTo>
                  <a:lnTo>
                    <a:pt x="96" y="15"/>
                  </a:lnTo>
                  <a:lnTo>
                    <a:pt x="93" y="15"/>
                  </a:lnTo>
                  <a:lnTo>
                    <a:pt x="87" y="15"/>
                  </a:lnTo>
                  <a:lnTo>
                    <a:pt x="84" y="15"/>
                  </a:lnTo>
                  <a:lnTo>
                    <a:pt x="78" y="15"/>
                  </a:lnTo>
                  <a:lnTo>
                    <a:pt x="71" y="12"/>
                  </a:lnTo>
                  <a:lnTo>
                    <a:pt x="68" y="12"/>
                  </a:lnTo>
                  <a:lnTo>
                    <a:pt x="65" y="12"/>
                  </a:lnTo>
                  <a:lnTo>
                    <a:pt x="59" y="12"/>
                  </a:lnTo>
                  <a:lnTo>
                    <a:pt x="59" y="6"/>
                  </a:lnTo>
                  <a:lnTo>
                    <a:pt x="59" y="3"/>
                  </a:lnTo>
                  <a:lnTo>
                    <a:pt x="62" y="0"/>
                  </a:lnTo>
                  <a:lnTo>
                    <a:pt x="65" y="0"/>
                  </a:lnTo>
                  <a:lnTo>
                    <a:pt x="74" y="0"/>
                  </a:lnTo>
                  <a:lnTo>
                    <a:pt x="84" y="3"/>
                  </a:lnTo>
                  <a:lnTo>
                    <a:pt x="93" y="3"/>
                  </a:lnTo>
                  <a:lnTo>
                    <a:pt x="102" y="6"/>
                  </a:lnTo>
                  <a:lnTo>
                    <a:pt x="112" y="9"/>
                  </a:lnTo>
                  <a:lnTo>
                    <a:pt x="118" y="12"/>
                  </a:lnTo>
                  <a:lnTo>
                    <a:pt x="124" y="18"/>
                  </a:lnTo>
                  <a:lnTo>
                    <a:pt x="127" y="27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3" name="Freeform 487"/>
            <p:cNvSpPr>
              <a:spLocks/>
            </p:cNvSpPr>
            <p:nvPr/>
          </p:nvSpPr>
          <p:spPr bwMode="auto">
            <a:xfrm>
              <a:off x="1565" y="2183"/>
              <a:ext cx="235" cy="543"/>
            </a:xfrm>
            <a:custGeom>
              <a:avLst/>
              <a:gdLst>
                <a:gd name="T0" fmla="*/ 204 w 235"/>
                <a:gd name="T1" fmla="*/ 46 h 543"/>
                <a:gd name="T2" fmla="*/ 226 w 235"/>
                <a:gd name="T3" fmla="*/ 111 h 543"/>
                <a:gd name="T4" fmla="*/ 235 w 235"/>
                <a:gd name="T5" fmla="*/ 182 h 543"/>
                <a:gd name="T6" fmla="*/ 235 w 235"/>
                <a:gd name="T7" fmla="*/ 262 h 543"/>
                <a:gd name="T8" fmla="*/ 229 w 235"/>
                <a:gd name="T9" fmla="*/ 343 h 543"/>
                <a:gd name="T10" fmla="*/ 210 w 235"/>
                <a:gd name="T11" fmla="*/ 411 h 543"/>
                <a:gd name="T12" fmla="*/ 195 w 235"/>
                <a:gd name="T13" fmla="*/ 463 h 543"/>
                <a:gd name="T14" fmla="*/ 176 w 235"/>
                <a:gd name="T15" fmla="*/ 516 h 543"/>
                <a:gd name="T16" fmla="*/ 161 w 235"/>
                <a:gd name="T17" fmla="*/ 534 h 543"/>
                <a:gd name="T18" fmla="*/ 152 w 235"/>
                <a:gd name="T19" fmla="*/ 528 h 543"/>
                <a:gd name="T20" fmla="*/ 167 w 235"/>
                <a:gd name="T21" fmla="*/ 404 h 543"/>
                <a:gd name="T22" fmla="*/ 158 w 235"/>
                <a:gd name="T23" fmla="*/ 281 h 543"/>
                <a:gd name="T24" fmla="*/ 148 w 235"/>
                <a:gd name="T25" fmla="*/ 185 h 543"/>
                <a:gd name="T26" fmla="*/ 142 w 235"/>
                <a:gd name="T27" fmla="*/ 160 h 543"/>
                <a:gd name="T28" fmla="*/ 130 w 235"/>
                <a:gd name="T29" fmla="*/ 194 h 543"/>
                <a:gd name="T30" fmla="*/ 124 w 235"/>
                <a:gd name="T31" fmla="*/ 231 h 543"/>
                <a:gd name="T32" fmla="*/ 111 w 235"/>
                <a:gd name="T33" fmla="*/ 268 h 543"/>
                <a:gd name="T34" fmla="*/ 99 w 235"/>
                <a:gd name="T35" fmla="*/ 318 h 543"/>
                <a:gd name="T36" fmla="*/ 84 w 235"/>
                <a:gd name="T37" fmla="*/ 386 h 543"/>
                <a:gd name="T38" fmla="*/ 62 w 235"/>
                <a:gd name="T39" fmla="*/ 451 h 543"/>
                <a:gd name="T40" fmla="*/ 43 w 235"/>
                <a:gd name="T41" fmla="*/ 503 h 543"/>
                <a:gd name="T42" fmla="*/ 34 w 235"/>
                <a:gd name="T43" fmla="*/ 522 h 543"/>
                <a:gd name="T44" fmla="*/ 25 w 235"/>
                <a:gd name="T45" fmla="*/ 537 h 543"/>
                <a:gd name="T46" fmla="*/ 9 w 235"/>
                <a:gd name="T47" fmla="*/ 540 h 543"/>
                <a:gd name="T48" fmla="*/ 3 w 235"/>
                <a:gd name="T49" fmla="*/ 534 h 543"/>
                <a:gd name="T50" fmla="*/ 0 w 235"/>
                <a:gd name="T51" fmla="*/ 525 h 543"/>
                <a:gd name="T52" fmla="*/ 6 w 235"/>
                <a:gd name="T53" fmla="*/ 423 h 543"/>
                <a:gd name="T54" fmla="*/ 22 w 235"/>
                <a:gd name="T55" fmla="*/ 321 h 543"/>
                <a:gd name="T56" fmla="*/ 37 w 235"/>
                <a:gd name="T57" fmla="*/ 253 h 543"/>
                <a:gd name="T58" fmla="*/ 40 w 235"/>
                <a:gd name="T59" fmla="*/ 250 h 543"/>
                <a:gd name="T60" fmla="*/ 47 w 235"/>
                <a:gd name="T61" fmla="*/ 250 h 543"/>
                <a:gd name="T62" fmla="*/ 47 w 235"/>
                <a:gd name="T63" fmla="*/ 275 h 543"/>
                <a:gd name="T64" fmla="*/ 37 w 235"/>
                <a:gd name="T65" fmla="*/ 309 h 543"/>
                <a:gd name="T66" fmla="*/ 31 w 235"/>
                <a:gd name="T67" fmla="*/ 343 h 543"/>
                <a:gd name="T68" fmla="*/ 25 w 235"/>
                <a:gd name="T69" fmla="*/ 407 h 543"/>
                <a:gd name="T70" fmla="*/ 16 w 235"/>
                <a:gd name="T71" fmla="*/ 475 h 543"/>
                <a:gd name="T72" fmla="*/ 25 w 235"/>
                <a:gd name="T73" fmla="*/ 503 h 543"/>
                <a:gd name="T74" fmla="*/ 47 w 235"/>
                <a:gd name="T75" fmla="*/ 448 h 543"/>
                <a:gd name="T76" fmla="*/ 62 w 235"/>
                <a:gd name="T77" fmla="*/ 392 h 543"/>
                <a:gd name="T78" fmla="*/ 84 w 235"/>
                <a:gd name="T79" fmla="*/ 315 h 543"/>
                <a:gd name="T80" fmla="*/ 108 w 235"/>
                <a:gd name="T81" fmla="*/ 222 h 543"/>
                <a:gd name="T82" fmla="*/ 136 w 235"/>
                <a:gd name="T83" fmla="*/ 129 h 543"/>
                <a:gd name="T84" fmla="*/ 145 w 235"/>
                <a:gd name="T85" fmla="*/ 126 h 543"/>
                <a:gd name="T86" fmla="*/ 161 w 235"/>
                <a:gd name="T87" fmla="*/ 173 h 543"/>
                <a:gd name="T88" fmla="*/ 170 w 235"/>
                <a:gd name="T89" fmla="*/ 241 h 543"/>
                <a:gd name="T90" fmla="*/ 176 w 235"/>
                <a:gd name="T91" fmla="*/ 315 h 543"/>
                <a:gd name="T92" fmla="*/ 182 w 235"/>
                <a:gd name="T93" fmla="*/ 414 h 543"/>
                <a:gd name="T94" fmla="*/ 189 w 235"/>
                <a:gd name="T95" fmla="*/ 426 h 543"/>
                <a:gd name="T96" fmla="*/ 198 w 235"/>
                <a:gd name="T97" fmla="*/ 395 h 543"/>
                <a:gd name="T98" fmla="*/ 207 w 235"/>
                <a:gd name="T99" fmla="*/ 364 h 543"/>
                <a:gd name="T100" fmla="*/ 216 w 235"/>
                <a:gd name="T101" fmla="*/ 213 h 543"/>
                <a:gd name="T102" fmla="*/ 207 w 235"/>
                <a:gd name="T103" fmla="*/ 123 h 543"/>
                <a:gd name="T104" fmla="*/ 192 w 235"/>
                <a:gd name="T105" fmla="*/ 64 h 543"/>
                <a:gd name="T106" fmla="*/ 176 w 235"/>
                <a:gd name="T107" fmla="*/ 6 h 543"/>
                <a:gd name="T108" fmla="*/ 186 w 235"/>
                <a:gd name="T109" fmla="*/ 3 h 54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35"/>
                <a:gd name="T166" fmla="*/ 0 h 543"/>
                <a:gd name="T167" fmla="*/ 235 w 235"/>
                <a:gd name="T168" fmla="*/ 543 h 54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35" h="543">
                  <a:moveTo>
                    <a:pt x="189" y="3"/>
                  </a:moveTo>
                  <a:lnTo>
                    <a:pt x="198" y="24"/>
                  </a:lnTo>
                  <a:lnTo>
                    <a:pt x="204" y="46"/>
                  </a:lnTo>
                  <a:lnTo>
                    <a:pt x="213" y="68"/>
                  </a:lnTo>
                  <a:lnTo>
                    <a:pt x="220" y="89"/>
                  </a:lnTo>
                  <a:lnTo>
                    <a:pt x="226" y="111"/>
                  </a:lnTo>
                  <a:lnTo>
                    <a:pt x="229" y="132"/>
                  </a:lnTo>
                  <a:lnTo>
                    <a:pt x="232" y="157"/>
                  </a:lnTo>
                  <a:lnTo>
                    <a:pt x="235" y="182"/>
                  </a:lnTo>
                  <a:lnTo>
                    <a:pt x="235" y="207"/>
                  </a:lnTo>
                  <a:lnTo>
                    <a:pt x="235" y="234"/>
                  </a:lnTo>
                  <a:lnTo>
                    <a:pt x="235" y="262"/>
                  </a:lnTo>
                  <a:lnTo>
                    <a:pt x="235" y="287"/>
                  </a:lnTo>
                  <a:lnTo>
                    <a:pt x="232" y="315"/>
                  </a:lnTo>
                  <a:lnTo>
                    <a:pt x="229" y="343"/>
                  </a:lnTo>
                  <a:lnTo>
                    <a:pt x="223" y="367"/>
                  </a:lnTo>
                  <a:lnTo>
                    <a:pt x="216" y="392"/>
                  </a:lnTo>
                  <a:lnTo>
                    <a:pt x="210" y="411"/>
                  </a:lnTo>
                  <a:lnTo>
                    <a:pt x="204" y="429"/>
                  </a:lnTo>
                  <a:lnTo>
                    <a:pt x="201" y="445"/>
                  </a:lnTo>
                  <a:lnTo>
                    <a:pt x="195" y="463"/>
                  </a:lnTo>
                  <a:lnTo>
                    <a:pt x="189" y="482"/>
                  </a:lnTo>
                  <a:lnTo>
                    <a:pt x="182" y="497"/>
                  </a:lnTo>
                  <a:lnTo>
                    <a:pt x="176" y="516"/>
                  </a:lnTo>
                  <a:lnTo>
                    <a:pt x="167" y="534"/>
                  </a:lnTo>
                  <a:lnTo>
                    <a:pt x="164" y="534"/>
                  </a:lnTo>
                  <a:lnTo>
                    <a:pt x="161" y="534"/>
                  </a:lnTo>
                  <a:lnTo>
                    <a:pt x="158" y="534"/>
                  </a:lnTo>
                  <a:lnTo>
                    <a:pt x="155" y="534"/>
                  </a:lnTo>
                  <a:lnTo>
                    <a:pt x="152" y="528"/>
                  </a:lnTo>
                  <a:lnTo>
                    <a:pt x="161" y="488"/>
                  </a:lnTo>
                  <a:lnTo>
                    <a:pt x="164" y="445"/>
                  </a:lnTo>
                  <a:lnTo>
                    <a:pt x="167" y="404"/>
                  </a:lnTo>
                  <a:lnTo>
                    <a:pt x="164" y="361"/>
                  </a:lnTo>
                  <a:lnTo>
                    <a:pt x="161" y="321"/>
                  </a:lnTo>
                  <a:lnTo>
                    <a:pt x="158" y="281"/>
                  </a:lnTo>
                  <a:lnTo>
                    <a:pt x="152" y="238"/>
                  </a:lnTo>
                  <a:lnTo>
                    <a:pt x="148" y="194"/>
                  </a:lnTo>
                  <a:lnTo>
                    <a:pt x="148" y="185"/>
                  </a:lnTo>
                  <a:lnTo>
                    <a:pt x="145" y="176"/>
                  </a:lnTo>
                  <a:lnTo>
                    <a:pt x="145" y="170"/>
                  </a:lnTo>
                  <a:lnTo>
                    <a:pt x="142" y="160"/>
                  </a:lnTo>
                  <a:lnTo>
                    <a:pt x="136" y="173"/>
                  </a:lnTo>
                  <a:lnTo>
                    <a:pt x="133" y="182"/>
                  </a:lnTo>
                  <a:lnTo>
                    <a:pt x="130" y="194"/>
                  </a:lnTo>
                  <a:lnTo>
                    <a:pt x="130" y="207"/>
                  </a:lnTo>
                  <a:lnTo>
                    <a:pt x="127" y="219"/>
                  </a:lnTo>
                  <a:lnTo>
                    <a:pt x="124" y="231"/>
                  </a:lnTo>
                  <a:lnTo>
                    <a:pt x="121" y="241"/>
                  </a:lnTo>
                  <a:lnTo>
                    <a:pt x="114" y="253"/>
                  </a:lnTo>
                  <a:lnTo>
                    <a:pt x="111" y="268"/>
                  </a:lnTo>
                  <a:lnTo>
                    <a:pt x="108" y="287"/>
                  </a:lnTo>
                  <a:lnTo>
                    <a:pt x="102" y="302"/>
                  </a:lnTo>
                  <a:lnTo>
                    <a:pt x="99" y="318"/>
                  </a:lnTo>
                  <a:lnTo>
                    <a:pt x="96" y="339"/>
                  </a:lnTo>
                  <a:lnTo>
                    <a:pt x="90" y="364"/>
                  </a:lnTo>
                  <a:lnTo>
                    <a:pt x="84" y="386"/>
                  </a:lnTo>
                  <a:lnTo>
                    <a:pt x="74" y="407"/>
                  </a:lnTo>
                  <a:lnTo>
                    <a:pt x="68" y="429"/>
                  </a:lnTo>
                  <a:lnTo>
                    <a:pt x="62" y="451"/>
                  </a:lnTo>
                  <a:lnTo>
                    <a:pt x="53" y="475"/>
                  </a:lnTo>
                  <a:lnTo>
                    <a:pt x="47" y="497"/>
                  </a:lnTo>
                  <a:lnTo>
                    <a:pt x="43" y="503"/>
                  </a:lnTo>
                  <a:lnTo>
                    <a:pt x="40" y="509"/>
                  </a:lnTo>
                  <a:lnTo>
                    <a:pt x="37" y="516"/>
                  </a:lnTo>
                  <a:lnTo>
                    <a:pt x="34" y="522"/>
                  </a:lnTo>
                  <a:lnTo>
                    <a:pt x="31" y="528"/>
                  </a:lnTo>
                  <a:lnTo>
                    <a:pt x="28" y="531"/>
                  </a:lnTo>
                  <a:lnTo>
                    <a:pt x="25" y="537"/>
                  </a:lnTo>
                  <a:lnTo>
                    <a:pt x="19" y="543"/>
                  </a:lnTo>
                  <a:lnTo>
                    <a:pt x="16" y="543"/>
                  </a:lnTo>
                  <a:lnTo>
                    <a:pt x="9" y="540"/>
                  </a:lnTo>
                  <a:lnTo>
                    <a:pt x="6" y="540"/>
                  </a:lnTo>
                  <a:lnTo>
                    <a:pt x="6" y="537"/>
                  </a:lnTo>
                  <a:lnTo>
                    <a:pt x="3" y="534"/>
                  </a:lnTo>
                  <a:lnTo>
                    <a:pt x="0" y="531"/>
                  </a:lnTo>
                  <a:lnTo>
                    <a:pt x="0" y="528"/>
                  </a:lnTo>
                  <a:lnTo>
                    <a:pt x="0" y="525"/>
                  </a:lnTo>
                  <a:lnTo>
                    <a:pt x="0" y="491"/>
                  </a:lnTo>
                  <a:lnTo>
                    <a:pt x="3" y="457"/>
                  </a:lnTo>
                  <a:lnTo>
                    <a:pt x="6" y="423"/>
                  </a:lnTo>
                  <a:lnTo>
                    <a:pt x="9" y="389"/>
                  </a:lnTo>
                  <a:lnTo>
                    <a:pt x="16" y="355"/>
                  </a:lnTo>
                  <a:lnTo>
                    <a:pt x="22" y="321"/>
                  </a:lnTo>
                  <a:lnTo>
                    <a:pt x="28" y="287"/>
                  </a:lnTo>
                  <a:lnTo>
                    <a:pt x="37" y="253"/>
                  </a:lnTo>
                  <a:lnTo>
                    <a:pt x="37" y="250"/>
                  </a:lnTo>
                  <a:lnTo>
                    <a:pt x="40" y="250"/>
                  </a:lnTo>
                  <a:lnTo>
                    <a:pt x="43" y="250"/>
                  </a:lnTo>
                  <a:lnTo>
                    <a:pt x="47" y="250"/>
                  </a:lnTo>
                  <a:lnTo>
                    <a:pt x="47" y="262"/>
                  </a:lnTo>
                  <a:lnTo>
                    <a:pt x="47" y="275"/>
                  </a:lnTo>
                  <a:lnTo>
                    <a:pt x="43" y="284"/>
                  </a:lnTo>
                  <a:lnTo>
                    <a:pt x="40" y="296"/>
                  </a:lnTo>
                  <a:lnTo>
                    <a:pt x="37" y="309"/>
                  </a:lnTo>
                  <a:lnTo>
                    <a:pt x="34" y="318"/>
                  </a:lnTo>
                  <a:lnTo>
                    <a:pt x="34" y="330"/>
                  </a:lnTo>
                  <a:lnTo>
                    <a:pt x="31" y="343"/>
                  </a:lnTo>
                  <a:lnTo>
                    <a:pt x="31" y="364"/>
                  </a:lnTo>
                  <a:lnTo>
                    <a:pt x="28" y="386"/>
                  </a:lnTo>
                  <a:lnTo>
                    <a:pt x="25" y="407"/>
                  </a:lnTo>
                  <a:lnTo>
                    <a:pt x="22" y="429"/>
                  </a:lnTo>
                  <a:lnTo>
                    <a:pt x="19" y="451"/>
                  </a:lnTo>
                  <a:lnTo>
                    <a:pt x="16" y="475"/>
                  </a:lnTo>
                  <a:lnTo>
                    <a:pt x="13" y="497"/>
                  </a:lnTo>
                  <a:lnTo>
                    <a:pt x="16" y="519"/>
                  </a:lnTo>
                  <a:lnTo>
                    <a:pt x="25" y="503"/>
                  </a:lnTo>
                  <a:lnTo>
                    <a:pt x="34" y="485"/>
                  </a:lnTo>
                  <a:lnTo>
                    <a:pt x="40" y="466"/>
                  </a:lnTo>
                  <a:lnTo>
                    <a:pt x="47" y="448"/>
                  </a:lnTo>
                  <a:lnTo>
                    <a:pt x="50" y="429"/>
                  </a:lnTo>
                  <a:lnTo>
                    <a:pt x="56" y="411"/>
                  </a:lnTo>
                  <a:lnTo>
                    <a:pt x="62" y="392"/>
                  </a:lnTo>
                  <a:lnTo>
                    <a:pt x="68" y="373"/>
                  </a:lnTo>
                  <a:lnTo>
                    <a:pt x="77" y="346"/>
                  </a:lnTo>
                  <a:lnTo>
                    <a:pt x="84" y="315"/>
                  </a:lnTo>
                  <a:lnTo>
                    <a:pt x="93" y="284"/>
                  </a:lnTo>
                  <a:lnTo>
                    <a:pt x="99" y="253"/>
                  </a:lnTo>
                  <a:lnTo>
                    <a:pt x="108" y="222"/>
                  </a:lnTo>
                  <a:lnTo>
                    <a:pt x="118" y="191"/>
                  </a:lnTo>
                  <a:lnTo>
                    <a:pt x="127" y="160"/>
                  </a:lnTo>
                  <a:lnTo>
                    <a:pt x="136" y="129"/>
                  </a:lnTo>
                  <a:lnTo>
                    <a:pt x="139" y="129"/>
                  </a:lnTo>
                  <a:lnTo>
                    <a:pt x="142" y="126"/>
                  </a:lnTo>
                  <a:lnTo>
                    <a:pt x="145" y="126"/>
                  </a:lnTo>
                  <a:lnTo>
                    <a:pt x="148" y="126"/>
                  </a:lnTo>
                  <a:lnTo>
                    <a:pt x="155" y="151"/>
                  </a:lnTo>
                  <a:lnTo>
                    <a:pt x="161" y="173"/>
                  </a:lnTo>
                  <a:lnTo>
                    <a:pt x="167" y="194"/>
                  </a:lnTo>
                  <a:lnTo>
                    <a:pt x="167" y="219"/>
                  </a:lnTo>
                  <a:lnTo>
                    <a:pt x="170" y="241"/>
                  </a:lnTo>
                  <a:lnTo>
                    <a:pt x="173" y="265"/>
                  </a:lnTo>
                  <a:lnTo>
                    <a:pt x="173" y="290"/>
                  </a:lnTo>
                  <a:lnTo>
                    <a:pt x="176" y="315"/>
                  </a:lnTo>
                  <a:lnTo>
                    <a:pt x="179" y="346"/>
                  </a:lnTo>
                  <a:lnTo>
                    <a:pt x="182" y="380"/>
                  </a:lnTo>
                  <a:lnTo>
                    <a:pt x="182" y="414"/>
                  </a:lnTo>
                  <a:lnTo>
                    <a:pt x="182" y="445"/>
                  </a:lnTo>
                  <a:lnTo>
                    <a:pt x="186" y="435"/>
                  </a:lnTo>
                  <a:lnTo>
                    <a:pt x="189" y="426"/>
                  </a:lnTo>
                  <a:lnTo>
                    <a:pt x="192" y="417"/>
                  </a:lnTo>
                  <a:lnTo>
                    <a:pt x="195" y="404"/>
                  </a:lnTo>
                  <a:lnTo>
                    <a:pt x="198" y="395"/>
                  </a:lnTo>
                  <a:lnTo>
                    <a:pt x="201" y="386"/>
                  </a:lnTo>
                  <a:lnTo>
                    <a:pt x="204" y="373"/>
                  </a:lnTo>
                  <a:lnTo>
                    <a:pt x="207" y="364"/>
                  </a:lnTo>
                  <a:lnTo>
                    <a:pt x="213" y="315"/>
                  </a:lnTo>
                  <a:lnTo>
                    <a:pt x="216" y="265"/>
                  </a:lnTo>
                  <a:lnTo>
                    <a:pt x="216" y="213"/>
                  </a:lnTo>
                  <a:lnTo>
                    <a:pt x="216" y="160"/>
                  </a:lnTo>
                  <a:lnTo>
                    <a:pt x="213" y="142"/>
                  </a:lnTo>
                  <a:lnTo>
                    <a:pt x="207" y="123"/>
                  </a:lnTo>
                  <a:lnTo>
                    <a:pt x="204" y="102"/>
                  </a:lnTo>
                  <a:lnTo>
                    <a:pt x="198" y="83"/>
                  </a:lnTo>
                  <a:lnTo>
                    <a:pt x="192" y="64"/>
                  </a:lnTo>
                  <a:lnTo>
                    <a:pt x="186" y="43"/>
                  </a:lnTo>
                  <a:lnTo>
                    <a:pt x="182" y="24"/>
                  </a:lnTo>
                  <a:lnTo>
                    <a:pt x="176" y="6"/>
                  </a:lnTo>
                  <a:lnTo>
                    <a:pt x="176" y="3"/>
                  </a:lnTo>
                  <a:lnTo>
                    <a:pt x="182" y="0"/>
                  </a:lnTo>
                  <a:lnTo>
                    <a:pt x="186" y="3"/>
                  </a:lnTo>
                  <a:lnTo>
                    <a:pt x="189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4" name="Freeform 488"/>
            <p:cNvSpPr>
              <a:spLocks/>
            </p:cNvSpPr>
            <p:nvPr/>
          </p:nvSpPr>
          <p:spPr bwMode="auto">
            <a:xfrm>
              <a:off x="1639" y="2192"/>
              <a:ext cx="90" cy="21"/>
            </a:xfrm>
            <a:custGeom>
              <a:avLst/>
              <a:gdLst>
                <a:gd name="T0" fmla="*/ 90 w 90"/>
                <a:gd name="T1" fmla="*/ 3 h 21"/>
                <a:gd name="T2" fmla="*/ 90 w 90"/>
                <a:gd name="T3" fmla="*/ 3 h 21"/>
                <a:gd name="T4" fmla="*/ 90 w 90"/>
                <a:gd name="T5" fmla="*/ 6 h 21"/>
                <a:gd name="T6" fmla="*/ 87 w 90"/>
                <a:gd name="T7" fmla="*/ 9 h 21"/>
                <a:gd name="T8" fmla="*/ 84 w 90"/>
                <a:gd name="T9" fmla="*/ 12 h 21"/>
                <a:gd name="T10" fmla="*/ 78 w 90"/>
                <a:gd name="T11" fmla="*/ 15 h 21"/>
                <a:gd name="T12" fmla="*/ 68 w 90"/>
                <a:gd name="T13" fmla="*/ 18 h 21"/>
                <a:gd name="T14" fmla="*/ 59 w 90"/>
                <a:gd name="T15" fmla="*/ 18 h 21"/>
                <a:gd name="T16" fmla="*/ 50 w 90"/>
                <a:gd name="T17" fmla="*/ 21 h 21"/>
                <a:gd name="T18" fmla="*/ 37 w 90"/>
                <a:gd name="T19" fmla="*/ 21 h 21"/>
                <a:gd name="T20" fmla="*/ 28 w 90"/>
                <a:gd name="T21" fmla="*/ 18 h 21"/>
                <a:gd name="T22" fmla="*/ 19 w 90"/>
                <a:gd name="T23" fmla="*/ 18 h 21"/>
                <a:gd name="T24" fmla="*/ 10 w 90"/>
                <a:gd name="T25" fmla="*/ 15 h 21"/>
                <a:gd name="T26" fmla="*/ 6 w 90"/>
                <a:gd name="T27" fmla="*/ 15 h 21"/>
                <a:gd name="T28" fmla="*/ 3 w 90"/>
                <a:gd name="T29" fmla="*/ 12 h 21"/>
                <a:gd name="T30" fmla="*/ 0 w 90"/>
                <a:gd name="T31" fmla="*/ 9 h 21"/>
                <a:gd name="T32" fmla="*/ 3 w 90"/>
                <a:gd name="T33" fmla="*/ 3 h 21"/>
                <a:gd name="T34" fmla="*/ 10 w 90"/>
                <a:gd name="T35" fmla="*/ 3 h 21"/>
                <a:gd name="T36" fmla="*/ 19 w 90"/>
                <a:gd name="T37" fmla="*/ 6 h 21"/>
                <a:gd name="T38" fmla="*/ 28 w 90"/>
                <a:gd name="T39" fmla="*/ 6 h 21"/>
                <a:gd name="T40" fmla="*/ 37 w 90"/>
                <a:gd name="T41" fmla="*/ 6 h 21"/>
                <a:gd name="T42" fmla="*/ 50 w 90"/>
                <a:gd name="T43" fmla="*/ 6 h 21"/>
                <a:gd name="T44" fmla="*/ 59 w 90"/>
                <a:gd name="T45" fmla="*/ 3 h 21"/>
                <a:gd name="T46" fmla="*/ 68 w 90"/>
                <a:gd name="T47" fmla="*/ 3 h 21"/>
                <a:gd name="T48" fmla="*/ 78 w 90"/>
                <a:gd name="T49" fmla="*/ 0 h 21"/>
                <a:gd name="T50" fmla="*/ 90 w 90"/>
                <a:gd name="T51" fmla="*/ 3 h 21"/>
                <a:gd name="T52" fmla="*/ 90 w 90"/>
                <a:gd name="T53" fmla="*/ 3 h 2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0"/>
                <a:gd name="T82" fmla="*/ 0 h 21"/>
                <a:gd name="T83" fmla="*/ 90 w 90"/>
                <a:gd name="T84" fmla="*/ 21 h 2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0" h="21">
                  <a:moveTo>
                    <a:pt x="90" y="3"/>
                  </a:moveTo>
                  <a:lnTo>
                    <a:pt x="90" y="3"/>
                  </a:lnTo>
                  <a:lnTo>
                    <a:pt x="90" y="6"/>
                  </a:lnTo>
                  <a:lnTo>
                    <a:pt x="87" y="9"/>
                  </a:lnTo>
                  <a:lnTo>
                    <a:pt x="84" y="12"/>
                  </a:lnTo>
                  <a:lnTo>
                    <a:pt x="78" y="15"/>
                  </a:lnTo>
                  <a:lnTo>
                    <a:pt x="68" y="18"/>
                  </a:lnTo>
                  <a:lnTo>
                    <a:pt x="59" y="18"/>
                  </a:lnTo>
                  <a:lnTo>
                    <a:pt x="50" y="21"/>
                  </a:lnTo>
                  <a:lnTo>
                    <a:pt x="37" y="21"/>
                  </a:lnTo>
                  <a:lnTo>
                    <a:pt x="28" y="18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6" y="15"/>
                  </a:lnTo>
                  <a:lnTo>
                    <a:pt x="3" y="12"/>
                  </a:lnTo>
                  <a:lnTo>
                    <a:pt x="0" y="9"/>
                  </a:lnTo>
                  <a:lnTo>
                    <a:pt x="3" y="3"/>
                  </a:lnTo>
                  <a:lnTo>
                    <a:pt x="10" y="3"/>
                  </a:lnTo>
                  <a:lnTo>
                    <a:pt x="19" y="6"/>
                  </a:lnTo>
                  <a:lnTo>
                    <a:pt x="28" y="6"/>
                  </a:lnTo>
                  <a:lnTo>
                    <a:pt x="37" y="6"/>
                  </a:lnTo>
                  <a:lnTo>
                    <a:pt x="50" y="6"/>
                  </a:lnTo>
                  <a:lnTo>
                    <a:pt x="59" y="3"/>
                  </a:lnTo>
                  <a:lnTo>
                    <a:pt x="68" y="3"/>
                  </a:lnTo>
                  <a:lnTo>
                    <a:pt x="78" y="0"/>
                  </a:lnTo>
                  <a:lnTo>
                    <a:pt x="9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5" name="Freeform 489"/>
            <p:cNvSpPr>
              <a:spLocks/>
            </p:cNvSpPr>
            <p:nvPr/>
          </p:nvSpPr>
          <p:spPr bwMode="auto">
            <a:xfrm>
              <a:off x="2168" y="2201"/>
              <a:ext cx="34" cy="287"/>
            </a:xfrm>
            <a:custGeom>
              <a:avLst/>
              <a:gdLst>
                <a:gd name="T0" fmla="*/ 15 w 34"/>
                <a:gd name="T1" fmla="*/ 0 h 287"/>
                <a:gd name="T2" fmla="*/ 21 w 34"/>
                <a:gd name="T3" fmla="*/ 31 h 287"/>
                <a:gd name="T4" fmla="*/ 24 w 34"/>
                <a:gd name="T5" fmla="*/ 62 h 287"/>
                <a:gd name="T6" fmla="*/ 24 w 34"/>
                <a:gd name="T7" fmla="*/ 93 h 287"/>
                <a:gd name="T8" fmla="*/ 24 w 34"/>
                <a:gd name="T9" fmla="*/ 127 h 287"/>
                <a:gd name="T10" fmla="*/ 24 w 34"/>
                <a:gd name="T11" fmla="*/ 158 h 287"/>
                <a:gd name="T12" fmla="*/ 24 w 34"/>
                <a:gd name="T13" fmla="*/ 192 h 287"/>
                <a:gd name="T14" fmla="*/ 27 w 34"/>
                <a:gd name="T15" fmla="*/ 223 h 287"/>
                <a:gd name="T16" fmla="*/ 30 w 34"/>
                <a:gd name="T17" fmla="*/ 254 h 287"/>
                <a:gd name="T18" fmla="*/ 30 w 34"/>
                <a:gd name="T19" fmla="*/ 263 h 287"/>
                <a:gd name="T20" fmla="*/ 34 w 34"/>
                <a:gd name="T21" fmla="*/ 272 h 287"/>
                <a:gd name="T22" fmla="*/ 30 w 34"/>
                <a:gd name="T23" fmla="*/ 281 h 287"/>
                <a:gd name="T24" fmla="*/ 27 w 34"/>
                <a:gd name="T25" fmla="*/ 287 h 287"/>
                <a:gd name="T26" fmla="*/ 21 w 34"/>
                <a:gd name="T27" fmla="*/ 287 h 287"/>
                <a:gd name="T28" fmla="*/ 18 w 34"/>
                <a:gd name="T29" fmla="*/ 281 h 287"/>
                <a:gd name="T30" fmla="*/ 15 w 34"/>
                <a:gd name="T31" fmla="*/ 275 h 287"/>
                <a:gd name="T32" fmla="*/ 15 w 34"/>
                <a:gd name="T33" fmla="*/ 269 h 287"/>
                <a:gd name="T34" fmla="*/ 15 w 34"/>
                <a:gd name="T35" fmla="*/ 260 h 287"/>
                <a:gd name="T36" fmla="*/ 15 w 34"/>
                <a:gd name="T37" fmla="*/ 254 h 287"/>
                <a:gd name="T38" fmla="*/ 15 w 34"/>
                <a:gd name="T39" fmla="*/ 244 h 287"/>
                <a:gd name="T40" fmla="*/ 12 w 34"/>
                <a:gd name="T41" fmla="*/ 238 h 287"/>
                <a:gd name="T42" fmla="*/ 9 w 34"/>
                <a:gd name="T43" fmla="*/ 179 h 287"/>
                <a:gd name="T44" fmla="*/ 9 w 34"/>
                <a:gd name="T45" fmla="*/ 121 h 287"/>
                <a:gd name="T46" fmla="*/ 6 w 34"/>
                <a:gd name="T47" fmla="*/ 59 h 287"/>
                <a:gd name="T48" fmla="*/ 0 w 34"/>
                <a:gd name="T49" fmla="*/ 3 h 287"/>
                <a:gd name="T50" fmla="*/ 3 w 34"/>
                <a:gd name="T51" fmla="*/ 0 h 287"/>
                <a:gd name="T52" fmla="*/ 6 w 34"/>
                <a:gd name="T53" fmla="*/ 0 h 287"/>
                <a:gd name="T54" fmla="*/ 9 w 34"/>
                <a:gd name="T55" fmla="*/ 0 h 287"/>
                <a:gd name="T56" fmla="*/ 15 w 34"/>
                <a:gd name="T57" fmla="*/ 0 h 287"/>
                <a:gd name="T58" fmla="*/ 15 w 34"/>
                <a:gd name="T59" fmla="*/ 0 h 28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4"/>
                <a:gd name="T91" fmla="*/ 0 h 287"/>
                <a:gd name="T92" fmla="*/ 34 w 34"/>
                <a:gd name="T93" fmla="*/ 287 h 28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4" h="287">
                  <a:moveTo>
                    <a:pt x="15" y="0"/>
                  </a:moveTo>
                  <a:lnTo>
                    <a:pt x="21" y="31"/>
                  </a:lnTo>
                  <a:lnTo>
                    <a:pt x="24" y="62"/>
                  </a:lnTo>
                  <a:lnTo>
                    <a:pt x="24" y="93"/>
                  </a:lnTo>
                  <a:lnTo>
                    <a:pt x="24" y="127"/>
                  </a:lnTo>
                  <a:lnTo>
                    <a:pt x="24" y="158"/>
                  </a:lnTo>
                  <a:lnTo>
                    <a:pt x="24" y="192"/>
                  </a:lnTo>
                  <a:lnTo>
                    <a:pt x="27" y="223"/>
                  </a:lnTo>
                  <a:lnTo>
                    <a:pt x="30" y="254"/>
                  </a:lnTo>
                  <a:lnTo>
                    <a:pt x="30" y="263"/>
                  </a:lnTo>
                  <a:lnTo>
                    <a:pt x="34" y="272"/>
                  </a:lnTo>
                  <a:lnTo>
                    <a:pt x="30" y="281"/>
                  </a:lnTo>
                  <a:lnTo>
                    <a:pt x="27" y="287"/>
                  </a:lnTo>
                  <a:lnTo>
                    <a:pt x="21" y="287"/>
                  </a:lnTo>
                  <a:lnTo>
                    <a:pt x="18" y="281"/>
                  </a:lnTo>
                  <a:lnTo>
                    <a:pt x="15" y="275"/>
                  </a:lnTo>
                  <a:lnTo>
                    <a:pt x="15" y="269"/>
                  </a:lnTo>
                  <a:lnTo>
                    <a:pt x="15" y="260"/>
                  </a:lnTo>
                  <a:lnTo>
                    <a:pt x="15" y="254"/>
                  </a:lnTo>
                  <a:lnTo>
                    <a:pt x="15" y="244"/>
                  </a:lnTo>
                  <a:lnTo>
                    <a:pt x="12" y="238"/>
                  </a:lnTo>
                  <a:lnTo>
                    <a:pt x="9" y="179"/>
                  </a:lnTo>
                  <a:lnTo>
                    <a:pt x="9" y="121"/>
                  </a:lnTo>
                  <a:lnTo>
                    <a:pt x="6" y="59"/>
                  </a:lnTo>
                  <a:lnTo>
                    <a:pt x="0" y="3"/>
                  </a:lnTo>
                  <a:lnTo>
                    <a:pt x="3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6" name="Freeform 490"/>
            <p:cNvSpPr>
              <a:spLocks/>
            </p:cNvSpPr>
            <p:nvPr/>
          </p:nvSpPr>
          <p:spPr bwMode="auto">
            <a:xfrm>
              <a:off x="1825" y="2207"/>
              <a:ext cx="306" cy="204"/>
            </a:xfrm>
            <a:custGeom>
              <a:avLst/>
              <a:gdLst>
                <a:gd name="T0" fmla="*/ 92 w 306"/>
                <a:gd name="T1" fmla="*/ 19 h 204"/>
                <a:gd name="T2" fmla="*/ 99 w 306"/>
                <a:gd name="T3" fmla="*/ 28 h 204"/>
                <a:gd name="T4" fmla="*/ 86 w 306"/>
                <a:gd name="T5" fmla="*/ 56 h 204"/>
                <a:gd name="T6" fmla="*/ 77 w 306"/>
                <a:gd name="T7" fmla="*/ 90 h 204"/>
                <a:gd name="T8" fmla="*/ 92 w 306"/>
                <a:gd name="T9" fmla="*/ 102 h 204"/>
                <a:gd name="T10" fmla="*/ 123 w 306"/>
                <a:gd name="T11" fmla="*/ 102 h 204"/>
                <a:gd name="T12" fmla="*/ 154 w 306"/>
                <a:gd name="T13" fmla="*/ 102 h 204"/>
                <a:gd name="T14" fmla="*/ 185 w 306"/>
                <a:gd name="T15" fmla="*/ 102 h 204"/>
                <a:gd name="T16" fmla="*/ 204 w 306"/>
                <a:gd name="T17" fmla="*/ 96 h 204"/>
                <a:gd name="T18" fmla="*/ 210 w 306"/>
                <a:gd name="T19" fmla="*/ 56 h 204"/>
                <a:gd name="T20" fmla="*/ 213 w 306"/>
                <a:gd name="T21" fmla="*/ 22 h 204"/>
                <a:gd name="T22" fmla="*/ 200 w 306"/>
                <a:gd name="T23" fmla="*/ 16 h 204"/>
                <a:gd name="T24" fmla="*/ 200 w 306"/>
                <a:gd name="T25" fmla="*/ 34 h 204"/>
                <a:gd name="T26" fmla="*/ 191 w 306"/>
                <a:gd name="T27" fmla="*/ 74 h 204"/>
                <a:gd name="T28" fmla="*/ 185 w 306"/>
                <a:gd name="T29" fmla="*/ 84 h 204"/>
                <a:gd name="T30" fmla="*/ 188 w 306"/>
                <a:gd name="T31" fmla="*/ 25 h 204"/>
                <a:gd name="T32" fmla="*/ 197 w 306"/>
                <a:gd name="T33" fmla="*/ 6 h 204"/>
                <a:gd name="T34" fmla="*/ 210 w 306"/>
                <a:gd name="T35" fmla="*/ 13 h 204"/>
                <a:gd name="T36" fmla="*/ 228 w 306"/>
                <a:gd name="T37" fmla="*/ 25 h 204"/>
                <a:gd name="T38" fmla="*/ 219 w 306"/>
                <a:gd name="T39" fmla="*/ 65 h 204"/>
                <a:gd name="T40" fmla="*/ 210 w 306"/>
                <a:gd name="T41" fmla="*/ 105 h 204"/>
                <a:gd name="T42" fmla="*/ 231 w 306"/>
                <a:gd name="T43" fmla="*/ 105 h 204"/>
                <a:gd name="T44" fmla="*/ 256 w 306"/>
                <a:gd name="T45" fmla="*/ 105 h 204"/>
                <a:gd name="T46" fmla="*/ 281 w 306"/>
                <a:gd name="T47" fmla="*/ 108 h 204"/>
                <a:gd name="T48" fmla="*/ 302 w 306"/>
                <a:gd name="T49" fmla="*/ 112 h 204"/>
                <a:gd name="T50" fmla="*/ 306 w 306"/>
                <a:gd name="T51" fmla="*/ 124 h 204"/>
                <a:gd name="T52" fmla="*/ 275 w 306"/>
                <a:gd name="T53" fmla="*/ 121 h 204"/>
                <a:gd name="T54" fmla="*/ 244 w 306"/>
                <a:gd name="T55" fmla="*/ 121 h 204"/>
                <a:gd name="T56" fmla="*/ 247 w 306"/>
                <a:gd name="T57" fmla="*/ 124 h 204"/>
                <a:gd name="T58" fmla="*/ 259 w 306"/>
                <a:gd name="T59" fmla="*/ 127 h 204"/>
                <a:gd name="T60" fmla="*/ 253 w 306"/>
                <a:gd name="T61" fmla="*/ 158 h 204"/>
                <a:gd name="T62" fmla="*/ 244 w 306"/>
                <a:gd name="T63" fmla="*/ 195 h 204"/>
                <a:gd name="T64" fmla="*/ 244 w 306"/>
                <a:gd name="T65" fmla="*/ 173 h 204"/>
                <a:gd name="T66" fmla="*/ 253 w 306"/>
                <a:gd name="T67" fmla="*/ 139 h 204"/>
                <a:gd name="T68" fmla="*/ 250 w 306"/>
                <a:gd name="T69" fmla="*/ 133 h 204"/>
                <a:gd name="T70" fmla="*/ 241 w 306"/>
                <a:gd name="T71" fmla="*/ 133 h 204"/>
                <a:gd name="T72" fmla="*/ 231 w 306"/>
                <a:gd name="T73" fmla="*/ 133 h 204"/>
                <a:gd name="T74" fmla="*/ 234 w 306"/>
                <a:gd name="T75" fmla="*/ 155 h 204"/>
                <a:gd name="T76" fmla="*/ 222 w 306"/>
                <a:gd name="T77" fmla="*/ 176 h 204"/>
                <a:gd name="T78" fmla="*/ 225 w 306"/>
                <a:gd name="T79" fmla="*/ 130 h 204"/>
                <a:gd name="T80" fmla="*/ 216 w 306"/>
                <a:gd name="T81" fmla="*/ 121 h 204"/>
                <a:gd name="T82" fmla="*/ 160 w 306"/>
                <a:gd name="T83" fmla="*/ 118 h 204"/>
                <a:gd name="T84" fmla="*/ 105 w 306"/>
                <a:gd name="T85" fmla="*/ 115 h 204"/>
                <a:gd name="T86" fmla="*/ 46 w 306"/>
                <a:gd name="T87" fmla="*/ 112 h 204"/>
                <a:gd name="T88" fmla="*/ 3 w 306"/>
                <a:gd name="T89" fmla="*/ 105 h 204"/>
                <a:gd name="T90" fmla="*/ 6 w 306"/>
                <a:gd name="T91" fmla="*/ 87 h 204"/>
                <a:gd name="T92" fmla="*/ 21 w 306"/>
                <a:gd name="T93" fmla="*/ 40 h 204"/>
                <a:gd name="T94" fmla="*/ 37 w 306"/>
                <a:gd name="T95" fmla="*/ 6 h 204"/>
                <a:gd name="T96" fmla="*/ 43 w 306"/>
                <a:gd name="T97" fmla="*/ 19 h 204"/>
                <a:gd name="T98" fmla="*/ 31 w 306"/>
                <a:gd name="T99" fmla="*/ 59 h 204"/>
                <a:gd name="T100" fmla="*/ 18 w 306"/>
                <a:gd name="T101" fmla="*/ 96 h 204"/>
                <a:gd name="T102" fmla="*/ 31 w 306"/>
                <a:gd name="T103" fmla="*/ 99 h 204"/>
                <a:gd name="T104" fmla="*/ 40 w 306"/>
                <a:gd name="T105" fmla="*/ 99 h 204"/>
                <a:gd name="T106" fmla="*/ 52 w 306"/>
                <a:gd name="T107" fmla="*/ 62 h 204"/>
                <a:gd name="T108" fmla="*/ 65 w 306"/>
                <a:gd name="T109" fmla="*/ 22 h 204"/>
                <a:gd name="T110" fmla="*/ 58 w 306"/>
                <a:gd name="T111" fmla="*/ 6 h 204"/>
                <a:gd name="T112" fmla="*/ 74 w 306"/>
                <a:gd name="T113" fmla="*/ 3 h 204"/>
                <a:gd name="T114" fmla="*/ 89 w 306"/>
                <a:gd name="T115" fmla="*/ 10 h 20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06"/>
                <a:gd name="T175" fmla="*/ 0 h 204"/>
                <a:gd name="T176" fmla="*/ 306 w 306"/>
                <a:gd name="T177" fmla="*/ 204 h 20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06" h="204">
                  <a:moveTo>
                    <a:pt x="89" y="10"/>
                  </a:moveTo>
                  <a:lnTo>
                    <a:pt x="89" y="13"/>
                  </a:lnTo>
                  <a:lnTo>
                    <a:pt x="89" y="16"/>
                  </a:lnTo>
                  <a:lnTo>
                    <a:pt x="92" y="19"/>
                  </a:lnTo>
                  <a:lnTo>
                    <a:pt x="95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9" y="34"/>
                  </a:lnTo>
                  <a:lnTo>
                    <a:pt x="92" y="40"/>
                  </a:lnTo>
                  <a:lnTo>
                    <a:pt x="89" y="50"/>
                  </a:lnTo>
                  <a:lnTo>
                    <a:pt x="86" y="56"/>
                  </a:lnTo>
                  <a:lnTo>
                    <a:pt x="86" y="65"/>
                  </a:lnTo>
                  <a:lnTo>
                    <a:pt x="83" y="74"/>
                  </a:lnTo>
                  <a:lnTo>
                    <a:pt x="80" y="81"/>
                  </a:lnTo>
                  <a:lnTo>
                    <a:pt x="77" y="90"/>
                  </a:lnTo>
                  <a:lnTo>
                    <a:pt x="74" y="99"/>
                  </a:lnTo>
                  <a:lnTo>
                    <a:pt x="80" y="99"/>
                  </a:lnTo>
                  <a:lnTo>
                    <a:pt x="86" y="99"/>
                  </a:lnTo>
                  <a:lnTo>
                    <a:pt x="92" y="102"/>
                  </a:lnTo>
                  <a:lnTo>
                    <a:pt x="102" y="102"/>
                  </a:lnTo>
                  <a:lnTo>
                    <a:pt x="108" y="102"/>
                  </a:lnTo>
                  <a:lnTo>
                    <a:pt x="117" y="102"/>
                  </a:lnTo>
                  <a:lnTo>
                    <a:pt x="123" y="102"/>
                  </a:lnTo>
                  <a:lnTo>
                    <a:pt x="133" y="102"/>
                  </a:lnTo>
                  <a:lnTo>
                    <a:pt x="139" y="102"/>
                  </a:lnTo>
                  <a:lnTo>
                    <a:pt x="148" y="102"/>
                  </a:lnTo>
                  <a:lnTo>
                    <a:pt x="154" y="102"/>
                  </a:lnTo>
                  <a:lnTo>
                    <a:pt x="163" y="102"/>
                  </a:lnTo>
                  <a:lnTo>
                    <a:pt x="170" y="102"/>
                  </a:lnTo>
                  <a:lnTo>
                    <a:pt x="179" y="102"/>
                  </a:lnTo>
                  <a:lnTo>
                    <a:pt x="185" y="102"/>
                  </a:lnTo>
                  <a:lnTo>
                    <a:pt x="194" y="102"/>
                  </a:lnTo>
                  <a:lnTo>
                    <a:pt x="200" y="102"/>
                  </a:lnTo>
                  <a:lnTo>
                    <a:pt x="200" y="99"/>
                  </a:lnTo>
                  <a:lnTo>
                    <a:pt x="204" y="96"/>
                  </a:lnTo>
                  <a:lnTo>
                    <a:pt x="207" y="93"/>
                  </a:lnTo>
                  <a:lnTo>
                    <a:pt x="207" y="90"/>
                  </a:lnTo>
                  <a:lnTo>
                    <a:pt x="207" y="74"/>
                  </a:lnTo>
                  <a:lnTo>
                    <a:pt x="210" y="56"/>
                  </a:lnTo>
                  <a:lnTo>
                    <a:pt x="216" y="40"/>
                  </a:lnTo>
                  <a:lnTo>
                    <a:pt x="219" y="22"/>
                  </a:lnTo>
                  <a:lnTo>
                    <a:pt x="216" y="25"/>
                  </a:lnTo>
                  <a:lnTo>
                    <a:pt x="213" y="22"/>
                  </a:lnTo>
                  <a:lnTo>
                    <a:pt x="210" y="22"/>
                  </a:lnTo>
                  <a:lnTo>
                    <a:pt x="207" y="19"/>
                  </a:lnTo>
                  <a:lnTo>
                    <a:pt x="204" y="19"/>
                  </a:lnTo>
                  <a:lnTo>
                    <a:pt x="200" y="16"/>
                  </a:lnTo>
                  <a:lnTo>
                    <a:pt x="197" y="19"/>
                  </a:lnTo>
                  <a:lnTo>
                    <a:pt x="204" y="28"/>
                  </a:lnTo>
                  <a:lnTo>
                    <a:pt x="200" y="34"/>
                  </a:lnTo>
                  <a:lnTo>
                    <a:pt x="197" y="44"/>
                  </a:lnTo>
                  <a:lnTo>
                    <a:pt x="194" y="53"/>
                  </a:lnTo>
                  <a:lnTo>
                    <a:pt x="194" y="65"/>
                  </a:lnTo>
                  <a:lnTo>
                    <a:pt x="191" y="74"/>
                  </a:lnTo>
                  <a:lnTo>
                    <a:pt x="188" y="84"/>
                  </a:lnTo>
                  <a:lnTo>
                    <a:pt x="185" y="90"/>
                  </a:lnTo>
                  <a:lnTo>
                    <a:pt x="182" y="99"/>
                  </a:lnTo>
                  <a:lnTo>
                    <a:pt x="185" y="84"/>
                  </a:lnTo>
                  <a:lnTo>
                    <a:pt x="188" y="65"/>
                  </a:lnTo>
                  <a:lnTo>
                    <a:pt x="191" y="47"/>
                  </a:lnTo>
                  <a:lnTo>
                    <a:pt x="194" y="28"/>
                  </a:lnTo>
                  <a:lnTo>
                    <a:pt x="188" y="25"/>
                  </a:lnTo>
                  <a:lnTo>
                    <a:pt x="188" y="19"/>
                  </a:lnTo>
                  <a:lnTo>
                    <a:pt x="191" y="13"/>
                  </a:lnTo>
                  <a:lnTo>
                    <a:pt x="194" y="6"/>
                  </a:lnTo>
                  <a:lnTo>
                    <a:pt x="197" y="6"/>
                  </a:lnTo>
                  <a:lnTo>
                    <a:pt x="200" y="6"/>
                  </a:lnTo>
                  <a:lnTo>
                    <a:pt x="207" y="10"/>
                  </a:lnTo>
                  <a:lnTo>
                    <a:pt x="210" y="13"/>
                  </a:lnTo>
                  <a:lnTo>
                    <a:pt x="213" y="16"/>
                  </a:lnTo>
                  <a:lnTo>
                    <a:pt x="216" y="16"/>
                  </a:lnTo>
                  <a:lnTo>
                    <a:pt x="222" y="16"/>
                  </a:lnTo>
                  <a:lnTo>
                    <a:pt x="228" y="25"/>
                  </a:lnTo>
                  <a:lnTo>
                    <a:pt x="225" y="34"/>
                  </a:lnTo>
                  <a:lnTo>
                    <a:pt x="222" y="44"/>
                  </a:lnTo>
                  <a:lnTo>
                    <a:pt x="222" y="56"/>
                  </a:lnTo>
                  <a:lnTo>
                    <a:pt x="219" y="65"/>
                  </a:lnTo>
                  <a:lnTo>
                    <a:pt x="216" y="74"/>
                  </a:lnTo>
                  <a:lnTo>
                    <a:pt x="213" y="84"/>
                  </a:lnTo>
                  <a:lnTo>
                    <a:pt x="210" y="96"/>
                  </a:lnTo>
                  <a:lnTo>
                    <a:pt x="210" y="105"/>
                  </a:lnTo>
                  <a:lnTo>
                    <a:pt x="216" y="105"/>
                  </a:lnTo>
                  <a:lnTo>
                    <a:pt x="219" y="105"/>
                  </a:lnTo>
                  <a:lnTo>
                    <a:pt x="225" y="105"/>
                  </a:lnTo>
                  <a:lnTo>
                    <a:pt x="231" y="105"/>
                  </a:lnTo>
                  <a:lnTo>
                    <a:pt x="238" y="108"/>
                  </a:lnTo>
                  <a:lnTo>
                    <a:pt x="244" y="108"/>
                  </a:lnTo>
                  <a:lnTo>
                    <a:pt x="250" y="108"/>
                  </a:lnTo>
                  <a:lnTo>
                    <a:pt x="256" y="105"/>
                  </a:lnTo>
                  <a:lnTo>
                    <a:pt x="262" y="105"/>
                  </a:lnTo>
                  <a:lnTo>
                    <a:pt x="268" y="105"/>
                  </a:lnTo>
                  <a:lnTo>
                    <a:pt x="275" y="105"/>
                  </a:lnTo>
                  <a:lnTo>
                    <a:pt x="281" y="108"/>
                  </a:lnTo>
                  <a:lnTo>
                    <a:pt x="287" y="108"/>
                  </a:lnTo>
                  <a:lnTo>
                    <a:pt x="293" y="108"/>
                  </a:lnTo>
                  <a:lnTo>
                    <a:pt x="299" y="108"/>
                  </a:lnTo>
                  <a:lnTo>
                    <a:pt x="302" y="112"/>
                  </a:lnTo>
                  <a:lnTo>
                    <a:pt x="306" y="115"/>
                  </a:lnTo>
                  <a:lnTo>
                    <a:pt x="306" y="118"/>
                  </a:lnTo>
                  <a:lnTo>
                    <a:pt x="306" y="121"/>
                  </a:lnTo>
                  <a:lnTo>
                    <a:pt x="306" y="124"/>
                  </a:lnTo>
                  <a:lnTo>
                    <a:pt x="296" y="121"/>
                  </a:lnTo>
                  <a:lnTo>
                    <a:pt x="290" y="121"/>
                  </a:lnTo>
                  <a:lnTo>
                    <a:pt x="281" y="121"/>
                  </a:lnTo>
                  <a:lnTo>
                    <a:pt x="275" y="121"/>
                  </a:lnTo>
                  <a:lnTo>
                    <a:pt x="265" y="121"/>
                  </a:lnTo>
                  <a:lnTo>
                    <a:pt x="259" y="121"/>
                  </a:lnTo>
                  <a:lnTo>
                    <a:pt x="250" y="121"/>
                  </a:lnTo>
                  <a:lnTo>
                    <a:pt x="244" y="121"/>
                  </a:lnTo>
                  <a:lnTo>
                    <a:pt x="241" y="124"/>
                  </a:lnTo>
                  <a:lnTo>
                    <a:pt x="244" y="124"/>
                  </a:lnTo>
                  <a:lnTo>
                    <a:pt x="247" y="124"/>
                  </a:lnTo>
                  <a:lnTo>
                    <a:pt x="250" y="124"/>
                  </a:lnTo>
                  <a:lnTo>
                    <a:pt x="256" y="124"/>
                  </a:lnTo>
                  <a:lnTo>
                    <a:pt x="259" y="127"/>
                  </a:lnTo>
                  <a:lnTo>
                    <a:pt x="262" y="130"/>
                  </a:lnTo>
                  <a:lnTo>
                    <a:pt x="259" y="139"/>
                  </a:lnTo>
                  <a:lnTo>
                    <a:pt x="256" y="149"/>
                  </a:lnTo>
                  <a:lnTo>
                    <a:pt x="253" y="158"/>
                  </a:lnTo>
                  <a:lnTo>
                    <a:pt x="250" y="164"/>
                  </a:lnTo>
                  <a:lnTo>
                    <a:pt x="250" y="176"/>
                  </a:lnTo>
                  <a:lnTo>
                    <a:pt x="247" y="186"/>
                  </a:lnTo>
                  <a:lnTo>
                    <a:pt x="244" y="195"/>
                  </a:lnTo>
                  <a:lnTo>
                    <a:pt x="244" y="204"/>
                  </a:lnTo>
                  <a:lnTo>
                    <a:pt x="241" y="204"/>
                  </a:lnTo>
                  <a:lnTo>
                    <a:pt x="241" y="189"/>
                  </a:lnTo>
                  <a:lnTo>
                    <a:pt x="244" y="173"/>
                  </a:lnTo>
                  <a:lnTo>
                    <a:pt x="247" y="158"/>
                  </a:lnTo>
                  <a:lnTo>
                    <a:pt x="250" y="142"/>
                  </a:lnTo>
                  <a:lnTo>
                    <a:pt x="253" y="139"/>
                  </a:lnTo>
                  <a:lnTo>
                    <a:pt x="256" y="136"/>
                  </a:lnTo>
                  <a:lnTo>
                    <a:pt x="253" y="130"/>
                  </a:lnTo>
                  <a:lnTo>
                    <a:pt x="250" y="133"/>
                  </a:lnTo>
                  <a:lnTo>
                    <a:pt x="247" y="136"/>
                  </a:lnTo>
                  <a:lnTo>
                    <a:pt x="247" y="133"/>
                  </a:lnTo>
                  <a:lnTo>
                    <a:pt x="244" y="133"/>
                  </a:lnTo>
                  <a:lnTo>
                    <a:pt x="241" y="133"/>
                  </a:lnTo>
                  <a:lnTo>
                    <a:pt x="238" y="130"/>
                  </a:lnTo>
                  <a:lnTo>
                    <a:pt x="234" y="130"/>
                  </a:lnTo>
                  <a:lnTo>
                    <a:pt x="231" y="130"/>
                  </a:lnTo>
                  <a:lnTo>
                    <a:pt x="231" y="133"/>
                  </a:lnTo>
                  <a:lnTo>
                    <a:pt x="231" y="136"/>
                  </a:lnTo>
                  <a:lnTo>
                    <a:pt x="234" y="139"/>
                  </a:lnTo>
                  <a:lnTo>
                    <a:pt x="238" y="142"/>
                  </a:lnTo>
                  <a:lnTo>
                    <a:pt x="234" y="155"/>
                  </a:lnTo>
                  <a:lnTo>
                    <a:pt x="231" y="167"/>
                  </a:lnTo>
                  <a:lnTo>
                    <a:pt x="228" y="180"/>
                  </a:lnTo>
                  <a:lnTo>
                    <a:pt x="222" y="192"/>
                  </a:lnTo>
                  <a:lnTo>
                    <a:pt x="222" y="176"/>
                  </a:lnTo>
                  <a:lnTo>
                    <a:pt x="225" y="161"/>
                  </a:lnTo>
                  <a:lnTo>
                    <a:pt x="228" y="146"/>
                  </a:lnTo>
                  <a:lnTo>
                    <a:pt x="225" y="133"/>
                  </a:lnTo>
                  <a:lnTo>
                    <a:pt x="225" y="130"/>
                  </a:lnTo>
                  <a:lnTo>
                    <a:pt x="225" y="127"/>
                  </a:lnTo>
                  <a:lnTo>
                    <a:pt x="228" y="124"/>
                  </a:lnTo>
                  <a:lnTo>
                    <a:pt x="231" y="121"/>
                  </a:lnTo>
                  <a:lnTo>
                    <a:pt x="216" y="121"/>
                  </a:lnTo>
                  <a:lnTo>
                    <a:pt x="204" y="118"/>
                  </a:lnTo>
                  <a:lnTo>
                    <a:pt x="188" y="118"/>
                  </a:lnTo>
                  <a:lnTo>
                    <a:pt x="176" y="118"/>
                  </a:lnTo>
                  <a:lnTo>
                    <a:pt x="160" y="118"/>
                  </a:lnTo>
                  <a:lnTo>
                    <a:pt x="148" y="115"/>
                  </a:lnTo>
                  <a:lnTo>
                    <a:pt x="133" y="115"/>
                  </a:lnTo>
                  <a:lnTo>
                    <a:pt x="117" y="115"/>
                  </a:lnTo>
                  <a:lnTo>
                    <a:pt x="105" y="115"/>
                  </a:lnTo>
                  <a:lnTo>
                    <a:pt x="89" y="112"/>
                  </a:lnTo>
                  <a:lnTo>
                    <a:pt x="74" y="112"/>
                  </a:lnTo>
                  <a:lnTo>
                    <a:pt x="61" y="112"/>
                  </a:lnTo>
                  <a:lnTo>
                    <a:pt x="46" y="112"/>
                  </a:lnTo>
                  <a:lnTo>
                    <a:pt x="34" y="112"/>
                  </a:lnTo>
                  <a:lnTo>
                    <a:pt x="18" y="108"/>
                  </a:lnTo>
                  <a:lnTo>
                    <a:pt x="6" y="108"/>
                  </a:lnTo>
                  <a:lnTo>
                    <a:pt x="3" y="105"/>
                  </a:lnTo>
                  <a:lnTo>
                    <a:pt x="0" y="102"/>
                  </a:lnTo>
                  <a:lnTo>
                    <a:pt x="3" y="99"/>
                  </a:lnTo>
                  <a:lnTo>
                    <a:pt x="3" y="96"/>
                  </a:lnTo>
                  <a:lnTo>
                    <a:pt x="6" y="87"/>
                  </a:lnTo>
                  <a:lnTo>
                    <a:pt x="9" y="74"/>
                  </a:lnTo>
                  <a:lnTo>
                    <a:pt x="15" y="62"/>
                  </a:lnTo>
                  <a:lnTo>
                    <a:pt x="18" y="50"/>
                  </a:lnTo>
                  <a:lnTo>
                    <a:pt x="21" y="40"/>
                  </a:lnTo>
                  <a:lnTo>
                    <a:pt x="24" y="28"/>
                  </a:lnTo>
                  <a:lnTo>
                    <a:pt x="31" y="19"/>
                  </a:lnTo>
                  <a:lnTo>
                    <a:pt x="34" y="6"/>
                  </a:lnTo>
                  <a:lnTo>
                    <a:pt x="37" y="6"/>
                  </a:lnTo>
                  <a:lnTo>
                    <a:pt x="37" y="3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3" y="19"/>
                  </a:lnTo>
                  <a:lnTo>
                    <a:pt x="40" y="28"/>
                  </a:lnTo>
                  <a:lnTo>
                    <a:pt x="37" y="37"/>
                  </a:lnTo>
                  <a:lnTo>
                    <a:pt x="34" y="50"/>
                  </a:lnTo>
                  <a:lnTo>
                    <a:pt x="31" y="59"/>
                  </a:lnTo>
                  <a:lnTo>
                    <a:pt x="27" y="68"/>
                  </a:lnTo>
                  <a:lnTo>
                    <a:pt x="24" y="78"/>
                  </a:lnTo>
                  <a:lnTo>
                    <a:pt x="21" y="87"/>
                  </a:lnTo>
                  <a:lnTo>
                    <a:pt x="18" y="96"/>
                  </a:lnTo>
                  <a:lnTo>
                    <a:pt x="21" y="96"/>
                  </a:lnTo>
                  <a:lnTo>
                    <a:pt x="24" y="99"/>
                  </a:lnTo>
                  <a:lnTo>
                    <a:pt x="27" y="99"/>
                  </a:lnTo>
                  <a:lnTo>
                    <a:pt x="31" y="99"/>
                  </a:lnTo>
                  <a:lnTo>
                    <a:pt x="34" y="99"/>
                  </a:lnTo>
                  <a:lnTo>
                    <a:pt x="37" y="99"/>
                  </a:lnTo>
                  <a:lnTo>
                    <a:pt x="40" y="99"/>
                  </a:lnTo>
                  <a:lnTo>
                    <a:pt x="43" y="90"/>
                  </a:lnTo>
                  <a:lnTo>
                    <a:pt x="46" y="81"/>
                  </a:lnTo>
                  <a:lnTo>
                    <a:pt x="49" y="71"/>
                  </a:lnTo>
                  <a:lnTo>
                    <a:pt x="52" y="62"/>
                  </a:lnTo>
                  <a:lnTo>
                    <a:pt x="55" y="53"/>
                  </a:lnTo>
                  <a:lnTo>
                    <a:pt x="58" y="44"/>
                  </a:lnTo>
                  <a:lnTo>
                    <a:pt x="61" y="34"/>
                  </a:lnTo>
                  <a:lnTo>
                    <a:pt x="65" y="22"/>
                  </a:lnTo>
                  <a:lnTo>
                    <a:pt x="61" y="19"/>
                  </a:lnTo>
                  <a:lnTo>
                    <a:pt x="61" y="16"/>
                  </a:lnTo>
                  <a:lnTo>
                    <a:pt x="58" y="13"/>
                  </a:lnTo>
                  <a:lnTo>
                    <a:pt x="58" y="6"/>
                  </a:lnTo>
                  <a:lnTo>
                    <a:pt x="61" y="3"/>
                  </a:lnTo>
                  <a:lnTo>
                    <a:pt x="68" y="3"/>
                  </a:lnTo>
                  <a:lnTo>
                    <a:pt x="71" y="0"/>
                  </a:lnTo>
                  <a:lnTo>
                    <a:pt x="74" y="3"/>
                  </a:lnTo>
                  <a:lnTo>
                    <a:pt x="80" y="3"/>
                  </a:lnTo>
                  <a:lnTo>
                    <a:pt x="83" y="3"/>
                  </a:lnTo>
                  <a:lnTo>
                    <a:pt x="86" y="6"/>
                  </a:lnTo>
                  <a:lnTo>
                    <a:pt x="89" y="1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7" name="Freeform 491"/>
            <p:cNvSpPr>
              <a:spLocks/>
            </p:cNvSpPr>
            <p:nvPr/>
          </p:nvSpPr>
          <p:spPr bwMode="auto">
            <a:xfrm>
              <a:off x="1939" y="2207"/>
              <a:ext cx="49" cy="96"/>
            </a:xfrm>
            <a:custGeom>
              <a:avLst/>
              <a:gdLst>
                <a:gd name="T0" fmla="*/ 40 w 49"/>
                <a:gd name="T1" fmla="*/ 3 h 96"/>
                <a:gd name="T2" fmla="*/ 46 w 49"/>
                <a:gd name="T3" fmla="*/ 13 h 96"/>
                <a:gd name="T4" fmla="*/ 49 w 49"/>
                <a:gd name="T5" fmla="*/ 22 h 96"/>
                <a:gd name="T6" fmla="*/ 49 w 49"/>
                <a:gd name="T7" fmla="*/ 31 h 96"/>
                <a:gd name="T8" fmla="*/ 46 w 49"/>
                <a:gd name="T9" fmla="*/ 40 h 96"/>
                <a:gd name="T10" fmla="*/ 40 w 49"/>
                <a:gd name="T11" fmla="*/ 50 h 96"/>
                <a:gd name="T12" fmla="*/ 37 w 49"/>
                <a:gd name="T13" fmla="*/ 62 h 96"/>
                <a:gd name="T14" fmla="*/ 34 w 49"/>
                <a:gd name="T15" fmla="*/ 71 h 96"/>
                <a:gd name="T16" fmla="*/ 34 w 49"/>
                <a:gd name="T17" fmla="*/ 81 h 96"/>
                <a:gd name="T18" fmla="*/ 31 w 49"/>
                <a:gd name="T19" fmla="*/ 84 h 96"/>
                <a:gd name="T20" fmla="*/ 31 w 49"/>
                <a:gd name="T21" fmla="*/ 87 h 96"/>
                <a:gd name="T22" fmla="*/ 31 w 49"/>
                <a:gd name="T23" fmla="*/ 87 h 96"/>
                <a:gd name="T24" fmla="*/ 28 w 49"/>
                <a:gd name="T25" fmla="*/ 90 h 96"/>
                <a:gd name="T26" fmla="*/ 28 w 49"/>
                <a:gd name="T27" fmla="*/ 71 h 96"/>
                <a:gd name="T28" fmla="*/ 31 w 49"/>
                <a:gd name="T29" fmla="*/ 56 h 96"/>
                <a:gd name="T30" fmla="*/ 37 w 49"/>
                <a:gd name="T31" fmla="*/ 40 h 96"/>
                <a:gd name="T32" fmla="*/ 43 w 49"/>
                <a:gd name="T33" fmla="*/ 25 h 96"/>
                <a:gd name="T34" fmla="*/ 43 w 49"/>
                <a:gd name="T35" fmla="*/ 25 h 96"/>
                <a:gd name="T36" fmla="*/ 43 w 49"/>
                <a:gd name="T37" fmla="*/ 22 h 96"/>
                <a:gd name="T38" fmla="*/ 40 w 49"/>
                <a:gd name="T39" fmla="*/ 19 h 96"/>
                <a:gd name="T40" fmla="*/ 37 w 49"/>
                <a:gd name="T41" fmla="*/ 19 h 96"/>
                <a:gd name="T42" fmla="*/ 37 w 49"/>
                <a:gd name="T43" fmla="*/ 16 h 96"/>
                <a:gd name="T44" fmla="*/ 37 w 49"/>
                <a:gd name="T45" fmla="*/ 13 h 96"/>
                <a:gd name="T46" fmla="*/ 34 w 49"/>
                <a:gd name="T47" fmla="*/ 10 h 96"/>
                <a:gd name="T48" fmla="*/ 31 w 49"/>
                <a:gd name="T49" fmla="*/ 10 h 96"/>
                <a:gd name="T50" fmla="*/ 25 w 49"/>
                <a:gd name="T51" fmla="*/ 10 h 96"/>
                <a:gd name="T52" fmla="*/ 22 w 49"/>
                <a:gd name="T53" fmla="*/ 28 h 96"/>
                <a:gd name="T54" fmla="*/ 19 w 49"/>
                <a:gd name="T55" fmla="*/ 47 h 96"/>
                <a:gd name="T56" fmla="*/ 15 w 49"/>
                <a:gd name="T57" fmla="*/ 65 h 96"/>
                <a:gd name="T58" fmla="*/ 12 w 49"/>
                <a:gd name="T59" fmla="*/ 84 h 96"/>
                <a:gd name="T60" fmla="*/ 9 w 49"/>
                <a:gd name="T61" fmla="*/ 87 h 96"/>
                <a:gd name="T62" fmla="*/ 9 w 49"/>
                <a:gd name="T63" fmla="*/ 90 h 96"/>
                <a:gd name="T64" fmla="*/ 6 w 49"/>
                <a:gd name="T65" fmla="*/ 93 h 96"/>
                <a:gd name="T66" fmla="*/ 0 w 49"/>
                <a:gd name="T67" fmla="*/ 96 h 96"/>
                <a:gd name="T68" fmla="*/ 3 w 49"/>
                <a:gd name="T69" fmla="*/ 87 h 96"/>
                <a:gd name="T70" fmla="*/ 6 w 49"/>
                <a:gd name="T71" fmla="*/ 78 h 96"/>
                <a:gd name="T72" fmla="*/ 9 w 49"/>
                <a:gd name="T73" fmla="*/ 68 h 96"/>
                <a:gd name="T74" fmla="*/ 12 w 49"/>
                <a:gd name="T75" fmla="*/ 59 h 96"/>
                <a:gd name="T76" fmla="*/ 12 w 49"/>
                <a:gd name="T77" fmla="*/ 47 h 96"/>
                <a:gd name="T78" fmla="*/ 15 w 49"/>
                <a:gd name="T79" fmla="*/ 37 h 96"/>
                <a:gd name="T80" fmla="*/ 19 w 49"/>
                <a:gd name="T81" fmla="*/ 28 h 96"/>
                <a:gd name="T82" fmla="*/ 19 w 49"/>
                <a:gd name="T83" fmla="*/ 19 h 96"/>
                <a:gd name="T84" fmla="*/ 12 w 49"/>
                <a:gd name="T85" fmla="*/ 13 h 96"/>
                <a:gd name="T86" fmla="*/ 12 w 49"/>
                <a:gd name="T87" fmla="*/ 6 h 96"/>
                <a:gd name="T88" fmla="*/ 15 w 49"/>
                <a:gd name="T89" fmla="*/ 6 h 96"/>
                <a:gd name="T90" fmla="*/ 19 w 49"/>
                <a:gd name="T91" fmla="*/ 3 h 96"/>
                <a:gd name="T92" fmla="*/ 25 w 49"/>
                <a:gd name="T93" fmla="*/ 0 h 96"/>
                <a:gd name="T94" fmla="*/ 25 w 49"/>
                <a:gd name="T95" fmla="*/ 3 h 96"/>
                <a:gd name="T96" fmla="*/ 28 w 49"/>
                <a:gd name="T97" fmla="*/ 3 h 96"/>
                <a:gd name="T98" fmla="*/ 31 w 49"/>
                <a:gd name="T99" fmla="*/ 3 h 96"/>
                <a:gd name="T100" fmla="*/ 31 w 49"/>
                <a:gd name="T101" fmla="*/ 3 h 96"/>
                <a:gd name="T102" fmla="*/ 34 w 49"/>
                <a:gd name="T103" fmla="*/ 3 h 96"/>
                <a:gd name="T104" fmla="*/ 37 w 49"/>
                <a:gd name="T105" fmla="*/ 3 h 96"/>
                <a:gd name="T106" fmla="*/ 37 w 49"/>
                <a:gd name="T107" fmla="*/ 3 h 96"/>
                <a:gd name="T108" fmla="*/ 40 w 49"/>
                <a:gd name="T109" fmla="*/ 3 h 96"/>
                <a:gd name="T110" fmla="*/ 40 w 49"/>
                <a:gd name="T111" fmla="*/ 3 h 9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9"/>
                <a:gd name="T169" fmla="*/ 0 h 96"/>
                <a:gd name="T170" fmla="*/ 49 w 49"/>
                <a:gd name="T171" fmla="*/ 96 h 9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9" h="96">
                  <a:moveTo>
                    <a:pt x="40" y="3"/>
                  </a:moveTo>
                  <a:lnTo>
                    <a:pt x="46" y="13"/>
                  </a:lnTo>
                  <a:lnTo>
                    <a:pt x="49" y="22"/>
                  </a:lnTo>
                  <a:lnTo>
                    <a:pt x="49" y="31"/>
                  </a:lnTo>
                  <a:lnTo>
                    <a:pt x="46" y="40"/>
                  </a:lnTo>
                  <a:lnTo>
                    <a:pt x="40" y="50"/>
                  </a:lnTo>
                  <a:lnTo>
                    <a:pt x="37" y="62"/>
                  </a:lnTo>
                  <a:lnTo>
                    <a:pt x="34" y="71"/>
                  </a:lnTo>
                  <a:lnTo>
                    <a:pt x="34" y="81"/>
                  </a:lnTo>
                  <a:lnTo>
                    <a:pt x="31" y="84"/>
                  </a:lnTo>
                  <a:lnTo>
                    <a:pt x="31" y="87"/>
                  </a:lnTo>
                  <a:lnTo>
                    <a:pt x="28" y="90"/>
                  </a:lnTo>
                  <a:lnTo>
                    <a:pt x="28" y="71"/>
                  </a:lnTo>
                  <a:lnTo>
                    <a:pt x="31" y="56"/>
                  </a:lnTo>
                  <a:lnTo>
                    <a:pt x="37" y="40"/>
                  </a:lnTo>
                  <a:lnTo>
                    <a:pt x="43" y="25"/>
                  </a:lnTo>
                  <a:lnTo>
                    <a:pt x="43" y="22"/>
                  </a:lnTo>
                  <a:lnTo>
                    <a:pt x="40" y="19"/>
                  </a:lnTo>
                  <a:lnTo>
                    <a:pt x="37" y="19"/>
                  </a:lnTo>
                  <a:lnTo>
                    <a:pt x="37" y="16"/>
                  </a:lnTo>
                  <a:lnTo>
                    <a:pt x="37" y="13"/>
                  </a:lnTo>
                  <a:lnTo>
                    <a:pt x="34" y="10"/>
                  </a:lnTo>
                  <a:lnTo>
                    <a:pt x="31" y="10"/>
                  </a:lnTo>
                  <a:lnTo>
                    <a:pt x="25" y="10"/>
                  </a:lnTo>
                  <a:lnTo>
                    <a:pt x="22" y="28"/>
                  </a:lnTo>
                  <a:lnTo>
                    <a:pt x="19" y="47"/>
                  </a:lnTo>
                  <a:lnTo>
                    <a:pt x="15" y="65"/>
                  </a:lnTo>
                  <a:lnTo>
                    <a:pt x="12" y="84"/>
                  </a:lnTo>
                  <a:lnTo>
                    <a:pt x="9" y="87"/>
                  </a:lnTo>
                  <a:lnTo>
                    <a:pt x="9" y="90"/>
                  </a:lnTo>
                  <a:lnTo>
                    <a:pt x="6" y="93"/>
                  </a:lnTo>
                  <a:lnTo>
                    <a:pt x="0" y="96"/>
                  </a:lnTo>
                  <a:lnTo>
                    <a:pt x="3" y="87"/>
                  </a:lnTo>
                  <a:lnTo>
                    <a:pt x="6" y="78"/>
                  </a:lnTo>
                  <a:lnTo>
                    <a:pt x="9" y="68"/>
                  </a:lnTo>
                  <a:lnTo>
                    <a:pt x="12" y="59"/>
                  </a:lnTo>
                  <a:lnTo>
                    <a:pt x="12" y="47"/>
                  </a:lnTo>
                  <a:lnTo>
                    <a:pt x="15" y="37"/>
                  </a:lnTo>
                  <a:lnTo>
                    <a:pt x="19" y="28"/>
                  </a:lnTo>
                  <a:lnTo>
                    <a:pt x="19" y="19"/>
                  </a:lnTo>
                  <a:lnTo>
                    <a:pt x="12" y="13"/>
                  </a:lnTo>
                  <a:lnTo>
                    <a:pt x="12" y="6"/>
                  </a:lnTo>
                  <a:lnTo>
                    <a:pt x="15" y="6"/>
                  </a:lnTo>
                  <a:lnTo>
                    <a:pt x="19" y="3"/>
                  </a:lnTo>
                  <a:lnTo>
                    <a:pt x="25" y="0"/>
                  </a:lnTo>
                  <a:lnTo>
                    <a:pt x="25" y="3"/>
                  </a:lnTo>
                  <a:lnTo>
                    <a:pt x="28" y="3"/>
                  </a:lnTo>
                  <a:lnTo>
                    <a:pt x="31" y="3"/>
                  </a:lnTo>
                  <a:lnTo>
                    <a:pt x="34" y="3"/>
                  </a:lnTo>
                  <a:lnTo>
                    <a:pt x="37" y="3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8" name="Freeform 492"/>
            <p:cNvSpPr>
              <a:spLocks/>
            </p:cNvSpPr>
            <p:nvPr/>
          </p:nvSpPr>
          <p:spPr bwMode="auto">
            <a:xfrm>
              <a:off x="2100" y="2210"/>
              <a:ext cx="27" cy="90"/>
            </a:xfrm>
            <a:custGeom>
              <a:avLst/>
              <a:gdLst>
                <a:gd name="T0" fmla="*/ 27 w 27"/>
                <a:gd name="T1" fmla="*/ 10 h 90"/>
                <a:gd name="T2" fmla="*/ 27 w 27"/>
                <a:gd name="T3" fmla="*/ 16 h 90"/>
                <a:gd name="T4" fmla="*/ 24 w 27"/>
                <a:gd name="T5" fmla="*/ 22 h 90"/>
                <a:gd name="T6" fmla="*/ 21 w 27"/>
                <a:gd name="T7" fmla="*/ 31 h 90"/>
                <a:gd name="T8" fmla="*/ 18 w 27"/>
                <a:gd name="T9" fmla="*/ 37 h 90"/>
                <a:gd name="T10" fmla="*/ 6 w 27"/>
                <a:gd name="T11" fmla="*/ 90 h 90"/>
                <a:gd name="T12" fmla="*/ 6 w 27"/>
                <a:gd name="T13" fmla="*/ 90 h 90"/>
                <a:gd name="T14" fmla="*/ 6 w 27"/>
                <a:gd name="T15" fmla="*/ 90 h 90"/>
                <a:gd name="T16" fmla="*/ 3 w 27"/>
                <a:gd name="T17" fmla="*/ 90 h 90"/>
                <a:gd name="T18" fmla="*/ 0 w 27"/>
                <a:gd name="T19" fmla="*/ 90 h 90"/>
                <a:gd name="T20" fmla="*/ 3 w 27"/>
                <a:gd name="T21" fmla="*/ 81 h 90"/>
                <a:gd name="T22" fmla="*/ 3 w 27"/>
                <a:gd name="T23" fmla="*/ 71 h 90"/>
                <a:gd name="T24" fmla="*/ 6 w 27"/>
                <a:gd name="T25" fmla="*/ 62 h 90"/>
                <a:gd name="T26" fmla="*/ 9 w 27"/>
                <a:gd name="T27" fmla="*/ 50 h 90"/>
                <a:gd name="T28" fmla="*/ 9 w 27"/>
                <a:gd name="T29" fmla="*/ 41 h 90"/>
                <a:gd name="T30" fmla="*/ 12 w 27"/>
                <a:gd name="T31" fmla="*/ 31 h 90"/>
                <a:gd name="T32" fmla="*/ 18 w 27"/>
                <a:gd name="T33" fmla="*/ 22 h 90"/>
                <a:gd name="T34" fmla="*/ 21 w 27"/>
                <a:gd name="T35" fmla="*/ 13 h 90"/>
                <a:gd name="T36" fmla="*/ 18 w 27"/>
                <a:gd name="T37" fmla="*/ 13 h 90"/>
                <a:gd name="T38" fmla="*/ 15 w 27"/>
                <a:gd name="T39" fmla="*/ 10 h 90"/>
                <a:gd name="T40" fmla="*/ 12 w 27"/>
                <a:gd name="T41" fmla="*/ 10 h 90"/>
                <a:gd name="T42" fmla="*/ 9 w 27"/>
                <a:gd name="T43" fmla="*/ 13 h 90"/>
                <a:gd name="T44" fmla="*/ 9 w 27"/>
                <a:gd name="T45" fmla="*/ 16 h 90"/>
                <a:gd name="T46" fmla="*/ 9 w 27"/>
                <a:gd name="T47" fmla="*/ 19 h 90"/>
                <a:gd name="T48" fmla="*/ 9 w 27"/>
                <a:gd name="T49" fmla="*/ 19 h 90"/>
                <a:gd name="T50" fmla="*/ 6 w 27"/>
                <a:gd name="T51" fmla="*/ 22 h 90"/>
                <a:gd name="T52" fmla="*/ 3 w 27"/>
                <a:gd name="T53" fmla="*/ 19 h 90"/>
                <a:gd name="T54" fmla="*/ 3 w 27"/>
                <a:gd name="T55" fmla="*/ 13 h 90"/>
                <a:gd name="T56" fmla="*/ 6 w 27"/>
                <a:gd name="T57" fmla="*/ 7 h 90"/>
                <a:gd name="T58" fmla="*/ 9 w 27"/>
                <a:gd name="T59" fmla="*/ 0 h 90"/>
                <a:gd name="T60" fmla="*/ 12 w 27"/>
                <a:gd name="T61" fmla="*/ 3 h 90"/>
                <a:gd name="T62" fmla="*/ 15 w 27"/>
                <a:gd name="T63" fmla="*/ 3 h 90"/>
                <a:gd name="T64" fmla="*/ 18 w 27"/>
                <a:gd name="T65" fmla="*/ 3 h 90"/>
                <a:gd name="T66" fmla="*/ 18 w 27"/>
                <a:gd name="T67" fmla="*/ 3 h 90"/>
                <a:gd name="T68" fmla="*/ 21 w 27"/>
                <a:gd name="T69" fmla="*/ 3 h 90"/>
                <a:gd name="T70" fmla="*/ 24 w 27"/>
                <a:gd name="T71" fmla="*/ 7 h 90"/>
                <a:gd name="T72" fmla="*/ 27 w 27"/>
                <a:gd name="T73" fmla="*/ 7 h 90"/>
                <a:gd name="T74" fmla="*/ 27 w 27"/>
                <a:gd name="T75" fmla="*/ 10 h 90"/>
                <a:gd name="T76" fmla="*/ 27 w 27"/>
                <a:gd name="T77" fmla="*/ 10 h 9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"/>
                <a:gd name="T118" fmla="*/ 0 h 90"/>
                <a:gd name="T119" fmla="*/ 27 w 27"/>
                <a:gd name="T120" fmla="*/ 90 h 9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" h="90">
                  <a:moveTo>
                    <a:pt x="27" y="10"/>
                  </a:moveTo>
                  <a:lnTo>
                    <a:pt x="27" y="16"/>
                  </a:lnTo>
                  <a:lnTo>
                    <a:pt x="24" y="22"/>
                  </a:lnTo>
                  <a:lnTo>
                    <a:pt x="21" y="31"/>
                  </a:lnTo>
                  <a:lnTo>
                    <a:pt x="18" y="37"/>
                  </a:lnTo>
                  <a:lnTo>
                    <a:pt x="6" y="90"/>
                  </a:lnTo>
                  <a:lnTo>
                    <a:pt x="3" y="90"/>
                  </a:lnTo>
                  <a:lnTo>
                    <a:pt x="0" y="90"/>
                  </a:lnTo>
                  <a:lnTo>
                    <a:pt x="3" y="81"/>
                  </a:lnTo>
                  <a:lnTo>
                    <a:pt x="3" y="71"/>
                  </a:lnTo>
                  <a:lnTo>
                    <a:pt x="6" y="62"/>
                  </a:lnTo>
                  <a:lnTo>
                    <a:pt x="9" y="50"/>
                  </a:lnTo>
                  <a:lnTo>
                    <a:pt x="9" y="41"/>
                  </a:lnTo>
                  <a:lnTo>
                    <a:pt x="12" y="31"/>
                  </a:lnTo>
                  <a:lnTo>
                    <a:pt x="18" y="22"/>
                  </a:lnTo>
                  <a:lnTo>
                    <a:pt x="21" y="13"/>
                  </a:lnTo>
                  <a:lnTo>
                    <a:pt x="18" y="13"/>
                  </a:lnTo>
                  <a:lnTo>
                    <a:pt x="15" y="10"/>
                  </a:lnTo>
                  <a:lnTo>
                    <a:pt x="12" y="10"/>
                  </a:lnTo>
                  <a:lnTo>
                    <a:pt x="9" y="13"/>
                  </a:lnTo>
                  <a:lnTo>
                    <a:pt x="9" y="16"/>
                  </a:lnTo>
                  <a:lnTo>
                    <a:pt x="9" y="19"/>
                  </a:lnTo>
                  <a:lnTo>
                    <a:pt x="6" y="22"/>
                  </a:lnTo>
                  <a:lnTo>
                    <a:pt x="3" y="19"/>
                  </a:lnTo>
                  <a:lnTo>
                    <a:pt x="3" y="13"/>
                  </a:lnTo>
                  <a:lnTo>
                    <a:pt x="6" y="7"/>
                  </a:lnTo>
                  <a:lnTo>
                    <a:pt x="9" y="0"/>
                  </a:lnTo>
                  <a:lnTo>
                    <a:pt x="12" y="3"/>
                  </a:lnTo>
                  <a:lnTo>
                    <a:pt x="15" y="3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4" y="7"/>
                  </a:lnTo>
                  <a:lnTo>
                    <a:pt x="27" y="7"/>
                  </a:lnTo>
                  <a:lnTo>
                    <a:pt x="27" y="1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89" name="Freeform 493"/>
            <p:cNvSpPr>
              <a:spLocks/>
            </p:cNvSpPr>
            <p:nvPr/>
          </p:nvSpPr>
          <p:spPr bwMode="auto">
            <a:xfrm>
              <a:off x="1874" y="2217"/>
              <a:ext cx="40" cy="89"/>
            </a:xfrm>
            <a:custGeom>
              <a:avLst/>
              <a:gdLst>
                <a:gd name="T0" fmla="*/ 31 w 40"/>
                <a:gd name="T1" fmla="*/ 6 h 89"/>
                <a:gd name="T2" fmla="*/ 31 w 40"/>
                <a:gd name="T3" fmla="*/ 9 h 89"/>
                <a:gd name="T4" fmla="*/ 28 w 40"/>
                <a:gd name="T5" fmla="*/ 9 h 89"/>
                <a:gd name="T6" fmla="*/ 25 w 40"/>
                <a:gd name="T7" fmla="*/ 12 h 89"/>
                <a:gd name="T8" fmla="*/ 28 w 40"/>
                <a:gd name="T9" fmla="*/ 15 h 89"/>
                <a:gd name="T10" fmla="*/ 31 w 40"/>
                <a:gd name="T11" fmla="*/ 18 h 89"/>
                <a:gd name="T12" fmla="*/ 34 w 40"/>
                <a:gd name="T13" fmla="*/ 18 h 89"/>
                <a:gd name="T14" fmla="*/ 37 w 40"/>
                <a:gd name="T15" fmla="*/ 18 h 89"/>
                <a:gd name="T16" fmla="*/ 40 w 40"/>
                <a:gd name="T17" fmla="*/ 18 h 89"/>
                <a:gd name="T18" fmla="*/ 37 w 40"/>
                <a:gd name="T19" fmla="*/ 27 h 89"/>
                <a:gd name="T20" fmla="*/ 34 w 40"/>
                <a:gd name="T21" fmla="*/ 37 h 89"/>
                <a:gd name="T22" fmla="*/ 31 w 40"/>
                <a:gd name="T23" fmla="*/ 43 h 89"/>
                <a:gd name="T24" fmla="*/ 28 w 40"/>
                <a:gd name="T25" fmla="*/ 52 h 89"/>
                <a:gd name="T26" fmla="*/ 25 w 40"/>
                <a:gd name="T27" fmla="*/ 61 h 89"/>
                <a:gd name="T28" fmla="*/ 22 w 40"/>
                <a:gd name="T29" fmla="*/ 71 h 89"/>
                <a:gd name="T30" fmla="*/ 19 w 40"/>
                <a:gd name="T31" fmla="*/ 80 h 89"/>
                <a:gd name="T32" fmla="*/ 16 w 40"/>
                <a:gd name="T33" fmla="*/ 89 h 89"/>
                <a:gd name="T34" fmla="*/ 0 w 40"/>
                <a:gd name="T35" fmla="*/ 89 h 89"/>
                <a:gd name="T36" fmla="*/ 3 w 40"/>
                <a:gd name="T37" fmla="*/ 80 h 89"/>
                <a:gd name="T38" fmla="*/ 6 w 40"/>
                <a:gd name="T39" fmla="*/ 71 h 89"/>
                <a:gd name="T40" fmla="*/ 9 w 40"/>
                <a:gd name="T41" fmla="*/ 58 h 89"/>
                <a:gd name="T42" fmla="*/ 12 w 40"/>
                <a:gd name="T43" fmla="*/ 49 h 89"/>
                <a:gd name="T44" fmla="*/ 16 w 40"/>
                <a:gd name="T45" fmla="*/ 40 h 89"/>
                <a:gd name="T46" fmla="*/ 19 w 40"/>
                <a:gd name="T47" fmla="*/ 27 h 89"/>
                <a:gd name="T48" fmla="*/ 22 w 40"/>
                <a:gd name="T49" fmla="*/ 18 h 89"/>
                <a:gd name="T50" fmla="*/ 22 w 40"/>
                <a:gd name="T51" fmla="*/ 9 h 89"/>
                <a:gd name="T52" fmla="*/ 22 w 40"/>
                <a:gd name="T53" fmla="*/ 6 h 89"/>
                <a:gd name="T54" fmla="*/ 22 w 40"/>
                <a:gd name="T55" fmla="*/ 3 h 89"/>
                <a:gd name="T56" fmla="*/ 22 w 40"/>
                <a:gd name="T57" fmla="*/ 3 h 89"/>
                <a:gd name="T58" fmla="*/ 22 w 40"/>
                <a:gd name="T59" fmla="*/ 0 h 89"/>
                <a:gd name="T60" fmla="*/ 25 w 40"/>
                <a:gd name="T61" fmla="*/ 0 h 89"/>
                <a:gd name="T62" fmla="*/ 28 w 40"/>
                <a:gd name="T63" fmla="*/ 3 h 89"/>
                <a:gd name="T64" fmla="*/ 31 w 40"/>
                <a:gd name="T65" fmla="*/ 3 h 89"/>
                <a:gd name="T66" fmla="*/ 31 w 40"/>
                <a:gd name="T67" fmla="*/ 6 h 89"/>
                <a:gd name="T68" fmla="*/ 31 w 40"/>
                <a:gd name="T69" fmla="*/ 6 h 8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0"/>
                <a:gd name="T106" fmla="*/ 0 h 89"/>
                <a:gd name="T107" fmla="*/ 40 w 40"/>
                <a:gd name="T108" fmla="*/ 89 h 8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0" h="89">
                  <a:moveTo>
                    <a:pt x="31" y="6"/>
                  </a:moveTo>
                  <a:lnTo>
                    <a:pt x="31" y="9"/>
                  </a:lnTo>
                  <a:lnTo>
                    <a:pt x="28" y="9"/>
                  </a:lnTo>
                  <a:lnTo>
                    <a:pt x="25" y="12"/>
                  </a:lnTo>
                  <a:lnTo>
                    <a:pt x="28" y="15"/>
                  </a:lnTo>
                  <a:lnTo>
                    <a:pt x="31" y="18"/>
                  </a:lnTo>
                  <a:lnTo>
                    <a:pt x="34" y="18"/>
                  </a:lnTo>
                  <a:lnTo>
                    <a:pt x="37" y="18"/>
                  </a:lnTo>
                  <a:lnTo>
                    <a:pt x="40" y="18"/>
                  </a:lnTo>
                  <a:lnTo>
                    <a:pt x="37" y="27"/>
                  </a:lnTo>
                  <a:lnTo>
                    <a:pt x="34" y="37"/>
                  </a:lnTo>
                  <a:lnTo>
                    <a:pt x="31" y="43"/>
                  </a:lnTo>
                  <a:lnTo>
                    <a:pt x="28" y="52"/>
                  </a:lnTo>
                  <a:lnTo>
                    <a:pt x="25" y="61"/>
                  </a:lnTo>
                  <a:lnTo>
                    <a:pt x="22" y="71"/>
                  </a:lnTo>
                  <a:lnTo>
                    <a:pt x="19" y="80"/>
                  </a:lnTo>
                  <a:lnTo>
                    <a:pt x="16" y="89"/>
                  </a:lnTo>
                  <a:lnTo>
                    <a:pt x="0" y="89"/>
                  </a:lnTo>
                  <a:lnTo>
                    <a:pt x="3" y="80"/>
                  </a:lnTo>
                  <a:lnTo>
                    <a:pt x="6" y="71"/>
                  </a:lnTo>
                  <a:lnTo>
                    <a:pt x="9" y="58"/>
                  </a:lnTo>
                  <a:lnTo>
                    <a:pt x="12" y="49"/>
                  </a:lnTo>
                  <a:lnTo>
                    <a:pt x="16" y="40"/>
                  </a:lnTo>
                  <a:lnTo>
                    <a:pt x="19" y="27"/>
                  </a:lnTo>
                  <a:lnTo>
                    <a:pt x="22" y="18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8" y="3"/>
                  </a:lnTo>
                  <a:lnTo>
                    <a:pt x="31" y="3"/>
                  </a:lnTo>
                  <a:lnTo>
                    <a:pt x="31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0" name="Freeform 494"/>
            <p:cNvSpPr>
              <a:spLocks/>
            </p:cNvSpPr>
            <p:nvPr/>
          </p:nvSpPr>
          <p:spPr bwMode="auto">
            <a:xfrm>
              <a:off x="2075" y="2223"/>
              <a:ext cx="25" cy="86"/>
            </a:xfrm>
            <a:custGeom>
              <a:avLst/>
              <a:gdLst>
                <a:gd name="T0" fmla="*/ 25 w 25"/>
                <a:gd name="T1" fmla="*/ 3 h 86"/>
                <a:gd name="T2" fmla="*/ 22 w 25"/>
                <a:gd name="T3" fmla="*/ 3 h 86"/>
                <a:gd name="T4" fmla="*/ 18 w 25"/>
                <a:gd name="T5" fmla="*/ 6 h 86"/>
                <a:gd name="T6" fmla="*/ 15 w 25"/>
                <a:gd name="T7" fmla="*/ 6 h 86"/>
                <a:gd name="T8" fmla="*/ 12 w 25"/>
                <a:gd name="T9" fmla="*/ 6 h 86"/>
                <a:gd name="T10" fmla="*/ 9 w 25"/>
                <a:gd name="T11" fmla="*/ 9 h 86"/>
                <a:gd name="T12" fmla="*/ 6 w 25"/>
                <a:gd name="T13" fmla="*/ 9 h 86"/>
                <a:gd name="T14" fmla="*/ 9 w 25"/>
                <a:gd name="T15" fmla="*/ 12 h 86"/>
                <a:gd name="T16" fmla="*/ 9 w 25"/>
                <a:gd name="T17" fmla="*/ 15 h 86"/>
                <a:gd name="T18" fmla="*/ 15 w 25"/>
                <a:gd name="T19" fmla="*/ 21 h 86"/>
                <a:gd name="T20" fmla="*/ 15 w 25"/>
                <a:gd name="T21" fmla="*/ 28 h 86"/>
                <a:gd name="T22" fmla="*/ 15 w 25"/>
                <a:gd name="T23" fmla="*/ 34 h 86"/>
                <a:gd name="T24" fmla="*/ 15 w 25"/>
                <a:gd name="T25" fmla="*/ 40 h 86"/>
                <a:gd name="T26" fmla="*/ 15 w 25"/>
                <a:gd name="T27" fmla="*/ 46 h 86"/>
                <a:gd name="T28" fmla="*/ 12 w 25"/>
                <a:gd name="T29" fmla="*/ 52 h 86"/>
                <a:gd name="T30" fmla="*/ 9 w 25"/>
                <a:gd name="T31" fmla="*/ 58 h 86"/>
                <a:gd name="T32" fmla="*/ 9 w 25"/>
                <a:gd name="T33" fmla="*/ 65 h 86"/>
                <a:gd name="T34" fmla="*/ 6 w 25"/>
                <a:gd name="T35" fmla="*/ 68 h 86"/>
                <a:gd name="T36" fmla="*/ 6 w 25"/>
                <a:gd name="T37" fmla="*/ 77 h 86"/>
                <a:gd name="T38" fmla="*/ 6 w 25"/>
                <a:gd name="T39" fmla="*/ 83 h 86"/>
                <a:gd name="T40" fmla="*/ 0 w 25"/>
                <a:gd name="T41" fmla="*/ 86 h 86"/>
                <a:gd name="T42" fmla="*/ 0 w 25"/>
                <a:gd name="T43" fmla="*/ 77 h 86"/>
                <a:gd name="T44" fmla="*/ 3 w 25"/>
                <a:gd name="T45" fmla="*/ 68 h 86"/>
                <a:gd name="T46" fmla="*/ 6 w 25"/>
                <a:gd name="T47" fmla="*/ 55 h 86"/>
                <a:gd name="T48" fmla="*/ 9 w 25"/>
                <a:gd name="T49" fmla="*/ 46 h 86"/>
                <a:gd name="T50" fmla="*/ 9 w 25"/>
                <a:gd name="T51" fmla="*/ 37 h 86"/>
                <a:gd name="T52" fmla="*/ 9 w 25"/>
                <a:gd name="T53" fmla="*/ 28 h 86"/>
                <a:gd name="T54" fmla="*/ 6 w 25"/>
                <a:gd name="T55" fmla="*/ 18 h 86"/>
                <a:gd name="T56" fmla="*/ 0 w 25"/>
                <a:gd name="T57" fmla="*/ 9 h 86"/>
                <a:gd name="T58" fmla="*/ 0 w 25"/>
                <a:gd name="T59" fmla="*/ 6 h 86"/>
                <a:gd name="T60" fmla="*/ 3 w 25"/>
                <a:gd name="T61" fmla="*/ 3 h 86"/>
                <a:gd name="T62" fmla="*/ 6 w 25"/>
                <a:gd name="T63" fmla="*/ 0 h 86"/>
                <a:gd name="T64" fmla="*/ 9 w 25"/>
                <a:gd name="T65" fmla="*/ 0 h 86"/>
                <a:gd name="T66" fmla="*/ 15 w 25"/>
                <a:gd name="T67" fmla="*/ 0 h 86"/>
                <a:gd name="T68" fmla="*/ 18 w 25"/>
                <a:gd name="T69" fmla="*/ 0 h 86"/>
                <a:gd name="T70" fmla="*/ 22 w 25"/>
                <a:gd name="T71" fmla="*/ 0 h 86"/>
                <a:gd name="T72" fmla="*/ 25 w 25"/>
                <a:gd name="T73" fmla="*/ 3 h 86"/>
                <a:gd name="T74" fmla="*/ 25 w 25"/>
                <a:gd name="T75" fmla="*/ 3 h 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"/>
                <a:gd name="T115" fmla="*/ 0 h 86"/>
                <a:gd name="T116" fmla="*/ 25 w 25"/>
                <a:gd name="T117" fmla="*/ 86 h 8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" h="86">
                  <a:moveTo>
                    <a:pt x="25" y="3"/>
                  </a:moveTo>
                  <a:lnTo>
                    <a:pt x="22" y="3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2" y="6"/>
                  </a:lnTo>
                  <a:lnTo>
                    <a:pt x="9" y="9"/>
                  </a:lnTo>
                  <a:lnTo>
                    <a:pt x="6" y="9"/>
                  </a:lnTo>
                  <a:lnTo>
                    <a:pt x="9" y="12"/>
                  </a:lnTo>
                  <a:lnTo>
                    <a:pt x="9" y="15"/>
                  </a:lnTo>
                  <a:lnTo>
                    <a:pt x="15" y="21"/>
                  </a:lnTo>
                  <a:lnTo>
                    <a:pt x="15" y="28"/>
                  </a:lnTo>
                  <a:lnTo>
                    <a:pt x="15" y="34"/>
                  </a:lnTo>
                  <a:lnTo>
                    <a:pt x="15" y="40"/>
                  </a:lnTo>
                  <a:lnTo>
                    <a:pt x="15" y="46"/>
                  </a:lnTo>
                  <a:lnTo>
                    <a:pt x="12" y="52"/>
                  </a:lnTo>
                  <a:lnTo>
                    <a:pt x="9" y="58"/>
                  </a:lnTo>
                  <a:lnTo>
                    <a:pt x="9" y="65"/>
                  </a:lnTo>
                  <a:lnTo>
                    <a:pt x="6" y="68"/>
                  </a:lnTo>
                  <a:lnTo>
                    <a:pt x="6" y="77"/>
                  </a:lnTo>
                  <a:lnTo>
                    <a:pt x="6" y="83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3" y="68"/>
                  </a:lnTo>
                  <a:lnTo>
                    <a:pt x="6" y="55"/>
                  </a:lnTo>
                  <a:lnTo>
                    <a:pt x="9" y="46"/>
                  </a:lnTo>
                  <a:lnTo>
                    <a:pt x="9" y="37"/>
                  </a:lnTo>
                  <a:lnTo>
                    <a:pt x="9" y="28"/>
                  </a:lnTo>
                  <a:lnTo>
                    <a:pt x="6" y="18"/>
                  </a:lnTo>
                  <a:lnTo>
                    <a:pt x="0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6" y="0"/>
                  </a:lnTo>
                  <a:lnTo>
                    <a:pt x="9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5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1" name="Freeform 495"/>
            <p:cNvSpPr>
              <a:spLocks/>
            </p:cNvSpPr>
            <p:nvPr/>
          </p:nvSpPr>
          <p:spPr bwMode="auto">
            <a:xfrm>
              <a:off x="1383" y="2275"/>
              <a:ext cx="161" cy="149"/>
            </a:xfrm>
            <a:custGeom>
              <a:avLst/>
              <a:gdLst>
                <a:gd name="T0" fmla="*/ 31 w 161"/>
                <a:gd name="T1" fmla="*/ 44 h 149"/>
                <a:gd name="T2" fmla="*/ 31 w 161"/>
                <a:gd name="T3" fmla="*/ 53 h 149"/>
                <a:gd name="T4" fmla="*/ 34 w 161"/>
                <a:gd name="T5" fmla="*/ 62 h 149"/>
                <a:gd name="T6" fmla="*/ 34 w 161"/>
                <a:gd name="T7" fmla="*/ 71 h 149"/>
                <a:gd name="T8" fmla="*/ 37 w 161"/>
                <a:gd name="T9" fmla="*/ 78 h 149"/>
                <a:gd name="T10" fmla="*/ 37 w 161"/>
                <a:gd name="T11" fmla="*/ 87 h 149"/>
                <a:gd name="T12" fmla="*/ 43 w 161"/>
                <a:gd name="T13" fmla="*/ 93 h 149"/>
                <a:gd name="T14" fmla="*/ 49 w 161"/>
                <a:gd name="T15" fmla="*/ 99 h 149"/>
                <a:gd name="T16" fmla="*/ 59 w 161"/>
                <a:gd name="T17" fmla="*/ 105 h 149"/>
                <a:gd name="T18" fmla="*/ 68 w 161"/>
                <a:gd name="T19" fmla="*/ 108 h 149"/>
                <a:gd name="T20" fmla="*/ 80 w 161"/>
                <a:gd name="T21" fmla="*/ 112 h 149"/>
                <a:gd name="T22" fmla="*/ 89 w 161"/>
                <a:gd name="T23" fmla="*/ 115 h 149"/>
                <a:gd name="T24" fmla="*/ 99 w 161"/>
                <a:gd name="T25" fmla="*/ 121 h 149"/>
                <a:gd name="T26" fmla="*/ 111 w 161"/>
                <a:gd name="T27" fmla="*/ 124 h 149"/>
                <a:gd name="T28" fmla="*/ 120 w 161"/>
                <a:gd name="T29" fmla="*/ 127 h 149"/>
                <a:gd name="T30" fmla="*/ 133 w 161"/>
                <a:gd name="T31" fmla="*/ 130 h 149"/>
                <a:gd name="T32" fmla="*/ 142 w 161"/>
                <a:gd name="T33" fmla="*/ 130 h 149"/>
                <a:gd name="T34" fmla="*/ 145 w 161"/>
                <a:gd name="T35" fmla="*/ 115 h 149"/>
                <a:gd name="T36" fmla="*/ 145 w 161"/>
                <a:gd name="T37" fmla="*/ 99 h 149"/>
                <a:gd name="T38" fmla="*/ 142 w 161"/>
                <a:gd name="T39" fmla="*/ 84 h 149"/>
                <a:gd name="T40" fmla="*/ 142 w 161"/>
                <a:gd name="T41" fmla="*/ 68 h 149"/>
                <a:gd name="T42" fmla="*/ 145 w 161"/>
                <a:gd name="T43" fmla="*/ 65 h 149"/>
                <a:gd name="T44" fmla="*/ 148 w 161"/>
                <a:gd name="T45" fmla="*/ 65 h 149"/>
                <a:gd name="T46" fmla="*/ 151 w 161"/>
                <a:gd name="T47" fmla="*/ 68 h 149"/>
                <a:gd name="T48" fmla="*/ 157 w 161"/>
                <a:gd name="T49" fmla="*/ 68 h 149"/>
                <a:gd name="T50" fmla="*/ 157 w 161"/>
                <a:gd name="T51" fmla="*/ 78 h 149"/>
                <a:gd name="T52" fmla="*/ 157 w 161"/>
                <a:gd name="T53" fmla="*/ 90 h 149"/>
                <a:gd name="T54" fmla="*/ 161 w 161"/>
                <a:gd name="T55" fmla="*/ 99 h 149"/>
                <a:gd name="T56" fmla="*/ 161 w 161"/>
                <a:gd name="T57" fmla="*/ 112 h 149"/>
                <a:gd name="T58" fmla="*/ 161 w 161"/>
                <a:gd name="T59" fmla="*/ 121 h 149"/>
                <a:gd name="T60" fmla="*/ 161 w 161"/>
                <a:gd name="T61" fmla="*/ 130 h 149"/>
                <a:gd name="T62" fmla="*/ 157 w 161"/>
                <a:gd name="T63" fmla="*/ 139 h 149"/>
                <a:gd name="T64" fmla="*/ 151 w 161"/>
                <a:gd name="T65" fmla="*/ 149 h 149"/>
                <a:gd name="T66" fmla="*/ 142 w 161"/>
                <a:gd name="T67" fmla="*/ 149 h 149"/>
                <a:gd name="T68" fmla="*/ 133 w 161"/>
                <a:gd name="T69" fmla="*/ 146 h 149"/>
                <a:gd name="T70" fmla="*/ 123 w 161"/>
                <a:gd name="T71" fmla="*/ 146 h 149"/>
                <a:gd name="T72" fmla="*/ 114 w 161"/>
                <a:gd name="T73" fmla="*/ 142 h 149"/>
                <a:gd name="T74" fmla="*/ 108 w 161"/>
                <a:gd name="T75" fmla="*/ 139 h 149"/>
                <a:gd name="T76" fmla="*/ 99 w 161"/>
                <a:gd name="T77" fmla="*/ 139 h 149"/>
                <a:gd name="T78" fmla="*/ 89 w 161"/>
                <a:gd name="T79" fmla="*/ 136 h 149"/>
                <a:gd name="T80" fmla="*/ 80 w 161"/>
                <a:gd name="T81" fmla="*/ 133 h 149"/>
                <a:gd name="T82" fmla="*/ 74 w 161"/>
                <a:gd name="T83" fmla="*/ 130 h 149"/>
                <a:gd name="T84" fmla="*/ 65 w 161"/>
                <a:gd name="T85" fmla="*/ 127 h 149"/>
                <a:gd name="T86" fmla="*/ 59 w 161"/>
                <a:gd name="T87" fmla="*/ 121 h 149"/>
                <a:gd name="T88" fmla="*/ 49 w 161"/>
                <a:gd name="T89" fmla="*/ 118 h 149"/>
                <a:gd name="T90" fmla="*/ 43 w 161"/>
                <a:gd name="T91" fmla="*/ 115 h 149"/>
                <a:gd name="T92" fmla="*/ 37 w 161"/>
                <a:gd name="T93" fmla="*/ 108 h 149"/>
                <a:gd name="T94" fmla="*/ 31 w 161"/>
                <a:gd name="T95" fmla="*/ 102 h 149"/>
                <a:gd name="T96" fmla="*/ 25 w 161"/>
                <a:gd name="T97" fmla="*/ 96 h 149"/>
                <a:gd name="T98" fmla="*/ 22 w 161"/>
                <a:gd name="T99" fmla="*/ 84 h 149"/>
                <a:gd name="T100" fmla="*/ 22 w 161"/>
                <a:gd name="T101" fmla="*/ 74 h 149"/>
                <a:gd name="T102" fmla="*/ 18 w 161"/>
                <a:gd name="T103" fmla="*/ 62 h 149"/>
                <a:gd name="T104" fmla="*/ 15 w 161"/>
                <a:gd name="T105" fmla="*/ 50 h 149"/>
                <a:gd name="T106" fmla="*/ 9 w 161"/>
                <a:gd name="T107" fmla="*/ 37 h 149"/>
                <a:gd name="T108" fmla="*/ 6 w 161"/>
                <a:gd name="T109" fmla="*/ 28 h 149"/>
                <a:gd name="T110" fmla="*/ 3 w 161"/>
                <a:gd name="T111" fmla="*/ 16 h 149"/>
                <a:gd name="T112" fmla="*/ 0 w 161"/>
                <a:gd name="T113" fmla="*/ 3 h 149"/>
                <a:gd name="T114" fmla="*/ 3 w 161"/>
                <a:gd name="T115" fmla="*/ 0 h 149"/>
                <a:gd name="T116" fmla="*/ 6 w 161"/>
                <a:gd name="T117" fmla="*/ 0 h 149"/>
                <a:gd name="T118" fmla="*/ 9 w 161"/>
                <a:gd name="T119" fmla="*/ 3 h 149"/>
                <a:gd name="T120" fmla="*/ 15 w 161"/>
                <a:gd name="T121" fmla="*/ 3 h 149"/>
                <a:gd name="T122" fmla="*/ 31 w 161"/>
                <a:gd name="T123" fmla="*/ 44 h 149"/>
                <a:gd name="T124" fmla="*/ 31 w 161"/>
                <a:gd name="T125" fmla="*/ 44 h 14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1"/>
                <a:gd name="T190" fmla="*/ 0 h 149"/>
                <a:gd name="T191" fmla="*/ 161 w 161"/>
                <a:gd name="T192" fmla="*/ 149 h 14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1" h="149">
                  <a:moveTo>
                    <a:pt x="31" y="44"/>
                  </a:moveTo>
                  <a:lnTo>
                    <a:pt x="31" y="53"/>
                  </a:lnTo>
                  <a:lnTo>
                    <a:pt x="34" y="62"/>
                  </a:lnTo>
                  <a:lnTo>
                    <a:pt x="34" y="71"/>
                  </a:lnTo>
                  <a:lnTo>
                    <a:pt x="37" y="78"/>
                  </a:lnTo>
                  <a:lnTo>
                    <a:pt x="37" y="87"/>
                  </a:lnTo>
                  <a:lnTo>
                    <a:pt x="43" y="93"/>
                  </a:lnTo>
                  <a:lnTo>
                    <a:pt x="49" y="99"/>
                  </a:lnTo>
                  <a:lnTo>
                    <a:pt x="59" y="105"/>
                  </a:lnTo>
                  <a:lnTo>
                    <a:pt x="68" y="108"/>
                  </a:lnTo>
                  <a:lnTo>
                    <a:pt x="80" y="112"/>
                  </a:lnTo>
                  <a:lnTo>
                    <a:pt x="89" y="115"/>
                  </a:lnTo>
                  <a:lnTo>
                    <a:pt x="99" y="121"/>
                  </a:lnTo>
                  <a:lnTo>
                    <a:pt x="111" y="124"/>
                  </a:lnTo>
                  <a:lnTo>
                    <a:pt x="120" y="127"/>
                  </a:lnTo>
                  <a:lnTo>
                    <a:pt x="133" y="130"/>
                  </a:lnTo>
                  <a:lnTo>
                    <a:pt x="142" y="130"/>
                  </a:lnTo>
                  <a:lnTo>
                    <a:pt x="145" y="115"/>
                  </a:lnTo>
                  <a:lnTo>
                    <a:pt x="145" y="99"/>
                  </a:lnTo>
                  <a:lnTo>
                    <a:pt x="142" y="84"/>
                  </a:lnTo>
                  <a:lnTo>
                    <a:pt x="142" y="68"/>
                  </a:lnTo>
                  <a:lnTo>
                    <a:pt x="145" y="65"/>
                  </a:lnTo>
                  <a:lnTo>
                    <a:pt x="148" y="65"/>
                  </a:lnTo>
                  <a:lnTo>
                    <a:pt x="151" y="68"/>
                  </a:lnTo>
                  <a:lnTo>
                    <a:pt x="157" y="68"/>
                  </a:lnTo>
                  <a:lnTo>
                    <a:pt x="157" y="78"/>
                  </a:lnTo>
                  <a:lnTo>
                    <a:pt x="157" y="90"/>
                  </a:lnTo>
                  <a:lnTo>
                    <a:pt x="161" y="99"/>
                  </a:lnTo>
                  <a:lnTo>
                    <a:pt x="161" y="112"/>
                  </a:lnTo>
                  <a:lnTo>
                    <a:pt x="161" y="121"/>
                  </a:lnTo>
                  <a:lnTo>
                    <a:pt x="161" y="130"/>
                  </a:lnTo>
                  <a:lnTo>
                    <a:pt x="157" y="139"/>
                  </a:lnTo>
                  <a:lnTo>
                    <a:pt x="151" y="149"/>
                  </a:lnTo>
                  <a:lnTo>
                    <a:pt x="142" y="149"/>
                  </a:lnTo>
                  <a:lnTo>
                    <a:pt x="133" y="146"/>
                  </a:lnTo>
                  <a:lnTo>
                    <a:pt x="123" y="146"/>
                  </a:lnTo>
                  <a:lnTo>
                    <a:pt x="114" y="142"/>
                  </a:lnTo>
                  <a:lnTo>
                    <a:pt x="108" y="139"/>
                  </a:lnTo>
                  <a:lnTo>
                    <a:pt x="99" y="139"/>
                  </a:lnTo>
                  <a:lnTo>
                    <a:pt x="89" y="136"/>
                  </a:lnTo>
                  <a:lnTo>
                    <a:pt x="80" y="133"/>
                  </a:lnTo>
                  <a:lnTo>
                    <a:pt x="74" y="130"/>
                  </a:lnTo>
                  <a:lnTo>
                    <a:pt x="65" y="127"/>
                  </a:lnTo>
                  <a:lnTo>
                    <a:pt x="59" y="121"/>
                  </a:lnTo>
                  <a:lnTo>
                    <a:pt x="49" y="118"/>
                  </a:lnTo>
                  <a:lnTo>
                    <a:pt x="43" y="115"/>
                  </a:lnTo>
                  <a:lnTo>
                    <a:pt x="37" y="108"/>
                  </a:lnTo>
                  <a:lnTo>
                    <a:pt x="31" y="102"/>
                  </a:lnTo>
                  <a:lnTo>
                    <a:pt x="25" y="96"/>
                  </a:lnTo>
                  <a:lnTo>
                    <a:pt x="22" y="84"/>
                  </a:lnTo>
                  <a:lnTo>
                    <a:pt x="22" y="74"/>
                  </a:lnTo>
                  <a:lnTo>
                    <a:pt x="18" y="62"/>
                  </a:lnTo>
                  <a:lnTo>
                    <a:pt x="15" y="50"/>
                  </a:lnTo>
                  <a:lnTo>
                    <a:pt x="9" y="37"/>
                  </a:lnTo>
                  <a:lnTo>
                    <a:pt x="6" y="28"/>
                  </a:lnTo>
                  <a:lnTo>
                    <a:pt x="3" y="16"/>
                  </a:lnTo>
                  <a:lnTo>
                    <a:pt x="0" y="3"/>
                  </a:lnTo>
                  <a:lnTo>
                    <a:pt x="3" y="0"/>
                  </a:lnTo>
                  <a:lnTo>
                    <a:pt x="6" y="0"/>
                  </a:lnTo>
                  <a:lnTo>
                    <a:pt x="9" y="3"/>
                  </a:lnTo>
                  <a:lnTo>
                    <a:pt x="15" y="3"/>
                  </a:lnTo>
                  <a:lnTo>
                    <a:pt x="31" y="44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2" name="Freeform 496"/>
            <p:cNvSpPr>
              <a:spLocks/>
            </p:cNvSpPr>
            <p:nvPr/>
          </p:nvSpPr>
          <p:spPr bwMode="auto">
            <a:xfrm>
              <a:off x="1426" y="2278"/>
              <a:ext cx="93" cy="44"/>
            </a:xfrm>
            <a:custGeom>
              <a:avLst/>
              <a:gdLst>
                <a:gd name="T0" fmla="*/ 59 w 93"/>
                <a:gd name="T1" fmla="*/ 22 h 44"/>
                <a:gd name="T2" fmla="*/ 62 w 93"/>
                <a:gd name="T3" fmla="*/ 22 h 44"/>
                <a:gd name="T4" fmla="*/ 68 w 93"/>
                <a:gd name="T5" fmla="*/ 25 h 44"/>
                <a:gd name="T6" fmla="*/ 71 w 93"/>
                <a:gd name="T7" fmla="*/ 25 h 44"/>
                <a:gd name="T8" fmla="*/ 77 w 93"/>
                <a:gd name="T9" fmla="*/ 28 h 44"/>
                <a:gd name="T10" fmla="*/ 80 w 93"/>
                <a:gd name="T11" fmla="*/ 28 h 44"/>
                <a:gd name="T12" fmla="*/ 87 w 93"/>
                <a:gd name="T13" fmla="*/ 31 h 44"/>
                <a:gd name="T14" fmla="*/ 90 w 93"/>
                <a:gd name="T15" fmla="*/ 34 h 44"/>
                <a:gd name="T16" fmla="*/ 93 w 93"/>
                <a:gd name="T17" fmla="*/ 37 h 44"/>
                <a:gd name="T18" fmla="*/ 90 w 93"/>
                <a:gd name="T19" fmla="*/ 41 h 44"/>
                <a:gd name="T20" fmla="*/ 87 w 93"/>
                <a:gd name="T21" fmla="*/ 41 h 44"/>
                <a:gd name="T22" fmla="*/ 84 w 93"/>
                <a:gd name="T23" fmla="*/ 44 h 44"/>
                <a:gd name="T24" fmla="*/ 80 w 93"/>
                <a:gd name="T25" fmla="*/ 44 h 44"/>
                <a:gd name="T26" fmla="*/ 77 w 93"/>
                <a:gd name="T27" fmla="*/ 41 h 44"/>
                <a:gd name="T28" fmla="*/ 71 w 93"/>
                <a:gd name="T29" fmla="*/ 41 h 44"/>
                <a:gd name="T30" fmla="*/ 68 w 93"/>
                <a:gd name="T31" fmla="*/ 41 h 44"/>
                <a:gd name="T32" fmla="*/ 65 w 93"/>
                <a:gd name="T33" fmla="*/ 41 h 44"/>
                <a:gd name="T34" fmla="*/ 56 w 93"/>
                <a:gd name="T35" fmla="*/ 37 h 44"/>
                <a:gd name="T36" fmla="*/ 50 w 93"/>
                <a:gd name="T37" fmla="*/ 34 h 44"/>
                <a:gd name="T38" fmla="*/ 40 w 93"/>
                <a:gd name="T39" fmla="*/ 31 h 44"/>
                <a:gd name="T40" fmla="*/ 34 w 93"/>
                <a:gd name="T41" fmla="*/ 28 h 44"/>
                <a:gd name="T42" fmla="*/ 25 w 93"/>
                <a:gd name="T43" fmla="*/ 25 h 44"/>
                <a:gd name="T44" fmla="*/ 19 w 93"/>
                <a:gd name="T45" fmla="*/ 19 h 44"/>
                <a:gd name="T46" fmla="*/ 13 w 93"/>
                <a:gd name="T47" fmla="*/ 16 h 44"/>
                <a:gd name="T48" fmla="*/ 3 w 93"/>
                <a:gd name="T49" fmla="*/ 10 h 44"/>
                <a:gd name="T50" fmla="*/ 3 w 93"/>
                <a:gd name="T51" fmla="*/ 7 h 44"/>
                <a:gd name="T52" fmla="*/ 0 w 93"/>
                <a:gd name="T53" fmla="*/ 3 h 44"/>
                <a:gd name="T54" fmla="*/ 3 w 93"/>
                <a:gd name="T55" fmla="*/ 0 h 44"/>
                <a:gd name="T56" fmla="*/ 6 w 93"/>
                <a:gd name="T57" fmla="*/ 0 h 44"/>
                <a:gd name="T58" fmla="*/ 13 w 93"/>
                <a:gd name="T59" fmla="*/ 0 h 44"/>
                <a:gd name="T60" fmla="*/ 19 w 93"/>
                <a:gd name="T61" fmla="*/ 3 h 44"/>
                <a:gd name="T62" fmla="*/ 25 w 93"/>
                <a:gd name="T63" fmla="*/ 7 h 44"/>
                <a:gd name="T64" fmla="*/ 31 w 93"/>
                <a:gd name="T65" fmla="*/ 10 h 44"/>
                <a:gd name="T66" fmla="*/ 37 w 93"/>
                <a:gd name="T67" fmla="*/ 13 h 44"/>
                <a:gd name="T68" fmla="*/ 43 w 93"/>
                <a:gd name="T69" fmla="*/ 16 h 44"/>
                <a:gd name="T70" fmla="*/ 53 w 93"/>
                <a:gd name="T71" fmla="*/ 19 h 44"/>
                <a:gd name="T72" fmla="*/ 59 w 93"/>
                <a:gd name="T73" fmla="*/ 22 h 44"/>
                <a:gd name="T74" fmla="*/ 59 w 93"/>
                <a:gd name="T75" fmla="*/ 22 h 4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3"/>
                <a:gd name="T115" fmla="*/ 0 h 44"/>
                <a:gd name="T116" fmla="*/ 93 w 93"/>
                <a:gd name="T117" fmla="*/ 44 h 4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3" h="44">
                  <a:moveTo>
                    <a:pt x="59" y="22"/>
                  </a:moveTo>
                  <a:lnTo>
                    <a:pt x="62" y="22"/>
                  </a:lnTo>
                  <a:lnTo>
                    <a:pt x="68" y="25"/>
                  </a:lnTo>
                  <a:lnTo>
                    <a:pt x="71" y="25"/>
                  </a:lnTo>
                  <a:lnTo>
                    <a:pt x="77" y="28"/>
                  </a:lnTo>
                  <a:lnTo>
                    <a:pt x="80" y="28"/>
                  </a:lnTo>
                  <a:lnTo>
                    <a:pt x="87" y="31"/>
                  </a:lnTo>
                  <a:lnTo>
                    <a:pt x="90" y="34"/>
                  </a:lnTo>
                  <a:lnTo>
                    <a:pt x="93" y="37"/>
                  </a:lnTo>
                  <a:lnTo>
                    <a:pt x="90" y="41"/>
                  </a:lnTo>
                  <a:lnTo>
                    <a:pt x="87" y="41"/>
                  </a:lnTo>
                  <a:lnTo>
                    <a:pt x="84" y="44"/>
                  </a:lnTo>
                  <a:lnTo>
                    <a:pt x="80" y="44"/>
                  </a:lnTo>
                  <a:lnTo>
                    <a:pt x="77" y="41"/>
                  </a:lnTo>
                  <a:lnTo>
                    <a:pt x="71" y="41"/>
                  </a:lnTo>
                  <a:lnTo>
                    <a:pt x="68" y="41"/>
                  </a:lnTo>
                  <a:lnTo>
                    <a:pt x="65" y="41"/>
                  </a:lnTo>
                  <a:lnTo>
                    <a:pt x="56" y="37"/>
                  </a:lnTo>
                  <a:lnTo>
                    <a:pt x="50" y="34"/>
                  </a:lnTo>
                  <a:lnTo>
                    <a:pt x="40" y="31"/>
                  </a:lnTo>
                  <a:lnTo>
                    <a:pt x="34" y="28"/>
                  </a:lnTo>
                  <a:lnTo>
                    <a:pt x="25" y="25"/>
                  </a:lnTo>
                  <a:lnTo>
                    <a:pt x="19" y="19"/>
                  </a:lnTo>
                  <a:lnTo>
                    <a:pt x="13" y="16"/>
                  </a:lnTo>
                  <a:lnTo>
                    <a:pt x="3" y="10"/>
                  </a:lnTo>
                  <a:lnTo>
                    <a:pt x="3" y="7"/>
                  </a:lnTo>
                  <a:lnTo>
                    <a:pt x="0" y="3"/>
                  </a:lnTo>
                  <a:lnTo>
                    <a:pt x="3" y="0"/>
                  </a:lnTo>
                  <a:lnTo>
                    <a:pt x="6" y="0"/>
                  </a:lnTo>
                  <a:lnTo>
                    <a:pt x="13" y="0"/>
                  </a:lnTo>
                  <a:lnTo>
                    <a:pt x="19" y="3"/>
                  </a:lnTo>
                  <a:lnTo>
                    <a:pt x="25" y="7"/>
                  </a:lnTo>
                  <a:lnTo>
                    <a:pt x="31" y="10"/>
                  </a:lnTo>
                  <a:lnTo>
                    <a:pt x="37" y="13"/>
                  </a:lnTo>
                  <a:lnTo>
                    <a:pt x="43" y="16"/>
                  </a:lnTo>
                  <a:lnTo>
                    <a:pt x="53" y="19"/>
                  </a:lnTo>
                  <a:lnTo>
                    <a:pt x="59" y="2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3" name="Freeform 497"/>
            <p:cNvSpPr>
              <a:spLocks/>
            </p:cNvSpPr>
            <p:nvPr/>
          </p:nvSpPr>
          <p:spPr bwMode="auto">
            <a:xfrm>
              <a:off x="1550" y="2294"/>
              <a:ext cx="105" cy="120"/>
            </a:xfrm>
            <a:custGeom>
              <a:avLst/>
              <a:gdLst>
                <a:gd name="T0" fmla="*/ 105 w 105"/>
                <a:gd name="T1" fmla="*/ 9 h 120"/>
                <a:gd name="T2" fmla="*/ 102 w 105"/>
                <a:gd name="T3" fmla="*/ 89 h 120"/>
                <a:gd name="T4" fmla="*/ 95 w 105"/>
                <a:gd name="T5" fmla="*/ 96 h 120"/>
                <a:gd name="T6" fmla="*/ 86 w 105"/>
                <a:gd name="T7" fmla="*/ 102 h 120"/>
                <a:gd name="T8" fmla="*/ 77 w 105"/>
                <a:gd name="T9" fmla="*/ 105 h 120"/>
                <a:gd name="T10" fmla="*/ 68 w 105"/>
                <a:gd name="T11" fmla="*/ 108 h 120"/>
                <a:gd name="T12" fmla="*/ 58 w 105"/>
                <a:gd name="T13" fmla="*/ 111 h 120"/>
                <a:gd name="T14" fmla="*/ 49 w 105"/>
                <a:gd name="T15" fmla="*/ 114 h 120"/>
                <a:gd name="T16" fmla="*/ 40 w 105"/>
                <a:gd name="T17" fmla="*/ 117 h 120"/>
                <a:gd name="T18" fmla="*/ 31 w 105"/>
                <a:gd name="T19" fmla="*/ 120 h 120"/>
                <a:gd name="T20" fmla="*/ 28 w 105"/>
                <a:gd name="T21" fmla="*/ 117 h 120"/>
                <a:gd name="T22" fmla="*/ 34 w 105"/>
                <a:gd name="T23" fmla="*/ 111 h 120"/>
                <a:gd name="T24" fmla="*/ 40 w 105"/>
                <a:gd name="T25" fmla="*/ 108 h 120"/>
                <a:gd name="T26" fmla="*/ 46 w 105"/>
                <a:gd name="T27" fmla="*/ 102 h 120"/>
                <a:gd name="T28" fmla="*/ 55 w 105"/>
                <a:gd name="T29" fmla="*/ 99 h 120"/>
                <a:gd name="T30" fmla="*/ 62 w 105"/>
                <a:gd name="T31" fmla="*/ 96 h 120"/>
                <a:gd name="T32" fmla="*/ 71 w 105"/>
                <a:gd name="T33" fmla="*/ 93 h 120"/>
                <a:gd name="T34" fmla="*/ 77 w 105"/>
                <a:gd name="T35" fmla="*/ 89 h 120"/>
                <a:gd name="T36" fmla="*/ 86 w 105"/>
                <a:gd name="T37" fmla="*/ 83 h 120"/>
                <a:gd name="T38" fmla="*/ 89 w 105"/>
                <a:gd name="T39" fmla="*/ 18 h 120"/>
                <a:gd name="T40" fmla="*/ 80 w 105"/>
                <a:gd name="T41" fmla="*/ 18 h 120"/>
                <a:gd name="T42" fmla="*/ 68 w 105"/>
                <a:gd name="T43" fmla="*/ 18 h 120"/>
                <a:gd name="T44" fmla="*/ 58 w 105"/>
                <a:gd name="T45" fmla="*/ 21 h 120"/>
                <a:gd name="T46" fmla="*/ 49 w 105"/>
                <a:gd name="T47" fmla="*/ 21 h 120"/>
                <a:gd name="T48" fmla="*/ 37 w 105"/>
                <a:gd name="T49" fmla="*/ 25 h 120"/>
                <a:gd name="T50" fmla="*/ 28 w 105"/>
                <a:gd name="T51" fmla="*/ 28 h 120"/>
                <a:gd name="T52" fmla="*/ 15 w 105"/>
                <a:gd name="T53" fmla="*/ 28 h 120"/>
                <a:gd name="T54" fmla="*/ 6 w 105"/>
                <a:gd name="T55" fmla="*/ 31 h 120"/>
                <a:gd name="T56" fmla="*/ 0 w 105"/>
                <a:gd name="T57" fmla="*/ 21 h 120"/>
                <a:gd name="T58" fmla="*/ 6 w 105"/>
                <a:gd name="T59" fmla="*/ 15 h 120"/>
                <a:gd name="T60" fmla="*/ 15 w 105"/>
                <a:gd name="T61" fmla="*/ 15 h 120"/>
                <a:gd name="T62" fmla="*/ 28 w 105"/>
                <a:gd name="T63" fmla="*/ 12 h 120"/>
                <a:gd name="T64" fmla="*/ 37 w 105"/>
                <a:gd name="T65" fmla="*/ 9 h 120"/>
                <a:gd name="T66" fmla="*/ 46 w 105"/>
                <a:gd name="T67" fmla="*/ 9 h 120"/>
                <a:gd name="T68" fmla="*/ 58 w 105"/>
                <a:gd name="T69" fmla="*/ 6 h 120"/>
                <a:gd name="T70" fmla="*/ 68 w 105"/>
                <a:gd name="T71" fmla="*/ 3 h 120"/>
                <a:gd name="T72" fmla="*/ 80 w 105"/>
                <a:gd name="T73" fmla="*/ 3 h 120"/>
                <a:gd name="T74" fmla="*/ 89 w 105"/>
                <a:gd name="T75" fmla="*/ 0 h 120"/>
                <a:gd name="T76" fmla="*/ 92 w 105"/>
                <a:gd name="T77" fmla="*/ 0 h 120"/>
                <a:gd name="T78" fmla="*/ 95 w 105"/>
                <a:gd name="T79" fmla="*/ 0 h 120"/>
                <a:gd name="T80" fmla="*/ 99 w 105"/>
                <a:gd name="T81" fmla="*/ 0 h 120"/>
                <a:gd name="T82" fmla="*/ 99 w 105"/>
                <a:gd name="T83" fmla="*/ 3 h 120"/>
                <a:gd name="T84" fmla="*/ 102 w 105"/>
                <a:gd name="T85" fmla="*/ 3 h 120"/>
                <a:gd name="T86" fmla="*/ 105 w 105"/>
                <a:gd name="T87" fmla="*/ 6 h 120"/>
                <a:gd name="T88" fmla="*/ 105 w 105"/>
                <a:gd name="T89" fmla="*/ 9 h 120"/>
                <a:gd name="T90" fmla="*/ 105 w 105"/>
                <a:gd name="T91" fmla="*/ 9 h 120"/>
                <a:gd name="T92" fmla="*/ 105 w 105"/>
                <a:gd name="T93" fmla="*/ 9 h 12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05"/>
                <a:gd name="T142" fmla="*/ 0 h 120"/>
                <a:gd name="T143" fmla="*/ 105 w 105"/>
                <a:gd name="T144" fmla="*/ 120 h 12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05" h="120">
                  <a:moveTo>
                    <a:pt x="105" y="9"/>
                  </a:moveTo>
                  <a:lnTo>
                    <a:pt x="102" y="89"/>
                  </a:lnTo>
                  <a:lnTo>
                    <a:pt x="95" y="96"/>
                  </a:lnTo>
                  <a:lnTo>
                    <a:pt x="86" y="102"/>
                  </a:lnTo>
                  <a:lnTo>
                    <a:pt x="77" y="105"/>
                  </a:lnTo>
                  <a:lnTo>
                    <a:pt x="68" y="108"/>
                  </a:lnTo>
                  <a:lnTo>
                    <a:pt x="58" y="111"/>
                  </a:lnTo>
                  <a:lnTo>
                    <a:pt x="49" y="114"/>
                  </a:lnTo>
                  <a:lnTo>
                    <a:pt x="40" y="117"/>
                  </a:lnTo>
                  <a:lnTo>
                    <a:pt x="31" y="120"/>
                  </a:lnTo>
                  <a:lnTo>
                    <a:pt x="28" y="117"/>
                  </a:lnTo>
                  <a:lnTo>
                    <a:pt x="34" y="111"/>
                  </a:lnTo>
                  <a:lnTo>
                    <a:pt x="40" y="108"/>
                  </a:lnTo>
                  <a:lnTo>
                    <a:pt x="46" y="102"/>
                  </a:lnTo>
                  <a:lnTo>
                    <a:pt x="55" y="99"/>
                  </a:lnTo>
                  <a:lnTo>
                    <a:pt x="62" y="96"/>
                  </a:lnTo>
                  <a:lnTo>
                    <a:pt x="71" y="93"/>
                  </a:lnTo>
                  <a:lnTo>
                    <a:pt x="77" y="89"/>
                  </a:lnTo>
                  <a:lnTo>
                    <a:pt x="86" y="83"/>
                  </a:lnTo>
                  <a:lnTo>
                    <a:pt x="89" y="18"/>
                  </a:lnTo>
                  <a:lnTo>
                    <a:pt x="80" y="18"/>
                  </a:lnTo>
                  <a:lnTo>
                    <a:pt x="68" y="18"/>
                  </a:lnTo>
                  <a:lnTo>
                    <a:pt x="58" y="21"/>
                  </a:lnTo>
                  <a:lnTo>
                    <a:pt x="49" y="21"/>
                  </a:lnTo>
                  <a:lnTo>
                    <a:pt x="37" y="25"/>
                  </a:lnTo>
                  <a:lnTo>
                    <a:pt x="28" y="28"/>
                  </a:lnTo>
                  <a:lnTo>
                    <a:pt x="15" y="28"/>
                  </a:lnTo>
                  <a:lnTo>
                    <a:pt x="6" y="31"/>
                  </a:lnTo>
                  <a:lnTo>
                    <a:pt x="0" y="21"/>
                  </a:lnTo>
                  <a:lnTo>
                    <a:pt x="6" y="15"/>
                  </a:lnTo>
                  <a:lnTo>
                    <a:pt x="15" y="15"/>
                  </a:lnTo>
                  <a:lnTo>
                    <a:pt x="28" y="12"/>
                  </a:lnTo>
                  <a:lnTo>
                    <a:pt x="37" y="9"/>
                  </a:lnTo>
                  <a:lnTo>
                    <a:pt x="46" y="9"/>
                  </a:lnTo>
                  <a:lnTo>
                    <a:pt x="58" y="6"/>
                  </a:lnTo>
                  <a:lnTo>
                    <a:pt x="68" y="3"/>
                  </a:lnTo>
                  <a:lnTo>
                    <a:pt x="80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95" y="0"/>
                  </a:lnTo>
                  <a:lnTo>
                    <a:pt x="99" y="0"/>
                  </a:lnTo>
                  <a:lnTo>
                    <a:pt x="99" y="3"/>
                  </a:lnTo>
                  <a:lnTo>
                    <a:pt x="102" y="3"/>
                  </a:lnTo>
                  <a:lnTo>
                    <a:pt x="105" y="6"/>
                  </a:lnTo>
                  <a:lnTo>
                    <a:pt x="105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4" name="Freeform 498"/>
            <p:cNvSpPr>
              <a:spLocks/>
            </p:cNvSpPr>
            <p:nvPr/>
          </p:nvSpPr>
          <p:spPr bwMode="auto">
            <a:xfrm>
              <a:off x="1979" y="2328"/>
              <a:ext cx="46" cy="86"/>
            </a:xfrm>
            <a:custGeom>
              <a:avLst/>
              <a:gdLst>
                <a:gd name="T0" fmla="*/ 46 w 46"/>
                <a:gd name="T1" fmla="*/ 12 h 86"/>
                <a:gd name="T2" fmla="*/ 46 w 46"/>
                <a:gd name="T3" fmla="*/ 18 h 86"/>
                <a:gd name="T4" fmla="*/ 43 w 46"/>
                <a:gd name="T5" fmla="*/ 21 h 86"/>
                <a:gd name="T6" fmla="*/ 40 w 46"/>
                <a:gd name="T7" fmla="*/ 25 h 86"/>
                <a:gd name="T8" fmla="*/ 34 w 46"/>
                <a:gd name="T9" fmla="*/ 28 h 86"/>
                <a:gd name="T10" fmla="*/ 34 w 46"/>
                <a:gd name="T11" fmla="*/ 43 h 86"/>
                <a:gd name="T12" fmla="*/ 31 w 46"/>
                <a:gd name="T13" fmla="*/ 59 h 86"/>
                <a:gd name="T14" fmla="*/ 25 w 46"/>
                <a:gd name="T15" fmla="*/ 71 h 86"/>
                <a:gd name="T16" fmla="*/ 22 w 46"/>
                <a:gd name="T17" fmla="*/ 86 h 86"/>
                <a:gd name="T18" fmla="*/ 19 w 46"/>
                <a:gd name="T19" fmla="*/ 86 h 86"/>
                <a:gd name="T20" fmla="*/ 22 w 46"/>
                <a:gd name="T21" fmla="*/ 71 h 86"/>
                <a:gd name="T22" fmla="*/ 25 w 46"/>
                <a:gd name="T23" fmla="*/ 55 h 86"/>
                <a:gd name="T24" fmla="*/ 28 w 46"/>
                <a:gd name="T25" fmla="*/ 40 h 86"/>
                <a:gd name="T26" fmla="*/ 31 w 46"/>
                <a:gd name="T27" fmla="*/ 21 h 86"/>
                <a:gd name="T28" fmla="*/ 34 w 46"/>
                <a:gd name="T29" fmla="*/ 18 h 86"/>
                <a:gd name="T30" fmla="*/ 37 w 46"/>
                <a:gd name="T31" fmla="*/ 18 h 86"/>
                <a:gd name="T32" fmla="*/ 37 w 46"/>
                <a:gd name="T33" fmla="*/ 18 h 86"/>
                <a:gd name="T34" fmla="*/ 37 w 46"/>
                <a:gd name="T35" fmla="*/ 18 h 86"/>
                <a:gd name="T36" fmla="*/ 37 w 46"/>
                <a:gd name="T37" fmla="*/ 18 h 86"/>
                <a:gd name="T38" fmla="*/ 34 w 46"/>
                <a:gd name="T39" fmla="*/ 15 h 86"/>
                <a:gd name="T40" fmla="*/ 34 w 46"/>
                <a:gd name="T41" fmla="*/ 12 h 86"/>
                <a:gd name="T42" fmla="*/ 31 w 46"/>
                <a:gd name="T43" fmla="*/ 12 h 86"/>
                <a:gd name="T44" fmla="*/ 25 w 46"/>
                <a:gd name="T45" fmla="*/ 12 h 86"/>
                <a:gd name="T46" fmla="*/ 22 w 46"/>
                <a:gd name="T47" fmla="*/ 12 h 86"/>
                <a:gd name="T48" fmla="*/ 19 w 46"/>
                <a:gd name="T49" fmla="*/ 9 h 86"/>
                <a:gd name="T50" fmla="*/ 16 w 46"/>
                <a:gd name="T51" fmla="*/ 9 h 86"/>
                <a:gd name="T52" fmla="*/ 13 w 46"/>
                <a:gd name="T53" fmla="*/ 25 h 86"/>
                <a:gd name="T54" fmla="*/ 9 w 46"/>
                <a:gd name="T55" fmla="*/ 43 h 86"/>
                <a:gd name="T56" fmla="*/ 6 w 46"/>
                <a:gd name="T57" fmla="*/ 62 h 86"/>
                <a:gd name="T58" fmla="*/ 0 w 46"/>
                <a:gd name="T59" fmla="*/ 77 h 86"/>
                <a:gd name="T60" fmla="*/ 3 w 46"/>
                <a:gd name="T61" fmla="*/ 62 h 86"/>
                <a:gd name="T62" fmla="*/ 3 w 46"/>
                <a:gd name="T63" fmla="*/ 46 h 86"/>
                <a:gd name="T64" fmla="*/ 6 w 46"/>
                <a:gd name="T65" fmla="*/ 28 h 86"/>
                <a:gd name="T66" fmla="*/ 6 w 46"/>
                <a:gd name="T67" fmla="*/ 12 h 86"/>
                <a:gd name="T68" fmla="*/ 6 w 46"/>
                <a:gd name="T69" fmla="*/ 9 h 86"/>
                <a:gd name="T70" fmla="*/ 9 w 46"/>
                <a:gd name="T71" fmla="*/ 6 h 86"/>
                <a:gd name="T72" fmla="*/ 16 w 46"/>
                <a:gd name="T73" fmla="*/ 3 h 86"/>
                <a:gd name="T74" fmla="*/ 19 w 46"/>
                <a:gd name="T75" fmla="*/ 0 h 86"/>
                <a:gd name="T76" fmla="*/ 22 w 46"/>
                <a:gd name="T77" fmla="*/ 3 h 86"/>
                <a:gd name="T78" fmla="*/ 25 w 46"/>
                <a:gd name="T79" fmla="*/ 3 h 86"/>
                <a:gd name="T80" fmla="*/ 28 w 46"/>
                <a:gd name="T81" fmla="*/ 6 h 86"/>
                <a:gd name="T82" fmla="*/ 31 w 46"/>
                <a:gd name="T83" fmla="*/ 6 h 86"/>
                <a:gd name="T84" fmla="*/ 34 w 46"/>
                <a:gd name="T85" fmla="*/ 9 h 86"/>
                <a:gd name="T86" fmla="*/ 40 w 46"/>
                <a:gd name="T87" fmla="*/ 9 h 86"/>
                <a:gd name="T88" fmla="*/ 43 w 46"/>
                <a:gd name="T89" fmla="*/ 12 h 86"/>
                <a:gd name="T90" fmla="*/ 46 w 46"/>
                <a:gd name="T91" fmla="*/ 12 h 86"/>
                <a:gd name="T92" fmla="*/ 46 w 46"/>
                <a:gd name="T93" fmla="*/ 12 h 8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46"/>
                <a:gd name="T142" fmla="*/ 0 h 86"/>
                <a:gd name="T143" fmla="*/ 46 w 46"/>
                <a:gd name="T144" fmla="*/ 86 h 8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46" h="86">
                  <a:moveTo>
                    <a:pt x="46" y="12"/>
                  </a:moveTo>
                  <a:lnTo>
                    <a:pt x="46" y="18"/>
                  </a:lnTo>
                  <a:lnTo>
                    <a:pt x="43" y="21"/>
                  </a:lnTo>
                  <a:lnTo>
                    <a:pt x="40" y="25"/>
                  </a:lnTo>
                  <a:lnTo>
                    <a:pt x="34" y="28"/>
                  </a:lnTo>
                  <a:lnTo>
                    <a:pt x="34" y="43"/>
                  </a:lnTo>
                  <a:lnTo>
                    <a:pt x="31" y="59"/>
                  </a:lnTo>
                  <a:lnTo>
                    <a:pt x="25" y="71"/>
                  </a:lnTo>
                  <a:lnTo>
                    <a:pt x="22" y="86"/>
                  </a:lnTo>
                  <a:lnTo>
                    <a:pt x="19" y="86"/>
                  </a:lnTo>
                  <a:lnTo>
                    <a:pt x="22" y="71"/>
                  </a:lnTo>
                  <a:lnTo>
                    <a:pt x="25" y="55"/>
                  </a:lnTo>
                  <a:lnTo>
                    <a:pt x="28" y="40"/>
                  </a:lnTo>
                  <a:lnTo>
                    <a:pt x="31" y="21"/>
                  </a:lnTo>
                  <a:lnTo>
                    <a:pt x="34" y="18"/>
                  </a:lnTo>
                  <a:lnTo>
                    <a:pt x="37" y="18"/>
                  </a:lnTo>
                  <a:lnTo>
                    <a:pt x="34" y="15"/>
                  </a:lnTo>
                  <a:lnTo>
                    <a:pt x="34" y="12"/>
                  </a:lnTo>
                  <a:lnTo>
                    <a:pt x="31" y="12"/>
                  </a:lnTo>
                  <a:lnTo>
                    <a:pt x="25" y="12"/>
                  </a:lnTo>
                  <a:lnTo>
                    <a:pt x="22" y="12"/>
                  </a:lnTo>
                  <a:lnTo>
                    <a:pt x="19" y="9"/>
                  </a:lnTo>
                  <a:lnTo>
                    <a:pt x="16" y="9"/>
                  </a:lnTo>
                  <a:lnTo>
                    <a:pt x="13" y="25"/>
                  </a:lnTo>
                  <a:lnTo>
                    <a:pt x="9" y="43"/>
                  </a:lnTo>
                  <a:lnTo>
                    <a:pt x="6" y="62"/>
                  </a:lnTo>
                  <a:lnTo>
                    <a:pt x="0" y="77"/>
                  </a:lnTo>
                  <a:lnTo>
                    <a:pt x="3" y="62"/>
                  </a:lnTo>
                  <a:lnTo>
                    <a:pt x="3" y="46"/>
                  </a:lnTo>
                  <a:lnTo>
                    <a:pt x="6" y="28"/>
                  </a:lnTo>
                  <a:lnTo>
                    <a:pt x="6" y="12"/>
                  </a:lnTo>
                  <a:lnTo>
                    <a:pt x="6" y="9"/>
                  </a:lnTo>
                  <a:lnTo>
                    <a:pt x="9" y="6"/>
                  </a:lnTo>
                  <a:lnTo>
                    <a:pt x="16" y="3"/>
                  </a:lnTo>
                  <a:lnTo>
                    <a:pt x="19" y="0"/>
                  </a:lnTo>
                  <a:lnTo>
                    <a:pt x="22" y="3"/>
                  </a:lnTo>
                  <a:lnTo>
                    <a:pt x="25" y="3"/>
                  </a:lnTo>
                  <a:lnTo>
                    <a:pt x="28" y="6"/>
                  </a:lnTo>
                  <a:lnTo>
                    <a:pt x="31" y="6"/>
                  </a:lnTo>
                  <a:lnTo>
                    <a:pt x="34" y="9"/>
                  </a:lnTo>
                  <a:lnTo>
                    <a:pt x="40" y="9"/>
                  </a:lnTo>
                  <a:lnTo>
                    <a:pt x="43" y="12"/>
                  </a:lnTo>
                  <a:lnTo>
                    <a:pt x="46" y="1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5" name="Freeform 499"/>
            <p:cNvSpPr>
              <a:spLocks/>
            </p:cNvSpPr>
            <p:nvPr/>
          </p:nvSpPr>
          <p:spPr bwMode="auto">
            <a:xfrm>
              <a:off x="1862" y="2337"/>
              <a:ext cx="24" cy="74"/>
            </a:xfrm>
            <a:custGeom>
              <a:avLst/>
              <a:gdLst>
                <a:gd name="T0" fmla="*/ 24 w 24"/>
                <a:gd name="T1" fmla="*/ 9 h 74"/>
                <a:gd name="T2" fmla="*/ 21 w 24"/>
                <a:gd name="T3" fmla="*/ 16 h 74"/>
                <a:gd name="T4" fmla="*/ 21 w 24"/>
                <a:gd name="T5" fmla="*/ 22 h 74"/>
                <a:gd name="T6" fmla="*/ 18 w 24"/>
                <a:gd name="T7" fmla="*/ 28 h 74"/>
                <a:gd name="T8" fmla="*/ 15 w 24"/>
                <a:gd name="T9" fmla="*/ 34 h 74"/>
                <a:gd name="T10" fmla="*/ 15 w 24"/>
                <a:gd name="T11" fmla="*/ 43 h 74"/>
                <a:gd name="T12" fmla="*/ 12 w 24"/>
                <a:gd name="T13" fmla="*/ 50 h 74"/>
                <a:gd name="T14" fmla="*/ 9 w 24"/>
                <a:gd name="T15" fmla="*/ 56 h 74"/>
                <a:gd name="T16" fmla="*/ 9 w 24"/>
                <a:gd name="T17" fmla="*/ 62 h 74"/>
                <a:gd name="T18" fmla="*/ 3 w 24"/>
                <a:gd name="T19" fmla="*/ 74 h 74"/>
                <a:gd name="T20" fmla="*/ 0 w 24"/>
                <a:gd name="T21" fmla="*/ 68 h 74"/>
                <a:gd name="T22" fmla="*/ 0 w 24"/>
                <a:gd name="T23" fmla="*/ 62 h 74"/>
                <a:gd name="T24" fmla="*/ 3 w 24"/>
                <a:gd name="T25" fmla="*/ 56 h 74"/>
                <a:gd name="T26" fmla="*/ 3 w 24"/>
                <a:gd name="T27" fmla="*/ 50 h 74"/>
                <a:gd name="T28" fmla="*/ 6 w 24"/>
                <a:gd name="T29" fmla="*/ 43 h 74"/>
                <a:gd name="T30" fmla="*/ 6 w 24"/>
                <a:gd name="T31" fmla="*/ 34 h 74"/>
                <a:gd name="T32" fmla="*/ 9 w 24"/>
                <a:gd name="T33" fmla="*/ 31 h 74"/>
                <a:gd name="T34" fmla="*/ 12 w 24"/>
                <a:gd name="T35" fmla="*/ 25 h 74"/>
                <a:gd name="T36" fmla="*/ 15 w 24"/>
                <a:gd name="T37" fmla="*/ 19 h 74"/>
                <a:gd name="T38" fmla="*/ 15 w 24"/>
                <a:gd name="T39" fmla="*/ 16 h 74"/>
                <a:gd name="T40" fmla="*/ 15 w 24"/>
                <a:gd name="T41" fmla="*/ 12 h 74"/>
                <a:gd name="T42" fmla="*/ 15 w 24"/>
                <a:gd name="T43" fmla="*/ 12 h 74"/>
                <a:gd name="T44" fmla="*/ 12 w 24"/>
                <a:gd name="T45" fmla="*/ 9 h 74"/>
                <a:gd name="T46" fmla="*/ 3 w 24"/>
                <a:gd name="T47" fmla="*/ 9 h 74"/>
                <a:gd name="T48" fmla="*/ 3 w 24"/>
                <a:gd name="T49" fmla="*/ 6 h 74"/>
                <a:gd name="T50" fmla="*/ 6 w 24"/>
                <a:gd name="T51" fmla="*/ 3 h 74"/>
                <a:gd name="T52" fmla="*/ 9 w 24"/>
                <a:gd name="T53" fmla="*/ 3 h 74"/>
                <a:gd name="T54" fmla="*/ 12 w 24"/>
                <a:gd name="T55" fmla="*/ 0 h 74"/>
                <a:gd name="T56" fmla="*/ 15 w 24"/>
                <a:gd name="T57" fmla="*/ 3 h 74"/>
                <a:gd name="T58" fmla="*/ 21 w 24"/>
                <a:gd name="T59" fmla="*/ 3 h 74"/>
                <a:gd name="T60" fmla="*/ 24 w 24"/>
                <a:gd name="T61" fmla="*/ 6 h 74"/>
                <a:gd name="T62" fmla="*/ 24 w 24"/>
                <a:gd name="T63" fmla="*/ 9 h 74"/>
                <a:gd name="T64" fmla="*/ 24 w 24"/>
                <a:gd name="T65" fmla="*/ 9 h 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4"/>
                <a:gd name="T100" fmla="*/ 0 h 74"/>
                <a:gd name="T101" fmla="*/ 24 w 24"/>
                <a:gd name="T102" fmla="*/ 74 h 7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4" h="74">
                  <a:moveTo>
                    <a:pt x="24" y="9"/>
                  </a:moveTo>
                  <a:lnTo>
                    <a:pt x="21" y="16"/>
                  </a:lnTo>
                  <a:lnTo>
                    <a:pt x="21" y="22"/>
                  </a:lnTo>
                  <a:lnTo>
                    <a:pt x="18" y="28"/>
                  </a:lnTo>
                  <a:lnTo>
                    <a:pt x="15" y="34"/>
                  </a:lnTo>
                  <a:lnTo>
                    <a:pt x="15" y="43"/>
                  </a:lnTo>
                  <a:lnTo>
                    <a:pt x="12" y="50"/>
                  </a:lnTo>
                  <a:lnTo>
                    <a:pt x="9" y="56"/>
                  </a:lnTo>
                  <a:lnTo>
                    <a:pt x="9" y="62"/>
                  </a:lnTo>
                  <a:lnTo>
                    <a:pt x="3" y="74"/>
                  </a:lnTo>
                  <a:lnTo>
                    <a:pt x="0" y="68"/>
                  </a:lnTo>
                  <a:lnTo>
                    <a:pt x="0" y="62"/>
                  </a:lnTo>
                  <a:lnTo>
                    <a:pt x="3" y="56"/>
                  </a:lnTo>
                  <a:lnTo>
                    <a:pt x="3" y="50"/>
                  </a:lnTo>
                  <a:lnTo>
                    <a:pt x="6" y="43"/>
                  </a:lnTo>
                  <a:lnTo>
                    <a:pt x="6" y="34"/>
                  </a:lnTo>
                  <a:lnTo>
                    <a:pt x="9" y="31"/>
                  </a:lnTo>
                  <a:lnTo>
                    <a:pt x="12" y="25"/>
                  </a:lnTo>
                  <a:lnTo>
                    <a:pt x="15" y="19"/>
                  </a:lnTo>
                  <a:lnTo>
                    <a:pt x="15" y="16"/>
                  </a:lnTo>
                  <a:lnTo>
                    <a:pt x="15" y="12"/>
                  </a:lnTo>
                  <a:lnTo>
                    <a:pt x="12" y="9"/>
                  </a:lnTo>
                  <a:lnTo>
                    <a:pt x="3" y="9"/>
                  </a:lnTo>
                  <a:lnTo>
                    <a:pt x="3" y="6"/>
                  </a:lnTo>
                  <a:lnTo>
                    <a:pt x="6" y="3"/>
                  </a:lnTo>
                  <a:lnTo>
                    <a:pt x="9" y="3"/>
                  </a:lnTo>
                  <a:lnTo>
                    <a:pt x="12" y="0"/>
                  </a:lnTo>
                  <a:lnTo>
                    <a:pt x="15" y="3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24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6" name="Freeform 500"/>
            <p:cNvSpPr>
              <a:spLocks/>
            </p:cNvSpPr>
            <p:nvPr/>
          </p:nvSpPr>
          <p:spPr bwMode="auto">
            <a:xfrm>
              <a:off x="1911" y="2340"/>
              <a:ext cx="28" cy="74"/>
            </a:xfrm>
            <a:custGeom>
              <a:avLst/>
              <a:gdLst>
                <a:gd name="T0" fmla="*/ 28 w 28"/>
                <a:gd name="T1" fmla="*/ 0 h 74"/>
                <a:gd name="T2" fmla="*/ 25 w 28"/>
                <a:gd name="T3" fmla="*/ 9 h 74"/>
                <a:gd name="T4" fmla="*/ 25 w 28"/>
                <a:gd name="T5" fmla="*/ 19 h 74"/>
                <a:gd name="T6" fmla="*/ 22 w 28"/>
                <a:gd name="T7" fmla="*/ 28 h 74"/>
                <a:gd name="T8" fmla="*/ 19 w 28"/>
                <a:gd name="T9" fmla="*/ 37 h 74"/>
                <a:gd name="T10" fmla="*/ 16 w 28"/>
                <a:gd name="T11" fmla="*/ 47 h 74"/>
                <a:gd name="T12" fmla="*/ 13 w 28"/>
                <a:gd name="T13" fmla="*/ 56 h 74"/>
                <a:gd name="T14" fmla="*/ 9 w 28"/>
                <a:gd name="T15" fmla="*/ 65 h 74"/>
                <a:gd name="T16" fmla="*/ 3 w 28"/>
                <a:gd name="T17" fmla="*/ 74 h 74"/>
                <a:gd name="T18" fmla="*/ 0 w 28"/>
                <a:gd name="T19" fmla="*/ 74 h 74"/>
                <a:gd name="T20" fmla="*/ 6 w 28"/>
                <a:gd name="T21" fmla="*/ 65 h 74"/>
                <a:gd name="T22" fmla="*/ 9 w 28"/>
                <a:gd name="T23" fmla="*/ 56 h 74"/>
                <a:gd name="T24" fmla="*/ 13 w 28"/>
                <a:gd name="T25" fmla="*/ 47 h 74"/>
                <a:gd name="T26" fmla="*/ 16 w 28"/>
                <a:gd name="T27" fmla="*/ 37 h 74"/>
                <a:gd name="T28" fmla="*/ 16 w 28"/>
                <a:gd name="T29" fmla="*/ 28 h 74"/>
                <a:gd name="T30" fmla="*/ 19 w 28"/>
                <a:gd name="T31" fmla="*/ 19 h 74"/>
                <a:gd name="T32" fmla="*/ 22 w 28"/>
                <a:gd name="T33" fmla="*/ 9 h 74"/>
                <a:gd name="T34" fmla="*/ 22 w 28"/>
                <a:gd name="T35" fmla="*/ 0 h 74"/>
                <a:gd name="T36" fmla="*/ 28 w 28"/>
                <a:gd name="T37" fmla="*/ 0 h 74"/>
                <a:gd name="T38" fmla="*/ 28 w 28"/>
                <a:gd name="T39" fmla="*/ 0 h 7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8"/>
                <a:gd name="T61" fmla="*/ 0 h 74"/>
                <a:gd name="T62" fmla="*/ 28 w 28"/>
                <a:gd name="T63" fmla="*/ 74 h 7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8" h="74">
                  <a:moveTo>
                    <a:pt x="28" y="0"/>
                  </a:moveTo>
                  <a:lnTo>
                    <a:pt x="25" y="9"/>
                  </a:lnTo>
                  <a:lnTo>
                    <a:pt x="25" y="19"/>
                  </a:lnTo>
                  <a:lnTo>
                    <a:pt x="22" y="28"/>
                  </a:lnTo>
                  <a:lnTo>
                    <a:pt x="19" y="37"/>
                  </a:lnTo>
                  <a:lnTo>
                    <a:pt x="16" y="47"/>
                  </a:lnTo>
                  <a:lnTo>
                    <a:pt x="13" y="56"/>
                  </a:lnTo>
                  <a:lnTo>
                    <a:pt x="9" y="65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6" y="65"/>
                  </a:lnTo>
                  <a:lnTo>
                    <a:pt x="9" y="56"/>
                  </a:lnTo>
                  <a:lnTo>
                    <a:pt x="13" y="47"/>
                  </a:lnTo>
                  <a:lnTo>
                    <a:pt x="16" y="37"/>
                  </a:lnTo>
                  <a:lnTo>
                    <a:pt x="16" y="28"/>
                  </a:lnTo>
                  <a:lnTo>
                    <a:pt x="19" y="19"/>
                  </a:lnTo>
                  <a:lnTo>
                    <a:pt x="22" y="9"/>
                  </a:lnTo>
                  <a:lnTo>
                    <a:pt x="2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7" name="Freeform 501"/>
            <p:cNvSpPr>
              <a:spLocks/>
            </p:cNvSpPr>
            <p:nvPr/>
          </p:nvSpPr>
          <p:spPr bwMode="auto">
            <a:xfrm>
              <a:off x="1834" y="2343"/>
              <a:ext cx="309" cy="96"/>
            </a:xfrm>
            <a:custGeom>
              <a:avLst/>
              <a:gdLst>
                <a:gd name="T0" fmla="*/ 93 w 309"/>
                <a:gd name="T1" fmla="*/ 10 h 96"/>
                <a:gd name="T2" fmla="*/ 90 w 309"/>
                <a:gd name="T3" fmla="*/ 28 h 96"/>
                <a:gd name="T4" fmla="*/ 80 w 309"/>
                <a:gd name="T5" fmla="*/ 47 h 96"/>
                <a:gd name="T6" fmla="*/ 74 w 309"/>
                <a:gd name="T7" fmla="*/ 65 h 96"/>
                <a:gd name="T8" fmla="*/ 83 w 309"/>
                <a:gd name="T9" fmla="*/ 78 h 96"/>
                <a:gd name="T10" fmla="*/ 93 w 309"/>
                <a:gd name="T11" fmla="*/ 74 h 96"/>
                <a:gd name="T12" fmla="*/ 96 w 309"/>
                <a:gd name="T13" fmla="*/ 62 h 96"/>
                <a:gd name="T14" fmla="*/ 99 w 309"/>
                <a:gd name="T15" fmla="*/ 50 h 96"/>
                <a:gd name="T16" fmla="*/ 105 w 309"/>
                <a:gd name="T17" fmla="*/ 34 h 96"/>
                <a:gd name="T18" fmla="*/ 111 w 309"/>
                <a:gd name="T19" fmla="*/ 16 h 96"/>
                <a:gd name="T20" fmla="*/ 114 w 309"/>
                <a:gd name="T21" fmla="*/ 19 h 96"/>
                <a:gd name="T22" fmla="*/ 111 w 309"/>
                <a:gd name="T23" fmla="*/ 34 h 96"/>
                <a:gd name="T24" fmla="*/ 105 w 309"/>
                <a:gd name="T25" fmla="*/ 50 h 96"/>
                <a:gd name="T26" fmla="*/ 99 w 309"/>
                <a:gd name="T27" fmla="*/ 65 h 96"/>
                <a:gd name="T28" fmla="*/ 105 w 309"/>
                <a:gd name="T29" fmla="*/ 74 h 96"/>
                <a:gd name="T30" fmla="*/ 114 w 309"/>
                <a:gd name="T31" fmla="*/ 78 h 96"/>
                <a:gd name="T32" fmla="*/ 127 w 309"/>
                <a:gd name="T33" fmla="*/ 78 h 96"/>
                <a:gd name="T34" fmla="*/ 139 w 309"/>
                <a:gd name="T35" fmla="*/ 78 h 96"/>
                <a:gd name="T36" fmla="*/ 151 w 309"/>
                <a:gd name="T37" fmla="*/ 78 h 96"/>
                <a:gd name="T38" fmla="*/ 164 w 309"/>
                <a:gd name="T39" fmla="*/ 78 h 96"/>
                <a:gd name="T40" fmla="*/ 179 w 309"/>
                <a:gd name="T41" fmla="*/ 78 h 96"/>
                <a:gd name="T42" fmla="*/ 191 w 309"/>
                <a:gd name="T43" fmla="*/ 78 h 96"/>
                <a:gd name="T44" fmla="*/ 204 w 309"/>
                <a:gd name="T45" fmla="*/ 81 h 96"/>
                <a:gd name="T46" fmla="*/ 216 w 309"/>
                <a:gd name="T47" fmla="*/ 81 h 96"/>
                <a:gd name="T48" fmla="*/ 229 w 309"/>
                <a:gd name="T49" fmla="*/ 81 h 96"/>
                <a:gd name="T50" fmla="*/ 244 w 309"/>
                <a:gd name="T51" fmla="*/ 81 h 96"/>
                <a:gd name="T52" fmla="*/ 259 w 309"/>
                <a:gd name="T53" fmla="*/ 78 h 96"/>
                <a:gd name="T54" fmla="*/ 275 w 309"/>
                <a:gd name="T55" fmla="*/ 78 h 96"/>
                <a:gd name="T56" fmla="*/ 290 w 309"/>
                <a:gd name="T57" fmla="*/ 81 h 96"/>
                <a:gd name="T58" fmla="*/ 303 w 309"/>
                <a:gd name="T59" fmla="*/ 81 h 96"/>
                <a:gd name="T60" fmla="*/ 309 w 309"/>
                <a:gd name="T61" fmla="*/ 87 h 96"/>
                <a:gd name="T62" fmla="*/ 309 w 309"/>
                <a:gd name="T63" fmla="*/ 90 h 96"/>
                <a:gd name="T64" fmla="*/ 290 w 309"/>
                <a:gd name="T65" fmla="*/ 93 h 96"/>
                <a:gd name="T66" fmla="*/ 253 w 309"/>
                <a:gd name="T67" fmla="*/ 96 h 96"/>
                <a:gd name="T68" fmla="*/ 216 w 309"/>
                <a:gd name="T69" fmla="*/ 93 h 96"/>
                <a:gd name="T70" fmla="*/ 182 w 309"/>
                <a:gd name="T71" fmla="*/ 93 h 96"/>
                <a:gd name="T72" fmla="*/ 145 w 309"/>
                <a:gd name="T73" fmla="*/ 93 h 96"/>
                <a:gd name="T74" fmla="*/ 108 w 309"/>
                <a:gd name="T75" fmla="*/ 90 h 96"/>
                <a:gd name="T76" fmla="*/ 71 w 309"/>
                <a:gd name="T77" fmla="*/ 90 h 96"/>
                <a:gd name="T78" fmla="*/ 34 w 309"/>
                <a:gd name="T79" fmla="*/ 90 h 96"/>
                <a:gd name="T80" fmla="*/ 12 w 309"/>
                <a:gd name="T81" fmla="*/ 90 h 96"/>
                <a:gd name="T82" fmla="*/ 3 w 309"/>
                <a:gd name="T83" fmla="*/ 87 h 96"/>
                <a:gd name="T84" fmla="*/ 0 w 309"/>
                <a:gd name="T85" fmla="*/ 81 h 96"/>
                <a:gd name="T86" fmla="*/ 6 w 309"/>
                <a:gd name="T87" fmla="*/ 74 h 96"/>
                <a:gd name="T88" fmla="*/ 15 w 309"/>
                <a:gd name="T89" fmla="*/ 74 h 96"/>
                <a:gd name="T90" fmla="*/ 25 w 309"/>
                <a:gd name="T91" fmla="*/ 74 h 96"/>
                <a:gd name="T92" fmla="*/ 34 w 309"/>
                <a:gd name="T93" fmla="*/ 74 h 96"/>
                <a:gd name="T94" fmla="*/ 43 w 309"/>
                <a:gd name="T95" fmla="*/ 74 h 96"/>
                <a:gd name="T96" fmla="*/ 49 w 309"/>
                <a:gd name="T97" fmla="*/ 74 h 96"/>
                <a:gd name="T98" fmla="*/ 59 w 309"/>
                <a:gd name="T99" fmla="*/ 74 h 96"/>
                <a:gd name="T100" fmla="*/ 68 w 309"/>
                <a:gd name="T101" fmla="*/ 65 h 96"/>
                <a:gd name="T102" fmla="*/ 74 w 309"/>
                <a:gd name="T103" fmla="*/ 47 h 96"/>
                <a:gd name="T104" fmla="*/ 83 w 309"/>
                <a:gd name="T105" fmla="*/ 28 h 96"/>
                <a:gd name="T106" fmla="*/ 90 w 309"/>
                <a:gd name="T107" fmla="*/ 10 h 96"/>
                <a:gd name="T108" fmla="*/ 96 w 309"/>
                <a:gd name="T109" fmla="*/ 0 h 9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09"/>
                <a:gd name="T166" fmla="*/ 0 h 96"/>
                <a:gd name="T167" fmla="*/ 309 w 309"/>
                <a:gd name="T168" fmla="*/ 96 h 9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09" h="96">
                  <a:moveTo>
                    <a:pt x="96" y="0"/>
                  </a:moveTo>
                  <a:lnTo>
                    <a:pt x="93" y="10"/>
                  </a:lnTo>
                  <a:lnTo>
                    <a:pt x="93" y="19"/>
                  </a:lnTo>
                  <a:lnTo>
                    <a:pt x="90" y="28"/>
                  </a:lnTo>
                  <a:lnTo>
                    <a:pt x="83" y="37"/>
                  </a:lnTo>
                  <a:lnTo>
                    <a:pt x="80" y="47"/>
                  </a:lnTo>
                  <a:lnTo>
                    <a:pt x="77" y="56"/>
                  </a:lnTo>
                  <a:lnTo>
                    <a:pt x="74" y="65"/>
                  </a:lnTo>
                  <a:lnTo>
                    <a:pt x="71" y="74"/>
                  </a:lnTo>
                  <a:lnTo>
                    <a:pt x="83" y="78"/>
                  </a:lnTo>
                  <a:lnTo>
                    <a:pt x="90" y="78"/>
                  </a:lnTo>
                  <a:lnTo>
                    <a:pt x="93" y="74"/>
                  </a:lnTo>
                  <a:lnTo>
                    <a:pt x="96" y="68"/>
                  </a:lnTo>
                  <a:lnTo>
                    <a:pt x="96" y="62"/>
                  </a:lnTo>
                  <a:lnTo>
                    <a:pt x="99" y="56"/>
                  </a:lnTo>
                  <a:lnTo>
                    <a:pt x="99" y="50"/>
                  </a:lnTo>
                  <a:lnTo>
                    <a:pt x="102" y="44"/>
                  </a:lnTo>
                  <a:lnTo>
                    <a:pt x="105" y="34"/>
                  </a:lnTo>
                  <a:lnTo>
                    <a:pt x="108" y="25"/>
                  </a:lnTo>
                  <a:lnTo>
                    <a:pt x="111" y="16"/>
                  </a:lnTo>
                  <a:lnTo>
                    <a:pt x="114" y="10"/>
                  </a:lnTo>
                  <a:lnTo>
                    <a:pt x="114" y="19"/>
                  </a:lnTo>
                  <a:lnTo>
                    <a:pt x="114" y="25"/>
                  </a:lnTo>
                  <a:lnTo>
                    <a:pt x="111" y="34"/>
                  </a:lnTo>
                  <a:lnTo>
                    <a:pt x="108" y="44"/>
                  </a:lnTo>
                  <a:lnTo>
                    <a:pt x="105" y="50"/>
                  </a:lnTo>
                  <a:lnTo>
                    <a:pt x="102" y="59"/>
                  </a:lnTo>
                  <a:lnTo>
                    <a:pt x="99" y="65"/>
                  </a:lnTo>
                  <a:lnTo>
                    <a:pt x="99" y="74"/>
                  </a:lnTo>
                  <a:lnTo>
                    <a:pt x="105" y="74"/>
                  </a:lnTo>
                  <a:lnTo>
                    <a:pt x="108" y="78"/>
                  </a:lnTo>
                  <a:lnTo>
                    <a:pt x="114" y="78"/>
                  </a:lnTo>
                  <a:lnTo>
                    <a:pt x="120" y="78"/>
                  </a:lnTo>
                  <a:lnTo>
                    <a:pt x="127" y="78"/>
                  </a:lnTo>
                  <a:lnTo>
                    <a:pt x="133" y="78"/>
                  </a:lnTo>
                  <a:lnTo>
                    <a:pt x="139" y="78"/>
                  </a:lnTo>
                  <a:lnTo>
                    <a:pt x="145" y="78"/>
                  </a:lnTo>
                  <a:lnTo>
                    <a:pt x="151" y="78"/>
                  </a:lnTo>
                  <a:lnTo>
                    <a:pt x="158" y="78"/>
                  </a:lnTo>
                  <a:lnTo>
                    <a:pt x="164" y="78"/>
                  </a:lnTo>
                  <a:lnTo>
                    <a:pt x="170" y="78"/>
                  </a:lnTo>
                  <a:lnTo>
                    <a:pt x="179" y="78"/>
                  </a:lnTo>
                  <a:lnTo>
                    <a:pt x="185" y="78"/>
                  </a:lnTo>
                  <a:lnTo>
                    <a:pt x="191" y="78"/>
                  </a:lnTo>
                  <a:lnTo>
                    <a:pt x="198" y="78"/>
                  </a:lnTo>
                  <a:lnTo>
                    <a:pt x="204" y="81"/>
                  </a:lnTo>
                  <a:lnTo>
                    <a:pt x="210" y="81"/>
                  </a:lnTo>
                  <a:lnTo>
                    <a:pt x="216" y="81"/>
                  </a:lnTo>
                  <a:lnTo>
                    <a:pt x="222" y="81"/>
                  </a:lnTo>
                  <a:lnTo>
                    <a:pt x="229" y="81"/>
                  </a:lnTo>
                  <a:lnTo>
                    <a:pt x="238" y="81"/>
                  </a:lnTo>
                  <a:lnTo>
                    <a:pt x="244" y="81"/>
                  </a:lnTo>
                  <a:lnTo>
                    <a:pt x="253" y="78"/>
                  </a:lnTo>
                  <a:lnTo>
                    <a:pt x="259" y="78"/>
                  </a:lnTo>
                  <a:lnTo>
                    <a:pt x="269" y="78"/>
                  </a:lnTo>
                  <a:lnTo>
                    <a:pt x="275" y="78"/>
                  </a:lnTo>
                  <a:lnTo>
                    <a:pt x="281" y="78"/>
                  </a:lnTo>
                  <a:lnTo>
                    <a:pt x="290" y="81"/>
                  </a:lnTo>
                  <a:lnTo>
                    <a:pt x="297" y="81"/>
                  </a:lnTo>
                  <a:lnTo>
                    <a:pt x="303" y="81"/>
                  </a:lnTo>
                  <a:lnTo>
                    <a:pt x="309" y="84"/>
                  </a:lnTo>
                  <a:lnTo>
                    <a:pt x="309" y="87"/>
                  </a:lnTo>
                  <a:lnTo>
                    <a:pt x="309" y="90"/>
                  </a:lnTo>
                  <a:lnTo>
                    <a:pt x="309" y="93"/>
                  </a:lnTo>
                  <a:lnTo>
                    <a:pt x="290" y="93"/>
                  </a:lnTo>
                  <a:lnTo>
                    <a:pt x="272" y="93"/>
                  </a:lnTo>
                  <a:lnTo>
                    <a:pt x="253" y="96"/>
                  </a:lnTo>
                  <a:lnTo>
                    <a:pt x="235" y="96"/>
                  </a:lnTo>
                  <a:lnTo>
                    <a:pt x="216" y="93"/>
                  </a:lnTo>
                  <a:lnTo>
                    <a:pt x="198" y="93"/>
                  </a:lnTo>
                  <a:lnTo>
                    <a:pt x="182" y="93"/>
                  </a:lnTo>
                  <a:lnTo>
                    <a:pt x="164" y="93"/>
                  </a:lnTo>
                  <a:lnTo>
                    <a:pt x="145" y="93"/>
                  </a:lnTo>
                  <a:lnTo>
                    <a:pt x="127" y="90"/>
                  </a:lnTo>
                  <a:lnTo>
                    <a:pt x="108" y="90"/>
                  </a:lnTo>
                  <a:lnTo>
                    <a:pt x="90" y="90"/>
                  </a:lnTo>
                  <a:lnTo>
                    <a:pt x="71" y="90"/>
                  </a:lnTo>
                  <a:lnTo>
                    <a:pt x="52" y="90"/>
                  </a:lnTo>
                  <a:lnTo>
                    <a:pt x="34" y="90"/>
                  </a:lnTo>
                  <a:lnTo>
                    <a:pt x="15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3" y="87"/>
                  </a:lnTo>
                  <a:lnTo>
                    <a:pt x="0" y="87"/>
                  </a:lnTo>
                  <a:lnTo>
                    <a:pt x="0" y="81"/>
                  </a:lnTo>
                  <a:lnTo>
                    <a:pt x="3" y="78"/>
                  </a:lnTo>
                  <a:lnTo>
                    <a:pt x="6" y="74"/>
                  </a:lnTo>
                  <a:lnTo>
                    <a:pt x="12" y="74"/>
                  </a:lnTo>
                  <a:lnTo>
                    <a:pt x="15" y="74"/>
                  </a:lnTo>
                  <a:lnTo>
                    <a:pt x="22" y="74"/>
                  </a:lnTo>
                  <a:lnTo>
                    <a:pt x="25" y="74"/>
                  </a:lnTo>
                  <a:lnTo>
                    <a:pt x="31" y="74"/>
                  </a:lnTo>
                  <a:lnTo>
                    <a:pt x="34" y="74"/>
                  </a:lnTo>
                  <a:lnTo>
                    <a:pt x="37" y="74"/>
                  </a:lnTo>
                  <a:lnTo>
                    <a:pt x="43" y="74"/>
                  </a:lnTo>
                  <a:lnTo>
                    <a:pt x="46" y="74"/>
                  </a:lnTo>
                  <a:lnTo>
                    <a:pt x="49" y="74"/>
                  </a:lnTo>
                  <a:lnTo>
                    <a:pt x="56" y="74"/>
                  </a:lnTo>
                  <a:lnTo>
                    <a:pt x="59" y="74"/>
                  </a:lnTo>
                  <a:lnTo>
                    <a:pt x="62" y="74"/>
                  </a:lnTo>
                  <a:lnTo>
                    <a:pt x="68" y="65"/>
                  </a:lnTo>
                  <a:lnTo>
                    <a:pt x="71" y="56"/>
                  </a:lnTo>
                  <a:lnTo>
                    <a:pt x="74" y="47"/>
                  </a:lnTo>
                  <a:lnTo>
                    <a:pt x="77" y="37"/>
                  </a:lnTo>
                  <a:lnTo>
                    <a:pt x="83" y="28"/>
                  </a:lnTo>
                  <a:lnTo>
                    <a:pt x="86" y="19"/>
                  </a:lnTo>
                  <a:lnTo>
                    <a:pt x="90" y="10"/>
                  </a:lnTo>
                  <a:lnTo>
                    <a:pt x="93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8" name="Freeform 502"/>
            <p:cNvSpPr>
              <a:spLocks/>
            </p:cNvSpPr>
            <p:nvPr/>
          </p:nvSpPr>
          <p:spPr bwMode="auto">
            <a:xfrm>
              <a:off x="1951" y="1877"/>
              <a:ext cx="44" cy="24"/>
            </a:xfrm>
            <a:custGeom>
              <a:avLst/>
              <a:gdLst>
                <a:gd name="T0" fmla="*/ 3 w 44"/>
                <a:gd name="T1" fmla="*/ 24 h 24"/>
                <a:gd name="T2" fmla="*/ 10 w 44"/>
                <a:gd name="T3" fmla="*/ 24 h 24"/>
                <a:gd name="T4" fmla="*/ 16 w 44"/>
                <a:gd name="T5" fmla="*/ 21 h 24"/>
                <a:gd name="T6" fmla="*/ 19 w 44"/>
                <a:gd name="T7" fmla="*/ 21 h 24"/>
                <a:gd name="T8" fmla="*/ 25 w 44"/>
                <a:gd name="T9" fmla="*/ 18 h 24"/>
                <a:gd name="T10" fmla="*/ 31 w 44"/>
                <a:gd name="T11" fmla="*/ 15 h 24"/>
                <a:gd name="T12" fmla="*/ 34 w 44"/>
                <a:gd name="T13" fmla="*/ 12 h 24"/>
                <a:gd name="T14" fmla="*/ 41 w 44"/>
                <a:gd name="T15" fmla="*/ 9 h 24"/>
                <a:gd name="T16" fmla="*/ 44 w 44"/>
                <a:gd name="T17" fmla="*/ 3 h 24"/>
                <a:gd name="T18" fmla="*/ 44 w 44"/>
                <a:gd name="T19" fmla="*/ 3 h 24"/>
                <a:gd name="T20" fmla="*/ 44 w 44"/>
                <a:gd name="T21" fmla="*/ 0 h 24"/>
                <a:gd name="T22" fmla="*/ 41 w 44"/>
                <a:gd name="T23" fmla="*/ 0 h 24"/>
                <a:gd name="T24" fmla="*/ 41 w 44"/>
                <a:gd name="T25" fmla="*/ 0 h 24"/>
                <a:gd name="T26" fmla="*/ 41 w 44"/>
                <a:gd name="T27" fmla="*/ 0 h 24"/>
                <a:gd name="T28" fmla="*/ 37 w 44"/>
                <a:gd name="T29" fmla="*/ 0 h 24"/>
                <a:gd name="T30" fmla="*/ 37 w 44"/>
                <a:gd name="T31" fmla="*/ 0 h 24"/>
                <a:gd name="T32" fmla="*/ 34 w 44"/>
                <a:gd name="T33" fmla="*/ 0 h 24"/>
                <a:gd name="T34" fmla="*/ 37 w 44"/>
                <a:gd name="T35" fmla="*/ 0 h 24"/>
                <a:gd name="T36" fmla="*/ 31 w 44"/>
                <a:gd name="T37" fmla="*/ 3 h 24"/>
                <a:gd name="T38" fmla="*/ 28 w 44"/>
                <a:gd name="T39" fmla="*/ 6 h 24"/>
                <a:gd name="T40" fmla="*/ 25 w 44"/>
                <a:gd name="T41" fmla="*/ 9 h 24"/>
                <a:gd name="T42" fmla="*/ 22 w 44"/>
                <a:gd name="T43" fmla="*/ 12 h 24"/>
                <a:gd name="T44" fmla="*/ 16 w 44"/>
                <a:gd name="T45" fmla="*/ 15 h 24"/>
                <a:gd name="T46" fmla="*/ 13 w 44"/>
                <a:gd name="T47" fmla="*/ 18 h 24"/>
                <a:gd name="T48" fmla="*/ 7 w 44"/>
                <a:gd name="T49" fmla="*/ 21 h 24"/>
                <a:gd name="T50" fmla="*/ 3 w 44"/>
                <a:gd name="T51" fmla="*/ 21 h 24"/>
                <a:gd name="T52" fmla="*/ 0 w 44"/>
                <a:gd name="T53" fmla="*/ 21 h 24"/>
                <a:gd name="T54" fmla="*/ 0 w 44"/>
                <a:gd name="T55" fmla="*/ 21 h 24"/>
                <a:gd name="T56" fmla="*/ 0 w 44"/>
                <a:gd name="T57" fmla="*/ 24 h 24"/>
                <a:gd name="T58" fmla="*/ 0 w 44"/>
                <a:gd name="T59" fmla="*/ 24 h 24"/>
                <a:gd name="T60" fmla="*/ 0 w 44"/>
                <a:gd name="T61" fmla="*/ 24 h 24"/>
                <a:gd name="T62" fmla="*/ 3 w 44"/>
                <a:gd name="T63" fmla="*/ 24 h 24"/>
                <a:gd name="T64" fmla="*/ 3 w 44"/>
                <a:gd name="T65" fmla="*/ 24 h 24"/>
                <a:gd name="T66" fmla="*/ 3 w 44"/>
                <a:gd name="T67" fmla="*/ 24 h 24"/>
                <a:gd name="T68" fmla="*/ 3 w 44"/>
                <a:gd name="T69" fmla="*/ 24 h 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4"/>
                <a:gd name="T106" fmla="*/ 0 h 24"/>
                <a:gd name="T107" fmla="*/ 44 w 44"/>
                <a:gd name="T108" fmla="*/ 24 h 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4" h="24">
                  <a:moveTo>
                    <a:pt x="3" y="24"/>
                  </a:moveTo>
                  <a:lnTo>
                    <a:pt x="10" y="24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5" y="18"/>
                  </a:lnTo>
                  <a:lnTo>
                    <a:pt x="31" y="15"/>
                  </a:lnTo>
                  <a:lnTo>
                    <a:pt x="34" y="12"/>
                  </a:lnTo>
                  <a:lnTo>
                    <a:pt x="41" y="9"/>
                  </a:lnTo>
                  <a:lnTo>
                    <a:pt x="44" y="3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7" y="0"/>
                  </a:lnTo>
                  <a:lnTo>
                    <a:pt x="31" y="3"/>
                  </a:lnTo>
                  <a:lnTo>
                    <a:pt x="28" y="6"/>
                  </a:lnTo>
                  <a:lnTo>
                    <a:pt x="25" y="9"/>
                  </a:lnTo>
                  <a:lnTo>
                    <a:pt x="22" y="12"/>
                  </a:lnTo>
                  <a:lnTo>
                    <a:pt x="16" y="15"/>
                  </a:lnTo>
                  <a:lnTo>
                    <a:pt x="13" y="18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99" name="Freeform 503"/>
            <p:cNvSpPr>
              <a:spLocks/>
            </p:cNvSpPr>
            <p:nvPr/>
          </p:nvSpPr>
          <p:spPr bwMode="auto">
            <a:xfrm>
              <a:off x="1967" y="1892"/>
              <a:ext cx="40" cy="22"/>
            </a:xfrm>
            <a:custGeom>
              <a:avLst/>
              <a:gdLst>
                <a:gd name="T0" fmla="*/ 3 w 40"/>
                <a:gd name="T1" fmla="*/ 22 h 22"/>
                <a:gd name="T2" fmla="*/ 6 w 40"/>
                <a:gd name="T3" fmla="*/ 22 h 22"/>
                <a:gd name="T4" fmla="*/ 12 w 40"/>
                <a:gd name="T5" fmla="*/ 19 h 22"/>
                <a:gd name="T6" fmla="*/ 15 w 40"/>
                <a:gd name="T7" fmla="*/ 19 h 22"/>
                <a:gd name="T8" fmla="*/ 21 w 40"/>
                <a:gd name="T9" fmla="*/ 16 h 22"/>
                <a:gd name="T10" fmla="*/ 28 w 40"/>
                <a:gd name="T11" fmla="*/ 16 h 22"/>
                <a:gd name="T12" fmla="*/ 31 w 40"/>
                <a:gd name="T13" fmla="*/ 13 h 22"/>
                <a:gd name="T14" fmla="*/ 34 w 40"/>
                <a:gd name="T15" fmla="*/ 9 h 22"/>
                <a:gd name="T16" fmla="*/ 37 w 40"/>
                <a:gd name="T17" fmla="*/ 6 h 22"/>
                <a:gd name="T18" fmla="*/ 40 w 40"/>
                <a:gd name="T19" fmla="*/ 3 h 22"/>
                <a:gd name="T20" fmla="*/ 40 w 40"/>
                <a:gd name="T21" fmla="*/ 3 h 22"/>
                <a:gd name="T22" fmla="*/ 40 w 40"/>
                <a:gd name="T23" fmla="*/ 3 h 22"/>
                <a:gd name="T24" fmla="*/ 40 w 40"/>
                <a:gd name="T25" fmla="*/ 0 h 22"/>
                <a:gd name="T26" fmla="*/ 37 w 40"/>
                <a:gd name="T27" fmla="*/ 0 h 22"/>
                <a:gd name="T28" fmla="*/ 37 w 40"/>
                <a:gd name="T29" fmla="*/ 0 h 22"/>
                <a:gd name="T30" fmla="*/ 34 w 40"/>
                <a:gd name="T31" fmla="*/ 0 h 22"/>
                <a:gd name="T32" fmla="*/ 31 w 40"/>
                <a:gd name="T33" fmla="*/ 0 h 22"/>
                <a:gd name="T34" fmla="*/ 28 w 40"/>
                <a:gd name="T35" fmla="*/ 3 h 22"/>
                <a:gd name="T36" fmla="*/ 25 w 40"/>
                <a:gd name="T37" fmla="*/ 6 h 22"/>
                <a:gd name="T38" fmla="*/ 21 w 40"/>
                <a:gd name="T39" fmla="*/ 9 h 22"/>
                <a:gd name="T40" fmla="*/ 18 w 40"/>
                <a:gd name="T41" fmla="*/ 9 h 22"/>
                <a:gd name="T42" fmla="*/ 12 w 40"/>
                <a:gd name="T43" fmla="*/ 13 h 22"/>
                <a:gd name="T44" fmla="*/ 9 w 40"/>
                <a:gd name="T45" fmla="*/ 16 h 22"/>
                <a:gd name="T46" fmla="*/ 6 w 40"/>
                <a:gd name="T47" fmla="*/ 16 h 22"/>
                <a:gd name="T48" fmla="*/ 0 w 40"/>
                <a:gd name="T49" fmla="*/ 19 h 22"/>
                <a:gd name="T50" fmla="*/ 0 w 40"/>
                <a:gd name="T51" fmla="*/ 19 h 22"/>
                <a:gd name="T52" fmla="*/ 0 w 40"/>
                <a:gd name="T53" fmla="*/ 19 h 22"/>
                <a:gd name="T54" fmla="*/ 0 w 40"/>
                <a:gd name="T55" fmla="*/ 19 h 22"/>
                <a:gd name="T56" fmla="*/ 0 w 40"/>
                <a:gd name="T57" fmla="*/ 22 h 22"/>
                <a:gd name="T58" fmla="*/ 0 w 40"/>
                <a:gd name="T59" fmla="*/ 22 h 22"/>
                <a:gd name="T60" fmla="*/ 0 w 40"/>
                <a:gd name="T61" fmla="*/ 22 h 22"/>
                <a:gd name="T62" fmla="*/ 0 w 40"/>
                <a:gd name="T63" fmla="*/ 22 h 22"/>
                <a:gd name="T64" fmla="*/ 3 w 40"/>
                <a:gd name="T65" fmla="*/ 22 h 22"/>
                <a:gd name="T66" fmla="*/ 3 w 40"/>
                <a:gd name="T67" fmla="*/ 22 h 2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"/>
                <a:gd name="T103" fmla="*/ 0 h 22"/>
                <a:gd name="T104" fmla="*/ 40 w 40"/>
                <a:gd name="T105" fmla="*/ 22 h 2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" h="22">
                  <a:moveTo>
                    <a:pt x="3" y="22"/>
                  </a:moveTo>
                  <a:lnTo>
                    <a:pt x="6" y="22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1" y="16"/>
                  </a:lnTo>
                  <a:lnTo>
                    <a:pt x="28" y="16"/>
                  </a:lnTo>
                  <a:lnTo>
                    <a:pt x="31" y="13"/>
                  </a:lnTo>
                  <a:lnTo>
                    <a:pt x="34" y="9"/>
                  </a:lnTo>
                  <a:lnTo>
                    <a:pt x="37" y="6"/>
                  </a:lnTo>
                  <a:lnTo>
                    <a:pt x="40" y="3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3"/>
                  </a:lnTo>
                  <a:lnTo>
                    <a:pt x="25" y="6"/>
                  </a:lnTo>
                  <a:lnTo>
                    <a:pt x="21" y="9"/>
                  </a:lnTo>
                  <a:lnTo>
                    <a:pt x="18" y="9"/>
                  </a:lnTo>
                  <a:lnTo>
                    <a:pt x="12" y="13"/>
                  </a:lnTo>
                  <a:lnTo>
                    <a:pt x="9" y="16"/>
                  </a:lnTo>
                  <a:lnTo>
                    <a:pt x="6" y="16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0" name="Freeform 504"/>
            <p:cNvSpPr>
              <a:spLocks/>
            </p:cNvSpPr>
            <p:nvPr/>
          </p:nvSpPr>
          <p:spPr bwMode="auto">
            <a:xfrm>
              <a:off x="1973" y="1861"/>
              <a:ext cx="59" cy="47"/>
            </a:xfrm>
            <a:custGeom>
              <a:avLst/>
              <a:gdLst>
                <a:gd name="T0" fmla="*/ 0 w 59"/>
                <a:gd name="T1" fmla="*/ 3 h 47"/>
                <a:gd name="T2" fmla="*/ 6 w 59"/>
                <a:gd name="T3" fmla="*/ 6 h 47"/>
                <a:gd name="T4" fmla="*/ 12 w 59"/>
                <a:gd name="T5" fmla="*/ 13 h 47"/>
                <a:gd name="T6" fmla="*/ 19 w 59"/>
                <a:gd name="T7" fmla="*/ 19 h 47"/>
                <a:gd name="T8" fmla="*/ 22 w 59"/>
                <a:gd name="T9" fmla="*/ 25 h 47"/>
                <a:gd name="T10" fmla="*/ 28 w 59"/>
                <a:gd name="T11" fmla="*/ 28 h 47"/>
                <a:gd name="T12" fmla="*/ 34 w 59"/>
                <a:gd name="T13" fmla="*/ 34 h 47"/>
                <a:gd name="T14" fmla="*/ 40 w 59"/>
                <a:gd name="T15" fmla="*/ 40 h 47"/>
                <a:gd name="T16" fmla="*/ 49 w 59"/>
                <a:gd name="T17" fmla="*/ 44 h 47"/>
                <a:gd name="T18" fmla="*/ 49 w 59"/>
                <a:gd name="T19" fmla="*/ 44 h 47"/>
                <a:gd name="T20" fmla="*/ 49 w 59"/>
                <a:gd name="T21" fmla="*/ 44 h 47"/>
                <a:gd name="T22" fmla="*/ 52 w 59"/>
                <a:gd name="T23" fmla="*/ 47 h 47"/>
                <a:gd name="T24" fmla="*/ 52 w 59"/>
                <a:gd name="T25" fmla="*/ 47 h 47"/>
                <a:gd name="T26" fmla="*/ 52 w 59"/>
                <a:gd name="T27" fmla="*/ 47 h 47"/>
                <a:gd name="T28" fmla="*/ 56 w 59"/>
                <a:gd name="T29" fmla="*/ 44 h 47"/>
                <a:gd name="T30" fmla="*/ 59 w 59"/>
                <a:gd name="T31" fmla="*/ 44 h 47"/>
                <a:gd name="T32" fmla="*/ 59 w 59"/>
                <a:gd name="T33" fmla="*/ 44 h 47"/>
                <a:gd name="T34" fmla="*/ 59 w 59"/>
                <a:gd name="T35" fmla="*/ 40 h 47"/>
                <a:gd name="T36" fmla="*/ 59 w 59"/>
                <a:gd name="T37" fmla="*/ 40 h 47"/>
                <a:gd name="T38" fmla="*/ 56 w 59"/>
                <a:gd name="T39" fmla="*/ 37 h 47"/>
                <a:gd name="T40" fmla="*/ 56 w 59"/>
                <a:gd name="T41" fmla="*/ 37 h 47"/>
                <a:gd name="T42" fmla="*/ 49 w 59"/>
                <a:gd name="T43" fmla="*/ 31 h 47"/>
                <a:gd name="T44" fmla="*/ 40 w 59"/>
                <a:gd name="T45" fmla="*/ 28 h 47"/>
                <a:gd name="T46" fmla="*/ 34 w 59"/>
                <a:gd name="T47" fmla="*/ 22 h 47"/>
                <a:gd name="T48" fmla="*/ 28 w 59"/>
                <a:gd name="T49" fmla="*/ 19 h 47"/>
                <a:gd name="T50" fmla="*/ 22 w 59"/>
                <a:gd name="T51" fmla="*/ 13 h 47"/>
                <a:gd name="T52" fmla="*/ 15 w 59"/>
                <a:gd name="T53" fmla="*/ 10 h 47"/>
                <a:gd name="T54" fmla="*/ 9 w 59"/>
                <a:gd name="T55" fmla="*/ 3 h 47"/>
                <a:gd name="T56" fmla="*/ 3 w 59"/>
                <a:gd name="T57" fmla="*/ 0 h 47"/>
                <a:gd name="T58" fmla="*/ 3 w 59"/>
                <a:gd name="T59" fmla="*/ 0 h 47"/>
                <a:gd name="T60" fmla="*/ 0 w 59"/>
                <a:gd name="T61" fmla="*/ 0 h 47"/>
                <a:gd name="T62" fmla="*/ 0 w 59"/>
                <a:gd name="T63" fmla="*/ 0 h 47"/>
                <a:gd name="T64" fmla="*/ 0 w 59"/>
                <a:gd name="T65" fmla="*/ 0 h 47"/>
                <a:gd name="T66" fmla="*/ 0 w 59"/>
                <a:gd name="T67" fmla="*/ 0 h 47"/>
                <a:gd name="T68" fmla="*/ 0 w 59"/>
                <a:gd name="T69" fmla="*/ 0 h 47"/>
                <a:gd name="T70" fmla="*/ 0 w 59"/>
                <a:gd name="T71" fmla="*/ 3 h 47"/>
                <a:gd name="T72" fmla="*/ 0 w 59"/>
                <a:gd name="T73" fmla="*/ 3 h 47"/>
                <a:gd name="T74" fmla="*/ 0 w 59"/>
                <a:gd name="T75" fmla="*/ 3 h 4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9"/>
                <a:gd name="T115" fmla="*/ 0 h 47"/>
                <a:gd name="T116" fmla="*/ 59 w 59"/>
                <a:gd name="T117" fmla="*/ 47 h 4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9" h="47">
                  <a:moveTo>
                    <a:pt x="0" y="3"/>
                  </a:moveTo>
                  <a:lnTo>
                    <a:pt x="6" y="6"/>
                  </a:lnTo>
                  <a:lnTo>
                    <a:pt x="12" y="13"/>
                  </a:lnTo>
                  <a:lnTo>
                    <a:pt x="19" y="19"/>
                  </a:lnTo>
                  <a:lnTo>
                    <a:pt x="22" y="25"/>
                  </a:lnTo>
                  <a:lnTo>
                    <a:pt x="28" y="28"/>
                  </a:lnTo>
                  <a:lnTo>
                    <a:pt x="34" y="34"/>
                  </a:lnTo>
                  <a:lnTo>
                    <a:pt x="40" y="40"/>
                  </a:lnTo>
                  <a:lnTo>
                    <a:pt x="49" y="44"/>
                  </a:lnTo>
                  <a:lnTo>
                    <a:pt x="52" y="47"/>
                  </a:lnTo>
                  <a:lnTo>
                    <a:pt x="56" y="44"/>
                  </a:lnTo>
                  <a:lnTo>
                    <a:pt x="59" y="44"/>
                  </a:lnTo>
                  <a:lnTo>
                    <a:pt x="59" y="40"/>
                  </a:lnTo>
                  <a:lnTo>
                    <a:pt x="56" y="37"/>
                  </a:lnTo>
                  <a:lnTo>
                    <a:pt x="49" y="31"/>
                  </a:lnTo>
                  <a:lnTo>
                    <a:pt x="40" y="28"/>
                  </a:lnTo>
                  <a:lnTo>
                    <a:pt x="34" y="22"/>
                  </a:lnTo>
                  <a:lnTo>
                    <a:pt x="28" y="19"/>
                  </a:lnTo>
                  <a:lnTo>
                    <a:pt x="22" y="13"/>
                  </a:lnTo>
                  <a:lnTo>
                    <a:pt x="15" y="10"/>
                  </a:lnTo>
                  <a:lnTo>
                    <a:pt x="9" y="3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1" name="Freeform 505"/>
            <p:cNvSpPr>
              <a:spLocks/>
            </p:cNvSpPr>
            <p:nvPr/>
          </p:nvSpPr>
          <p:spPr bwMode="auto">
            <a:xfrm>
              <a:off x="2013" y="1858"/>
              <a:ext cx="53" cy="47"/>
            </a:xfrm>
            <a:custGeom>
              <a:avLst/>
              <a:gdLst>
                <a:gd name="T0" fmla="*/ 0 w 53"/>
                <a:gd name="T1" fmla="*/ 3 h 47"/>
                <a:gd name="T2" fmla="*/ 3 w 53"/>
                <a:gd name="T3" fmla="*/ 9 h 47"/>
                <a:gd name="T4" fmla="*/ 9 w 53"/>
                <a:gd name="T5" fmla="*/ 16 h 47"/>
                <a:gd name="T6" fmla="*/ 12 w 53"/>
                <a:gd name="T7" fmla="*/ 22 h 47"/>
                <a:gd name="T8" fmla="*/ 19 w 53"/>
                <a:gd name="T9" fmla="*/ 28 h 47"/>
                <a:gd name="T10" fmla="*/ 25 w 53"/>
                <a:gd name="T11" fmla="*/ 34 h 47"/>
                <a:gd name="T12" fmla="*/ 31 w 53"/>
                <a:gd name="T13" fmla="*/ 37 h 47"/>
                <a:gd name="T14" fmla="*/ 37 w 53"/>
                <a:gd name="T15" fmla="*/ 43 h 47"/>
                <a:gd name="T16" fmla="*/ 46 w 53"/>
                <a:gd name="T17" fmla="*/ 43 h 47"/>
                <a:gd name="T18" fmla="*/ 50 w 53"/>
                <a:gd name="T19" fmla="*/ 47 h 47"/>
                <a:gd name="T20" fmla="*/ 50 w 53"/>
                <a:gd name="T21" fmla="*/ 43 h 47"/>
                <a:gd name="T22" fmla="*/ 53 w 53"/>
                <a:gd name="T23" fmla="*/ 43 h 47"/>
                <a:gd name="T24" fmla="*/ 53 w 53"/>
                <a:gd name="T25" fmla="*/ 43 h 47"/>
                <a:gd name="T26" fmla="*/ 53 w 53"/>
                <a:gd name="T27" fmla="*/ 40 h 47"/>
                <a:gd name="T28" fmla="*/ 53 w 53"/>
                <a:gd name="T29" fmla="*/ 40 h 47"/>
                <a:gd name="T30" fmla="*/ 53 w 53"/>
                <a:gd name="T31" fmla="*/ 37 h 47"/>
                <a:gd name="T32" fmla="*/ 50 w 53"/>
                <a:gd name="T33" fmla="*/ 37 h 47"/>
                <a:gd name="T34" fmla="*/ 43 w 53"/>
                <a:gd name="T35" fmla="*/ 34 h 47"/>
                <a:gd name="T36" fmla="*/ 37 w 53"/>
                <a:gd name="T37" fmla="*/ 28 h 47"/>
                <a:gd name="T38" fmla="*/ 31 w 53"/>
                <a:gd name="T39" fmla="*/ 25 h 47"/>
                <a:gd name="T40" fmla="*/ 25 w 53"/>
                <a:gd name="T41" fmla="*/ 22 h 47"/>
                <a:gd name="T42" fmla="*/ 19 w 53"/>
                <a:gd name="T43" fmla="*/ 16 h 47"/>
                <a:gd name="T44" fmla="*/ 16 w 53"/>
                <a:gd name="T45" fmla="*/ 13 h 47"/>
                <a:gd name="T46" fmla="*/ 9 w 53"/>
                <a:gd name="T47" fmla="*/ 6 h 47"/>
                <a:gd name="T48" fmla="*/ 3 w 53"/>
                <a:gd name="T49" fmla="*/ 0 h 47"/>
                <a:gd name="T50" fmla="*/ 3 w 53"/>
                <a:gd name="T51" fmla="*/ 0 h 47"/>
                <a:gd name="T52" fmla="*/ 3 w 53"/>
                <a:gd name="T53" fmla="*/ 0 h 47"/>
                <a:gd name="T54" fmla="*/ 3 w 53"/>
                <a:gd name="T55" fmla="*/ 0 h 47"/>
                <a:gd name="T56" fmla="*/ 0 w 53"/>
                <a:gd name="T57" fmla="*/ 0 h 47"/>
                <a:gd name="T58" fmla="*/ 0 w 53"/>
                <a:gd name="T59" fmla="*/ 0 h 47"/>
                <a:gd name="T60" fmla="*/ 0 w 53"/>
                <a:gd name="T61" fmla="*/ 0 h 47"/>
                <a:gd name="T62" fmla="*/ 0 w 53"/>
                <a:gd name="T63" fmla="*/ 3 h 47"/>
                <a:gd name="T64" fmla="*/ 0 w 53"/>
                <a:gd name="T65" fmla="*/ 3 h 47"/>
                <a:gd name="T66" fmla="*/ 0 w 53"/>
                <a:gd name="T67" fmla="*/ 3 h 4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3"/>
                <a:gd name="T103" fmla="*/ 0 h 47"/>
                <a:gd name="T104" fmla="*/ 53 w 53"/>
                <a:gd name="T105" fmla="*/ 47 h 4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3" h="47">
                  <a:moveTo>
                    <a:pt x="0" y="3"/>
                  </a:moveTo>
                  <a:lnTo>
                    <a:pt x="3" y="9"/>
                  </a:lnTo>
                  <a:lnTo>
                    <a:pt x="9" y="16"/>
                  </a:lnTo>
                  <a:lnTo>
                    <a:pt x="12" y="22"/>
                  </a:lnTo>
                  <a:lnTo>
                    <a:pt x="19" y="28"/>
                  </a:lnTo>
                  <a:lnTo>
                    <a:pt x="25" y="34"/>
                  </a:lnTo>
                  <a:lnTo>
                    <a:pt x="31" y="37"/>
                  </a:lnTo>
                  <a:lnTo>
                    <a:pt x="37" y="43"/>
                  </a:lnTo>
                  <a:lnTo>
                    <a:pt x="46" y="43"/>
                  </a:lnTo>
                  <a:lnTo>
                    <a:pt x="50" y="47"/>
                  </a:lnTo>
                  <a:lnTo>
                    <a:pt x="50" y="43"/>
                  </a:lnTo>
                  <a:lnTo>
                    <a:pt x="53" y="43"/>
                  </a:lnTo>
                  <a:lnTo>
                    <a:pt x="53" y="40"/>
                  </a:lnTo>
                  <a:lnTo>
                    <a:pt x="53" y="37"/>
                  </a:lnTo>
                  <a:lnTo>
                    <a:pt x="50" y="37"/>
                  </a:lnTo>
                  <a:lnTo>
                    <a:pt x="43" y="34"/>
                  </a:lnTo>
                  <a:lnTo>
                    <a:pt x="37" y="28"/>
                  </a:lnTo>
                  <a:lnTo>
                    <a:pt x="31" y="25"/>
                  </a:lnTo>
                  <a:lnTo>
                    <a:pt x="25" y="22"/>
                  </a:lnTo>
                  <a:lnTo>
                    <a:pt x="19" y="16"/>
                  </a:lnTo>
                  <a:lnTo>
                    <a:pt x="16" y="13"/>
                  </a:lnTo>
                  <a:lnTo>
                    <a:pt x="9" y="6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2" name="Freeform 506"/>
            <p:cNvSpPr>
              <a:spLocks/>
            </p:cNvSpPr>
            <p:nvPr/>
          </p:nvSpPr>
          <p:spPr bwMode="auto">
            <a:xfrm>
              <a:off x="2041" y="1892"/>
              <a:ext cx="59" cy="31"/>
            </a:xfrm>
            <a:custGeom>
              <a:avLst/>
              <a:gdLst>
                <a:gd name="T0" fmla="*/ 0 w 59"/>
                <a:gd name="T1" fmla="*/ 31 h 31"/>
                <a:gd name="T2" fmla="*/ 9 w 59"/>
                <a:gd name="T3" fmla="*/ 31 h 31"/>
                <a:gd name="T4" fmla="*/ 18 w 59"/>
                <a:gd name="T5" fmla="*/ 31 h 31"/>
                <a:gd name="T6" fmla="*/ 28 w 59"/>
                <a:gd name="T7" fmla="*/ 28 h 31"/>
                <a:gd name="T8" fmla="*/ 34 w 59"/>
                <a:gd name="T9" fmla="*/ 25 h 31"/>
                <a:gd name="T10" fmla="*/ 43 w 59"/>
                <a:gd name="T11" fmla="*/ 22 h 31"/>
                <a:gd name="T12" fmla="*/ 49 w 59"/>
                <a:gd name="T13" fmla="*/ 19 h 31"/>
                <a:gd name="T14" fmla="*/ 56 w 59"/>
                <a:gd name="T15" fmla="*/ 13 h 31"/>
                <a:gd name="T16" fmla="*/ 59 w 59"/>
                <a:gd name="T17" fmla="*/ 6 h 31"/>
                <a:gd name="T18" fmla="*/ 59 w 59"/>
                <a:gd name="T19" fmla="*/ 3 h 31"/>
                <a:gd name="T20" fmla="*/ 59 w 59"/>
                <a:gd name="T21" fmla="*/ 3 h 31"/>
                <a:gd name="T22" fmla="*/ 59 w 59"/>
                <a:gd name="T23" fmla="*/ 0 h 31"/>
                <a:gd name="T24" fmla="*/ 56 w 59"/>
                <a:gd name="T25" fmla="*/ 0 h 31"/>
                <a:gd name="T26" fmla="*/ 56 w 59"/>
                <a:gd name="T27" fmla="*/ 0 h 31"/>
                <a:gd name="T28" fmla="*/ 52 w 59"/>
                <a:gd name="T29" fmla="*/ 0 h 31"/>
                <a:gd name="T30" fmla="*/ 52 w 59"/>
                <a:gd name="T31" fmla="*/ 0 h 31"/>
                <a:gd name="T32" fmla="*/ 49 w 59"/>
                <a:gd name="T33" fmla="*/ 0 h 31"/>
                <a:gd name="T34" fmla="*/ 46 w 59"/>
                <a:gd name="T35" fmla="*/ 6 h 31"/>
                <a:gd name="T36" fmla="*/ 43 w 59"/>
                <a:gd name="T37" fmla="*/ 13 h 31"/>
                <a:gd name="T38" fmla="*/ 37 w 59"/>
                <a:gd name="T39" fmla="*/ 19 h 31"/>
                <a:gd name="T40" fmla="*/ 31 w 59"/>
                <a:gd name="T41" fmla="*/ 22 h 31"/>
                <a:gd name="T42" fmla="*/ 25 w 59"/>
                <a:gd name="T43" fmla="*/ 25 h 31"/>
                <a:gd name="T44" fmla="*/ 15 w 59"/>
                <a:gd name="T45" fmla="*/ 25 h 31"/>
                <a:gd name="T46" fmla="*/ 9 w 59"/>
                <a:gd name="T47" fmla="*/ 28 h 31"/>
                <a:gd name="T48" fmla="*/ 0 w 59"/>
                <a:gd name="T49" fmla="*/ 28 h 31"/>
                <a:gd name="T50" fmla="*/ 0 w 59"/>
                <a:gd name="T51" fmla="*/ 28 h 31"/>
                <a:gd name="T52" fmla="*/ 0 w 59"/>
                <a:gd name="T53" fmla="*/ 28 h 31"/>
                <a:gd name="T54" fmla="*/ 0 w 59"/>
                <a:gd name="T55" fmla="*/ 31 h 31"/>
                <a:gd name="T56" fmla="*/ 0 w 59"/>
                <a:gd name="T57" fmla="*/ 31 h 31"/>
                <a:gd name="T58" fmla="*/ 0 w 59"/>
                <a:gd name="T59" fmla="*/ 31 h 31"/>
                <a:gd name="T60" fmla="*/ 0 w 59"/>
                <a:gd name="T61" fmla="*/ 31 h 31"/>
                <a:gd name="T62" fmla="*/ 0 w 59"/>
                <a:gd name="T63" fmla="*/ 31 h 31"/>
                <a:gd name="T64" fmla="*/ 0 w 59"/>
                <a:gd name="T65" fmla="*/ 31 h 31"/>
                <a:gd name="T66" fmla="*/ 0 w 59"/>
                <a:gd name="T67" fmla="*/ 31 h 3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"/>
                <a:gd name="T103" fmla="*/ 0 h 31"/>
                <a:gd name="T104" fmla="*/ 59 w 59"/>
                <a:gd name="T105" fmla="*/ 31 h 3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" h="31">
                  <a:moveTo>
                    <a:pt x="0" y="31"/>
                  </a:moveTo>
                  <a:lnTo>
                    <a:pt x="9" y="31"/>
                  </a:lnTo>
                  <a:lnTo>
                    <a:pt x="18" y="31"/>
                  </a:lnTo>
                  <a:lnTo>
                    <a:pt x="28" y="28"/>
                  </a:lnTo>
                  <a:lnTo>
                    <a:pt x="34" y="25"/>
                  </a:lnTo>
                  <a:lnTo>
                    <a:pt x="43" y="22"/>
                  </a:lnTo>
                  <a:lnTo>
                    <a:pt x="49" y="19"/>
                  </a:lnTo>
                  <a:lnTo>
                    <a:pt x="56" y="13"/>
                  </a:lnTo>
                  <a:lnTo>
                    <a:pt x="59" y="6"/>
                  </a:lnTo>
                  <a:lnTo>
                    <a:pt x="59" y="3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6" y="6"/>
                  </a:lnTo>
                  <a:lnTo>
                    <a:pt x="43" y="13"/>
                  </a:lnTo>
                  <a:lnTo>
                    <a:pt x="37" y="19"/>
                  </a:lnTo>
                  <a:lnTo>
                    <a:pt x="31" y="22"/>
                  </a:lnTo>
                  <a:lnTo>
                    <a:pt x="25" y="25"/>
                  </a:lnTo>
                  <a:lnTo>
                    <a:pt x="15" y="25"/>
                  </a:lnTo>
                  <a:lnTo>
                    <a:pt x="9" y="28"/>
                  </a:lnTo>
                  <a:lnTo>
                    <a:pt x="0" y="28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3" name="Freeform 507"/>
            <p:cNvSpPr>
              <a:spLocks/>
            </p:cNvSpPr>
            <p:nvPr/>
          </p:nvSpPr>
          <p:spPr bwMode="auto">
            <a:xfrm>
              <a:off x="2084" y="1898"/>
              <a:ext cx="37" cy="28"/>
            </a:xfrm>
            <a:custGeom>
              <a:avLst/>
              <a:gdLst>
                <a:gd name="T0" fmla="*/ 0 w 37"/>
                <a:gd name="T1" fmla="*/ 28 h 28"/>
                <a:gd name="T2" fmla="*/ 6 w 37"/>
                <a:gd name="T3" fmla="*/ 28 h 28"/>
                <a:gd name="T4" fmla="*/ 13 w 37"/>
                <a:gd name="T5" fmla="*/ 25 h 28"/>
                <a:gd name="T6" fmla="*/ 19 w 37"/>
                <a:gd name="T7" fmla="*/ 22 h 28"/>
                <a:gd name="T8" fmla="*/ 22 w 37"/>
                <a:gd name="T9" fmla="*/ 19 h 28"/>
                <a:gd name="T10" fmla="*/ 28 w 37"/>
                <a:gd name="T11" fmla="*/ 16 h 28"/>
                <a:gd name="T12" fmla="*/ 31 w 37"/>
                <a:gd name="T13" fmla="*/ 13 h 28"/>
                <a:gd name="T14" fmla="*/ 34 w 37"/>
                <a:gd name="T15" fmla="*/ 10 h 28"/>
                <a:gd name="T16" fmla="*/ 37 w 37"/>
                <a:gd name="T17" fmla="*/ 3 h 28"/>
                <a:gd name="T18" fmla="*/ 37 w 37"/>
                <a:gd name="T19" fmla="*/ 3 h 28"/>
                <a:gd name="T20" fmla="*/ 37 w 37"/>
                <a:gd name="T21" fmla="*/ 3 h 28"/>
                <a:gd name="T22" fmla="*/ 37 w 37"/>
                <a:gd name="T23" fmla="*/ 0 h 28"/>
                <a:gd name="T24" fmla="*/ 37 w 37"/>
                <a:gd name="T25" fmla="*/ 0 h 28"/>
                <a:gd name="T26" fmla="*/ 34 w 37"/>
                <a:gd name="T27" fmla="*/ 0 h 28"/>
                <a:gd name="T28" fmla="*/ 34 w 37"/>
                <a:gd name="T29" fmla="*/ 0 h 28"/>
                <a:gd name="T30" fmla="*/ 31 w 37"/>
                <a:gd name="T31" fmla="*/ 0 h 28"/>
                <a:gd name="T32" fmla="*/ 31 w 37"/>
                <a:gd name="T33" fmla="*/ 0 h 28"/>
                <a:gd name="T34" fmla="*/ 28 w 37"/>
                <a:gd name="T35" fmla="*/ 3 h 28"/>
                <a:gd name="T36" fmla="*/ 25 w 37"/>
                <a:gd name="T37" fmla="*/ 7 h 28"/>
                <a:gd name="T38" fmla="*/ 22 w 37"/>
                <a:gd name="T39" fmla="*/ 13 h 28"/>
                <a:gd name="T40" fmla="*/ 19 w 37"/>
                <a:gd name="T41" fmla="*/ 16 h 28"/>
                <a:gd name="T42" fmla="*/ 13 w 37"/>
                <a:gd name="T43" fmla="*/ 16 h 28"/>
                <a:gd name="T44" fmla="*/ 9 w 37"/>
                <a:gd name="T45" fmla="*/ 19 h 28"/>
                <a:gd name="T46" fmla="*/ 6 w 37"/>
                <a:gd name="T47" fmla="*/ 22 h 28"/>
                <a:gd name="T48" fmla="*/ 0 w 37"/>
                <a:gd name="T49" fmla="*/ 25 h 28"/>
                <a:gd name="T50" fmla="*/ 0 w 37"/>
                <a:gd name="T51" fmla="*/ 25 h 28"/>
                <a:gd name="T52" fmla="*/ 0 w 37"/>
                <a:gd name="T53" fmla="*/ 25 h 28"/>
                <a:gd name="T54" fmla="*/ 0 w 37"/>
                <a:gd name="T55" fmla="*/ 25 h 28"/>
                <a:gd name="T56" fmla="*/ 0 w 37"/>
                <a:gd name="T57" fmla="*/ 25 h 28"/>
                <a:gd name="T58" fmla="*/ 0 w 37"/>
                <a:gd name="T59" fmla="*/ 28 h 28"/>
                <a:gd name="T60" fmla="*/ 0 w 37"/>
                <a:gd name="T61" fmla="*/ 28 h 28"/>
                <a:gd name="T62" fmla="*/ 0 w 37"/>
                <a:gd name="T63" fmla="*/ 28 h 28"/>
                <a:gd name="T64" fmla="*/ 0 w 37"/>
                <a:gd name="T65" fmla="*/ 28 h 28"/>
                <a:gd name="T66" fmla="*/ 0 w 37"/>
                <a:gd name="T67" fmla="*/ 28 h 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7"/>
                <a:gd name="T103" fmla="*/ 0 h 28"/>
                <a:gd name="T104" fmla="*/ 37 w 37"/>
                <a:gd name="T105" fmla="*/ 28 h 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7" h="28">
                  <a:moveTo>
                    <a:pt x="0" y="28"/>
                  </a:moveTo>
                  <a:lnTo>
                    <a:pt x="6" y="28"/>
                  </a:lnTo>
                  <a:lnTo>
                    <a:pt x="13" y="25"/>
                  </a:lnTo>
                  <a:lnTo>
                    <a:pt x="19" y="22"/>
                  </a:lnTo>
                  <a:lnTo>
                    <a:pt x="22" y="19"/>
                  </a:lnTo>
                  <a:lnTo>
                    <a:pt x="28" y="16"/>
                  </a:lnTo>
                  <a:lnTo>
                    <a:pt x="31" y="13"/>
                  </a:lnTo>
                  <a:lnTo>
                    <a:pt x="34" y="10"/>
                  </a:lnTo>
                  <a:lnTo>
                    <a:pt x="37" y="3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3"/>
                  </a:lnTo>
                  <a:lnTo>
                    <a:pt x="25" y="7"/>
                  </a:lnTo>
                  <a:lnTo>
                    <a:pt x="22" y="13"/>
                  </a:lnTo>
                  <a:lnTo>
                    <a:pt x="19" y="16"/>
                  </a:lnTo>
                  <a:lnTo>
                    <a:pt x="13" y="16"/>
                  </a:lnTo>
                  <a:lnTo>
                    <a:pt x="9" y="19"/>
                  </a:lnTo>
                  <a:lnTo>
                    <a:pt x="6" y="22"/>
                  </a:lnTo>
                  <a:lnTo>
                    <a:pt x="0" y="25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4" name="Freeform 508"/>
            <p:cNvSpPr>
              <a:spLocks/>
            </p:cNvSpPr>
            <p:nvPr/>
          </p:nvSpPr>
          <p:spPr bwMode="auto">
            <a:xfrm>
              <a:off x="2059" y="1867"/>
              <a:ext cx="78" cy="38"/>
            </a:xfrm>
            <a:custGeom>
              <a:avLst/>
              <a:gdLst>
                <a:gd name="T0" fmla="*/ 0 w 78"/>
                <a:gd name="T1" fmla="*/ 7 h 38"/>
                <a:gd name="T2" fmla="*/ 10 w 78"/>
                <a:gd name="T3" fmla="*/ 10 h 38"/>
                <a:gd name="T4" fmla="*/ 16 w 78"/>
                <a:gd name="T5" fmla="*/ 16 h 38"/>
                <a:gd name="T6" fmla="*/ 25 w 78"/>
                <a:gd name="T7" fmla="*/ 22 h 38"/>
                <a:gd name="T8" fmla="*/ 34 w 78"/>
                <a:gd name="T9" fmla="*/ 25 h 38"/>
                <a:gd name="T10" fmla="*/ 44 w 78"/>
                <a:gd name="T11" fmla="*/ 31 h 38"/>
                <a:gd name="T12" fmla="*/ 53 w 78"/>
                <a:gd name="T13" fmla="*/ 34 h 38"/>
                <a:gd name="T14" fmla="*/ 62 w 78"/>
                <a:gd name="T15" fmla="*/ 38 h 38"/>
                <a:gd name="T16" fmla="*/ 75 w 78"/>
                <a:gd name="T17" fmla="*/ 38 h 38"/>
                <a:gd name="T18" fmla="*/ 75 w 78"/>
                <a:gd name="T19" fmla="*/ 38 h 38"/>
                <a:gd name="T20" fmla="*/ 78 w 78"/>
                <a:gd name="T21" fmla="*/ 38 h 38"/>
                <a:gd name="T22" fmla="*/ 78 w 78"/>
                <a:gd name="T23" fmla="*/ 34 h 38"/>
                <a:gd name="T24" fmla="*/ 78 w 78"/>
                <a:gd name="T25" fmla="*/ 34 h 38"/>
                <a:gd name="T26" fmla="*/ 78 w 78"/>
                <a:gd name="T27" fmla="*/ 31 h 38"/>
                <a:gd name="T28" fmla="*/ 78 w 78"/>
                <a:gd name="T29" fmla="*/ 31 h 38"/>
                <a:gd name="T30" fmla="*/ 75 w 78"/>
                <a:gd name="T31" fmla="*/ 31 h 38"/>
                <a:gd name="T32" fmla="*/ 75 w 78"/>
                <a:gd name="T33" fmla="*/ 28 h 38"/>
                <a:gd name="T34" fmla="*/ 65 w 78"/>
                <a:gd name="T35" fmla="*/ 28 h 38"/>
                <a:gd name="T36" fmla="*/ 53 w 78"/>
                <a:gd name="T37" fmla="*/ 25 h 38"/>
                <a:gd name="T38" fmla="*/ 47 w 78"/>
                <a:gd name="T39" fmla="*/ 22 h 38"/>
                <a:gd name="T40" fmla="*/ 38 w 78"/>
                <a:gd name="T41" fmla="*/ 19 h 38"/>
                <a:gd name="T42" fmla="*/ 28 w 78"/>
                <a:gd name="T43" fmla="*/ 16 h 38"/>
                <a:gd name="T44" fmla="*/ 19 w 78"/>
                <a:gd name="T45" fmla="*/ 10 h 38"/>
                <a:gd name="T46" fmla="*/ 10 w 78"/>
                <a:gd name="T47" fmla="*/ 7 h 38"/>
                <a:gd name="T48" fmla="*/ 4 w 78"/>
                <a:gd name="T49" fmla="*/ 4 h 38"/>
                <a:gd name="T50" fmla="*/ 0 w 78"/>
                <a:gd name="T51" fmla="*/ 0 h 38"/>
                <a:gd name="T52" fmla="*/ 0 w 78"/>
                <a:gd name="T53" fmla="*/ 0 h 38"/>
                <a:gd name="T54" fmla="*/ 0 w 78"/>
                <a:gd name="T55" fmla="*/ 4 h 38"/>
                <a:gd name="T56" fmla="*/ 0 w 78"/>
                <a:gd name="T57" fmla="*/ 4 h 38"/>
                <a:gd name="T58" fmla="*/ 0 w 78"/>
                <a:gd name="T59" fmla="*/ 4 h 38"/>
                <a:gd name="T60" fmla="*/ 0 w 78"/>
                <a:gd name="T61" fmla="*/ 4 h 38"/>
                <a:gd name="T62" fmla="*/ 0 w 78"/>
                <a:gd name="T63" fmla="*/ 4 h 38"/>
                <a:gd name="T64" fmla="*/ 0 w 78"/>
                <a:gd name="T65" fmla="*/ 7 h 38"/>
                <a:gd name="T66" fmla="*/ 0 w 78"/>
                <a:gd name="T67" fmla="*/ 7 h 3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8"/>
                <a:gd name="T103" fmla="*/ 0 h 38"/>
                <a:gd name="T104" fmla="*/ 78 w 78"/>
                <a:gd name="T105" fmla="*/ 38 h 3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8" h="38">
                  <a:moveTo>
                    <a:pt x="0" y="7"/>
                  </a:moveTo>
                  <a:lnTo>
                    <a:pt x="10" y="10"/>
                  </a:lnTo>
                  <a:lnTo>
                    <a:pt x="16" y="16"/>
                  </a:lnTo>
                  <a:lnTo>
                    <a:pt x="25" y="22"/>
                  </a:lnTo>
                  <a:lnTo>
                    <a:pt x="34" y="25"/>
                  </a:lnTo>
                  <a:lnTo>
                    <a:pt x="44" y="31"/>
                  </a:lnTo>
                  <a:lnTo>
                    <a:pt x="53" y="34"/>
                  </a:lnTo>
                  <a:lnTo>
                    <a:pt x="62" y="38"/>
                  </a:lnTo>
                  <a:lnTo>
                    <a:pt x="75" y="38"/>
                  </a:lnTo>
                  <a:lnTo>
                    <a:pt x="78" y="38"/>
                  </a:lnTo>
                  <a:lnTo>
                    <a:pt x="78" y="34"/>
                  </a:lnTo>
                  <a:lnTo>
                    <a:pt x="78" y="31"/>
                  </a:lnTo>
                  <a:lnTo>
                    <a:pt x="75" y="31"/>
                  </a:lnTo>
                  <a:lnTo>
                    <a:pt x="75" y="28"/>
                  </a:lnTo>
                  <a:lnTo>
                    <a:pt x="65" y="28"/>
                  </a:lnTo>
                  <a:lnTo>
                    <a:pt x="53" y="25"/>
                  </a:lnTo>
                  <a:lnTo>
                    <a:pt x="47" y="22"/>
                  </a:lnTo>
                  <a:lnTo>
                    <a:pt x="38" y="19"/>
                  </a:lnTo>
                  <a:lnTo>
                    <a:pt x="28" y="16"/>
                  </a:lnTo>
                  <a:lnTo>
                    <a:pt x="19" y="10"/>
                  </a:lnTo>
                  <a:lnTo>
                    <a:pt x="10" y="7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5" name="Freeform 509"/>
            <p:cNvSpPr>
              <a:spLocks/>
            </p:cNvSpPr>
            <p:nvPr/>
          </p:nvSpPr>
          <p:spPr bwMode="auto">
            <a:xfrm>
              <a:off x="2109" y="1871"/>
              <a:ext cx="37" cy="15"/>
            </a:xfrm>
            <a:custGeom>
              <a:avLst/>
              <a:gdLst>
                <a:gd name="T0" fmla="*/ 0 w 37"/>
                <a:gd name="T1" fmla="*/ 3 h 15"/>
                <a:gd name="T2" fmla="*/ 3 w 37"/>
                <a:gd name="T3" fmla="*/ 3 h 15"/>
                <a:gd name="T4" fmla="*/ 9 w 37"/>
                <a:gd name="T5" fmla="*/ 6 h 15"/>
                <a:gd name="T6" fmla="*/ 12 w 37"/>
                <a:gd name="T7" fmla="*/ 9 h 15"/>
                <a:gd name="T8" fmla="*/ 15 w 37"/>
                <a:gd name="T9" fmla="*/ 12 h 15"/>
                <a:gd name="T10" fmla="*/ 18 w 37"/>
                <a:gd name="T11" fmla="*/ 12 h 15"/>
                <a:gd name="T12" fmla="*/ 25 w 37"/>
                <a:gd name="T13" fmla="*/ 15 h 15"/>
                <a:gd name="T14" fmla="*/ 28 w 37"/>
                <a:gd name="T15" fmla="*/ 15 h 15"/>
                <a:gd name="T16" fmla="*/ 31 w 37"/>
                <a:gd name="T17" fmla="*/ 15 h 15"/>
                <a:gd name="T18" fmla="*/ 34 w 37"/>
                <a:gd name="T19" fmla="*/ 15 h 15"/>
                <a:gd name="T20" fmla="*/ 34 w 37"/>
                <a:gd name="T21" fmla="*/ 15 h 15"/>
                <a:gd name="T22" fmla="*/ 34 w 37"/>
                <a:gd name="T23" fmla="*/ 12 h 15"/>
                <a:gd name="T24" fmla="*/ 37 w 37"/>
                <a:gd name="T25" fmla="*/ 12 h 15"/>
                <a:gd name="T26" fmla="*/ 34 w 37"/>
                <a:gd name="T27" fmla="*/ 9 h 15"/>
                <a:gd name="T28" fmla="*/ 34 w 37"/>
                <a:gd name="T29" fmla="*/ 9 h 15"/>
                <a:gd name="T30" fmla="*/ 34 w 37"/>
                <a:gd name="T31" fmla="*/ 9 h 15"/>
                <a:gd name="T32" fmla="*/ 31 w 37"/>
                <a:gd name="T33" fmla="*/ 9 h 15"/>
                <a:gd name="T34" fmla="*/ 28 w 37"/>
                <a:gd name="T35" fmla="*/ 6 h 15"/>
                <a:gd name="T36" fmla="*/ 25 w 37"/>
                <a:gd name="T37" fmla="*/ 6 h 15"/>
                <a:gd name="T38" fmla="*/ 22 w 37"/>
                <a:gd name="T39" fmla="*/ 6 h 15"/>
                <a:gd name="T40" fmla="*/ 15 w 37"/>
                <a:gd name="T41" fmla="*/ 3 h 15"/>
                <a:gd name="T42" fmla="*/ 12 w 37"/>
                <a:gd name="T43" fmla="*/ 3 h 15"/>
                <a:gd name="T44" fmla="*/ 9 w 37"/>
                <a:gd name="T45" fmla="*/ 3 h 15"/>
                <a:gd name="T46" fmla="*/ 6 w 37"/>
                <a:gd name="T47" fmla="*/ 0 h 15"/>
                <a:gd name="T48" fmla="*/ 3 w 37"/>
                <a:gd name="T49" fmla="*/ 0 h 15"/>
                <a:gd name="T50" fmla="*/ 3 w 37"/>
                <a:gd name="T51" fmla="*/ 0 h 15"/>
                <a:gd name="T52" fmla="*/ 0 w 37"/>
                <a:gd name="T53" fmla="*/ 0 h 15"/>
                <a:gd name="T54" fmla="*/ 0 w 37"/>
                <a:gd name="T55" fmla="*/ 0 h 15"/>
                <a:gd name="T56" fmla="*/ 0 w 37"/>
                <a:gd name="T57" fmla="*/ 0 h 15"/>
                <a:gd name="T58" fmla="*/ 0 w 37"/>
                <a:gd name="T59" fmla="*/ 0 h 15"/>
                <a:gd name="T60" fmla="*/ 0 w 37"/>
                <a:gd name="T61" fmla="*/ 3 h 15"/>
                <a:gd name="T62" fmla="*/ 0 w 37"/>
                <a:gd name="T63" fmla="*/ 3 h 15"/>
                <a:gd name="T64" fmla="*/ 0 w 37"/>
                <a:gd name="T65" fmla="*/ 3 h 15"/>
                <a:gd name="T66" fmla="*/ 0 w 37"/>
                <a:gd name="T67" fmla="*/ 3 h 1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7"/>
                <a:gd name="T103" fmla="*/ 0 h 15"/>
                <a:gd name="T104" fmla="*/ 37 w 37"/>
                <a:gd name="T105" fmla="*/ 15 h 1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7" h="15">
                  <a:moveTo>
                    <a:pt x="0" y="3"/>
                  </a:moveTo>
                  <a:lnTo>
                    <a:pt x="3" y="3"/>
                  </a:lnTo>
                  <a:lnTo>
                    <a:pt x="9" y="6"/>
                  </a:lnTo>
                  <a:lnTo>
                    <a:pt x="12" y="9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25" y="15"/>
                  </a:lnTo>
                  <a:lnTo>
                    <a:pt x="28" y="15"/>
                  </a:lnTo>
                  <a:lnTo>
                    <a:pt x="31" y="15"/>
                  </a:lnTo>
                  <a:lnTo>
                    <a:pt x="34" y="15"/>
                  </a:lnTo>
                  <a:lnTo>
                    <a:pt x="34" y="12"/>
                  </a:lnTo>
                  <a:lnTo>
                    <a:pt x="37" y="12"/>
                  </a:lnTo>
                  <a:lnTo>
                    <a:pt x="34" y="9"/>
                  </a:lnTo>
                  <a:lnTo>
                    <a:pt x="31" y="9"/>
                  </a:lnTo>
                  <a:lnTo>
                    <a:pt x="28" y="6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06" name="Line 510"/>
            <p:cNvSpPr>
              <a:spLocks noChangeShapeType="1"/>
            </p:cNvSpPr>
            <p:nvPr/>
          </p:nvSpPr>
          <p:spPr bwMode="auto">
            <a:xfrm flipV="1">
              <a:off x="1964" y="1762"/>
              <a:ext cx="21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7" name="Line 511"/>
            <p:cNvSpPr>
              <a:spLocks noChangeShapeType="1"/>
            </p:cNvSpPr>
            <p:nvPr/>
          </p:nvSpPr>
          <p:spPr bwMode="auto">
            <a:xfrm flipV="1">
              <a:off x="1988" y="1775"/>
              <a:ext cx="1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8" name="Line 512"/>
            <p:cNvSpPr>
              <a:spLocks noChangeShapeType="1"/>
            </p:cNvSpPr>
            <p:nvPr/>
          </p:nvSpPr>
          <p:spPr bwMode="auto">
            <a:xfrm flipV="1">
              <a:off x="2010" y="1787"/>
              <a:ext cx="22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9" name="Line 513"/>
            <p:cNvSpPr>
              <a:spLocks noChangeShapeType="1"/>
            </p:cNvSpPr>
            <p:nvPr/>
          </p:nvSpPr>
          <p:spPr bwMode="auto">
            <a:xfrm flipV="1">
              <a:off x="2035" y="1796"/>
              <a:ext cx="18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0" name="Line 514"/>
            <p:cNvSpPr>
              <a:spLocks noChangeShapeType="1"/>
            </p:cNvSpPr>
            <p:nvPr/>
          </p:nvSpPr>
          <p:spPr bwMode="auto">
            <a:xfrm flipV="1">
              <a:off x="2059" y="1809"/>
              <a:ext cx="19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1" name="Line 515"/>
            <p:cNvSpPr>
              <a:spLocks noChangeShapeType="1"/>
            </p:cNvSpPr>
            <p:nvPr/>
          </p:nvSpPr>
          <p:spPr bwMode="auto">
            <a:xfrm flipV="1">
              <a:off x="2081" y="1821"/>
              <a:ext cx="22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2" name="Line 516"/>
            <p:cNvSpPr>
              <a:spLocks noChangeShapeType="1"/>
            </p:cNvSpPr>
            <p:nvPr/>
          </p:nvSpPr>
          <p:spPr bwMode="auto">
            <a:xfrm flipV="1">
              <a:off x="2106" y="1833"/>
              <a:ext cx="18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3" name="Line 517"/>
            <p:cNvSpPr>
              <a:spLocks noChangeShapeType="1"/>
            </p:cNvSpPr>
            <p:nvPr/>
          </p:nvSpPr>
          <p:spPr bwMode="auto">
            <a:xfrm flipV="1">
              <a:off x="2127" y="1846"/>
              <a:ext cx="22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4" name="Line 518"/>
            <p:cNvSpPr>
              <a:spLocks noChangeShapeType="1"/>
            </p:cNvSpPr>
            <p:nvPr/>
          </p:nvSpPr>
          <p:spPr bwMode="auto">
            <a:xfrm flipV="1">
              <a:off x="1905" y="1871"/>
              <a:ext cx="22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5" name="Line 519"/>
            <p:cNvSpPr>
              <a:spLocks noChangeShapeType="1"/>
            </p:cNvSpPr>
            <p:nvPr/>
          </p:nvSpPr>
          <p:spPr bwMode="auto">
            <a:xfrm flipV="1">
              <a:off x="1930" y="1880"/>
              <a:ext cx="18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6" name="Line 520"/>
            <p:cNvSpPr>
              <a:spLocks noChangeShapeType="1"/>
            </p:cNvSpPr>
            <p:nvPr/>
          </p:nvSpPr>
          <p:spPr bwMode="auto">
            <a:xfrm flipV="1">
              <a:off x="1951" y="1892"/>
              <a:ext cx="22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7" name="Line 521"/>
            <p:cNvSpPr>
              <a:spLocks noChangeShapeType="1"/>
            </p:cNvSpPr>
            <p:nvPr/>
          </p:nvSpPr>
          <p:spPr bwMode="auto">
            <a:xfrm flipV="1">
              <a:off x="1976" y="1905"/>
              <a:ext cx="19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8" name="Line 522"/>
            <p:cNvSpPr>
              <a:spLocks noChangeShapeType="1"/>
            </p:cNvSpPr>
            <p:nvPr/>
          </p:nvSpPr>
          <p:spPr bwMode="auto">
            <a:xfrm flipV="1">
              <a:off x="2001" y="1917"/>
              <a:ext cx="18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19" name="Line 523"/>
            <p:cNvSpPr>
              <a:spLocks noChangeShapeType="1"/>
            </p:cNvSpPr>
            <p:nvPr/>
          </p:nvSpPr>
          <p:spPr bwMode="auto">
            <a:xfrm flipV="1">
              <a:off x="2022" y="1929"/>
              <a:ext cx="22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0" name="Line 524"/>
            <p:cNvSpPr>
              <a:spLocks noChangeShapeType="1"/>
            </p:cNvSpPr>
            <p:nvPr/>
          </p:nvSpPr>
          <p:spPr bwMode="auto">
            <a:xfrm flipV="1">
              <a:off x="2047" y="1942"/>
              <a:ext cx="1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1" name="Line 525"/>
            <p:cNvSpPr>
              <a:spLocks noChangeShapeType="1"/>
            </p:cNvSpPr>
            <p:nvPr/>
          </p:nvSpPr>
          <p:spPr bwMode="auto">
            <a:xfrm flipV="1">
              <a:off x="2069" y="1951"/>
              <a:ext cx="21" cy="37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2" name="Freeform 526"/>
            <p:cNvSpPr>
              <a:spLocks/>
            </p:cNvSpPr>
            <p:nvPr/>
          </p:nvSpPr>
          <p:spPr bwMode="auto">
            <a:xfrm>
              <a:off x="1908" y="1787"/>
              <a:ext cx="238" cy="173"/>
            </a:xfrm>
            <a:custGeom>
              <a:avLst/>
              <a:gdLst>
                <a:gd name="T0" fmla="*/ 238 w 238"/>
                <a:gd name="T1" fmla="*/ 102 h 173"/>
                <a:gd name="T2" fmla="*/ 198 w 238"/>
                <a:gd name="T3" fmla="*/ 173 h 173"/>
                <a:gd name="T4" fmla="*/ 0 w 238"/>
                <a:gd name="T5" fmla="*/ 74 h 173"/>
                <a:gd name="T6" fmla="*/ 40 w 238"/>
                <a:gd name="T7" fmla="*/ 0 h 173"/>
                <a:gd name="T8" fmla="*/ 238 w 238"/>
                <a:gd name="T9" fmla="*/ 102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73"/>
                <a:gd name="T17" fmla="*/ 238 w 238"/>
                <a:gd name="T18" fmla="*/ 173 h 1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73">
                  <a:moveTo>
                    <a:pt x="238" y="102"/>
                  </a:moveTo>
                  <a:lnTo>
                    <a:pt x="198" y="173"/>
                  </a:lnTo>
                  <a:lnTo>
                    <a:pt x="0" y="74"/>
                  </a:lnTo>
                  <a:lnTo>
                    <a:pt x="40" y="0"/>
                  </a:lnTo>
                  <a:lnTo>
                    <a:pt x="238" y="102"/>
                  </a:lnTo>
                  <a:close/>
                </a:path>
              </a:pathLst>
            </a:custGeom>
            <a:solidFill>
              <a:srgbClr val="007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23" name="Line 527"/>
            <p:cNvSpPr>
              <a:spLocks noChangeShapeType="1"/>
            </p:cNvSpPr>
            <p:nvPr/>
          </p:nvSpPr>
          <p:spPr bwMode="auto">
            <a:xfrm flipV="1">
              <a:off x="1837" y="2037"/>
              <a:ext cx="3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4" name="Line 528"/>
            <p:cNvSpPr>
              <a:spLocks noChangeShapeType="1"/>
            </p:cNvSpPr>
            <p:nvPr/>
          </p:nvSpPr>
          <p:spPr bwMode="auto">
            <a:xfrm flipV="1">
              <a:off x="1874" y="2040"/>
              <a:ext cx="3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5" name="Line 529"/>
            <p:cNvSpPr>
              <a:spLocks noChangeShapeType="1"/>
            </p:cNvSpPr>
            <p:nvPr/>
          </p:nvSpPr>
          <p:spPr bwMode="auto">
            <a:xfrm flipV="1">
              <a:off x="1911" y="2044"/>
              <a:ext cx="3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6" name="Line 530"/>
            <p:cNvSpPr>
              <a:spLocks noChangeShapeType="1"/>
            </p:cNvSpPr>
            <p:nvPr/>
          </p:nvSpPr>
          <p:spPr bwMode="auto">
            <a:xfrm flipV="1">
              <a:off x="1948" y="2050"/>
              <a:ext cx="6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7" name="Line 531"/>
            <p:cNvSpPr>
              <a:spLocks noChangeShapeType="1"/>
            </p:cNvSpPr>
            <p:nvPr/>
          </p:nvSpPr>
          <p:spPr bwMode="auto">
            <a:xfrm flipV="1">
              <a:off x="1825" y="2136"/>
              <a:ext cx="3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8" name="Line 532"/>
            <p:cNvSpPr>
              <a:spLocks noChangeShapeType="1"/>
            </p:cNvSpPr>
            <p:nvPr/>
          </p:nvSpPr>
          <p:spPr bwMode="auto">
            <a:xfrm flipV="1">
              <a:off x="1862" y="2142"/>
              <a:ext cx="3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29" name="Line 533"/>
            <p:cNvSpPr>
              <a:spLocks noChangeShapeType="1"/>
            </p:cNvSpPr>
            <p:nvPr/>
          </p:nvSpPr>
          <p:spPr bwMode="auto">
            <a:xfrm flipV="1">
              <a:off x="1899" y="2146"/>
              <a:ext cx="6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0" name="Line 534"/>
            <p:cNvSpPr>
              <a:spLocks noChangeShapeType="1"/>
            </p:cNvSpPr>
            <p:nvPr/>
          </p:nvSpPr>
          <p:spPr bwMode="auto">
            <a:xfrm flipV="1">
              <a:off x="1939" y="2149"/>
              <a:ext cx="3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1" name="Freeform 535"/>
            <p:cNvSpPr>
              <a:spLocks/>
            </p:cNvSpPr>
            <p:nvPr/>
          </p:nvSpPr>
          <p:spPr bwMode="auto">
            <a:xfrm>
              <a:off x="1800" y="2065"/>
              <a:ext cx="182" cy="87"/>
            </a:xfrm>
            <a:custGeom>
              <a:avLst/>
              <a:gdLst>
                <a:gd name="T0" fmla="*/ 182 w 182"/>
                <a:gd name="T1" fmla="*/ 19 h 87"/>
                <a:gd name="T2" fmla="*/ 173 w 182"/>
                <a:gd name="T3" fmla="*/ 87 h 87"/>
                <a:gd name="T4" fmla="*/ 0 w 182"/>
                <a:gd name="T5" fmla="*/ 68 h 87"/>
                <a:gd name="T6" fmla="*/ 6 w 182"/>
                <a:gd name="T7" fmla="*/ 0 h 87"/>
                <a:gd name="T8" fmla="*/ 182 w 182"/>
                <a:gd name="T9" fmla="*/ 19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2"/>
                <a:gd name="T16" fmla="*/ 0 h 87"/>
                <a:gd name="T17" fmla="*/ 182 w 182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2" h="87">
                  <a:moveTo>
                    <a:pt x="182" y="19"/>
                  </a:moveTo>
                  <a:lnTo>
                    <a:pt x="173" y="87"/>
                  </a:lnTo>
                  <a:lnTo>
                    <a:pt x="0" y="68"/>
                  </a:lnTo>
                  <a:lnTo>
                    <a:pt x="6" y="0"/>
                  </a:lnTo>
                  <a:lnTo>
                    <a:pt x="182" y="19"/>
                  </a:lnTo>
                  <a:close/>
                </a:path>
              </a:pathLst>
            </a:custGeom>
            <a:solidFill>
              <a:srgbClr val="007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232" name="Line 536"/>
            <p:cNvSpPr>
              <a:spLocks noChangeShapeType="1"/>
            </p:cNvSpPr>
            <p:nvPr/>
          </p:nvSpPr>
          <p:spPr bwMode="auto">
            <a:xfrm flipH="1" flipV="1">
              <a:off x="2007" y="2068"/>
              <a:ext cx="9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3" name="Line 537"/>
            <p:cNvSpPr>
              <a:spLocks noChangeShapeType="1"/>
            </p:cNvSpPr>
            <p:nvPr/>
          </p:nvSpPr>
          <p:spPr bwMode="auto">
            <a:xfrm flipH="1" flipV="1">
              <a:off x="2038" y="2059"/>
              <a:ext cx="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4" name="Line 538"/>
            <p:cNvSpPr>
              <a:spLocks noChangeShapeType="1"/>
            </p:cNvSpPr>
            <p:nvPr/>
          </p:nvSpPr>
          <p:spPr bwMode="auto">
            <a:xfrm flipH="1" flipV="1">
              <a:off x="2069" y="2053"/>
              <a:ext cx="9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5" name="Line 539"/>
            <p:cNvSpPr>
              <a:spLocks noChangeShapeType="1"/>
            </p:cNvSpPr>
            <p:nvPr/>
          </p:nvSpPr>
          <p:spPr bwMode="auto">
            <a:xfrm flipH="1" flipV="1">
              <a:off x="2100" y="2044"/>
              <a:ext cx="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6" name="Line 540"/>
            <p:cNvSpPr>
              <a:spLocks noChangeShapeType="1"/>
            </p:cNvSpPr>
            <p:nvPr/>
          </p:nvSpPr>
          <p:spPr bwMode="auto">
            <a:xfrm flipH="1" flipV="1">
              <a:off x="2035" y="2164"/>
              <a:ext cx="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7" name="Line 541"/>
            <p:cNvSpPr>
              <a:spLocks noChangeShapeType="1"/>
            </p:cNvSpPr>
            <p:nvPr/>
          </p:nvSpPr>
          <p:spPr bwMode="auto">
            <a:xfrm flipH="1" flipV="1">
              <a:off x="2066" y="2158"/>
              <a:ext cx="9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8" name="Line 542"/>
            <p:cNvSpPr>
              <a:spLocks noChangeShapeType="1"/>
            </p:cNvSpPr>
            <p:nvPr/>
          </p:nvSpPr>
          <p:spPr bwMode="auto">
            <a:xfrm flipH="1" flipV="1">
              <a:off x="2097" y="2149"/>
              <a:ext cx="9" cy="34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39" name="Line 543"/>
            <p:cNvSpPr>
              <a:spLocks noChangeShapeType="1"/>
            </p:cNvSpPr>
            <p:nvPr/>
          </p:nvSpPr>
          <p:spPr bwMode="auto">
            <a:xfrm flipH="1" flipV="1">
              <a:off x="2127" y="2142"/>
              <a:ext cx="10" cy="31"/>
            </a:xfrm>
            <a:prstGeom prst="line">
              <a:avLst/>
            </a:prstGeom>
            <a:noFill/>
            <a:ln w="58738">
              <a:solidFill>
                <a:srgbClr val="63A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40" name="Freeform 544"/>
            <p:cNvSpPr>
              <a:spLocks/>
            </p:cNvSpPr>
            <p:nvPr/>
          </p:nvSpPr>
          <p:spPr bwMode="auto">
            <a:xfrm>
              <a:off x="1995" y="2068"/>
              <a:ext cx="157" cy="102"/>
            </a:xfrm>
            <a:custGeom>
              <a:avLst/>
              <a:gdLst>
                <a:gd name="T0" fmla="*/ 139 w 157"/>
                <a:gd name="T1" fmla="*/ 0 h 102"/>
                <a:gd name="T2" fmla="*/ 157 w 157"/>
                <a:gd name="T3" fmla="*/ 68 h 102"/>
                <a:gd name="T4" fmla="*/ 18 w 157"/>
                <a:gd name="T5" fmla="*/ 102 h 102"/>
                <a:gd name="T6" fmla="*/ 0 w 157"/>
                <a:gd name="T7" fmla="*/ 37 h 102"/>
                <a:gd name="T8" fmla="*/ 139 w 157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02"/>
                <a:gd name="T17" fmla="*/ 157 w 157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02">
                  <a:moveTo>
                    <a:pt x="139" y="0"/>
                  </a:moveTo>
                  <a:lnTo>
                    <a:pt x="157" y="68"/>
                  </a:lnTo>
                  <a:lnTo>
                    <a:pt x="18" y="102"/>
                  </a:lnTo>
                  <a:lnTo>
                    <a:pt x="0" y="37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007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54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98711926-D2A4-404A-AED4-8D3E5BC7805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1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772"/>
    </mc:Choice>
    <mc:Fallback xmlns="">
      <p:transition spd="slow" advTm="11477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799" y="1871999"/>
            <a:ext cx="8527871" cy="4986001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dirty="0"/>
              <a:t>How many different digital design techniques have you practiced in your previous modules?</a:t>
            </a:r>
          </a:p>
          <a:p>
            <a:pPr lvl="1"/>
            <a:r>
              <a:rPr lang="en-GB" dirty="0"/>
              <a:t>Boolean Logic: minimal sums, products, don't care</a:t>
            </a:r>
          </a:p>
          <a:p>
            <a:pPr lvl="1"/>
            <a:r>
              <a:rPr lang="en-GB" dirty="0"/>
              <a:t>Circuit Levels or Layers</a:t>
            </a:r>
          </a:p>
          <a:p>
            <a:pPr lvl="1"/>
            <a:r>
              <a:rPr lang="en-GB" dirty="0"/>
              <a:t>Karnaugh Maps</a:t>
            </a:r>
          </a:p>
          <a:p>
            <a:pPr lvl="1"/>
            <a:r>
              <a:rPr lang="en-GB" dirty="0"/>
              <a:t>Multiple Output Simplification</a:t>
            </a:r>
          </a:p>
          <a:p>
            <a:pPr lvl="1"/>
            <a:r>
              <a:rPr lang="en-GB" dirty="0"/>
              <a:t>State Diagrams, Tables (Mealy and Moore)</a:t>
            </a:r>
          </a:p>
          <a:p>
            <a:pPr lvl="1"/>
            <a:r>
              <a:rPr lang="en-GB" dirty="0"/>
              <a:t>Implication Tables to find Equivalent States</a:t>
            </a:r>
          </a:p>
          <a:p>
            <a:pPr lvl="1"/>
            <a:r>
              <a:rPr lang="en-GB" dirty="0"/>
              <a:t>Minimal State Tables</a:t>
            </a:r>
          </a:p>
          <a:p>
            <a:pPr lvl="1"/>
            <a:r>
              <a:rPr lang="en-GB" dirty="0"/>
              <a:t>Unused State Analysis</a:t>
            </a:r>
          </a:p>
          <a:p>
            <a:pPr lvl="1"/>
            <a:r>
              <a:rPr lang="en-GB" dirty="0"/>
              <a:t>State Assignment Techniques</a:t>
            </a:r>
          </a:p>
          <a:p>
            <a:pPr lvl="1"/>
            <a:r>
              <a:rPr lang="en-GB" dirty="0"/>
              <a:t>Excitation Tables</a:t>
            </a:r>
          </a:p>
          <a:p>
            <a:pPr lvl="1"/>
            <a:r>
              <a:rPr lang="en-GB" dirty="0"/>
              <a:t>Algorithmic State machines (Mealy and Moore)</a:t>
            </a:r>
          </a:p>
          <a:p>
            <a:pPr lvl="0" eaLnBrk="1" hangingPunct="1"/>
            <a:endParaRPr lang="en-US" dirty="0">
              <a:solidFill>
                <a:srgbClr val="000000"/>
              </a:solidFill>
            </a:endParaRPr>
          </a:p>
          <a:p>
            <a:pPr marL="0" lvl="0" indent="0" eaLnBrk="1" hangingPunct="1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</a:pPr>
            <a:endParaRPr 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Digital System Design Strategies 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12</a:t>
            </a:fld>
            <a:endParaRPr lang="de-DE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A6A13C-F138-5449-B82A-A51F8CFF5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735" y="5237409"/>
            <a:ext cx="4419266" cy="7614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GB" kern="0" dirty="0"/>
              <a:t>Flow Tables and their Reduction</a:t>
            </a:r>
          </a:p>
          <a:p>
            <a:pPr lvl="1"/>
            <a:r>
              <a:rPr lang="en-GB" kern="0" dirty="0"/>
              <a:t>Races</a:t>
            </a:r>
          </a:p>
          <a:p>
            <a:pPr eaLnBrk="1" hangingPunct="1"/>
            <a:endParaRPr lang="en-US" kern="0" dirty="0">
              <a:solidFill>
                <a:srgbClr val="000000"/>
              </a:solidFill>
            </a:endParaRPr>
          </a:p>
          <a:p>
            <a:pPr marL="0" indent="0" eaLnBrk="1" hangingPunct="1">
              <a:buFont typeface="Wingdings" pitchFamily="1" charset="2"/>
              <a:buNone/>
            </a:pPr>
            <a:endParaRPr lang="en-US" kern="0" dirty="0">
              <a:solidFill>
                <a:srgbClr val="000000"/>
              </a:solidFill>
            </a:endParaRPr>
          </a:p>
          <a:p>
            <a:pPr marL="984250" lvl="1" indent="0" eaLnBrk="1" hangingPunct="1">
              <a:buFont typeface="Wingdings" pitchFamily="1" charset="2"/>
              <a:buNone/>
            </a:pPr>
            <a:endParaRPr lang="en-US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039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30"/>
    </mc:Choice>
    <mc:Fallback xmlns="">
      <p:transition spd="slow" advTm="40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1.1. Microprocessors, Microcontrollers</a:t>
            </a:r>
          </a:p>
        </p:txBody>
      </p:sp>
      <p:pic>
        <p:nvPicPr>
          <p:cNvPr id="512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073" y="1832148"/>
            <a:ext cx="4068000" cy="315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391400" y="3695873"/>
            <a:ext cx="13716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>
                <a:latin typeface="+mn-lt"/>
              </a:rPr>
              <a:t>MPUs,</a:t>
            </a:r>
          </a:p>
          <a:p>
            <a:pPr algn="ctr">
              <a:defRPr/>
            </a:pPr>
            <a:r>
              <a:rPr lang="en-US" sz="2000">
                <a:latin typeface="+mn-lt"/>
              </a:rPr>
              <a:t>MCUs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b="1"/>
              <a:t>Processors</a:t>
            </a: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Sophisticated state machines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Fixed function devices</a:t>
            </a:r>
            <a:endParaRPr lang="en-GB"/>
          </a:p>
          <a:p>
            <a:pPr lvl="1" eaLnBrk="1" hangingPunct="1">
              <a:lnSpc>
                <a:spcPct val="90000"/>
              </a:lnSpc>
            </a:pPr>
            <a:r>
              <a:rPr lang="en-GB"/>
              <a:t>Executing programs</a:t>
            </a:r>
          </a:p>
          <a:p>
            <a:pPr lvl="1" eaLnBrk="1" hangingPunct="1">
              <a:lnSpc>
                <a:spcPct val="90000"/>
              </a:lnSpc>
            </a:pPr>
            <a:endParaRPr lang="en-GB"/>
          </a:p>
          <a:p>
            <a:pPr lvl="1" eaLnBrk="1" hangingPunct="1">
              <a:lnSpc>
                <a:spcPct val="90000"/>
              </a:lnSpc>
            </a:pPr>
            <a:endParaRPr lang="en-GB"/>
          </a:p>
        </p:txBody>
      </p:sp>
      <p:grpSp>
        <p:nvGrpSpPr>
          <p:cNvPr id="145" name="Group 3"/>
          <p:cNvGrpSpPr>
            <a:grpSpLocks noChangeAspect="1"/>
          </p:cNvGrpSpPr>
          <p:nvPr/>
        </p:nvGrpSpPr>
        <p:grpSpPr bwMode="auto">
          <a:xfrm>
            <a:off x="307628" y="3429000"/>
            <a:ext cx="4536000" cy="2499107"/>
            <a:chOff x="1141" y="1208"/>
            <a:chExt cx="3393" cy="1870"/>
          </a:xfrm>
        </p:grpSpPr>
        <p:sp>
          <p:nvSpPr>
            <p:cNvPr id="146" name="Oval 4"/>
            <p:cNvSpPr>
              <a:spLocks noChangeArrowheads="1"/>
            </p:cNvSpPr>
            <p:nvPr/>
          </p:nvSpPr>
          <p:spPr bwMode="auto">
            <a:xfrm>
              <a:off x="2053" y="2713"/>
              <a:ext cx="235" cy="234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47" name="Oval 5"/>
            <p:cNvSpPr>
              <a:spLocks noChangeArrowheads="1"/>
            </p:cNvSpPr>
            <p:nvPr/>
          </p:nvSpPr>
          <p:spPr bwMode="auto">
            <a:xfrm>
              <a:off x="3100" y="1506"/>
              <a:ext cx="231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48" name="Freeform 6"/>
            <p:cNvSpPr>
              <a:spLocks/>
            </p:cNvSpPr>
            <p:nvPr/>
          </p:nvSpPr>
          <p:spPr bwMode="auto">
            <a:xfrm>
              <a:off x="1291" y="2016"/>
              <a:ext cx="68" cy="100"/>
            </a:xfrm>
            <a:custGeom>
              <a:avLst/>
              <a:gdLst>
                <a:gd name="T0" fmla="*/ 68 w 68"/>
                <a:gd name="T1" fmla="*/ 100 h 100"/>
                <a:gd name="T2" fmla="*/ 43 w 68"/>
                <a:gd name="T3" fmla="*/ 0 h 100"/>
                <a:gd name="T4" fmla="*/ 0 w 68"/>
                <a:gd name="T5" fmla="*/ 22 h 100"/>
                <a:gd name="T6" fmla="*/ 68 w 68"/>
                <a:gd name="T7" fmla="*/ 10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100"/>
                <a:gd name="T14" fmla="*/ 68 w 68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100">
                  <a:moveTo>
                    <a:pt x="68" y="100"/>
                  </a:moveTo>
                  <a:lnTo>
                    <a:pt x="43" y="0"/>
                  </a:lnTo>
                  <a:lnTo>
                    <a:pt x="0" y="22"/>
                  </a:lnTo>
                  <a:lnTo>
                    <a:pt x="68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49" name="Freeform 7"/>
            <p:cNvSpPr>
              <a:spLocks/>
            </p:cNvSpPr>
            <p:nvPr/>
          </p:nvSpPr>
          <p:spPr bwMode="auto">
            <a:xfrm>
              <a:off x="1700" y="2178"/>
              <a:ext cx="100" cy="50"/>
            </a:xfrm>
            <a:custGeom>
              <a:avLst/>
              <a:gdLst>
                <a:gd name="T0" fmla="*/ 100 w 100"/>
                <a:gd name="T1" fmla="*/ 22 h 50"/>
                <a:gd name="T2" fmla="*/ 0 w 100"/>
                <a:gd name="T3" fmla="*/ 0 h 50"/>
                <a:gd name="T4" fmla="*/ 3 w 100"/>
                <a:gd name="T5" fmla="*/ 50 h 50"/>
                <a:gd name="T6" fmla="*/ 100 w 100"/>
                <a:gd name="T7" fmla="*/ 22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2"/>
                  </a:moveTo>
                  <a:lnTo>
                    <a:pt x="0" y="0"/>
                  </a:lnTo>
                  <a:lnTo>
                    <a:pt x="3" y="50"/>
                  </a:lnTo>
                  <a:lnTo>
                    <a:pt x="100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0" name="Freeform 8"/>
            <p:cNvSpPr>
              <a:spLocks/>
            </p:cNvSpPr>
            <p:nvPr/>
          </p:nvSpPr>
          <p:spPr bwMode="auto">
            <a:xfrm>
              <a:off x="1488" y="2006"/>
              <a:ext cx="90" cy="85"/>
            </a:xfrm>
            <a:custGeom>
              <a:avLst/>
              <a:gdLst>
                <a:gd name="T0" fmla="*/ 0 w 90"/>
                <a:gd name="T1" fmla="*/ 85 h 85"/>
                <a:gd name="T2" fmla="*/ 90 w 90"/>
                <a:gd name="T3" fmla="*/ 38 h 85"/>
                <a:gd name="T4" fmla="*/ 56 w 90"/>
                <a:gd name="T5" fmla="*/ 0 h 85"/>
                <a:gd name="T6" fmla="*/ 0 w 90"/>
                <a:gd name="T7" fmla="*/ 85 h 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0"/>
                <a:gd name="T13" fmla="*/ 0 h 85"/>
                <a:gd name="T14" fmla="*/ 90 w 90"/>
                <a:gd name="T15" fmla="*/ 85 h 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0" h="85">
                  <a:moveTo>
                    <a:pt x="0" y="85"/>
                  </a:moveTo>
                  <a:lnTo>
                    <a:pt x="90" y="38"/>
                  </a:lnTo>
                  <a:lnTo>
                    <a:pt x="56" y="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1" name="Freeform 9"/>
            <p:cNvSpPr>
              <a:spLocks/>
            </p:cNvSpPr>
            <p:nvPr/>
          </p:nvSpPr>
          <p:spPr bwMode="auto">
            <a:xfrm>
              <a:off x="1803" y="1647"/>
              <a:ext cx="100" cy="62"/>
            </a:xfrm>
            <a:custGeom>
              <a:avLst/>
              <a:gdLst>
                <a:gd name="T0" fmla="*/ 0 w 100"/>
                <a:gd name="T1" fmla="*/ 62 h 62"/>
                <a:gd name="T2" fmla="*/ 100 w 100"/>
                <a:gd name="T3" fmla="*/ 44 h 62"/>
                <a:gd name="T4" fmla="*/ 81 w 100"/>
                <a:gd name="T5" fmla="*/ 0 h 62"/>
                <a:gd name="T6" fmla="*/ 0 w 100"/>
                <a:gd name="T7" fmla="*/ 62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62"/>
                <a:gd name="T14" fmla="*/ 100 w 100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62">
                  <a:moveTo>
                    <a:pt x="0" y="62"/>
                  </a:moveTo>
                  <a:lnTo>
                    <a:pt x="100" y="44"/>
                  </a:lnTo>
                  <a:lnTo>
                    <a:pt x="81" y="0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2" name="Freeform 10"/>
            <p:cNvSpPr>
              <a:spLocks/>
            </p:cNvSpPr>
            <p:nvPr/>
          </p:nvSpPr>
          <p:spPr bwMode="auto">
            <a:xfrm>
              <a:off x="2428" y="1653"/>
              <a:ext cx="103" cy="53"/>
            </a:xfrm>
            <a:custGeom>
              <a:avLst/>
              <a:gdLst>
                <a:gd name="T0" fmla="*/ 103 w 103"/>
                <a:gd name="T1" fmla="*/ 53 h 53"/>
                <a:gd name="T2" fmla="*/ 16 w 103"/>
                <a:gd name="T3" fmla="*/ 0 h 53"/>
                <a:gd name="T4" fmla="*/ 0 w 103"/>
                <a:gd name="T5" fmla="*/ 47 h 53"/>
                <a:gd name="T6" fmla="*/ 103 w 103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3"/>
                <a:gd name="T14" fmla="*/ 103 w 10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3">
                  <a:moveTo>
                    <a:pt x="103" y="53"/>
                  </a:moveTo>
                  <a:lnTo>
                    <a:pt x="16" y="0"/>
                  </a:lnTo>
                  <a:lnTo>
                    <a:pt x="0" y="47"/>
                  </a:lnTo>
                  <a:lnTo>
                    <a:pt x="10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3" name="Freeform 11"/>
            <p:cNvSpPr>
              <a:spLocks/>
            </p:cNvSpPr>
            <p:nvPr/>
          </p:nvSpPr>
          <p:spPr bwMode="auto">
            <a:xfrm>
              <a:off x="1975" y="1725"/>
              <a:ext cx="91" cy="88"/>
            </a:xfrm>
            <a:custGeom>
              <a:avLst/>
              <a:gdLst>
                <a:gd name="T0" fmla="*/ 91 w 91"/>
                <a:gd name="T1" fmla="*/ 0 h 88"/>
                <a:gd name="T2" fmla="*/ 0 w 91"/>
                <a:gd name="T3" fmla="*/ 53 h 88"/>
                <a:gd name="T4" fmla="*/ 38 w 91"/>
                <a:gd name="T5" fmla="*/ 88 h 88"/>
                <a:gd name="T6" fmla="*/ 91 w 91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88"/>
                <a:gd name="T14" fmla="*/ 91 w 91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88">
                  <a:moveTo>
                    <a:pt x="91" y="0"/>
                  </a:moveTo>
                  <a:lnTo>
                    <a:pt x="0" y="53"/>
                  </a:lnTo>
                  <a:lnTo>
                    <a:pt x="38" y="8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4" name="Freeform 12"/>
            <p:cNvSpPr>
              <a:spLocks/>
            </p:cNvSpPr>
            <p:nvPr/>
          </p:nvSpPr>
          <p:spPr bwMode="auto">
            <a:xfrm>
              <a:off x="2781" y="1997"/>
              <a:ext cx="50" cy="103"/>
            </a:xfrm>
            <a:custGeom>
              <a:avLst/>
              <a:gdLst>
                <a:gd name="T0" fmla="*/ 50 w 50"/>
                <a:gd name="T1" fmla="*/ 103 h 103"/>
                <a:gd name="T2" fmla="*/ 47 w 50"/>
                <a:gd name="T3" fmla="*/ 0 h 103"/>
                <a:gd name="T4" fmla="*/ 0 w 50"/>
                <a:gd name="T5" fmla="*/ 12 h 103"/>
                <a:gd name="T6" fmla="*/ 50 w 5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103"/>
                <a:gd name="T14" fmla="*/ 50 w 50"/>
                <a:gd name="T15" fmla="*/ 103 h 1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103">
                  <a:moveTo>
                    <a:pt x="50" y="103"/>
                  </a:moveTo>
                  <a:lnTo>
                    <a:pt x="47" y="0"/>
                  </a:lnTo>
                  <a:lnTo>
                    <a:pt x="0" y="12"/>
                  </a:lnTo>
                  <a:lnTo>
                    <a:pt x="5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5" name="Freeform 13"/>
            <p:cNvSpPr>
              <a:spLocks/>
            </p:cNvSpPr>
            <p:nvPr/>
          </p:nvSpPr>
          <p:spPr bwMode="auto">
            <a:xfrm>
              <a:off x="2806" y="1919"/>
              <a:ext cx="194" cy="172"/>
            </a:xfrm>
            <a:custGeom>
              <a:avLst/>
              <a:gdLst>
                <a:gd name="T0" fmla="*/ 1 w 62"/>
                <a:gd name="T1" fmla="*/ 40 h 55"/>
                <a:gd name="T2" fmla="*/ 0 w 62"/>
                <a:gd name="T3" fmla="*/ 31 h 55"/>
                <a:gd name="T4" fmla="*/ 31 w 62"/>
                <a:gd name="T5" fmla="*/ 0 h 55"/>
                <a:gd name="T6" fmla="*/ 62 w 62"/>
                <a:gd name="T7" fmla="*/ 31 h 55"/>
                <a:gd name="T8" fmla="*/ 51 w 62"/>
                <a:gd name="T9" fmla="*/ 55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55"/>
                <a:gd name="T17" fmla="*/ 62 w 62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55">
                  <a:moveTo>
                    <a:pt x="1" y="40"/>
                  </a:moveTo>
                  <a:cubicBezTo>
                    <a:pt x="0" y="37"/>
                    <a:pt x="0" y="34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2" y="14"/>
                    <a:pt x="62" y="31"/>
                  </a:cubicBezTo>
                  <a:cubicBezTo>
                    <a:pt x="62" y="41"/>
                    <a:pt x="58" y="50"/>
                    <a:pt x="51" y="55"/>
                  </a:cubicBezTo>
                </a:path>
              </a:pathLst>
            </a:cu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6" name="Oval 14"/>
            <p:cNvSpPr>
              <a:spLocks noChangeArrowheads="1"/>
            </p:cNvSpPr>
            <p:nvPr/>
          </p:nvSpPr>
          <p:spPr bwMode="auto">
            <a:xfrm>
              <a:off x="2788" y="2078"/>
              <a:ext cx="231" cy="235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7" name="Freeform 15"/>
            <p:cNvSpPr>
              <a:spLocks/>
            </p:cNvSpPr>
            <p:nvPr/>
          </p:nvSpPr>
          <p:spPr bwMode="auto">
            <a:xfrm>
              <a:off x="3228" y="2453"/>
              <a:ext cx="50" cy="103"/>
            </a:xfrm>
            <a:custGeom>
              <a:avLst/>
              <a:gdLst>
                <a:gd name="T0" fmla="*/ 50 w 50"/>
                <a:gd name="T1" fmla="*/ 103 h 103"/>
                <a:gd name="T2" fmla="*/ 50 w 50"/>
                <a:gd name="T3" fmla="*/ 0 h 103"/>
                <a:gd name="T4" fmla="*/ 0 w 50"/>
                <a:gd name="T5" fmla="*/ 13 h 103"/>
                <a:gd name="T6" fmla="*/ 50 w 5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103"/>
                <a:gd name="T14" fmla="*/ 50 w 50"/>
                <a:gd name="T15" fmla="*/ 103 h 1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103">
                  <a:moveTo>
                    <a:pt x="50" y="103"/>
                  </a:moveTo>
                  <a:lnTo>
                    <a:pt x="50" y="0"/>
                  </a:lnTo>
                  <a:lnTo>
                    <a:pt x="0" y="13"/>
                  </a:lnTo>
                  <a:lnTo>
                    <a:pt x="5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8" name="Freeform 16"/>
            <p:cNvSpPr>
              <a:spLocks/>
            </p:cNvSpPr>
            <p:nvPr/>
          </p:nvSpPr>
          <p:spPr bwMode="auto">
            <a:xfrm>
              <a:off x="3253" y="2375"/>
              <a:ext cx="194" cy="172"/>
            </a:xfrm>
            <a:custGeom>
              <a:avLst/>
              <a:gdLst>
                <a:gd name="T0" fmla="*/ 1 w 62"/>
                <a:gd name="T1" fmla="*/ 40 h 55"/>
                <a:gd name="T2" fmla="*/ 0 w 62"/>
                <a:gd name="T3" fmla="*/ 31 h 55"/>
                <a:gd name="T4" fmla="*/ 31 w 62"/>
                <a:gd name="T5" fmla="*/ 0 h 55"/>
                <a:gd name="T6" fmla="*/ 62 w 62"/>
                <a:gd name="T7" fmla="*/ 31 h 55"/>
                <a:gd name="T8" fmla="*/ 51 w 62"/>
                <a:gd name="T9" fmla="*/ 55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55"/>
                <a:gd name="T17" fmla="*/ 62 w 62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55">
                  <a:moveTo>
                    <a:pt x="1" y="40"/>
                  </a:moveTo>
                  <a:cubicBezTo>
                    <a:pt x="0" y="37"/>
                    <a:pt x="0" y="34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2" y="14"/>
                    <a:pt x="62" y="31"/>
                  </a:cubicBezTo>
                  <a:cubicBezTo>
                    <a:pt x="62" y="41"/>
                    <a:pt x="58" y="49"/>
                    <a:pt x="51" y="55"/>
                  </a:cubicBezTo>
                </a:path>
              </a:pathLst>
            </a:cu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59" name="Freeform 17"/>
            <p:cNvSpPr>
              <a:spLocks/>
            </p:cNvSpPr>
            <p:nvPr/>
          </p:nvSpPr>
          <p:spPr bwMode="auto">
            <a:xfrm>
              <a:off x="1759" y="1550"/>
              <a:ext cx="50" cy="103"/>
            </a:xfrm>
            <a:custGeom>
              <a:avLst/>
              <a:gdLst>
                <a:gd name="T0" fmla="*/ 0 w 50"/>
                <a:gd name="T1" fmla="*/ 103 h 103"/>
                <a:gd name="T2" fmla="*/ 4 w 50"/>
                <a:gd name="T3" fmla="*/ 0 h 103"/>
                <a:gd name="T4" fmla="*/ 50 w 50"/>
                <a:gd name="T5" fmla="*/ 16 h 103"/>
                <a:gd name="T6" fmla="*/ 0 w 5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103"/>
                <a:gd name="T14" fmla="*/ 50 w 50"/>
                <a:gd name="T15" fmla="*/ 103 h 1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103">
                  <a:moveTo>
                    <a:pt x="0" y="103"/>
                  </a:moveTo>
                  <a:lnTo>
                    <a:pt x="4" y="0"/>
                  </a:lnTo>
                  <a:lnTo>
                    <a:pt x="50" y="16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0" name="Freeform 18"/>
            <p:cNvSpPr>
              <a:spLocks/>
            </p:cNvSpPr>
            <p:nvPr/>
          </p:nvSpPr>
          <p:spPr bwMode="auto">
            <a:xfrm>
              <a:off x="1591" y="1475"/>
              <a:ext cx="197" cy="172"/>
            </a:xfrm>
            <a:custGeom>
              <a:avLst/>
              <a:gdLst>
                <a:gd name="T0" fmla="*/ 61 w 63"/>
                <a:gd name="T1" fmla="*/ 39 h 55"/>
                <a:gd name="T2" fmla="*/ 63 w 63"/>
                <a:gd name="T3" fmla="*/ 31 h 55"/>
                <a:gd name="T4" fmla="*/ 31 w 63"/>
                <a:gd name="T5" fmla="*/ 0 h 55"/>
                <a:gd name="T6" fmla="*/ 0 w 63"/>
                <a:gd name="T7" fmla="*/ 31 h 55"/>
                <a:gd name="T8" fmla="*/ 11 w 63"/>
                <a:gd name="T9" fmla="*/ 55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"/>
                <a:gd name="T16" fmla="*/ 0 h 55"/>
                <a:gd name="T17" fmla="*/ 63 w 63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" h="55">
                  <a:moveTo>
                    <a:pt x="61" y="39"/>
                  </a:moveTo>
                  <a:cubicBezTo>
                    <a:pt x="62" y="37"/>
                    <a:pt x="63" y="34"/>
                    <a:pt x="63" y="31"/>
                  </a:cubicBezTo>
                  <a:cubicBezTo>
                    <a:pt x="63" y="14"/>
                    <a:pt x="49" y="0"/>
                    <a:pt x="31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40"/>
                    <a:pt x="5" y="49"/>
                    <a:pt x="11" y="55"/>
                  </a:cubicBezTo>
                </a:path>
              </a:pathLst>
            </a:cu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1" name="Freeform 19"/>
            <p:cNvSpPr>
              <a:spLocks/>
            </p:cNvSpPr>
            <p:nvPr/>
          </p:nvSpPr>
          <p:spPr bwMode="auto">
            <a:xfrm>
              <a:off x="4282" y="1772"/>
              <a:ext cx="103" cy="50"/>
            </a:xfrm>
            <a:custGeom>
              <a:avLst/>
              <a:gdLst>
                <a:gd name="T0" fmla="*/ 0 w 103"/>
                <a:gd name="T1" fmla="*/ 0 h 50"/>
                <a:gd name="T2" fmla="*/ 103 w 103"/>
                <a:gd name="T3" fmla="*/ 0 h 50"/>
                <a:gd name="T4" fmla="*/ 87 w 103"/>
                <a:gd name="T5" fmla="*/ 50 h 50"/>
                <a:gd name="T6" fmla="*/ 0 w 103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0"/>
                <a:gd name="T14" fmla="*/ 103 w 103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0">
                  <a:moveTo>
                    <a:pt x="0" y="0"/>
                  </a:moveTo>
                  <a:lnTo>
                    <a:pt x="103" y="0"/>
                  </a:lnTo>
                  <a:lnTo>
                    <a:pt x="87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2" name="Freeform 20"/>
            <p:cNvSpPr>
              <a:spLocks/>
            </p:cNvSpPr>
            <p:nvPr/>
          </p:nvSpPr>
          <p:spPr bwMode="auto">
            <a:xfrm>
              <a:off x="4288" y="1603"/>
              <a:ext cx="172" cy="194"/>
            </a:xfrm>
            <a:custGeom>
              <a:avLst/>
              <a:gdLst>
                <a:gd name="T0" fmla="*/ 16 w 55"/>
                <a:gd name="T1" fmla="*/ 61 h 62"/>
                <a:gd name="T2" fmla="*/ 24 w 55"/>
                <a:gd name="T3" fmla="*/ 62 h 62"/>
                <a:gd name="T4" fmla="*/ 55 w 55"/>
                <a:gd name="T5" fmla="*/ 31 h 62"/>
                <a:gd name="T6" fmla="*/ 24 w 55"/>
                <a:gd name="T7" fmla="*/ 0 h 62"/>
                <a:gd name="T8" fmla="*/ 0 w 55"/>
                <a:gd name="T9" fmla="*/ 1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2"/>
                <a:gd name="T17" fmla="*/ 55 w 55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2">
                  <a:moveTo>
                    <a:pt x="16" y="61"/>
                  </a:moveTo>
                  <a:cubicBezTo>
                    <a:pt x="18" y="62"/>
                    <a:pt x="21" y="62"/>
                    <a:pt x="24" y="62"/>
                  </a:cubicBezTo>
                  <a:cubicBezTo>
                    <a:pt x="42" y="62"/>
                    <a:pt x="55" y="48"/>
                    <a:pt x="55" y="31"/>
                  </a:cubicBezTo>
                  <a:cubicBezTo>
                    <a:pt x="55" y="14"/>
                    <a:pt x="42" y="0"/>
                    <a:pt x="24" y="0"/>
                  </a:cubicBezTo>
                  <a:cubicBezTo>
                    <a:pt x="15" y="0"/>
                    <a:pt x="6" y="4"/>
                    <a:pt x="0" y="11"/>
                  </a:cubicBezTo>
                </a:path>
              </a:pathLst>
            </a:cu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3" name="Freeform 21"/>
            <p:cNvSpPr>
              <a:spLocks/>
            </p:cNvSpPr>
            <p:nvPr/>
          </p:nvSpPr>
          <p:spPr bwMode="auto">
            <a:xfrm>
              <a:off x="1891" y="1759"/>
              <a:ext cx="137" cy="325"/>
            </a:xfrm>
            <a:custGeom>
              <a:avLst/>
              <a:gdLst>
                <a:gd name="T0" fmla="*/ 9 w 44"/>
                <a:gd name="T1" fmla="*/ 104 h 104"/>
                <a:gd name="T2" fmla="*/ 44 w 44"/>
                <a:gd name="T3" fmla="*/ 0 h 104"/>
                <a:gd name="T4" fmla="*/ 0 60000 65536"/>
                <a:gd name="T5" fmla="*/ 0 60000 65536"/>
                <a:gd name="T6" fmla="*/ 0 w 44"/>
                <a:gd name="T7" fmla="*/ 0 h 104"/>
                <a:gd name="T8" fmla="*/ 44 w 44"/>
                <a:gd name="T9" fmla="*/ 104 h 1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" h="104">
                  <a:moveTo>
                    <a:pt x="9" y="104"/>
                  </a:moveTo>
                  <a:cubicBezTo>
                    <a:pt x="9" y="104"/>
                    <a:pt x="0" y="41"/>
                    <a:pt x="44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4" name="Freeform 22"/>
            <p:cNvSpPr>
              <a:spLocks/>
            </p:cNvSpPr>
            <p:nvPr/>
          </p:nvSpPr>
          <p:spPr bwMode="auto">
            <a:xfrm>
              <a:off x="1734" y="2275"/>
              <a:ext cx="88" cy="88"/>
            </a:xfrm>
            <a:custGeom>
              <a:avLst/>
              <a:gdLst>
                <a:gd name="T0" fmla="*/ 88 w 88"/>
                <a:gd name="T1" fmla="*/ 0 h 88"/>
                <a:gd name="T2" fmla="*/ 0 w 88"/>
                <a:gd name="T3" fmla="*/ 53 h 88"/>
                <a:gd name="T4" fmla="*/ 38 w 88"/>
                <a:gd name="T5" fmla="*/ 88 h 88"/>
                <a:gd name="T6" fmla="*/ 88 w 88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88"/>
                <a:gd name="T14" fmla="*/ 88 w 88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88">
                  <a:moveTo>
                    <a:pt x="88" y="0"/>
                  </a:moveTo>
                  <a:lnTo>
                    <a:pt x="0" y="53"/>
                  </a:lnTo>
                  <a:lnTo>
                    <a:pt x="38" y="88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5" name="Freeform 23"/>
            <p:cNvSpPr>
              <a:spLocks/>
            </p:cNvSpPr>
            <p:nvPr/>
          </p:nvSpPr>
          <p:spPr bwMode="auto">
            <a:xfrm>
              <a:off x="2028" y="2244"/>
              <a:ext cx="103" cy="50"/>
            </a:xfrm>
            <a:custGeom>
              <a:avLst/>
              <a:gdLst>
                <a:gd name="T0" fmla="*/ 0 w 103"/>
                <a:gd name="T1" fmla="*/ 19 h 50"/>
                <a:gd name="T2" fmla="*/ 97 w 103"/>
                <a:gd name="T3" fmla="*/ 50 h 50"/>
                <a:gd name="T4" fmla="*/ 103 w 103"/>
                <a:gd name="T5" fmla="*/ 0 h 50"/>
                <a:gd name="T6" fmla="*/ 0 w 103"/>
                <a:gd name="T7" fmla="*/ 19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0"/>
                <a:gd name="T14" fmla="*/ 103 w 103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0">
                  <a:moveTo>
                    <a:pt x="0" y="19"/>
                  </a:moveTo>
                  <a:lnTo>
                    <a:pt x="97" y="50"/>
                  </a:lnTo>
                  <a:lnTo>
                    <a:pt x="103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6" name="Freeform 24"/>
            <p:cNvSpPr>
              <a:spLocks/>
            </p:cNvSpPr>
            <p:nvPr/>
          </p:nvSpPr>
          <p:spPr bwMode="auto">
            <a:xfrm>
              <a:off x="2194" y="2275"/>
              <a:ext cx="81" cy="94"/>
            </a:xfrm>
            <a:custGeom>
              <a:avLst/>
              <a:gdLst>
                <a:gd name="T0" fmla="*/ 81 w 81"/>
                <a:gd name="T1" fmla="*/ 0 h 94"/>
                <a:gd name="T2" fmla="*/ 0 w 81"/>
                <a:gd name="T3" fmla="*/ 63 h 94"/>
                <a:gd name="T4" fmla="*/ 37 w 81"/>
                <a:gd name="T5" fmla="*/ 94 h 94"/>
                <a:gd name="T6" fmla="*/ 81 w 81"/>
                <a:gd name="T7" fmla="*/ 0 h 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"/>
                <a:gd name="T13" fmla="*/ 0 h 94"/>
                <a:gd name="T14" fmla="*/ 81 w 81"/>
                <a:gd name="T15" fmla="*/ 94 h 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" h="94">
                  <a:moveTo>
                    <a:pt x="81" y="0"/>
                  </a:moveTo>
                  <a:lnTo>
                    <a:pt x="0" y="63"/>
                  </a:lnTo>
                  <a:lnTo>
                    <a:pt x="37" y="94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7" name="Freeform 25"/>
            <p:cNvSpPr>
              <a:spLocks/>
            </p:cNvSpPr>
            <p:nvPr/>
          </p:nvSpPr>
          <p:spPr bwMode="auto">
            <a:xfrm>
              <a:off x="1775" y="2591"/>
              <a:ext cx="100" cy="47"/>
            </a:xfrm>
            <a:custGeom>
              <a:avLst/>
              <a:gdLst>
                <a:gd name="T0" fmla="*/ 0 w 100"/>
                <a:gd name="T1" fmla="*/ 25 h 47"/>
                <a:gd name="T2" fmla="*/ 100 w 100"/>
                <a:gd name="T3" fmla="*/ 47 h 47"/>
                <a:gd name="T4" fmla="*/ 97 w 100"/>
                <a:gd name="T5" fmla="*/ 0 h 47"/>
                <a:gd name="T6" fmla="*/ 0 w 100"/>
                <a:gd name="T7" fmla="*/ 25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47"/>
                <a:gd name="T14" fmla="*/ 100 w 100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47">
                  <a:moveTo>
                    <a:pt x="0" y="25"/>
                  </a:moveTo>
                  <a:lnTo>
                    <a:pt x="100" y="47"/>
                  </a:lnTo>
                  <a:lnTo>
                    <a:pt x="97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8" name="Freeform 26"/>
            <p:cNvSpPr>
              <a:spLocks/>
            </p:cNvSpPr>
            <p:nvPr/>
          </p:nvSpPr>
          <p:spPr bwMode="auto">
            <a:xfrm>
              <a:off x="1956" y="2847"/>
              <a:ext cx="100" cy="50"/>
            </a:xfrm>
            <a:custGeom>
              <a:avLst/>
              <a:gdLst>
                <a:gd name="T0" fmla="*/ 100 w 100"/>
                <a:gd name="T1" fmla="*/ 28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8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8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69" name="Freeform 27"/>
            <p:cNvSpPr>
              <a:spLocks/>
            </p:cNvSpPr>
            <p:nvPr/>
          </p:nvSpPr>
          <p:spPr bwMode="auto">
            <a:xfrm>
              <a:off x="2553" y="2416"/>
              <a:ext cx="85" cy="90"/>
            </a:xfrm>
            <a:custGeom>
              <a:avLst/>
              <a:gdLst>
                <a:gd name="T0" fmla="*/ 85 w 85"/>
                <a:gd name="T1" fmla="*/ 90 h 90"/>
                <a:gd name="T2" fmla="*/ 38 w 85"/>
                <a:gd name="T3" fmla="*/ 0 h 90"/>
                <a:gd name="T4" fmla="*/ 0 w 85"/>
                <a:gd name="T5" fmla="*/ 34 h 90"/>
                <a:gd name="T6" fmla="*/ 85 w 85"/>
                <a:gd name="T7" fmla="*/ 90 h 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"/>
                <a:gd name="T13" fmla="*/ 0 h 90"/>
                <a:gd name="T14" fmla="*/ 85 w 85"/>
                <a:gd name="T15" fmla="*/ 90 h 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" h="90">
                  <a:moveTo>
                    <a:pt x="85" y="90"/>
                  </a:moveTo>
                  <a:lnTo>
                    <a:pt x="38" y="0"/>
                  </a:lnTo>
                  <a:lnTo>
                    <a:pt x="0" y="34"/>
                  </a:lnTo>
                  <a:lnTo>
                    <a:pt x="85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0" name="Freeform 28"/>
            <p:cNvSpPr>
              <a:spLocks/>
            </p:cNvSpPr>
            <p:nvPr/>
          </p:nvSpPr>
          <p:spPr bwMode="auto">
            <a:xfrm>
              <a:off x="2488" y="2194"/>
              <a:ext cx="100" cy="66"/>
            </a:xfrm>
            <a:custGeom>
              <a:avLst/>
              <a:gdLst>
                <a:gd name="T0" fmla="*/ 0 w 100"/>
                <a:gd name="T1" fmla="*/ 0 h 66"/>
                <a:gd name="T2" fmla="*/ 78 w 100"/>
                <a:gd name="T3" fmla="*/ 66 h 66"/>
                <a:gd name="T4" fmla="*/ 100 w 100"/>
                <a:gd name="T5" fmla="*/ 22 h 66"/>
                <a:gd name="T6" fmla="*/ 0 w 100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66"/>
                <a:gd name="T14" fmla="*/ 100 w 100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66">
                  <a:moveTo>
                    <a:pt x="0" y="0"/>
                  </a:moveTo>
                  <a:lnTo>
                    <a:pt x="78" y="66"/>
                  </a:lnTo>
                  <a:lnTo>
                    <a:pt x="10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1" name="Freeform 29"/>
            <p:cNvSpPr>
              <a:spLocks/>
            </p:cNvSpPr>
            <p:nvPr/>
          </p:nvSpPr>
          <p:spPr bwMode="auto">
            <a:xfrm>
              <a:off x="2994" y="1603"/>
              <a:ext cx="100" cy="50"/>
            </a:xfrm>
            <a:custGeom>
              <a:avLst/>
              <a:gdLst>
                <a:gd name="T0" fmla="*/ 100 w 100"/>
                <a:gd name="T1" fmla="*/ 22 h 50"/>
                <a:gd name="T2" fmla="*/ 0 w 100"/>
                <a:gd name="T3" fmla="*/ 0 h 50"/>
                <a:gd name="T4" fmla="*/ 3 w 100"/>
                <a:gd name="T5" fmla="*/ 50 h 50"/>
                <a:gd name="T6" fmla="*/ 100 w 100"/>
                <a:gd name="T7" fmla="*/ 22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2"/>
                  </a:moveTo>
                  <a:lnTo>
                    <a:pt x="0" y="0"/>
                  </a:lnTo>
                  <a:lnTo>
                    <a:pt x="3" y="50"/>
                  </a:lnTo>
                  <a:lnTo>
                    <a:pt x="100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2" name="Freeform 30"/>
            <p:cNvSpPr>
              <a:spLocks/>
            </p:cNvSpPr>
            <p:nvPr/>
          </p:nvSpPr>
          <p:spPr bwMode="auto">
            <a:xfrm>
              <a:off x="3331" y="1659"/>
              <a:ext cx="104" cy="66"/>
            </a:xfrm>
            <a:custGeom>
              <a:avLst/>
              <a:gdLst>
                <a:gd name="T0" fmla="*/ 0 w 104"/>
                <a:gd name="T1" fmla="*/ 0 h 66"/>
                <a:gd name="T2" fmla="*/ 82 w 104"/>
                <a:gd name="T3" fmla="*/ 66 h 66"/>
                <a:gd name="T4" fmla="*/ 104 w 104"/>
                <a:gd name="T5" fmla="*/ 19 h 66"/>
                <a:gd name="T6" fmla="*/ 0 w 104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66"/>
                <a:gd name="T14" fmla="*/ 104 w 104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66">
                  <a:moveTo>
                    <a:pt x="0" y="0"/>
                  </a:moveTo>
                  <a:lnTo>
                    <a:pt x="82" y="66"/>
                  </a:lnTo>
                  <a:lnTo>
                    <a:pt x="104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3" name="Freeform 31"/>
            <p:cNvSpPr>
              <a:spLocks/>
            </p:cNvSpPr>
            <p:nvPr/>
          </p:nvSpPr>
          <p:spPr bwMode="auto">
            <a:xfrm>
              <a:off x="3453" y="2031"/>
              <a:ext cx="97" cy="78"/>
            </a:xfrm>
            <a:custGeom>
              <a:avLst/>
              <a:gdLst>
                <a:gd name="T0" fmla="*/ 97 w 97"/>
                <a:gd name="T1" fmla="*/ 78 h 78"/>
                <a:gd name="T2" fmla="*/ 28 w 97"/>
                <a:gd name="T3" fmla="*/ 0 h 78"/>
                <a:gd name="T4" fmla="*/ 0 w 97"/>
                <a:gd name="T5" fmla="*/ 41 h 78"/>
                <a:gd name="T6" fmla="*/ 97 w 97"/>
                <a:gd name="T7" fmla="*/ 78 h 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"/>
                <a:gd name="T13" fmla="*/ 0 h 78"/>
                <a:gd name="T14" fmla="*/ 97 w 97"/>
                <a:gd name="T15" fmla="*/ 78 h 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" h="78">
                  <a:moveTo>
                    <a:pt x="97" y="78"/>
                  </a:moveTo>
                  <a:lnTo>
                    <a:pt x="28" y="0"/>
                  </a:lnTo>
                  <a:lnTo>
                    <a:pt x="0" y="41"/>
                  </a:lnTo>
                  <a:lnTo>
                    <a:pt x="97" y="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4" name="Freeform 32"/>
            <p:cNvSpPr>
              <a:spLocks/>
            </p:cNvSpPr>
            <p:nvPr/>
          </p:nvSpPr>
          <p:spPr bwMode="auto">
            <a:xfrm>
              <a:off x="3016" y="2241"/>
              <a:ext cx="103" cy="53"/>
            </a:xfrm>
            <a:custGeom>
              <a:avLst/>
              <a:gdLst>
                <a:gd name="T0" fmla="*/ 0 w 103"/>
                <a:gd name="T1" fmla="*/ 0 h 53"/>
                <a:gd name="T2" fmla="*/ 87 w 103"/>
                <a:gd name="T3" fmla="*/ 53 h 53"/>
                <a:gd name="T4" fmla="*/ 103 w 103"/>
                <a:gd name="T5" fmla="*/ 6 h 53"/>
                <a:gd name="T6" fmla="*/ 0 w 103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3"/>
                <a:gd name="T14" fmla="*/ 103 w 103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3">
                  <a:moveTo>
                    <a:pt x="0" y="0"/>
                  </a:moveTo>
                  <a:lnTo>
                    <a:pt x="87" y="53"/>
                  </a:lnTo>
                  <a:lnTo>
                    <a:pt x="103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5" name="Freeform 33"/>
            <p:cNvSpPr>
              <a:spLocks/>
            </p:cNvSpPr>
            <p:nvPr/>
          </p:nvSpPr>
          <p:spPr bwMode="auto">
            <a:xfrm>
              <a:off x="3138" y="2706"/>
              <a:ext cx="103" cy="47"/>
            </a:xfrm>
            <a:custGeom>
              <a:avLst/>
              <a:gdLst>
                <a:gd name="T0" fmla="*/ 103 w 103"/>
                <a:gd name="T1" fmla="*/ 0 h 47"/>
                <a:gd name="T2" fmla="*/ 0 w 103"/>
                <a:gd name="T3" fmla="*/ 0 h 47"/>
                <a:gd name="T4" fmla="*/ 12 w 103"/>
                <a:gd name="T5" fmla="*/ 47 h 47"/>
                <a:gd name="T6" fmla="*/ 103 w 103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47"/>
                <a:gd name="T14" fmla="*/ 103 w 103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47">
                  <a:moveTo>
                    <a:pt x="103" y="0"/>
                  </a:moveTo>
                  <a:lnTo>
                    <a:pt x="0" y="0"/>
                  </a:lnTo>
                  <a:lnTo>
                    <a:pt x="12" y="47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6" name="Freeform 34"/>
            <p:cNvSpPr>
              <a:spLocks/>
            </p:cNvSpPr>
            <p:nvPr/>
          </p:nvSpPr>
          <p:spPr bwMode="auto">
            <a:xfrm>
              <a:off x="3753" y="1994"/>
              <a:ext cx="91" cy="87"/>
            </a:xfrm>
            <a:custGeom>
              <a:avLst/>
              <a:gdLst>
                <a:gd name="T0" fmla="*/ 0 w 91"/>
                <a:gd name="T1" fmla="*/ 87 h 87"/>
                <a:gd name="T2" fmla="*/ 91 w 91"/>
                <a:gd name="T3" fmla="*/ 37 h 87"/>
                <a:gd name="T4" fmla="*/ 60 w 91"/>
                <a:gd name="T5" fmla="*/ 0 h 87"/>
                <a:gd name="T6" fmla="*/ 0 w 91"/>
                <a:gd name="T7" fmla="*/ 87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87"/>
                <a:gd name="T14" fmla="*/ 91 w 91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87">
                  <a:moveTo>
                    <a:pt x="0" y="87"/>
                  </a:moveTo>
                  <a:lnTo>
                    <a:pt x="91" y="37"/>
                  </a:lnTo>
                  <a:lnTo>
                    <a:pt x="60" y="0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7" name="Freeform 35"/>
            <p:cNvSpPr>
              <a:spLocks/>
            </p:cNvSpPr>
            <p:nvPr/>
          </p:nvSpPr>
          <p:spPr bwMode="auto">
            <a:xfrm>
              <a:off x="3975" y="1578"/>
              <a:ext cx="100" cy="66"/>
            </a:xfrm>
            <a:custGeom>
              <a:avLst/>
              <a:gdLst>
                <a:gd name="T0" fmla="*/ 100 w 100"/>
                <a:gd name="T1" fmla="*/ 66 h 66"/>
                <a:gd name="T2" fmla="*/ 19 w 100"/>
                <a:gd name="T3" fmla="*/ 0 h 66"/>
                <a:gd name="T4" fmla="*/ 0 w 100"/>
                <a:gd name="T5" fmla="*/ 47 h 66"/>
                <a:gd name="T6" fmla="*/ 100 w 100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66"/>
                <a:gd name="T14" fmla="*/ 100 w 100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66">
                  <a:moveTo>
                    <a:pt x="100" y="66"/>
                  </a:moveTo>
                  <a:lnTo>
                    <a:pt x="19" y="0"/>
                  </a:lnTo>
                  <a:lnTo>
                    <a:pt x="0" y="47"/>
                  </a:lnTo>
                  <a:lnTo>
                    <a:pt x="10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8" name="Freeform 36"/>
            <p:cNvSpPr>
              <a:spLocks/>
            </p:cNvSpPr>
            <p:nvPr/>
          </p:nvSpPr>
          <p:spPr bwMode="auto">
            <a:xfrm>
              <a:off x="3785" y="2169"/>
              <a:ext cx="103" cy="50"/>
            </a:xfrm>
            <a:custGeom>
              <a:avLst/>
              <a:gdLst>
                <a:gd name="T0" fmla="*/ 0 w 103"/>
                <a:gd name="T1" fmla="*/ 3 h 50"/>
                <a:gd name="T2" fmla="*/ 93 w 103"/>
                <a:gd name="T3" fmla="*/ 50 h 50"/>
                <a:gd name="T4" fmla="*/ 103 w 103"/>
                <a:gd name="T5" fmla="*/ 0 h 50"/>
                <a:gd name="T6" fmla="*/ 0 w 103"/>
                <a:gd name="T7" fmla="*/ 3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0"/>
                <a:gd name="T14" fmla="*/ 103 w 103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0">
                  <a:moveTo>
                    <a:pt x="0" y="3"/>
                  </a:moveTo>
                  <a:lnTo>
                    <a:pt x="93" y="50"/>
                  </a:lnTo>
                  <a:lnTo>
                    <a:pt x="10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79" name="Freeform 37"/>
            <p:cNvSpPr>
              <a:spLocks/>
            </p:cNvSpPr>
            <p:nvPr/>
          </p:nvSpPr>
          <p:spPr bwMode="auto">
            <a:xfrm>
              <a:off x="3460" y="2535"/>
              <a:ext cx="103" cy="59"/>
            </a:xfrm>
            <a:custGeom>
              <a:avLst/>
              <a:gdLst>
                <a:gd name="T0" fmla="*/ 0 w 103"/>
                <a:gd name="T1" fmla="*/ 59 h 59"/>
                <a:gd name="T2" fmla="*/ 103 w 103"/>
                <a:gd name="T3" fmla="*/ 46 h 59"/>
                <a:gd name="T4" fmla="*/ 84 w 103"/>
                <a:gd name="T5" fmla="*/ 0 h 59"/>
                <a:gd name="T6" fmla="*/ 0 w 103"/>
                <a:gd name="T7" fmla="*/ 5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9"/>
                <a:gd name="T14" fmla="*/ 103 w 103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9">
                  <a:moveTo>
                    <a:pt x="0" y="59"/>
                  </a:moveTo>
                  <a:lnTo>
                    <a:pt x="103" y="46"/>
                  </a:lnTo>
                  <a:lnTo>
                    <a:pt x="84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0" name="Freeform 38"/>
            <p:cNvSpPr>
              <a:spLocks/>
            </p:cNvSpPr>
            <p:nvPr/>
          </p:nvSpPr>
          <p:spPr bwMode="auto">
            <a:xfrm>
              <a:off x="3919" y="2731"/>
              <a:ext cx="103" cy="57"/>
            </a:xfrm>
            <a:custGeom>
              <a:avLst/>
              <a:gdLst>
                <a:gd name="T0" fmla="*/ 103 w 103"/>
                <a:gd name="T1" fmla="*/ 0 h 57"/>
                <a:gd name="T2" fmla="*/ 0 w 103"/>
                <a:gd name="T3" fmla="*/ 10 h 57"/>
                <a:gd name="T4" fmla="*/ 19 w 103"/>
                <a:gd name="T5" fmla="*/ 57 h 57"/>
                <a:gd name="T6" fmla="*/ 103 w 103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7"/>
                <a:gd name="T14" fmla="*/ 103 w 103"/>
                <a:gd name="T15" fmla="*/ 57 h 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7">
                  <a:moveTo>
                    <a:pt x="103" y="0"/>
                  </a:moveTo>
                  <a:lnTo>
                    <a:pt x="0" y="10"/>
                  </a:lnTo>
                  <a:lnTo>
                    <a:pt x="19" y="57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1" name="Freeform 39"/>
            <p:cNvSpPr>
              <a:spLocks/>
            </p:cNvSpPr>
            <p:nvPr/>
          </p:nvSpPr>
          <p:spPr bwMode="auto">
            <a:xfrm>
              <a:off x="2450" y="2053"/>
              <a:ext cx="103" cy="56"/>
            </a:xfrm>
            <a:custGeom>
              <a:avLst/>
              <a:gdLst>
                <a:gd name="T0" fmla="*/ 0 w 103"/>
                <a:gd name="T1" fmla="*/ 56 h 56"/>
                <a:gd name="T2" fmla="*/ 103 w 103"/>
                <a:gd name="T3" fmla="*/ 47 h 56"/>
                <a:gd name="T4" fmla="*/ 88 w 103"/>
                <a:gd name="T5" fmla="*/ 0 h 56"/>
                <a:gd name="T6" fmla="*/ 0 w 103"/>
                <a:gd name="T7" fmla="*/ 56 h 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"/>
                <a:gd name="T13" fmla="*/ 0 h 56"/>
                <a:gd name="T14" fmla="*/ 103 w 103"/>
                <a:gd name="T15" fmla="*/ 56 h 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" h="56">
                  <a:moveTo>
                    <a:pt x="0" y="56"/>
                  </a:moveTo>
                  <a:lnTo>
                    <a:pt x="103" y="47"/>
                  </a:lnTo>
                  <a:lnTo>
                    <a:pt x="88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2" name="Freeform 40"/>
            <p:cNvSpPr>
              <a:spLocks/>
            </p:cNvSpPr>
            <p:nvPr/>
          </p:nvSpPr>
          <p:spPr bwMode="auto">
            <a:xfrm>
              <a:off x="2353" y="1972"/>
              <a:ext cx="60" cy="103"/>
            </a:xfrm>
            <a:custGeom>
              <a:avLst/>
              <a:gdLst>
                <a:gd name="T0" fmla="*/ 0 w 60"/>
                <a:gd name="T1" fmla="*/ 103 h 103"/>
                <a:gd name="T2" fmla="*/ 60 w 60"/>
                <a:gd name="T3" fmla="*/ 19 h 103"/>
                <a:gd name="T4" fmla="*/ 16 w 60"/>
                <a:gd name="T5" fmla="*/ 0 h 103"/>
                <a:gd name="T6" fmla="*/ 0 w 6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"/>
                <a:gd name="T13" fmla="*/ 0 h 103"/>
                <a:gd name="T14" fmla="*/ 60 w 60"/>
                <a:gd name="T15" fmla="*/ 103 h 1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" h="103">
                  <a:moveTo>
                    <a:pt x="0" y="103"/>
                  </a:moveTo>
                  <a:lnTo>
                    <a:pt x="60" y="19"/>
                  </a:lnTo>
                  <a:lnTo>
                    <a:pt x="16" y="0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3" name="Freeform 41"/>
            <p:cNvSpPr>
              <a:spLocks/>
            </p:cNvSpPr>
            <p:nvPr/>
          </p:nvSpPr>
          <p:spPr bwMode="auto">
            <a:xfrm>
              <a:off x="1434" y="2553"/>
              <a:ext cx="104" cy="53"/>
            </a:xfrm>
            <a:custGeom>
              <a:avLst/>
              <a:gdLst>
                <a:gd name="T0" fmla="*/ 104 w 104"/>
                <a:gd name="T1" fmla="*/ 53 h 53"/>
                <a:gd name="T2" fmla="*/ 16 w 104"/>
                <a:gd name="T3" fmla="*/ 0 h 53"/>
                <a:gd name="T4" fmla="*/ 0 w 104"/>
                <a:gd name="T5" fmla="*/ 47 h 53"/>
                <a:gd name="T6" fmla="*/ 104 w 104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53"/>
                <a:gd name="T14" fmla="*/ 104 w 104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53">
                  <a:moveTo>
                    <a:pt x="104" y="53"/>
                  </a:moveTo>
                  <a:lnTo>
                    <a:pt x="16" y="0"/>
                  </a:lnTo>
                  <a:lnTo>
                    <a:pt x="0" y="47"/>
                  </a:lnTo>
                  <a:lnTo>
                    <a:pt x="10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4" name="Freeform 42"/>
            <p:cNvSpPr>
              <a:spLocks/>
            </p:cNvSpPr>
            <p:nvPr/>
          </p:nvSpPr>
          <p:spPr bwMode="auto">
            <a:xfrm>
              <a:off x="1681" y="2310"/>
              <a:ext cx="107" cy="215"/>
            </a:xfrm>
            <a:custGeom>
              <a:avLst/>
              <a:gdLst>
                <a:gd name="T0" fmla="*/ 0 w 34"/>
                <a:gd name="T1" fmla="*/ 69 h 69"/>
                <a:gd name="T2" fmla="*/ 34 w 34"/>
                <a:gd name="T3" fmla="*/ 0 h 69"/>
                <a:gd name="T4" fmla="*/ 0 60000 65536"/>
                <a:gd name="T5" fmla="*/ 0 60000 65536"/>
                <a:gd name="T6" fmla="*/ 0 w 34"/>
                <a:gd name="T7" fmla="*/ 0 h 69"/>
                <a:gd name="T8" fmla="*/ 34 w 34"/>
                <a:gd name="T9" fmla="*/ 69 h 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" h="69">
                  <a:moveTo>
                    <a:pt x="0" y="69"/>
                  </a:moveTo>
                  <a:cubicBezTo>
                    <a:pt x="3" y="48"/>
                    <a:pt x="11" y="21"/>
                    <a:pt x="34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5" name="Freeform 43"/>
            <p:cNvSpPr>
              <a:spLocks/>
            </p:cNvSpPr>
            <p:nvPr/>
          </p:nvSpPr>
          <p:spPr bwMode="auto">
            <a:xfrm>
              <a:off x="2278" y="1641"/>
              <a:ext cx="219" cy="53"/>
            </a:xfrm>
            <a:custGeom>
              <a:avLst/>
              <a:gdLst>
                <a:gd name="T0" fmla="*/ 0 w 70"/>
                <a:gd name="T1" fmla="*/ 2 h 17"/>
                <a:gd name="T2" fmla="*/ 70 w 70"/>
                <a:gd name="T3" fmla="*/ 17 h 17"/>
                <a:gd name="T4" fmla="*/ 0 60000 65536"/>
                <a:gd name="T5" fmla="*/ 0 60000 65536"/>
                <a:gd name="T6" fmla="*/ 0 w 70"/>
                <a:gd name="T7" fmla="*/ 0 h 17"/>
                <a:gd name="T8" fmla="*/ 70 w 70"/>
                <a:gd name="T9" fmla="*/ 17 h 1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0" h="17">
                  <a:moveTo>
                    <a:pt x="0" y="2"/>
                  </a:moveTo>
                  <a:cubicBezTo>
                    <a:pt x="0" y="2"/>
                    <a:pt x="21" y="0"/>
                    <a:pt x="70" y="17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6" name="Freeform 44"/>
            <p:cNvSpPr>
              <a:spLocks/>
            </p:cNvSpPr>
            <p:nvPr/>
          </p:nvSpPr>
          <p:spPr bwMode="auto">
            <a:xfrm>
              <a:off x="2378" y="1816"/>
              <a:ext cx="169" cy="197"/>
            </a:xfrm>
            <a:custGeom>
              <a:avLst/>
              <a:gdLst>
                <a:gd name="T0" fmla="*/ 0 w 54"/>
                <a:gd name="T1" fmla="*/ 63 h 63"/>
                <a:gd name="T2" fmla="*/ 54 w 54"/>
                <a:gd name="T3" fmla="*/ 0 h 63"/>
                <a:gd name="T4" fmla="*/ 0 60000 65536"/>
                <a:gd name="T5" fmla="*/ 0 60000 65536"/>
                <a:gd name="T6" fmla="*/ 0 w 54"/>
                <a:gd name="T7" fmla="*/ 0 h 63"/>
                <a:gd name="T8" fmla="*/ 54 w 54"/>
                <a:gd name="T9" fmla="*/ 63 h 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63">
                  <a:moveTo>
                    <a:pt x="0" y="63"/>
                  </a:moveTo>
                  <a:cubicBezTo>
                    <a:pt x="5" y="51"/>
                    <a:pt x="18" y="31"/>
                    <a:pt x="54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7" name="Freeform 45"/>
            <p:cNvSpPr>
              <a:spLocks/>
            </p:cNvSpPr>
            <p:nvPr/>
          </p:nvSpPr>
          <p:spPr bwMode="auto">
            <a:xfrm>
              <a:off x="1828" y="1638"/>
              <a:ext cx="216" cy="62"/>
            </a:xfrm>
            <a:custGeom>
              <a:avLst/>
              <a:gdLst>
                <a:gd name="T0" fmla="*/ 0 w 69"/>
                <a:gd name="T1" fmla="*/ 20 h 20"/>
                <a:gd name="T2" fmla="*/ 69 w 69"/>
                <a:gd name="T3" fmla="*/ 0 h 20"/>
                <a:gd name="T4" fmla="*/ 0 60000 65536"/>
                <a:gd name="T5" fmla="*/ 0 60000 65536"/>
                <a:gd name="T6" fmla="*/ 0 w 69"/>
                <a:gd name="T7" fmla="*/ 0 h 20"/>
                <a:gd name="T8" fmla="*/ 69 w 69"/>
                <a:gd name="T9" fmla="*/ 20 h 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9" h="20">
                  <a:moveTo>
                    <a:pt x="0" y="20"/>
                  </a:moveTo>
                  <a:cubicBezTo>
                    <a:pt x="0" y="20"/>
                    <a:pt x="30" y="5"/>
                    <a:pt x="69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8" name="Freeform 46"/>
            <p:cNvSpPr>
              <a:spLocks/>
            </p:cNvSpPr>
            <p:nvPr/>
          </p:nvSpPr>
          <p:spPr bwMode="auto">
            <a:xfrm>
              <a:off x="1209" y="1753"/>
              <a:ext cx="357" cy="297"/>
            </a:xfrm>
            <a:custGeom>
              <a:avLst/>
              <a:gdLst>
                <a:gd name="T0" fmla="*/ 114 w 114"/>
                <a:gd name="T1" fmla="*/ 0 h 95"/>
                <a:gd name="T2" fmla="*/ 36 w 114"/>
                <a:gd name="T3" fmla="*/ 95 h 95"/>
                <a:gd name="T4" fmla="*/ 0 60000 65536"/>
                <a:gd name="T5" fmla="*/ 0 60000 65536"/>
                <a:gd name="T6" fmla="*/ 0 w 114"/>
                <a:gd name="T7" fmla="*/ 0 h 95"/>
                <a:gd name="T8" fmla="*/ 114 w 114"/>
                <a:gd name="T9" fmla="*/ 95 h 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4" h="95">
                  <a:moveTo>
                    <a:pt x="114" y="0"/>
                  </a:moveTo>
                  <a:cubicBezTo>
                    <a:pt x="114" y="0"/>
                    <a:pt x="0" y="11"/>
                    <a:pt x="36" y="95"/>
                  </a:cubicBezTo>
                </a:path>
              </a:pathLst>
            </a:cu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89" name="Freeform 47"/>
            <p:cNvSpPr>
              <a:spLocks/>
            </p:cNvSpPr>
            <p:nvPr/>
          </p:nvSpPr>
          <p:spPr bwMode="auto">
            <a:xfrm>
              <a:off x="1509" y="1922"/>
              <a:ext cx="329" cy="197"/>
            </a:xfrm>
            <a:custGeom>
              <a:avLst/>
              <a:gdLst>
                <a:gd name="T0" fmla="*/ 0 w 105"/>
                <a:gd name="T1" fmla="*/ 47 h 63"/>
                <a:gd name="T2" fmla="*/ 105 w 105"/>
                <a:gd name="T3" fmla="*/ 63 h 63"/>
                <a:gd name="T4" fmla="*/ 0 60000 65536"/>
                <a:gd name="T5" fmla="*/ 0 60000 65536"/>
                <a:gd name="T6" fmla="*/ 0 w 105"/>
                <a:gd name="T7" fmla="*/ 0 h 63"/>
                <a:gd name="T8" fmla="*/ 105 w 105"/>
                <a:gd name="T9" fmla="*/ 63 h 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5" h="63">
                  <a:moveTo>
                    <a:pt x="0" y="47"/>
                  </a:moveTo>
                  <a:cubicBezTo>
                    <a:pt x="0" y="47"/>
                    <a:pt x="19" y="0"/>
                    <a:pt x="105" y="6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90" name="Line 48"/>
            <p:cNvSpPr>
              <a:spLocks noChangeShapeType="1"/>
            </p:cNvSpPr>
            <p:nvPr/>
          </p:nvSpPr>
          <p:spPr bwMode="auto">
            <a:xfrm>
              <a:off x="1563" y="2200"/>
              <a:ext cx="21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191" name="Freeform 49"/>
            <p:cNvSpPr>
              <a:spLocks/>
            </p:cNvSpPr>
            <p:nvPr/>
          </p:nvSpPr>
          <p:spPr bwMode="auto">
            <a:xfrm>
              <a:off x="1141" y="2275"/>
              <a:ext cx="362" cy="322"/>
            </a:xfrm>
            <a:custGeom>
              <a:avLst/>
              <a:gdLst>
                <a:gd name="T0" fmla="*/ 68 w 116"/>
                <a:gd name="T1" fmla="*/ 0 h 103"/>
                <a:gd name="T2" fmla="*/ 116 w 116"/>
                <a:gd name="T3" fmla="*/ 103 h 103"/>
                <a:gd name="T4" fmla="*/ 0 60000 65536"/>
                <a:gd name="T5" fmla="*/ 0 60000 65536"/>
                <a:gd name="T6" fmla="*/ 0 w 116"/>
                <a:gd name="T7" fmla="*/ 0 h 103"/>
                <a:gd name="T8" fmla="*/ 116 w 116"/>
                <a:gd name="T9" fmla="*/ 103 h 1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6" h="103">
                  <a:moveTo>
                    <a:pt x="68" y="0"/>
                  </a:moveTo>
                  <a:cubicBezTo>
                    <a:pt x="68" y="0"/>
                    <a:pt x="0" y="69"/>
                    <a:pt x="116" y="10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92" name="Freeform 50"/>
            <p:cNvSpPr>
              <a:spLocks/>
            </p:cNvSpPr>
            <p:nvPr/>
          </p:nvSpPr>
          <p:spPr bwMode="auto">
            <a:xfrm>
              <a:off x="2063" y="2235"/>
              <a:ext cx="190" cy="50"/>
            </a:xfrm>
            <a:custGeom>
              <a:avLst/>
              <a:gdLst>
                <a:gd name="T0" fmla="*/ 61 w 61"/>
                <a:gd name="T1" fmla="*/ 0 h 16"/>
                <a:gd name="T2" fmla="*/ 0 w 61"/>
                <a:gd name="T3" fmla="*/ 9 h 16"/>
                <a:gd name="T4" fmla="*/ 0 60000 65536"/>
                <a:gd name="T5" fmla="*/ 0 60000 65536"/>
                <a:gd name="T6" fmla="*/ 0 w 61"/>
                <a:gd name="T7" fmla="*/ 0 h 16"/>
                <a:gd name="T8" fmla="*/ 61 w 61"/>
                <a:gd name="T9" fmla="*/ 16 h 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1" h="16">
                  <a:moveTo>
                    <a:pt x="61" y="0"/>
                  </a:moveTo>
                  <a:cubicBezTo>
                    <a:pt x="61" y="0"/>
                    <a:pt x="28" y="16"/>
                    <a:pt x="0" y="9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193" name="Rectangle 51"/>
            <p:cNvSpPr>
              <a:spLocks noChangeArrowheads="1"/>
            </p:cNvSpPr>
            <p:nvPr/>
          </p:nvSpPr>
          <p:spPr bwMode="auto">
            <a:xfrm>
              <a:off x="2149" y="2143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4" name="Rectangle 52"/>
            <p:cNvSpPr>
              <a:spLocks noChangeArrowheads="1"/>
            </p:cNvSpPr>
            <p:nvPr/>
          </p:nvSpPr>
          <p:spPr bwMode="auto">
            <a:xfrm>
              <a:off x="2698" y="2244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5" name="Rectangle 53"/>
            <p:cNvSpPr>
              <a:spLocks noChangeArrowheads="1"/>
            </p:cNvSpPr>
            <p:nvPr/>
          </p:nvSpPr>
          <p:spPr bwMode="auto">
            <a:xfrm>
              <a:off x="3296" y="2167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6" name="Rectangle 54"/>
            <p:cNvSpPr>
              <a:spLocks noChangeArrowheads="1"/>
            </p:cNvSpPr>
            <p:nvPr/>
          </p:nvSpPr>
          <p:spPr bwMode="auto">
            <a:xfrm>
              <a:off x="3459" y="2363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7" name="Rectangle 55"/>
            <p:cNvSpPr>
              <a:spLocks noChangeArrowheads="1"/>
            </p:cNvSpPr>
            <p:nvPr/>
          </p:nvSpPr>
          <p:spPr bwMode="auto">
            <a:xfrm>
              <a:off x="3745" y="2444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8" name="Rectangle 56"/>
            <p:cNvSpPr>
              <a:spLocks noChangeArrowheads="1"/>
            </p:cNvSpPr>
            <p:nvPr/>
          </p:nvSpPr>
          <p:spPr bwMode="auto">
            <a:xfrm>
              <a:off x="3944" y="1913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199" name="Rectangle 57"/>
            <p:cNvSpPr>
              <a:spLocks noChangeArrowheads="1"/>
            </p:cNvSpPr>
            <p:nvPr/>
          </p:nvSpPr>
          <p:spPr bwMode="auto">
            <a:xfrm>
              <a:off x="2837" y="1528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0" name="Rectangle 58"/>
            <p:cNvSpPr>
              <a:spLocks noChangeArrowheads="1"/>
            </p:cNvSpPr>
            <p:nvPr/>
          </p:nvSpPr>
          <p:spPr bwMode="auto">
            <a:xfrm>
              <a:off x="3271" y="1907"/>
              <a:ext cx="8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x'</a:t>
              </a:r>
              <a:endParaRPr lang="en-US" altLang="en-US" sz="1200"/>
            </a:p>
          </p:txBody>
        </p:sp>
        <p:sp>
          <p:nvSpPr>
            <p:cNvPr id="201" name="Rectangle 59"/>
            <p:cNvSpPr>
              <a:spLocks noChangeArrowheads="1"/>
            </p:cNvSpPr>
            <p:nvPr/>
          </p:nvSpPr>
          <p:spPr bwMode="auto">
            <a:xfrm>
              <a:off x="3006" y="1885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2" name="Rectangle 60"/>
            <p:cNvSpPr>
              <a:spLocks noChangeArrowheads="1"/>
            </p:cNvSpPr>
            <p:nvPr/>
          </p:nvSpPr>
          <p:spPr bwMode="auto">
            <a:xfrm>
              <a:off x="1766" y="1953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3" name="Rectangle 61"/>
            <p:cNvSpPr>
              <a:spLocks noChangeArrowheads="1"/>
            </p:cNvSpPr>
            <p:nvPr/>
          </p:nvSpPr>
          <p:spPr bwMode="auto">
            <a:xfrm>
              <a:off x="1597" y="2201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4" name="Rectangle 62"/>
            <p:cNvSpPr>
              <a:spLocks noChangeArrowheads="1"/>
            </p:cNvSpPr>
            <p:nvPr/>
          </p:nvSpPr>
          <p:spPr bwMode="auto">
            <a:xfrm>
              <a:off x="1957" y="2516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5" name="Rectangle 63"/>
            <p:cNvSpPr>
              <a:spLocks noChangeArrowheads="1"/>
            </p:cNvSpPr>
            <p:nvPr/>
          </p:nvSpPr>
          <p:spPr bwMode="auto">
            <a:xfrm>
              <a:off x="1804" y="2853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6" name="Rectangle 64"/>
            <p:cNvSpPr>
              <a:spLocks noChangeArrowheads="1"/>
            </p:cNvSpPr>
            <p:nvPr/>
          </p:nvSpPr>
          <p:spPr bwMode="auto">
            <a:xfrm>
              <a:off x="1248" y="1776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7" name="Rectangle 65"/>
            <p:cNvSpPr>
              <a:spLocks noChangeArrowheads="1"/>
            </p:cNvSpPr>
            <p:nvPr/>
          </p:nvSpPr>
          <p:spPr bwMode="auto">
            <a:xfrm>
              <a:off x="2339" y="1540"/>
              <a:ext cx="8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x’</a:t>
              </a:r>
              <a:endParaRPr lang="en-US" altLang="en-US" sz="1200"/>
            </a:p>
          </p:txBody>
        </p:sp>
        <p:sp>
          <p:nvSpPr>
            <p:cNvPr id="208" name="Rectangle 66"/>
            <p:cNvSpPr>
              <a:spLocks noChangeArrowheads="1"/>
            </p:cNvSpPr>
            <p:nvPr/>
          </p:nvSpPr>
          <p:spPr bwMode="auto">
            <a:xfrm>
              <a:off x="1956" y="1894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09" name="Rectangle 67"/>
            <p:cNvSpPr>
              <a:spLocks noChangeArrowheads="1"/>
            </p:cNvSpPr>
            <p:nvPr/>
          </p:nvSpPr>
          <p:spPr bwMode="auto">
            <a:xfrm>
              <a:off x="2171" y="2475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0" name="Rectangle 68"/>
            <p:cNvSpPr>
              <a:spLocks noChangeArrowheads="1"/>
            </p:cNvSpPr>
            <p:nvPr/>
          </p:nvSpPr>
          <p:spPr bwMode="auto">
            <a:xfrm>
              <a:off x="2480" y="2383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1" name="Rectangle 69"/>
            <p:cNvSpPr>
              <a:spLocks noChangeArrowheads="1"/>
            </p:cNvSpPr>
            <p:nvPr/>
          </p:nvSpPr>
          <p:spPr bwMode="auto">
            <a:xfrm>
              <a:off x="2951" y="2719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2" name="Rectangle 70"/>
            <p:cNvSpPr>
              <a:spLocks noChangeArrowheads="1"/>
            </p:cNvSpPr>
            <p:nvPr/>
          </p:nvSpPr>
          <p:spPr bwMode="auto">
            <a:xfrm>
              <a:off x="3656" y="2772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3" name="Rectangle 71"/>
            <p:cNvSpPr>
              <a:spLocks noChangeArrowheads="1"/>
            </p:cNvSpPr>
            <p:nvPr/>
          </p:nvSpPr>
          <p:spPr bwMode="auto">
            <a:xfrm>
              <a:off x="4127" y="2282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4" name="Rectangle 72"/>
            <p:cNvSpPr>
              <a:spLocks noChangeArrowheads="1"/>
            </p:cNvSpPr>
            <p:nvPr/>
          </p:nvSpPr>
          <p:spPr bwMode="auto">
            <a:xfrm>
              <a:off x="3576" y="1763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5" name="Rectangle 73"/>
            <p:cNvSpPr>
              <a:spLocks noChangeArrowheads="1"/>
            </p:cNvSpPr>
            <p:nvPr/>
          </p:nvSpPr>
          <p:spPr bwMode="auto">
            <a:xfrm>
              <a:off x="4473" y="1652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6" name="Rectangle 74"/>
            <p:cNvSpPr>
              <a:spLocks noChangeArrowheads="1"/>
            </p:cNvSpPr>
            <p:nvPr/>
          </p:nvSpPr>
          <p:spPr bwMode="auto">
            <a:xfrm>
              <a:off x="3612" y="1387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7" name="Rectangle 75"/>
            <p:cNvSpPr>
              <a:spLocks noChangeArrowheads="1"/>
            </p:cNvSpPr>
            <p:nvPr/>
          </p:nvSpPr>
          <p:spPr bwMode="auto">
            <a:xfrm>
              <a:off x="1629" y="2349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8" name="Rectangle 76"/>
            <p:cNvSpPr>
              <a:spLocks noChangeArrowheads="1"/>
            </p:cNvSpPr>
            <p:nvPr/>
          </p:nvSpPr>
          <p:spPr bwMode="auto">
            <a:xfrm>
              <a:off x="1239" y="2458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19" name="Rectangle 77"/>
            <p:cNvSpPr>
              <a:spLocks noChangeArrowheads="1"/>
            </p:cNvSpPr>
            <p:nvPr/>
          </p:nvSpPr>
          <p:spPr bwMode="auto">
            <a:xfrm>
              <a:off x="1518" y="1493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20" name="Rectangle 78"/>
            <p:cNvSpPr>
              <a:spLocks noChangeArrowheads="1"/>
            </p:cNvSpPr>
            <p:nvPr/>
          </p:nvSpPr>
          <p:spPr bwMode="auto">
            <a:xfrm>
              <a:off x="2350" y="1840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21" name="Rectangle 79"/>
            <p:cNvSpPr>
              <a:spLocks noChangeArrowheads="1"/>
            </p:cNvSpPr>
            <p:nvPr/>
          </p:nvSpPr>
          <p:spPr bwMode="auto">
            <a:xfrm>
              <a:off x="2638" y="1968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22" name="Rectangle 80"/>
            <p:cNvSpPr>
              <a:spLocks noChangeArrowheads="1"/>
            </p:cNvSpPr>
            <p:nvPr/>
          </p:nvSpPr>
          <p:spPr bwMode="auto">
            <a:xfrm>
              <a:off x="1928" y="1537"/>
              <a:ext cx="6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x</a:t>
              </a:r>
              <a:endParaRPr lang="en-US" altLang="en-US" sz="1200"/>
            </a:p>
          </p:txBody>
        </p:sp>
        <p:sp>
          <p:nvSpPr>
            <p:cNvPr id="223" name="Freeform 81"/>
            <p:cNvSpPr>
              <a:spLocks/>
            </p:cNvSpPr>
            <p:nvPr/>
          </p:nvSpPr>
          <p:spPr bwMode="auto">
            <a:xfrm>
              <a:off x="2481" y="2019"/>
              <a:ext cx="310" cy="134"/>
            </a:xfrm>
            <a:custGeom>
              <a:avLst/>
              <a:gdLst>
                <a:gd name="T0" fmla="*/ 0 w 99"/>
                <a:gd name="T1" fmla="*/ 27 h 43"/>
                <a:gd name="T2" fmla="*/ 99 w 99"/>
                <a:gd name="T3" fmla="*/ 43 h 43"/>
                <a:gd name="T4" fmla="*/ 0 60000 65536"/>
                <a:gd name="T5" fmla="*/ 0 60000 65536"/>
                <a:gd name="T6" fmla="*/ 0 w 99"/>
                <a:gd name="T7" fmla="*/ 0 h 43"/>
                <a:gd name="T8" fmla="*/ 99 w 99"/>
                <a:gd name="T9" fmla="*/ 43 h 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9" h="43">
                  <a:moveTo>
                    <a:pt x="0" y="27"/>
                  </a:moveTo>
                  <a:cubicBezTo>
                    <a:pt x="0" y="27"/>
                    <a:pt x="20" y="0"/>
                    <a:pt x="99" y="4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24" name="Freeform 82"/>
            <p:cNvSpPr>
              <a:spLocks/>
            </p:cNvSpPr>
            <p:nvPr/>
          </p:nvSpPr>
          <p:spPr bwMode="auto">
            <a:xfrm>
              <a:off x="2519" y="2206"/>
              <a:ext cx="206" cy="291"/>
            </a:xfrm>
            <a:custGeom>
              <a:avLst/>
              <a:gdLst>
                <a:gd name="T0" fmla="*/ 0 w 66"/>
                <a:gd name="T1" fmla="*/ 0 h 93"/>
                <a:gd name="T2" fmla="*/ 62 w 66"/>
                <a:gd name="T3" fmla="*/ 93 h 93"/>
                <a:gd name="T4" fmla="*/ 0 60000 65536"/>
                <a:gd name="T5" fmla="*/ 0 60000 65536"/>
                <a:gd name="T6" fmla="*/ 0 w 66"/>
                <a:gd name="T7" fmla="*/ 0 h 93"/>
                <a:gd name="T8" fmla="*/ 66 w 66"/>
                <a:gd name="T9" fmla="*/ 93 h 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" h="93">
                  <a:moveTo>
                    <a:pt x="0" y="0"/>
                  </a:moveTo>
                  <a:cubicBezTo>
                    <a:pt x="0" y="0"/>
                    <a:pt x="66" y="22"/>
                    <a:pt x="62" y="93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25" name="Line 83"/>
            <p:cNvSpPr>
              <a:spLocks noChangeShapeType="1"/>
            </p:cNvSpPr>
            <p:nvPr/>
          </p:nvSpPr>
          <p:spPr bwMode="auto">
            <a:xfrm>
              <a:off x="2447" y="2281"/>
              <a:ext cx="163" cy="1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26" name="Freeform 84"/>
            <p:cNvSpPr>
              <a:spLocks/>
            </p:cNvSpPr>
            <p:nvPr/>
          </p:nvSpPr>
          <p:spPr bwMode="auto">
            <a:xfrm>
              <a:off x="1800" y="2569"/>
              <a:ext cx="297" cy="169"/>
            </a:xfrm>
            <a:custGeom>
              <a:avLst/>
              <a:gdLst>
                <a:gd name="T0" fmla="*/ 0 w 95"/>
                <a:gd name="T1" fmla="*/ 15 h 54"/>
                <a:gd name="T2" fmla="*/ 95 w 95"/>
                <a:gd name="T3" fmla="*/ 54 h 54"/>
                <a:gd name="T4" fmla="*/ 0 60000 65536"/>
                <a:gd name="T5" fmla="*/ 0 60000 65536"/>
                <a:gd name="T6" fmla="*/ 0 w 95"/>
                <a:gd name="T7" fmla="*/ 0 h 54"/>
                <a:gd name="T8" fmla="*/ 95 w 95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5" h="54">
                  <a:moveTo>
                    <a:pt x="0" y="15"/>
                  </a:moveTo>
                  <a:cubicBezTo>
                    <a:pt x="0" y="15"/>
                    <a:pt x="65" y="0"/>
                    <a:pt x="95" y="54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27" name="Freeform 85"/>
            <p:cNvSpPr>
              <a:spLocks/>
            </p:cNvSpPr>
            <p:nvPr/>
          </p:nvSpPr>
          <p:spPr bwMode="auto">
            <a:xfrm>
              <a:off x="1744" y="2716"/>
              <a:ext cx="272" cy="162"/>
            </a:xfrm>
            <a:custGeom>
              <a:avLst/>
              <a:gdLst>
                <a:gd name="T0" fmla="*/ 0 w 87"/>
                <a:gd name="T1" fmla="*/ 0 h 52"/>
                <a:gd name="T2" fmla="*/ 87 w 87"/>
                <a:gd name="T3" fmla="*/ 50 h 52"/>
                <a:gd name="T4" fmla="*/ 0 60000 65536"/>
                <a:gd name="T5" fmla="*/ 0 60000 65536"/>
                <a:gd name="T6" fmla="*/ 0 w 87"/>
                <a:gd name="T7" fmla="*/ 0 h 52"/>
                <a:gd name="T8" fmla="*/ 87 w 87"/>
                <a:gd name="T9" fmla="*/ 52 h 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7" h="52">
                  <a:moveTo>
                    <a:pt x="0" y="0"/>
                  </a:moveTo>
                  <a:cubicBezTo>
                    <a:pt x="0" y="0"/>
                    <a:pt x="17" y="52"/>
                    <a:pt x="87" y="5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28" name="Freeform 86"/>
            <p:cNvSpPr>
              <a:spLocks/>
            </p:cNvSpPr>
            <p:nvPr/>
          </p:nvSpPr>
          <p:spPr bwMode="auto">
            <a:xfrm>
              <a:off x="2100" y="2306"/>
              <a:ext cx="150" cy="404"/>
            </a:xfrm>
            <a:custGeom>
              <a:avLst/>
              <a:gdLst>
                <a:gd name="T0" fmla="*/ 21 w 48"/>
                <a:gd name="T1" fmla="*/ 129 h 129"/>
                <a:gd name="T2" fmla="*/ 48 w 48"/>
                <a:gd name="T3" fmla="*/ 0 h 129"/>
                <a:gd name="T4" fmla="*/ 0 60000 65536"/>
                <a:gd name="T5" fmla="*/ 0 60000 65536"/>
                <a:gd name="T6" fmla="*/ 0 w 48"/>
                <a:gd name="T7" fmla="*/ 0 h 129"/>
                <a:gd name="T8" fmla="*/ 48 w 48"/>
                <a:gd name="T9" fmla="*/ 129 h 1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129">
                  <a:moveTo>
                    <a:pt x="21" y="129"/>
                  </a:moveTo>
                  <a:cubicBezTo>
                    <a:pt x="21" y="129"/>
                    <a:pt x="0" y="50"/>
                    <a:pt x="48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29" name="Freeform 87"/>
            <p:cNvSpPr>
              <a:spLocks/>
            </p:cNvSpPr>
            <p:nvPr/>
          </p:nvSpPr>
          <p:spPr bwMode="auto">
            <a:xfrm>
              <a:off x="2744" y="1625"/>
              <a:ext cx="319" cy="59"/>
            </a:xfrm>
            <a:custGeom>
              <a:avLst/>
              <a:gdLst>
                <a:gd name="T0" fmla="*/ 0 w 102"/>
                <a:gd name="T1" fmla="*/ 19 h 19"/>
                <a:gd name="T2" fmla="*/ 102 w 102"/>
                <a:gd name="T3" fmla="*/ 0 h 19"/>
                <a:gd name="T4" fmla="*/ 0 60000 65536"/>
                <a:gd name="T5" fmla="*/ 0 60000 65536"/>
                <a:gd name="T6" fmla="*/ 0 w 102"/>
                <a:gd name="T7" fmla="*/ 0 h 19"/>
                <a:gd name="T8" fmla="*/ 102 w 102"/>
                <a:gd name="T9" fmla="*/ 19 h 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2" h="19">
                  <a:moveTo>
                    <a:pt x="0" y="19"/>
                  </a:moveTo>
                  <a:cubicBezTo>
                    <a:pt x="0" y="19"/>
                    <a:pt x="14" y="1"/>
                    <a:pt x="102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0" name="Freeform 88"/>
            <p:cNvSpPr>
              <a:spLocks/>
            </p:cNvSpPr>
            <p:nvPr/>
          </p:nvSpPr>
          <p:spPr bwMode="auto">
            <a:xfrm>
              <a:off x="3056" y="2231"/>
              <a:ext cx="510" cy="116"/>
            </a:xfrm>
            <a:custGeom>
              <a:avLst/>
              <a:gdLst>
                <a:gd name="T0" fmla="*/ 0 w 163"/>
                <a:gd name="T1" fmla="*/ 7 h 37"/>
                <a:gd name="T2" fmla="*/ 163 w 163"/>
                <a:gd name="T3" fmla="*/ 0 h 37"/>
                <a:gd name="T4" fmla="*/ 0 60000 65536"/>
                <a:gd name="T5" fmla="*/ 0 60000 65536"/>
                <a:gd name="T6" fmla="*/ 0 w 163"/>
                <a:gd name="T7" fmla="*/ 0 h 37"/>
                <a:gd name="T8" fmla="*/ 163 w 163"/>
                <a:gd name="T9" fmla="*/ 37 h 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3" h="37">
                  <a:moveTo>
                    <a:pt x="0" y="7"/>
                  </a:moveTo>
                  <a:cubicBezTo>
                    <a:pt x="0" y="7"/>
                    <a:pt x="81" y="37"/>
                    <a:pt x="163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1" name="Freeform 89"/>
            <p:cNvSpPr>
              <a:spLocks/>
            </p:cNvSpPr>
            <p:nvPr/>
          </p:nvSpPr>
          <p:spPr bwMode="auto">
            <a:xfrm>
              <a:off x="3281" y="1722"/>
              <a:ext cx="222" cy="359"/>
            </a:xfrm>
            <a:custGeom>
              <a:avLst/>
              <a:gdLst>
                <a:gd name="T0" fmla="*/ 0 w 71"/>
                <a:gd name="T1" fmla="*/ 0 h 115"/>
                <a:gd name="T2" fmla="*/ 71 w 71"/>
                <a:gd name="T3" fmla="*/ 115 h 115"/>
                <a:gd name="T4" fmla="*/ 0 60000 65536"/>
                <a:gd name="T5" fmla="*/ 0 60000 65536"/>
                <a:gd name="T6" fmla="*/ 0 w 71"/>
                <a:gd name="T7" fmla="*/ 0 h 115"/>
                <a:gd name="T8" fmla="*/ 71 w 71"/>
                <a:gd name="T9" fmla="*/ 115 h 1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" h="115">
                  <a:moveTo>
                    <a:pt x="0" y="0"/>
                  </a:moveTo>
                  <a:cubicBezTo>
                    <a:pt x="0" y="0"/>
                    <a:pt x="8" y="67"/>
                    <a:pt x="71" y="11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2" name="Freeform 90"/>
            <p:cNvSpPr>
              <a:spLocks/>
            </p:cNvSpPr>
            <p:nvPr/>
          </p:nvSpPr>
          <p:spPr bwMode="auto">
            <a:xfrm>
              <a:off x="3366" y="1678"/>
              <a:ext cx="250" cy="369"/>
            </a:xfrm>
            <a:custGeom>
              <a:avLst/>
              <a:gdLst>
                <a:gd name="T0" fmla="*/ 0 w 80"/>
                <a:gd name="T1" fmla="*/ 0 h 118"/>
                <a:gd name="T2" fmla="*/ 80 w 80"/>
                <a:gd name="T3" fmla="*/ 118 h 118"/>
                <a:gd name="T4" fmla="*/ 0 60000 65536"/>
                <a:gd name="T5" fmla="*/ 0 60000 65536"/>
                <a:gd name="T6" fmla="*/ 0 w 80"/>
                <a:gd name="T7" fmla="*/ 0 h 118"/>
                <a:gd name="T8" fmla="*/ 80 w 80"/>
                <a:gd name="T9" fmla="*/ 118 h 1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0" h="118">
                  <a:moveTo>
                    <a:pt x="0" y="0"/>
                  </a:moveTo>
                  <a:cubicBezTo>
                    <a:pt x="0" y="0"/>
                    <a:pt x="67" y="14"/>
                    <a:pt x="80" y="118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3" name="Freeform 91"/>
            <p:cNvSpPr>
              <a:spLocks/>
            </p:cNvSpPr>
            <p:nvPr/>
          </p:nvSpPr>
          <p:spPr bwMode="auto">
            <a:xfrm>
              <a:off x="2803" y="2666"/>
              <a:ext cx="416" cy="112"/>
            </a:xfrm>
            <a:custGeom>
              <a:avLst/>
              <a:gdLst>
                <a:gd name="T0" fmla="*/ 0 w 133"/>
                <a:gd name="T1" fmla="*/ 0 h 36"/>
                <a:gd name="T2" fmla="*/ 133 w 133"/>
                <a:gd name="T3" fmla="*/ 14 h 36"/>
                <a:gd name="T4" fmla="*/ 0 60000 65536"/>
                <a:gd name="T5" fmla="*/ 0 60000 65536"/>
                <a:gd name="T6" fmla="*/ 0 w 133"/>
                <a:gd name="T7" fmla="*/ 0 h 36"/>
                <a:gd name="T8" fmla="*/ 133 w 133"/>
                <a:gd name="T9" fmla="*/ 36 h 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3" h="36">
                  <a:moveTo>
                    <a:pt x="0" y="0"/>
                  </a:moveTo>
                  <a:cubicBezTo>
                    <a:pt x="0" y="0"/>
                    <a:pt x="52" y="36"/>
                    <a:pt x="133" y="14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4" name="Freeform 92"/>
            <p:cNvSpPr>
              <a:spLocks/>
            </p:cNvSpPr>
            <p:nvPr/>
          </p:nvSpPr>
          <p:spPr bwMode="auto">
            <a:xfrm>
              <a:off x="3503" y="2472"/>
              <a:ext cx="525" cy="169"/>
            </a:xfrm>
            <a:custGeom>
              <a:avLst/>
              <a:gdLst>
                <a:gd name="T0" fmla="*/ 0 w 168"/>
                <a:gd name="T1" fmla="*/ 34 h 54"/>
                <a:gd name="T2" fmla="*/ 168 w 168"/>
                <a:gd name="T3" fmla="*/ 54 h 54"/>
                <a:gd name="T4" fmla="*/ 0 60000 65536"/>
                <a:gd name="T5" fmla="*/ 0 60000 65536"/>
                <a:gd name="T6" fmla="*/ 0 w 168"/>
                <a:gd name="T7" fmla="*/ 0 h 54"/>
                <a:gd name="T8" fmla="*/ 168 w 168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8" h="54">
                  <a:moveTo>
                    <a:pt x="0" y="34"/>
                  </a:moveTo>
                  <a:cubicBezTo>
                    <a:pt x="0" y="34"/>
                    <a:pt x="37" y="0"/>
                    <a:pt x="168" y="54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5" name="Freeform 93"/>
            <p:cNvSpPr>
              <a:spLocks/>
            </p:cNvSpPr>
            <p:nvPr/>
          </p:nvSpPr>
          <p:spPr bwMode="auto">
            <a:xfrm>
              <a:off x="3466" y="2681"/>
              <a:ext cx="494" cy="169"/>
            </a:xfrm>
            <a:custGeom>
              <a:avLst/>
              <a:gdLst>
                <a:gd name="T0" fmla="*/ 0 w 158"/>
                <a:gd name="T1" fmla="*/ 0 h 54"/>
                <a:gd name="T2" fmla="*/ 158 w 158"/>
                <a:gd name="T3" fmla="*/ 24 h 54"/>
                <a:gd name="T4" fmla="*/ 0 60000 65536"/>
                <a:gd name="T5" fmla="*/ 0 60000 65536"/>
                <a:gd name="T6" fmla="*/ 0 w 158"/>
                <a:gd name="T7" fmla="*/ 0 h 54"/>
                <a:gd name="T8" fmla="*/ 158 w 158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8" h="54">
                  <a:moveTo>
                    <a:pt x="0" y="0"/>
                  </a:moveTo>
                  <a:cubicBezTo>
                    <a:pt x="0" y="0"/>
                    <a:pt x="59" y="54"/>
                    <a:pt x="158" y="24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6" name="Freeform 94"/>
            <p:cNvSpPr>
              <a:spLocks/>
            </p:cNvSpPr>
            <p:nvPr/>
          </p:nvSpPr>
          <p:spPr bwMode="auto">
            <a:xfrm>
              <a:off x="3810" y="2178"/>
              <a:ext cx="350" cy="394"/>
            </a:xfrm>
            <a:custGeom>
              <a:avLst/>
              <a:gdLst>
                <a:gd name="T0" fmla="*/ 0 w 112"/>
                <a:gd name="T1" fmla="*/ 0 h 126"/>
                <a:gd name="T2" fmla="*/ 107 w 112"/>
                <a:gd name="T3" fmla="*/ 126 h 126"/>
                <a:gd name="T4" fmla="*/ 0 60000 65536"/>
                <a:gd name="T5" fmla="*/ 0 60000 65536"/>
                <a:gd name="T6" fmla="*/ 0 w 112"/>
                <a:gd name="T7" fmla="*/ 0 h 126"/>
                <a:gd name="T8" fmla="*/ 112 w 112"/>
                <a:gd name="T9" fmla="*/ 126 h 1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2" h="126">
                  <a:moveTo>
                    <a:pt x="0" y="0"/>
                  </a:moveTo>
                  <a:cubicBezTo>
                    <a:pt x="0" y="0"/>
                    <a:pt x="112" y="7"/>
                    <a:pt x="107" y="126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7" name="Line 95"/>
            <p:cNvSpPr>
              <a:spLocks noChangeShapeType="1"/>
            </p:cNvSpPr>
            <p:nvPr/>
          </p:nvSpPr>
          <p:spPr bwMode="auto">
            <a:xfrm flipH="1">
              <a:off x="3778" y="1784"/>
              <a:ext cx="322" cy="2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238" name="Freeform 96"/>
            <p:cNvSpPr>
              <a:spLocks/>
            </p:cNvSpPr>
            <p:nvPr/>
          </p:nvSpPr>
          <p:spPr bwMode="auto">
            <a:xfrm>
              <a:off x="3310" y="1397"/>
              <a:ext cx="721" cy="225"/>
            </a:xfrm>
            <a:custGeom>
              <a:avLst/>
              <a:gdLst>
                <a:gd name="T0" fmla="*/ 0 w 231"/>
                <a:gd name="T1" fmla="*/ 49 h 72"/>
                <a:gd name="T2" fmla="*/ 231 w 231"/>
                <a:gd name="T3" fmla="*/ 72 h 72"/>
                <a:gd name="T4" fmla="*/ 0 60000 65536"/>
                <a:gd name="T5" fmla="*/ 0 60000 65536"/>
                <a:gd name="T6" fmla="*/ 0 w 231"/>
                <a:gd name="T7" fmla="*/ 0 h 72"/>
                <a:gd name="T8" fmla="*/ 231 w 231"/>
                <a:gd name="T9" fmla="*/ 72 h 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1" h="72">
                  <a:moveTo>
                    <a:pt x="0" y="49"/>
                  </a:moveTo>
                  <a:cubicBezTo>
                    <a:pt x="0" y="49"/>
                    <a:pt x="79" y="0"/>
                    <a:pt x="231" y="72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39" name="Oval 97"/>
            <p:cNvSpPr>
              <a:spLocks noChangeArrowheads="1"/>
            </p:cNvSpPr>
            <p:nvPr/>
          </p:nvSpPr>
          <p:spPr bwMode="auto">
            <a:xfrm>
              <a:off x="2578" y="2500"/>
              <a:ext cx="235" cy="235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0" name="Oval 98"/>
            <p:cNvSpPr>
              <a:spLocks noChangeArrowheads="1"/>
            </p:cNvSpPr>
            <p:nvPr/>
          </p:nvSpPr>
          <p:spPr bwMode="auto">
            <a:xfrm>
              <a:off x="2047" y="1531"/>
              <a:ext cx="231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1" name="Oval 99"/>
            <p:cNvSpPr>
              <a:spLocks noChangeArrowheads="1"/>
            </p:cNvSpPr>
            <p:nvPr/>
          </p:nvSpPr>
          <p:spPr bwMode="auto">
            <a:xfrm>
              <a:off x="2525" y="1625"/>
              <a:ext cx="231" cy="234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2" name="Oval 100"/>
            <p:cNvSpPr>
              <a:spLocks noChangeArrowheads="1"/>
            </p:cNvSpPr>
            <p:nvPr/>
          </p:nvSpPr>
          <p:spPr bwMode="auto">
            <a:xfrm>
              <a:off x="3547" y="2044"/>
              <a:ext cx="231" cy="231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3" name="Oval 101"/>
            <p:cNvSpPr>
              <a:spLocks noChangeArrowheads="1"/>
            </p:cNvSpPr>
            <p:nvPr/>
          </p:nvSpPr>
          <p:spPr bwMode="auto">
            <a:xfrm>
              <a:off x="4022" y="2575"/>
              <a:ext cx="231" cy="235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4" name="Oval 102"/>
            <p:cNvSpPr>
              <a:spLocks noChangeArrowheads="1"/>
            </p:cNvSpPr>
            <p:nvPr/>
          </p:nvSpPr>
          <p:spPr bwMode="auto">
            <a:xfrm>
              <a:off x="3235" y="2535"/>
              <a:ext cx="231" cy="231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5" name="Oval 103"/>
            <p:cNvSpPr>
              <a:spLocks noChangeArrowheads="1"/>
            </p:cNvSpPr>
            <p:nvPr/>
          </p:nvSpPr>
          <p:spPr bwMode="auto">
            <a:xfrm>
              <a:off x="1572" y="1634"/>
              <a:ext cx="231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6" name="Oval 104"/>
            <p:cNvSpPr>
              <a:spLocks noChangeArrowheads="1"/>
            </p:cNvSpPr>
            <p:nvPr/>
          </p:nvSpPr>
          <p:spPr bwMode="auto">
            <a:xfrm>
              <a:off x="4069" y="1584"/>
              <a:ext cx="231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7" name="Oval 105"/>
            <p:cNvSpPr>
              <a:spLocks noChangeArrowheads="1"/>
            </p:cNvSpPr>
            <p:nvPr/>
          </p:nvSpPr>
          <p:spPr bwMode="auto">
            <a:xfrm>
              <a:off x="2250" y="2081"/>
              <a:ext cx="231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8" name="Oval 106"/>
            <p:cNvSpPr>
              <a:spLocks noChangeArrowheads="1"/>
            </p:cNvSpPr>
            <p:nvPr/>
          </p:nvSpPr>
          <p:spPr bwMode="auto">
            <a:xfrm>
              <a:off x="1803" y="2084"/>
              <a:ext cx="235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49" name="Oval 107"/>
            <p:cNvSpPr>
              <a:spLocks noChangeArrowheads="1"/>
            </p:cNvSpPr>
            <p:nvPr/>
          </p:nvSpPr>
          <p:spPr bwMode="auto">
            <a:xfrm>
              <a:off x="1328" y="2084"/>
              <a:ext cx="235" cy="232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50" name="Oval 108"/>
            <p:cNvSpPr>
              <a:spLocks noChangeArrowheads="1"/>
            </p:cNvSpPr>
            <p:nvPr/>
          </p:nvSpPr>
          <p:spPr bwMode="auto">
            <a:xfrm>
              <a:off x="1538" y="2522"/>
              <a:ext cx="231" cy="231"/>
            </a:xfrm>
            <a:prstGeom prst="ellipse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200"/>
            </a:p>
          </p:txBody>
        </p:sp>
        <p:sp>
          <p:nvSpPr>
            <p:cNvPr id="251" name="Rectangle 109"/>
            <p:cNvSpPr>
              <a:spLocks noChangeArrowheads="1"/>
            </p:cNvSpPr>
            <p:nvPr/>
          </p:nvSpPr>
          <p:spPr bwMode="auto">
            <a:xfrm>
              <a:off x="4115" y="1643"/>
              <a:ext cx="17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SO</a:t>
              </a:r>
              <a:endParaRPr lang="en-US" altLang="en-US" sz="1200"/>
            </a:p>
          </p:txBody>
        </p:sp>
        <p:sp>
          <p:nvSpPr>
            <p:cNvPr id="252" name="Rectangle 110"/>
            <p:cNvSpPr>
              <a:spLocks noChangeArrowheads="1"/>
            </p:cNvSpPr>
            <p:nvPr/>
          </p:nvSpPr>
          <p:spPr bwMode="auto">
            <a:xfrm>
              <a:off x="3588" y="2101"/>
              <a:ext cx="18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SM</a:t>
              </a:r>
              <a:endParaRPr lang="en-US" altLang="en-US" sz="1200"/>
            </a:p>
          </p:txBody>
        </p:sp>
        <p:sp>
          <p:nvSpPr>
            <p:cNvPr id="253" name="Rectangle 111"/>
            <p:cNvSpPr>
              <a:spLocks noChangeArrowheads="1"/>
            </p:cNvSpPr>
            <p:nvPr/>
          </p:nvSpPr>
          <p:spPr bwMode="auto">
            <a:xfrm>
              <a:off x="3165" y="1562"/>
              <a:ext cx="116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SI</a:t>
              </a:r>
              <a:endParaRPr lang="en-US" altLang="en-US" sz="1200"/>
            </a:p>
          </p:txBody>
        </p:sp>
        <p:sp>
          <p:nvSpPr>
            <p:cNvPr id="254" name="Rectangle 112"/>
            <p:cNvSpPr>
              <a:spLocks noChangeArrowheads="1"/>
            </p:cNvSpPr>
            <p:nvPr/>
          </p:nvSpPr>
          <p:spPr bwMode="auto">
            <a:xfrm>
              <a:off x="4066" y="2636"/>
              <a:ext cx="1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SN</a:t>
              </a:r>
              <a:endParaRPr lang="en-US" altLang="en-US" sz="1200"/>
            </a:p>
          </p:txBody>
        </p:sp>
        <p:sp>
          <p:nvSpPr>
            <p:cNvPr id="255" name="Rectangle 113"/>
            <p:cNvSpPr>
              <a:spLocks noChangeArrowheads="1"/>
            </p:cNvSpPr>
            <p:nvPr/>
          </p:nvSpPr>
          <p:spPr bwMode="auto">
            <a:xfrm>
              <a:off x="3288" y="2596"/>
              <a:ext cx="14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SL</a:t>
              </a:r>
              <a:endParaRPr lang="en-US" altLang="en-US" sz="1200"/>
            </a:p>
          </p:txBody>
        </p:sp>
        <p:sp>
          <p:nvSpPr>
            <p:cNvPr id="256" name="Rectangle 114"/>
            <p:cNvSpPr>
              <a:spLocks noChangeArrowheads="1"/>
            </p:cNvSpPr>
            <p:nvPr/>
          </p:nvSpPr>
          <p:spPr bwMode="auto">
            <a:xfrm>
              <a:off x="2848" y="2139"/>
              <a:ext cx="14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SJ</a:t>
              </a:r>
              <a:endParaRPr lang="en-US" altLang="en-US" sz="1200"/>
            </a:p>
          </p:txBody>
        </p:sp>
        <p:sp>
          <p:nvSpPr>
            <p:cNvPr id="257" name="Rectangle 115"/>
            <p:cNvSpPr>
              <a:spLocks noChangeArrowheads="1"/>
            </p:cNvSpPr>
            <p:nvPr/>
          </p:nvSpPr>
          <p:spPr bwMode="auto">
            <a:xfrm>
              <a:off x="2626" y="2557"/>
              <a:ext cx="16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SK</a:t>
              </a:r>
              <a:endParaRPr lang="en-US" altLang="en-US" sz="1200"/>
            </a:p>
          </p:txBody>
        </p:sp>
        <p:sp>
          <p:nvSpPr>
            <p:cNvPr id="258" name="Rectangle 116"/>
            <p:cNvSpPr>
              <a:spLocks noChangeArrowheads="1"/>
            </p:cNvSpPr>
            <p:nvPr/>
          </p:nvSpPr>
          <p:spPr bwMode="auto">
            <a:xfrm>
              <a:off x="2290" y="2138"/>
              <a:ext cx="17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SG</a:t>
              </a:r>
              <a:endParaRPr lang="en-US" altLang="en-US" sz="1200"/>
            </a:p>
          </p:txBody>
        </p:sp>
        <p:sp>
          <p:nvSpPr>
            <p:cNvPr id="259" name="Rectangle 117"/>
            <p:cNvSpPr>
              <a:spLocks noChangeArrowheads="1"/>
            </p:cNvSpPr>
            <p:nvPr/>
          </p:nvSpPr>
          <p:spPr bwMode="auto">
            <a:xfrm>
              <a:off x="2570" y="1684"/>
              <a:ext cx="1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SH</a:t>
              </a:r>
              <a:endParaRPr lang="en-US" altLang="en-US" sz="1200"/>
            </a:p>
          </p:txBody>
        </p:sp>
        <p:sp>
          <p:nvSpPr>
            <p:cNvPr id="260" name="Rectangle 118"/>
            <p:cNvSpPr>
              <a:spLocks noChangeArrowheads="1"/>
            </p:cNvSpPr>
            <p:nvPr/>
          </p:nvSpPr>
          <p:spPr bwMode="auto">
            <a:xfrm>
              <a:off x="2095" y="1586"/>
              <a:ext cx="16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SB</a:t>
              </a:r>
              <a:endParaRPr lang="en-US" altLang="en-US" sz="1200"/>
            </a:p>
          </p:txBody>
        </p:sp>
        <p:sp>
          <p:nvSpPr>
            <p:cNvPr id="261" name="Rectangle 119"/>
            <p:cNvSpPr>
              <a:spLocks noChangeArrowheads="1"/>
            </p:cNvSpPr>
            <p:nvPr/>
          </p:nvSpPr>
          <p:spPr bwMode="auto">
            <a:xfrm>
              <a:off x="2080" y="1775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62" name="Rectangle 120"/>
            <p:cNvSpPr>
              <a:spLocks noChangeArrowheads="1"/>
            </p:cNvSpPr>
            <p:nvPr/>
          </p:nvSpPr>
          <p:spPr bwMode="auto">
            <a:xfrm>
              <a:off x="1364" y="2316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63" name="Rectangle 121"/>
            <p:cNvSpPr>
              <a:spLocks noChangeArrowheads="1"/>
            </p:cNvSpPr>
            <p:nvPr/>
          </p:nvSpPr>
          <p:spPr bwMode="auto">
            <a:xfrm>
              <a:off x="1571" y="2754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64" name="Rectangle 122"/>
            <p:cNvSpPr>
              <a:spLocks noChangeArrowheads="1"/>
            </p:cNvSpPr>
            <p:nvPr/>
          </p:nvSpPr>
          <p:spPr bwMode="auto">
            <a:xfrm>
              <a:off x="1843" y="2316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65" name="Rectangle 123"/>
            <p:cNvSpPr>
              <a:spLocks noChangeArrowheads="1"/>
            </p:cNvSpPr>
            <p:nvPr/>
          </p:nvSpPr>
          <p:spPr bwMode="auto">
            <a:xfrm>
              <a:off x="2091" y="2932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66" name="Rectangle 124"/>
            <p:cNvSpPr>
              <a:spLocks noChangeArrowheads="1"/>
            </p:cNvSpPr>
            <p:nvPr/>
          </p:nvSpPr>
          <p:spPr bwMode="auto">
            <a:xfrm>
              <a:off x="2624" y="2719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67" name="Rectangle 125"/>
            <p:cNvSpPr>
              <a:spLocks noChangeArrowheads="1"/>
            </p:cNvSpPr>
            <p:nvPr/>
          </p:nvSpPr>
          <p:spPr bwMode="auto">
            <a:xfrm>
              <a:off x="3593" y="2271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68" name="Rectangle 126"/>
            <p:cNvSpPr>
              <a:spLocks noChangeArrowheads="1"/>
            </p:cNvSpPr>
            <p:nvPr/>
          </p:nvSpPr>
          <p:spPr bwMode="auto">
            <a:xfrm>
              <a:off x="4056" y="2802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69" name="Rectangle 127"/>
            <p:cNvSpPr>
              <a:spLocks noChangeArrowheads="1"/>
            </p:cNvSpPr>
            <p:nvPr/>
          </p:nvSpPr>
          <p:spPr bwMode="auto">
            <a:xfrm>
              <a:off x="2831" y="2305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70" name="Rectangle 128"/>
            <p:cNvSpPr>
              <a:spLocks noChangeArrowheads="1"/>
            </p:cNvSpPr>
            <p:nvPr/>
          </p:nvSpPr>
          <p:spPr bwMode="auto">
            <a:xfrm>
              <a:off x="3272" y="2762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71" name="Rectangle 129"/>
            <p:cNvSpPr>
              <a:spLocks noChangeArrowheads="1"/>
            </p:cNvSpPr>
            <p:nvPr/>
          </p:nvSpPr>
          <p:spPr bwMode="auto">
            <a:xfrm>
              <a:off x="4108" y="1810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72" name="Rectangle 130"/>
            <p:cNvSpPr>
              <a:spLocks noChangeArrowheads="1"/>
            </p:cNvSpPr>
            <p:nvPr/>
          </p:nvSpPr>
          <p:spPr bwMode="auto">
            <a:xfrm>
              <a:off x="2564" y="1851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73" name="Rectangle 131"/>
            <p:cNvSpPr>
              <a:spLocks noChangeArrowheads="1"/>
            </p:cNvSpPr>
            <p:nvPr/>
          </p:nvSpPr>
          <p:spPr bwMode="auto">
            <a:xfrm>
              <a:off x="3113" y="1736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74" name="Rectangle 132"/>
            <p:cNvSpPr>
              <a:spLocks noChangeArrowheads="1"/>
            </p:cNvSpPr>
            <p:nvPr/>
          </p:nvSpPr>
          <p:spPr bwMode="auto">
            <a:xfrm>
              <a:off x="2288" y="2317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z=0</a:t>
              </a:r>
              <a:endParaRPr lang="en-US" altLang="en-US" sz="1200"/>
            </a:p>
          </p:txBody>
        </p:sp>
        <p:sp>
          <p:nvSpPr>
            <p:cNvPr id="275" name="Rectangle 133"/>
            <p:cNvSpPr>
              <a:spLocks noChangeArrowheads="1"/>
            </p:cNvSpPr>
            <p:nvPr/>
          </p:nvSpPr>
          <p:spPr bwMode="auto">
            <a:xfrm>
              <a:off x="1614" y="1861"/>
              <a:ext cx="1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z=1</a:t>
              </a:r>
              <a:endParaRPr lang="en-US" altLang="en-US" sz="1200"/>
            </a:p>
          </p:txBody>
        </p:sp>
        <p:sp>
          <p:nvSpPr>
            <p:cNvPr id="276" name="Rectangle 134"/>
            <p:cNvSpPr>
              <a:spLocks noChangeArrowheads="1"/>
            </p:cNvSpPr>
            <p:nvPr/>
          </p:nvSpPr>
          <p:spPr bwMode="auto">
            <a:xfrm>
              <a:off x="1623" y="1689"/>
              <a:ext cx="16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SA</a:t>
              </a:r>
              <a:endParaRPr lang="en-US" altLang="en-US" sz="1200"/>
            </a:p>
          </p:txBody>
        </p:sp>
        <p:sp>
          <p:nvSpPr>
            <p:cNvPr id="277" name="Rectangle 135"/>
            <p:cNvSpPr>
              <a:spLocks noChangeArrowheads="1"/>
            </p:cNvSpPr>
            <p:nvPr/>
          </p:nvSpPr>
          <p:spPr bwMode="auto">
            <a:xfrm>
              <a:off x="1849" y="2141"/>
              <a:ext cx="1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SD</a:t>
              </a:r>
              <a:endParaRPr lang="en-US" altLang="en-US" sz="1200"/>
            </a:p>
          </p:txBody>
        </p:sp>
        <p:sp>
          <p:nvSpPr>
            <p:cNvPr id="278" name="Rectangle 136"/>
            <p:cNvSpPr>
              <a:spLocks noChangeArrowheads="1"/>
            </p:cNvSpPr>
            <p:nvPr/>
          </p:nvSpPr>
          <p:spPr bwMode="auto">
            <a:xfrm>
              <a:off x="1383" y="2141"/>
              <a:ext cx="1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SC</a:t>
              </a:r>
              <a:endParaRPr lang="en-US" altLang="en-US" sz="1200"/>
            </a:p>
          </p:txBody>
        </p:sp>
        <p:sp>
          <p:nvSpPr>
            <p:cNvPr id="279" name="Rectangle 137"/>
            <p:cNvSpPr>
              <a:spLocks noChangeArrowheads="1"/>
            </p:cNvSpPr>
            <p:nvPr/>
          </p:nvSpPr>
          <p:spPr bwMode="auto">
            <a:xfrm>
              <a:off x="1586" y="2582"/>
              <a:ext cx="16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SE</a:t>
              </a:r>
              <a:endParaRPr lang="en-US" altLang="en-US" sz="1200"/>
            </a:p>
          </p:txBody>
        </p:sp>
        <p:sp>
          <p:nvSpPr>
            <p:cNvPr id="280" name="Rectangle 138"/>
            <p:cNvSpPr>
              <a:spLocks noChangeArrowheads="1"/>
            </p:cNvSpPr>
            <p:nvPr/>
          </p:nvSpPr>
          <p:spPr bwMode="auto">
            <a:xfrm>
              <a:off x="2106" y="2778"/>
              <a:ext cx="156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SF</a:t>
              </a:r>
              <a:endParaRPr lang="en-US" altLang="en-US" sz="1200"/>
            </a:p>
          </p:txBody>
        </p:sp>
        <p:sp>
          <p:nvSpPr>
            <p:cNvPr id="281" name="Rectangle 139"/>
            <p:cNvSpPr>
              <a:spLocks noChangeArrowheads="1"/>
            </p:cNvSpPr>
            <p:nvPr/>
          </p:nvSpPr>
          <p:spPr bwMode="auto">
            <a:xfrm>
              <a:off x="1249" y="1208"/>
              <a:ext cx="1086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Myriad Roman" charset="0"/>
                </a:rPr>
                <a:t>Inputs: x; Outputs: z</a:t>
              </a:r>
              <a:endParaRPr lang="en-US" altLang="en-US" sz="1200"/>
            </a:p>
          </p:txBody>
        </p:sp>
      </p:grpSp>
      <p:sp>
        <p:nvSpPr>
          <p:cNvPr id="28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98711926-D2A4-404A-AED4-8D3E5BC7805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67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411"/>
    </mc:Choice>
    <mc:Fallback xmlns="">
      <p:transition spd="slow" advTm="10141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872000"/>
            <a:ext cx="8222400" cy="3960000"/>
          </a:xfrm>
        </p:spPr>
        <p:txBody>
          <a:bodyPr/>
          <a:lstStyle/>
          <a:p>
            <a:pPr eaLnBrk="1" hangingPunct="1"/>
            <a:r>
              <a:rPr lang="en-US" b="1"/>
              <a:t>Board-based design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Large number of ICs on a single printed circuit board (PCB)</a:t>
            </a:r>
          </a:p>
          <a:p>
            <a:pPr lvl="0" eaLnBrk="1" hangingPunct="1"/>
            <a:endParaRPr lang="en-US">
              <a:solidFill>
                <a:srgbClr val="000000"/>
              </a:solidFill>
            </a:endParaRPr>
          </a:p>
          <a:p>
            <a:pPr marL="0" lvl="0" indent="0" eaLnBrk="1" hangingPunct="1">
              <a:buNone/>
            </a:pPr>
            <a:endParaRPr lang="en-US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</a:pPr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1.2. Conventional Approach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14</a:t>
            </a:fld>
            <a:endParaRPr lang="de-D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113" y="2551566"/>
            <a:ext cx="3888000" cy="34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8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70"/>
    </mc:Choice>
    <mc:Fallback xmlns="">
      <p:transition spd="slow" advTm="3287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1.2. Conventional Approach</a:t>
            </a:r>
            <a:endParaRPr lang="en-US" altLang="en-US"/>
          </a:p>
        </p:txBody>
      </p:sp>
      <p:pic>
        <p:nvPicPr>
          <p:cNvPr id="4101" name="Picture 6" descr="http://4.bp.blogspot.com/-PI_-NJNOn60/TmEqROo13lI/AAAAAAAAAN8/0iOW3EG9WnA/s1600/7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50" y="2349500"/>
            <a:ext cx="19224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10" descr="http://www.outerworldarcade.com/arcade/targ/_images/targ_pcb_lar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671" y="2401281"/>
            <a:ext cx="5832000" cy="361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98711926-D2A4-404A-AED4-8D3E5BC7805D}" type="slidenum">
              <a:rPr lang="de-DE" smtClean="0"/>
              <a:t>15</a:t>
            </a:fld>
            <a:endParaRPr lang="de-DE"/>
          </a:p>
        </p:txBody>
      </p:sp>
      <p:sp>
        <p:nvSpPr>
          <p:cNvPr id="66" name="Content Placeholder 2"/>
          <p:cNvSpPr>
            <a:spLocks noGrp="1"/>
          </p:cNvSpPr>
          <p:nvPr>
            <p:ph idx="1"/>
          </p:nvPr>
        </p:nvSpPr>
        <p:spPr>
          <a:xfrm>
            <a:off x="460799" y="1872000"/>
            <a:ext cx="4720397" cy="45631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b="1"/>
              <a:t>Off-the-shelf fixed function logic gates</a:t>
            </a:r>
            <a:endParaRPr lang="en-GB"/>
          </a:p>
        </p:txBody>
      </p:sp>
      <p:grpSp>
        <p:nvGrpSpPr>
          <p:cNvPr id="67" name="Group 66"/>
          <p:cNvGrpSpPr/>
          <p:nvPr/>
        </p:nvGrpSpPr>
        <p:grpSpPr>
          <a:xfrm>
            <a:off x="459927" y="3663820"/>
            <a:ext cx="2482850" cy="2354263"/>
            <a:chOff x="1175356" y="2667505"/>
            <a:chExt cx="2482850" cy="2354263"/>
          </a:xfrm>
        </p:grpSpPr>
        <p:grpSp>
          <p:nvGrpSpPr>
            <p:cNvPr id="68" name="Group 67"/>
            <p:cNvGrpSpPr/>
            <p:nvPr/>
          </p:nvGrpSpPr>
          <p:grpSpPr>
            <a:xfrm>
              <a:off x="1175356" y="2667505"/>
              <a:ext cx="2482850" cy="2354263"/>
              <a:chOff x="5946775" y="1330325"/>
              <a:chExt cx="2482850" cy="2354263"/>
            </a:xfrm>
          </p:grpSpPr>
          <p:sp>
            <p:nvSpPr>
              <p:cNvPr id="73" name="Rectangle 7"/>
              <p:cNvSpPr>
                <a:spLocks noChangeArrowheads="1"/>
              </p:cNvSpPr>
              <p:nvPr/>
            </p:nvSpPr>
            <p:spPr bwMode="auto">
              <a:xfrm>
                <a:off x="5946775" y="1863725"/>
                <a:ext cx="2451100" cy="1281113"/>
              </a:xfrm>
              <a:prstGeom prst="rect">
                <a:avLst/>
              </a:prstGeom>
              <a:noFill/>
              <a:ln w="14288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4" name="Freeform 8"/>
              <p:cNvSpPr>
                <a:spLocks/>
              </p:cNvSpPr>
              <p:nvPr/>
            </p:nvSpPr>
            <p:spPr bwMode="auto">
              <a:xfrm>
                <a:off x="5946775" y="2325688"/>
                <a:ext cx="184150" cy="366712"/>
              </a:xfrm>
              <a:custGeom>
                <a:avLst/>
                <a:gdLst>
                  <a:gd name="T0" fmla="*/ 0 w 37"/>
                  <a:gd name="T1" fmla="*/ 0 h 74"/>
                  <a:gd name="T2" fmla="*/ 184150 w 37"/>
                  <a:gd name="T3" fmla="*/ 183356 h 74"/>
                  <a:gd name="T4" fmla="*/ 0 w 37"/>
                  <a:gd name="T5" fmla="*/ 366712 h 74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74"/>
                  <a:gd name="T11" fmla="*/ 37 w 37"/>
                  <a:gd name="T12" fmla="*/ 74 h 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74">
                    <a:moveTo>
                      <a:pt x="0" y="0"/>
                    </a:moveTo>
                    <a:cubicBezTo>
                      <a:pt x="20" y="0"/>
                      <a:pt x="37" y="17"/>
                      <a:pt x="37" y="37"/>
                    </a:cubicBezTo>
                    <a:cubicBezTo>
                      <a:pt x="37" y="57"/>
                      <a:pt x="20" y="74"/>
                      <a:pt x="0" y="74"/>
                    </a:cubicBezTo>
                  </a:path>
                </a:pathLst>
              </a:custGeom>
              <a:noFill/>
              <a:ln w="9525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5" name="Freeform 24"/>
              <p:cNvSpPr>
                <a:spLocks/>
              </p:cNvSpPr>
              <p:nvPr/>
            </p:nvSpPr>
            <p:spPr bwMode="auto">
              <a:xfrm>
                <a:off x="7177088" y="2717800"/>
                <a:ext cx="412750" cy="560388"/>
              </a:xfrm>
              <a:custGeom>
                <a:avLst/>
                <a:gdLst>
                  <a:gd name="T0" fmla="*/ 412750 w 260"/>
                  <a:gd name="T1" fmla="*/ 0 h 353"/>
                  <a:gd name="T2" fmla="*/ 0 w 260"/>
                  <a:gd name="T3" fmla="*/ 0 h 353"/>
                  <a:gd name="T4" fmla="*/ 0 w 260"/>
                  <a:gd name="T5" fmla="*/ 560388 h 353"/>
                  <a:gd name="T6" fmla="*/ 0 60000 65536"/>
                  <a:gd name="T7" fmla="*/ 0 60000 65536"/>
                  <a:gd name="T8" fmla="*/ 0 60000 65536"/>
                  <a:gd name="T9" fmla="*/ 0 w 260"/>
                  <a:gd name="T10" fmla="*/ 0 h 353"/>
                  <a:gd name="T11" fmla="*/ 260 w 260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0" h="353">
                    <a:moveTo>
                      <a:pt x="260" y="0"/>
                    </a:moveTo>
                    <a:lnTo>
                      <a:pt x="0" y="0"/>
                    </a:lnTo>
                    <a:lnTo>
                      <a:pt x="0" y="35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6" name="Freeform 25"/>
              <p:cNvSpPr>
                <a:spLocks/>
              </p:cNvSpPr>
              <p:nvPr/>
            </p:nvSpPr>
            <p:spPr bwMode="auto">
              <a:xfrm>
                <a:off x="7851775" y="2816225"/>
                <a:ext cx="273050" cy="461963"/>
              </a:xfrm>
              <a:custGeom>
                <a:avLst/>
                <a:gdLst>
                  <a:gd name="T0" fmla="*/ 193675 w 172"/>
                  <a:gd name="T1" fmla="*/ 0 h 291"/>
                  <a:gd name="T2" fmla="*/ 273050 w 172"/>
                  <a:gd name="T3" fmla="*/ 0 h 291"/>
                  <a:gd name="T4" fmla="*/ 273050 w 172"/>
                  <a:gd name="T5" fmla="*/ 263525 h 291"/>
                  <a:gd name="T6" fmla="*/ 0 w 172"/>
                  <a:gd name="T7" fmla="*/ 263525 h 291"/>
                  <a:gd name="T8" fmla="*/ 0 w 172"/>
                  <a:gd name="T9" fmla="*/ 461963 h 2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"/>
                  <a:gd name="T16" fmla="*/ 0 h 291"/>
                  <a:gd name="T17" fmla="*/ 172 w 172"/>
                  <a:gd name="T18" fmla="*/ 291 h 2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" h="291">
                    <a:moveTo>
                      <a:pt x="122" y="0"/>
                    </a:moveTo>
                    <a:lnTo>
                      <a:pt x="172" y="0"/>
                    </a:lnTo>
                    <a:lnTo>
                      <a:pt x="172" y="166"/>
                    </a:lnTo>
                    <a:lnTo>
                      <a:pt x="0" y="166"/>
                    </a:lnTo>
                    <a:lnTo>
                      <a:pt x="0" y="2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7" name="Freeform 26"/>
              <p:cNvSpPr>
                <a:spLocks/>
              </p:cNvSpPr>
              <p:nvPr/>
            </p:nvSpPr>
            <p:spPr bwMode="auto">
              <a:xfrm>
                <a:off x="7515225" y="2916238"/>
                <a:ext cx="74613" cy="357187"/>
              </a:xfrm>
              <a:custGeom>
                <a:avLst/>
                <a:gdLst>
                  <a:gd name="T0" fmla="*/ 74613 w 47"/>
                  <a:gd name="T1" fmla="*/ 0 h 225"/>
                  <a:gd name="T2" fmla="*/ 0 w 47"/>
                  <a:gd name="T3" fmla="*/ 0 h 225"/>
                  <a:gd name="T4" fmla="*/ 0 w 47"/>
                  <a:gd name="T5" fmla="*/ 357187 h 225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225"/>
                  <a:gd name="T11" fmla="*/ 47 w 47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225">
                    <a:moveTo>
                      <a:pt x="47" y="0"/>
                    </a:moveTo>
                    <a:lnTo>
                      <a:pt x="0" y="0"/>
                    </a:lnTo>
                    <a:lnTo>
                      <a:pt x="0" y="22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8" name="Freeform 27"/>
              <p:cNvSpPr>
                <a:spLocks/>
              </p:cNvSpPr>
              <p:nvPr/>
            </p:nvSpPr>
            <p:spPr bwMode="auto">
              <a:xfrm>
                <a:off x="6159500" y="2717800"/>
                <a:ext cx="412750" cy="560388"/>
              </a:xfrm>
              <a:custGeom>
                <a:avLst/>
                <a:gdLst>
                  <a:gd name="T0" fmla="*/ 412750 w 260"/>
                  <a:gd name="T1" fmla="*/ 0 h 353"/>
                  <a:gd name="T2" fmla="*/ 0 w 260"/>
                  <a:gd name="T3" fmla="*/ 0 h 353"/>
                  <a:gd name="T4" fmla="*/ 0 w 260"/>
                  <a:gd name="T5" fmla="*/ 560388 h 353"/>
                  <a:gd name="T6" fmla="*/ 0 60000 65536"/>
                  <a:gd name="T7" fmla="*/ 0 60000 65536"/>
                  <a:gd name="T8" fmla="*/ 0 60000 65536"/>
                  <a:gd name="T9" fmla="*/ 0 w 260"/>
                  <a:gd name="T10" fmla="*/ 0 h 353"/>
                  <a:gd name="T11" fmla="*/ 260 w 260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0" h="353">
                    <a:moveTo>
                      <a:pt x="260" y="0"/>
                    </a:moveTo>
                    <a:lnTo>
                      <a:pt x="0" y="0"/>
                    </a:lnTo>
                    <a:lnTo>
                      <a:pt x="0" y="35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79" name="Freeform 28"/>
              <p:cNvSpPr>
                <a:spLocks/>
              </p:cNvSpPr>
              <p:nvPr/>
            </p:nvSpPr>
            <p:spPr bwMode="auto">
              <a:xfrm>
                <a:off x="6834188" y="2816225"/>
                <a:ext cx="273050" cy="461963"/>
              </a:xfrm>
              <a:custGeom>
                <a:avLst/>
                <a:gdLst>
                  <a:gd name="T0" fmla="*/ 198437 w 172"/>
                  <a:gd name="T1" fmla="*/ 0 h 291"/>
                  <a:gd name="T2" fmla="*/ 273050 w 172"/>
                  <a:gd name="T3" fmla="*/ 0 h 291"/>
                  <a:gd name="T4" fmla="*/ 273050 w 172"/>
                  <a:gd name="T5" fmla="*/ 263525 h 291"/>
                  <a:gd name="T6" fmla="*/ 0 w 172"/>
                  <a:gd name="T7" fmla="*/ 263525 h 291"/>
                  <a:gd name="T8" fmla="*/ 0 w 172"/>
                  <a:gd name="T9" fmla="*/ 461963 h 2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"/>
                  <a:gd name="T16" fmla="*/ 0 h 291"/>
                  <a:gd name="T17" fmla="*/ 172 w 172"/>
                  <a:gd name="T18" fmla="*/ 291 h 2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" h="291">
                    <a:moveTo>
                      <a:pt x="125" y="0"/>
                    </a:moveTo>
                    <a:lnTo>
                      <a:pt x="172" y="0"/>
                    </a:lnTo>
                    <a:lnTo>
                      <a:pt x="172" y="166"/>
                    </a:lnTo>
                    <a:lnTo>
                      <a:pt x="0" y="166"/>
                    </a:lnTo>
                    <a:lnTo>
                      <a:pt x="0" y="2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0" name="Freeform 29"/>
              <p:cNvSpPr>
                <a:spLocks/>
              </p:cNvSpPr>
              <p:nvPr/>
            </p:nvSpPr>
            <p:spPr bwMode="auto">
              <a:xfrm>
                <a:off x="6497638" y="2916238"/>
                <a:ext cx="74612" cy="357187"/>
              </a:xfrm>
              <a:custGeom>
                <a:avLst/>
                <a:gdLst>
                  <a:gd name="T0" fmla="*/ 74612 w 47"/>
                  <a:gd name="T1" fmla="*/ 0 h 225"/>
                  <a:gd name="T2" fmla="*/ 0 w 47"/>
                  <a:gd name="T3" fmla="*/ 0 h 225"/>
                  <a:gd name="T4" fmla="*/ 0 w 47"/>
                  <a:gd name="T5" fmla="*/ 357187 h 225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225"/>
                  <a:gd name="T11" fmla="*/ 47 w 47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225">
                    <a:moveTo>
                      <a:pt x="47" y="0"/>
                    </a:moveTo>
                    <a:lnTo>
                      <a:pt x="0" y="0"/>
                    </a:lnTo>
                    <a:lnTo>
                      <a:pt x="0" y="22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1" name="Line 30"/>
              <p:cNvSpPr>
                <a:spLocks noChangeShapeType="1"/>
              </p:cNvSpPr>
              <p:nvPr/>
            </p:nvSpPr>
            <p:spPr bwMode="auto">
              <a:xfrm>
                <a:off x="8189913" y="2970213"/>
                <a:ext cx="1587" cy="3032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Line 31"/>
              <p:cNvSpPr>
                <a:spLocks noChangeShapeType="1"/>
              </p:cNvSpPr>
              <p:nvPr/>
            </p:nvSpPr>
            <p:spPr bwMode="auto">
              <a:xfrm>
                <a:off x="8189913" y="2970213"/>
                <a:ext cx="1587" cy="3032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Freeform 32"/>
              <p:cNvSpPr>
                <a:spLocks/>
              </p:cNvSpPr>
              <p:nvPr/>
            </p:nvSpPr>
            <p:spPr bwMode="auto">
              <a:xfrm>
                <a:off x="6765925" y="1739900"/>
                <a:ext cx="411163" cy="560388"/>
              </a:xfrm>
              <a:custGeom>
                <a:avLst/>
                <a:gdLst>
                  <a:gd name="T0" fmla="*/ 0 w 259"/>
                  <a:gd name="T1" fmla="*/ 560388 h 353"/>
                  <a:gd name="T2" fmla="*/ 411163 w 259"/>
                  <a:gd name="T3" fmla="*/ 560388 h 353"/>
                  <a:gd name="T4" fmla="*/ 411163 w 259"/>
                  <a:gd name="T5" fmla="*/ 0 h 353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353"/>
                  <a:gd name="T11" fmla="*/ 259 w 259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353">
                    <a:moveTo>
                      <a:pt x="0" y="353"/>
                    </a:moveTo>
                    <a:lnTo>
                      <a:pt x="259" y="353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4" name="Freeform 33"/>
              <p:cNvSpPr>
                <a:spLocks/>
              </p:cNvSpPr>
              <p:nvPr/>
            </p:nvSpPr>
            <p:spPr bwMode="auto">
              <a:xfrm>
                <a:off x="6229350" y="1739900"/>
                <a:ext cx="273050" cy="457200"/>
              </a:xfrm>
              <a:custGeom>
                <a:avLst/>
                <a:gdLst>
                  <a:gd name="T0" fmla="*/ 79375 w 172"/>
                  <a:gd name="T1" fmla="*/ 457200 h 288"/>
                  <a:gd name="T2" fmla="*/ 0 w 172"/>
                  <a:gd name="T3" fmla="*/ 457200 h 288"/>
                  <a:gd name="T4" fmla="*/ 0 w 172"/>
                  <a:gd name="T5" fmla="*/ 198437 h 288"/>
                  <a:gd name="T6" fmla="*/ 273050 w 172"/>
                  <a:gd name="T7" fmla="*/ 198437 h 288"/>
                  <a:gd name="T8" fmla="*/ 273050 w 172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"/>
                  <a:gd name="T16" fmla="*/ 0 h 288"/>
                  <a:gd name="T17" fmla="*/ 172 w 172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" h="288">
                    <a:moveTo>
                      <a:pt x="50" y="288"/>
                    </a:moveTo>
                    <a:lnTo>
                      <a:pt x="0" y="288"/>
                    </a:lnTo>
                    <a:lnTo>
                      <a:pt x="0" y="125"/>
                    </a:lnTo>
                    <a:lnTo>
                      <a:pt x="172" y="125"/>
                    </a:lnTo>
                    <a:lnTo>
                      <a:pt x="17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5" name="Freeform 34"/>
              <p:cNvSpPr>
                <a:spLocks/>
              </p:cNvSpPr>
              <p:nvPr/>
            </p:nvSpPr>
            <p:spPr bwMode="auto">
              <a:xfrm>
                <a:off x="6765925" y="1739900"/>
                <a:ext cx="74613" cy="357188"/>
              </a:xfrm>
              <a:custGeom>
                <a:avLst/>
                <a:gdLst>
                  <a:gd name="T0" fmla="*/ 0 w 47"/>
                  <a:gd name="T1" fmla="*/ 357188 h 225"/>
                  <a:gd name="T2" fmla="*/ 74613 w 47"/>
                  <a:gd name="T3" fmla="*/ 357188 h 225"/>
                  <a:gd name="T4" fmla="*/ 74613 w 47"/>
                  <a:gd name="T5" fmla="*/ 0 h 225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225"/>
                  <a:gd name="T11" fmla="*/ 47 w 47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225">
                    <a:moveTo>
                      <a:pt x="0" y="225"/>
                    </a:moveTo>
                    <a:lnTo>
                      <a:pt x="47" y="225"/>
                    </a:lnTo>
                    <a:lnTo>
                      <a:pt x="4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6" name="Line 35"/>
              <p:cNvSpPr>
                <a:spLocks noChangeShapeType="1"/>
              </p:cNvSpPr>
              <p:nvPr/>
            </p:nvSpPr>
            <p:spPr bwMode="auto">
              <a:xfrm flipV="1">
                <a:off x="6165850" y="1739900"/>
                <a:ext cx="1588" cy="30321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36"/>
              <p:cNvSpPr>
                <a:spLocks/>
              </p:cNvSpPr>
              <p:nvPr/>
            </p:nvSpPr>
            <p:spPr bwMode="auto">
              <a:xfrm>
                <a:off x="7781925" y="1739900"/>
                <a:ext cx="412750" cy="560388"/>
              </a:xfrm>
              <a:custGeom>
                <a:avLst/>
                <a:gdLst>
                  <a:gd name="T0" fmla="*/ 0 w 260"/>
                  <a:gd name="T1" fmla="*/ 560388 h 353"/>
                  <a:gd name="T2" fmla="*/ 412750 w 260"/>
                  <a:gd name="T3" fmla="*/ 560388 h 353"/>
                  <a:gd name="T4" fmla="*/ 412750 w 260"/>
                  <a:gd name="T5" fmla="*/ 0 h 353"/>
                  <a:gd name="T6" fmla="*/ 0 60000 65536"/>
                  <a:gd name="T7" fmla="*/ 0 60000 65536"/>
                  <a:gd name="T8" fmla="*/ 0 60000 65536"/>
                  <a:gd name="T9" fmla="*/ 0 w 260"/>
                  <a:gd name="T10" fmla="*/ 0 h 353"/>
                  <a:gd name="T11" fmla="*/ 260 w 260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0" h="353">
                    <a:moveTo>
                      <a:pt x="0" y="353"/>
                    </a:moveTo>
                    <a:lnTo>
                      <a:pt x="260" y="353"/>
                    </a:lnTo>
                    <a:lnTo>
                      <a:pt x="26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8" name="Freeform 37"/>
              <p:cNvSpPr>
                <a:spLocks/>
              </p:cNvSpPr>
              <p:nvPr/>
            </p:nvSpPr>
            <p:spPr bwMode="auto">
              <a:xfrm>
                <a:off x="7246938" y="1739900"/>
                <a:ext cx="268287" cy="457200"/>
              </a:xfrm>
              <a:custGeom>
                <a:avLst/>
                <a:gdLst>
                  <a:gd name="T0" fmla="*/ 74612 w 169"/>
                  <a:gd name="T1" fmla="*/ 457200 h 288"/>
                  <a:gd name="T2" fmla="*/ 0 w 169"/>
                  <a:gd name="T3" fmla="*/ 457200 h 288"/>
                  <a:gd name="T4" fmla="*/ 0 w 169"/>
                  <a:gd name="T5" fmla="*/ 198437 h 288"/>
                  <a:gd name="T6" fmla="*/ 268287 w 169"/>
                  <a:gd name="T7" fmla="*/ 198437 h 288"/>
                  <a:gd name="T8" fmla="*/ 268287 w 169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88"/>
                  <a:gd name="T17" fmla="*/ 169 w 169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88">
                    <a:moveTo>
                      <a:pt x="47" y="288"/>
                    </a:moveTo>
                    <a:lnTo>
                      <a:pt x="0" y="288"/>
                    </a:lnTo>
                    <a:lnTo>
                      <a:pt x="0" y="125"/>
                    </a:lnTo>
                    <a:lnTo>
                      <a:pt x="169" y="125"/>
                    </a:lnTo>
                    <a:lnTo>
                      <a:pt x="16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89" name="Freeform 38"/>
              <p:cNvSpPr>
                <a:spLocks/>
              </p:cNvSpPr>
              <p:nvPr/>
            </p:nvSpPr>
            <p:spPr bwMode="auto">
              <a:xfrm>
                <a:off x="7781925" y="1739900"/>
                <a:ext cx="69850" cy="357188"/>
              </a:xfrm>
              <a:custGeom>
                <a:avLst/>
                <a:gdLst>
                  <a:gd name="T0" fmla="*/ 0 w 44"/>
                  <a:gd name="T1" fmla="*/ 357188 h 225"/>
                  <a:gd name="T2" fmla="*/ 69850 w 44"/>
                  <a:gd name="T3" fmla="*/ 357188 h 225"/>
                  <a:gd name="T4" fmla="*/ 69850 w 44"/>
                  <a:gd name="T5" fmla="*/ 0 h 225"/>
                  <a:gd name="T6" fmla="*/ 0 60000 65536"/>
                  <a:gd name="T7" fmla="*/ 0 60000 65536"/>
                  <a:gd name="T8" fmla="*/ 0 60000 65536"/>
                  <a:gd name="T9" fmla="*/ 0 w 44"/>
                  <a:gd name="T10" fmla="*/ 0 h 225"/>
                  <a:gd name="T11" fmla="*/ 44 w 44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" h="225">
                    <a:moveTo>
                      <a:pt x="0" y="225"/>
                    </a:moveTo>
                    <a:lnTo>
                      <a:pt x="44" y="225"/>
                    </a:lnTo>
                    <a:lnTo>
                      <a:pt x="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90" name="Rectangle 39"/>
              <p:cNvSpPr>
                <a:spLocks noChangeArrowheads="1"/>
              </p:cNvSpPr>
              <p:nvPr/>
            </p:nvSpPr>
            <p:spPr bwMode="auto">
              <a:xfrm>
                <a:off x="6059488" y="1528763"/>
                <a:ext cx="55562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91" name="Rectangle 40"/>
              <p:cNvSpPr>
                <a:spLocks noChangeArrowheads="1"/>
              </p:cNvSpPr>
              <p:nvPr/>
            </p:nvSpPr>
            <p:spPr bwMode="auto">
              <a:xfrm>
                <a:off x="6097588" y="1528763"/>
                <a:ext cx="16510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14</a:t>
                </a:r>
                <a:endParaRPr lang="en-US"/>
              </a:p>
            </p:txBody>
          </p:sp>
          <p:sp>
            <p:nvSpPr>
              <p:cNvPr id="92" name="Rectangle 41"/>
              <p:cNvSpPr>
                <a:spLocks noChangeArrowheads="1"/>
              </p:cNvSpPr>
              <p:nvPr/>
            </p:nvSpPr>
            <p:spPr bwMode="auto">
              <a:xfrm>
                <a:off x="6407150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93" name="Rectangle 42"/>
              <p:cNvSpPr>
                <a:spLocks noChangeArrowheads="1"/>
              </p:cNvSpPr>
              <p:nvPr/>
            </p:nvSpPr>
            <p:spPr bwMode="auto">
              <a:xfrm>
                <a:off x="6445250" y="1528763"/>
                <a:ext cx="16510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13</a:t>
                </a:r>
                <a:endParaRPr lang="en-US"/>
              </a:p>
            </p:txBody>
          </p:sp>
          <p:sp>
            <p:nvSpPr>
              <p:cNvPr id="94" name="Rectangle 43"/>
              <p:cNvSpPr>
                <a:spLocks noChangeArrowheads="1"/>
              </p:cNvSpPr>
              <p:nvPr/>
            </p:nvSpPr>
            <p:spPr bwMode="auto">
              <a:xfrm>
                <a:off x="6734175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95" name="Rectangle 44"/>
              <p:cNvSpPr>
                <a:spLocks noChangeArrowheads="1"/>
              </p:cNvSpPr>
              <p:nvPr/>
            </p:nvSpPr>
            <p:spPr bwMode="auto">
              <a:xfrm>
                <a:off x="6772275" y="1528763"/>
                <a:ext cx="16510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12</a:t>
                </a:r>
                <a:endParaRPr lang="en-US"/>
              </a:p>
            </p:txBody>
          </p:sp>
          <p:sp>
            <p:nvSpPr>
              <p:cNvPr id="96" name="Rectangle 45"/>
              <p:cNvSpPr>
                <a:spLocks noChangeArrowheads="1"/>
              </p:cNvSpPr>
              <p:nvPr/>
            </p:nvSpPr>
            <p:spPr bwMode="auto">
              <a:xfrm>
                <a:off x="7077075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97" name="Rectangle 46"/>
              <p:cNvSpPr>
                <a:spLocks noChangeArrowheads="1"/>
              </p:cNvSpPr>
              <p:nvPr/>
            </p:nvSpPr>
            <p:spPr bwMode="auto">
              <a:xfrm>
                <a:off x="7115175" y="1528763"/>
                <a:ext cx="16510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11</a:t>
                </a:r>
                <a:endParaRPr lang="en-US"/>
              </a:p>
            </p:txBody>
          </p:sp>
          <p:sp>
            <p:nvSpPr>
              <p:cNvPr id="98" name="Rectangle 47"/>
              <p:cNvSpPr>
                <a:spLocks noChangeArrowheads="1"/>
              </p:cNvSpPr>
              <p:nvPr/>
            </p:nvSpPr>
            <p:spPr bwMode="auto">
              <a:xfrm>
                <a:off x="7419975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99" name="Rectangle 48"/>
              <p:cNvSpPr>
                <a:spLocks noChangeArrowheads="1"/>
              </p:cNvSpPr>
              <p:nvPr/>
            </p:nvSpPr>
            <p:spPr bwMode="auto">
              <a:xfrm>
                <a:off x="7456488" y="1528763"/>
                <a:ext cx="16510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10</a:t>
                </a:r>
                <a:endParaRPr lang="en-US"/>
              </a:p>
            </p:txBody>
          </p:sp>
          <p:sp>
            <p:nvSpPr>
              <p:cNvPr id="100" name="Rectangle 49"/>
              <p:cNvSpPr>
                <a:spLocks noChangeArrowheads="1"/>
              </p:cNvSpPr>
              <p:nvPr/>
            </p:nvSpPr>
            <p:spPr bwMode="auto">
              <a:xfrm>
                <a:off x="7797800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01" name="Rectangle 50"/>
              <p:cNvSpPr>
                <a:spLocks noChangeArrowheads="1"/>
              </p:cNvSpPr>
              <p:nvPr/>
            </p:nvSpPr>
            <p:spPr bwMode="auto">
              <a:xfrm>
                <a:off x="7835900" y="1528763"/>
                <a:ext cx="8255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9</a:t>
                </a:r>
                <a:endParaRPr lang="en-US"/>
              </a:p>
            </p:txBody>
          </p:sp>
          <p:sp>
            <p:nvSpPr>
              <p:cNvPr id="102" name="Rectangle 51"/>
              <p:cNvSpPr>
                <a:spLocks noChangeArrowheads="1"/>
              </p:cNvSpPr>
              <p:nvPr/>
            </p:nvSpPr>
            <p:spPr bwMode="auto">
              <a:xfrm>
                <a:off x="8134350" y="1528763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03" name="Rectangle 52"/>
              <p:cNvSpPr>
                <a:spLocks noChangeArrowheads="1"/>
              </p:cNvSpPr>
              <p:nvPr/>
            </p:nvSpPr>
            <p:spPr bwMode="auto">
              <a:xfrm>
                <a:off x="8172450" y="1528763"/>
                <a:ext cx="82550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8</a:t>
                </a:r>
                <a:endParaRPr lang="en-US"/>
              </a:p>
            </p:txBody>
          </p:sp>
          <p:sp>
            <p:nvSpPr>
              <p:cNvPr id="104" name="Rectangle 53"/>
              <p:cNvSpPr>
                <a:spLocks noChangeArrowheads="1"/>
              </p:cNvSpPr>
              <p:nvPr/>
            </p:nvSpPr>
            <p:spPr bwMode="auto">
              <a:xfrm>
                <a:off x="6100763" y="3282950"/>
                <a:ext cx="55562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05" name="Rectangle 54"/>
              <p:cNvSpPr>
                <a:spLocks noChangeArrowheads="1"/>
              </p:cNvSpPr>
              <p:nvPr/>
            </p:nvSpPr>
            <p:spPr bwMode="auto">
              <a:xfrm>
                <a:off x="6138863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1</a:t>
                </a:r>
                <a:endParaRPr lang="en-US"/>
              </a:p>
            </p:txBody>
          </p:sp>
          <p:sp>
            <p:nvSpPr>
              <p:cNvPr id="106" name="Rectangle 55"/>
              <p:cNvSpPr>
                <a:spLocks noChangeArrowheads="1"/>
              </p:cNvSpPr>
              <p:nvPr/>
            </p:nvSpPr>
            <p:spPr bwMode="auto">
              <a:xfrm>
                <a:off x="6448425" y="3282950"/>
                <a:ext cx="55563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07" name="Rectangle 56"/>
              <p:cNvSpPr>
                <a:spLocks noChangeArrowheads="1"/>
              </p:cNvSpPr>
              <p:nvPr/>
            </p:nvSpPr>
            <p:spPr bwMode="auto">
              <a:xfrm>
                <a:off x="6486525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2</a:t>
                </a:r>
                <a:endParaRPr lang="en-US"/>
              </a:p>
            </p:txBody>
          </p:sp>
          <p:sp>
            <p:nvSpPr>
              <p:cNvPr id="108" name="Rectangle 57"/>
              <p:cNvSpPr>
                <a:spLocks noChangeArrowheads="1"/>
              </p:cNvSpPr>
              <p:nvPr/>
            </p:nvSpPr>
            <p:spPr bwMode="auto">
              <a:xfrm>
                <a:off x="6775450" y="3282950"/>
                <a:ext cx="55563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09" name="Rectangle 58"/>
              <p:cNvSpPr>
                <a:spLocks noChangeArrowheads="1"/>
              </p:cNvSpPr>
              <p:nvPr/>
            </p:nvSpPr>
            <p:spPr bwMode="auto">
              <a:xfrm>
                <a:off x="6813550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3</a:t>
                </a:r>
                <a:endParaRPr lang="en-US"/>
              </a:p>
            </p:txBody>
          </p:sp>
          <p:sp>
            <p:nvSpPr>
              <p:cNvPr id="110" name="Rectangle 59"/>
              <p:cNvSpPr>
                <a:spLocks noChangeArrowheads="1"/>
              </p:cNvSpPr>
              <p:nvPr/>
            </p:nvSpPr>
            <p:spPr bwMode="auto">
              <a:xfrm>
                <a:off x="7118350" y="3282950"/>
                <a:ext cx="55563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11" name="Rectangle 60"/>
              <p:cNvSpPr>
                <a:spLocks noChangeArrowheads="1"/>
              </p:cNvSpPr>
              <p:nvPr/>
            </p:nvSpPr>
            <p:spPr bwMode="auto">
              <a:xfrm>
                <a:off x="7154863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4</a:t>
                </a:r>
                <a:endParaRPr lang="en-US"/>
              </a:p>
            </p:txBody>
          </p:sp>
          <p:sp>
            <p:nvSpPr>
              <p:cNvPr id="112" name="Rectangle 61"/>
              <p:cNvSpPr>
                <a:spLocks noChangeArrowheads="1"/>
              </p:cNvSpPr>
              <p:nvPr/>
            </p:nvSpPr>
            <p:spPr bwMode="auto">
              <a:xfrm>
                <a:off x="7459663" y="3282950"/>
                <a:ext cx="55562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13" name="Rectangle 62"/>
              <p:cNvSpPr>
                <a:spLocks noChangeArrowheads="1"/>
              </p:cNvSpPr>
              <p:nvPr/>
            </p:nvSpPr>
            <p:spPr bwMode="auto">
              <a:xfrm>
                <a:off x="7497763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5</a:t>
                </a:r>
                <a:endParaRPr lang="en-US"/>
              </a:p>
            </p:txBody>
          </p:sp>
          <p:sp>
            <p:nvSpPr>
              <p:cNvPr id="114" name="Rectangle 63"/>
              <p:cNvSpPr>
                <a:spLocks noChangeArrowheads="1"/>
              </p:cNvSpPr>
              <p:nvPr/>
            </p:nvSpPr>
            <p:spPr bwMode="auto">
              <a:xfrm>
                <a:off x="7797800" y="3282950"/>
                <a:ext cx="55563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15" name="Rectangle 64"/>
              <p:cNvSpPr>
                <a:spLocks noChangeArrowheads="1"/>
              </p:cNvSpPr>
              <p:nvPr/>
            </p:nvSpPr>
            <p:spPr bwMode="auto">
              <a:xfrm>
                <a:off x="7835900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6</a:t>
                </a:r>
                <a:endParaRPr lang="en-US"/>
              </a:p>
            </p:txBody>
          </p:sp>
          <p:sp>
            <p:nvSpPr>
              <p:cNvPr id="116" name="Rectangle 65"/>
              <p:cNvSpPr>
                <a:spLocks noChangeArrowheads="1"/>
              </p:cNvSpPr>
              <p:nvPr/>
            </p:nvSpPr>
            <p:spPr bwMode="auto">
              <a:xfrm>
                <a:off x="8134350" y="3282950"/>
                <a:ext cx="55563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17" name="Rectangle 66"/>
              <p:cNvSpPr>
                <a:spLocks noChangeArrowheads="1"/>
              </p:cNvSpPr>
              <p:nvPr/>
            </p:nvSpPr>
            <p:spPr bwMode="auto">
              <a:xfrm>
                <a:off x="8172450" y="3282950"/>
                <a:ext cx="82550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7</a:t>
                </a:r>
                <a:endParaRPr lang="en-US"/>
              </a:p>
            </p:txBody>
          </p:sp>
          <p:sp>
            <p:nvSpPr>
              <p:cNvPr id="118" name="Rectangle 67"/>
              <p:cNvSpPr>
                <a:spLocks noChangeArrowheads="1"/>
              </p:cNvSpPr>
              <p:nvPr/>
            </p:nvSpPr>
            <p:spPr bwMode="auto">
              <a:xfrm>
                <a:off x="5980113" y="1330325"/>
                <a:ext cx="351058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VCC</a:t>
                </a:r>
                <a:endParaRPr lang="en-US"/>
              </a:p>
            </p:txBody>
          </p:sp>
          <p:sp>
            <p:nvSpPr>
              <p:cNvPr id="121" name="Rectangle 70"/>
              <p:cNvSpPr>
                <a:spLocks noChangeArrowheads="1"/>
              </p:cNvSpPr>
              <p:nvPr/>
            </p:nvSpPr>
            <p:spPr bwMode="auto">
              <a:xfrm>
                <a:off x="8072438" y="3486150"/>
                <a:ext cx="357187" cy="19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GND</a:t>
                </a:r>
                <a:endParaRPr lang="en-US"/>
              </a:p>
            </p:txBody>
          </p:sp>
          <p:sp>
            <p:nvSpPr>
              <p:cNvPr id="122" name="Rectangle 71"/>
              <p:cNvSpPr>
                <a:spLocks noChangeArrowheads="1"/>
              </p:cNvSpPr>
              <p:nvPr/>
            </p:nvSpPr>
            <p:spPr bwMode="auto">
              <a:xfrm>
                <a:off x="8197850" y="2414588"/>
                <a:ext cx="55563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I</a:t>
                </a:r>
                <a:endParaRPr lang="en-US"/>
              </a:p>
            </p:txBody>
          </p:sp>
          <p:sp>
            <p:nvSpPr>
              <p:cNvPr id="123" name="Rectangle 72"/>
              <p:cNvSpPr>
                <a:spLocks noChangeArrowheads="1"/>
              </p:cNvSpPr>
              <p:nvPr/>
            </p:nvSpPr>
            <p:spPr bwMode="auto">
              <a:xfrm>
                <a:off x="8235950" y="2414588"/>
                <a:ext cx="109538" cy="198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300">
                    <a:solidFill>
                      <a:srgbClr val="000000"/>
                    </a:solidFill>
                    <a:latin typeface="Myriad Roman" charset="0"/>
                  </a:rPr>
                  <a:t>C</a:t>
                </a:r>
                <a:endParaRPr lang="en-US"/>
              </a:p>
            </p:txBody>
          </p:sp>
          <p:sp>
            <p:nvSpPr>
              <p:cNvPr id="124" name="Freeform 73"/>
              <p:cNvSpPr>
                <a:spLocks/>
              </p:cNvSpPr>
              <p:nvPr/>
            </p:nvSpPr>
            <p:spPr bwMode="auto">
              <a:xfrm>
                <a:off x="7589838" y="2617788"/>
                <a:ext cx="455612" cy="396875"/>
              </a:xfrm>
              <a:custGeom>
                <a:avLst/>
                <a:gdLst>
                  <a:gd name="T0" fmla="*/ 0 w 92"/>
                  <a:gd name="T1" fmla="*/ 396875 h 80"/>
                  <a:gd name="T2" fmla="*/ 257520 w 92"/>
                  <a:gd name="T3" fmla="*/ 396875 h 80"/>
                  <a:gd name="T4" fmla="*/ 455612 w 92"/>
                  <a:gd name="T5" fmla="*/ 198438 h 80"/>
                  <a:gd name="T6" fmla="*/ 257520 w 92"/>
                  <a:gd name="T7" fmla="*/ 0 h 80"/>
                  <a:gd name="T8" fmla="*/ 0 w 92"/>
                  <a:gd name="T9" fmla="*/ 0 h 80"/>
                  <a:gd name="T10" fmla="*/ 0 w 92"/>
                  <a:gd name="T11" fmla="*/ 396875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"/>
                  <a:gd name="T19" fmla="*/ 0 h 80"/>
                  <a:gd name="T20" fmla="*/ 92 w 92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" h="80">
                    <a:moveTo>
                      <a:pt x="0" y="80"/>
                    </a:moveTo>
                    <a:cubicBezTo>
                      <a:pt x="52" y="80"/>
                      <a:pt x="52" y="80"/>
                      <a:pt x="52" y="80"/>
                    </a:cubicBezTo>
                    <a:cubicBezTo>
                      <a:pt x="74" y="80"/>
                      <a:pt x="92" y="62"/>
                      <a:pt x="92" y="40"/>
                    </a:cubicBezTo>
                    <a:cubicBezTo>
                      <a:pt x="92" y="18"/>
                      <a:pt x="74" y="0"/>
                      <a:pt x="5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25" name="Freeform 74"/>
              <p:cNvSpPr>
                <a:spLocks/>
              </p:cNvSpPr>
              <p:nvPr/>
            </p:nvSpPr>
            <p:spPr bwMode="auto">
              <a:xfrm>
                <a:off x="6572250" y="2617788"/>
                <a:ext cx="455613" cy="396875"/>
              </a:xfrm>
              <a:custGeom>
                <a:avLst/>
                <a:gdLst>
                  <a:gd name="T0" fmla="*/ 0 w 92"/>
                  <a:gd name="T1" fmla="*/ 396875 h 80"/>
                  <a:gd name="T2" fmla="*/ 257520 w 92"/>
                  <a:gd name="T3" fmla="*/ 396875 h 80"/>
                  <a:gd name="T4" fmla="*/ 455613 w 92"/>
                  <a:gd name="T5" fmla="*/ 198438 h 80"/>
                  <a:gd name="T6" fmla="*/ 257520 w 92"/>
                  <a:gd name="T7" fmla="*/ 0 h 80"/>
                  <a:gd name="T8" fmla="*/ 0 w 92"/>
                  <a:gd name="T9" fmla="*/ 0 h 80"/>
                  <a:gd name="T10" fmla="*/ 0 w 92"/>
                  <a:gd name="T11" fmla="*/ 396875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"/>
                  <a:gd name="T19" fmla="*/ 0 h 80"/>
                  <a:gd name="T20" fmla="*/ 92 w 92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" h="80">
                    <a:moveTo>
                      <a:pt x="0" y="80"/>
                    </a:moveTo>
                    <a:cubicBezTo>
                      <a:pt x="52" y="80"/>
                      <a:pt x="52" y="80"/>
                      <a:pt x="52" y="80"/>
                    </a:cubicBezTo>
                    <a:cubicBezTo>
                      <a:pt x="74" y="80"/>
                      <a:pt x="92" y="62"/>
                      <a:pt x="92" y="40"/>
                    </a:cubicBezTo>
                    <a:cubicBezTo>
                      <a:pt x="92" y="18"/>
                      <a:pt x="74" y="0"/>
                      <a:pt x="5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26" name="Freeform 75"/>
              <p:cNvSpPr>
                <a:spLocks/>
              </p:cNvSpPr>
              <p:nvPr/>
            </p:nvSpPr>
            <p:spPr bwMode="auto">
              <a:xfrm>
                <a:off x="6308725" y="1998663"/>
                <a:ext cx="457200" cy="401637"/>
              </a:xfrm>
              <a:custGeom>
                <a:avLst/>
                <a:gdLst>
                  <a:gd name="T0" fmla="*/ 457200 w 92"/>
                  <a:gd name="T1" fmla="*/ 0 h 81"/>
                  <a:gd name="T2" fmla="*/ 198783 w 92"/>
                  <a:gd name="T3" fmla="*/ 0 h 81"/>
                  <a:gd name="T4" fmla="*/ 0 w 92"/>
                  <a:gd name="T5" fmla="*/ 198339 h 81"/>
                  <a:gd name="T6" fmla="*/ 198783 w 92"/>
                  <a:gd name="T7" fmla="*/ 401637 h 81"/>
                  <a:gd name="T8" fmla="*/ 457200 w 92"/>
                  <a:gd name="T9" fmla="*/ 401637 h 81"/>
                  <a:gd name="T10" fmla="*/ 457200 w 9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"/>
                  <a:gd name="T19" fmla="*/ 0 h 81"/>
                  <a:gd name="T20" fmla="*/ 92 w 9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" h="81">
                    <a:moveTo>
                      <a:pt x="92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3"/>
                      <a:pt x="18" y="81"/>
                      <a:pt x="40" y="81"/>
                    </a:cubicBezTo>
                    <a:cubicBezTo>
                      <a:pt x="92" y="81"/>
                      <a:pt x="92" y="81"/>
                      <a:pt x="92" y="81"/>
                    </a:cubicBez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127" name="Freeform 76"/>
              <p:cNvSpPr>
                <a:spLocks/>
              </p:cNvSpPr>
              <p:nvPr/>
            </p:nvSpPr>
            <p:spPr bwMode="auto">
              <a:xfrm>
                <a:off x="7321550" y="1998663"/>
                <a:ext cx="455613" cy="401637"/>
              </a:xfrm>
              <a:custGeom>
                <a:avLst/>
                <a:gdLst>
                  <a:gd name="T0" fmla="*/ 455613 w 92"/>
                  <a:gd name="T1" fmla="*/ 0 h 81"/>
                  <a:gd name="T2" fmla="*/ 203045 w 92"/>
                  <a:gd name="T3" fmla="*/ 0 h 81"/>
                  <a:gd name="T4" fmla="*/ 0 w 92"/>
                  <a:gd name="T5" fmla="*/ 198339 h 81"/>
                  <a:gd name="T6" fmla="*/ 203045 w 92"/>
                  <a:gd name="T7" fmla="*/ 401637 h 81"/>
                  <a:gd name="T8" fmla="*/ 455613 w 92"/>
                  <a:gd name="T9" fmla="*/ 401637 h 81"/>
                  <a:gd name="T10" fmla="*/ 455613 w 92"/>
                  <a:gd name="T11" fmla="*/ 0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"/>
                  <a:gd name="T19" fmla="*/ 0 h 81"/>
                  <a:gd name="T20" fmla="*/ 92 w 92"/>
                  <a:gd name="T21" fmla="*/ 81 h 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" h="81">
                    <a:moveTo>
                      <a:pt x="92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3"/>
                      <a:pt x="18" y="81"/>
                      <a:pt x="41" y="81"/>
                    </a:cubicBezTo>
                    <a:cubicBezTo>
                      <a:pt x="92" y="81"/>
                      <a:pt x="92" y="81"/>
                      <a:pt x="92" y="81"/>
                    </a:cubicBez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69" name="Oval 217"/>
            <p:cNvSpPr>
              <a:spLocks noChangeArrowheads="1"/>
            </p:cNvSpPr>
            <p:nvPr/>
          </p:nvSpPr>
          <p:spPr bwMode="auto">
            <a:xfrm>
              <a:off x="3285346" y="4126995"/>
              <a:ext cx="68262" cy="635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0" name="Oval 217"/>
            <p:cNvSpPr>
              <a:spLocks noChangeArrowheads="1"/>
            </p:cNvSpPr>
            <p:nvPr/>
          </p:nvSpPr>
          <p:spPr bwMode="auto">
            <a:xfrm>
              <a:off x="2250000" y="4104000"/>
              <a:ext cx="68262" cy="68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Oval 217"/>
            <p:cNvSpPr>
              <a:spLocks noChangeArrowheads="1"/>
            </p:cNvSpPr>
            <p:nvPr/>
          </p:nvSpPr>
          <p:spPr bwMode="auto">
            <a:xfrm>
              <a:off x="2484000" y="3492000"/>
              <a:ext cx="68262" cy="635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2" name="Oval 217"/>
            <p:cNvSpPr>
              <a:spLocks noChangeArrowheads="1"/>
            </p:cNvSpPr>
            <p:nvPr/>
          </p:nvSpPr>
          <p:spPr bwMode="auto">
            <a:xfrm>
              <a:off x="1457758" y="3517799"/>
              <a:ext cx="68262" cy="68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51478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16"/>
    </mc:Choice>
    <mc:Fallback xmlns="">
      <p:transition spd="slow" advTm="2951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872000"/>
            <a:ext cx="8222400" cy="3960000"/>
          </a:xfrm>
        </p:spPr>
        <p:txBody>
          <a:bodyPr/>
          <a:lstStyle/>
          <a:p>
            <a:pPr eaLnBrk="1" hangingPunct="1"/>
            <a:r>
              <a:rPr lang="en-US" dirty="0"/>
              <a:t>A single chip replaces the whole multi-chip design on PCB</a:t>
            </a:r>
          </a:p>
          <a:p>
            <a:pPr eaLnBrk="1" hangingPunct="1"/>
            <a:r>
              <a:rPr lang="en-US" dirty="0"/>
              <a:t>Either using (A) Programmable Logic Devices (PLDs)</a:t>
            </a:r>
          </a:p>
          <a:p>
            <a:pPr eaLnBrk="1" hangingPunct="1"/>
            <a:r>
              <a:rPr lang="en-US" dirty="0"/>
              <a:t>Or (B) Application Specific Integrated Circuits (ASICs)</a:t>
            </a:r>
          </a:p>
          <a:p>
            <a:pPr lvl="1" eaLnBrk="1" hangingPunct="1">
              <a:buClr>
                <a:srgbClr val="A8AFAF"/>
              </a:buClr>
            </a:pPr>
            <a:r>
              <a:rPr lang="en-US" dirty="0">
                <a:solidFill>
                  <a:srgbClr val="000000"/>
                </a:solidFill>
              </a:rPr>
              <a:t>Lower overall cost</a:t>
            </a:r>
          </a:p>
          <a:p>
            <a:pPr lvl="1" eaLnBrk="1" hangingPunct="1">
              <a:buClr>
                <a:srgbClr val="A8AFAF"/>
              </a:buClr>
            </a:pPr>
            <a:r>
              <a:rPr lang="en-US" dirty="0">
                <a:solidFill>
                  <a:srgbClr val="000000"/>
                </a:solidFill>
              </a:rPr>
              <a:t>On-chip interconnects are many times faster than off-chip wires</a:t>
            </a:r>
          </a:p>
          <a:p>
            <a:pPr lvl="1" eaLnBrk="1" hangingPunct="1">
              <a:buClr>
                <a:srgbClr val="A8AFAF"/>
              </a:buClr>
            </a:pPr>
            <a:r>
              <a:rPr lang="en-US" dirty="0">
                <a:solidFill>
                  <a:srgbClr val="000000"/>
                </a:solidFill>
              </a:rPr>
              <a:t>Lower area with the same functionality</a:t>
            </a:r>
          </a:p>
          <a:p>
            <a:pPr lvl="1" eaLnBrk="1" hangingPunct="1">
              <a:buClr>
                <a:srgbClr val="A8AFAF"/>
              </a:buClr>
            </a:pPr>
            <a:r>
              <a:rPr lang="en-US" dirty="0">
                <a:solidFill>
                  <a:srgbClr val="000000"/>
                </a:solidFill>
              </a:rPr>
              <a:t>Lower power consumption</a:t>
            </a:r>
          </a:p>
          <a:p>
            <a:pPr lvl="1" eaLnBrk="1" hangingPunct="1">
              <a:buClr>
                <a:srgbClr val="A8AFAF"/>
              </a:buClr>
            </a:pPr>
            <a:r>
              <a:rPr lang="en-US" dirty="0">
                <a:solidFill>
                  <a:srgbClr val="000000"/>
                </a:solidFill>
              </a:rPr>
              <a:t>Lower noise</a:t>
            </a:r>
          </a:p>
          <a:p>
            <a:pPr lvl="0" eaLnBrk="1" hangingPunct="1"/>
            <a:endParaRPr lang="en-US" dirty="0">
              <a:solidFill>
                <a:srgbClr val="000000"/>
              </a:solidFill>
            </a:endParaRPr>
          </a:p>
          <a:p>
            <a:pPr marL="0" lvl="0" indent="0" eaLnBrk="1" hangingPunct="1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</a:pPr>
            <a:endParaRPr 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1.3. High-Density Single Chip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65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719"/>
    </mc:Choice>
    <mc:Fallback xmlns="">
      <p:transition spd="slow" advTm="5171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872000"/>
            <a:ext cx="8222400" cy="3960000"/>
          </a:xfrm>
        </p:spPr>
        <p:txBody>
          <a:bodyPr/>
          <a:lstStyle/>
          <a:p>
            <a:pPr eaLnBrk="1" hangingPunct="1"/>
            <a:r>
              <a:rPr lang="en-US"/>
              <a:t>Microprocessors (software-based)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Fetch and execute software instructions 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Slow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Power hungry</a:t>
            </a:r>
          </a:p>
          <a:p>
            <a:pPr eaLnBrk="1" hangingPunct="1"/>
            <a:r>
              <a:rPr lang="en-US"/>
              <a:t>Programmable Logic Devices (PLDs) (hardware-based)</a:t>
            </a:r>
          </a:p>
          <a:p>
            <a:pPr lvl="1" eaLnBrk="1" hangingPunct="1"/>
            <a:r>
              <a:rPr lang="en-US"/>
              <a:t>Directly implements logic functions on hardware</a:t>
            </a:r>
          </a:p>
          <a:p>
            <a:pPr lvl="1" eaLnBrk="1" hangingPunct="1"/>
            <a:r>
              <a:rPr lang="en-US"/>
              <a:t>Faster</a:t>
            </a:r>
          </a:p>
          <a:p>
            <a:pPr lvl="1" eaLnBrk="1" hangingPunct="1"/>
            <a:r>
              <a:rPr lang="en-US"/>
              <a:t>Less power consumption</a:t>
            </a:r>
          </a:p>
          <a:p>
            <a:pPr lvl="0" eaLnBrk="1" hangingPunct="1"/>
            <a:r>
              <a:rPr lang="en-US">
                <a:solidFill>
                  <a:srgbClr val="000000"/>
                </a:solidFill>
              </a:rPr>
              <a:t>Application Specific Integrated Circuits (ASIC) (hardware-based)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Fastest</a:t>
            </a:r>
          </a:p>
          <a:p>
            <a:pPr lvl="1" eaLnBrk="1" hangingPunct="1">
              <a:buClr>
                <a:srgbClr val="A8AFAF"/>
              </a:buClr>
            </a:pPr>
            <a:r>
              <a:rPr lang="en-US">
                <a:solidFill>
                  <a:srgbClr val="000000"/>
                </a:solidFill>
              </a:rPr>
              <a:t>Lowest power consumption</a:t>
            </a:r>
          </a:p>
          <a:p>
            <a:pPr lvl="0" eaLnBrk="1" hangingPunct="1"/>
            <a:endParaRPr lang="en-US">
              <a:solidFill>
                <a:srgbClr val="000000"/>
              </a:solidFill>
            </a:endParaRPr>
          </a:p>
          <a:p>
            <a:pPr marL="0" lvl="0" indent="0" eaLnBrk="1" hangingPunct="1">
              <a:buNone/>
            </a:pPr>
            <a:endParaRPr lang="en-US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</a:pPr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of Design Strategies 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17</a:t>
            </a:fld>
            <a:endParaRPr lang="de-DE"/>
          </a:p>
        </p:txBody>
      </p:sp>
      <p:sp>
        <p:nvSpPr>
          <p:cNvPr id="4" name="TextBox 3"/>
          <p:cNvSpPr txBox="1"/>
          <p:nvPr/>
        </p:nvSpPr>
        <p:spPr>
          <a:xfrm>
            <a:off x="6704186" y="3852000"/>
            <a:ext cx="106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Course focus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B7B07C-A04E-0E4E-A619-4C97C7378528}"/>
              </a:ext>
            </a:extLst>
          </p:cNvPr>
          <p:cNvSpPr/>
          <p:nvPr/>
        </p:nvSpPr>
        <p:spPr>
          <a:xfrm>
            <a:off x="307629" y="3358195"/>
            <a:ext cx="6396558" cy="1545578"/>
          </a:xfrm>
          <a:prstGeom prst="roundRect">
            <a:avLst/>
          </a:prstGeom>
          <a:noFill/>
          <a:ln>
            <a:solidFill>
              <a:srgbClr val="FF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876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93"/>
    </mc:Choice>
    <mc:Fallback xmlns="">
      <p:transition spd="slow" advTm="573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 Programmable Logic Devices (PLDs)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18</a:t>
            </a:fld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3505907" y="1753711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Digital 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0618" y="2819804"/>
            <a:ext cx="1370691" cy="60919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PLDs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9958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ASIC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0558" y="3733598"/>
            <a:ext cx="85850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23" y="3733598"/>
            <a:ext cx="913794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3606" y="3733598"/>
            <a:ext cx="91379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FPGA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1083" y="4038196"/>
            <a:ext cx="1522990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Full-Custom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1196" y="4038196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Semi-Custom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402" y="5256588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Standard Cell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4186" y="5256313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Gate Array 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084932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512816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6150277" y="3429000"/>
            <a:ext cx="1620002" cy="608921"/>
            <a:chOff x="6150277" y="3429000"/>
            <a:chExt cx="1620002" cy="608921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>
              <a:off x="6960278" y="2923699"/>
              <a:ext cx="1" cy="162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77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144929" y="4646842"/>
            <a:ext cx="2268001" cy="608921"/>
            <a:chOff x="6150277" y="3429000"/>
            <a:chExt cx="2268001" cy="608921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7284276" y="2588910"/>
              <a:ext cx="1" cy="2268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8418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4135964" y="2362907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514502" y="2520686"/>
            <a:ext cx="4572117" cy="558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2460673" y="3429275"/>
            <a:ext cx="1" cy="306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2514502" y="2285300"/>
            <a:ext cx="1" cy="2592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810502" y="3589598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221419" y="3581299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526020" y="4647392"/>
            <a:ext cx="761497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07627" y="4647392"/>
            <a:ext cx="761495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275440" y="4343069"/>
            <a:ext cx="1" cy="18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1233927" y="3721094"/>
            <a:ext cx="1" cy="15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2010558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9926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A04C0EC-3D5B-9048-9C81-EB2FF74D1FBA}"/>
              </a:ext>
            </a:extLst>
          </p:cNvPr>
          <p:cNvSpPr/>
          <p:nvPr/>
        </p:nvSpPr>
        <p:spPr>
          <a:xfrm>
            <a:off x="155329" y="2664685"/>
            <a:ext cx="4188223" cy="27442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25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43"/>
    </mc:Choice>
    <mc:Fallback xmlns="">
      <p:transition spd="slow" advTm="5094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Programmable Logic Device (PLD)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b="1"/>
              <a:t>Off-the-Shelf PLD - </a:t>
            </a:r>
            <a:r>
              <a:rPr lang="en-GB"/>
              <a:t>user configurable ICs that will be programmed to perform specific logic operation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Contains thousands of basic logic gates in a single package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Implementation is faster and cheaper than equivalent fixed-logic designs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Design can be readily changed without rewiring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Reduce the amount of area on a printed circuit board</a:t>
            </a:r>
          </a:p>
          <a:p>
            <a:pPr lvl="1" eaLnBrk="1" hangingPunct="1">
              <a:lnSpc>
                <a:spcPct val="90000"/>
              </a:lnSpc>
            </a:pPr>
            <a:endParaRPr lang="en-GB"/>
          </a:p>
          <a:p>
            <a:pPr lvl="1" eaLnBrk="1" hangingPunct="1">
              <a:lnSpc>
                <a:spcPct val="90000"/>
              </a:lnSpc>
            </a:pPr>
            <a:endParaRPr lang="en-GB"/>
          </a:p>
          <a:p>
            <a:pPr lvl="1" eaLnBrk="1" hangingPunct="1">
              <a:lnSpc>
                <a:spcPct val="90000"/>
              </a:lnSpc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3074" name="Picture 2" descr="C:\Backup\Lancaster University\Teaching\ENGR228_Digital Electronic\A Montazeri_ENGR228\Pics\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542" y="4176140"/>
            <a:ext cx="1872000" cy="143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172"/>
          <p:cNvSpPr>
            <a:spLocks noChangeArrowheads="1"/>
          </p:cNvSpPr>
          <p:nvPr/>
        </p:nvSpPr>
        <p:spPr bwMode="auto">
          <a:xfrm>
            <a:off x="3117563" y="5742702"/>
            <a:ext cx="290887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Myriad Roman" charset="0"/>
              </a:rPr>
              <a:t>Simple Programmable Logic Device</a:t>
            </a:r>
            <a:endParaRPr lang="en-US" sz="1600"/>
          </a:p>
        </p:txBody>
      </p:sp>
      <p:pic>
        <p:nvPicPr>
          <p:cNvPr id="3075" name="Picture 3" descr="C:\Backup\Lancaster University\Teaching\ENGR228_Digital Electronic\A Montazeri_ENGR228\Pics\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206" y="4180551"/>
            <a:ext cx="1908000" cy="14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31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620"/>
    </mc:Choice>
    <mc:Fallback xmlns="">
      <p:transition spd="slow" advTm="4462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 descr="Fig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774" y="1753711"/>
            <a:ext cx="5508000" cy="41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60375" y="534988"/>
            <a:ext cx="8223250" cy="914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r>
              <a:rPr lang="en-GB" kern="0"/>
              <a:t>2. Programmable Logic Device (PLD)</a:t>
            </a:r>
          </a:p>
        </p:txBody>
      </p:sp>
      <p:sp>
        <p:nvSpPr>
          <p:cNvPr id="2" name="Rectangle 1"/>
          <p:cNvSpPr/>
          <p:nvPr/>
        </p:nvSpPr>
        <p:spPr>
          <a:xfrm>
            <a:off x="460374" y="5676451"/>
            <a:ext cx="654841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Clr>
                <a:srgbClr val="00B050"/>
              </a:buClr>
            </a:pPr>
            <a:r>
              <a:rPr lang="en-US" altLang="en-US"/>
              <a:t>A PLD programming unit (courtesy of Data IO Corp)</a:t>
            </a:r>
            <a:r>
              <a:rPr lang="en-GB" kern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484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Programmable Logic Device (PLD)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b="1" dirty="0"/>
              <a:t>List of Abbreviations</a:t>
            </a:r>
            <a:endParaRPr lang="en-GB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SPLDs - Simple Programmable Logic Devices</a:t>
            </a:r>
          </a:p>
          <a:p>
            <a:pPr lvl="2" eaLnBrk="1" hangingPunct="1"/>
            <a:r>
              <a:rPr lang="en-US" dirty="0"/>
              <a:t>PAL - Programmable Array Logic</a:t>
            </a:r>
          </a:p>
          <a:p>
            <a:pPr lvl="2" eaLnBrk="1" hangingPunct="1"/>
            <a:r>
              <a:rPr lang="en-US" dirty="0"/>
              <a:t>PLA - Programmable Logic Array</a:t>
            </a:r>
          </a:p>
          <a:p>
            <a:pPr lvl="2" eaLnBrk="1" hangingPunct="1"/>
            <a:r>
              <a:rPr lang="en-US" dirty="0"/>
              <a:t>GAL - Generic Array Logic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CPLDs - Complex Programmable Logic Devices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FPGAs - Field Programmable Gate Arrays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ASIC - Application Specific Integrated Circuits</a:t>
            </a:r>
            <a:endParaRPr lang="en-GB" dirty="0"/>
          </a:p>
          <a:p>
            <a:pPr lvl="1" eaLnBrk="1" hangingPunct="1">
              <a:lnSpc>
                <a:spcPct val="90000"/>
              </a:lnSpc>
            </a:pPr>
            <a:endParaRPr lang="en-GB" dirty="0"/>
          </a:p>
          <a:p>
            <a:pPr lvl="1" eaLnBrk="1" hangingPunct="1">
              <a:lnSpc>
                <a:spcPct val="9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44" name="Picture 3" descr="fg04_00100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64" b="9814"/>
          <a:stretch/>
        </p:blipFill>
        <p:spPr bwMode="auto">
          <a:xfrm>
            <a:off x="6272073" y="1766652"/>
            <a:ext cx="2412000" cy="181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C:\Backup\Lancaster University\Teaching\ENGR228_Digital Electronic\A Montazeri_ENGR228\Pics\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t="9011" r="15133" b="17118"/>
          <a:stretch/>
        </p:blipFill>
        <p:spPr bwMode="auto">
          <a:xfrm>
            <a:off x="6587774" y="3720658"/>
            <a:ext cx="1944000" cy="220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172"/>
          <p:cNvSpPr>
            <a:spLocks noChangeArrowheads="1"/>
          </p:cNvSpPr>
          <p:nvPr/>
        </p:nvSpPr>
        <p:spPr bwMode="auto">
          <a:xfrm>
            <a:off x="6399588" y="2972103"/>
            <a:ext cx="5818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700">
                <a:solidFill>
                  <a:srgbClr val="000000"/>
                </a:solidFill>
                <a:latin typeface="Myriad Roman" charset="0"/>
              </a:rPr>
              <a:t>CPLD</a:t>
            </a:r>
            <a:endParaRPr lang="en-US" sz="3200"/>
          </a:p>
        </p:txBody>
      </p:sp>
      <p:sp>
        <p:nvSpPr>
          <p:cNvPr id="46" name="Rectangle 172"/>
          <p:cNvSpPr>
            <a:spLocks noChangeArrowheads="1"/>
          </p:cNvSpPr>
          <p:nvPr/>
        </p:nvSpPr>
        <p:spPr bwMode="auto">
          <a:xfrm>
            <a:off x="5942691" y="5408887"/>
            <a:ext cx="5947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700">
                <a:solidFill>
                  <a:srgbClr val="000000"/>
                </a:solidFill>
                <a:latin typeface="Myriad Roman" charset="0"/>
              </a:rPr>
              <a:t>FPGA</a:t>
            </a:r>
            <a:endParaRPr lang="en-US" sz="320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3BDC79B-6DBA-BF45-9053-53A7187F9DE8}"/>
              </a:ext>
            </a:extLst>
          </p:cNvPr>
          <p:cNvSpPr/>
          <p:nvPr/>
        </p:nvSpPr>
        <p:spPr>
          <a:xfrm>
            <a:off x="916824" y="2972103"/>
            <a:ext cx="913794" cy="31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936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76"/>
    </mc:Choice>
    <mc:Fallback xmlns="">
      <p:transition spd="slow" advTm="50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 Programmable Logic Devices (PLDs)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22</a:t>
            </a:fld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3505907" y="1753711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Digital 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061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PLDs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9958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ASIC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0558" y="3733598"/>
            <a:ext cx="85850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23" y="3733598"/>
            <a:ext cx="913794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3606" y="3733598"/>
            <a:ext cx="91379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FPGA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1083" y="4038196"/>
            <a:ext cx="1522990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Full-Custom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1196" y="4038196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Semi-Custom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402" y="5256588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Standard Cell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4186" y="5256313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Gate Array 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084932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512816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6150277" y="3429000"/>
            <a:ext cx="1620002" cy="608921"/>
            <a:chOff x="6150277" y="3429000"/>
            <a:chExt cx="1620002" cy="608921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>
              <a:off x="6960278" y="2923699"/>
              <a:ext cx="1" cy="162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77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144929" y="4646842"/>
            <a:ext cx="2268001" cy="608921"/>
            <a:chOff x="6150277" y="3429000"/>
            <a:chExt cx="2268001" cy="608921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7284276" y="2588910"/>
              <a:ext cx="1" cy="2268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8418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4135964" y="2362907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514502" y="2520686"/>
            <a:ext cx="4572117" cy="558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2460673" y="3429275"/>
            <a:ext cx="1" cy="306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2514502" y="2285300"/>
            <a:ext cx="1" cy="2592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810502" y="3589598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221419" y="3581299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526020" y="4647392"/>
            <a:ext cx="761497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07627" y="4647392"/>
            <a:ext cx="761495" cy="45662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275440" y="4343069"/>
            <a:ext cx="1" cy="18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1233927" y="3721094"/>
            <a:ext cx="1" cy="15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2010558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9926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329" y="2664685"/>
            <a:ext cx="4188223" cy="27442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3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24"/>
    </mc:Choice>
    <mc:Fallback xmlns="">
      <p:transition spd="slow" advTm="1022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ontent Placeholder 6"/>
          <p:cNvSpPr>
            <a:spLocks noGrp="1"/>
          </p:cNvSpPr>
          <p:nvPr>
            <p:ph idx="1"/>
          </p:nvPr>
        </p:nvSpPr>
        <p:spPr>
          <a:xfrm>
            <a:off x="460375" y="1906588"/>
            <a:ext cx="4885430" cy="3959225"/>
          </a:xfrm>
        </p:spPr>
        <p:txBody>
          <a:bodyPr/>
          <a:lstStyle/>
          <a:p>
            <a:pPr eaLnBrk="1" hangingPunct="1">
              <a:defRPr/>
            </a:pPr>
            <a:r>
              <a:rPr lang="en-US" b="1"/>
              <a:t>Consists of two levels of logic gates</a:t>
            </a:r>
          </a:p>
          <a:p>
            <a:pPr lvl="1" eaLnBrk="1" hangingPunct="1">
              <a:defRPr/>
            </a:pPr>
            <a:r>
              <a:rPr lang="en-US"/>
              <a:t>Programmable wired </a:t>
            </a:r>
            <a:r>
              <a:rPr lang="en-US">
                <a:solidFill>
                  <a:srgbClr val="0A64B6"/>
                </a:solidFill>
              </a:rPr>
              <a:t>AND-</a:t>
            </a:r>
            <a:r>
              <a:rPr lang="en-US"/>
              <a:t>gates</a:t>
            </a:r>
          </a:p>
          <a:p>
            <a:pPr lvl="1" eaLnBrk="1" hangingPunct="1">
              <a:defRPr/>
            </a:pPr>
            <a:r>
              <a:rPr lang="en-US"/>
              <a:t>Programmable wired </a:t>
            </a:r>
            <a:r>
              <a:rPr lang="en-US">
                <a:solidFill>
                  <a:srgbClr val="00B050"/>
                </a:solidFill>
              </a:rPr>
              <a:t>OR-</a:t>
            </a:r>
            <a:r>
              <a:rPr lang="en-US"/>
              <a:t>gates</a:t>
            </a:r>
          </a:p>
          <a:p>
            <a:pPr lvl="0"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Advantages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Efficient in terms of the required area</a:t>
            </a:r>
          </a:p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Drawbacks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Difficult to fabricate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Significant propagation delay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Normally large packages thus high fabrication cost </a:t>
            </a:r>
          </a:p>
          <a:p>
            <a:pPr lvl="0" eaLnBrk="1" hangingPunct="1">
              <a:defRPr/>
            </a:pPr>
            <a:endParaRPr lang="en-US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/>
          </a:p>
          <a:p>
            <a:pPr marL="984250" lvl="1" indent="0" eaLnBrk="1" hangingPunct="1">
              <a:buNone/>
              <a:defRPr/>
            </a:pPr>
            <a:endParaRPr lang="en-US"/>
          </a:p>
          <a:p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2.1. Programmable Logic Array (PLA)</a:t>
            </a:r>
            <a:endParaRPr lang="en-GB"/>
          </a:p>
        </p:txBody>
      </p:sp>
      <p:sp>
        <p:nvSpPr>
          <p:cNvPr id="26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B843E9A-D238-4B84-BDDF-316F038653BC}" type="slidenum">
              <a:rPr lang="de-DE" smtClean="0"/>
              <a:t>23</a:t>
            </a:fld>
            <a:endParaRPr lang="de-D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95" y="1780851"/>
            <a:ext cx="3456000" cy="40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8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16"/>
    </mc:Choice>
    <mc:Fallback xmlns="">
      <p:transition spd="slow" advTm="7491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17" name="Text Box 171"/>
          <p:cNvSpPr txBox="1">
            <a:spLocks noChangeArrowheads="1"/>
          </p:cNvSpPr>
          <p:nvPr/>
        </p:nvSpPr>
        <p:spPr bwMode="auto">
          <a:xfrm>
            <a:off x="4310554" y="1889995"/>
            <a:ext cx="46319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800">
                <a:latin typeface="+mn-lt"/>
              </a:rPr>
              <a:t>Fuse based – “blown” fuse removes connection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2.2. PLA Architecture</a:t>
            </a:r>
          </a:p>
        </p:txBody>
      </p:sp>
      <p:sp>
        <p:nvSpPr>
          <p:cNvPr id="36880" name="Rectangle 20"/>
          <p:cNvSpPr>
            <a:spLocks noChangeArrowheads="1"/>
          </p:cNvSpPr>
          <p:nvPr/>
        </p:nvSpPr>
        <p:spPr bwMode="auto">
          <a:xfrm>
            <a:off x="5348829" y="3452386"/>
            <a:ext cx="137935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700">
                <a:solidFill>
                  <a:srgbClr val="000000"/>
                </a:solidFill>
                <a:latin typeface="Myriad Roman" charset="0"/>
              </a:rPr>
              <a:t>“unblown” fuse</a:t>
            </a:r>
            <a:endParaRPr lang="en-US"/>
          </a:p>
        </p:txBody>
      </p:sp>
      <p:sp>
        <p:nvSpPr>
          <p:cNvPr id="36898" name="Rectangle 40"/>
          <p:cNvSpPr>
            <a:spLocks noChangeArrowheads="1"/>
          </p:cNvSpPr>
          <p:nvPr/>
        </p:nvSpPr>
        <p:spPr bwMode="auto">
          <a:xfrm>
            <a:off x="7183438" y="3429000"/>
            <a:ext cx="11942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sz="1700">
                <a:solidFill>
                  <a:srgbClr val="000000"/>
                </a:solidFill>
                <a:latin typeface="Myriad Roman" charset="0"/>
              </a:rPr>
              <a:t>“</a:t>
            </a:r>
            <a:r>
              <a:rPr lang="en-US" sz="1700">
                <a:solidFill>
                  <a:srgbClr val="000000"/>
                </a:solidFill>
                <a:latin typeface="Myriad Roman" charset="0"/>
              </a:rPr>
              <a:t>blown” fuse</a:t>
            </a:r>
            <a:endParaRPr lang="en-US"/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7262631" y="2474032"/>
            <a:ext cx="1269143" cy="742774"/>
            <a:chOff x="6630988" y="2474032"/>
            <a:chExt cx="1787525" cy="1046163"/>
          </a:xfrm>
        </p:grpSpPr>
        <p:sp>
          <p:nvSpPr>
            <p:cNvPr id="36895" name="Line 37"/>
            <p:cNvSpPr>
              <a:spLocks noChangeShapeType="1"/>
            </p:cNvSpPr>
            <p:nvPr/>
          </p:nvSpPr>
          <p:spPr bwMode="auto">
            <a:xfrm>
              <a:off x="7696200" y="2991557"/>
              <a:ext cx="722313" cy="1588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6" name="Line 38"/>
            <p:cNvSpPr>
              <a:spLocks noChangeShapeType="1"/>
            </p:cNvSpPr>
            <p:nvPr/>
          </p:nvSpPr>
          <p:spPr bwMode="auto">
            <a:xfrm>
              <a:off x="6630988" y="2991557"/>
              <a:ext cx="720725" cy="1588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0" name="Rectangle 42"/>
            <p:cNvSpPr>
              <a:spLocks noChangeArrowheads="1"/>
            </p:cNvSpPr>
            <p:nvPr/>
          </p:nvSpPr>
          <p:spPr bwMode="auto">
            <a:xfrm>
              <a:off x="7080250" y="2474032"/>
              <a:ext cx="887413" cy="1046163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36906" name="Rectangle 50"/>
          <p:cNvSpPr>
            <a:spLocks noChangeArrowheads="1"/>
          </p:cNvSpPr>
          <p:nvPr/>
        </p:nvSpPr>
        <p:spPr bwMode="auto">
          <a:xfrm>
            <a:off x="1526198" y="1638209"/>
            <a:ext cx="197970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700">
                <a:solidFill>
                  <a:srgbClr val="000000"/>
                </a:solidFill>
                <a:latin typeface="Myriad Roman" charset="0"/>
              </a:rPr>
              <a:t>Programmable node</a:t>
            </a:r>
            <a:endParaRPr lang="en-US"/>
          </a:p>
        </p:txBody>
      </p:sp>
      <p:sp>
        <p:nvSpPr>
          <p:cNvPr id="36913" name="Oval 6"/>
          <p:cNvSpPr>
            <a:spLocks noChangeArrowheads="1"/>
          </p:cNvSpPr>
          <p:nvPr/>
        </p:nvSpPr>
        <p:spPr bwMode="auto">
          <a:xfrm>
            <a:off x="1398919" y="2286000"/>
            <a:ext cx="279400" cy="215900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6914" name="Line 7"/>
          <p:cNvSpPr>
            <a:spLocks noChangeShapeType="1"/>
          </p:cNvSpPr>
          <p:nvPr/>
        </p:nvSpPr>
        <p:spPr bwMode="auto">
          <a:xfrm flipV="1">
            <a:off x="1500822" y="2305917"/>
            <a:ext cx="48240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5638093" y="2300802"/>
            <a:ext cx="1501521" cy="1056132"/>
            <a:chOff x="4557713" y="2362907"/>
            <a:chExt cx="1787525" cy="1257300"/>
          </a:xfrm>
        </p:grpSpPr>
        <p:sp>
          <p:nvSpPr>
            <p:cNvPr id="36873" name="Freeform 13"/>
            <p:cNvSpPr>
              <a:spLocks/>
            </p:cNvSpPr>
            <p:nvPr/>
          </p:nvSpPr>
          <p:spPr bwMode="auto">
            <a:xfrm>
              <a:off x="4557713" y="2991557"/>
              <a:ext cx="1787525" cy="1588"/>
            </a:xfrm>
            <a:custGeom>
              <a:avLst/>
              <a:gdLst>
                <a:gd name="T0" fmla="*/ 0 w 1126"/>
                <a:gd name="T1" fmla="*/ 0 h 1588"/>
                <a:gd name="T2" fmla="*/ 722312 w 1126"/>
                <a:gd name="T3" fmla="*/ 0 h 1588"/>
                <a:gd name="T4" fmla="*/ 1065212 w 1126"/>
                <a:gd name="T5" fmla="*/ 0 h 1588"/>
                <a:gd name="T6" fmla="*/ 1787525 w 1126"/>
                <a:gd name="T7" fmla="*/ 0 h 15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6"/>
                <a:gd name="T13" fmla="*/ 0 h 1588"/>
                <a:gd name="T14" fmla="*/ 1126 w 1126"/>
                <a:gd name="T15" fmla="*/ 1588 h 15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6" h="1588">
                  <a:moveTo>
                    <a:pt x="0" y="0"/>
                  </a:moveTo>
                  <a:lnTo>
                    <a:pt x="455" y="0"/>
                  </a:lnTo>
                  <a:lnTo>
                    <a:pt x="671" y="0"/>
                  </a:lnTo>
                  <a:lnTo>
                    <a:pt x="1126" y="0"/>
                  </a:lnTo>
                </a:path>
              </a:pathLst>
            </a:cu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78" name="Rectangle 18"/>
            <p:cNvSpPr>
              <a:spLocks noChangeArrowheads="1"/>
            </p:cNvSpPr>
            <p:nvPr/>
          </p:nvSpPr>
          <p:spPr bwMode="auto">
            <a:xfrm>
              <a:off x="5246688" y="3180470"/>
              <a:ext cx="48571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700">
                  <a:solidFill>
                    <a:srgbClr val="000000"/>
                  </a:solidFill>
                  <a:latin typeface="Myriad Roman" charset="0"/>
                </a:rPr>
                <a:t>Fuse</a:t>
              </a:r>
              <a:endParaRPr lang="en-US"/>
            </a:p>
          </p:txBody>
        </p:sp>
        <p:sp>
          <p:nvSpPr>
            <p:cNvPr id="36884" name="Rectangle 24"/>
            <p:cNvSpPr>
              <a:spLocks noChangeArrowheads="1"/>
            </p:cNvSpPr>
            <p:nvPr/>
          </p:nvSpPr>
          <p:spPr bwMode="auto">
            <a:xfrm>
              <a:off x="5008563" y="2474032"/>
              <a:ext cx="887412" cy="1046163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94" name="Rectangle 34"/>
            <p:cNvSpPr>
              <a:spLocks noChangeArrowheads="1"/>
            </p:cNvSpPr>
            <p:nvPr/>
          </p:nvSpPr>
          <p:spPr bwMode="auto">
            <a:xfrm>
              <a:off x="5180013" y="2851857"/>
              <a:ext cx="542925" cy="284163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15" name="Oval 8"/>
            <p:cNvSpPr>
              <a:spLocks noChangeArrowheads="1"/>
            </p:cNvSpPr>
            <p:nvPr/>
          </p:nvSpPr>
          <p:spPr bwMode="auto">
            <a:xfrm>
              <a:off x="4876800" y="2362907"/>
              <a:ext cx="1219200" cy="125730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36916" name="Group 170"/>
          <p:cNvGrpSpPr>
            <a:grpSpLocks noChangeAspect="1"/>
          </p:cNvGrpSpPr>
          <p:nvPr/>
        </p:nvGrpSpPr>
        <p:grpSpPr bwMode="auto">
          <a:xfrm>
            <a:off x="376170" y="1690706"/>
            <a:ext cx="3778172" cy="3390544"/>
            <a:chOff x="3221" y="623"/>
            <a:chExt cx="2498" cy="2765"/>
          </a:xfrm>
        </p:grpSpPr>
        <p:sp>
          <p:nvSpPr>
            <p:cNvPr id="36919" name="Rectangle 57"/>
            <p:cNvSpPr>
              <a:spLocks noChangeArrowheads="1"/>
            </p:cNvSpPr>
            <p:nvPr/>
          </p:nvSpPr>
          <p:spPr bwMode="auto">
            <a:xfrm>
              <a:off x="3221" y="849"/>
              <a:ext cx="2260" cy="2539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22" name="Line 60"/>
            <p:cNvSpPr>
              <a:spLocks noChangeShapeType="1"/>
            </p:cNvSpPr>
            <p:nvPr/>
          </p:nvSpPr>
          <p:spPr bwMode="auto">
            <a:xfrm>
              <a:off x="5431" y="2179"/>
              <a:ext cx="190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3" name="Line 61"/>
            <p:cNvSpPr>
              <a:spLocks noChangeShapeType="1"/>
            </p:cNvSpPr>
            <p:nvPr/>
          </p:nvSpPr>
          <p:spPr bwMode="auto">
            <a:xfrm>
              <a:off x="3772" y="1039"/>
              <a:ext cx="1" cy="22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4" name="Line 62"/>
            <p:cNvSpPr>
              <a:spLocks noChangeShapeType="1"/>
            </p:cNvSpPr>
            <p:nvPr/>
          </p:nvSpPr>
          <p:spPr bwMode="auto">
            <a:xfrm>
              <a:off x="3807" y="807"/>
              <a:ext cx="1" cy="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5" name="Line 63"/>
            <p:cNvSpPr>
              <a:spLocks noChangeShapeType="1"/>
            </p:cNvSpPr>
            <p:nvPr/>
          </p:nvSpPr>
          <p:spPr bwMode="auto">
            <a:xfrm>
              <a:off x="3842" y="990"/>
              <a:ext cx="1" cy="231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6" name="Line 64"/>
            <p:cNvSpPr>
              <a:spLocks noChangeShapeType="1"/>
            </p:cNvSpPr>
            <p:nvPr/>
          </p:nvSpPr>
          <p:spPr bwMode="auto">
            <a:xfrm>
              <a:off x="3565" y="1039"/>
              <a:ext cx="1" cy="22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7" name="Line 65"/>
            <p:cNvSpPr>
              <a:spLocks noChangeShapeType="1"/>
            </p:cNvSpPr>
            <p:nvPr/>
          </p:nvSpPr>
          <p:spPr bwMode="auto">
            <a:xfrm>
              <a:off x="3600" y="807"/>
              <a:ext cx="1" cy="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8" name="Line 66"/>
            <p:cNvSpPr>
              <a:spLocks noChangeShapeType="1"/>
            </p:cNvSpPr>
            <p:nvPr/>
          </p:nvSpPr>
          <p:spPr bwMode="auto">
            <a:xfrm>
              <a:off x="3631" y="990"/>
              <a:ext cx="1" cy="231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9" name="Line 67"/>
            <p:cNvSpPr>
              <a:spLocks noChangeShapeType="1"/>
            </p:cNvSpPr>
            <p:nvPr/>
          </p:nvSpPr>
          <p:spPr bwMode="auto">
            <a:xfrm>
              <a:off x="3354" y="1039"/>
              <a:ext cx="1" cy="22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0" name="Line 68"/>
            <p:cNvSpPr>
              <a:spLocks noChangeShapeType="1"/>
            </p:cNvSpPr>
            <p:nvPr/>
          </p:nvSpPr>
          <p:spPr bwMode="auto">
            <a:xfrm>
              <a:off x="3389" y="807"/>
              <a:ext cx="1" cy="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1" name="Line 69"/>
            <p:cNvSpPr>
              <a:spLocks noChangeShapeType="1"/>
            </p:cNvSpPr>
            <p:nvPr/>
          </p:nvSpPr>
          <p:spPr bwMode="auto">
            <a:xfrm>
              <a:off x="3424" y="990"/>
              <a:ext cx="1" cy="231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2" name="Oval 70"/>
            <p:cNvSpPr>
              <a:spLocks noChangeArrowheads="1"/>
            </p:cNvSpPr>
            <p:nvPr/>
          </p:nvSpPr>
          <p:spPr bwMode="auto">
            <a:xfrm>
              <a:off x="3814" y="1169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3" name="Oval 71"/>
            <p:cNvSpPr>
              <a:spLocks noChangeArrowheads="1"/>
            </p:cNvSpPr>
            <p:nvPr/>
          </p:nvSpPr>
          <p:spPr bwMode="auto">
            <a:xfrm>
              <a:off x="3744" y="1277"/>
              <a:ext cx="56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4" name="Oval 72"/>
            <p:cNvSpPr>
              <a:spLocks noChangeArrowheads="1"/>
            </p:cNvSpPr>
            <p:nvPr/>
          </p:nvSpPr>
          <p:spPr bwMode="auto">
            <a:xfrm>
              <a:off x="3607" y="1386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5" name="Oval 73"/>
            <p:cNvSpPr>
              <a:spLocks noChangeArrowheads="1"/>
            </p:cNvSpPr>
            <p:nvPr/>
          </p:nvSpPr>
          <p:spPr bwMode="auto">
            <a:xfrm>
              <a:off x="3537" y="1495"/>
              <a:ext cx="56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6" name="Oval 74"/>
            <p:cNvSpPr>
              <a:spLocks noChangeArrowheads="1"/>
            </p:cNvSpPr>
            <p:nvPr/>
          </p:nvSpPr>
          <p:spPr bwMode="auto">
            <a:xfrm>
              <a:off x="3400" y="1607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7" name="Oval 75"/>
            <p:cNvSpPr>
              <a:spLocks noChangeArrowheads="1"/>
            </p:cNvSpPr>
            <p:nvPr/>
          </p:nvSpPr>
          <p:spPr bwMode="auto">
            <a:xfrm>
              <a:off x="3330" y="1716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8" name="Freeform 76"/>
            <p:cNvSpPr>
              <a:spLocks/>
            </p:cNvSpPr>
            <p:nvPr/>
          </p:nvSpPr>
          <p:spPr bwMode="auto">
            <a:xfrm>
              <a:off x="4726" y="1467"/>
              <a:ext cx="185" cy="617"/>
            </a:xfrm>
            <a:custGeom>
              <a:avLst/>
              <a:gdLst>
                <a:gd name="T0" fmla="*/ 0 w 207"/>
                <a:gd name="T1" fmla="*/ 0 h 617"/>
                <a:gd name="T2" fmla="*/ 73 w 207"/>
                <a:gd name="T3" fmla="*/ 0 h 617"/>
                <a:gd name="T4" fmla="*/ 73 w 207"/>
                <a:gd name="T5" fmla="*/ 617 h 617"/>
                <a:gd name="T6" fmla="*/ 207 w 207"/>
                <a:gd name="T7" fmla="*/ 617 h 6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7"/>
                <a:gd name="T13" fmla="*/ 0 h 617"/>
                <a:gd name="T14" fmla="*/ 207 w 207"/>
                <a:gd name="T15" fmla="*/ 617 h 6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7" h="617">
                  <a:moveTo>
                    <a:pt x="0" y="0"/>
                  </a:moveTo>
                  <a:lnTo>
                    <a:pt x="73" y="0"/>
                  </a:lnTo>
                  <a:lnTo>
                    <a:pt x="73" y="617"/>
                  </a:lnTo>
                  <a:lnTo>
                    <a:pt x="207" y="61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39" name="Line 77"/>
            <p:cNvSpPr>
              <a:spLocks noChangeShapeType="1"/>
            </p:cNvSpPr>
            <p:nvPr/>
          </p:nvSpPr>
          <p:spPr bwMode="auto">
            <a:xfrm>
              <a:off x="4028" y="1740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0" name="Line 78"/>
            <p:cNvSpPr>
              <a:spLocks noChangeShapeType="1"/>
            </p:cNvSpPr>
            <p:nvPr/>
          </p:nvSpPr>
          <p:spPr bwMode="auto">
            <a:xfrm>
              <a:off x="3358" y="1740"/>
              <a:ext cx="58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1" name="Line 79"/>
            <p:cNvSpPr>
              <a:spLocks noChangeShapeType="1"/>
            </p:cNvSpPr>
            <p:nvPr/>
          </p:nvSpPr>
          <p:spPr bwMode="auto">
            <a:xfrm>
              <a:off x="4028" y="1193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2" name="Line 80"/>
            <p:cNvSpPr>
              <a:spLocks noChangeShapeType="1"/>
            </p:cNvSpPr>
            <p:nvPr/>
          </p:nvSpPr>
          <p:spPr bwMode="auto">
            <a:xfrm>
              <a:off x="3842" y="1193"/>
              <a:ext cx="10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3" name="Line 81"/>
            <p:cNvSpPr>
              <a:spLocks noChangeShapeType="1"/>
            </p:cNvSpPr>
            <p:nvPr/>
          </p:nvSpPr>
          <p:spPr bwMode="auto">
            <a:xfrm>
              <a:off x="4028" y="1305"/>
              <a:ext cx="2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4" name="Line 82"/>
            <p:cNvSpPr>
              <a:spLocks noChangeShapeType="1"/>
            </p:cNvSpPr>
            <p:nvPr/>
          </p:nvSpPr>
          <p:spPr bwMode="auto">
            <a:xfrm>
              <a:off x="3772" y="1305"/>
              <a:ext cx="17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5" name="Line 83"/>
            <p:cNvSpPr>
              <a:spLocks noChangeShapeType="1"/>
            </p:cNvSpPr>
            <p:nvPr/>
          </p:nvSpPr>
          <p:spPr bwMode="auto">
            <a:xfrm>
              <a:off x="4028" y="1414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6" name="Line 84"/>
            <p:cNvSpPr>
              <a:spLocks noChangeShapeType="1"/>
            </p:cNvSpPr>
            <p:nvPr/>
          </p:nvSpPr>
          <p:spPr bwMode="auto">
            <a:xfrm>
              <a:off x="3631" y="1414"/>
              <a:ext cx="31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7" name="Line 85"/>
            <p:cNvSpPr>
              <a:spLocks noChangeShapeType="1"/>
            </p:cNvSpPr>
            <p:nvPr/>
          </p:nvSpPr>
          <p:spPr bwMode="auto">
            <a:xfrm>
              <a:off x="4028" y="1523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8" name="Line 86"/>
            <p:cNvSpPr>
              <a:spLocks noChangeShapeType="1"/>
            </p:cNvSpPr>
            <p:nvPr/>
          </p:nvSpPr>
          <p:spPr bwMode="auto">
            <a:xfrm>
              <a:off x="3565" y="1523"/>
              <a:ext cx="38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49" name="Line 87"/>
            <p:cNvSpPr>
              <a:spLocks noChangeShapeType="1"/>
            </p:cNvSpPr>
            <p:nvPr/>
          </p:nvSpPr>
          <p:spPr bwMode="auto">
            <a:xfrm>
              <a:off x="4024" y="1631"/>
              <a:ext cx="26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0" name="Line 88"/>
            <p:cNvSpPr>
              <a:spLocks noChangeShapeType="1"/>
            </p:cNvSpPr>
            <p:nvPr/>
          </p:nvSpPr>
          <p:spPr bwMode="auto">
            <a:xfrm>
              <a:off x="3424" y="1631"/>
              <a:ext cx="52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1" name="Oval 89"/>
            <p:cNvSpPr>
              <a:spLocks noChangeArrowheads="1"/>
            </p:cNvSpPr>
            <p:nvPr/>
          </p:nvSpPr>
          <p:spPr bwMode="auto">
            <a:xfrm>
              <a:off x="3814" y="1880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2" name="Oval 90"/>
            <p:cNvSpPr>
              <a:spLocks noChangeArrowheads="1"/>
            </p:cNvSpPr>
            <p:nvPr/>
          </p:nvSpPr>
          <p:spPr bwMode="auto">
            <a:xfrm>
              <a:off x="3744" y="1989"/>
              <a:ext cx="56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3" name="Oval 91"/>
            <p:cNvSpPr>
              <a:spLocks noChangeArrowheads="1"/>
            </p:cNvSpPr>
            <p:nvPr/>
          </p:nvSpPr>
          <p:spPr bwMode="auto">
            <a:xfrm>
              <a:off x="3607" y="2098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4" name="Oval 92"/>
            <p:cNvSpPr>
              <a:spLocks noChangeArrowheads="1"/>
            </p:cNvSpPr>
            <p:nvPr/>
          </p:nvSpPr>
          <p:spPr bwMode="auto">
            <a:xfrm>
              <a:off x="3537" y="2207"/>
              <a:ext cx="56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5" name="Oval 93"/>
            <p:cNvSpPr>
              <a:spLocks noChangeArrowheads="1"/>
            </p:cNvSpPr>
            <p:nvPr/>
          </p:nvSpPr>
          <p:spPr bwMode="auto">
            <a:xfrm>
              <a:off x="3400" y="2319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6" name="Oval 94"/>
            <p:cNvSpPr>
              <a:spLocks noChangeArrowheads="1"/>
            </p:cNvSpPr>
            <p:nvPr/>
          </p:nvSpPr>
          <p:spPr bwMode="auto">
            <a:xfrm>
              <a:off x="3330" y="2428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57" name="Line 95"/>
            <p:cNvSpPr>
              <a:spLocks noChangeShapeType="1"/>
            </p:cNvSpPr>
            <p:nvPr/>
          </p:nvSpPr>
          <p:spPr bwMode="auto">
            <a:xfrm>
              <a:off x="4726" y="2179"/>
              <a:ext cx="16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8" name="Line 96"/>
            <p:cNvSpPr>
              <a:spLocks noChangeShapeType="1"/>
            </p:cNvSpPr>
            <p:nvPr/>
          </p:nvSpPr>
          <p:spPr bwMode="auto">
            <a:xfrm>
              <a:off x="4028" y="1905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9" name="Line 97"/>
            <p:cNvSpPr>
              <a:spLocks noChangeShapeType="1"/>
            </p:cNvSpPr>
            <p:nvPr/>
          </p:nvSpPr>
          <p:spPr bwMode="auto">
            <a:xfrm>
              <a:off x="3842" y="1905"/>
              <a:ext cx="10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0" name="Line 98"/>
            <p:cNvSpPr>
              <a:spLocks noChangeShapeType="1"/>
            </p:cNvSpPr>
            <p:nvPr/>
          </p:nvSpPr>
          <p:spPr bwMode="auto">
            <a:xfrm>
              <a:off x="4028" y="2017"/>
              <a:ext cx="2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1" name="Line 99"/>
            <p:cNvSpPr>
              <a:spLocks noChangeShapeType="1"/>
            </p:cNvSpPr>
            <p:nvPr/>
          </p:nvSpPr>
          <p:spPr bwMode="auto">
            <a:xfrm>
              <a:off x="3772" y="2017"/>
              <a:ext cx="17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2" name="Line 100"/>
            <p:cNvSpPr>
              <a:spLocks noChangeShapeType="1"/>
            </p:cNvSpPr>
            <p:nvPr/>
          </p:nvSpPr>
          <p:spPr bwMode="auto">
            <a:xfrm>
              <a:off x="4028" y="2126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3" name="Line 101"/>
            <p:cNvSpPr>
              <a:spLocks noChangeShapeType="1"/>
            </p:cNvSpPr>
            <p:nvPr/>
          </p:nvSpPr>
          <p:spPr bwMode="auto">
            <a:xfrm>
              <a:off x="3631" y="2126"/>
              <a:ext cx="31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4" name="Line 102"/>
            <p:cNvSpPr>
              <a:spLocks noChangeShapeType="1"/>
            </p:cNvSpPr>
            <p:nvPr/>
          </p:nvSpPr>
          <p:spPr bwMode="auto">
            <a:xfrm>
              <a:off x="4028" y="2235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5" name="Line 103"/>
            <p:cNvSpPr>
              <a:spLocks noChangeShapeType="1"/>
            </p:cNvSpPr>
            <p:nvPr/>
          </p:nvSpPr>
          <p:spPr bwMode="auto">
            <a:xfrm>
              <a:off x="3565" y="2235"/>
              <a:ext cx="38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6" name="Line 104"/>
            <p:cNvSpPr>
              <a:spLocks noChangeShapeType="1"/>
            </p:cNvSpPr>
            <p:nvPr/>
          </p:nvSpPr>
          <p:spPr bwMode="auto">
            <a:xfrm>
              <a:off x="4024" y="2343"/>
              <a:ext cx="26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7" name="Line 105"/>
            <p:cNvSpPr>
              <a:spLocks noChangeShapeType="1"/>
            </p:cNvSpPr>
            <p:nvPr/>
          </p:nvSpPr>
          <p:spPr bwMode="auto">
            <a:xfrm>
              <a:off x="3424" y="2343"/>
              <a:ext cx="52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8" name="Line 106"/>
            <p:cNvSpPr>
              <a:spLocks noChangeShapeType="1"/>
            </p:cNvSpPr>
            <p:nvPr/>
          </p:nvSpPr>
          <p:spPr bwMode="auto">
            <a:xfrm>
              <a:off x="4028" y="2452"/>
              <a:ext cx="2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9" name="Line 107"/>
            <p:cNvSpPr>
              <a:spLocks noChangeShapeType="1"/>
            </p:cNvSpPr>
            <p:nvPr/>
          </p:nvSpPr>
          <p:spPr bwMode="auto">
            <a:xfrm>
              <a:off x="3354" y="2452"/>
              <a:ext cx="59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70" name="Oval 108"/>
            <p:cNvSpPr>
              <a:spLocks noChangeArrowheads="1"/>
            </p:cNvSpPr>
            <p:nvPr/>
          </p:nvSpPr>
          <p:spPr bwMode="auto">
            <a:xfrm>
              <a:off x="3814" y="2589"/>
              <a:ext cx="52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1" name="Oval 109"/>
            <p:cNvSpPr>
              <a:spLocks noChangeArrowheads="1"/>
            </p:cNvSpPr>
            <p:nvPr/>
          </p:nvSpPr>
          <p:spPr bwMode="auto">
            <a:xfrm>
              <a:off x="3744" y="2698"/>
              <a:ext cx="56" cy="52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2" name="Oval 110"/>
            <p:cNvSpPr>
              <a:spLocks noChangeArrowheads="1"/>
            </p:cNvSpPr>
            <p:nvPr/>
          </p:nvSpPr>
          <p:spPr bwMode="auto">
            <a:xfrm>
              <a:off x="3607" y="2806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3" name="Oval 111"/>
            <p:cNvSpPr>
              <a:spLocks noChangeArrowheads="1"/>
            </p:cNvSpPr>
            <p:nvPr/>
          </p:nvSpPr>
          <p:spPr bwMode="auto">
            <a:xfrm>
              <a:off x="3537" y="2915"/>
              <a:ext cx="56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4" name="Oval 112"/>
            <p:cNvSpPr>
              <a:spLocks noChangeArrowheads="1"/>
            </p:cNvSpPr>
            <p:nvPr/>
          </p:nvSpPr>
          <p:spPr bwMode="auto">
            <a:xfrm>
              <a:off x="3400" y="3027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5" name="Oval 113"/>
            <p:cNvSpPr>
              <a:spLocks noChangeArrowheads="1"/>
            </p:cNvSpPr>
            <p:nvPr/>
          </p:nvSpPr>
          <p:spPr bwMode="auto">
            <a:xfrm>
              <a:off x="3330" y="3136"/>
              <a:ext cx="52" cy="53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6" name="Freeform 114"/>
            <p:cNvSpPr>
              <a:spLocks/>
            </p:cNvSpPr>
            <p:nvPr/>
          </p:nvSpPr>
          <p:spPr bwMode="auto">
            <a:xfrm>
              <a:off x="4726" y="2273"/>
              <a:ext cx="179" cy="614"/>
            </a:xfrm>
            <a:custGeom>
              <a:avLst/>
              <a:gdLst>
                <a:gd name="T0" fmla="*/ 0 w 207"/>
                <a:gd name="T1" fmla="*/ 614 h 614"/>
                <a:gd name="T2" fmla="*/ 70 w 207"/>
                <a:gd name="T3" fmla="*/ 614 h 614"/>
                <a:gd name="T4" fmla="*/ 70 w 207"/>
                <a:gd name="T5" fmla="*/ 0 h 614"/>
                <a:gd name="T6" fmla="*/ 207 w 207"/>
                <a:gd name="T7" fmla="*/ 0 h 6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7"/>
                <a:gd name="T13" fmla="*/ 0 h 614"/>
                <a:gd name="T14" fmla="*/ 207 w 207"/>
                <a:gd name="T15" fmla="*/ 614 h 6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7" h="614">
                  <a:moveTo>
                    <a:pt x="0" y="614"/>
                  </a:moveTo>
                  <a:lnTo>
                    <a:pt x="70" y="614"/>
                  </a:lnTo>
                  <a:lnTo>
                    <a:pt x="70" y="0"/>
                  </a:lnTo>
                  <a:lnTo>
                    <a:pt x="207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7" name="Freeform 115"/>
            <p:cNvSpPr>
              <a:spLocks/>
            </p:cNvSpPr>
            <p:nvPr/>
          </p:nvSpPr>
          <p:spPr bwMode="auto">
            <a:xfrm>
              <a:off x="4294" y="2701"/>
              <a:ext cx="428" cy="375"/>
            </a:xfrm>
            <a:custGeom>
              <a:avLst/>
              <a:gdLst>
                <a:gd name="T0" fmla="*/ 0 w 122"/>
                <a:gd name="T1" fmla="*/ 375 h 107"/>
                <a:gd name="T2" fmla="*/ 242 w 122"/>
                <a:gd name="T3" fmla="*/ 375 h 107"/>
                <a:gd name="T4" fmla="*/ 428 w 122"/>
                <a:gd name="T5" fmla="*/ 189 h 107"/>
                <a:gd name="T6" fmla="*/ 242 w 122"/>
                <a:gd name="T7" fmla="*/ 0 h 107"/>
                <a:gd name="T8" fmla="*/ 0 w 122"/>
                <a:gd name="T9" fmla="*/ 0 h 107"/>
                <a:gd name="T10" fmla="*/ 0 w 122"/>
                <a:gd name="T11" fmla="*/ 37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2"/>
                <a:gd name="T19" fmla="*/ 0 h 107"/>
                <a:gd name="T20" fmla="*/ 122 w 122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2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8" y="107"/>
                    <a:pt x="122" y="83"/>
                    <a:pt x="122" y="54"/>
                  </a:cubicBezTo>
                  <a:cubicBezTo>
                    <a:pt x="122" y="24"/>
                    <a:pt x="98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78" name="Line 116"/>
            <p:cNvSpPr>
              <a:spLocks noChangeShapeType="1"/>
            </p:cNvSpPr>
            <p:nvPr/>
          </p:nvSpPr>
          <p:spPr bwMode="auto">
            <a:xfrm>
              <a:off x="4291" y="2561"/>
              <a:ext cx="1" cy="656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79" name="Line 117"/>
            <p:cNvSpPr>
              <a:spLocks noChangeShapeType="1"/>
            </p:cNvSpPr>
            <p:nvPr/>
          </p:nvSpPr>
          <p:spPr bwMode="auto">
            <a:xfrm>
              <a:off x="4028" y="2613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0" name="Line 118"/>
            <p:cNvSpPr>
              <a:spLocks noChangeShapeType="1"/>
            </p:cNvSpPr>
            <p:nvPr/>
          </p:nvSpPr>
          <p:spPr bwMode="auto">
            <a:xfrm>
              <a:off x="3842" y="2613"/>
              <a:ext cx="10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1" name="Line 119"/>
            <p:cNvSpPr>
              <a:spLocks noChangeShapeType="1"/>
            </p:cNvSpPr>
            <p:nvPr/>
          </p:nvSpPr>
          <p:spPr bwMode="auto">
            <a:xfrm>
              <a:off x="4028" y="2726"/>
              <a:ext cx="2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2" name="Line 120"/>
            <p:cNvSpPr>
              <a:spLocks noChangeShapeType="1"/>
            </p:cNvSpPr>
            <p:nvPr/>
          </p:nvSpPr>
          <p:spPr bwMode="auto">
            <a:xfrm>
              <a:off x="3772" y="2726"/>
              <a:ext cx="17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3" name="Line 121"/>
            <p:cNvSpPr>
              <a:spLocks noChangeShapeType="1"/>
            </p:cNvSpPr>
            <p:nvPr/>
          </p:nvSpPr>
          <p:spPr bwMode="auto">
            <a:xfrm>
              <a:off x="4028" y="2834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4" name="Line 122"/>
            <p:cNvSpPr>
              <a:spLocks noChangeShapeType="1"/>
            </p:cNvSpPr>
            <p:nvPr/>
          </p:nvSpPr>
          <p:spPr bwMode="auto">
            <a:xfrm>
              <a:off x="3631" y="2834"/>
              <a:ext cx="31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5" name="Line 123"/>
            <p:cNvSpPr>
              <a:spLocks noChangeShapeType="1"/>
            </p:cNvSpPr>
            <p:nvPr/>
          </p:nvSpPr>
          <p:spPr bwMode="auto">
            <a:xfrm>
              <a:off x="4028" y="2943"/>
              <a:ext cx="26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6" name="Line 124"/>
            <p:cNvSpPr>
              <a:spLocks noChangeShapeType="1"/>
            </p:cNvSpPr>
            <p:nvPr/>
          </p:nvSpPr>
          <p:spPr bwMode="auto">
            <a:xfrm>
              <a:off x="3565" y="2943"/>
              <a:ext cx="38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7" name="Line 125"/>
            <p:cNvSpPr>
              <a:spLocks noChangeShapeType="1"/>
            </p:cNvSpPr>
            <p:nvPr/>
          </p:nvSpPr>
          <p:spPr bwMode="auto">
            <a:xfrm>
              <a:off x="4024" y="3052"/>
              <a:ext cx="26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8" name="Line 126"/>
            <p:cNvSpPr>
              <a:spLocks noChangeShapeType="1"/>
            </p:cNvSpPr>
            <p:nvPr/>
          </p:nvSpPr>
          <p:spPr bwMode="auto">
            <a:xfrm>
              <a:off x="3424" y="3052"/>
              <a:ext cx="52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9" name="Line 127"/>
            <p:cNvSpPr>
              <a:spLocks noChangeShapeType="1"/>
            </p:cNvSpPr>
            <p:nvPr/>
          </p:nvSpPr>
          <p:spPr bwMode="auto">
            <a:xfrm>
              <a:off x="4028" y="3160"/>
              <a:ext cx="2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0" name="Line 128"/>
            <p:cNvSpPr>
              <a:spLocks noChangeShapeType="1"/>
            </p:cNvSpPr>
            <p:nvPr/>
          </p:nvSpPr>
          <p:spPr bwMode="auto">
            <a:xfrm>
              <a:off x="3354" y="3160"/>
              <a:ext cx="59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1" name="Freeform 129"/>
            <p:cNvSpPr>
              <a:spLocks/>
            </p:cNvSpPr>
            <p:nvPr/>
          </p:nvSpPr>
          <p:spPr bwMode="auto">
            <a:xfrm>
              <a:off x="4294" y="1281"/>
              <a:ext cx="428" cy="375"/>
            </a:xfrm>
            <a:custGeom>
              <a:avLst/>
              <a:gdLst>
                <a:gd name="T0" fmla="*/ 0 w 122"/>
                <a:gd name="T1" fmla="*/ 375 h 107"/>
                <a:gd name="T2" fmla="*/ 242 w 122"/>
                <a:gd name="T3" fmla="*/ 375 h 107"/>
                <a:gd name="T4" fmla="*/ 428 w 122"/>
                <a:gd name="T5" fmla="*/ 189 h 107"/>
                <a:gd name="T6" fmla="*/ 242 w 122"/>
                <a:gd name="T7" fmla="*/ 0 h 107"/>
                <a:gd name="T8" fmla="*/ 0 w 122"/>
                <a:gd name="T9" fmla="*/ 0 h 107"/>
                <a:gd name="T10" fmla="*/ 0 w 122"/>
                <a:gd name="T11" fmla="*/ 37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2"/>
                <a:gd name="T19" fmla="*/ 0 h 107"/>
                <a:gd name="T20" fmla="*/ 122 w 122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2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8" y="107"/>
                    <a:pt x="122" y="83"/>
                    <a:pt x="122" y="54"/>
                  </a:cubicBezTo>
                  <a:cubicBezTo>
                    <a:pt x="122" y="24"/>
                    <a:pt x="98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2" name="Line 130"/>
            <p:cNvSpPr>
              <a:spLocks noChangeShapeType="1"/>
            </p:cNvSpPr>
            <p:nvPr/>
          </p:nvSpPr>
          <p:spPr bwMode="auto">
            <a:xfrm>
              <a:off x="4291" y="1140"/>
              <a:ext cx="1" cy="656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3" name="Freeform 131"/>
            <p:cNvSpPr>
              <a:spLocks/>
            </p:cNvSpPr>
            <p:nvPr/>
          </p:nvSpPr>
          <p:spPr bwMode="auto">
            <a:xfrm>
              <a:off x="4294" y="1993"/>
              <a:ext cx="428" cy="375"/>
            </a:xfrm>
            <a:custGeom>
              <a:avLst/>
              <a:gdLst>
                <a:gd name="T0" fmla="*/ 0 w 122"/>
                <a:gd name="T1" fmla="*/ 375 h 107"/>
                <a:gd name="T2" fmla="*/ 242 w 122"/>
                <a:gd name="T3" fmla="*/ 375 h 107"/>
                <a:gd name="T4" fmla="*/ 428 w 122"/>
                <a:gd name="T5" fmla="*/ 189 h 107"/>
                <a:gd name="T6" fmla="*/ 242 w 122"/>
                <a:gd name="T7" fmla="*/ 0 h 107"/>
                <a:gd name="T8" fmla="*/ 0 w 122"/>
                <a:gd name="T9" fmla="*/ 0 h 107"/>
                <a:gd name="T10" fmla="*/ 0 w 122"/>
                <a:gd name="T11" fmla="*/ 37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2"/>
                <a:gd name="T19" fmla="*/ 0 h 107"/>
                <a:gd name="T20" fmla="*/ 122 w 122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2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8" y="107"/>
                    <a:pt x="122" y="83"/>
                    <a:pt x="122" y="54"/>
                  </a:cubicBezTo>
                  <a:cubicBezTo>
                    <a:pt x="122" y="24"/>
                    <a:pt x="98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4" name="Line 132"/>
            <p:cNvSpPr>
              <a:spLocks noChangeShapeType="1"/>
            </p:cNvSpPr>
            <p:nvPr/>
          </p:nvSpPr>
          <p:spPr bwMode="auto">
            <a:xfrm>
              <a:off x="4291" y="1852"/>
              <a:ext cx="1" cy="656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95" name="Rectangle 133"/>
            <p:cNvSpPr>
              <a:spLocks noChangeArrowheads="1"/>
            </p:cNvSpPr>
            <p:nvPr/>
          </p:nvSpPr>
          <p:spPr bwMode="auto">
            <a:xfrm>
              <a:off x="3947" y="1155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6" name="Rectangle 134"/>
            <p:cNvSpPr>
              <a:spLocks noChangeArrowheads="1"/>
            </p:cNvSpPr>
            <p:nvPr/>
          </p:nvSpPr>
          <p:spPr bwMode="auto">
            <a:xfrm>
              <a:off x="3947" y="1263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7" name="Rectangle 135"/>
            <p:cNvSpPr>
              <a:spLocks noChangeArrowheads="1"/>
            </p:cNvSpPr>
            <p:nvPr/>
          </p:nvSpPr>
          <p:spPr bwMode="auto">
            <a:xfrm>
              <a:off x="3947" y="1372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8" name="Rectangle 136"/>
            <p:cNvSpPr>
              <a:spLocks noChangeArrowheads="1"/>
            </p:cNvSpPr>
            <p:nvPr/>
          </p:nvSpPr>
          <p:spPr bwMode="auto">
            <a:xfrm>
              <a:off x="3947" y="1484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999" name="Rectangle 137"/>
            <p:cNvSpPr>
              <a:spLocks noChangeArrowheads="1"/>
            </p:cNvSpPr>
            <p:nvPr/>
          </p:nvSpPr>
          <p:spPr bwMode="auto">
            <a:xfrm>
              <a:off x="3947" y="1593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0" name="Freeform 138"/>
            <p:cNvSpPr>
              <a:spLocks/>
            </p:cNvSpPr>
            <p:nvPr/>
          </p:nvSpPr>
          <p:spPr bwMode="auto">
            <a:xfrm>
              <a:off x="3947" y="1702"/>
              <a:ext cx="81" cy="80"/>
            </a:xfrm>
            <a:custGeom>
              <a:avLst/>
              <a:gdLst>
                <a:gd name="T0" fmla="*/ 81 w 81"/>
                <a:gd name="T1" fmla="*/ 38 h 80"/>
                <a:gd name="T2" fmla="*/ 81 w 81"/>
                <a:gd name="T3" fmla="*/ 80 h 80"/>
                <a:gd name="T4" fmla="*/ 0 w 81"/>
                <a:gd name="T5" fmla="*/ 80 h 80"/>
                <a:gd name="T6" fmla="*/ 0 w 81"/>
                <a:gd name="T7" fmla="*/ 0 h 80"/>
                <a:gd name="T8" fmla="*/ 81 w 81"/>
                <a:gd name="T9" fmla="*/ 0 h 80"/>
                <a:gd name="T10" fmla="*/ 81 w 81"/>
                <a:gd name="T11" fmla="*/ 38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80"/>
                <a:gd name="T20" fmla="*/ 81 w 81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80">
                  <a:moveTo>
                    <a:pt x="81" y="38"/>
                  </a:moveTo>
                  <a:lnTo>
                    <a:pt x="81" y="80"/>
                  </a:lnTo>
                  <a:lnTo>
                    <a:pt x="0" y="80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38"/>
                  </a:lnTo>
                </a:path>
              </a:pathLst>
            </a:cu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1" name="Rectangle 139"/>
            <p:cNvSpPr>
              <a:spLocks noChangeArrowheads="1"/>
            </p:cNvSpPr>
            <p:nvPr/>
          </p:nvSpPr>
          <p:spPr bwMode="auto">
            <a:xfrm>
              <a:off x="3947" y="1866"/>
              <a:ext cx="81" cy="78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2" name="Rectangle 140"/>
            <p:cNvSpPr>
              <a:spLocks noChangeArrowheads="1"/>
            </p:cNvSpPr>
            <p:nvPr/>
          </p:nvSpPr>
          <p:spPr bwMode="auto">
            <a:xfrm>
              <a:off x="3947" y="1975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3" name="Rectangle 141"/>
            <p:cNvSpPr>
              <a:spLocks noChangeArrowheads="1"/>
            </p:cNvSpPr>
            <p:nvPr/>
          </p:nvSpPr>
          <p:spPr bwMode="auto">
            <a:xfrm>
              <a:off x="3947" y="2084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4" name="Rectangle 142"/>
            <p:cNvSpPr>
              <a:spLocks noChangeArrowheads="1"/>
            </p:cNvSpPr>
            <p:nvPr/>
          </p:nvSpPr>
          <p:spPr bwMode="auto">
            <a:xfrm>
              <a:off x="3947" y="2196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5" name="Rectangle 143"/>
            <p:cNvSpPr>
              <a:spLocks noChangeArrowheads="1"/>
            </p:cNvSpPr>
            <p:nvPr/>
          </p:nvSpPr>
          <p:spPr bwMode="auto">
            <a:xfrm>
              <a:off x="3947" y="2305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6" name="Rectangle 144"/>
            <p:cNvSpPr>
              <a:spLocks noChangeArrowheads="1"/>
            </p:cNvSpPr>
            <p:nvPr/>
          </p:nvSpPr>
          <p:spPr bwMode="auto">
            <a:xfrm>
              <a:off x="3947" y="2414"/>
              <a:ext cx="81" cy="80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7" name="Rectangle 145"/>
            <p:cNvSpPr>
              <a:spLocks noChangeArrowheads="1"/>
            </p:cNvSpPr>
            <p:nvPr/>
          </p:nvSpPr>
          <p:spPr bwMode="auto">
            <a:xfrm>
              <a:off x="3947" y="2575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8" name="Rectangle 146"/>
            <p:cNvSpPr>
              <a:spLocks noChangeArrowheads="1"/>
            </p:cNvSpPr>
            <p:nvPr/>
          </p:nvSpPr>
          <p:spPr bwMode="auto">
            <a:xfrm>
              <a:off x="3947" y="2684"/>
              <a:ext cx="81" cy="80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09" name="Rectangle 147"/>
            <p:cNvSpPr>
              <a:spLocks noChangeArrowheads="1"/>
            </p:cNvSpPr>
            <p:nvPr/>
          </p:nvSpPr>
          <p:spPr bwMode="auto">
            <a:xfrm>
              <a:off x="3947" y="2792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0" name="Rectangle 148"/>
            <p:cNvSpPr>
              <a:spLocks noChangeArrowheads="1"/>
            </p:cNvSpPr>
            <p:nvPr/>
          </p:nvSpPr>
          <p:spPr bwMode="auto">
            <a:xfrm>
              <a:off x="3947" y="2904"/>
              <a:ext cx="81" cy="78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1" name="Rectangle 149"/>
            <p:cNvSpPr>
              <a:spLocks noChangeArrowheads="1"/>
            </p:cNvSpPr>
            <p:nvPr/>
          </p:nvSpPr>
          <p:spPr bwMode="auto">
            <a:xfrm>
              <a:off x="3947" y="3013"/>
              <a:ext cx="81" cy="7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2" name="Rectangle 150"/>
            <p:cNvSpPr>
              <a:spLocks noChangeArrowheads="1"/>
            </p:cNvSpPr>
            <p:nvPr/>
          </p:nvSpPr>
          <p:spPr bwMode="auto">
            <a:xfrm>
              <a:off x="3947" y="3122"/>
              <a:ext cx="81" cy="81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3" name="Freeform 151"/>
            <p:cNvSpPr>
              <a:spLocks/>
            </p:cNvSpPr>
            <p:nvPr/>
          </p:nvSpPr>
          <p:spPr bwMode="auto">
            <a:xfrm>
              <a:off x="3712" y="895"/>
              <a:ext cx="186" cy="147"/>
            </a:xfrm>
            <a:custGeom>
              <a:avLst/>
              <a:gdLst>
                <a:gd name="T0" fmla="*/ 0 w 186"/>
                <a:gd name="T1" fmla="*/ 0 h 147"/>
                <a:gd name="T2" fmla="*/ 95 w 186"/>
                <a:gd name="T3" fmla="*/ 147 h 147"/>
                <a:gd name="T4" fmla="*/ 186 w 186"/>
                <a:gd name="T5" fmla="*/ 0 h 147"/>
                <a:gd name="T6" fmla="*/ 0 w 18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6"/>
                <a:gd name="T13" fmla="*/ 0 h 147"/>
                <a:gd name="T14" fmla="*/ 186 w 186"/>
                <a:gd name="T15" fmla="*/ 147 h 1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6" h="147">
                  <a:moveTo>
                    <a:pt x="0" y="0"/>
                  </a:moveTo>
                  <a:lnTo>
                    <a:pt x="95" y="147"/>
                  </a:lnTo>
                  <a:lnTo>
                    <a:pt x="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4" name="Freeform 152"/>
            <p:cNvSpPr>
              <a:spLocks/>
            </p:cNvSpPr>
            <p:nvPr/>
          </p:nvSpPr>
          <p:spPr bwMode="auto">
            <a:xfrm>
              <a:off x="3505" y="895"/>
              <a:ext cx="186" cy="147"/>
            </a:xfrm>
            <a:custGeom>
              <a:avLst/>
              <a:gdLst>
                <a:gd name="T0" fmla="*/ 0 w 186"/>
                <a:gd name="T1" fmla="*/ 0 h 147"/>
                <a:gd name="T2" fmla="*/ 91 w 186"/>
                <a:gd name="T3" fmla="*/ 147 h 147"/>
                <a:gd name="T4" fmla="*/ 186 w 186"/>
                <a:gd name="T5" fmla="*/ 0 h 147"/>
                <a:gd name="T6" fmla="*/ 0 w 18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6"/>
                <a:gd name="T13" fmla="*/ 0 h 147"/>
                <a:gd name="T14" fmla="*/ 186 w 186"/>
                <a:gd name="T15" fmla="*/ 147 h 1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6" h="147">
                  <a:moveTo>
                    <a:pt x="0" y="0"/>
                  </a:moveTo>
                  <a:lnTo>
                    <a:pt x="91" y="147"/>
                  </a:lnTo>
                  <a:lnTo>
                    <a:pt x="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5" name="Freeform 153"/>
            <p:cNvSpPr>
              <a:spLocks/>
            </p:cNvSpPr>
            <p:nvPr/>
          </p:nvSpPr>
          <p:spPr bwMode="auto">
            <a:xfrm>
              <a:off x="3298" y="895"/>
              <a:ext cx="186" cy="147"/>
            </a:xfrm>
            <a:custGeom>
              <a:avLst/>
              <a:gdLst>
                <a:gd name="T0" fmla="*/ 0 w 186"/>
                <a:gd name="T1" fmla="*/ 0 h 147"/>
                <a:gd name="T2" fmla="*/ 91 w 186"/>
                <a:gd name="T3" fmla="*/ 147 h 147"/>
                <a:gd name="T4" fmla="*/ 186 w 186"/>
                <a:gd name="T5" fmla="*/ 0 h 147"/>
                <a:gd name="T6" fmla="*/ 0 w 18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6"/>
                <a:gd name="T13" fmla="*/ 0 h 147"/>
                <a:gd name="T14" fmla="*/ 186 w 186"/>
                <a:gd name="T15" fmla="*/ 147 h 1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6" h="147">
                  <a:moveTo>
                    <a:pt x="0" y="0"/>
                  </a:moveTo>
                  <a:lnTo>
                    <a:pt x="91" y="147"/>
                  </a:lnTo>
                  <a:lnTo>
                    <a:pt x="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6" name="Oval 154"/>
            <p:cNvSpPr>
              <a:spLocks noChangeArrowheads="1"/>
            </p:cNvSpPr>
            <p:nvPr/>
          </p:nvSpPr>
          <p:spPr bwMode="auto">
            <a:xfrm>
              <a:off x="3754" y="1004"/>
              <a:ext cx="35" cy="35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7" name="Oval 155"/>
            <p:cNvSpPr>
              <a:spLocks noChangeArrowheads="1"/>
            </p:cNvSpPr>
            <p:nvPr/>
          </p:nvSpPr>
          <p:spPr bwMode="auto">
            <a:xfrm>
              <a:off x="3547" y="1004"/>
              <a:ext cx="32" cy="35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8" name="Oval 156"/>
            <p:cNvSpPr>
              <a:spLocks noChangeArrowheads="1"/>
            </p:cNvSpPr>
            <p:nvPr/>
          </p:nvSpPr>
          <p:spPr bwMode="auto">
            <a:xfrm>
              <a:off x="3340" y="1004"/>
              <a:ext cx="32" cy="35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19" name="Freeform 157"/>
            <p:cNvSpPr>
              <a:spLocks/>
            </p:cNvSpPr>
            <p:nvPr/>
          </p:nvSpPr>
          <p:spPr bwMode="auto">
            <a:xfrm>
              <a:off x="5080" y="1993"/>
              <a:ext cx="379" cy="375"/>
            </a:xfrm>
            <a:custGeom>
              <a:avLst/>
              <a:gdLst>
                <a:gd name="T0" fmla="*/ 379 w 108"/>
                <a:gd name="T1" fmla="*/ 186 h 107"/>
                <a:gd name="T2" fmla="*/ 0 w 108"/>
                <a:gd name="T3" fmla="*/ 375 h 107"/>
                <a:gd name="T4" fmla="*/ 60 w 108"/>
                <a:gd name="T5" fmla="*/ 189 h 107"/>
                <a:gd name="T6" fmla="*/ 60 w 108"/>
                <a:gd name="T7" fmla="*/ 186 h 107"/>
                <a:gd name="T8" fmla="*/ 0 w 108"/>
                <a:gd name="T9" fmla="*/ 0 h 107"/>
                <a:gd name="T10" fmla="*/ 379 w 108"/>
                <a:gd name="T11" fmla="*/ 18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8"/>
                <a:gd name="T19" fmla="*/ 0 h 107"/>
                <a:gd name="T20" fmla="*/ 108 w 108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8" h="107">
                  <a:moveTo>
                    <a:pt x="108" y="53"/>
                  </a:moveTo>
                  <a:cubicBezTo>
                    <a:pt x="108" y="53"/>
                    <a:pt x="83" y="107"/>
                    <a:pt x="0" y="107"/>
                  </a:cubicBezTo>
                  <a:cubicBezTo>
                    <a:pt x="0" y="107"/>
                    <a:pt x="17" y="101"/>
                    <a:pt x="17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6"/>
                    <a:pt x="0" y="0"/>
                    <a:pt x="0" y="0"/>
                  </a:cubicBezTo>
                  <a:cubicBezTo>
                    <a:pt x="83" y="0"/>
                    <a:pt x="108" y="53"/>
                    <a:pt x="108" y="53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20" name="Oval 158"/>
            <p:cNvSpPr>
              <a:spLocks noChangeArrowheads="1"/>
            </p:cNvSpPr>
            <p:nvPr/>
          </p:nvSpPr>
          <p:spPr bwMode="auto">
            <a:xfrm>
              <a:off x="3877" y="1028"/>
              <a:ext cx="224" cy="2301"/>
            </a:xfrm>
            <a:prstGeom prst="ellipse">
              <a:avLst/>
            </a:prstGeom>
            <a:noFill/>
            <a:ln w="11113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021" name="Rectangle 159"/>
            <p:cNvSpPr>
              <a:spLocks noChangeArrowheads="1"/>
            </p:cNvSpPr>
            <p:nvPr/>
          </p:nvSpPr>
          <p:spPr bwMode="auto">
            <a:xfrm>
              <a:off x="5559" y="1985"/>
              <a:ext cx="16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Helvetica" panose="020B0604020202020204" pitchFamily="34" charset="0"/>
                </a:rPr>
                <a:t>O1</a:t>
              </a:r>
              <a:endParaRPr lang="en-US"/>
            </a:p>
          </p:txBody>
        </p:sp>
        <p:sp>
          <p:nvSpPr>
            <p:cNvPr id="37022" name="Rectangle 160"/>
            <p:cNvSpPr>
              <a:spLocks noChangeArrowheads="1"/>
            </p:cNvSpPr>
            <p:nvPr/>
          </p:nvSpPr>
          <p:spPr bwMode="auto">
            <a:xfrm>
              <a:off x="4917" y="3184"/>
              <a:ext cx="3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Helvetica" panose="020B0604020202020204" pitchFamily="34" charset="0"/>
                </a:rPr>
                <a:t>PLD IC</a:t>
              </a:r>
              <a:endParaRPr lang="en-US"/>
            </a:p>
          </p:txBody>
        </p:sp>
        <p:sp>
          <p:nvSpPr>
            <p:cNvPr id="37025" name="Rectangle 163"/>
            <p:cNvSpPr>
              <a:spLocks noChangeArrowheads="1"/>
            </p:cNvSpPr>
            <p:nvPr/>
          </p:nvSpPr>
          <p:spPr bwMode="auto">
            <a:xfrm>
              <a:off x="3756" y="623"/>
              <a:ext cx="9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" panose="02020603050405020304" pitchFamily="18" charset="0"/>
                </a:rPr>
                <a:t>I3</a:t>
              </a:r>
              <a:endParaRPr lang="en-US"/>
            </a:p>
          </p:txBody>
        </p:sp>
        <p:sp>
          <p:nvSpPr>
            <p:cNvPr id="37027" name="Rectangle 165"/>
            <p:cNvSpPr>
              <a:spLocks noChangeArrowheads="1"/>
            </p:cNvSpPr>
            <p:nvPr/>
          </p:nvSpPr>
          <p:spPr bwMode="auto">
            <a:xfrm>
              <a:off x="3550" y="623"/>
              <a:ext cx="9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" panose="02020603050405020304" pitchFamily="18" charset="0"/>
                </a:rPr>
                <a:t>I2</a:t>
              </a:r>
              <a:endParaRPr lang="en-US"/>
            </a:p>
          </p:txBody>
        </p:sp>
        <p:sp>
          <p:nvSpPr>
            <p:cNvPr id="37029" name="Rectangle 167"/>
            <p:cNvSpPr>
              <a:spLocks noChangeArrowheads="1"/>
            </p:cNvSpPr>
            <p:nvPr/>
          </p:nvSpPr>
          <p:spPr bwMode="auto">
            <a:xfrm>
              <a:off x="3339" y="623"/>
              <a:ext cx="99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" panose="02020603050405020304" pitchFamily="18" charset="0"/>
                </a:rPr>
                <a:t>I1</a:t>
              </a:r>
              <a:endParaRPr lang="en-US"/>
            </a:p>
          </p:txBody>
        </p:sp>
      </p:grpSp>
      <p:sp>
        <p:nvSpPr>
          <p:cNvPr id="36918" name="Text Box 172"/>
          <p:cNvSpPr txBox="1">
            <a:spLocks noChangeArrowheads="1"/>
          </p:cNvSpPr>
          <p:nvPr/>
        </p:nvSpPr>
        <p:spPr bwMode="auto">
          <a:xfrm>
            <a:off x="4855795" y="3821163"/>
            <a:ext cx="37269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n-lt"/>
              </a:rPr>
              <a:t>Memory based - 1 creates connection</a:t>
            </a:r>
          </a:p>
        </p:txBody>
      </p:sp>
      <p:sp>
        <p:nvSpPr>
          <p:cNvPr id="16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165FAC76-DA19-401B-B033-6EC72953CAC6}" type="slidenum">
              <a:rPr lang="de-DE" smtClean="0"/>
              <a:t>24</a:t>
            </a:fld>
            <a:endParaRPr lang="de-DE"/>
          </a:p>
        </p:txBody>
      </p:sp>
      <p:sp>
        <p:nvSpPr>
          <p:cNvPr id="154" name="Rectangle 169"/>
          <p:cNvSpPr>
            <a:spLocks noChangeArrowheads="1"/>
          </p:cNvSpPr>
          <p:nvPr/>
        </p:nvSpPr>
        <p:spPr bwMode="auto">
          <a:xfrm>
            <a:off x="4447766" y="4191858"/>
            <a:ext cx="1492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F0000"/>
                </a:solidFill>
                <a:latin typeface="Helvetica" panose="020B0604020202020204" pitchFamily="34" charset="0"/>
              </a:rPr>
              <a:t>Configuration bit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158" name="Line 58"/>
          <p:cNvSpPr>
            <a:spLocks noChangeShapeType="1"/>
          </p:cNvSpPr>
          <p:nvPr/>
        </p:nvSpPr>
        <p:spPr bwMode="auto">
          <a:xfrm rot="5400000" flipV="1">
            <a:off x="4758815" y="4374336"/>
            <a:ext cx="514920" cy="700058"/>
          </a:xfrm>
          <a:prstGeom prst="line">
            <a:avLst/>
          </a:prstGeom>
          <a:noFill/>
          <a:ln w="11113">
            <a:solidFill>
              <a:srgbClr val="FF0000"/>
            </a:solidFill>
            <a:miter lim="800000"/>
            <a:headEnd/>
            <a:tailEnd type="non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4862316" y="4665739"/>
            <a:ext cx="1725748" cy="901065"/>
            <a:chOff x="4557713" y="4665735"/>
            <a:chExt cx="1787525" cy="1047750"/>
          </a:xfrm>
        </p:grpSpPr>
        <p:sp>
          <p:nvSpPr>
            <p:cNvPr id="36871" name="Line 11"/>
            <p:cNvSpPr>
              <a:spLocks noChangeShapeType="1"/>
            </p:cNvSpPr>
            <p:nvPr/>
          </p:nvSpPr>
          <p:spPr bwMode="auto">
            <a:xfrm flipV="1">
              <a:off x="5451475" y="5143572"/>
              <a:ext cx="1588" cy="146050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72" name="Freeform 12"/>
            <p:cNvSpPr>
              <a:spLocks/>
            </p:cNvSpPr>
            <p:nvPr/>
          </p:nvSpPr>
          <p:spPr bwMode="auto">
            <a:xfrm>
              <a:off x="4557713" y="5381697"/>
              <a:ext cx="1787525" cy="185738"/>
            </a:xfrm>
            <a:custGeom>
              <a:avLst/>
              <a:gdLst>
                <a:gd name="T0" fmla="*/ 0 w 1126"/>
                <a:gd name="T1" fmla="*/ 185738 h 117"/>
                <a:gd name="T2" fmla="*/ 722312 w 1126"/>
                <a:gd name="T3" fmla="*/ 185738 h 117"/>
                <a:gd name="T4" fmla="*/ 722312 w 1126"/>
                <a:gd name="T5" fmla="*/ 0 h 117"/>
                <a:gd name="T6" fmla="*/ 1065212 w 1126"/>
                <a:gd name="T7" fmla="*/ 0 h 117"/>
                <a:gd name="T8" fmla="*/ 1065212 w 1126"/>
                <a:gd name="T9" fmla="*/ 185738 h 117"/>
                <a:gd name="T10" fmla="*/ 1787525 w 1126"/>
                <a:gd name="T11" fmla="*/ 185738 h 1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26"/>
                <a:gd name="T19" fmla="*/ 0 h 117"/>
                <a:gd name="T20" fmla="*/ 1126 w 1126"/>
                <a:gd name="T21" fmla="*/ 117 h 1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26" h="117">
                  <a:moveTo>
                    <a:pt x="0" y="117"/>
                  </a:moveTo>
                  <a:lnTo>
                    <a:pt x="455" y="117"/>
                  </a:lnTo>
                  <a:lnTo>
                    <a:pt x="455" y="0"/>
                  </a:lnTo>
                  <a:lnTo>
                    <a:pt x="671" y="0"/>
                  </a:lnTo>
                  <a:lnTo>
                    <a:pt x="671" y="117"/>
                  </a:lnTo>
                  <a:lnTo>
                    <a:pt x="1126" y="117"/>
                  </a:lnTo>
                </a:path>
              </a:pathLst>
            </a:cu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74" name="Line 14"/>
            <p:cNvSpPr>
              <a:spLocks noChangeShapeType="1"/>
            </p:cNvSpPr>
            <p:nvPr/>
          </p:nvSpPr>
          <p:spPr bwMode="auto">
            <a:xfrm>
              <a:off x="5265738" y="5289622"/>
              <a:ext cx="371475" cy="1588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75" name="Rectangle 15"/>
            <p:cNvSpPr>
              <a:spLocks noChangeArrowheads="1"/>
            </p:cNvSpPr>
            <p:nvPr/>
          </p:nvSpPr>
          <p:spPr bwMode="auto">
            <a:xfrm>
              <a:off x="5265738" y="4930847"/>
              <a:ext cx="371475" cy="212725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76" name="Rectangle 16"/>
            <p:cNvSpPr>
              <a:spLocks noChangeArrowheads="1"/>
            </p:cNvSpPr>
            <p:nvPr/>
          </p:nvSpPr>
          <p:spPr bwMode="auto">
            <a:xfrm>
              <a:off x="5394325" y="4914972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700">
                  <a:solidFill>
                    <a:srgbClr val="FF0000"/>
                  </a:solidFill>
                  <a:latin typeface="Myriad Roman" charset="0"/>
                </a:rPr>
                <a:t>1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6877" name="Rectangle 17"/>
            <p:cNvSpPr>
              <a:spLocks noChangeArrowheads="1"/>
            </p:cNvSpPr>
            <p:nvPr/>
          </p:nvSpPr>
          <p:spPr bwMode="auto">
            <a:xfrm>
              <a:off x="5067504" y="4670497"/>
              <a:ext cx="102849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Myriad Roman" charset="0"/>
                </a:rPr>
                <a:t>storage cell</a:t>
              </a:r>
              <a:endParaRPr lang="en-US" sz="1400"/>
            </a:p>
          </p:txBody>
        </p:sp>
        <p:sp>
          <p:nvSpPr>
            <p:cNvPr id="36883" name="Rectangle 23"/>
            <p:cNvSpPr>
              <a:spLocks noChangeArrowheads="1"/>
            </p:cNvSpPr>
            <p:nvPr/>
          </p:nvSpPr>
          <p:spPr bwMode="auto">
            <a:xfrm>
              <a:off x="5008563" y="4665735"/>
              <a:ext cx="1087436" cy="1047750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59" name="Freeform 59"/>
            <p:cNvSpPr>
              <a:spLocks/>
            </p:cNvSpPr>
            <p:nvPr/>
          </p:nvSpPr>
          <p:spPr bwMode="auto">
            <a:xfrm rot="7440000">
              <a:off x="5044588" y="4980039"/>
              <a:ext cx="86260" cy="141120"/>
            </a:xfrm>
            <a:custGeom>
              <a:avLst/>
              <a:gdLst>
                <a:gd name="T0" fmla="*/ 28 w 56"/>
                <a:gd name="T1" fmla="*/ 0 h 113"/>
                <a:gd name="T2" fmla="*/ 0 w 56"/>
                <a:gd name="T3" fmla="*/ 113 h 113"/>
                <a:gd name="T4" fmla="*/ 56 w 56"/>
                <a:gd name="T5" fmla="*/ 113 h 113"/>
                <a:gd name="T6" fmla="*/ 28 w 56"/>
                <a:gd name="T7" fmla="*/ 0 h 1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13"/>
                <a:gd name="T14" fmla="*/ 56 w 56"/>
                <a:gd name="T15" fmla="*/ 113 h 1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13">
                  <a:moveTo>
                    <a:pt x="28" y="0"/>
                  </a:moveTo>
                  <a:lnTo>
                    <a:pt x="0" y="113"/>
                  </a:lnTo>
                  <a:lnTo>
                    <a:pt x="56" y="11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6777153" y="4647398"/>
            <a:ext cx="1754621" cy="938161"/>
            <a:chOff x="6623050" y="4647392"/>
            <a:chExt cx="1789113" cy="1066093"/>
          </a:xfrm>
        </p:grpSpPr>
        <p:sp>
          <p:nvSpPr>
            <p:cNvPr id="36885" name="Line 25"/>
            <p:cNvSpPr>
              <a:spLocks noChangeShapeType="1"/>
            </p:cNvSpPr>
            <p:nvPr/>
          </p:nvSpPr>
          <p:spPr bwMode="auto">
            <a:xfrm flipV="1">
              <a:off x="7516813" y="5143572"/>
              <a:ext cx="1587" cy="146050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6" name="Freeform 26"/>
            <p:cNvSpPr>
              <a:spLocks/>
            </p:cNvSpPr>
            <p:nvPr/>
          </p:nvSpPr>
          <p:spPr bwMode="auto">
            <a:xfrm>
              <a:off x="6623050" y="5381697"/>
              <a:ext cx="1789113" cy="185738"/>
            </a:xfrm>
            <a:custGeom>
              <a:avLst/>
              <a:gdLst>
                <a:gd name="T0" fmla="*/ 0 w 1127"/>
                <a:gd name="T1" fmla="*/ 185738 h 117"/>
                <a:gd name="T2" fmla="*/ 722313 w 1127"/>
                <a:gd name="T3" fmla="*/ 185738 h 117"/>
                <a:gd name="T4" fmla="*/ 722313 w 1127"/>
                <a:gd name="T5" fmla="*/ 0 h 117"/>
                <a:gd name="T6" fmla="*/ 1066800 w 1127"/>
                <a:gd name="T7" fmla="*/ 0 h 117"/>
                <a:gd name="T8" fmla="*/ 1066800 w 1127"/>
                <a:gd name="T9" fmla="*/ 185738 h 117"/>
                <a:gd name="T10" fmla="*/ 1789113 w 1127"/>
                <a:gd name="T11" fmla="*/ 185738 h 1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27"/>
                <a:gd name="T19" fmla="*/ 0 h 117"/>
                <a:gd name="T20" fmla="*/ 1127 w 1127"/>
                <a:gd name="T21" fmla="*/ 117 h 1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27" h="117">
                  <a:moveTo>
                    <a:pt x="0" y="117"/>
                  </a:moveTo>
                  <a:lnTo>
                    <a:pt x="455" y="117"/>
                  </a:lnTo>
                  <a:lnTo>
                    <a:pt x="455" y="0"/>
                  </a:lnTo>
                  <a:lnTo>
                    <a:pt x="672" y="0"/>
                  </a:lnTo>
                  <a:lnTo>
                    <a:pt x="672" y="117"/>
                  </a:lnTo>
                  <a:lnTo>
                    <a:pt x="1127" y="117"/>
                  </a:lnTo>
                </a:path>
              </a:pathLst>
            </a:cu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87" name="Line 27"/>
            <p:cNvSpPr>
              <a:spLocks noChangeShapeType="1"/>
            </p:cNvSpPr>
            <p:nvPr/>
          </p:nvSpPr>
          <p:spPr bwMode="auto">
            <a:xfrm>
              <a:off x="7339013" y="5289622"/>
              <a:ext cx="363537" cy="1588"/>
            </a:xfrm>
            <a:prstGeom prst="line">
              <a:avLst/>
            </a:prstGeom>
            <a:noFill/>
            <a:ln w="254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88" name="Rectangle 28"/>
            <p:cNvSpPr>
              <a:spLocks noChangeArrowheads="1"/>
            </p:cNvSpPr>
            <p:nvPr/>
          </p:nvSpPr>
          <p:spPr bwMode="auto">
            <a:xfrm>
              <a:off x="7339013" y="4930847"/>
              <a:ext cx="363537" cy="212725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89" name="Rectangle 29"/>
            <p:cNvSpPr>
              <a:spLocks noChangeArrowheads="1"/>
            </p:cNvSpPr>
            <p:nvPr/>
          </p:nvSpPr>
          <p:spPr bwMode="auto">
            <a:xfrm>
              <a:off x="7464425" y="4914972"/>
              <a:ext cx="120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700">
                  <a:solidFill>
                    <a:srgbClr val="FF0000"/>
                  </a:solidFill>
                  <a:latin typeface="Myriad Roman" charset="0"/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6891" name="Rectangle 31"/>
            <p:cNvSpPr>
              <a:spLocks noChangeArrowheads="1"/>
            </p:cNvSpPr>
            <p:nvPr/>
          </p:nvSpPr>
          <p:spPr bwMode="auto">
            <a:xfrm>
              <a:off x="7073899" y="4665735"/>
              <a:ext cx="1080000" cy="1047750"/>
            </a:xfrm>
            <a:prstGeom prst="rect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6892" name="Line 32"/>
            <p:cNvSpPr>
              <a:spLocks noChangeShapeType="1"/>
            </p:cNvSpPr>
            <p:nvPr/>
          </p:nvSpPr>
          <p:spPr bwMode="auto">
            <a:xfrm flipV="1">
              <a:off x="7285038" y="5322960"/>
              <a:ext cx="490537" cy="317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893" name="Line 33"/>
            <p:cNvSpPr>
              <a:spLocks noChangeShapeType="1"/>
            </p:cNvSpPr>
            <p:nvPr/>
          </p:nvSpPr>
          <p:spPr bwMode="auto">
            <a:xfrm flipH="1" flipV="1">
              <a:off x="7265988" y="5322960"/>
              <a:ext cx="482600" cy="317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" name="Rectangle 17"/>
            <p:cNvSpPr>
              <a:spLocks noChangeArrowheads="1"/>
            </p:cNvSpPr>
            <p:nvPr/>
          </p:nvSpPr>
          <p:spPr bwMode="auto">
            <a:xfrm>
              <a:off x="7161083" y="4647392"/>
              <a:ext cx="102849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Myriad Roman" charset="0"/>
                </a:rPr>
                <a:t>storage cell</a:t>
              </a:r>
              <a:endParaRPr lang="en-US" sz="1400"/>
            </a:p>
          </p:txBody>
        </p:sp>
      </p:grpSp>
      <p:sp>
        <p:nvSpPr>
          <p:cNvPr id="148" name="Rectangle 133"/>
          <p:cNvSpPr>
            <a:spLocks noChangeArrowheads="1"/>
          </p:cNvSpPr>
          <p:nvPr/>
        </p:nvSpPr>
        <p:spPr bwMode="auto">
          <a:xfrm>
            <a:off x="2923942" y="3427058"/>
            <a:ext cx="122511" cy="94420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9" name="Line 60"/>
          <p:cNvSpPr>
            <a:spLocks noChangeShapeType="1"/>
          </p:cNvSpPr>
          <p:nvPr/>
        </p:nvSpPr>
        <p:spPr bwMode="auto">
          <a:xfrm>
            <a:off x="3060567" y="3475741"/>
            <a:ext cx="216000" cy="1226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" name="Rectangle 133"/>
          <p:cNvSpPr>
            <a:spLocks noChangeArrowheads="1"/>
          </p:cNvSpPr>
          <p:nvPr/>
        </p:nvSpPr>
        <p:spPr bwMode="auto">
          <a:xfrm>
            <a:off x="2909830" y="3557651"/>
            <a:ext cx="122511" cy="94420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1" name="Rectangle 133"/>
          <p:cNvSpPr>
            <a:spLocks noChangeArrowheads="1"/>
          </p:cNvSpPr>
          <p:nvPr/>
        </p:nvSpPr>
        <p:spPr bwMode="auto">
          <a:xfrm>
            <a:off x="2926499" y="3673170"/>
            <a:ext cx="122511" cy="94420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2" name="Line 60"/>
          <p:cNvSpPr>
            <a:spLocks noChangeShapeType="1"/>
          </p:cNvSpPr>
          <p:nvPr/>
        </p:nvSpPr>
        <p:spPr bwMode="auto">
          <a:xfrm>
            <a:off x="3042567" y="3604370"/>
            <a:ext cx="234000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5" name="Line 60"/>
          <p:cNvSpPr>
            <a:spLocks noChangeShapeType="1"/>
          </p:cNvSpPr>
          <p:nvPr/>
        </p:nvSpPr>
        <p:spPr bwMode="auto">
          <a:xfrm>
            <a:off x="3046453" y="3720380"/>
            <a:ext cx="216000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07628" y="5648751"/>
            <a:ext cx="8005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b="1"/>
              <a:t>Generic Array Logic (GAL) </a:t>
            </a:r>
            <a:r>
              <a:rPr lang="en-GB"/>
              <a:t>is PLA that can be reprogrammed many times.</a:t>
            </a:r>
          </a:p>
        </p:txBody>
      </p:sp>
      <p:sp>
        <p:nvSpPr>
          <p:cNvPr id="160" name="Rectangle 169"/>
          <p:cNvSpPr>
            <a:spLocks noChangeArrowheads="1"/>
          </p:cNvSpPr>
          <p:nvPr/>
        </p:nvSpPr>
        <p:spPr bwMode="auto">
          <a:xfrm>
            <a:off x="1810745" y="2041409"/>
            <a:ext cx="1925386" cy="24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F0000"/>
                </a:solidFill>
                <a:latin typeface="Helvetica" panose="020B0604020202020204" pitchFamily="34" charset="0"/>
              </a:rPr>
              <a:t>Programmable nodes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67402" y="1841276"/>
            <a:ext cx="4709929" cy="192631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ounded Rectangle 160"/>
          <p:cNvSpPr/>
          <p:nvPr/>
        </p:nvSpPr>
        <p:spPr>
          <a:xfrm>
            <a:off x="4267402" y="3822561"/>
            <a:ext cx="4709930" cy="182619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77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35"/>
    </mc:Choice>
    <mc:Fallback xmlns="">
      <p:transition spd="slow" advTm="5063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7533133" y="1906010"/>
            <a:ext cx="1296968" cy="3770015"/>
          </a:xfrm>
          <a:prstGeom prst="rect">
            <a:avLst/>
          </a:prstGeom>
          <a:solidFill>
            <a:srgbClr val="D2FAD7"/>
          </a:solidFill>
          <a:ln w="17463">
            <a:solidFill>
              <a:srgbClr val="0078C1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5309662" y="1945899"/>
            <a:ext cx="2156019" cy="3310689"/>
          </a:xfrm>
          <a:prstGeom prst="rect">
            <a:avLst/>
          </a:prstGeom>
          <a:solidFill>
            <a:srgbClr val="C3D4F5"/>
          </a:solidFill>
          <a:ln w="17463">
            <a:solidFill>
              <a:srgbClr val="0078C1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64" name="Content Placeholder 6"/>
          <p:cNvSpPr>
            <a:spLocks noGrp="1"/>
          </p:cNvSpPr>
          <p:nvPr>
            <p:ph idx="1"/>
          </p:nvPr>
        </p:nvSpPr>
        <p:spPr>
          <a:xfrm>
            <a:off x="460375" y="1906588"/>
            <a:ext cx="4305086" cy="3959225"/>
          </a:xfrm>
        </p:spPr>
        <p:txBody>
          <a:bodyPr/>
          <a:lstStyle/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Example: </a:t>
            </a:r>
            <a:r>
              <a:rPr lang="en-US">
                <a:solidFill>
                  <a:srgbClr val="000000"/>
                </a:solidFill>
              </a:rPr>
              <a:t>Implement the function    </a:t>
            </a:r>
          </a:p>
          <a:p>
            <a:pPr marL="0" indent="0" eaLnBrk="1" hangingPunct="1">
              <a:buNone/>
              <a:defRPr/>
            </a:pPr>
            <a:r>
              <a:rPr lang="en-US"/>
              <a:t>     on the given PLA</a:t>
            </a:r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lvl="0" eaLnBrk="1" hangingPunct="1">
              <a:defRPr/>
            </a:pPr>
            <a:r>
              <a:rPr lang="en-US">
                <a:solidFill>
                  <a:srgbClr val="000000"/>
                </a:solidFill>
              </a:rPr>
              <a:t>Well-suited for implementing functions in sum-of-product (SOP) form</a:t>
            </a:r>
          </a:p>
          <a:p>
            <a:pPr eaLnBrk="1" hangingPunct="1">
              <a:defRPr/>
            </a:pPr>
            <a:endParaRPr lang="en-US"/>
          </a:p>
          <a:p>
            <a:pPr lvl="0" eaLnBrk="1" hangingPunct="1">
              <a:defRPr/>
            </a:pPr>
            <a:endParaRPr lang="en-US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  <a:p>
            <a:pPr marL="984250" lvl="1" indent="0" eaLnBrk="1" hangingPunct="1">
              <a:buNone/>
              <a:defRPr/>
            </a:pPr>
            <a:endParaRPr lang="en-US"/>
          </a:p>
          <a:p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PLA single-line notation</a:t>
            </a:r>
            <a:endParaRPr lang="en-GB"/>
          </a:p>
        </p:txBody>
      </p:sp>
      <p:grpSp>
        <p:nvGrpSpPr>
          <p:cNvPr id="247" name="Group 246"/>
          <p:cNvGrpSpPr/>
          <p:nvPr/>
        </p:nvGrpSpPr>
        <p:grpSpPr>
          <a:xfrm>
            <a:off x="5372186" y="1601412"/>
            <a:ext cx="3490540" cy="4380312"/>
            <a:chOff x="4548879" y="1601412"/>
            <a:chExt cx="3490540" cy="4380312"/>
          </a:xfrm>
        </p:grpSpPr>
        <p:sp>
          <p:nvSpPr>
            <p:cNvPr id="123" name="Freeform 7"/>
            <p:cNvSpPr>
              <a:spLocks/>
            </p:cNvSpPr>
            <p:nvPr/>
          </p:nvSpPr>
          <p:spPr bwMode="auto">
            <a:xfrm rot="5400000">
              <a:off x="6695176" y="5113299"/>
              <a:ext cx="474152" cy="456132"/>
            </a:xfrm>
            <a:custGeom>
              <a:avLst/>
              <a:gdLst>
                <a:gd name="T0" fmla="*/ 276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6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28" name="Line 12"/>
            <p:cNvSpPr>
              <a:spLocks noChangeShapeType="1"/>
            </p:cNvSpPr>
            <p:nvPr/>
          </p:nvSpPr>
          <p:spPr bwMode="auto">
            <a:xfrm>
              <a:off x="4548879" y="2500407"/>
              <a:ext cx="1332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9" name="Line 13"/>
            <p:cNvSpPr>
              <a:spLocks noChangeShapeType="1"/>
            </p:cNvSpPr>
            <p:nvPr/>
          </p:nvSpPr>
          <p:spPr bwMode="auto">
            <a:xfrm>
              <a:off x="6419419" y="2993029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0" name="Line 14"/>
            <p:cNvSpPr>
              <a:spLocks noChangeShapeType="1"/>
            </p:cNvSpPr>
            <p:nvPr/>
          </p:nvSpPr>
          <p:spPr bwMode="auto">
            <a:xfrm>
              <a:off x="4548879" y="2993029"/>
              <a:ext cx="1332000" cy="165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1" name="Line 15"/>
            <p:cNvSpPr>
              <a:spLocks noChangeShapeType="1"/>
            </p:cNvSpPr>
            <p:nvPr/>
          </p:nvSpPr>
          <p:spPr bwMode="auto">
            <a:xfrm>
              <a:off x="4548879" y="3492286"/>
              <a:ext cx="1332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4" name="Line 18"/>
            <p:cNvSpPr>
              <a:spLocks noChangeShapeType="1"/>
            </p:cNvSpPr>
            <p:nvPr/>
          </p:nvSpPr>
          <p:spPr bwMode="auto">
            <a:xfrm rot="5400000">
              <a:off x="6788645" y="5757935"/>
              <a:ext cx="324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5" name="Line 19"/>
            <p:cNvSpPr>
              <a:spLocks noChangeShapeType="1"/>
            </p:cNvSpPr>
            <p:nvPr/>
          </p:nvSpPr>
          <p:spPr bwMode="auto">
            <a:xfrm>
              <a:off x="4548879" y="3998178"/>
              <a:ext cx="1332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6" name="Line 20"/>
            <p:cNvSpPr>
              <a:spLocks noChangeShapeType="1"/>
            </p:cNvSpPr>
            <p:nvPr/>
          </p:nvSpPr>
          <p:spPr bwMode="auto">
            <a:xfrm>
              <a:off x="6419419" y="4490801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7" name="Line 21"/>
            <p:cNvSpPr>
              <a:spLocks noChangeShapeType="1"/>
            </p:cNvSpPr>
            <p:nvPr/>
          </p:nvSpPr>
          <p:spPr bwMode="auto">
            <a:xfrm>
              <a:off x="4548879" y="4490801"/>
              <a:ext cx="1332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38" name="Line 22"/>
            <p:cNvSpPr>
              <a:spLocks noChangeShapeType="1"/>
            </p:cNvSpPr>
            <p:nvPr/>
          </p:nvSpPr>
          <p:spPr bwMode="auto">
            <a:xfrm>
              <a:off x="4548879" y="4990058"/>
              <a:ext cx="1332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2" name="Line 26"/>
            <p:cNvSpPr>
              <a:spLocks noChangeShapeType="1"/>
            </p:cNvSpPr>
            <p:nvPr/>
          </p:nvSpPr>
          <p:spPr bwMode="auto">
            <a:xfrm>
              <a:off x="5501811" y="2306343"/>
              <a:ext cx="1718" cy="291592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3" name="Line 27"/>
            <p:cNvSpPr>
              <a:spLocks noChangeShapeType="1"/>
            </p:cNvSpPr>
            <p:nvPr/>
          </p:nvSpPr>
          <p:spPr bwMode="auto">
            <a:xfrm>
              <a:off x="5563657" y="1843577"/>
              <a:ext cx="1718" cy="21230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4" name="Line 28"/>
            <p:cNvSpPr>
              <a:spLocks noChangeShapeType="1"/>
            </p:cNvSpPr>
            <p:nvPr/>
          </p:nvSpPr>
          <p:spPr bwMode="auto">
            <a:xfrm>
              <a:off x="5627221" y="2220093"/>
              <a:ext cx="1718" cy="300217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5" name="Line 29"/>
            <p:cNvSpPr>
              <a:spLocks noChangeShapeType="1"/>
            </p:cNvSpPr>
            <p:nvPr/>
          </p:nvSpPr>
          <p:spPr bwMode="auto">
            <a:xfrm>
              <a:off x="5129018" y="2306343"/>
              <a:ext cx="1718" cy="291592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6" name="Line 30"/>
            <p:cNvSpPr>
              <a:spLocks noChangeShapeType="1"/>
            </p:cNvSpPr>
            <p:nvPr/>
          </p:nvSpPr>
          <p:spPr bwMode="auto">
            <a:xfrm>
              <a:off x="5192582" y="1843577"/>
              <a:ext cx="1718" cy="21230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7" name="Line 31"/>
            <p:cNvSpPr>
              <a:spLocks noChangeShapeType="1"/>
            </p:cNvSpPr>
            <p:nvPr/>
          </p:nvSpPr>
          <p:spPr bwMode="auto">
            <a:xfrm>
              <a:off x="5256145" y="2220093"/>
              <a:ext cx="1718" cy="300217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8" name="Line 32"/>
            <p:cNvSpPr>
              <a:spLocks noChangeShapeType="1"/>
            </p:cNvSpPr>
            <p:nvPr/>
          </p:nvSpPr>
          <p:spPr bwMode="auto">
            <a:xfrm>
              <a:off x="4819788" y="1843577"/>
              <a:ext cx="1718" cy="21230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9" name="Line 33"/>
            <p:cNvSpPr>
              <a:spLocks noChangeShapeType="1"/>
            </p:cNvSpPr>
            <p:nvPr/>
          </p:nvSpPr>
          <p:spPr bwMode="auto">
            <a:xfrm>
              <a:off x="4876480" y="2220093"/>
              <a:ext cx="1718" cy="300217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51" name="Rectangle 35"/>
            <p:cNvSpPr>
              <a:spLocks noChangeArrowheads="1"/>
            </p:cNvSpPr>
            <p:nvPr/>
          </p:nvSpPr>
          <p:spPr bwMode="auto">
            <a:xfrm>
              <a:off x="5541324" y="1601412"/>
              <a:ext cx="19396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 i="1">
                  <a:solidFill>
                    <a:srgbClr val="000000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x</a:t>
              </a:r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3</a:t>
              </a:r>
              <a:endParaRPr 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2" name="Rectangle 36"/>
            <p:cNvSpPr>
              <a:spLocks noChangeArrowheads="1"/>
            </p:cNvSpPr>
            <p:nvPr/>
          </p:nvSpPr>
          <p:spPr bwMode="auto">
            <a:xfrm>
              <a:off x="5103248" y="1608047"/>
              <a:ext cx="19396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 i="1">
                  <a:solidFill>
                    <a:srgbClr val="000000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x</a:t>
              </a:r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2</a:t>
              </a:r>
            </a:p>
          </p:txBody>
        </p:sp>
        <p:sp>
          <p:nvSpPr>
            <p:cNvPr id="155" name="Rectangle 39"/>
            <p:cNvSpPr>
              <a:spLocks noChangeArrowheads="1"/>
            </p:cNvSpPr>
            <p:nvPr/>
          </p:nvSpPr>
          <p:spPr bwMode="auto">
            <a:xfrm>
              <a:off x="4792301" y="1601412"/>
              <a:ext cx="19396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 i="1">
                  <a:solidFill>
                    <a:srgbClr val="000000"/>
                  </a:solidFill>
                  <a:latin typeface="Times" panose="02020603050405020304" pitchFamily="18" charset="0"/>
                </a:rPr>
                <a:t>x</a:t>
              </a:r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1</a:t>
              </a:r>
              <a:endParaRPr 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6" name="Freeform 40"/>
            <p:cNvSpPr>
              <a:spLocks/>
            </p:cNvSpPr>
            <p:nvPr/>
          </p:nvSpPr>
          <p:spPr bwMode="auto">
            <a:xfrm>
              <a:off x="5393581" y="2055885"/>
              <a:ext cx="334999" cy="255434"/>
            </a:xfrm>
            <a:custGeom>
              <a:avLst/>
              <a:gdLst>
                <a:gd name="T0" fmla="*/ 0 w 195"/>
                <a:gd name="T1" fmla="*/ 0 h 154"/>
                <a:gd name="T2" fmla="*/ 99 w 195"/>
                <a:gd name="T3" fmla="*/ 154 h 154"/>
                <a:gd name="T4" fmla="*/ 195 w 195"/>
                <a:gd name="T5" fmla="*/ 0 h 154"/>
                <a:gd name="T6" fmla="*/ 0 w 195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154"/>
                <a:gd name="T14" fmla="*/ 195 w 195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154">
                  <a:moveTo>
                    <a:pt x="0" y="0"/>
                  </a:moveTo>
                  <a:lnTo>
                    <a:pt x="99" y="154"/>
                  </a:lnTo>
                  <a:lnTo>
                    <a:pt x="1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57" name="Freeform 41"/>
            <p:cNvSpPr>
              <a:spLocks/>
            </p:cNvSpPr>
            <p:nvPr/>
          </p:nvSpPr>
          <p:spPr bwMode="auto">
            <a:xfrm>
              <a:off x="5022505" y="2055885"/>
              <a:ext cx="333281" cy="255434"/>
            </a:xfrm>
            <a:custGeom>
              <a:avLst/>
              <a:gdLst>
                <a:gd name="T0" fmla="*/ 0 w 194"/>
                <a:gd name="T1" fmla="*/ 0 h 154"/>
                <a:gd name="T2" fmla="*/ 99 w 194"/>
                <a:gd name="T3" fmla="*/ 154 h 154"/>
                <a:gd name="T4" fmla="*/ 194 w 194"/>
                <a:gd name="T5" fmla="*/ 0 h 154"/>
                <a:gd name="T6" fmla="*/ 0 w 194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"/>
                <a:gd name="T13" fmla="*/ 0 h 154"/>
                <a:gd name="T14" fmla="*/ 194 w 194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" h="154">
                  <a:moveTo>
                    <a:pt x="0" y="0"/>
                  </a:moveTo>
                  <a:lnTo>
                    <a:pt x="99" y="154"/>
                  </a:ln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58" name="Freeform 42"/>
            <p:cNvSpPr>
              <a:spLocks/>
            </p:cNvSpPr>
            <p:nvPr/>
          </p:nvSpPr>
          <p:spPr bwMode="auto">
            <a:xfrm>
              <a:off x="4649711" y="2055885"/>
              <a:ext cx="334999" cy="255434"/>
            </a:xfrm>
            <a:custGeom>
              <a:avLst/>
              <a:gdLst>
                <a:gd name="T0" fmla="*/ 0 w 195"/>
                <a:gd name="T1" fmla="*/ 0 h 154"/>
                <a:gd name="T2" fmla="*/ 96 w 195"/>
                <a:gd name="T3" fmla="*/ 154 h 154"/>
                <a:gd name="T4" fmla="*/ 195 w 195"/>
                <a:gd name="T5" fmla="*/ 0 h 154"/>
                <a:gd name="T6" fmla="*/ 0 w 195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154"/>
                <a:gd name="T14" fmla="*/ 195 w 195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154">
                  <a:moveTo>
                    <a:pt x="0" y="0"/>
                  </a:moveTo>
                  <a:lnTo>
                    <a:pt x="96" y="154"/>
                  </a:lnTo>
                  <a:lnTo>
                    <a:pt x="1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59" name="Oval 43"/>
            <p:cNvSpPr>
              <a:spLocks noChangeArrowheads="1"/>
            </p:cNvSpPr>
            <p:nvPr/>
          </p:nvSpPr>
          <p:spPr bwMode="auto">
            <a:xfrm>
              <a:off x="5476693" y="2256583"/>
              <a:ext cx="63564" cy="6800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60" name="Oval 44"/>
            <p:cNvSpPr>
              <a:spLocks noChangeArrowheads="1"/>
            </p:cNvSpPr>
            <p:nvPr/>
          </p:nvSpPr>
          <p:spPr bwMode="auto">
            <a:xfrm>
              <a:off x="5116693" y="2263218"/>
              <a:ext cx="70436" cy="6634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61" name="Oval 45"/>
            <p:cNvSpPr>
              <a:spLocks noChangeArrowheads="1"/>
            </p:cNvSpPr>
            <p:nvPr/>
          </p:nvSpPr>
          <p:spPr bwMode="auto">
            <a:xfrm>
              <a:off x="4746068" y="2263218"/>
              <a:ext cx="68718" cy="6634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62" name="Rectangle 46"/>
            <p:cNvSpPr>
              <a:spLocks noChangeArrowheads="1"/>
            </p:cNvSpPr>
            <p:nvPr/>
          </p:nvSpPr>
          <p:spPr bwMode="auto">
            <a:xfrm>
              <a:off x="5708191" y="5430543"/>
              <a:ext cx="0" cy="24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63" name="Rectangle 48"/>
            <p:cNvSpPr>
              <a:spLocks noChangeArrowheads="1"/>
            </p:cNvSpPr>
            <p:nvPr/>
          </p:nvSpPr>
          <p:spPr bwMode="auto">
            <a:xfrm>
              <a:off x="5886857" y="5430543"/>
              <a:ext cx="0" cy="24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167" name="Rectangle 52"/>
            <p:cNvSpPr>
              <a:spLocks noChangeArrowheads="1"/>
            </p:cNvSpPr>
            <p:nvPr/>
          </p:nvSpPr>
          <p:spPr bwMode="auto">
            <a:xfrm>
              <a:off x="6976699" y="5730740"/>
              <a:ext cx="274871" cy="24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O1</a:t>
              </a:r>
              <a:endParaRPr lang="en-US" sz="1600"/>
            </a:p>
          </p:txBody>
        </p:sp>
        <p:sp>
          <p:nvSpPr>
            <p:cNvPr id="232" name="Freeform 125"/>
            <p:cNvSpPr>
              <a:spLocks/>
            </p:cNvSpPr>
            <p:nvPr/>
          </p:nvSpPr>
          <p:spPr bwMode="auto">
            <a:xfrm>
              <a:off x="5871396" y="2269853"/>
              <a:ext cx="541152" cy="462767"/>
            </a:xfrm>
            <a:custGeom>
              <a:avLst/>
              <a:gdLst>
                <a:gd name="T0" fmla="*/ 0 w 86"/>
                <a:gd name="T1" fmla="*/ 279 h 76"/>
                <a:gd name="T2" fmla="*/ 179 w 86"/>
                <a:gd name="T3" fmla="*/ 279 h 76"/>
                <a:gd name="T4" fmla="*/ 315 w 86"/>
                <a:gd name="T5" fmla="*/ 140 h 76"/>
                <a:gd name="T6" fmla="*/ 179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33" name="Freeform 126"/>
            <p:cNvSpPr>
              <a:spLocks/>
            </p:cNvSpPr>
            <p:nvPr/>
          </p:nvSpPr>
          <p:spPr bwMode="auto">
            <a:xfrm>
              <a:off x="5871396" y="2769110"/>
              <a:ext cx="541152" cy="456132"/>
            </a:xfrm>
            <a:custGeom>
              <a:avLst/>
              <a:gdLst>
                <a:gd name="T0" fmla="*/ 0 w 86"/>
                <a:gd name="T1" fmla="*/ 275 h 75"/>
                <a:gd name="T2" fmla="*/ 179 w 86"/>
                <a:gd name="T3" fmla="*/ 275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34" name="Freeform 127"/>
            <p:cNvSpPr>
              <a:spLocks/>
            </p:cNvSpPr>
            <p:nvPr/>
          </p:nvSpPr>
          <p:spPr bwMode="auto">
            <a:xfrm>
              <a:off x="5871396" y="3268367"/>
              <a:ext cx="541152" cy="456132"/>
            </a:xfrm>
            <a:custGeom>
              <a:avLst/>
              <a:gdLst>
                <a:gd name="T0" fmla="*/ 0 w 86"/>
                <a:gd name="T1" fmla="*/ 275 h 75"/>
                <a:gd name="T2" fmla="*/ 179 w 86"/>
                <a:gd name="T3" fmla="*/ 275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35" name="Freeform 128"/>
            <p:cNvSpPr>
              <a:spLocks/>
            </p:cNvSpPr>
            <p:nvPr/>
          </p:nvSpPr>
          <p:spPr bwMode="auto">
            <a:xfrm>
              <a:off x="5871396" y="3765965"/>
              <a:ext cx="541152" cy="462767"/>
            </a:xfrm>
            <a:custGeom>
              <a:avLst/>
              <a:gdLst>
                <a:gd name="T0" fmla="*/ 0 w 86"/>
                <a:gd name="T1" fmla="*/ 279 h 76"/>
                <a:gd name="T2" fmla="*/ 179 w 86"/>
                <a:gd name="T3" fmla="*/ 279 h 76"/>
                <a:gd name="T4" fmla="*/ 315 w 86"/>
                <a:gd name="T5" fmla="*/ 140 h 76"/>
                <a:gd name="T6" fmla="*/ 179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36" name="Freeform 129"/>
            <p:cNvSpPr>
              <a:spLocks/>
            </p:cNvSpPr>
            <p:nvPr/>
          </p:nvSpPr>
          <p:spPr bwMode="auto">
            <a:xfrm>
              <a:off x="5871396" y="4265223"/>
              <a:ext cx="541152" cy="457791"/>
            </a:xfrm>
            <a:custGeom>
              <a:avLst/>
              <a:gdLst>
                <a:gd name="T0" fmla="*/ 0 w 86"/>
                <a:gd name="T1" fmla="*/ 276 h 75"/>
                <a:gd name="T2" fmla="*/ 179 w 86"/>
                <a:gd name="T3" fmla="*/ 276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37" name="Freeform 130"/>
            <p:cNvSpPr>
              <a:spLocks/>
            </p:cNvSpPr>
            <p:nvPr/>
          </p:nvSpPr>
          <p:spPr bwMode="auto">
            <a:xfrm>
              <a:off x="5871396" y="4764480"/>
              <a:ext cx="541152" cy="457791"/>
            </a:xfrm>
            <a:custGeom>
              <a:avLst/>
              <a:gdLst>
                <a:gd name="T0" fmla="*/ 0 w 86"/>
                <a:gd name="T1" fmla="*/ 276 h 75"/>
                <a:gd name="T2" fmla="*/ 179 w 86"/>
                <a:gd name="T3" fmla="*/ 276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50" name="Freeform 7"/>
            <p:cNvSpPr>
              <a:spLocks/>
            </p:cNvSpPr>
            <p:nvPr/>
          </p:nvSpPr>
          <p:spPr bwMode="auto">
            <a:xfrm rot="5400000">
              <a:off x="7364927" y="5118062"/>
              <a:ext cx="474152" cy="456132"/>
            </a:xfrm>
            <a:custGeom>
              <a:avLst/>
              <a:gdLst>
                <a:gd name="T0" fmla="*/ 276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6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251" name="Line 18"/>
            <p:cNvSpPr>
              <a:spLocks noChangeShapeType="1"/>
            </p:cNvSpPr>
            <p:nvPr/>
          </p:nvSpPr>
          <p:spPr bwMode="auto">
            <a:xfrm rot="5400000">
              <a:off x="7458396" y="5762698"/>
              <a:ext cx="324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4" name="Rectangle 52"/>
            <p:cNvSpPr>
              <a:spLocks noChangeArrowheads="1"/>
            </p:cNvSpPr>
            <p:nvPr/>
          </p:nvSpPr>
          <p:spPr bwMode="auto">
            <a:xfrm>
              <a:off x="7708467" y="5735503"/>
              <a:ext cx="2741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O2</a:t>
              </a:r>
              <a:endParaRPr lang="en-US" sz="1600"/>
            </a:p>
          </p:txBody>
        </p:sp>
        <p:sp>
          <p:nvSpPr>
            <p:cNvPr id="255" name="Line 13"/>
            <p:cNvSpPr>
              <a:spLocks noChangeShapeType="1"/>
            </p:cNvSpPr>
            <p:nvPr/>
          </p:nvSpPr>
          <p:spPr bwMode="auto">
            <a:xfrm>
              <a:off x="6408000" y="2493199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6" name="Line 13"/>
            <p:cNvSpPr>
              <a:spLocks noChangeShapeType="1"/>
            </p:cNvSpPr>
            <p:nvPr/>
          </p:nvSpPr>
          <p:spPr bwMode="auto">
            <a:xfrm>
              <a:off x="6408000" y="3482498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7" name="Line 13"/>
            <p:cNvSpPr>
              <a:spLocks noChangeShapeType="1"/>
            </p:cNvSpPr>
            <p:nvPr/>
          </p:nvSpPr>
          <p:spPr bwMode="auto">
            <a:xfrm>
              <a:off x="6408000" y="4005199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8" name="Line 13"/>
            <p:cNvSpPr>
              <a:spLocks noChangeShapeType="1"/>
            </p:cNvSpPr>
            <p:nvPr/>
          </p:nvSpPr>
          <p:spPr bwMode="auto">
            <a:xfrm>
              <a:off x="6408000" y="5004000"/>
              <a:ext cx="1620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9" name="Rectangle 49"/>
            <p:cNvSpPr>
              <a:spLocks noChangeArrowheads="1"/>
            </p:cNvSpPr>
            <p:nvPr/>
          </p:nvSpPr>
          <p:spPr bwMode="auto">
            <a:xfrm>
              <a:off x="5181196" y="5467264"/>
              <a:ext cx="66043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PLA IC</a:t>
              </a:r>
              <a:endParaRPr lang="en-US" sz="1600"/>
            </a:p>
          </p:txBody>
        </p:sp>
        <p:sp>
          <p:nvSpPr>
            <p:cNvPr id="260" name="Line 18"/>
            <p:cNvSpPr>
              <a:spLocks noChangeShapeType="1"/>
            </p:cNvSpPr>
            <p:nvPr/>
          </p:nvSpPr>
          <p:spPr bwMode="auto">
            <a:xfrm rot="5400000">
              <a:off x="5373701" y="3564000"/>
              <a:ext cx="3204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61" name="Line 18"/>
            <p:cNvSpPr>
              <a:spLocks noChangeShapeType="1"/>
            </p:cNvSpPr>
            <p:nvPr/>
          </p:nvSpPr>
          <p:spPr bwMode="auto">
            <a:xfrm rot="5400000">
              <a:off x="6019957" y="3564000"/>
              <a:ext cx="3204000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65" name="Line 29"/>
          <p:cNvSpPr>
            <a:spLocks noChangeShapeType="1"/>
          </p:cNvSpPr>
          <p:nvPr/>
        </p:nvSpPr>
        <p:spPr bwMode="auto">
          <a:xfrm>
            <a:off x="5616000" y="2340000"/>
            <a:ext cx="1718" cy="291592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6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B843E9A-D238-4B84-BDDF-316F038653BC}" type="slidenum">
              <a:rPr lang="de-DE" smtClean="0"/>
              <a:t>25</a:t>
            </a:fld>
            <a:endParaRPr lang="de-DE"/>
          </a:p>
        </p:txBody>
      </p:sp>
      <p:sp>
        <p:nvSpPr>
          <p:cNvPr id="54" name="Rectangle 71"/>
          <p:cNvSpPr>
            <a:spLocks noChangeArrowheads="1"/>
          </p:cNvSpPr>
          <p:nvPr/>
        </p:nvSpPr>
        <p:spPr bwMode="auto">
          <a:xfrm>
            <a:off x="7725466" y="283914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7724468" y="3325174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56" name="Rectangle 71"/>
          <p:cNvSpPr>
            <a:spLocks noChangeArrowheads="1"/>
          </p:cNvSpPr>
          <p:nvPr/>
        </p:nvSpPr>
        <p:spPr bwMode="auto">
          <a:xfrm>
            <a:off x="7725466" y="385131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57" name="Rectangle 71"/>
          <p:cNvSpPr>
            <a:spLocks noChangeArrowheads="1"/>
          </p:cNvSpPr>
          <p:nvPr/>
        </p:nvSpPr>
        <p:spPr bwMode="auto">
          <a:xfrm>
            <a:off x="5638093" y="3348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58" name="Rectangle 71"/>
          <p:cNvSpPr>
            <a:spLocks noChangeArrowheads="1"/>
          </p:cNvSpPr>
          <p:nvPr/>
        </p:nvSpPr>
        <p:spPr bwMode="auto">
          <a:xfrm>
            <a:off x="6012000" y="2844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59" name="Rectangle 71"/>
          <p:cNvSpPr>
            <a:spLocks noChangeArrowheads="1"/>
          </p:cNvSpPr>
          <p:nvPr/>
        </p:nvSpPr>
        <p:spPr bwMode="auto">
          <a:xfrm>
            <a:off x="6376847" y="3348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60" name="Rectangle 71"/>
          <p:cNvSpPr>
            <a:spLocks noChangeArrowheads="1"/>
          </p:cNvSpPr>
          <p:nvPr/>
        </p:nvSpPr>
        <p:spPr bwMode="auto">
          <a:xfrm>
            <a:off x="5638093" y="2819804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46151" y="2816625"/>
                <a:ext cx="30068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51" y="2816625"/>
                <a:ext cx="3006849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420" r="-1826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71"/>
          <p:cNvSpPr>
            <a:spLocks noChangeArrowheads="1"/>
          </p:cNvSpPr>
          <p:nvPr/>
        </p:nvSpPr>
        <p:spPr bwMode="auto">
          <a:xfrm>
            <a:off x="5624965" y="3853868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63" name="Rectangle 71"/>
          <p:cNvSpPr>
            <a:spLocks noChangeArrowheads="1"/>
          </p:cNvSpPr>
          <p:nvPr/>
        </p:nvSpPr>
        <p:spPr bwMode="auto">
          <a:xfrm>
            <a:off x="6000723" y="3832796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64" name="Rectangle 71"/>
          <p:cNvSpPr>
            <a:spLocks noChangeArrowheads="1"/>
          </p:cNvSpPr>
          <p:nvPr/>
        </p:nvSpPr>
        <p:spPr bwMode="auto">
          <a:xfrm>
            <a:off x="6247289" y="3853868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791163" y="1855460"/>
                <a:ext cx="3988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163" y="1855460"/>
                <a:ext cx="3988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7438087" y="5694276"/>
                <a:ext cx="3988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087" y="5694276"/>
                <a:ext cx="398891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4674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638"/>
    </mc:Choice>
    <mc:Fallback xmlns="">
      <p:transition spd="slow" advTm="1336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59" grpId="0"/>
      <p:bldP spid="60" grpId="0"/>
      <p:bldP spid="62" grpId="0"/>
      <p:bldP spid="63" grpId="0"/>
      <p:bldP spid="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 Programmable Logic Devices (PLDs)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26</a:t>
            </a:fld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3505907" y="1753711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Digital 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061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PLDs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9958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ASIC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0558" y="3733598"/>
            <a:ext cx="85850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23" y="3733598"/>
            <a:ext cx="913794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3606" y="3733598"/>
            <a:ext cx="91379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FPGA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1083" y="4038196"/>
            <a:ext cx="1522990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Full-Custom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1196" y="4038196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Semi-Custom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402" y="5256588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Standard Cell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4186" y="5256313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Gate Array 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084932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512816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6150277" y="3429000"/>
            <a:ext cx="1620002" cy="608921"/>
            <a:chOff x="6150277" y="3429000"/>
            <a:chExt cx="1620002" cy="608921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>
              <a:off x="6960278" y="2923699"/>
              <a:ext cx="1" cy="162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77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144929" y="4646842"/>
            <a:ext cx="2268001" cy="608921"/>
            <a:chOff x="6150277" y="3429000"/>
            <a:chExt cx="2268001" cy="608921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7284276" y="2588910"/>
              <a:ext cx="1" cy="2268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8418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4135964" y="2362907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514502" y="2520686"/>
            <a:ext cx="4572117" cy="558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2460673" y="3429275"/>
            <a:ext cx="1" cy="306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2514502" y="2285300"/>
            <a:ext cx="1" cy="2592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810502" y="3589598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221419" y="3581299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526020" y="4647392"/>
            <a:ext cx="761497" cy="45662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07627" y="4647392"/>
            <a:ext cx="761495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275440" y="4343069"/>
            <a:ext cx="1" cy="18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1233927" y="3721094"/>
            <a:ext cx="1" cy="15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2010558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9926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329" y="2664685"/>
            <a:ext cx="4188223" cy="27442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32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8"/>
    </mc:Choice>
    <mc:Fallback xmlns="">
      <p:transition spd="slow" advTm="965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245"/>
          <p:cNvSpPr>
            <a:spLocks noChangeArrowheads="1"/>
          </p:cNvSpPr>
          <p:nvPr/>
        </p:nvSpPr>
        <p:spPr bwMode="auto">
          <a:xfrm>
            <a:off x="7885326" y="2130228"/>
            <a:ext cx="1061526" cy="3310688"/>
          </a:xfrm>
          <a:prstGeom prst="rect">
            <a:avLst/>
          </a:prstGeom>
          <a:solidFill>
            <a:srgbClr val="D2FAD7"/>
          </a:solidFill>
          <a:ln w="17463">
            <a:solidFill>
              <a:srgbClr val="0078C1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2.4. Programmable Array Logic (PAL)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872000"/>
            <a:ext cx="5192591" cy="394799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Most basic and least expensive</a:t>
            </a:r>
          </a:p>
          <a:p>
            <a:pPr lvl="1" eaLnBrk="1" hangingPunct="1">
              <a:defRPr/>
            </a:pPr>
            <a:r>
              <a:rPr lang="en-US"/>
              <a:t>Programmable wired </a:t>
            </a:r>
            <a:r>
              <a:rPr lang="en-US">
                <a:solidFill>
                  <a:srgbClr val="0A64B6"/>
                </a:solidFill>
              </a:rPr>
              <a:t>AND</a:t>
            </a:r>
            <a:r>
              <a:rPr lang="en-US">
                <a:solidFill>
                  <a:srgbClr val="0659AD"/>
                </a:solidFill>
              </a:rPr>
              <a:t>-</a:t>
            </a:r>
            <a:r>
              <a:rPr lang="en-US"/>
              <a:t>gates</a:t>
            </a:r>
          </a:p>
          <a:p>
            <a:pPr lvl="1" eaLnBrk="1" hangingPunct="1">
              <a:defRPr/>
            </a:pPr>
            <a:r>
              <a:rPr lang="en-US"/>
              <a:t>Fixed wired </a:t>
            </a:r>
            <a:r>
              <a:rPr lang="en-US">
                <a:solidFill>
                  <a:srgbClr val="00B050"/>
                </a:solidFill>
              </a:rPr>
              <a:t>OR</a:t>
            </a:r>
            <a:r>
              <a:rPr lang="en-US">
                <a:solidFill>
                  <a:srgbClr val="00A747"/>
                </a:solidFill>
              </a:rPr>
              <a:t>-</a:t>
            </a:r>
            <a:r>
              <a:rPr lang="en-US"/>
              <a:t>gates</a:t>
            </a:r>
          </a:p>
          <a:p>
            <a:pPr lvl="0"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Advantages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Simpler fabricate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Better performance</a:t>
            </a:r>
          </a:p>
          <a:p>
            <a:pPr lvl="0"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Drawbacks</a:t>
            </a:r>
          </a:p>
          <a:p>
            <a:pPr lvl="1" eaLnBrk="1" hangingPunct="1">
              <a:defRPr/>
            </a:pPr>
            <a:r>
              <a:rPr lang="en-US">
                <a:solidFill>
                  <a:srgbClr val="000000"/>
                </a:solidFill>
              </a:rPr>
              <a:t>Less flexibility</a:t>
            </a:r>
          </a:p>
          <a:p>
            <a:pPr eaLnBrk="1" hangingPunct="1">
              <a:defRPr/>
            </a:pPr>
            <a:r>
              <a:rPr lang="en-US" b="1"/>
              <a:t>Example</a:t>
            </a:r>
            <a:r>
              <a:rPr lang="en-US"/>
              <a:t>: implementing any 3-input function of up to 3 terms </a:t>
            </a:r>
          </a:p>
          <a:p>
            <a:pPr lvl="0" eaLnBrk="1" hangingPunct="1">
              <a:defRPr/>
            </a:pPr>
            <a:endParaRPr lang="en-US">
              <a:solidFill>
                <a:srgbClr val="0000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/>
          </a:p>
          <a:p>
            <a:pPr lvl="1" eaLnBrk="1" hangingPunct="1">
              <a:lnSpc>
                <a:spcPct val="90000"/>
              </a:lnSpc>
              <a:defRPr/>
            </a:pPr>
            <a:endParaRPr lang="en-US"/>
          </a:p>
          <a:p>
            <a:pPr lvl="1" eaLnBrk="1" hangingPunct="1">
              <a:lnSpc>
                <a:spcPct val="90000"/>
              </a:lnSpc>
              <a:defRPr/>
            </a:pPr>
            <a:endParaRPr lang="en-US"/>
          </a:p>
        </p:txBody>
      </p:sp>
      <p:sp>
        <p:nvSpPr>
          <p:cNvPr id="11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DC36FC50-94E5-4398-AF01-D67150329AAB}" type="slidenum">
              <a:rPr lang="de-DE" smtClean="0"/>
              <a:t>27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1221422" y="5558007"/>
                <a:ext cx="22653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422" y="5558007"/>
                <a:ext cx="2265364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613" r="-2688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Rectangle 181"/>
          <p:cNvSpPr>
            <a:spLocks noChangeArrowheads="1"/>
          </p:cNvSpPr>
          <p:nvPr/>
        </p:nvSpPr>
        <p:spPr bwMode="auto">
          <a:xfrm>
            <a:off x="5638093" y="2130227"/>
            <a:ext cx="2156019" cy="3310689"/>
          </a:xfrm>
          <a:prstGeom prst="rect">
            <a:avLst/>
          </a:prstGeom>
          <a:solidFill>
            <a:srgbClr val="C3D4F5"/>
          </a:solidFill>
          <a:ln w="17463">
            <a:solidFill>
              <a:srgbClr val="0078C1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83" name="Freeform 182"/>
          <p:cNvSpPr>
            <a:spLocks/>
          </p:cNvSpPr>
          <p:nvPr/>
        </p:nvSpPr>
        <p:spPr bwMode="auto">
          <a:xfrm>
            <a:off x="7900624" y="2914774"/>
            <a:ext cx="474152" cy="456132"/>
          </a:xfrm>
          <a:custGeom>
            <a:avLst/>
            <a:gdLst>
              <a:gd name="T0" fmla="*/ 276 w 75"/>
              <a:gd name="T1" fmla="*/ 136 h 75"/>
              <a:gd name="T2" fmla="*/ 0 w 75"/>
              <a:gd name="T3" fmla="*/ 275 h 75"/>
              <a:gd name="T4" fmla="*/ 40 w 75"/>
              <a:gd name="T5" fmla="*/ 139 h 75"/>
              <a:gd name="T6" fmla="*/ 40 w 75"/>
              <a:gd name="T7" fmla="*/ 136 h 75"/>
              <a:gd name="T8" fmla="*/ 0 w 75"/>
              <a:gd name="T9" fmla="*/ 0 h 75"/>
              <a:gd name="T10" fmla="*/ 276 w 75"/>
              <a:gd name="T11" fmla="*/ 136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37"/>
                  <a:pt x="58" y="75"/>
                  <a:pt x="0" y="75"/>
                </a:cubicBezTo>
                <a:cubicBezTo>
                  <a:pt x="0" y="75"/>
                  <a:pt x="11" y="71"/>
                  <a:pt x="11" y="38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4"/>
                  <a:pt x="0" y="0"/>
                  <a:pt x="0" y="0"/>
                </a:cubicBezTo>
                <a:cubicBezTo>
                  <a:pt x="58" y="0"/>
                  <a:pt x="75" y="37"/>
                  <a:pt x="75" y="37"/>
                </a:cubicBez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84" name="Freeform 183"/>
          <p:cNvSpPr>
            <a:spLocks/>
          </p:cNvSpPr>
          <p:nvPr/>
        </p:nvSpPr>
        <p:spPr bwMode="auto">
          <a:xfrm>
            <a:off x="7900624" y="4412546"/>
            <a:ext cx="474152" cy="456132"/>
          </a:xfrm>
          <a:custGeom>
            <a:avLst/>
            <a:gdLst>
              <a:gd name="T0" fmla="*/ 276 w 75"/>
              <a:gd name="T1" fmla="*/ 136 h 75"/>
              <a:gd name="T2" fmla="*/ 0 w 75"/>
              <a:gd name="T3" fmla="*/ 275 h 75"/>
              <a:gd name="T4" fmla="*/ 40 w 75"/>
              <a:gd name="T5" fmla="*/ 139 h 75"/>
              <a:gd name="T6" fmla="*/ 40 w 75"/>
              <a:gd name="T7" fmla="*/ 136 h 75"/>
              <a:gd name="T8" fmla="*/ 0 w 75"/>
              <a:gd name="T9" fmla="*/ 0 h 75"/>
              <a:gd name="T10" fmla="*/ 276 w 75"/>
              <a:gd name="T11" fmla="*/ 136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37"/>
                  <a:pt x="58" y="75"/>
                  <a:pt x="0" y="75"/>
                </a:cubicBezTo>
                <a:cubicBezTo>
                  <a:pt x="0" y="75"/>
                  <a:pt x="11" y="71"/>
                  <a:pt x="11" y="38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4"/>
                  <a:pt x="0" y="0"/>
                  <a:pt x="0" y="0"/>
                </a:cubicBezTo>
                <a:cubicBezTo>
                  <a:pt x="58" y="0"/>
                  <a:pt x="75" y="37"/>
                  <a:pt x="75" y="37"/>
                </a:cubicBez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85" name="Line 12"/>
          <p:cNvSpPr>
            <a:spLocks noChangeShapeType="1"/>
          </p:cNvSpPr>
          <p:nvPr/>
        </p:nvSpPr>
        <p:spPr bwMode="auto">
          <a:xfrm>
            <a:off x="5739452" y="2652706"/>
            <a:ext cx="1412149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86" name="Line 13"/>
          <p:cNvSpPr>
            <a:spLocks noChangeShapeType="1"/>
          </p:cNvSpPr>
          <p:nvPr/>
        </p:nvSpPr>
        <p:spPr bwMode="auto">
          <a:xfrm>
            <a:off x="7699625" y="3145328"/>
            <a:ext cx="271435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87" name="Line 14"/>
          <p:cNvSpPr>
            <a:spLocks noChangeShapeType="1"/>
          </p:cNvSpPr>
          <p:nvPr/>
        </p:nvSpPr>
        <p:spPr bwMode="auto">
          <a:xfrm>
            <a:off x="5744605" y="3145328"/>
            <a:ext cx="1406995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88" name="Line 15"/>
          <p:cNvSpPr>
            <a:spLocks noChangeShapeType="1"/>
          </p:cNvSpPr>
          <p:nvPr/>
        </p:nvSpPr>
        <p:spPr bwMode="auto">
          <a:xfrm>
            <a:off x="5751477" y="3644585"/>
            <a:ext cx="1400124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89" name="Freeform 188"/>
          <p:cNvSpPr>
            <a:spLocks/>
          </p:cNvSpPr>
          <p:nvPr/>
        </p:nvSpPr>
        <p:spPr bwMode="auto">
          <a:xfrm>
            <a:off x="7699625" y="2652706"/>
            <a:ext cx="264563" cy="378175"/>
          </a:xfrm>
          <a:custGeom>
            <a:avLst/>
            <a:gdLst>
              <a:gd name="T0" fmla="*/ 0 w 154"/>
              <a:gd name="T1" fmla="*/ 0 h 228"/>
              <a:gd name="T2" fmla="*/ 62 w 154"/>
              <a:gd name="T3" fmla="*/ 0 h 228"/>
              <a:gd name="T4" fmla="*/ 62 w 154"/>
              <a:gd name="T5" fmla="*/ 228 h 228"/>
              <a:gd name="T6" fmla="*/ 154 w 154"/>
              <a:gd name="T7" fmla="*/ 228 h 22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228"/>
              <a:gd name="T14" fmla="*/ 154 w 154"/>
              <a:gd name="T15" fmla="*/ 228 h 2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228">
                <a:moveTo>
                  <a:pt x="0" y="0"/>
                </a:moveTo>
                <a:lnTo>
                  <a:pt x="62" y="0"/>
                </a:lnTo>
                <a:lnTo>
                  <a:pt x="62" y="228"/>
                </a:lnTo>
                <a:lnTo>
                  <a:pt x="154" y="228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90" name="Freeform 189"/>
          <p:cNvSpPr>
            <a:spLocks/>
          </p:cNvSpPr>
          <p:nvPr/>
        </p:nvSpPr>
        <p:spPr bwMode="auto">
          <a:xfrm>
            <a:off x="7699625" y="3254800"/>
            <a:ext cx="264563" cy="389785"/>
          </a:xfrm>
          <a:custGeom>
            <a:avLst/>
            <a:gdLst>
              <a:gd name="T0" fmla="*/ 0 w 154"/>
              <a:gd name="T1" fmla="*/ 235 h 235"/>
              <a:gd name="T2" fmla="*/ 62 w 154"/>
              <a:gd name="T3" fmla="*/ 235 h 235"/>
              <a:gd name="T4" fmla="*/ 62 w 154"/>
              <a:gd name="T5" fmla="*/ 0 h 235"/>
              <a:gd name="T6" fmla="*/ 154 w 154"/>
              <a:gd name="T7" fmla="*/ 0 h 235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235"/>
              <a:gd name="T14" fmla="*/ 154 w 154"/>
              <a:gd name="T15" fmla="*/ 235 h 2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235">
                <a:moveTo>
                  <a:pt x="0" y="235"/>
                </a:moveTo>
                <a:lnTo>
                  <a:pt x="62" y="235"/>
                </a:lnTo>
                <a:lnTo>
                  <a:pt x="62" y="0"/>
                </a:lnTo>
                <a:lnTo>
                  <a:pt x="154" y="0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91" name="Line 18"/>
          <p:cNvSpPr>
            <a:spLocks noChangeShapeType="1"/>
          </p:cNvSpPr>
          <p:nvPr/>
        </p:nvSpPr>
        <p:spPr bwMode="auto">
          <a:xfrm>
            <a:off x="8374777" y="3145328"/>
            <a:ext cx="434640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2" name="Line 19"/>
          <p:cNvSpPr>
            <a:spLocks noChangeShapeType="1"/>
          </p:cNvSpPr>
          <p:nvPr/>
        </p:nvSpPr>
        <p:spPr bwMode="auto">
          <a:xfrm>
            <a:off x="5739452" y="4150477"/>
            <a:ext cx="1412149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3" name="Line 20"/>
          <p:cNvSpPr>
            <a:spLocks noChangeShapeType="1"/>
          </p:cNvSpPr>
          <p:nvPr/>
        </p:nvSpPr>
        <p:spPr bwMode="auto">
          <a:xfrm>
            <a:off x="7699625" y="4643100"/>
            <a:ext cx="271435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4" name="Line 21"/>
          <p:cNvSpPr>
            <a:spLocks noChangeShapeType="1"/>
          </p:cNvSpPr>
          <p:nvPr/>
        </p:nvSpPr>
        <p:spPr bwMode="auto">
          <a:xfrm>
            <a:off x="5744605" y="4643100"/>
            <a:ext cx="1406995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5" name="Line 22"/>
          <p:cNvSpPr>
            <a:spLocks noChangeShapeType="1"/>
          </p:cNvSpPr>
          <p:nvPr/>
        </p:nvSpPr>
        <p:spPr bwMode="auto">
          <a:xfrm>
            <a:off x="5751477" y="5142357"/>
            <a:ext cx="1400124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6" name="Freeform 195"/>
          <p:cNvSpPr>
            <a:spLocks/>
          </p:cNvSpPr>
          <p:nvPr/>
        </p:nvSpPr>
        <p:spPr bwMode="auto">
          <a:xfrm>
            <a:off x="7699625" y="4150477"/>
            <a:ext cx="264563" cy="376516"/>
          </a:xfrm>
          <a:custGeom>
            <a:avLst/>
            <a:gdLst>
              <a:gd name="T0" fmla="*/ 0 w 154"/>
              <a:gd name="T1" fmla="*/ 0 h 227"/>
              <a:gd name="T2" fmla="*/ 62 w 154"/>
              <a:gd name="T3" fmla="*/ 0 h 227"/>
              <a:gd name="T4" fmla="*/ 62 w 154"/>
              <a:gd name="T5" fmla="*/ 227 h 227"/>
              <a:gd name="T6" fmla="*/ 154 w 154"/>
              <a:gd name="T7" fmla="*/ 227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227"/>
              <a:gd name="T14" fmla="*/ 154 w 154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227">
                <a:moveTo>
                  <a:pt x="0" y="0"/>
                </a:moveTo>
                <a:lnTo>
                  <a:pt x="62" y="0"/>
                </a:lnTo>
                <a:lnTo>
                  <a:pt x="62" y="227"/>
                </a:lnTo>
                <a:lnTo>
                  <a:pt x="154" y="227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97" name="Freeform 196"/>
          <p:cNvSpPr>
            <a:spLocks/>
          </p:cNvSpPr>
          <p:nvPr/>
        </p:nvSpPr>
        <p:spPr bwMode="auto">
          <a:xfrm>
            <a:off x="7699625" y="4752571"/>
            <a:ext cx="264563" cy="389785"/>
          </a:xfrm>
          <a:custGeom>
            <a:avLst/>
            <a:gdLst>
              <a:gd name="T0" fmla="*/ 0 w 154"/>
              <a:gd name="T1" fmla="*/ 235 h 235"/>
              <a:gd name="T2" fmla="*/ 62 w 154"/>
              <a:gd name="T3" fmla="*/ 235 h 235"/>
              <a:gd name="T4" fmla="*/ 62 w 154"/>
              <a:gd name="T5" fmla="*/ 0 h 235"/>
              <a:gd name="T6" fmla="*/ 154 w 154"/>
              <a:gd name="T7" fmla="*/ 0 h 235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235"/>
              <a:gd name="T14" fmla="*/ 154 w 154"/>
              <a:gd name="T15" fmla="*/ 235 h 2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235">
                <a:moveTo>
                  <a:pt x="0" y="235"/>
                </a:moveTo>
                <a:lnTo>
                  <a:pt x="62" y="235"/>
                </a:lnTo>
                <a:lnTo>
                  <a:pt x="62" y="0"/>
                </a:lnTo>
                <a:lnTo>
                  <a:pt x="154" y="0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98" name="Line 25"/>
          <p:cNvSpPr>
            <a:spLocks noChangeShapeType="1"/>
          </p:cNvSpPr>
          <p:nvPr/>
        </p:nvSpPr>
        <p:spPr bwMode="auto">
          <a:xfrm>
            <a:off x="8374777" y="4643100"/>
            <a:ext cx="434640" cy="165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99" name="Line 26"/>
          <p:cNvSpPr>
            <a:spLocks noChangeShapeType="1"/>
          </p:cNvSpPr>
          <p:nvPr/>
        </p:nvSpPr>
        <p:spPr bwMode="auto">
          <a:xfrm>
            <a:off x="6596705" y="2458642"/>
            <a:ext cx="1718" cy="291592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0" name="Line 27"/>
          <p:cNvSpPr>
            <a:spLocks noChangeShapeType="1"/>
          </p:cNvSpPr>
          <p:nvPr/>
        </p:nvSpPr>
        <p:spPr bwMode="auto">
          <a:xfrm>
            <a:off x="6658551" y="1995876"/>
            <a:ext cx="1718" cy="21230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1" name="Line 28"/>
          <p:cNvSpPr>
            <a:spLocks noChangeShapeType="1"/>
          </p:cNvSpPr>
          <p:nvPr/>
        </p:nvSpPr>
        <p:spPr bwMode="auto">
          <a:xfrm>
            <a:off x="6722115" y="2372392"/>
            <a:ext cx="1718" cy="300217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2" name="Line 29"/>
          <p:cNvSpPr>
            <a:spLocks noChangeShapeType="1"/>
          </p:cNvSpPr>
          <p:nvPr/>
        </p:nvSpPr>
        <p:spPr bwMode="auto">
          <a:xfrm>
            <a:off x="6223912" y="2458642"/>
            <a:ext cx="1718" cy="291592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3" name="Line 30"/>
          <p:cNvSpPr>
            <a:spLocks noChangeShapeType="1"/>
          </p:cNvSpPr>
          <p:nvPr/>
        </p:nvSpPr>
        <p:spPr bwMode="auto">
          <a:xfrm>
            <a:off x="6287476" y="1995876"/>
            <a:ext cx="1718" cy="21230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4" name="Line 31"/>
          <p:cNvSpPr>
            <a:spLocks noChangeShapeType="1"/>
          </p:cNvSpPr>
          <p:nvPr/>
        </p:nvSpPr>
        <p:spPr bwMode="auto">
          <a:xfrm>
            <a:off x="6351039" y="2372392"/>
            <a:ext cx="1718" cy="300217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5" name="Line 32"/>
          <p:cNvSpPr>
            <a:spLocks noChangeShapeType="1"/>
          </p:cNvSpPr>
          <p:nvPr/>
        </p:nvSpPr>
        <p:spPr bwMode="auto">
          <a:xfrm>
            <a:off x="5914682" y="1995876"/>
            <a:ext cx="1718" cy="212309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06" name="Line 33"/>
          <p:cNvSpPr>
            <a:spLocks noChangeShapeType="1"/>
          </p:cNvSpPr>
          <p:nvPr/>
        </p:nvSpPr>
        <p:spPr bwMode="auto">
          <a:xfrm>
            <a:off x="5971374" y="2372392"/>
            <a:ext cx="1718" cy="300217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13" name="Freeform 212"/>
          <p:cNvSpPr>
            <a:spLocks/>
          </p:cNvSpPr>
          <p:nvPr/>
        </p:nvSpPr>
        <p:spPr bwMode="auto">
          <a:xfrm>
            <a:off x="6488475" y="2208184"/>
            <a:ext cx="334999" cy="255434"/>
          </a:xfrm>
          <a:custGeom>
            <a:avLst/>
            <a:gdLst>
              <a:gd name="T0" fmla="*/ 0 w 195"/>
              <a:gd name="T1" fmla="*/ 0 h 154"/>
              <a:gd name="T2" fmla="*/ 99 w 195"/>
              <a:gd name="T3" fmla="*/ 154 h 154"/>
              <a:gd name="T4" fmla="*/ 195 w 195"/>
              <a:gd name="T5" fmla="*/ 0 h 154"/>
              <a:gd name="T6" fmla="*/ 0 w 195"/>
              <a:gd name="T7" fmla="*/ 0 h 154"/>
              <a:gd name="T8" fmla="*/ 0 60000 65536"/>
              <a:gd name="T9" fmla="*/ 0 60000 65536"/>
              <a:gd name="T10" fmla="*/ 0 60000 65536"/>
              <a:gd name="T11" fmla="*/ 0 60000 65536"/>
              <a:gd name="T12" fmla="*/ 0 w 195"/>
              <a:gd name="T13" fmla="*/ 0 h 154"/>
              <a:gd name="T14" fmla="*/ 195 w 195"/>
              <a:gd name="T15" fmla="*/ 154 h 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5" h="154">
                <a:moveTo>
                  <a:pt x="0" y="0"/>
                </a:moveTo>
                <a:lnTo>
                  <a:pt x="99" y="154"/>
                </a:lnTo>
                <a:lnTo>
                  <a:pt x="1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4" name="Freeform 213"/>
          <p:cNvSpPr>
            <a:spLocks/>
          </p:cNvSpPr>
          <p:nvPr/>
        </p:nvSpPr>
        <p:spPr bwMode="auto">
          <a:xfrm>
            <a:off x="6117399" y="2208184"/>
            <a:ext cx="333281" cy="255434"/>
          </a:xfrm>
          <a:custGeom>
            <a:avLst/>
            <a:gdLst>
              <a:gd name="T0" fmla="*/ 0 w 194"/>
              <a:gd name="T1" fmla="*/ 0 h 154"/>
              <a:gd name="T2" fmla="*/ 99 w 194"/>
              <a:gd name="T3" fmla="*/ 154 h 154"/>
              <a:gd name="T4" fmla="*/ 194 w 194"/>
              <a:gd name="T5" fmla="*/ 0 h 154"/>
              <a:gd name="T6" fmla="*/ 0 w 194"/>
              <a:gd name="T7" fmla="*/ 0 h 154"/>
              <a:gd name="T8" fmla="*/ 0 60000 65536"/>
              <a:gd name="T9" fmla="*/ 0 60000 65536"/>
              <a:gd name="T10" fmla="*/ 0 60000 65536"/>
              <a:gd name="T11" fmla="*/ 0 60000 65536"/>
              <a:gd name="T12" fmla="*/ 0 w 194"/>
              <a:gd name="T13" fmla="*/ 0 h 154"/>
              <a:gd name="T14" fmla="*/ 194 w 194"/>
              <a:gd name="T15" fmla="*/ 154 h 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" h="154">
                <a:moveTo>
                  <a:pt x="0" y="0"/>
                </a:moveTo>
                <a:lnTo>
                  <a:pt x="99" y="154"/>
                </a:lnTo>
                <a:lnTo>
                  <a:pt x="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5" name="Freeform 214"/>
          <p:cNvSpPr>
            <a:spLocks/>
          </p:cNvSpPr>
          <p:nvPr/>
        </p:nvSpPr>
        <p:spPr bwMode="auto">
          <a:xfrm>
            <a:off x="5744605" y="2208184"/>
            <a:ext cx="334999" cy="255434"/>
          </a:xfrm>
          <a:custGeom>
            <a:avLst/>
            <a:gdLst>
              <a:gd name="T0" fmla="*/ 0 w 195"/>
              <a:gd name="T1" fmla="*/ 0 h 154"/>
              <a:gd name="T2" fmla="*/ 96 w 195"/>
              <a:gd name="T3" fmla="*/ 154 h 154"/>
              <a:gd name="T4" fmla="*/ 195 w 195"/>
              <a:gd name="T5" fmla="*/ 0 h 154"/>
              <a:gd name="T6" fmla="*/ 0 w 195"/>
              <a:gd name="T7" fmla="*/ 0 h 154"/>
              <a:gd name="T8" fmla="*/ 0 60000 65536"/>
              <a:gd name="T9" fmla="*/ 0 60000 65536"/>
              <a:gd name="T10" fmla="*/ 0 60000 65536"/>
              <a:gd name="T11" fmla="*/ 0 60000 65536"/>
              <a:gd name="T12" fmla="*/ 0 w 195"/>
              <a:gd name="T13" fmla="*/ 0 h 154"/>
              <a:gd name="T14" fmla="*/ 195 w 195"/>
              <a:gd name="T15" fmla="*/ 154 h 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5" h="154">
                <a:moveTo>
                  <a:pt x="0" y="0"/>
                </a:moveTo>
                <a:lnTo>
                  <a:pt x="96" y="154"/>
                </a:lnTo>
                <a:lnTo>
                  <a:pt x="1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6" name="Oval 215"/>
          <p:cNvSpPr>
            <a:spLocks noChangeArrowheads="1"/>
          </p:cNvSpPr>
          <p:nvPr/>
        </p:nvSpPr>
        <p:spPr bwMode="auto">
          <a:xfrm>
            <a:off x="6564064" y="2408882"/>
            <a:ext cx="63564" cy="680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7" name="Oval 216"/>
          <p:cNvSpPr>
            <a:spLocks noChangeArrowheads="1"/>
          </p:cNvSpPr>
          <p:nvPr/>
        </p:nvSpPr>
        <p:spPr bwMode="auto">
          <a:xfrm>
            <a:off x="6186117" y="2415517"/>
            <a:ext cx="70436" cy="663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8" name="Oval 217"/>
          <p:cNvSpPr>
            <a:spLocks noChangeArrowheads="1"/>
          </p:cNvSpPr>
          <p:nvPr/>
        </p:nvSpPr>
        <p:spPr bwMode="auto">
          <a:xfrm>
            <a:off x="5815041" y="2415517"/>
            <a:ext cx="68718" cy="663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19" name="Rectangle 218"/>
          <p:cNvSpPr>
            <a:spLocks noChangeArrowheads="1"/>
          </p:cNvSpPr>
          <p:nvPr/>
        </p:nvSpPr>
        <p:spPr bwMode="auto">
          <a:xfrm>
            <a:off x="6988396" y="5484041"/>
            <a:ext cx="0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0" name="Rectangle 48"/>
          <p:cNvSpPr>
            <a:spLocks noChangeArrowheads="1"/>
          </p:cNvSpPr>
          <p:nvPr/>
        </p:nvSpPr>
        <p:spPr bwMode="auto">
          <a:xfrm>
            <a:off x="7167062" y="5484041"/>
            <a:ext cx="0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1" name="Rectangle 49"/>
          <p:cNvSpPr>
            <a:spLocks noChangeArrowheads="1"/>
          </p:cNvSpPr>
          <p:nvPr/>
        </p:nvSpPr>
        <p:spPr bwMode="auto">
          <a:xfrm>
            <a:off x="6564064" y="5489282"/>
            <a:ext cx="396845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Helvetica" panose="020B0604020202020204" pitchFamily="34" charset="0"/>
              </a:rPr>
              <a:t>PLD</a:t>
            </a:r>
            <a:endParaRPr lang="en-US" sz="1600"/>
          </a:p>
        </p:txBody>
      </p:sp>
      <p:sp>
        <p:nvSpPr>
          <p:cNvPr id="222" name="Rectangle 51"/>
          <p:cNvSpPr>
            <a:spLocks noChangeArrowheads="1"/>
          </p:cNvSpPr>
          <p:nvPr/>
        </p:nvSpPr>
        <p:spPr bwMode="auto">
          <a:xfrm>
            <a:off x="8330082" y="5489282"/>
            <a:ext cx="204435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Helvetica" panose="020B0604020202020204" pitchFamily="34" charset="0"/>
              </a:rPr>
              <a:t>IC</a:t>
            </a:r>
            <a:endParaRPr lang="en-US" sz="1600"/>
          </a:p>
        </p:txBody>
      </p:sp>
      <p:sp>
        <p:nvSpPr>
          <p:cNvPr id="223" name="Rectangle 52"/>
          <p:cNvSpPr>
            <a:spLocks noChangeArrowheads="1"/>
          </p:cNvSpPr>
          <p:nvPr/>
        </p:nvSpPr>
        <p:spPr bwMode="auto">
          <a:xfrm>
            <a:off x="8641058" y="2911457"/>
            <a:ext cx="274871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Helvetica" panose="020B0604020202020204" pitchFamily="34" charset="0"/>
              </a:rPr>
              <a:t>O1</a:t>
            </a:r>
            <a:endParaRPr lang="en-US" sz="1600"/>
          </a:p>
        </p:txBody>
      </p:sp>
      <p:sp>
        <p:nvSpPr>
          <p:cNvPr id="224" name="Rectangle 53"/>
          <p:cNvSpPr>
            <a:spLocks noChangeArrowheads="1"/>
          </p:cNvSpPr>
          <p:nvPr/>
        </p:nvSpPr>
        <p:spPr bwMode="auto">
          <a:xfrm>
            <a:off x="8641058" y="4395959"/>
            <a:ext cx="274871" cy="24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Helvetica" panose="020B0604020202020204" pitchFamily="34" charset="0"/>
              </a:rPr>
              <a:t>O2</a:t>
            </a:r>
            <a:endParaRPr lang="en-US" sz="1600"/>
          </a:p>
        </p:txBody>
      </p:sp>
      <p:sp>
        <p:nvSpPr>
          <p:cNvPr id="225" name="Freeform 125"/>
          <p:cNvSpPr>
            <a:spLocks/>
          </p:cNvSpPr>
          <p:nvPr/>
        </p:nvSpPr>
        <p:spPr bwMode="auto">
          <a:xfrm>
            <a:off x="7151601" y="2422152"/>
            <a:ext cx="541152" cy="462767"/>
          </a:xfrm>
          <a:custGeom>
            <a:avLst/>
            <a:gdLst>
              <a:gd name="T0" fmla="*/ 0 w 86"/>
              <a:gd name="T1" fmla="*/ 279 h 76"/>
              <a:gd name="T2" fmla="*/ 179 w 86"/>
              <a:gd name="T3" fmla="*/ 279 h 76"/>
              <a:gd name="T4" fmla="*/ 315 w 86"/>
              <a:gd name="T5" fmla="*/ 140 h 76"/>
              <a:gd name="T6" fmla="*/ 179 w 86"/>
              <a:gd name="T7" fmla="*/ 0 h 76"/>
              <a:gd name="T8" fmla="*/ 0 w 86"/>
              <a:gd name="T9" fmla="*/ 0 h 76"/>
              <a:gd name="T10" fmla="*/ 0 w 86"/>
              <a:gd name="T11" fmla="*/ 279 h 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6"/>
              <a:gd name="T20" fmla="*/ 86 w 86"/>
              <a:gd name="T21" fmla="*/ 76 h 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6">
                <a:moveTo>
                  <a:pt x="0" y="76"/>
                </a:moveTo>
                <a:cubicBezTo>
                  <a:pt x="49" y="76"/>
                  <a:pt x="49" y="76"/>
                  <a:pt x="49" y="76"/>
                </a:cubicBezTo>
                <a:cubicBezTo>
                  <a:pt x="69" y="76"/>
                  <a:pt x="86" y="59"/>
                  <a:pt x="86" y="38"/>
                </a:cubicBezTo>
                <a:cubicBezTo>
                  <a:pt x="86" y="17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6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6" name="Freeform 126"/>
          <p:cNvSpPr>
            <a:spLocks/>
          </p:cNvSpPr>
          <p:nvPr/>
        </p:nvSpPr>
        <p:spPr bwMode="auto">
          <a:xfrm>
            <a:off x="7151601" y="2921409"/>
            <a:ext cx="541152" cy="456132"/>
          </a:xfrm>
          <a:custGeom>
            <a:avLst/>
            <a:gdLst>
              <a:gd name="T0" fmla="*/ 0 w 86"/>
              <a:gd name="T1" fmla="*/ 275 h 75"/>
              <a:gd name="T2" fmla="*/ 179 w 86"/>
              <a:gd name="T3" fmla="*/ 275 h 75"/>
              <a:gd name="T4" fmla="*/ 315 w 86"/>
              <a:gd name="T5" fmla="*/ 136 h 75"/>
              <a:gd name="T6" fmla="*/ 179 w 86"/>
              <a:gd name="T7" fmla="*/ 0 h 75"/>
              <a:gd name="T8" fmla="*/ 0 w 86"/>
              <a:gd name="T9" fmla="*/ 0 h 75"/>
              <a:gd name="T10" fmla="*/ 0 w 86"/>
              <a:gd name="T11" fmla="*/ 275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5"/>
              <a:gd name="T20" fmla="*/ 86 w 86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5">
                <a:moveTo>
                  <a:pt x="0" y="75"/>
                </a:moveTo>
                <a:cubicBezTo>
                  <a:pt x="49" y="75"/>
                  <a:pt x="49" y="75"/>
                  <a:pt x="49" y="75"/>
                </a:cubicBezTo>
                <a:cubicBezTo>
                  <a:pt x="69" y="75"/>
                  <a:pt x="86" y="58"/>
                  <a:pt x="86" y="37"/>
                </a:cubicBezTo>
                <a:cubicBezTo>
                  <a:pt x="86" y="16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5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7" name="Freeform 127"/>
          <p:cNvSpPr>
            <a:spLocks/>
          </p:cNvSpPr>
          <p:nvPr/>
        </p:nvSpPr>
        <p:spPr bwMode="auto">
          <a:xfrm>
            <a:off x="7151601" y="3420666"/>
            <a:ext cx="541152" cy="456132"/>
          </a:xfrm>
          <a:custGeom>
            <a:avLst/>
            <a:gdLst>
              <a:gd name="T0" fmla="*/ 0 w 86"/>
              <a:gd name="T1" fmla="*/ 275 h 75"/>
              <a:gd name="T2" fmla="*/ 179 w 86"/>
              <a:gd name="T3" fmla="*/ 275 h 75"/>
              <a:gd name="T4" fmla="*/ 315 w 86"/>
              <a:gd name="T5" fmla="*/ 136 h 75"/>
              <a:gd name="T6" fmla="*/ 179 w 86"/>
              <a:gd name="T7" fmla="*/ 0 h 75"/>
              <a:gd name="T8" fmla="*/ 0 w 86"/>
              <a:gd name="T9" fmla="*/ 0 h 75"/>
              <a:gd name="T10" fmla="*/ 0 w 86"/>
              <a:gd name="T11" fmla="*/ 275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5"/>
              <a:gd name="T20" fmla="*/ 86 w 86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5">
                <a:moveTo>
                  <a:pt x="0" y="75"/>
                </a:moveTo>
                <a:cubicBezTo>
                  <a:pt x="49" y="75"/>
                  <a:pt x="49" y="75"/>
                  <a:pt x="49" y="75"/>
                </a:cubicBezTo>
                <a:cubicBezTo>
                  <a:pt x="69" y="75"/>
                  <a:pt x="86" y="58"/>
                  <a:pt x="86" y="37"/>
                </a:cubicBezTo>
                <a:cubicBezTo>
                  <a:pt x="86" y="16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5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8" name="Freeform 128"/>
          <p:cNvSpPr>
            <a:spLocks/>
          </p:cNvSpPr>
          <p:nvPr/>
        </p:nvSpPr>
        <p:spPr bwMode="auto">
          <a:xfrm>
            <a:off x="7151601" y="3918264"/>
            <a:ext cx="541152" cy="462767"/>
          </a:xfrm>
          <a:custGeom>
            <a:avLst/>
            <a:gdLst>
              <a:gd name="T0" fmla="*/ 0 w 86"/>
              <a:gd name="T1" fmla="*/ 279 h 76"/>
              <a:gd name="T2" fmla="*/ 179 w 86"/>
              <a:gd name="T3" fmla="*/ 279 h 76"/>
              <a:gd name="T4" fmla="*/ 315 w 86"/>
              <a:gd name="T5" fmla="*/ 140 h 76"/>
              <a:gd name="T6" fmla="*/ 179 w 86"/>
              <a:gd name="T7" fmla="*/ 0 h 76"/>
              <a:gd name="T8" fmla="*/ 0 w 86"/>
              <a:gd name="T9" fmla="*/ 0 h 76"/>
              <a:gd name="T10" fmla="*/ 0 w 86"/>
              <a:gd name="T11" fmla="*/ 279 h 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6"/>
              <a:gd name="T20" fmla="*/ 86 w 86"/>
              <a:gd name="T21" fmla="*/ 76 h 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6">
                <a:moveTo>
                  <a:pt x="0" y="76"/>
                </a:moveTo>
                <a:cubicBezTo>
                  <a:pt x="49" y="76"/>
                  <a:pt x="49" y="76"/>
                  <a:pt x="49" y="76"/>
                </a:cubicBezTo>
                <a:cubicBezTo>
                  <a:pt x="69" y="76"/>
                  <a:pt x="86" y="59"/>
                  <a:pt x="86" y="38"/>
                </a:cubicBezTo>
                <a:cubicBezTo>
                  <a:pt x="86" y="17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6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29" name="Freeform 129"/>
          <p:cNvSpPr>
            <a:spLocks/>
          </p:cNvSpPr>
          <p:nvPr/>
        </p:nvSpPr>
        <p:spPr bwMode="auto">
          <a:xfrm>
            <a:off x="7151601" y="4417522"/>
            <a:ext cx="541152" cy="457791"/>
          </a:xfrm>
          <a:custGeom>
            <a:avLst/>
            <a:gdLst>
              <a:gd name="T0" fmla="*/ 0 w 86"/>
              <a:gd name="T1" fmla="*/ 276 h 75"/>
              <a:gd name="T2" fmla="*/ 179 w 86"/>
              <a:gd name="T3" fmla="*/ 276 h 75"/>
              <a:gd name="T4" fmla="*/ 315 w 86"/>
              <a:gd name="T5" fmla="*/ 136 h 75"/>
              <a:gd name="T6" fmla="*/ 179 w 86"/>
              <a:gd name="T7" fmla="*/ 0 h 75"/>
              <a:gd name="T8" fmla="*/ 0 w 86"/>
              <a:gd name="T9" fmla="*/ 0 h 75"/>
              <a:gd name="T10" fmla="*/ 0 w 86"/>
              <a:gd name="T11" fmla="*/ 276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5"/>
              <a:gd name="T20" fmla="*/ 86 w 86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5">
                <a:moveTo>
                  <a:pt x="0" y="75"/>
                </a:moveTo>
                <a:cubicBezTo>
                  <a:pt x="49" y="75"/>
                  <a:pt x="49" y="75"/>
                  <a:pt x="49" y="75"/>
                </a:cubicBezTo>
                <a:cubicBezTo>
                  <a:pt x="69" y="75"/>
                  <a:pt x="86" y="58"/>
                  <a:pt x="86" y="37"/>
                </a:cubicBezTo>
                <a:cubicBezTo>
                  <a:pt x="86" y="16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5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30" name="Freeform 130"/>
          <p:cNvSpPr>
            <a:spLocks/>
          </p:cNvSpPr>
          <p:nvPr/>
        </p:nvSpPr>
        <p:spPr bwMode="auto">
          <a:xfrm>
            <a:off x="7151601" y="4916779"/>
            <a:ext cx="541152" cy="457791"/>
          </a:xfrm>
          <a:custGeom>
            <a:avLst/>
            <a:gdLst>
              <a:gd name="T0" fmla="*/ 0 w 86"/>
              <a:gd name="T1" fmla="*/ 276 h 75"/>
              <a:gd name="T2" fmla="*/ 179 w 86"/>
              <a:gd name="T3" fmla="*/ 276 h 75"/>
              <a:gd name="T4" fmla="*/ 315 w 86"/>
              <a:gd name="T5" fmla="*/ 136 h 75"/>
              <a:gd name="T6" fmla="*/ 179 w 86"/>
              <a:gd name="T7" fmla="*/ 0 h 75"/>
              <a:gd name="T8" fmla="*/ 0 w 86"/>
              <a:gd name="T9" fmla="*/ 0 h 75"/>
              <a:gd name="T10" fmla="*/ 0 w 86"/>
              <a:gd name="T11" fmla="*/ 276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"/>
              <a:gd name="T19" fmla="*/ 0 h 75"/>
              <a:gd name="T20" fmla="*/ 86 w 86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" h="75">
                <a:moveTo>
                  <a:pt x="0" y="75"/>
                </a:moveTo>
                <a:cubicBezTo>
                  <a:pt x="49" y="75"/>
                  <a:pt x="49" y="75"/>
                  <a:pt x="49" y="75"/>
                </a:cubicBezTo>
                <a:cubicBezTo>
                  <a:pt x="69" y="75"/>
                  <a:pt x="86" y="58"/>
                  <a:pt x="86" y="37"/>
                </a:cubicBezTo>
                <a:cubicBezTo>
                  <a:pt x="86" y="16"/>
                  <a:pt x="69" y="0"/>
                  <a:pt x="49" y="0"/>
                </a:cubicBezTo>
                <a:cubicBezTo>
                  <a:pt x="0" y="0"/>
                  <a:pt x="0" y="0"/>
                  <a:pt x="0" y="0"/>
                </a:cubicBezTo>
                <a:lnTo>
                  <a:pt x="0" y="75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31" name="Line 73"/>
          <p:cNvSpPr>
            <a:spLocks noChangeShapeType="1"/>
          </p:cNvSpPr>
          <p:nvPr/>
        </p:nvSpPr>
        <p:spPr bwMode="auto">
          <a:xfrm>
            <a:off x="5826166" y="2466842"/>
            <a:ext cx="1718" cy="291592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33" name="Rectangle 71"/>
          <p:cNvSpPr>
            <a:spLocks noChangeArrowheads="1"/>
          </p:cNvSpPr>
          <p:nvPr/>
        </p:nvSpPr>
        <p:spPr bwMode="auto">
          <a:xfrm>
            <a:off x="6294166" y="3474842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34" name="Line 42"/>
          <p:cNvSpPr>
            <a:spLocks noChangeShapeType="1"/>
          </p:cNvSpPr>
          <p:nvPr/>
        </p:nvSpPr>
        <p:spPr bwMode="auto">
          <a:xfrm flipH="1">
            <a:off x="6928237" y="2058005"/>
            <a:ext cx="183158" cy="377657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35" name="Freeform 43"/>
          <p:cNvSpPr>
            <a:spLocks/>
          </p:cNvSpPr>
          <p:nvPr/>
        </p:nvSpPr>
        <p:spPr bwMode="auto">
          <a:xfrm>
            <a:off x="6856485" y="2388455"/>
            <a:ext cx="124623" cy="190716"/>
          </a:xfrm>
          <a:custGeom>
            <a:avLst/>
            <a:gdLst>
              <a:gd name="T0" fmla="*/ 0 w 66"/>
              <a:gd name="T1" fmla="*/ 160337 h 101"/>
              <a:gd name="T2" fmla="*/ 104775 w 66"/>
              <a:gd name="T3" fmla="*/ 34925 h 101"/>
              <a:gd name="T4" fmla="*/ 34925 w 66"/>
              <a:gd name="T5" fmla="*/ 0 h 101"/>
              <a:gd name="T6" fmla="*/ 0 w 66"/>
              <a:gd name="T7" fmla="*/ 160337 h 101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101"/>
              <a:gd name="T14" fmla="*/ 66 w 66"/>
              <a:gd name="T15" fmla="*/ 101 h 1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101">
                <a:moveTo>
                  <a:pt x="0" y="101"/>
                </a:moveTo>
                <a:lnTo>
                  <a:pt x="66" y="22"/>
                </a:lnTo>
                <a:lnTo>
                  <a:pt x="22" y="0"/>
                </a:lnTo>
                <a:lnTo>
                  <a:pt x="0" y="10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36" name="Rectangle 82"/>
          <p:cNvSpPr>
            <a:spLocks noChangeArrowheads="1"/>
          </p:cNvSpPr>
          <p:nvPr/>
        </p:nvSpPr>
        <p:spPr bwMode="auto">
          <a:xfrm>
            <a:off x="7130278" y="1828127"/>
            <a:ext cx="970203" cy="24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000000"/>
                </a:solidFill>
                <a:latin typeface="Helvetica" panose="020B0604020202020204" pitchFamily="34" charset="0"/>
              </a:rPr>
              <a:t>wired AND</a:t>
            </a:r>
            <a:endParaRPr lang="en-US" sz="1600"/>
          </a:p>
        </p:txBody>
      </p:sp>
      <p:sp>
        <p:nvSpPr>
          <p:cNvPr id="237" name="Rectangle 71"/>
          <p:cNvSpPr>
            <a:spLocks noChangeArrowheads="1"/>
          </p:cNvSpPr>
          <p:nvPr/>
        </p:nvSpPr>
        <p:spPr bwMode="auto">
          <a:xfrm>
            <a:off x="6511857" y="298112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39" name="Rectangle 71"/>
          <p:cNvSpPr>
            <a:spLocks noChangeArrowheads="1"/>
          </p:cNvSpPr>
          <p:nvPr/>
        </p:nvSpPr>
        <p:spPr bwMode="auto">
          <a:xfrm>
            <a:off x="5905424" y="3481243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41" name="Rectangle 35"/>
          <p:cNvSpPr>
            <a:spLocks noChangeArrowheads="1"/>
          </p:cNvSpPr>
          <p:nvPr/>
        </p:nvSpPr>
        <p:spPr bwMode="auto">
          <a:xfrm>
            <a:off x="6490576" y="1753711"/>
            <a:ext cx="1939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r>
              <a:rPr lang="en-US" sz="160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endParaRPr lang="en-US" sz="16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42" name="Rectangle 36"/>
          <p:cNvSpPr>
            <a:spLocks noChangeArrowheads="1"/>
          </p:cNvSpPr>
          <p:nvPr/>
        </p:nvSpPr>
        <p:spPr bwMode="auto">
          <a:xfrm>
            <a:off x="6094990" y="1760346"/>
            <a:ext cx="1939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r>
              <a:rPr lang="en-US" sz="160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</a:p>
        </p:txBody>
      </p:sp>
      <p:sp>
        <p:nvSpPr>
          <p:cNvPr id="243" name="Rectangle 39"/>
          <p:cNvSpPr>
            <a:spLocks noChangeArrowheads="1"/>
          </p:cNvSpPr>
          <p:nvPr/>
        </p:nvSpPr>
        <p:spPr bwMode="auto">
          <a:xfrm>
            <a:off x="5741553" y="1753711"/>
            <a:ext cx="1939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000000"/>
                </a:solidFill>
                <a:latin typeface="Times" panose="02020603050405020304" pitchFamily="18" charset="0"/>
              </a:rPr>
              <a:t>x</a:t>
            </a:r>
            <a:r>
              <a:rPr lang="en-US" sz="160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endParaRPr lang="en-US" sz="16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44" name="Rectangle 71"/>
          <p:cNvSpPr>
            <a:spLocks noChangeArrowheads="1"/>
          </p:cNvSpPr>
          <p:nvPr/>
        </p:nvSpPr>
        <p:spPr bwMode="auto">
          <a:xfrm>
            <a:off x="6647575" y="3481244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45" name="Rectangle 71"/>
          <p:cNvSpPr>
            <a:spLocks noChangeArrowheads="1"/>
          </p:cNvSpPr>
          <p:nvPr/>
        </p:nvSpPr>
        <p:spPr bwMode="auto">
          <a:xfrm>
            <a:off x="5773909" y="2956145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588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88"/>
    </mc:Choice>
    <mc:Fallback xmlns="">
      <p:transition spd="slow" advTm="731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  <p:bldP spid="237" grpId="0"/>
      <p:bldP spid="239" grpId="0"/>
      <p:bldP spid="244" grpId="0"/>
      <p:bldP spid="2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460800" y="1872000"/>
            <a:ext cx="5192591" cy="3947995"/>
          </a:xfrm>
          <a:prstGeom prst="rect">
            <a:avLst/>
          </a:prstGeom>
        </p:spPr>
        <p:txBody>
          <a:bodyPr/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00B050"/>
              </a:buClr>
              <a:defRPr/>
            </a:pPr>
            <a:r>
              <a:rPr lang="en-US" altLang="en-US"/>
              <a:t>Extra circuitry added to output of OR-gate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kern="0"/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1733007" y="2551808"/>
            <a:ext cx="5783743" cy="3466275"/>
            <a:chOff x="962025" y="898525"/>
            <a:chExt cx="7610187" cy="4560888"/>
          </a:xfrm>
        </p:grpSpPr>
        <p:sp>
          <p:nvSpPr>
            <p:cNvPr id="30760" name="Freeform 40"/>
            <p:cNvSpPr>
              <a:spLocks/>
            </p:cNvSpPr>
            <p:nvPr/>
          </p:nvSpPr>
          <p:spPr bwMode="auto">
            <a:xfrm>
              <a:off x="5248275" y="5060950"/>
              <a:ext cx="398463" cy="398463"/>
            </a:xfrm>
            <a:custGeom>
              <a:avLst/>
              <a:gdLst>
                <a:gd name="T0" fmla="*/ 0 w 503"/>
                <a:gd name="T1" fmla="*/ 251 h 502"/>
                <a:gd name="T2" fmla="*/ 503 w 503"/>
                <a:gd name="T3" fmla="*/ 0 h 502"/>
                <a:gd name="T4" fmla="*/ 503 w 503"/>
                <a:gd name="T5" fmla="*/ 502 h 502"/>
                <a:gd name="T6" fmla="*/ 0 w 503"/>
                <a:gd name="T7" fmla="*/ 251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3" h="502">
                  <a:moveTo>
                    <a:pt x="0" y="251"/>
                  </a:moveTo>
                  <a:lnTo>
                    <a:pt x="503" y="0"/>
                  </a:lnTo>
                  <a:lnTo>
                    <a:pt x="503" y="502"/>
                  </a:lnTo>
                  <a:lnTo>
                    <a:pt x="0" y="251"/>
                  </a:lnTo>
                  <a:close/>
                </a:path>
              </a:pathLst>
            </a:custGeom>
            <a:noFill/>
            <a:ln w="23813">
              <a:solidFill>
                <a:srgbClr val="0078C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962025" y="898525"/>
              <a:ext cx="7610187" cy="4416425"/>
              <a:chOff x="962025" y="898525"/>
              <a:chExt cx="7610187" cy="4416425"/>
            </a:xfrm>
          </p:grpSpPr>
          <p:sp>
            <p:nvSpPr>
              <p:cNvPr id="30724" name="Rectangle 4"/>
              <p:cNvSpPr>
                <a:spLocks noChangeArrowheads="1"/>
              </p:cNvSpPr>
              <p:nvPr/>
            </p:nvSpPr>
            <p:spPr bwMode="auto">
              <a:xfrm>
                <a:off x="8228863" y="1703388"/>
                <a:ext cx="286853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 i="1">
                    <a:solidFill>
                      <a:srgbClr val="000000"/>
                    </a:solidFill>
                    <a:latin typeface="Times-Roman" charset="0"/>
                  </a:rPr>
                  <a:t>O</a:t>
                </a:r>
                <a:r>
                  <a:rPr lang="en-US" altLang="en-US" sz="1600" b="1">
                    <a:solidFill>
                      <a:srgbClr val="000000"/>
                    </a:solidFill>
                    <a:latin typeface="System"/>
                  </a:rPr>
                  <a:t> </a:t>
                </a:r>
                <a:endParaRPr lang="en-US" altLang="en-US" sz="1600"/>
              </a:p>
            </p:txBody>
          </p:sp>
          <p:sp>
            <p:nvSpPr>
              <p:cNvPr id="30725" name="Line 5"/>
              <p:cNvSpPr>
                <a:spLocks noChangeShapeType="1"/>
              </p:cNvSpPr>
              <p:nvPr/>
            </p:nvSpPr>
            <p:spPr bwMode="auto">
              <a:xfrm flipH="1">
                <a:off x="962025" y="2320925"/>
                <a:ext cx="447675" cy="158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26" name="Line 6"/>
              <p:cNvSpPr>
                <a:spLocks noChangeShapeType="1"/>
              </p:cNvSpPr>
              <p:nvPr/>
            </p:nvSpPr>
            <p:spPr bwMode="auto">
              <a:xfrm flipH="1">
                <a:off x="962025" y="3243263"/>
                <a:ext cx="447675" cy="158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27" name="Rectangle 7"/>
              <p:cNvSpPr>
                <a:spLocks noChangeArrowheads="1"/>
              </p:cNvSpPr>
              <p:nvPr/>
            </p:nvSpPr>
            <p:spPr bwMode="auto">
              <a:xfrm>
                <a:off x="8403475" y="1854200"/>
                <a:ext cx="168737" cy="2429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200">
                    <a:solidFill>
                      <a:srgbClr val="000000"/>
                    </a:solidFill>
                    <a:latin typeface="Times-Roman" charset="0"/>
                  </a:rPr>
                  <a:t>1 </a:t>
                </a:r>
                <a:endParaRPr lang="en-US" altLang="en-US" sz="1200"/>
              </a:p>
            </p:txBody>
          </p:sp>
          <p:sp>
            <p:nvSpPr>
              <p:cNvPr id="30728" name="Freeform 8"/>
              <p:cNvSpPr>
                <a:spLocks/>
              </p:cNvSpPr>
              <p:nvPr/>
            </p:nvSpPr>
            <p:spPr bwMode="auto">
              <a:xfrm>
                <a:off x="1409700" y="2320925"/>
                <a:ext cx="474663" cy="323850"/>
              </a:xfrm>
              <a:custGeom>
                <a:avLst/>
                <a:gdLst>
                  <a:gd name="T0" fmla="*/ 0 w 596"/>
                  <a:gd name="T1" fmla="*/ 0 h 408"/>
                  <a:gd name="T2" fmla="*/ 0 w 596"/>
                  <a:gd name="T3" fmla="*/ 408 h 408"/>
                  <a:gd name="T4" fmla="*/ 596 w 596"/>
                  <a:gd name="T5" fmla="*/ 4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6" h="408">
                    <a:moveTo>
                      <a:pt x="0" y="0"/>
                    </a:moveTo>
                    <a:lnTo>
                      <a:pt x="0" y="408"/>
                    </a:lnTo>
                    <a:lnTo>
                      <a:pt x="596" y="4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29" name="Freeform 9"/>
              <p:cNvSpPr>
                <a:spLocks/>
              </p:cNvSpPr>
              <p:nvPr/>
            </p:nvSpPr>
            <p:spPr bwMode="auto">
              <a:xfrm>
                <a:off x="1409700" y="2919413"/>
                <a:ext cx="474663" cy="323850"/>
              </a:xfrm>
              <a:custGeom>
                <a:avLst/>
                <a:gdLst>
                  <a:gd name="T0" fmla="*/ 0 w 596"/>
                  <a:gd name="T1" fmla="*/ 408 h 408"/>
                  <a:gd name="T2" fmla="*/ 0 w 596"/>
                  <a:gd name="T3" fmla="*/ 0 h 408"/>
                  <a:gd name="T4" fmla="*/ 596 w 596"/>
                  <a:gd name="T5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6" h="408">
                    <a:moveTo>
                      <a:pt x="0" y="408"/>
                    </a:moveTo>
                    <a:lnTo>
                      <a:pt x="0" y="0"/>
                    </a:lnTo>
                    <a:lnTo>
                      <a:pt x="59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0" name="Freeform 10"/>
              <p:cNvSpPr>
                <a:spLocks/>
              </p:cNvSpPr>
              <p:nvPr/>
            </p:nvSpPr>
            <p:spPr bwMode="auto">
              <a:xfrm>
                <a:off x="4102100" y="3392488"/>
                <a:ext cx="173038" cy="174625"/>
              </a:xfrm>
              <a:custGeom>
                <a:avLst/>
                <a:gdLst>
                  <a:gd name="T0" fmla="*/ 0 w 220"/>
                  <a:gd name="T1" fmla="*/ 220 h 220"/>
                  <a:gd name="T2" fmla="*/ 220 w 220"/>
                  <a:gd name="T3" fmla="*/ 126 h 220"/>
                  <a:gd name="T4" fmla="*/ 0 w 220"/>
                  <a:gd name="T5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0" h="220">
                    <a:moveTo>
                      <a:pt x="0" y="220"/>
                    </a:moveTo>
                    <a:lnTo>
                      <a:pt x="220" y="126"/>
                    </a:lnTo>
                    <a:lnTo>
                      <a:pt x="0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1" name="Line 11"/>
              <p:cNvSpPr>
                <a:spLocks noChangeShapeType="1"/>
              </p:cNvSpPr>
              <p:nvPr/>
            </p:nvSpPr>
            <p:spPr bwMode="auto">
              <a:xfrm>
                <a:off x="6319838" y="1898650"/>
                <a:ext cx="796925" cy="1588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2" name="Freeform 12"/>
              <p:cNvSpPr>
                <a:spLocks/>
              </p:cNvSpPr>
              <p:nvPr/>
            </p:nvSpPr>
            <p:spPr bwMode="auto">
              <a:xfrm>
                <a:off x="4973638" y="2073275"/>
                <a:ext cx="996950" cy="696913"/>
              </a:xfrm>
              <a:custGeom>
                <a:avLst/>
                <a:gdLst>
                  <a:gd name="T0" fmla="*/ 1256 w 1256"/>
                  <a:gd name="T1" fmla="*/ 0 h 879"/>
                  <a:gd name="T2" fmla="*/ 471 w 1256"/>
                  <a:gd name="T3" fmla="*/ 0 h 879"/>
                  <a:gd name="T4" fmla="*/ 471 w 1256"/>
                  <a:gd name="T5" fmla="*/ 879 h 879"/>
                  <a:gd name="T6" fmla="*/ 0 w 1256"/>
                  <a:gd name="T7" fmla="*/ 879 h 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6" h="879">
                    <a:moveTo>
                      <a:pt x="1256" y="0"/>
                    </a:moveTo>
                    <a:lnTo>
                      <a:pt x="471" y="0"/>
                    </a:lnTo>
                    <a:lnTo>
                      <a:pt x="471" y="879"/>
                    </a:lnTo>
                    <a:lnTo>
                      <a:pt x="0" y="879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3" name="Freeform 13"/>
              <p:cNvSpPr>
                <a:spLocks/>
              </p:cNvSpPr>
              <p:nvPr/>
            </p:nvSpPr>
            <p:spPr bwMode="auto">
              <a:xfrm>
                <a:off x="3228975" y="1698625"/>
                <a:ext cx="2741613" cy="1071563"/>
              </a:xfrm>
              <a:custGeom>
                <a:avLst/>
                <a:gdLst>
                  <a:gd name="T0" fmla="*/ 0 w 3454"/>
                  <a:gd name="T1" fmla="*/ 1350 h 1350"/>
                  <a:gd name="T2" fmla="*/ 0 w 3454"/>
                  <a:gd name="T3" fmla="*/ 0 h 1350"/>
                  <a:gd name="T4" fmla="*/ 3454 w 3454"/>
                  <a:gd name="T5" fmla="*/ 0 h 1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54" h="1350">
                    <a:moveTo>
                      <a:pt x="0" y="1350"/>
                    </a:moveTo>
                    <a:lnTo>
                      <a:pt x="0" y="0"/>
                    </a:lnTo>
                    <a:lnTo>
                      <a:pt x="3454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4" name="Line 14"/>
              <p:cNvSpPr>
                <a:spLocks noChangeShapeType="1"/>
              </p:cNvSpPr>
              <p:nvPr/>
            </p:nvSpPr>
            <p:spPr bwMode="auto">
              <a:xfrm>
                <a:off x="2581275" y="2770188"/>
                <a:ext cx="1520825" cy="1587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5" name="Line 15"/>
              <p:cNvSpPr>
                <a:spLocks noChangeShapeType="1"/>
              </p:cNvSpPr>
              <p:nvPr/>
            </p:nvSpPr>
            <p:spPr bwMode="auto">
              <a:xfrm flipH="1">
                <a:off x="5646738" y="5260975"/>
                <a:ext cx="1071562" cy="1588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6" name="Freeform 16"/>
              <p:cNvSpPr>
                <a:spLocks/>
              </p:cNvSpPr>
              <p:nvPr/>
            </p:nvSpPr>
            <p:spPr bwMode="auto">
              <a:xfrm>
                <a:off x="2082800" y="5210175"/>
                <a:ext cx="149225" cy="74613"/>
              </a:xfrm>
              <a:custGeom>
                <a:avLst/>
                <a:gdLst>
                  <a:gd name="T0" fmla="*/ 189 w 189"/>
                  <a:gd name="T1" fmla="*/ 0 h 94"/>
                  <a:gd name="T2" fmla="*/ 0 w 189"/>
                  <a:gd name="T3" fmla="*/ 62 h 94"/>
                  <a:gd name="T4" fmla="*/ 189 w 189"/>
                  <a:gd name="T5" fmla="*/ 94 h 94"/>
                  <a:gd name="T6" fmla="*/ 189 w 189"/>
                  <a:gd name="T7" fmla="*/ 62 h 94"/>
                  <a:gd name="T8" fmla="*/ 189 w 189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9" h="94">
                    <a:moveTo>
                      <a:pt x="189" y="0"/>
                    </a:moveTo>
                    <a:lnTo>
                      <a:pt x="0" y="62"/>
                    </a:lnTo>
                    <a:lnTo>
                      <a:pt x="189" y="94"/>
                    </a:lnTo>
                    <a:lnTo>
                      <a:pt x="189" y="6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0078C1"/>
              </a:solidFill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37" name="Line 17"/>
              <p:cNvSpPr>
                <a:spLocks noChangeShapeType="1"/>
              </p:cNvSpPr>
              <p:nvPr/>
            </p:nvSpPr>
            <p:spPr bwMode="auto">
              <a:xfrm>
                <a:off x="2232025" y="5260975"/>
                <a:ext cx="2890838" cy="1588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0" name="Freeform 20"/>
              <p:cNvSpPr>
                <a:spLocks/>
              </p:cNvSpPr>
              <p:nvPr/>
            </p:nvSpPr>
            <p:spPr bwMode="auto">
              <a:xfrm>
                <a:off x="6692899" y="1871999"/>
                <a:ext cx="57600" cy="57600"/>
              </a:xfrm>
              <a:custGeom>
                <a:avLst/>
                <a:gdLst>
                  <a:gd name="T0" fmla="*/ 30 w 63"/>
                  <a:gd name="T1" fmla="*/ 0 h 63"/>
                  <a:gd name="T2" fmla="*/ 25 w 63"/>
                  <a:gd name="T3" fmla="*/ 0 h 63"/>
                  <a:gd name="T4" fmla="*/ 20 w 63"/>
                  <a:gd name="T5" fmla="*/ 2 h 63"/>
                  <a:gd name="T6" fmla="*/ 17 w 63"/>
                  <a:gd name="T7" fmla="*/ 3 h 63"/>
                  <a:gd name="T8" fmla="*/ 13 w 63"/>
                  <a:gd name="T9" fmla="*/ 6 h 63"/>
                  <a:gd name="T10" fmla="*/ 9 w 63"/>
                  <a:gd name="T11" fmla="*/ 9 h 63"/>
                  <a:gd name="T12" fmla="*/ 6 w 63"/>
                  <a:gd name="T13" fmla="*/ 13 h 63"/>
                  <a:gd name="T14" fmla="*/ 3 w 63"/>
                  <a:gd name="T15" fmla="*/ 16 h 63"/>
                  <a:gd name="T16" fmla="*/ 2 w 63"/>
                  <a:gd name="T17" fmla="*/ 20 h 63"/>
                  <a:gd name="T18" fmla="*/ 0 w 63"/>
                  <a:gd name="T19" fmla="*/ 25 h 63"/>
                  <a:gd name="T20" fmla="*/ 0 w 63"/>
                  <a:gd name="T21" fmla="*/ 30 h 63"/>
                  <a:gd name="T22" fmla="*/ 0 w 63"/>
                  <a:gd name="T23" fmla="*/ 33 h 63"/>
                  <a:gd name="T24" fmla="*/ 0 w 63"/>
                  <a:gd name="T25" fmla="*/ 38 h 63"/>
                  <a:gd name="T26" fmla="*/ 2 w 63"/>
                  <a:gd name="T27" fmla="*/ 42 h 63"/>
                  <a:gd name="T28" fmla="*/ 3 w 63"/>
                  <a:gd name="T29" fmla="*/ 47 h 63"/>
                  <a:gd name="T30" fmla="*/ 6 w 63"/>
                  <a:gd name="T31" fmla="*/ 50 h 63"/>
                  <a:gd name="T32" fmla="*/ 9 w 63"/>
                  <a:gd name="T33" fmla="*/ 53 h 63"/>
                  <a:gd name="T34" fmla="*/ 13 w 63"/>
                  <a:gd name="T35" fmla="*/ 56 h 63"/>
                  <a:gd name="T36" fmla="*/ 17 w 63"/>
                  <a:gd name="T37" fmla="*/ 60 h 63"/>
                  <a:gd name="T38" fmla="*/ 20 w 63"/>
                  <a:gd name="T39" fmla="*/ 61 h 63"/>
                  <a:gd name="T40" fmla="*/ 25 w 63"/>
                  <a:gd name="T41" fmla="*/ 63 h 63"/>
                  <a:gd name="T42" fmla="*/ 30 w 63"/>
                  <a:gd name="T43" fmla="*/ 63 h 63"/>
                  <a:gd name="T44" fmla="*/ 33 w 63"/>
                  <a:gd name="T45" fmla="*/ 63 h 63"/>
                  <a:gd name="T46" fmla="*/ 38 w 63"/>
                  <a:gd name="T47" fmla="*/ 63 h 63"/>
                  <a:gd name="T48" fmla="*/ 42 w 63"/>
                  <a:gd name="T49" fmla="*/ 61 h 63"/>
                  <a:gd name="T50" fmla="*/ 47 w 63"/>
                  <a:gd name="T51" fmla="*/ 60 h 63"/>
                  <a:gd name="T52" fmla="*/ 50 w 63"/>
                  <a:gd name="T53" fmla="*/ 56 h 63"/>
                  <a:gd name="T54" fmla="*/ 53 w 63"/>
                  <a:gd name="T55" fmla="*/ 53 h 63"/>
                  <a:gd name="T56" fmla="*/ 57 w 63"/>
                  <a:gd name="T57" fmla="*/ 50 h 63"/>
                  <a:gd name="T58" fmla="*/ 60 w 63"/>
                  <a:gd name="T59" fmla="*/ 47 h 63"/>
                  <a:gd name="T60" fmla="*/ 61 w 63"/>
                  <a:gd name="T61" fmla="*/ 42 h 63"/>
                  <a:gd name="T62" fmla="*/ 63 w 63"/>
                  <a:gd name="T63" fmla="*/ 38 h 63"/>
                  <a:gd name="T64" fmla="*/ 63 w 63"/>
                  <a:gd name="T65" fmla="*/ 33 h 63"/>
                  <a:gd name="T66" fmla="*/ 63 w 63"/>
                  <a:gd name="T67" fmla="*/ 30 h 63"/>
                  <a:gd name="T68" fmla="*/ 63 w 63"/>
                  <a:gd name="T69" fmla="*/ 25 h 63"/>
                  <a:gd name="T70" fmla="*/ 61 w 63"/>
                  <a:gd name="T71" fmla="*/ 20 h 63"/>
                  <a:gd name="T72" fmla="*/ 60 w 63"/>
                  <a:gd name="T73" fmla="*/ 16 h 63"/>
                  <a:gd name="T74" fmla="*/ 57 w 63"/>
                  <a:gd name="T75" fmla="*/ 13 h 63"/>
                  <a:gd name="T76" fmla="*/ 53 w 63"/>
                  <a:gd name="T77" fmla="*/ 9 h 63"/>
                  <a:gd name="T78" fmla="*/ 50 w 63"/>
                  <a:gd name="T79" fmla="*/ 6 h 63"/>
                  <a:gd name="T80" fmla="*/ 47 w 63"/>
                  <a:gd name="T81" fmla="*/ 3 h 63"/>
                  <a:gd name="T82" fmla="*/ 42 w 63"/>
                  <a:gd name="T83" fmla="*/ 2 h 63"/>
                  <a:gd name="T84" fmla="*/ 38 w 63"/>
                  <a:gd name="T85" fmla="*/ 0 h 63"/>
                  <a:gd name="T86" fmla="*/ 33 w 63"/>
                  <a:gd name="T87" fmla="*/ 0 h 63"/>
                  <a:gd name="T88" fmla="*/ 31 w 63"/>
                  <a:gd name="T89" fmla="*/ 3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3" h="63">
                    <a:moveTo>
                      <a:pt x="31" y="31"/>
                    </a:moveTo>
                    <a:lnTo>
                      <a:pt x="31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2"/>
                    </a:lnTo>
                    <a:lnTo>
                      <a:pt x="22" y="2"/>
                    </a:lnTo>
                    <a:lnTo>
                      <a:pt x="20" y="2"/>
                    </a:lnTo>
                    <a:lnTo>
                      <a:pt x="19" y="3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5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4"/>
                    </a:lnTo>
                    <a:lnTo>
                      <a:pt x="5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0" y="33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3" y="44"/>
                    </a:lnTo>
                    <a:lnTo>
                      <a:pt x="3" y="46"/>
                    </a:lnTo>
                    <a:lnTo>
                      <a:pt x="3" y="47"/>
                    </a:lnTo>
                    <a:lnTo>
                      <a:pt x="5" y="47"/>
                    </a:lnTo>
                    <a:lnTo>
                      <a:pt x="6" y="49"/>
                    </a:lnTo>
                    <a:lnTo>
                      <a:pt x="6" y="50"/>
                    </a:lnTo>
                    <a:lnTo>
                      <a:pt x="8" y="52"/>
                    </a:lnTo>
                    <a:lnTo>
                      <a:pt x="8" y="52"/>
                    </a:lnTo>
                    <a:lnTo>
                      <a:pt x="9" y="53"/>
                    </a:lnTo>
                    <a:lnTo>
                      <a:pt x="11" y="55"/>
                    </a:lnTo>
                    <a:lnTo>
                      <a:pt x="11" y="55"/>
                    </a:lnTo>
                    <a:lnTo>
                      <a:pt x="13" y="56"/>
                    </a:lnTo>
                    <a:lnTo>
                      <a:pt x="14" y="58"/>
                    </a:lnTo>
                    <a:lnTo>
                      <a:pt x="16" y="58"/>
                    </a:lnTo>
                    <a:lnTo>
                      <a:pt x="17" y="60"/>
                    </a:lnTo>
                    <a:lnTo>
                      <a:pt x="17" y="60"/>
                    </a:lnTo>
                    <a:lnTo>
                      <a:pt x="19" y="60"/>
                    </a:lnTo>
                    <a:lnTo>
                      <a:pt x="20" y="61"/>
                    </a:lnTo>
                    <a:lnTo>
                      <a:pt x="22" y="61"/>
                    </a:lnTo>
                    <a:lnTo>
                      <a:pt x="24" y="61"/>
                    </a:lnTo>
                    <a:lnTo>
                      <a:pt x="25" y="63"/>
                    </a:lnTo>
                    <a:lnTo>
                      <a:pt x="27" y="63"/>
                    </a:lnTo>
                    <a:lnTo>
                      <a:pt x="28" y="63"/>
                    </a:lnTo>
                    <a:lnTo>
                      <a:pt x="30" y="63"/>
                    </a:lnTo>
                    <a:lnTo>
                      <a:pt x="31" y="63"/>
                    </a:lnTo>
                    <a:lnTo>
                      <a:pt x="31" y="63"/>
                    </a:lnTo>
                    <a:lnTo>
                      <a:pt x="33" y="63"/>
                    </a:lnTo>
                    <a:lnTo>
                      <a:pt x="35" y="63"/>
                    </a:lnTo>
                    <a:lnTo>
                      <a:pt x="36" y="63"/>
                    </a:lnTo>
                    <a:lnTo>
                      <a:pt x="38" y="63"/>
                    </a:lnTo>
                    <a:lnTo>
                      <a:pt x="39" y="61"/>
                    </a:lnTo>
                    <a:lnTo>
                      <a:pt x="41" y="61"/>
                    </a:lnTo>
                    <a:lnTo>
                      <a:pt x="42" y="61"/>
                    </a:lnTo>
                    <a:lnTo>
                      <a:pt x="44" y="60"/>
                    </a:lnTo>
                    <a:lnTo>
                      <a:pt x="46" y="60"/>
                    </a:lnTo>
                    <a:lnTo>
                      <a:pt x="47" y="60"/>
                    </a:lnTo>
                    <a:lnTo>
                      <a:pt x="47" y="58"/>
                    </a:lnTo>
                    <a:lnTo>
                      <a:pt x="49" y="58"/>
                    </a:lnTo>
                    <a:lnTo>
                      <a:pt x="50" y="56"/>
                    </a:lnTo>
                    <a:lnTo>
                      <a:pt x="52" y="55"/>
                    </a:lnTo>
                    <a:lnTo>
                      <a:pt x="53" y="55"/>
                    </a:lnTo>
                    <a:lnTo>
                      <a:pt x="53" y="53"/>
                    </a:lnTo>
                    <a:lnTo>
                      <a:pt x="55" y="52"/>
                    </a:lnTo>
                    <a:lnTo>
                      <a:pt x="57" y="52"/>
                    </a:lnTo>
                    <a:lnTo>
                      <a:pt x="57" y="50"/>
                    </a:lnTo>
                    <a:lnTo>
                      <a:pt x="58" y="49"/>
                    </a:lnTo>
                    <a:lnTo>
                      <a:pt x="58" y="47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1" y="44"/>
                    </a:lnTo>
                    <a:lnTo>
                      <a:pt x="61" y="42"/>
                    </a:lnTo>
                    <a:lnTo>
                      <a:pt x="61" y="41"/>
                    </a:lnTo>
                    <a:lnTo>
                      <a:pt x="61" y="39"/>
                    </a:lnTo>
                    <a:lnTo>
                      <a:pt x="63" y="38"/>
                    </a:lnTo>
                    <a:lnTo>
                      <a:pt x="63" y="36"/>
                    </a:lnTo>
                    <a:lnTo>
                      <a:pt x="63" y="35"/>
                    </a:lnTo>
                    <a:lnTo>
                      <a:pt x="63" y="33"/>
                    </a:lnTo>
                    <a:lnTo>
                      <a:pt x="63" y="31"/>
                    </a:lnTo>
                    <a:lnTo>
                      <a:pt x="63" y="31"/>
                    </a:lnTo>
                    <a:lnTo>
                      <a:pt x="63" y="30"/>
                    </a:lnTo>
                    <a:lnTo>
                      <a:pt x="63" y="28"/>
                    </a:lnTo>
                    <a:lnTo>
                      <a:pt x="63" y="27"/>
                    </a:lnTo>
                    <a:lnTo>
                      <a:pt x="63" y="25"/>
                    </a:lnTo>
                    <a:lnTo>
                      <a:pt x="61" y="24"/>
                    </a:lnTo>
                    <a:lnTo>
                      <a:pt x="61" y="22"/>
                    </a:lnTo>
                    <a:lnTo>
                      <a:pt x="61" y="20"/>
                    </a:lnTo>
                    <a:lnTo>
                      <a:pt x="61" y="19"/>
                    </a:lnTo>
                    <a:lnTo>
                      <a:pt x="60" y="17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8" y="14"/>
                    </a:lnTo>
                    <a:lnTo>
                      <a:pt x="57" y="13"/>
                    </a:lnTo>
                    <a:lnTo>
                      <a:pt x="57" y="11"/>
                    </a:lnTo>
                    <a:lnTo>
                      <a:pt x="55" y="11"/>
                    </a:lnTo>
                    <a:lnTo>
                      <a:pt x="53" y="9"/>
                    </a:lnTo>
                    <a:lnTo>
                      <a:pt x="53" y="8"/>
                    </a:lnTo>
                    <a:lnTo>
                      <a:pt x="52" y="8"/>
                    </a:lnTo>
                    <a:lnTo>
                      <a:pt x="50" y="6"/>
                    </a:lnTo>
                    <a:lnTo>
                      <a:pt x="49" y="5"/>
                    </a:lnTo>
                    <a:lnTo>
                      <a:pt x="47" y="5"/>
                    </a:lnTo>
                    <a:lnTo>
                      <a:pt x="47" y="3"/>
                    </a:lnTo>
                    <a:lnTo>
                      <a:pt x="46" y="3"/>
                    </a:lnTo>
                    <a:lnTo>
                      <a:pt x="44" y="3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39" y="2"/>
                    </a:lnTo>
                    <a:lnTo>
                      <a:pt x="38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31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1" name="Freeform 21"/>
              <p:cNvSpPr>
                <a:spLocks noChangeAspect="1"/>
              </p:cNvSpPr>
              <p:nvPr/>
            </p:nvSpPr>
            <p:spPr bwMode="auto">
              <a:xfrm>
                <a:off x="6678612" y="1871999"/>
                <a:ext cx="60928" cy="60928"/>
              </a:xfrm>
              <a:custGeom>
                <a:avLst/>
                <a:gdLst>
                  <a:gd name="T0" fmla="*/ 35 w 77"/>
                  <a:gd name="T1" fmla="*/ 0 h 77"/>
                  <a:gd name="T2" fmla="*/ 28 w 77"/>
                  <a:gd name="T3" fmla="*/ 2 h 77"/>
                  <a:gd name="T4" fmla="*/ 24 w 77"/>
                  <a:gd name="T5" fmla="*/ 3 h 77"/>
                  <a:gd name="T6" fmla="*/ 19 w 77"/>
                  <a:gd name="T7" fmla="*/ 5 h 77"/>
                  <a:gd name="T8" fmla="*/ 14 w 77"/>
                  <a:gd name="T9" fmla="*/ 8 h 77"/>
                  <a:gd name="T10" fmla="*/ 10 w 77"/>
                  <a:gd name="T11" fmla="*/ 13 h 77"/>
                  <a:gd name="T12" fmla="*/ 6 w 77"/>
                  <a:gd name="T13" fmla="*/ 17 h 77"/>
                  <a:gd name="T14" fmla="*/ 3 w 77"/>
                  <a:gd name="T15" fmla="*/ 22 h 77"/>
                  <a:gd name="T16" fmla="*/ 2 w 77"/>
                  <a:gd name="T17" fmla="*/ 27 h 77"/>
                  <a:gd name="T18" fmla="*/ 0 w 77"/>
                  <a:gd name="T19" fmla="*/ 33 h 77"/>
                  <a:gd name="T20" fmla="*/ 0 w 77"/>
                  <a:gd name="T21" fmla="*/ 38 h 77"/>
                  <a:gd name="T22" fmla="*/ 0 w 77"/>
                  <a:gd name="T23" fmla="*/ 43 h 77"/>
                  <a:gd name="T24" fmla="*/ 2 w 77"/>
                  <a:gd name="T25" fmla="*/ 47 h 77"/>
                  <a:gd name="T26" fmla="*/ 3 w 77"/>
                  <a:gd name="T27" fmla="*/ 54 h 77"/>
                  <a:gd name="T28" fmla="*/ 5 w 77"/>
                  <a:gd name="T29" fmla="*/ 58 h 77"/>
                  <a:gd name="T30" fmla="*/ 8 w 77"/>
                  <a:gd name="T31" fmla="*/ 63 h 77"/>
                  <a:gd name="T32" fmla="*/ 13 w 77"/>
                  <a:gd name="T33" fmla="*/ 66 h 77"/>
                  <a:gd name="T34" fmla="*/ 17 w 77"/>
                  <a:gd name="T35" fmla="*/ 69 h 77"/>
                  <a:gd name="T36" fmla="*/ 22 w 77"/>
                  <a:gd name="T37" fmla="*/ 72 h 77"/>
                  <a:gd name="T38" fmla="*/ 27 w 77"/>
                  <a:gd name="T39" fmla="*/ 75 h 77"/>
                  <a:gd name="T40" fmla="*/ 33 w 77"/>
                  <a:gd name="T41" fmla="*/ 75 h 77"/>
                  <a:gd name="T42" fmla="*/ 38 w 77"/>
                  <a:gd name="T43" fmla="*/ 77 h 77"/>
                  <a:gd name="T44" fmla="*/ 43 w 77"/>
                  <a:gd name="T45" fmla="*/ 75 h 77"/>
                  <a:gd name="T46" fmla="*/ 47 w 77"/>
                  <a:gd name="T47" fmla="*/ 75 h 77"/>
                  <a:gd name="T48" fmla="*/ 54 w 77"/>
                  <a:gd name="T49" fmla="*/ 74 h 77"/>
                  <a:gd name="T50" fmla="*/ 58 w 77"/>
                  <a:gd name="T51" fmla="*/ 71 h 77"/>
                  <a:gd name="T52" fmla="*/ 63 w 77"/>
                  <a:gd name="T53" fmla="*/ 68 h 77"/>
                  <a:gd name="T54" fmla="*/ 66 w 77"/>
                  <a:gd name="T55" fmla="*/ 65 h 77"/>
                  <a:gd name="T56" fmla="*/ 71 w 77"/>
                  <a:gd name="T57" fmla="*/ 60 h 77"/>
                  <a:gd name="T58" fmla="*/ 72 w 77"/>
                  <a:gd name="T59" fmla="*/ 55 h 77"/>
                  <a:gd name="T60" fmla="*/ 76 w 77"/>
                  <a:gd name="T61" fmla="*/ 49 h 77"/>
                  <a:gd name="T62" fmla="*/ 76 w 77"/>
                  <a:gd name="T63" fmla="*/ 44 h 77"/>
                  <a:gd name="T64" fmla="*/ 77 w 77"/>
                  <a:gd name="T65" fmla="*/ 38 h 77"/>
                  <a:gd name="T66" fmla="*/ 77 w 77"/>
                  <a:gd name="T67" fmla="*/ 35 h 77"/>
                  <a:gd name="T68" fmla="*/ 76 w 77"/>
                  <a:gd name="T69" fmla="*/ 28 h 77"/>
                  <a:gd name="T70" fmla="*/ 74 w 77"/>
                  <a:gd name="T71" fmla="*/ 24 h 77"/>
                  <a:gd name="T72" fmla="*/ 71 w 77"/>
                  <a:gd name="T73" fmla="*/ 19 h 77"/>
                  <a:gd name="T74" fmla="*/ 68 w 77"/>
                  <a:gd name="T75" fmla="*/ 14 h 77"/>
                  <a:gd name="T76" fmla="*/ 65 w 77"/>
                  <a:gd name="T77" fmla="*/ 10 h 77"/>
                  <a:gd name="T78" fmla="*/ 60 w 77"/>
                  <a:gd name="T79" fmla="*/ 6 h 77"/>
                  <a:gd name="T80" fmla="*/ 55 w 77"/>
                  <a:gd name="T81" fmla="*/ 3 h 77"/>
                  <a:gd name="T82" fmla="*/ 50 w 77"/>
                  <a:gd name="T83" fmla="*/ 2 h 77"/>
                  <a:gd name="T84" fmla="*/ 44 w 77"/>
                  <a:gd name="T85" fmla="*/ 0 h 77"/>
                  <a:gd name="T86" fmla="*/ 38 w 77"/>
                  <a:gd name="T8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7" h="77">
                    <a:moveTo>
                      <a:pt x="38" y="0"/>
                    </a:move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28" y="2"/>
                    </a:lnTo>
                    <a:lnTo>
                      <a:pt x="27" y="2"/>
                    </a:lnTo>
                    <a:lnTo>
                      <a:pt x="25" y="2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7" y="6"/>
                    </a:lnTo>
                    <a:lnTo>
                      <a:pt x="16" y="8"/>
                    </a:lnTo>
                    <a:lnTo>
                      <a:pt x="14" y="8"/>
                    </a:lnTo>
                    <a:lnTo>
                      <a:pt x="13" y="10"/>
                    </a:lnTo>
                    <a:lnTo>
                      <a:pt x="11" y="11"/>
                    </a:lnTo>
                    <a:lnTo>
                      <a:pt x="10" y="13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6" y="17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3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9"/>
                    </a:lnTo>
                    <a:lnTo>
                      <a:pt x="0" y="43"/>
                    </a:lnTo>
                    <a:lnTo>
                      <a:pt x="0" y="44"/>
                    </a:lnTo>
                    <a:lnTo>
                      <a:pt x="0" y="46"/>
                    </a:lnTo>
                    <a:lnTo>
                      <a:pt x="2" y="47"/>
                    </a:lnTo>
                    <a:lnTo>
                      <a:pt x="2" y="49"/>
                    </a:lnTo>
                    <a:lnTo>
                      <a:pt x="2" y="52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6" y="60"/>
                    </a:lnTo>
                    <a:lnTo>
                      <a:pt x="8" y="61"/>
                    </a:lnTo>
                    <a:lnTo>
                      <a:pt x="8" y="63"/>
                    </a:lnTo>
                    <a:lnTo>
                      <a:pt x="10" y="65"/>
                    </a:lnTo>
                    <a:lnTo>
                      <a:pt x="11" y="65"/>
                    </a:lnTo>
                    <a:lnTo>
                      <a:pt x="13" y="66"/>
                    </a:lnTo>
                    <a:lnTo>
                      <a:pt x="14" y="68"/>
                    </a:lnTo>
                    <a:lnTo>
                      <a:pt x="16" y="69"/>
                    </a:lnTo>
                    <a:lnTo>
                      <a:pt x="17" y="69"/>
                    </a:lnTo>
                    <a:lnTo>
                      <a:pt x="19" y="71"/>
                    </a:lnTo>
                    <a:lnTo>
                      <a:pt x="21" y="72"/>
                    </a:lnTo>
                    <a:lnTo>
                      <a:pt x="22" y="72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7" y="75"/>
                    </a:lnTo>
                    <a:lnTo>
                      <a:pt x="28" y="75"/>
                    </a:lnTo>
                    <a:lnTo>
                      <a:pt x="30" y="75"/>
                    </a:lnTo>
                    <a:lnTo>
                      <a:pt x="33" y="75"/>
                    </a:lnTo>
                    <a:lnTo>
                      <a:pt x="35" y="75"/>
                    </a:lnTo>
                    <a:lnTo>
                      <a:pt x="36" y="77"/>
                    </a:lnTo>
                    <a:lnTo>
                      <a:pt x="38" y="77"/>
                    </a:lnTo>
                    <a:lnTo>
                      <a:pt x="38" y="77"/>
                    </a:lnTo>
                    <a:lnTo>
                      <a:pt x="41" y="77"/>
                    </a:lnTo>
                    <a:lnTo>
                      <a:pt x="43" y="75"/>
                    </a:lnTo>
                    <a:lnTo>
                      <a:pt x="44" y="75"/>
                    </a:lnTo>
                    <a:lnTo>
                      <a:pt x="46" y="75"/>
                    </a:lnTo>
                    <a:lnTo>
                      <a:pt x="47" y="75"/>
                    </a:lnTo>
                    <a:lnTo>
                      <a:pt x="50" y="75"/>
                    </a:lnTo>
                    <a:lnTo>
                      <a:pt x="52" y="74"/>
                    </a:lnTo>
                    <a:lnTo>
                      <a:pt x="54" y="74"/>
                    </a:lnTo>
                    <a:lnTo>
                      <a:pt x="55" y="72"/>
                    </a:lnTo>
                    <a:lnTo>
                      <a:pt x="57" y="72"/>
                    </a:lnTo>
                    <a:lnTo>
                      <a:pt x="58" y="71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3" y="68"/>
                    </a:lnTo>
                    <a:lnTo>
                      <a:pt x="65" y="66"/>
                    </a:lnTo>
                    <a:lnTo>
                      <a:pt x="66" y="65"/>
                    </a:lnTo>
                    <a:lnTo>
                      <a:pt x="66" y="65"/>
                    </a:lnTo>
                    <a:lnTo>
                      <a:pt x="68" y="63"/>
                    </a:lnTo>
                    <a:lnTo>
                      <a:pt x="69" y="61"/>
                    </a:lnTo>
                    <a:lnTo>
                      <a:pt x="71" y="60"/>
                    </a:lnTo>
                    <a:lnTo>
                      <a:pt x="71" y="58"/>
                    </a:lnTo>
                    <a:lnTo>
                      <a:pt x="72" y="57"/>
                    </a:lnTo>
                    <a:lnTo>
                      <a:pt x="72" y="55"/>
                    </a:lnTo>
                    <a:lnTo>
                      <a:pt x="74" y="54"/>
                    </a:lnTo>
                    <a:lnTo>
                      <a:pt x="74" y="52"/>
                    </a:lnTo>
                    <a:lnTo>
                      <a:pt x="76" y="49"/>
                    </a:lnTo>
                    <a:lnTo>
                      <a:pt x="76" y="47"/>
                    </a:lnTo>
                    <a:lnTo>
                      <a:pt x="76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7" y="39"/>
                    </a:lnTo>
                    <a:lnTo>
                      <a:pt x="77" y="38"/>
                    </a:lnTo>
                    <a:lnTo>
                      <a:pt x="77" y="38"/>
                    </a:lnTo>
                    <a:lnTo>
                      <a:pt x="77" y="36"/>
                    </a:lnTo>
                    <a:lnTo>
                      <a:pt x="77" y="35"/>
                    </a:lnTo>
                    <a:lnTo>
                      <a:pt x="76" y="33"/>
                    </a:lnTo>
                    <a:lnTo>
                      <a:pt x="76" y="30"/>
                    </a:lnTo>
                    <a:lnTo>
                      <a:pt x="76" y="28"/>
                    </a:lnTo>
                    <a:lnTo>
                      <a:pt x="76" y="27"/>
                    </a:lnTo>
                    <a:lnTo>
                      <a:pt x="74" y="25"/>
                    </a:lnTo>
                    <a:lnTo>
                      <a:pt x="74" y="24"/>
                    </a:lnTo>
                    <a:lnTo>
                      <a:pt x="72" y="22"/>
                    </a:lnTo>
                    <a:lnTo>
                      <a:pt x="72" y="21"/>
                    </a:lnTo>
                    <a:lnTo>
                      <a:pt x="71" y="19"/>
                    </a:lnTo>
                    <a:lnTo>
                      <a:pt x="71" y="17"/>
                    </a:lnTo>
                    <a:lnTo>
                      <a:pt x="69" y="16"/>
                    </a:lnTo>
                    <a:lnTo>
                      <a:pt x="68" y="14"/>
                    </a:lnTo>
                    <a:lnTo>
                      <a:pt x="66" y="13"/>
                    </a:lnTo>
                    <a:lnTo>
                      <a:pt x="66" y="11"/>
                    </a:lnTo>
                    <a:lnTo>
                      <a:pt x="65" y="10"/>
                    </a:lnTo>
                    <a:lnTo>
                      <a:pt x="63" y="8"/>
                    </a:lnTo>
                    <a:lnTo>
                      <a:pt x="61" y="8"/>
                    </a:lnTo>
                    <a:lnTo>
                      <a:pt x="60" y="6"/>
                    </a:lnTo>
                    <a:lnTo>
                      <a:pt x="58" y="5"/>
                    </a:lnTo>
                    <a:lnTo>
                      <a:pt x="57" y="5"/>
                    </a:lnTo>
                    <a:lnTo>
                      <a:pt x="55" y="3"/>
                    </a:lnTo>
                    <a:lnTo>
                      <a:pt x="54" y="3"/>
                    </a:lnTo>
                    <a:lnTo>
                      <a:pt x="52" y="2"/>
                    </a:lnTo>
                    <a:lnTo>
                      <a:pt x="50" y="2"/>
                    </a:lnTo>
                    <a:lnTo>
                      <a:pt x="47" y="2"/>
                    </a:lnTo>
                    <a:lnTo>
                      <a:pt x="46" y="0"/>
                    </a:lnTo>
                    <a:lnTo>
                      <a:pt x="44" y="0"/>
                    </a:lnTo>
                    <a:lnTo>
                      <a:pt x="43" y="0"/>
                    </a:lnTo>
                    <a:lnTo>
                      <a:pt x="41" y="0"/>
                    </a:lnTo>
                    <a:lnTo>
                      <a:pt x="38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2" name="Rectangle 22"/>
              <p:cNvSpPr>
                <a:spLocks noChangeArrowheads="1"/>
              </p:cNvSpPr>
              <p:nvPr/>
            </p:nvSpPr>
            <p:spPr bwMode="auto">
              <a:xfrm>
                <a:off x="2760804" y="4743911"/>
                <a:ext cx="1646705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>
                    <a:solidFill>
                      <a:srgbClr val="000000"/>
                    </a:solidFill>
                    <a:latin typeface="Times-Roman" charset="0"/>
                  </a:rPr>
                  <a:t>To AND plane</a:t>
                </a:r>
                <a:endParaRPr lang="en-US" altLang="en-US" sz="1600"/>
              </a:p>
            </p:txBody>
          </p:sp>
          <p:sp>
            <p:nvSpPr>
              <p:cNvPr id="30743" name="Rectangle 23"/>
              <p:cNvSpPr>
                <a:spLocks noChangeArrowheads="1"/>
              </p:cNvSpPr>
              <p:nvPr/>
            </p:nvSpPr>
            <p:spPr bwMode="auto">
              <a:xfrm>
                <a:off x="4230688" y="2670175"/>
                <a:ext cx="315912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sz="2400"/>
              </a:p>
            </p:txBody>
          </p:sp>
          <p:sp>
            <p:nvSpPr>
              <p:cNvPr id="30744" name="Line 24"/>
              <p:cNvSpPr>
                <a:spLocks noChangeShapeType="1"/>
              </p:cNvSpPr>
              <p:nvPr/>
            </p:nvSpPr>
            <p:spPr bwMode="auto">
              <a:xfrm>
                <a:off x="3578225" y="3492500"/>
                <a:ext cx="523875" cy="1588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5" name="Rectangle 25"/>
              <p:cNvSpPr>
                <a:spLocks noChangeArrowheads="1"/>
              </p:cNvSpPr>
              <p:nvPr/>
            </p:nvSpPr>
            <p:spPr bwMode="auto">
              <a:xfrm>
                <a:off x="4724400" y="2670175"/>
                <a:ext cx="315913" cy="306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sz="2400"/>
              </a:p>
            </p:txBody>
          </p:sp>
          <p:sp>
            <p:nvSpPr>
              <p:cNvPr id="30746" name="Freeform 26"/>
              <p:cNvSpPr>
                <a:spLocks/>
              </p:cNvSpPr>
              <p:nvPr/>
            </p:nvSpPr>
            <p:spPr bwMode="auto">
              <a:xfrm>
                <a:off x="2057400" y="4513263"/>
                <a:ext cx="150813" cy="74612"/>
              </a:xfrm>
              <a:custGeom>
                <a:avLst/>
                <a:gdLst>
                  <a:gd name="T0" fmla="*/ 188 w 188"/>
                  <a:gd name="T1" fmla="*/ 0 h 94"/>
                  <a:gd name="T2" fmla="*/ 0 w 188"/>
                  <a:gd name="T3" fmla="*/ 31 h 94"/>
                  <a:gd name="T4" fmla="*/ 188 w 188"/>
                  <a:gd name="T5" fmla="*/ 94 h 94"/>
                  <a:gd name="T6" fmla="*/ 188 w 188"/>
                  <a:gd name="T7" fmla="*/ 31 h 94"/>
                  <a:gd name="T8" fmla="*/ 188 w 188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94">
                    <a:moveTo>
                      <a:pt x="188" y="0"/>
                    </a:moveTo>
                    <a:lnTo>
                      <a:pt x="0" y="31"/>
                    </a:lnTo>
                    <a:lnTo>
                      <a:pt x="188" y="94"/>
                    </a:lnTo>
                    <a:lnTo>
                      <a:pt x="188" y="3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rgbClr val="0078C1"/>
              </a:solidFill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7" name="Freeform 27"/>
              <p:cNvSpPr>
                <a:spLocks/>
              </p:cNvSpPr>
              <p:nvPr/>
            </p:nvSpPr>
            <p:spPr bwMode="auto">
              <a:xfrm>
                <a:off x="2232025" y="1898650"/>
                <a:ext cx="4486275" cy="2640013"/>
              </a:xfrm>
              <a:custGeom>
                <a:avLst/>
                <a:gdLst>
                  <a:gd name="T0" fmla="*/ 0 w 5650"/>
                  <a:gd name="T1" fmla="*/ 3326 h 3326"/>
                  <a:gd name="T2" fmla="*/ 5650 w 5650"/>
                  <a:gd name="T3" fmla="*/ 3326 h 3326"/>
                  <a:gd name="T4" fmla="*/ 5650 w 5650"/>
                  <a:gd name="T5" fmla="*/ 0 h 3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50" h="3326">
                    <a:moveTo>
                      <a:pt x="0" y="3326"/>
                    </a:moveTo>
                    <a:lnTo>
                      <a:pt x="5650" y="3326"/>
                    </a:lnTo>
                    <a:lnTo>
                      <a:pt x="5650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8" name="Freeform 28"/>
              <p:cNvSpPr>
                <a:spLocks/>
              </p:cNvSpPr>
              <p:nvPr/>
            </p:nvSpPr>
            <p:spPr bwMode="auto">
              <a:xfrm>
                <a:off x="6704185" y="4500000"/>
                <a:ext cx="57600" cy="57600"/>
              </a:xfrm>
              <a:custGeom>
                <a:avLst/>
                <a:gdLst>
                  <a:gd name="T0" fmla="*/ 30 w 63"/>
                  <a:gd name="T1" fmla="*/ 0 h 63"/>
                  <a:gd name="T2" fmla="*/ 25 w 63"/>
                  <a:gd name="T3" fmla="*/ 0 h 63"/>
                  <a:gd name="T4" fmla="*/ 20 w 63"/>
                  <a:gd name="T5" fmla="*/ 2 h 63"/>
                  <a:gd name="T6" fmla="*/ 17 w 63"/>
                  <a:gd name="T7" fmla="*/ 3 h 63"/>
                  <a:gd name="T8" fmla="*/ 13 w 63"/>
                  <a:gd name="T9" fmla="*/ 6 h 63"/>
                  <a:gd name="T10" fmla="*/ 9 w 63"/>
                  <a:gd name="T11" fmla="*/ 9 h 63"/>
                  <a:gd name="T12" fmla="*/ 6 w 63"/>
                  <a:gd name="T13" fmla="*/ 13 h 63"/>
                  <a:gd name="T14" fmla="*/ 3 w 63"/>
                  <a:gd name="T15" fmla="*/ 16 h 63"/>
                  <a:gd name="T16" fmla="*/ 2 w 63"/>
                  <a:gd name="T17" fmla="*/ 20 h 63"/>
                  <a:gd name="T18" fmla="*/ 0 w 63"/>
                  <a:gd name="T19" fmla="*/ 25 h 63"/>
                  <a:gd name="T20" fmla="*/ 0 w 63"/>
                  <a:gd name="T21" fmla="*/ 30 h 63"/>
                  <a:gd name="T22" fmla="*/ 0 w 63"/>
                  <a:gd name="T23" fmla="*/ 33 h 63"/>
                  <a:gd name="T24" fmla="*/ 0 w 63"/>
                  <a:gd name="T25" fmla="*/ 38 h 63"/>
                  <a:gd name="T26" fmla="*/ 2 w 63"/>
                  <a:gd name="T27" fmla="*/ 42 h 63"/>
                  <a:gd name="T28" fmla="*/ 3 w 63"/>
                  <a:gd name="T29" fmla="*/ 47 h 63"/>
                  <a:gd name="T30" fmla="*/ 6 w 63"/>
                  <a:gd name="T31" fmla="*/ 50 h 63"/>
                  <a:gd name="T32" fmla="*/ 9 w 63"/>
                  <a:gd name="T33" fmla="*/ 53 h 63"/>
                  <a:gd name="T34" fmla="*/ 13 w 63"/>
                  <a:gd name="T35" fmla="*/ 56 h 63"/>
                  <a:gd name="T36" fmla="*/ 17 w 63"/>
                  <a:gd name="T37" fmla="*/ 60 h 63"/>
                  <a:gd name="T38" fmla="*/ 20 w 63"/>
                  <a:gd name="T39" fmla="*/ 61 h 63"/>
                  <a:gd name="T40" fmla="*/ 25 w 63"/>
                  <a:gd name="T41" fmla="*/ 63 h 63"/>
                  <a:gd name="T42" fmla="*/ 30 w 63"/>
                  <a:gd name="T43" fmla="*/ 63 h 63"/>
                  <a:gd name="T44" fmla="*/ 33 w 63"/>
                  <a:gd name="T45" fmla="*/ 63 h 63"/>
                  <a:gd name="T46" fmla="*/ 38 w 63"/>
                  <a:gd name="T47" fmla="*/ 63 h 63"/>
                  <a:gd name="T48" fmla="*/ 42 w 63"/>
                  <a:gd name="T49" fmla="*/ 61 h 63"/>
                  <a:gd name="T50" fmla="*/ 47 w 63"/>
                  <a:gd name="T51" fmla="*/ 60 h 63"/>
                  <a:gd name="T52" fmla="*/ 50 w 63"/>
                  <a:gd name="T53" fmla="*/ 56 h 63"/>
                  <a:gd name="T54" fmla="*/ 53 w 63"/>
                  <a:gd name="T55" fmla="*/ 53 h 63"/>
                  <a:gd name="T56" fmla="*/ 57 w 63"/>
                  <a:gd name="T57" fmla="*/ 50 h 63"/>
                  <a:gd name="T58" fmla="*/ 60 w 63"/>
                  <a:gd name="T59" fmla="*/ 47 h 63"/>
                  <a:gd name="T60" fmla="*/ 61 w 63"/>
                  <a:gd name="T61" fmla="*/ 42 h 63"/>
                  <a:gd name="T62" fmla="*/ 63 w 63"/>
                  <a:gd name="T63" fmla="*/ 38 h 63"/>
                  <a:gd name="T64" fmla="*/ 63 w 63"/>
                  <a:gd name="T65" fmla="*/ 33 h 63"/>
                  <a:gd name="T66" fmla="*/ 63 w 63"/>
                  <a:gd name="T67" fmla="*/ 30 h 63"/>
                  <a:gd name="T68" fmla="*/ 63 w 63"/>
                  <a:gd name="T69" fmla="*/ 25 h 63"/>
                  <a:gd name="T70" fmla="*/ 61 w 63"/>
                  <a:gd name="T71" fmla="*/ 20 h 63"/>
                  <a:gd name="T72" fmla="*/ 60 w 63"/>
                  <a:gd name="T73" fmla="*/ 16 h 63"/>
                  <a:gd name="T74" fmla="*/ 57 w 63"/>
                  <a:gd name="T75" fmla="*/ 13 h 63"/>
                  <a:gd name="T76" fmla="*/ 53 w 63"/>
                  <a:gd name="T77" fmla="*/ 9 h 63"/>
                  <a:gd name="T78" fmla="*/ 50 w 63"/>
                  <a:gd name="T79" fmla="*/ 6 h 63"/>
                  <a:gd name="T80" fmla="*/ 47 w 63"/>
                  <a:gd name="T81" fmla="*/ 3 h 63"/>
                  <a:gd name="T82" fmla="*/ 42 w 63"/>
                  <a:gd name="T83" fmla="*/ 2 h 63"/>
                  <a:gd name="T84" fmla="*/ 38 w 63"/>
                  <a:gd name="T85" fmla="*/ 0 h 63"/>
                  <a:gd name="T86" fmla="*/ 33 w 63"/>
                  <a:gd name="T87" fmla="*/ 0 h 63"/>
                  <a:gd name="T88" fmla="*/ 31 w 63"/>
                  <a:gd name="T89" fmla="*/ 3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3" h="63">
                    <a:moveTo>
                      <a:pt x="31" y="31"/>
                    </a:moveTo>
                    <a:lnTo>
                      <a:pt x="31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2"/>
                    </a:lnTo>
                    <a:lnTo>
                      <a:pt x="22" y="2"/>
                    </a:lnTo>
                    <a:lnTo>
                      <a:pt x="20" y="2"/>
                    </a:lnTo>
                    <a:lnTo>
                      <a:pt x="19" y="3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5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4"/>
                    </a:lnTo>
                    <a:lnTo>
                      <a:pt x="5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0" y="33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3" y="44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5" y="47"/>
                    </a:lnTo>
                    <a:lnTo>
                      <a:pt x="6" y="49"/>
                    </a:lnTo>
                    <a:lnTo>
                      <a:pt x="6" y="50"/>
                    </a:lnTo>
                    <a:lnTo>
                      <a:pt x="8" y="52"/>
                    </a:lnTo>
                    <a:lnTo>
                      <a:pt x="8" y="52"/>
                    </a:lnTo>
                    <a:lnTo>
                      <a:pt x="9" y="53"/>
                    </a:lnTo>
                    <a:lnTo>
                      <a:pt x="11" y="55"/>
                    </a:lnTo>
                    <a:lnTo>
                      <a:pt x="11" y="55"/>
                    </a:lnTo>
                    <a:lnTo>
                      <a:pt x="13" y="56"/>
                    </a:lnTo>
                    <a:lnTo>
                      <a:pt x="14" y="58"/>
                    </a:lnTo>
                    <a:lnTo>
                      <a:pt x="16" y="58"/>
                    </a:lnTo>
                    <a:lnTo>
                      <a:pt x="17" y="60"/>
                    </a:lnTo>
                    <a:lnTo>
                      <a:pt x="17" y="60"/>
                    </a:lnTo>
                    <a:lnTo>
                      <a:pt x="19" y="60"/>
                    </a:lnTo>
                    <a:lnTo>
                      <a:pt x="20" y="61"/>
                    </a:lnTo>
                    <a:lnTo>
                      <a:pt x="22" y="61"/>
                    </a:lnTo>
                    <a:lnTo>
                      <a:pt x="24" y="61"/>
                    </a:lnTo>
                    <a:lnTo>
                      <a:pt x="25" y="63"/>
                    </a:lnTo>
                    <a:lnTo>
                      <a:pt x="27" y="63"/>
                    </a:lnTo>
                    <a:lnTo>
                      <a:pt x="28" y="63"/>
                    </a:lnTo>
                    <a:lnTo>
                      <a:pt x="30" y="63"/>
                    </a:lnTo>
                    <a:lnTo>
                      <a:pt x="31" y="63"/>
                    </a:lnTo>
                    <a:lnTo>
                      <a:pt x="31" y="63"/>
                    </a:lnTo>
                    <a:lnTo>
                      <a:pt x="33" y="63"/>
                    </a:lnTo>
                    <a:lnTo>
                      <a:pt x="35" y="63"/>
                    </a:lnTo>
                    <a:lnTo>
                      <a:pt x="36" y="63"/>
                    </a:lnTo>
                    <a:lnTo>
                      <a:pt x="38" y="63"/>
                    </a:lnTo>
                    <a:lnTo>
                      <a:pt x="39" y="61"/>
                    </a:lnTo>
                    <a:lnTo>
                      <a:pt x="41" y="61"/>
                    </a:lnTo>
                    <a:lnTo>
                      <a:pt x="42" y="61"/>
                    </a:lnTo>
                    <a:lnTo>
                      <a:pt x="44" y="60"/>
                    </a:lnTo>
                    <a:lnTo>
                      <a:pt x="46" y="60"/>
                    </a:lnTo>
                    <a:lnTo>
                      <a:pt x="47" y="60"/>
                    </a:lnTo>
                    <a:lnTo>
                      <a:pt x="47" y="58"/>
                    </a:lnTo>
                    <a:lnTo>
                      <a:pt x="49" y="58"/>
                    </a:lnTo>
                    <a:lnTo>
                      <a:pt x="50" y="56"/>
                    </a:lnTo>
                    <a:lnTo>
                      <a:pt x="52" y="55"/>
                    </a:lnTo>
                    <a:lnTo>
                      <a:pt x="53" y="55"/>
                    </a:lnTo>
                    <a:lnTo>
                      <a:pt x="53" y="53"/>
                    </a:lnTo>
                    <a:lnTo>
                      <a:pt x="55" y="52"/>
                    </a:lnTo>
                    <a:lnTo>
                      <a:pt x="57" y="52"/>
                    </a:lnTo>
                    <a:lnTo>
                      <a:pt x="57" y="50"/>
                    </a:lnTo>
                    <a:lnTo>
                      <a:pt x="58" y="49"/>
                    </a:lnTo>
                    <a:lnTo>
                      <a:pt x="58" y="47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1" y="44"/>
                    </a:lnTo>
                    <a:lnTo>
                      <a:pt x="61" y="42"/>
                    </a:lnTo>
                    <a:lnTo>
                      <a:pt x="61" y="41"/>
                    </a:lnTo>
                    <a:lnTo>
                      <a:pt x="61" y="39"/>
                    </a:lnTo>
                    <a:lnTo>
                      <a:pt x="63" y="38"/>
                    </a:lnTo>
                    <a:lnTo>
                      <a:pt x="63" y="36"/>
                    </a:lnTo>
                    <a:lnTo>
                      <a:pt x="63" y="34"/>
                    </a:lnTo>
                    <a:lnTo>
                      <a:pt x="63" y="33"/>
                    </a:lnTo>
                    <a:lnTo>
                      <a:pt x="63" y="31"/>
                    </a:lnTo>
                    <a:lnTo>
                      <a:pt x="63" y="31"/>
                    </a:lnTo>
                    <a:lnTo>
                      <a:pt x="63" y="30"/>
                    </a:lnTo>
                    <a:lnTo>
                      <a:pt x="63" y="28"/>
                    </a:lnTo>
                    <a:lnTo>
                      <a:pt x="63" y="27"/>
                    </a:lnTo>
                    <a:lnTo>
                      <a:pt x="63" y="25"/>
                    </a:lnTo>
                    <a:lnTo>
                      <a:pt x="61" y="24"/>
                    </a:lnTo>
                    <a:lnTo>
                      <a:pt x="61" y="22"/>
                    </a:lnTo>
                    <a:lnTo>
                      <a:pt x="61" y="20"/>
                    </a:lnTo>
                    <a:lnTo>
                      <a:pt x="61" y="19"/>
                    </a:lnTo>
                    <a:lnTo>
                      <a:pt x="60" y="17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8" y="14"/>
                    </a:lnTo>
                    <a:lnTo>
                      <a:pt x="57" y="13"/>
                    </a:lnTo>
                    <a:lnTo>
                      <a:pt x="57" y="11"/>
                    </a:lnTo>
                    <a:lnTo>
                      <a:pt x="55" y="11"/>
                    </a:lnTo>
                    <a:lnTo>
                      <a:pt x="53" y="9"/>
                    </a:lnTo>
                    <a:lnTo>
                      <a:pt x="53" y="8"/>
                    </a:lnTo>
                    <a:lnTo>
                      <a:pt x="52" y="8"/>
                    </a:lnTo>
                    <a:lnTo>
                      <a:pt x="50" y="6"/>
                    </a:lnTo>
                    <a:lnTo>
                      <a:pt x="49" y="5"/>
                    </a:lnTo>
                    <a:lnTo>
                      <a:pt x="47" y="5"/>
                    </a:lnTo>
                    <a:lnTo>
                      <a:pt x="47" y="3"/>
                    </a:lnTo>
                    <a:lnTo>
                      <a:pt x="46" y="3"/>
                    </a:lnTo>
                    <a:lnTo>
                      <a:pt x="44" y="3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39" y="2"/>
                    </a:lnTo>
                    <a:lnTo>
                      <a:pt x="38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31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49" name="Freeform 29"/>
              <p:cNvSpPr>
                <a:spLocks/>
              </p:cNvSpPr>
              <p:nvPr/>
            </p:nvSpPr>
            <p:spPr bwMode="auto">
              <a:xfrm>
                <a:off x="6696000" y="4500000"/>
                <a:ext cx="60325" cy="61912"/>
              </a:xfrm>
              <a:custGeom>
                <a:avLst/>
                <a:gdLst>
                  <a:gd name="T0" fmla="*/ 35 w 77"/>
                  <a:gd name="T1" fmla="*/ 0 h 76"/>
                  <a:gd name="T2" fmla="*/ 28 w 77"/>
                  <a:gd name="T3" fmla="*/ 1 h 76"/>
                  <a:gd name="T4" fmla="*/ 24 w 77"/>
                  <a:gd name="T5" fmla="*/ 3 h 76"/>
                  <a:gd name="T6" fmla="*/ 19 w 77"/>
                  <a:gd name="T7" fmla="*/ 4 h 76"/>
                  <a:gd name="T8" fmla="*/ 14 w 77"/>
                  <a:gd name="T9" fmla="*/ 7 h 76"/>
                  <a:gd name="T10" fmla="*/ 10 w 77"/>
                  <a:gd name="T11" fmla="*/ 12 h 76"/>
                  <a:gd name="T12" fmla="*/ 6 w 77"/>
                  <a:gd name="T13" fmla="*/ 17 h 76"/>
                  <a:gd name="T14" fmla="*/ 3 w 77"/>
                  <a:gd name="T15" fmla="*/ 21 h 76"/>
                  <a:gd name="T16" fmla="*/ 2 w 77"/>
                  <a:gd name="T17" fmla="*/ 26 h 76"/>
                  <a:gd name="T18" fmla="*/ 0 w 77"/>
                  <a:gd name="T19" fmla="*/ 31 h 76"/>
                  <a:gd name="T20" fmla="*/ 0 w 77"/>
                  <a:gd name="T21" fmla="*/ 37 h 76"/>
                  <a:gd name="T22" fmla="*/ 0 w 77"/>
                  <a:gd name="T23" fmla="*/ 42 h 76"/>
                  <a:gd name="T24" fmla="*/ 2 w 77"/>
                  <a:gd name="T25" fmla="*/ 47 h 76"/>
                  <a:gd name="T26" fmla="*/ 3 w 77"/>
                  <a:gd name="T27" fmla="*/ 53 h 76"/>
                  <a:gd name="T28" fmla="*/ 5 w 77"/>
                  <a:gd name="T29" fmla="*/ 58 h 76"/>
                  <a:gd name="T30" fmla="*/ 8 w 77"/>
                  <a:gd name="T31" fmla="*/ 62 h 76"/>
                  <a:gd name="T32" fmla="*/ 13 w 77"/>
                  <a:gd name="T33" fmla="*/ 65 h 76"/>
                  <a:gd name="T34" fmla="*/ 17 w 77"/>
                  <a:gd name="T35" fmla="*/ 69 h 76"/>
                  <a:gd name="T36" fmla="*/ 22 w 77"/>
                  <a:gd name="T37" fmla="*/ 72 h 76"/>
                  <a:gd name="T38" fmla="*/ 27 w 77"/>
                  <a:gd name="T39" fmla="*/ 75 h 76"/>
                  <a:gd name="T40" fmla="*/ 33 w 77"/>
                  <a:gd name="T41" fmla="*/ 75 h 76"/>
                  <a:gd name="T42" fmla="*/ 38 w 77"/>
                  <a:gd name="T43" fmla="*/ 76 h 76"/>
                  <a:gd name="T44" fmla="*/ 43 w 77"/>
                  <a:gd name="T45" fmla="*/ 75 h 76"/>
                  <a:gd name="T46" fmla="*/ 47 w 77"/>
                  <a:gd name="T47" fmla="*/ 75 h 76"/>
                  <a:gd name="T48" fmla="*/ 54 w 77"/>
                  <a:gd name="T49" fmla="*/ 73 h 76"/>
                  <a:gd name="T50" fmla="*/ 58 w 77"/>
                  <a:gd name="T51" fmla="*/ 70 h 76"/>
                  <a:gd name="T52" fmla="*/ 63 w 77"/>
                  <a:gd name="T53" fmla="*/ 67 h 76"/>
                  <a:gd name="T54" fmla="*/ 66 w 77"/>
                  <a:gd name="T55" fmla="*/ 64 h 76"/>
                  <a:gd name="T56" fmla="*/ 71 w 77"/>
                  <a:gd name="T57" fmla="*/ 59 h 76"/>
                  <a:gd name="T58" fmla="*/ 72 w 77"/>
                  <a:gd name="T59" fmla="*/ 54 h 76"/>
                  <a:gd name="T60" fmla="*/ 76 w 77"/>
                  <a:gd name="T61" fmla="*/ 48 h 76"/>
                  <a:gd name="T62" fmla="*/ 76 w 77"/>
                  <a:gd name="T63" fmla="*/ 43 h 76"/>
                  <a:gd name="T64" fmla="*/ 77 w 77"/>
                  <a:gd name="T65" fmla="*/ 37 h 76"/>
                  <a:gd name="T66" fmla="*/ 77 w 77"/>
                  <a:gd name="T67" fmla="*/ 34 h 76"/>
                  <a:gd name="T68" fmla="*/ 76 w 77"/>
                  <a:gd name="T69" fmla="*/ 28 h 76"/>
                  <a:gd name="T70" fmla="*/ 74 w 77"/>
                  <a:gd name="T71" fmla="*/ 23 h 76"/>
                  <a:gd name="T72" fmla="*/ 71 w 77"/>
                  <a:gd name="T73" fmla="*/ 18 h 76"/>
                  <a:gd name="T74" fmla="*/ 68 w 77"/>
                  <a:gd name="T75" fmla="*/ 14 h 76"/>
                  <a:gd name="T76" fmla="*/ 65 w 77"/>
                  <a:gd name="T77" fmla="*/ 9 h 76"/>
                  <a:gd name="T78" fmla="*/ 60 w 77"/>
                  <a:gd name="T79" fmla="*/ 6 h 76"/>
                  <a:gd name="T80" fmla="*/ 55 w 77"/>
                  <a:gd name="T81" fmla="*/ 3 h 76"/>
                  <a:gd name="T82" fmla="*/ 50 w 77"/>
                  <a:gd name="T83" fmla="*/ 1 h 76"/>
                  <a:gd name="T84" fmla="*/ 44 w 77"/>
                  <a:gd name="T85" fmla="*/ 0 h 76"/>
                  <a:gd name="T86" fmla="*/ 38 w 77"/>
                  <a:gd name="T8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7" h="76">
                    <a:moveTo>
                      <a:pt x="38" y="0"/>
                    </a:move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28" y="1"/>
                    </a:lnTo>
                    <a:lnTo>
                      <a:pt x="27" y="1"/>
                    </a:lnTo>
                    <a:lnTo>
                      <a:pt x="25" y="1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7" y="6"/>
                    </a:lnTo>
                    <a:lnTo>
                      <a:pt x="16" y="7"/>
                    </a:lnTo>
                    <a:lnTo>
                      <a:pt x="14" y="7"/>
                    </a:lnTo>
                    <a:lnTo>
                      <a:pt x="13" y="9"/>
                    </a:lnTo>
                    <a:lnTo>
                      <a:pt x="11" y="11"/>
                    </a:lnTo>
                    <a:lnTo>
                      <a:pt x="10" y="12"/>
                    </a:lnTo>
                    <a:lnTo>
                      <a:pt x="8" y="14"/>
                    </a:lnTo>
                    <a:lnTo>
                      <a:pt x="8" y="15"/>
                    </a:lnTo>
                    <a:lnTo>
                      <a:pt x="6" y="17"/>
                    </a:lnTo>
                    <a:lnTo>
                      <a:pt x="5" y="18"/>
                    </a:lnTo>
                    <a:lnTo>
                      <a:pt x="5" y="20"/>
                    </a:lnTo>
                    <a:lnTo>
                      <a:pt x="3" y="21"/>
                    </a:lnTo>
                    <a:lnTo>
                      <a:pt x="3" y="23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0" y="29"/>
                    </a:lnTo>
                    <a:lnTo>
                      <a:pt x="0" y="31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2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2" y="47"/>
                    </a:lnTo>
                    <a:lnTo>
                      <a:pt x="2" y="48"/>
                    </a:lnTo>
                    <a:lnTo>
                      <a:pt x="2" y="51"/>
                    </a:lnTo>
                    <a:lnTo>
                      <a:pt x="3" y="53"/>
                    </a:lnTo>
                    <a:lnTo>
                      <a:pt x="3" y="54"/>
                    </a:lnTo>
                    <a:lnTo>
                      <a:pt x="5" y="56"/>
                    </a:lnTo>
                    <a:lnTo>
                      <a:pt x="5" y="58"/>
                    </a:lnTo>
                    <a:lnTo>
                      <a:pt x="6" y="59"/>
                    </a:lnTo>
                    <a:lnTo>
                      <a:pt x="8" y="61"/>
                    </a:lnTo>
                    <a:lnTo>
                      <a:pt x="8" y="62"/>
                    </a:lnTo>
                    <a:lnTo>
                      <a:pt x="10" y="64"/>
                    </a:lnTo>
                    <a:lnTo>
                      <a:pt x="11" y="64"/>
                    </a:lnTo>
                    <a:lnTo>
                      <a:pt x="13" y="65"/>
                    </a:lnTo>
                    <a:lnTo>
                      <a:pt x="14" y="67"/>
                    </a:lnTo>
                    <a:lnTo>
                      <a:pt x="16" y="69"/>
                    </a:lnTo>
                    <a:lnTo>
                      <a:pt x="17" y="69"/>
                    </a:lnTo>
                    <a:lnTo>
                      <a:pt x="19" y="70"/>
                    </a:lnTo>
                    <a:lnTo>
                      <a:pt x="21" y="72"/>
                    </a:lnTo>
                    <a:lnTo>
                      <a:pt x="22" y="72"/>
                    </a:lnTo>
                    <a:lnTo>
                      <a:pt x="24" y="73"/>
                    </a:lnTo>
                    <a:lnTo>
                      <a:pt x="25" y="73"/>
                    </a:lnTo>
                    <a:lnTo>
                      <a:pt x="27" y="75"/>
                    </a:lnTo>
                    <a:lnTo>
                      <a:pt x="28" y="75"/>
                    </a:lnTo>
                    <a:lnTo>
                      <a:pt x="30" y="75"/>
                    </a:lnTo>
                    <a:lnTo>
                      <a:pt x="33" y="75"/>
                    </a:lnTo>
                    <a:lnTo>
                      <a:pt x="35" y="75"/>
                    </a:lnTo>
                    <a:lnTo>
                      <a:pt x="36" y="76"/>
                    </a:lnTo>
                    <a:lnTo>
                      <a:pt x="38" y="76"/>
                    </a:lnTo>
                    <a:lnTo>
                      <a:pt x="38" y="76"/>
                    </a:lnTo>
                    <a:lnTo>
                      <a:pt x="41" y="76"/>
                    </a:lnTo>
                    <a:lnTo>
                      <a:pt x="43" y="75"/>
                    </a:lnTo>
                    <a:lnTo>
                      <a:pt x="44" y="75"/>
                    </a:lnTo>
                    <a:lnTo>
                      <a:pt x="46" y="75"/>
                    </a:lnTo>
                    <a:lnTo>
                      <a:pt x="47" y="75"/>
                    </a:lnTo>
                    <a:lnTo>
                      <a:pt x="50" y="75"/>
                    </a:lnTo>
                    <a:lnTo>
                      <a:pt x="52" y="73"/>
                    </a:lnTo>
                    <a:lnTo>
                      <a:pt x="54" y="73"/>
                    </a:lnTo>
                    <a:lnTo>
                      <a:pt x="55" y="72"/>
                    </a:lnTo>
                    <a:lnTo>
                      <a:pt x="57" y="72"/>
                    </a:lnTo>
                    <a:lnTo>
                      <a:pt x="58" y="70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3" y="67"/>
                    </a:lnTo>
                    <a:lnTo>
                      <a:pt x="65" y="65"/>
                    </a:lnTo>
                    <a:lnTo>
                      <a:pt x="66" y="64"/>
                    </a:lnTo>
                    <a:lnTo>
                      <a:pt x="66" y="64"/>
                    </a:lnTo>
                    <a:lnTo>
                      <a:pt x="68" y="62"/>
                    </a:lnTo>
                    <a:lnTo>
                      <a:pt x="69" y="61"/>
                    </a:lnTo>
                    <a:lnTo>
                      <a:pt x="71" y="59"/>
                    </a:lnTo>
                    <a:lnTo>
                      <a:pt x="71" y="58"/>
                    </a:lnTo>
                    <a:lnTo>
                      <a:pt x="72" y="56"/>
                    </a:lnTo>
                    <a:lnTo>
                      <a:pt x="72" y="54"/>
                    </a:lnTo>
                    <a:lnTo>
                      <a:pt x="74" y="53"/>
                    </a:lnTo>
                    <a:lnTo>
                      <a:pt x="74" y="51"/>
                    </a:lnTo>
                    <a:lnTo>
                      <a:pt x="76" y="48"/>
                    </a:lnTo>
                    <a:lnTo>
                      <a:pt x="76" y="47"/>
                    </a:lnTo>
                    <a:lnTo>
                      <a:pt x="76" y="45"/>
                    </a:lnTo>
                    <a:lnTo>
                      <a:pt x="76" y="43"/>
                    </a:lnTo>
                    <a:lnTo>
                      <a:pt x="77" y="42"/>
                    </a:lnTo>
                    <a:lnTo>
                      <a:pt x="77" y="39"/>
                    </a:lnTo>
                    <a:lnTo>
                      <a:pt x="77" y="37"/>
                    </a:lnTo>
                    <a:lnTo>
                      <a:pt x="77" y="37"/>
                    </a:lnTo>
                    <a:lnTo>
                      <a:pt x="77" y="36"/>
                    </a:lnTo>
                    <a:lnTo>
                      <a:pt x="77" y="34"/>
                    </a:lnTo>
                    <a:lnTo>
                      <a:pt x="76" y="31"/>
                    </a:lnTo>
                    <a:lnTo>
                      <a:pt x="76" y="29"/>
                    </a:lnTo>
                    <a:lnTo>
                      <a:pt x="76" y="28"/>
                    </a:lnTo>
                    <a:lnTo>
                      <a:pt x="76" y="26"/>
                    </a:lnTo>
                    <a:lnTo>
                      <a:pt x="74" y="25"/>
                    </a:lnTo>
                    <a:lnTo>
                      <a:pt x="74" y="23"/>
                    </a:lnTo>
                    <a:lnTo>
                      <a:pt x="72" y="21"/>
                    </a:lnTo>
                    <a:lnTo>
                      <a:pt x="72" y="20"/>
                    </a:lnTo>
                    <a:lnTo>
                      <a:pt x="71" y="18"/>
                    </a:lnTo>
                    <a:lnTo>
                      <a:pt x="71" y="17"/>
                    </a:lnTo>
                    <a:lnTo>
                      <a:pt x="69" y="15"/>
                    </a:lnTo>
                    <a:lnTo>
                      <a:pt x="68" y="14"/>
                    </a:lnTo>
                    <a:lnTo>
                      <a:pt x="66" y="12"/>
                    </a:lnTo>
                    <a:lnTo>
                      <a:pt x="66" y="11"/>
                    </a:lnTo>
                    <a:lnTo>
                      <a:pt x="65" y="9"/>
                    </a:lnTo>
                    <a:lnTo>
                      <a:pt x="63" y="7"/>
                    </a:lnTo>
                    <a:lnTo>
                      <a:pt x="61" y="7"/>
                    </a:lnTo>
                    <a:lnTo>
                      <a:pt x="60" y="6"/>
                    </a:lnTo>
                    <a:lnTo>
                      <a:pt x="58" y="4"/>
                    </a:lnTo>
                    <a:lnTo>
                      <a:pt x="57" y="4"/>
                    </a:lnTo>
                    <a:lnTo>
                      <a:pt x="55" y="3"/>
                    </a:lnTo>
                    <a:lnTo>
                      <a:pt x="54" y="3"/>
                    </a:lnTo>
                    <a:lnTo>
                      <a:pt x="52" y="1"/>
                    </a:lnTo>
                    <a:lnTo>
                      <a:pt x="50" y="1"/>
                    </a:lnTo>
                    <a:lnTo>
                      <a:pt x="47" y="1"/>
                    </a:lnTo>
                    <a:lnTo>
                      <a:pt x="46" y="0"/>
                    </a:lnTo>
                    <a:lnTo>
                      <a:pt x="44" y="0"/>
                    </a:lnTo>
                    <a:lnTo>
                      <a:pt x="43" y="0"/>
                    </a:lnTo>
                    <a:lnTo>
                      <a:pt x="41" y="0"/>
                    </a:lnTo>
                    <a:lnTo>
                      <a:pt x="38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0" name="Rectangle 30"/>
              <p:cNvSpPr>
                <a:spLocks noChangeArrowheads="1"/>
              </p:cNvSpPr>
              <p:nvPr/>
            </p:nvSpPr>
            <p:spPr bwMode="auto">
              <a:xfrm>
                <a:off x="2947988" y="3338513"/>
                <a:ext cx="748772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sz="1600"/>
              </a:p>
            </p:txBody>
          </p:sp>
          <p:sp>
            <p:nvSpPr>
              <p:cNvPr id="30751" name="Rectangle 31"/>
              <p:cNvSpPr>
                <a:spLocks noChangeArrowheads="1"/>
              </p:cNvSpPr>
              <p:nvPr/>
            </p:nvSpPr>
            <p:spPr bwMode="auto">
              <a:xfrm>
                <a:off x="5865814" y="898525"/>
                <a:ext cx="748772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>
                    <a:solidFill>
                      <a:srgbClr val="000000"/>
                    </a:solidFill>
                    <a:latin typeface="Times-Roman" charset="0"/>
                  </a:rPr>
                  <a:t>Select</a:t>
                </a:r>
                <a:endParaRPr lang="en-US" altLang="en-US" sz="1600"/>
              </a:p>
            </p:txBody>
          </p:sp>
          <p:sp>
            <p:nvSpPr>
              <p:cNvPr id="30752" name="Line 32"/>
              <p:cNvSpPr>
                <a:spLocks noChangeShapeType="1"/>
              </p:cNvSpPr>
              <p:nvPr/>
            </p:nvSpPr>
            <p:spPr bwMode="auto">
              <a:xfrm>
                <a:off x="6718300" y="4538663"/>
                <a:ext cx="1588" cy="722312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3" name="Rectangle 33"/>
              <p:cNvSpPr>
                <a:spLocks noChangeArrowheads="1"/>
              </p:cNvSpPr>
              <p:nvPr/>
            </p:nvSpPr>
            <p:spPr bwMode="auto">
              <a:xfrm>
                <a:off x="7034213" y="1074738"/>
                <a:ext cx="837359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>
                    <a:solidFill>
                      <a:srgbClr val="000000"/>
                    </a:solidFill>
                    <a:latin typeface="Times-Roman" charset="0"/>
                  </a:rPr>
                  <a:t>Enable</a:t>
                </a:r>
                <a:endParaRPr lang="en-US" altLang="en-US" sz="1600"/>
              </a:p>
            </p:txBody>
          </p:sp>
          <p:sp>
            <p:nvSpPr>
              <p:cNvPr id="30754" name="Line 34"/>
              <p:cNvSpPr>
                <a:spLocks noChangeShapeType="1"/>
              </p:cNvSpPr>
              <p:nvPr/>
            </p:nvSpPr>
            <p:spPr bwMode="auto">
              <a:xfrm>
                <a:off x="6145213" y="1200150"/>
                <a:ext cx="1587" cy="349250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5" name="Line 35"/>
              <p:cNvSpPr>
                <a:spLocks noChangeShapeType="1"/>
              </p:cNvSpPr>
              <p:nvPr/>
            </p:nvSpPr>
            <p:spPr bwMode="auto">
              <a:xfrm flipH="1">
                <a:off x="7639050" y="1898650"/>
                <a:ext cx="498475" cy="1588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6" name="Line 36"/>
              <p:cNvSpPr>
                <a:spLocks noChangeShapeType="1"/>
              </p:cNvSpPr>
              <p:nvPr/>
            </p:nvSpPr>
            <p:spPr bwMode="auto">
              <a:xfrm>
                <a:off x="7340600" y="1374775"/>
                <a:ext cx="1588" cy="374650"/>
              </a:xfrm>
              <a:prstGeom prst="line">
                <a:avLst/>
              </a:prstGeom>
              <a:noFill/>
              <a:ln w="23813">
                <a:solidFill>
                  <a:srgbClr val="0078C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7" name="Rectangle 37"/>
              <p:cNvSpPr>
                <a:spLocks noChangeArrowheads="1"/>
              </p:cNvSpPr>
              <p:nvPr/>
            </p:nvSpPr>
            <p:spPr bwMode="auto">
              <a:xfrm>
                <a:off x="4102100" y="2420938"/>
                <a:ext cx="871538" cy="1419225"/>
              </a:xfrm>
              <a:prstGeom prst="rect">
                <a:avLst/>
              </a:prstGeom>
              <a:noFill/>
              <a:ln w="23813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8" name="Freeform 38"/>
              <p:cNvSpPr>
                <a:spLocks/>
              </p:cNvSpPr>
              <p:nvPr/>
            </p:nvSpPr>
            <p:spPr bwMode="auto">
              <a:xfrm>
                <a:off x="5970588" y="1449388"/>
                <a:ext cx="349250" cy="896937"/>
              </a:xfrm>
              <a:custGeom>
                <a:avLst/>
                <a:gdLst>
                  <a:gd name="T0" fmla="*/ 439 w 439"/>
                  <a:gd name="T1" fmla="*/ 910 h 1129"/>
                  <a:gd name="T2" fmla="*/ 439 w 439"/>
                  <a:gd name="T3" fmla="*/ 219 h 1129"/>
                  <a:gd name="T4" fmla="*/ 0 w 439"/>
                  <a:gd name="T5" fmla="*/ 0 h 1129"/>
                  <a:gd name="T6" fmla="*/ 0 w 439"/>
                  <a:gd name="T7" fmla="*/ 1129 h 1129"/>
                  <a:gd name="T8" fmla="*/ 439 w 439"/>
                  <a:gd name="T9" fmla="*/ 910 h 1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" h="1129">
                    <a:moveTo>
                      <a:pt x="439" y="910"/>
                    </a:moveTo>
                    <a:lnTo>
                      <a:pt x="439" y="219"/>
                    </a:lnTo>
                    <a:lnTo>
                      <a:pt x="0" y="0"/>
                    </a:lnTo>
                    <a:lnTo>
                      <a:pt x="0" y="1129"/>
                    </a:lnTo>
                    <a:lnTo>
                      <a:pt x="439" y="910"/>
                    </a:lnTo>
                    <a:close/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59" name="Freeform 39"/>
              <p:cNvSpPr>
                <a:spLocks/>
              </p:cNvSpPr>
              <p:nvPr/>
            </p:nvSpPr>
            <p:spPr bwMode="auto">
              <a:xfrm>
                <a:off x="7116763" y="1624013"/>
                <a:ext cx="522287" cy="547687"/>
              </a:xfrm>
              <a:custGeom>
                <a:avLst/>
                <a:gdLst>
                  <a:gd name="T0" fmla="*/ 659 w 659"/>
                  <a:gd name="T1" fmla="*/ 345 h 691"/>
                  <a:gd name="T2" fmla="*/ 0 w 659"/>
                  <a:gd name="T3" fmla="*/ 691 h 691"/>
                  <a:gd name="T4" fmla="*/ 0 w 659"/>
                  <a:gd name="T5" fmla="*/ 0 h 691"/>
                  <a:gd name="T6" fmla="*/ 659 w 659"/>
                  <a:gd name="T7" fmla="*/ 345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9" h="691">
                    <a:moveTo>
                      <a:pt x="659" y="345"/>
                    </a:moveTo>
                    <a:lnTo>
                      <a:pt x="0" y="691"/>
                    </a:lnTo>
                    <a:lnTo>
                      <a:pt x="0" y="0"/>
                    </a:lnTo>
                    <a:lnTo>
                      <a:pt x="659" y="345"/>
                    </a:lnTo>
                    <a:close/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2" name="Freeform 42"/>
              <p:cNvSpPr>
                <a:spLocks/>
              </p:cNvSpPr>
              <p:nvPr/>
            </p:nvSpPr>
            <p:spPr bwMode="auto">
              <a:xfrm>
                <a:off x="5121275" y="5208588"/>
                <a:ext cx="106363" cy="106362"/>
              </a:xfrm>
              <a:custGeom>
                <a:avLst/>
                <a:gdLst>
                  <a:gd name="T0" fmla="*/ 73 w 133"/>
                  <a:gd name="T1" fmla="*/ 132 h 133"/>
                  <a:gd name="T2" fmla="*/ 83 w 133"/>
                  <a:gd name="T3" fmla="*/ 130 h 133"/>
                  <a:gd name="T4" fmla="*/ 92 w 133"/>
                  <a:gd name="T5" fmla="*/ 127 h 133"/>
                  <a:gd name="T6" fmla="*/ 100 w 133"/>
                  <a:gd name="T7" fmla="*/ 122 h 133"/>
                  <a:gd name="T8" fmla="*/ 108 w 133"/>
                  <a:gd name="T9" fmla="*/ 118 h 133"/>
                  <a:gd name="T10" fmla="*/ 116 w 133"/>
                  <a:gd name="T11" fmla="*/ 111 h 133"/>
                  <a:gd name="T12" fmla="*/ 121 w 133"/>
                  <a:gd name="T13" fmla="*/ 104 h 133"/>
                  <a:gd name="T14" fmla="*/ 127 w 133"/>
                  <a:gd name="T15" fmla="*/ 96 h 133"/>
                  <a:gd name="T16" fmla="*/ 130 w 133"/>
                  <a:gd name="T17" fmla="*/ 86 h 133"/>
                  <a:gd name="T18" fmla="*/ 132 w 133"/>
                  <a:gd name="T19" fmla="*/ 77 h 133"/>
                  <a:gd name="T20" fmla="*/ 133 w 133"/>
                  <a:gd name="T21" fmla="*/ 66 h 133"/>
                  <a:gd name="T22" fmla="*/ 132 w 133"/>
                  <a:gd name="T23" fmla="*/ 60 h 133"/>
                  <a:gd name="T24" fmla="*/ 130 w 133"/>
                  <a:gd name="T25" fmla="*/ 50 h 133"/>
                  <a:gd name="T26" fmla="*/ 127 w 133"/>
                  <a:gd name="T27" fmla="*/ 41 h 133"/>
                  <a:gd name="T28" fmla="*/ 124 w 133"/>
                  <a:gd name="T29" fmla="*/ 31 h 133"/>
                  <a:gd name="T30" fmla="*/ 117 w 133"/>
                  <a:gd name="T31" fmla="*/ 24 h 133"/>
                  <a:gd name="T32" fmla="*/ 111 w 133"/>
                  <a:gd name="T33" fmla="*/ 17 h 133"/>
                  <a:gd name="T34" fmla="*/ 103 w 133"/>
                  <a:gd name="T35" fmla="*/ 11 h 133"/>
                  <a:gd name="T36" fmla="*/ 95 w 133"/>
                  <a:gd name="T37" fmla="*/ 6 h 133"/>
                  <a:gd name="T38" fmla="*/ 86 w 133"/>
                  <a:gd name="T39" fmla="*/ 3 h 133"/>
                  <a:gd name="T40" fmla="*/ 77 w 133"/>
                  <a:gd name="T41" fmla="*/ 0 h 133"/>
                  <a:gd name="T42" fmla="*/ 66 w 133"/>
                  <a:gd name="T43" fmla="*/ 0 h 133"/>
                  <a:gd name="T44" fmla="*/ 59 w 133"/>
                  <a:gd name="T45" fmla="*/ 0 h 133"/>
                  <a:gd name="T46" fmla="*/ 50 w 133"/>
                  <a:gd name="T47" fmla="*/ 2 h 133"/>
                  <a:gd name="T48" fmla="*/ 41 w 133"/>
                  <a:gd name="T49" fmla="*/ 5 h 133"/>
                  <a:gd name="T50" fmla="*/ 31 w 133"/>
                  <a:gd name="T51" fmla="*/ 9 h 133"/>
                  <a:gd name="T52" fmla="*/ 23 w 133"/>
                  <a:gd name="T53" fmla="*/ 14 h 133"/>
                  <a:gd name="T54" fmla="*/ 17 w 133"/>
                  <a:gd name="T55" fmla="*/ 22 h 133"/>
                  <a:gd name="T56" fmla="*/ 11 w 133"/>
                  <a:gd name="T57" fmla="*/ 30 h 133"/>
                  <a:gd name="T58" fmla="*/ 6 w 133"/>
                  <a:gd name="T59" fmla="*/ 38 h 133"/>
                  <a:gd name="T60" fmla="*/ 3 w 133"/>
                  <a:gd name="T61" fmla="*/ 47 h 133"/>
                  <a:gd name="T62" fmla="*/ 0 w 133"/>
                  <a:gd name="T63" fmla="*/ 56 h 133"/>
                  <a:gd name="T64" fmla="*/ 0 w 133"/>
                  <a:gd name="T65" fmla="*/ 66 h 133"/>
                  <a:gd name="T66" fmla="*/ 0 w 133"/>
                  <a:gd name="T67" fmla="*/ 74 h 133"/>
                  <a:gd name="T68" fmla="*/ 1 w 133"/>
                  <a:gd name="T69" fmla="*/ 83 h 133"/>
                  <a:gd name="T70" fmla="*/ 4 w 133"/>
                  <a:gd name="T71" fmla="*/ 93 h 133"/>
                  <a:gd name="T72" fmla="*/ 9 w 133"/>
                  <a:gd name="T73" fmla="*/ 100 h 133"/>
                  <a:gd name="T74" fmla="*/ 15 w 133"/>
                  <a:gd name="T75" fmla="*/ 108 h 133"/>
                  <a:gd name="T76" fmla="*/ 22 w 133"/>
                  <a:gd name="T77" fmla="*/ 116 h 133"/>
                  <a:gd name="T78" fmla="*/ 30 w 133"/>
                  <a:gd name="T79" fmla="*/ 121 h 133"/>
                  <a:gd name="T80" fmla="*/ 37 w 133"/>
                  <a:gd name="T81" fmla="*/ 125 h 133"/>
                  <a:gd name="T82" fmla="*/ 47 w 133"/>
                  <a:gd name="T83" fmla="*/ 130 h 133"/>
                  <a:gd name="T84" fmla="*/ 56 w 133"/>
                  <a:gd name="T85" fmla="*/ 132 h 133"/>
                  <a:gd name="T86" fmla="*/ 66 w 133"/>
                  <a:gd name="T87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3" h="133">
                    <a:moveTo>
                      <a:pt x="66" y="133"/>
                    </a:moveTo>
                    <a:lnTo>
                      <a:pt x="69" y="133"/>
                    </a:lnTo>
                    <a:lnTo>
                      <a:pt x="73" y="132"/>
                    </a:lnTo>
                    <a:lnTo>
                      <a:pt x="77" y="132"/>
                    </a:lnTo>
                    <a:lnTo>
                      <a:pt x="80" y="132"/>
                    </a:lnTo>
                    <a:lnTo>
                      <a:pt x="83" y="130"/>
                    </a:lnTo>
                    <a:lnTo>
                      <a:pt x="86" y="130"/>
                    </a:lnTo>
                    <a:lnTo>
                      <a:pt x="89" y="129"/>
                    </a:lnTo>
                    <a:lnTo>
                      <a:pt x="92" y="127"/>
                    </a:lnTo>
                    <a:lnTo>
                      <a:pt x="95" y="125"/>
                    </a:lnTo>
                    <a:lnTo>
                      <a:pt x="97" y="124"/>
                    </a:lnTo>
                    <a:lnTo>
                      <a:pt x="100" y="122"/>
                    </a:lnTo>
                    <a:lnTo>
                      <a:pt x="103" y="121"/>
                    </a:lnTo>
                    <a:lnTo>
                      <a:pt x="106" y="119"/>
                    </a:lnTo>
                    <a:lnTo>
                      <a:pt x="108" y="118"/>
                    </a:lnTo>
                    <a:lnTo>
                      <a:pt x="111" y="116"/>
                    </a:lnTo>
                    <a:lnTo>
                      <a:pt x="113" y="113"/>
                    </a:lnTo>
                    <a:lnTo>
                      <a:pt x="116" y="111"/>
                    </a:lnTo>
                    <a:lnTo>
                      <a:pt x="117" y="108"/>
                    </a:lnTo>
                    <a:lnTo>
                      <a:pt x="119" y="107"/>
                    </a:lnTo>
                    <a:lnTo>
                      <a:pt x="121" y="104"/>
                    </a:lnTo>
                    <a:lnTo>
                      <a:pt x="124" y="100"/>
                    </a:lnTo>
                    <a:lnTo>
                      <a:pt x="125" y="97"/>
                    </a:lnTo>
                    <a:lnTo>
                      <a:pt x="127" y="96"/>
                    </a:lnTo>
                    <a:lnTo>
                      <a:pt x="127" y="93"/>
                    </a:lnTo>
                    <a:lnTo>
                      <a:pt x="128" y="89"/>
                    </a:lnTo>
                    <a:lnTo>
                      <a:pt x="130" y="86"/>
                    </a:lnTo>
                    <a:lnTo>
                      <a:pt x="130" y="83"/>
                    </a:lnTo>
                    <a:lnTo>
                      <a:pt x="132" y="80"/>
                    </a:lnTo>
                    <a:lnTo>
                      <a:pt x="132" y="77"/>
                    </a:lnTo>
                    <a:lnTo>
                      <a:pt x="132" y="74"/>
                    </a:lnTo>
                    <a:lnTo>
                      <a:pt x="133" y="69"/>
                    </a:lnTo>
                    <a:lnTo>
                      <a:pt x="133" y="66"/>
                    </a:lnTo>
                    <a:lnTo>
                      <a:pt x="133" y="66"/>
                    </a:lnTo>
                    <a:lnTo>
                      <a:pt x="133" y="63"/>
                    </a:lnTo>
                    <a:lnTo>
                      <a:pt x="132" y="60"/>
                    </a:lnTo>
                    <a:lnTo>
                      <a:pt x="132" y="56"/>
                    </a:lnTo>
                    <a:lnTo>
                      <a:pt x="132" y="53"/>
                    </a:lnTo>
                    <a:lnTo>
                      <a:pt x="130" y="50"/>
                    </a:lnTo>
                    <a:lnTo>
                      <a:pt x="130" y="47"/>
                    </a:lnTo>
                    <a:lnTo>
                      <a:pt x="128" y="44"/>
                    </a:lnTo>
                    <a:lnTo>
                      <a:pt x="127" y="41"/>
                    </a:lnTo>
                    <a:lnTo>
                      <a:pt x="127" y="38"/>
                    </a:lnTo>
                    <a:lnTo>
                      <a:pt x="125" y="34"/>
                    </a:lnTo>
                    <a:lnTo>
                      <a:pt x="124" y="31"/>
                    </a:lnTo>
                    <a:lnTo>
                      <a:pt x="121" y="30"/>
                    </a:lnTo>
                    <a:lnTo>
                      <a:pt x="119" y="27"/>
                    </a:lnTo>
                    <a:lnTo>
                      <a:pt x="117" y="24"/>
                    </a:lnTo>
                    <a:lnTo>
                      <a:pt x="116" y="22"/>
                    </a:lnTo>
                    <a:lnTo>
                      <a:pt x="113" y="19"/>
                    </a:lnTo>
                    <a:lnTo>
                      <a:pt x="111" y="17"/>
                    </a:lnTo>
                    <a:lnTo>
                      <a:pt x="108" y="14"/>
                    </a:lnTo>
                    <a:lnTo>
                      <a:pt x="106" y="13"/>
                    </a:lnTo>
                    <a:lnTo>
                      <a:pt x="103" y="11"/>
                    </a:lnTo>
                    <a:lnTo>
                      <a:pt x="100" y="9"/>
                    </a:lnTo>
                    <a:lnTo>
                      <a:pt x="97" y="8"/>
                    </a:lnTo>
                    <a:lnTo>
                      <a:pt x="95" y="6"/>
                    </a:lnTo>
                    <a:lnTo>
                      <a:pt x="92" y="5"/>
                    </a:lnTo>
                    <a:lnTo>
                      <a:pt x="89" y="3"/>
                    </a:lnTo>
                    <a:lnTo>
                      <a:pt x="86" y="3"/>
                    </a:lnTo>
                    <a:lnTo>
                      <a:pt x="83" y="2"/>
                    </a:lnTo>
                    <a:lnTo>
                      <a:pt x="80" y="2"/>
                    </a:lnTo>
                    <a:lnTo>
                      <a:pt x="77" y="0"/>
                    </a:lnTo>
                    <a:lnTo>
                      <a:pt x="73" y="0"/>
                    </a:lnTo>
                    <a:lnTo>
                      <a:pt x="69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3" y="0"/>
                    </a:lnTo>
                    <a:lnTo>
                      <a:pt x="59" y="0"/>
                    </a:lnTo>
                    <a:lnTo>
                      <a:pt x="56" y="0"/>
                    </a:lnTo>
                    <a:lnTo>
                      <a:pt x="53" y="2"/>
                    </a:lnTo>
                    <a:lnTo>
                      <a:pt x="50" y="2"/>
                    </a:lnTo>
                    <a:lnTo>
                      <a:pt x="47" y="3"/>
                    </a:lnTo>
                    <a:lnTo>
                      <a:pt x="44" y="3"/>
                    </a:lnTo>
                    <a:lnTo>
                      <a:pt x="41" y="5"/>
                    </a:lnTo>
                    <a:lnTo>
                      <a:pt x="37" y="6"/>
                    </a:lnTo>
                    <a:lnTo>
                      <a:pt x="34" y="8"/>
                    </a:lnTo>
                    <a:lnTo>
                      <a:pt x="31" y="9"/>
                    </a:lnTo>
                    <a:lnTo>
                      <a:pt x="30" y="11"/>
                    </a:lnTo>
                    <a:lnTo>
                      <a:pt x="26" y="13"/>
                    </a:lnTo>
                    <a:lnTo>
                      <a:pt x="23" y="14"/>
                    </a:lnTo>
                    <a:lnTo>
                      <a:pt x="22" y="17"/>
                    </a:lnTo>
                    <a:lnTo>
                      <a:pt x="19" y="19"/>
                    </a:lnTo>
                    <a:lnTo>
                      <a:pt x="17" y="22"/>
                    </a:lnTo>
                    <a:lnTo>
                      <a:pt x="15" y="24"/>
                    </a:lnTo>
                    <a:lnTo>
                      <a:pt x="12" y="27"/>
                    </a:lnTo>
                    <a:lnTo>
                      <a:pt x="11" y="30"/>
                    </a:lnTo>
                    <a:lnTo>
                      <a:pt x="9" y="31"/>
                    </a:lnTo>
                    <a:lnTo>
                      <a:pt x="8" y="34"/>
                    </a:lnTo>
                    <a:lnTo>
                      <a:pt x="6" y="38"/>
                    </a:lnTo>
                    <a:lnTo>
                      <a:pt x="4" y="41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0" y="56"/>
                    </a:lnTo>
                    <a:lnTo>
                      <a:pt x="0" y="60"/>
                    </a:lnTo>
                    <a:lnTo>
                      <a:pt x="0" y="63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0" y="69"/>
                    </a:lnTo>
                    <a:lnTo>
                      <a:pt x="0" y="74"/>
                    </a:lnTo>
                    <a:lnTo>
                      <a:pt x="0" y="77"/>
                    </a:lnTo>
                    <a:lnTo>
                      <a:pt x="1" y="80"/>
                    </a:lnTo>
                    <a:lnTo>
                      <a:pt x="1" y="83"/>
                    </a:lnTo>
                    <a:lnTo>
                      <a:pt x="3" y="86"/>
                    </a:lnTo>
                    <a:lnTo>
                      <a:pt x="3" y="89"/>
                    </a:lnTo>
                    <a:lnTo>
                      <a:pt x="4" y="93"/>
                    </a:lnTo>
                    <a:lnTo>
                      <a:pt x="6" y="96"/>
                    </a:lnTo>
                    <a:lnTo>
                      <a:pt x="8" y="97"/>
                    </a:lnTo>
                    <a:lnTo>
                      <a:pt x="9" y="100"/>
                    </a:lnTo>
                    <a:lnTo>
                      <a:pt x="11" y="104"/>
                    </a:lnTo>
                    <a:lnTo>
                      <a:pt x="12" y="107"/>
                    </a:lnTo>
                    <a:lnTo>
                      <a:pt x="15" y="108"/>
                    </a:lnTo>
                    <a:lnTo>
                      <a:pt x="17" y="111"/>
                    </a:lnTo>
                    <a:lnTo>
                      <a:pt x="19" y="113"/>
                    </a:lnTo>
                    <a:lnTo>
                      <a:pt x="22" y="116"/>
                    </a:lnTo>
                    <a:lnTo>
                      <a:pt x="23" y="118"/>
                    </a:lnTo>
                    <a:lnTo>
                      <a:pt x="26" y="119"/>
                    </a:lnTo>
                    <a:lnTo>
                      <a:pt x="30" y="121"/>
                    </a:lnTo>
                    <a:lnTo>
                      <a:pt x="31" y="122"/>
                    </a:lnTo>
                    <a:lnTo>
                      <a:pt x="34" y="124"/>
                    </a:lnTo>
                    <a:lnTo>
                      <a:pt x="37" y="125"/>
                    </a:lnTo>
                    <a:lnTo>
                      <a:pt x="41" y="127"/>
                    </a:lnTo>
                    <a:lnTo>
                      <a:pt x="44" y="129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3" y="132"/>
                    </a:lnTo>
                    <a:lnTo>
                      <a:pt x="56" y="132"/>
                    </a:lnTo>
                    <a:lnTo>
                      <a:pt x="59" y="132"/>
                    </a:lnTo>
                    <a:lnTo>
                      <a:pt x="63" y="133"/>
                    </a:lnTo>
                    <a:lnTo>
                      <a:pt x="66" y="133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3" name="Freeform 43"/>
              <p:cNvSpPr>
                <a:spLocks/>
              </p:cNvSpPr>
              <p:nvPr/>
            </p:nvSpPr>
            <p:spPr bwMode="auto">
              <a:xfrm>
                <a:off x="1833563" y="2495550"/>
                <a:ext cx="747712" cy="573088"/>
              </a:xfrm>
              <a:custGeom>
                <a:avLst/>
                <a:gdLst>
                  <a:gd name="T0" fmla="*/ 32 w 942"/>
                  <a:gd name="T1" fmla="*/ 691 h 722"/>
                  <a:gd name="T2" fmla="*/ 32 w 942"/>
                  <a:gd name="T3" fmla="*/ 659 h 722"/>
                  <a:gd name="T4" fmla="*/ 63 w 942"/>
                  <a:gd name="T5" fmla="*/ 628 h 722"/>
                  <a:gd name="T6" fmla="*/ 63 w 942"/>
                  <a:gd name="T7" fmla="*/ 565 h 722"/>
                  <a:gd name="T8" fmla="*/ 95 w 942"/>
                  <a:gd name="T9" fmla="*/ 502 h 722"/>
                  <a:gd name="T10" fmla="*/ 95 w 942"/>
                  <a:gd name="T11" fmla="*/ 440 h 722"/>
                  <a:gd name="T12" fmla="*/ 95 w 942"/>
                  <a:gd name="T13" fmla="*/ 408 h 722"/>
                  <a:gd name="T14" fmla="*/ 95 w 942"/>
                  <a:gd name="T15" fmla="*/ 377 h 722"/>
                  <a:gd name="T16" fmla="*/ 95 w 942"/>
                  <a:gd name="T17" fmla="*/ 314 h 722"/>
                  <a:gd name="T18" fmla="*/ 95 w 942"/>
                  <a:gd name="T19" fmla="*/ 283 h 722"/>
                  <a:gd name="T20" fmla="*/ 95 w 942"/>
                  <a:gd name="T21" fmla="*/ 189 h 722"/>
                  <a:gd name="T22" fmla="*/ 63 w 942"/>
                  <a:gd name="T23" fmla="*/ 126 h 722"/>
                  <a:gd name="T24" fmla="*/ 32 w 942"/>
                  <a:gd name="T25" fmla="*/ 95 h 722"/>
                  <a:gd name="T26" fmla="*/ 32 w 942"/>
                  <a:gd name="T27" fmla="*/ 32 h 722"/>
                  <a:gd name="T28" fmla="*/ 0 w 942"/>
                  <a:gd name="T29" fmla="*/ 0 h 722"/>
                  <a:gd name="T30" fmla="*/ 409 w 942"/>
                  <a:gd name="T31" fmla="*/ 0 h 722"/>
                  <a:gd name="T32" fmla="*/ 440 w 942"/>
                  <a:gd name="T33" fmla="*/ 0 h 722"/>
                  <a:gd name="T34" fmla="*/ 471 w 942"/>
                  <a:gd name="T35" fmla="*/ 0 h 722"/>
                  <a:gd name="T36" fmla="*/ 534 w 942"/>
                  <a:gd name="T37" fmla="*/ 0 h 722"/>
                  <a:gd name="T38" fmla="*/ 565 w 942"/>
                  <a:gd name="T39" fmla="*/ 32 h 722"/>
                  <a:gd name="T40" fmla="*/ 628 w 942"/>
                  <a:gd name="T41" fmla="*/ 32 h 722"/>
                  <a:gd name="T42" fmla="*/ 691 w 942"/>
                  <a:gd name="T43" fmla="*/ 63 h 722"/>
                  <a:gd name="T44" fmla="*/ 722 w 942"/>
                  <a:gd name="T45" fmla="*/ 95 h 722"/>
                  <a:gd name="T46" fmla="*/ 754 w 942"/>
                  <a:gd name="T47" fmla="*/ 126 h 722"/>
                  <a:gd name="T48" fmla="*/ 785 w 942"/>
                  <a:gd name="T49" fmla="*/ 157 h 722"/>
                  <a:gd name="T50" fmla="*/ 817 w 942"/>
                  <a:gd name="T51" fmla="*/ 189 h 722"/>
                  <a:gd name="T52" fmla="*/ 879 w 942"/>
                  <a:gd name="T53" fmla="*/ 251 h 722"/>
                  <a:gd name="T54" fmla="*/ 879 w 942"/>
                  <a:gd name="T55" fmla="*/ 283 h 722"/>
                  <a:gd name="T56" fmla="*/ 911 w 942"/>
                  <a:gd name="T57" fmla="*/ 314 h 722"/>
                  <a:gd name="T58" fmla="*/ 942 w 942"/>
                  <a:gd name="T59" fmla="*/ 377 h 722"/>
                  <a:gd name="T60" fmla="*/ 911 w 942"/>
                  <a:gd name="T61" fmla="*/ 408 h 722"/>
                  <a:gd name="T62" fmla="*/ 879 w 942"/>
                  <a:gd name="T63" fmla="*/ 440 h 722"/>
                  <a:gd name="T64" fmla="*/ 848 w 942"/>
                  <a:gd name="T65" fmla="*/ 502 h 722"/>
                  <a:gd name="T66" fmla="*/ 817 w 942"/>
                  <a:gd name="T67" fmla="*/ 534 h 722"/>
                  <a:gd name="T68" fmla="*/ 785 w 942"/>
                  <a:gd name="T69" fmla="*/ 565 h 722"/>
                  <a:gd name="T70" fmla="*/ 754 w 942"/>
                  <a:gd name="T71" fmla="*/ 597 h 722"/>
                  <a:gd name="T72" fmla="*/ 691 w 942"/>
                  <a:gd name="T73" fmla="*/ 628 h 722"/>
                  <a:gd name="T74" fmla="*/ 628 w 942"/>
                  <a:gd name="T75" fmla="*/ 691 h 722"/>
                  <a:gd name="T76" fmla="*/ 565 w 942"/>
                  <a:gd name="T77" fmla="*/ 691 h 722"/>
                  <a:gd name="T78" fmla="*/ 503 w 942"/>
                  <a:gd name="T79" fmla="*/ 722 h 722"/>
                  <a:gd name="T80" fmla="*/ 471 w 942"/>
                  <a:gd name="T81" fmla="*/ 722 h 722"/>
                  <a:gd name="T82" fmla="*/ 409 w 942"/>
                  <a:gd name="T83" fmla="*/ 722 h 722"/>
                  <a:gd name="T84" fmla="*/ 0 w 942"/>
                  <a:gd name="T85" fmla="*/ 722 h 722"/>
                  <a:gd name="T86" fmla="*/ 32 w 942"/>
                  <a:gd name="T87" fmla="*/ 691 h 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42" h="722">
                    <a:moveTo>
                      <a:pt x="32" y="691"/>
                    </a:moveTo>
                    <a:lnTo>
                      <a:pt x="32" y="659"/>
                    </a:lnTo>
                    <a:lnTo>
                      <a:pt x="63" y="628"/>
                    </a:lnTo>
                    <a:lnTo>
                      <a:pt x="63" y="565"/>
                    </a:lnTo>
                    <a:lnTo>
                      <a:pt x="95" y="502"/>
                    </a:lnTo>
                    <a:lnTo>
                      <a:pt x="95" y="440"/>
                    </a:lnTo>
                    <a:lnTo>
                      <a:pt x="95" y="408"/>
                    </a:lnTo>
                    <a:lnTo>
                      <a:pt x="95" y="377"/>
                    </a:lnTo>
                    <a:lnTo>
                      <a:pt x="95" y="314"/>
                    </a:lnTo>
                    <a:lnTo>
                      <a:pt x="95" y="283"/>
                    </a:lnTo>
                    <a:lnTo>
                      <a:pt x="95" y="189"/>
                    </a:lnTo>
                    <a:lnTo>
                      <a:pt x="63" y="126"/>
                    </a:lnTo>
                    <a:lnTo>
                      <a:pt x="32" y="95"/>
                    </a:lnTo>
                    <a:lnTo>
                      <a:pt x="32" y="32"/>
                    </a:lnTo>
                    <a:lnTo>
                      <a:pt x="0" y="0"/>
                    </a:lnTo>
                    <a:lnTo>
                      <a:pt x="409" y="0"/>
                    </a:lnTo>
                    <a:lnTo>
                      <a:pt x="440" y="0"/>
                    </a:lnTo>
                    <a:lnTo>
                      <a:pt x="471" y="0"/>
                    </a:lnTo>
                    <a:lnTo>
                      <a:pt x="534" y="0"/>
                    </a:lnTo>
                    <a:lnTo>
                      <a:pt x="565" y="32"/>
                    </a:lnTo>
                    <a:lnTo>
                      <a:pt x="628" y="32"/>
                    </a:lnTo>
                    <a:lnTo>
                      <a:pt x="691" y="63"/>
                    </a:lnTo>
                    <a:lnTo>
                      <a:pt x="722" y="95"/>
                    </a:lnTo>
                    <a:lnTo>
                      <a:pt x="754" y="126"/>
                    </a:lnTo>
                    <a:lnTo>
                      <a:pt x="785" y="157"/>
                    </a:lnTo>
                    <a:lnTo>
                      <a:pt x="817" y="189"/>
                    </a:lnTo>
                    <a:lnTo>
                      <a:pt x="879" y="251"/>
                    </a:lnTo>
                    <a:lnTo>
                      <a:pt x="879" y="283"/>
                    </a:lnTo>
                    <a:lnTo>
                      <a:pt x="911" y="314"/>
                    </a:lnTo>
                    <a:lnTo>
                      <a:pt x="942" y="377"/>
                    </a:lnTo>
                    <a:lnTo>
                      <a:pt x="911" y="408"/>
                    </a:lnTo>
                    <a:lnTo>
                      <a:pt x="879" y="440"/>
                    </a:lnTo>
                    <a:lnTo>
                      <a:pt x="848" y="502"/>
                    </a:lnTo>
                    <a:lnTo>
                      <a:pt x="817" y="534"/>
                    </a:lnTo>
                    <a:lnTo>
                      <a:pt x="785" y="565"/>
                    </a:lnTo>
                    <a:lnTo>
                      <a:pt x="754" y="597"/>
                    </a:lnTo>
                    <a:lnTo>
                      <a:pt x="691" y="628"/>
                    </a:lnTo>
                    <a:lnTo>
                      <a:pt x="628" y="691"/>
                    </a:lnTo>
                    <a:lnTo>
                      <a:pt x="565" y="691"/>
                    </a:lnTo>
                    <a:lnTo>
                      <a:pt x="503" y="722"/>
                    </a:lnTo>
                    <a:lnTo>
                      <a:pt x="471" y="722"/>
                    </a:lnTo>
                    <a:lnTo>
                      <a:pt x="409" y="722"/>
                    </a:lnTo>
                    <a:lnTo>
                      <a:pt x="0" y="722"/>
                    </a:lnTo>
                    <a:lnTo>
                      <a:pt x="32" y="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4" name="Freeform 44"/>
              <p:cNvSpPr>
                <a:spLocks/>
              </p:cNvSpPr>
              <p:nvPr/>
            </p:nvSpPr>
            <p:spPr bwMode="auto">
              <a:xfrm>
                <a:off x="1833563" y="2782888"/>
                <a:ext cx="746125" cy="295275"/>
              </a:xfrm>
              <a:custGeom>
                <a:avLst/>
                <a:gdLst>
                  <a:gd name="T0" fmla="*/ 184 w 939"/>
                  <a:gd name="T1" fmla="*/ 372 h 372"/>
                  <a:gd name="T2" fmla="*/ 314 w 939"/>
                  <a:gd name="T3" fmla="*/ 372 h 372"/>
                  <a:gd name="T4" fmla="*/ 382 w 939"/>
                  <a:gd name="T5" fmla="*/ 372 h 372"/>
                  <a:gd name="T6" fmla="*/ 412 w 939"/>
                  <a:gd name="T7" fmla="*/ 372 h 372"/>
                  <a:gd name="T8" fmla="*/ 427 w 939"/>
                  <a:gd name="T9" fmla="*/ 370 h 372"/>
                  <a:gd name="T10" fmla="*/ 441 w 939"/>
                  <a:gd name="T11" fmla="*/ 369 h 372"/>
                  <a:gd name="T12" fmla="*/ 451 w 939"/>
                  <a:gd name="T13" fmla="*/ 369 h 372"/>
                  <a:gd name="T14" fmla="*/ 460 w 939"/>
                  <a:gd name="T15" fmla="*/ 367 h 372"/>
                  <a:gd name="T16" fmla="*/ 473 w 939"/>
                  <a:gd name="T17" fmla="*/ 365 h 372"/>
                  <a:gd name="T18" fmla="*/ 487 w 939"/>
                  <a:gd name="T19" fmla="*/ 364 h 372"/>
                  <a:gd name="T20" fmla="*/ 500 w 939"/>
                  <a:gd name="T21" fmla="*/ 362 h 372"/>
                  <a:gd name="T22" fmla="*/ 509 w 939"/>
                  <a:gd name="T23" fmla="*/ 359 h 372"/>
                  <a:gd name="T24" fmla="*/ 520 w 939"/>
                  <a:gd name="T25" fmla="*/ 356 h 372"/>
                  <a:gd name="T26" fmla="*/ 536 w 939"/>
                  <a:gd name="T27" fmla="*/ 351 h 372"/>
                  <a:gd name="T28" fmla="*/ 551 w 939"/>
                  <a:gd name="T29" fmla="*/ 347 h 372"/>
                  <a:gd name="T30" fmla="*/ 564 w 939"/>
                  <a:gd name="T31" fmla="*/ 342 h 372"/>
                  <a:gd name="T32" fmla="*/ 573 w 939"/>
                  <a:gd name="T33" fmla="*/ 339 h 372"/>
                  <a:gd name="T34" fmla="*/ 584 w 939"/>
                  <a:gd name="T35" fmla="*/ 334 h 372"/>
                  <a:gd name="T36" fmla="*/ 597 w 939"/>
                  <a:gd name="T37" fmla="*/ 328 h 372"/>
                  <a:gd name="T38" fmla="*/ 613 w 939"/>
                  <a:gd name="T39" fmla="*/ 320 h 372"/>
                  <a:gd name="T40" fmla="*/ 622 w 939"/>
                  <a:gd name="T41" fmla="*/ 315 h 372"/>
                  <a:gd name="T42" fmla="*/ 631 w 939"/>
                  <a:gd name="T43" fmla="*/ 310 h 372"/>
                  <a:gd name="T44" fmla="*/ 642 w 939"/>
                  <a:gd name="T45" fmla="*/ 304 h 372"/>
                  <a:gd name="T46" fmla="*/ 653 w 939"/>
                  <a:gd name="T47" fmla="*/ 298 h 372"/>
                  <a:gd name="T48" fmla="*/ 666 w 939"/>
                  <a:gd name="T49" fmla="*/ 292 h 372"/>
                  <a:gd name="T50" fmla="*/ 674 w 939"/>
                  <a:gd name="T51" fmla="*/ 287 h 372"/>
                  <a:gd name="T52" fmla="*/ 682 w 939"/>
                  <a:gd name="T53" fmla="*/ 282 h 372"/>
                  <a:gd name="T54" fmla="*/ 691 w 939"/>
                  <a:gd name="T55" fmla="*/ 276 h 372"/>
                  <a:gd name="T56" fmla="*/ 700 w 939"/>
                  <a:gd name="T57" fmla="*/ 270 h 372"/>
                  <a:gd name="T58" fmla="*/ 708 w 939"/>
                  <a:gd name="T59" fmla="*/ 263 h 372"/>
                  <a:gd name="T60" fmla="*/ 715 w 939"/>
                  <a:gd name="T61" fmla="*/ 260 h 372"/>
                  <a:gd name="T62" fmla="*/ 719 w 939"/>
                  <a:gd name="T63" fmla="*/ 256 h 372"/>
                  <a:gd name="T64" fmla="*/ 727 w 939"/>
                  <a:gd name="T65" fmla="*/ 249 h 372"/>
                  <a:gd name="T66" fmla="*/ 733 w 939"/>
                  <a:gd name="T67" fmla="*/ 245 h 372"/>
                  <a:gd name="T68" fmla="*/ 740 w 939"/>
                  <a:gd name="T69" fmla="*/ 240 h 372"/>
                  <a:gd name="T70" fmla="*/ 744 w 939"/>
                  <a:gd name="T71" fmla="*/ 237 h 372"/>
                  <a:gd name="T72" fmla="*/ 751 w 939"/>
                  <a:gd name="T73" fmla="*/ 232 h 372"/>
                  <a:gd name="T74" fmla="*/ 759 w 939"/>
                  <a:gd name="T75" fmla="*/ 227 h 372"/>
                  <a:gd name="T76" fmla="*/ 766 w 939"/>
                  <a:gd name="T77" fmla="*/ 221 h 372"/>
                  <a:gd name="T78" fmla="*/ 771 w 939"/>
                  <a:gd name="T79" fmla="*/ 218 h 372"/>
                  <a:gd name="T80" fmla="*/ 777 w 939"/>
                  <a:gd name="T81" fmla="*/ 212 h 372"/>
                  <a:gd name="T82" fmla="*/ 785 w 939"/>
                  <a:gd name="T83" fmla="*/ 204 h 372"/>
                  <a:gd name="T84" fmla="*/ 793 w 939"/>
                  <a:gd name="T85" fmla="*/ 196 h 372"/>
                  <a:gd name="T86" fmla="*/ 801 w 939"/>
                  <a:gd name="T87" fmla="*/ 187 h 372"/>
                  <a:gd name="T88" fmla="*/ 807 w 939"/>
                  <a:gd name="T89" fmla="*/ 180 h 372"/>
                  <a:gd name="T90" fmla="*/ 813 w 939"/>
                  <a:gd name="T91" fmla="*/ 172 h 372"/>
                  <a:gd name="T92" fmla="*/ 823 w 939"/>
                  <a:gd name="T93" fmla="*/ 161 h 372"/>
                  <a:gd name="T94" fmla="*/ 834 w 939"/>
                  <a:gd name="T95" fmla="*/ 149 h 372"/>
                  <a:gd name="T96" fmla="*/ 842 w 939"/>
                  <a:gd name="T97" fmla="*/ 139 h 372"/>
                  <a:gd name="T98" fmla="*/ 848 w 939"/>
                  <a:gd name="T99" fmla="*/ 132 h 372"/>
                  <a:gd name="T100" fmla="*/ 856 w 939"/>
                  <a:gd name="T101" fmla="*/ 121 h 372"/>
                  <a:gd name="T102" fmla="*/ 864 w 939"/>
                  <a:gd name="T103" fmla="*/ 108 h 372"/>
                  <a:gd name="T104" fmla="*/ 875 w 939"/>
                  <a:gd name="T105" fmla="*/ 92 h 372"/>
                  <a:gd name="T106" fmla="*/ 883 w 939"/>
                  <a:gd name="T107" fmla="*/ 83 h 372"/>
                  <a:gd name="T108" fmla="*/ 889 w 939"/>
                  <a:gd name="T109" fmla="*/ 74 h 372"/>
                  <a:gd name="T110" fmla="*/ 898 w 939"/>
                  <a:gd name="T111" fmla="*/ 61 h 372"/>
                  <a:gd name="T112" fmla="*/ 909 w 939"/>
                  <a:gd name="T113" fmla="*/ 47 h 372"/>
                  <a:gd name="T114" fmla="*/ 919 w 939"/>
                  <a:gd name="T115" fmla="*/ 33 h 372"/>
                  <a:gd name="T116" fmla="*/ 925 w 939"/>
                  <a:gd name="T117" fmla="*/ 23 h 372"/>
                  <a:gd name="T118" fmla="*/ 930 w 939"/>
                  <a:gd name="T119" fmla="*/ 16 h 372"/>
                  <a:gd name="T120" fmla="*/ 937 w 939"/>
                  <a:gd name="T121" fmla="*/ 5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9" h="372">
                    <a:moveTo>
                      <a:pt x="0" y="372"/>
                    </a:moveTo>
                    <a:lnTo>
                      <a:pt x="37" y="372"/>
                    </a:lnTo>
                    <a:lnTo>
                      <a:pt x="71" y="372"/>
                    </a:lnTo>
                    <a:lnTo>
                      <a:pt x="102" y="372"/>
                    </a:lnTo>
                    <a:lnTo>
                      <a:pt x="132" y="372"/>
                    </a:lnTo>
                    <a:lnTo>
                      <a:pt x="159" y="372"/>
                    </a:lnTo>
                    <a:lnTo>
                      <a:pt x="184" y="372"/>
                    </a:lnTo>
                    <a:lnTo>
                      <a:pt x="208" y="372"/>
                    </a:lnTo>
                    <a:lnTo>
                      <a:pt x="230" y="372"/>
                    </a:lnTo>
                    <a:lnTo>
                      <a:pt x="250" y="372"/>
                    </a:lnTo>
                    <a:lnTo>
                      <a:pt x="269" y="372"/>
                    </a:lnTo>
                    <a:lnTo>
                      <a:pt x="286" y="372"/>
                    </a:lnTo>
                    <a:lnTo>
                      <a:pt x="300" y="372"/>
                    </a:lnTo>
                    <a:lnTo>
                      <a:pt x="314" y="372"/>
                    </a:lnTo>
                    <a:lnTo>
                      <a:pt x="328" y="372"/>
                    </a:lnTo>
                    <a:lnTo>
                      <a:pt x="339" y="372"/>
                    </a:lnTo>
                    <a:lnTo>
                      <a:pt x="350" y="372"/>
                    </a:lnTo>
                    <a:lnTo>
                      <a:pt x="360" y="372"/>
                    </a:lnTo>
                    <a:lnTo>
                      <a:pt x="368" y="372"/>
                    </a:lnTo>
                    <a:lnTo>
                      <a:pt x="376" y="372"/>
                    </a:lnTo>
                    <a:lnTo>
                      <a:pt x="382" y="372"/>
                    </a:lnTo>
                    <a:lnTo>
                      <a:pt x="388" y="372"/>
                    </a:lnTo>
                    <a:lnTo>
                      <a:pt x="393" y="372"/>
                    </a:lnTo>
                    <a:lnTo>
                      <a:pt x="398" y="372"/>
                    </a:lnTo>
                    <a:lnTo>
                      <a:pt x="402" y="372"/>
                    </a:lnTo>
                    <a:lnTo>
                      <a:pt x="405" y="372"/>
                    </a:lnTo>
                    <a:lnTo>
                      <a:pt x="409" y="372"/>
                    </a:lnTo>
                    <a:lnTo>
                      <a:pt x="412" y="372"/>
                    </a:lnTo>
                    <a:lnTo>
                      <a:pt x="413" y="372"/>
                    </a:lnTo>
                    <a:lnTo>
                      <a:pt x="416" y="372"/>
                    </a:lnTo>
                    <a:lnTo>
                      <a:pt x="420" y="370"/>
                    </a:lnTo>
                    <a:lnTo>
                      <a:pt x="421" y="370"/>
                    </a:lnTo>
                    <a:lnTo>
                      <a:pt x="424" y="370"/>
                    </a:lnTo>
                    <a:lnTo>
                      <a:pt x="424" y="370"/>
                    </a:lnTo>
                    <a:lnTo>
                      <a:pt x="427" y="370"/>
                    </a:lnTo>
                    <a:lnTo>
                      <a:pt x="429" y="370"/>
                    </a:lnTo>
                    <a:lnTo>
                      <a:pt x="432" y="370"/>
                    </a:lnTo>
                    <a:lnTo>
                      <a:pt x="434" y="370"/>
                    </a:lnTo>
                    <a:lnTo>
                      <a:pt x="435" y="370"/>
                    </a:lnTo>
                    <a:lnTo>
                      <a:pt x="437" y="370"/>
                    </a:lnTo>
                    <a:lnTo>
                      <a:pt x="440" y="370"/>
                    </a:lnTo>
                    <a:lnTo>
                      <a:pt x="441" y="369"/>
                    </a:lnTo>
                    <a:lnTo>
                      <a:pt x="443" y="369"/>
                    </a:lnTo>
                    <a:lnTo>
                      <a:pt x="445" y="369"/>
                    </a:lnTo>
                    <a:lnTo>
                      <a:pt x="446" y="369"/>
                    </a:lnTo>
                    <a:lnTo>
                      <a:pt x="448" y="369"/>
                    </a:lnTo>
                    <a:lnTo>
                      <a:pt x="448" y="369"/>
                    </a:lnTo>
                    <a:lnTo>
                      <a:pt x="449" y="369"/>
                    </a:lnTo>
                    <a:lnTo>
                      <a:pt x="451" y="369"/>
                    </a:lnTo>
                    <a:lnTo>
                      <a:pt x="452" y="369"/>
                    </a:lnTo>
                    <a:lnTo>
                      <a:pt x="454" y="369"/>
                    </a:lnTo>
                    <a:lnTo>
                      <a:pt x="456" y="369"/>
                    </a:lnTo>
                    <a:lnTo>
                      <a:pt x="457" y="369"/>
                    </a:lnTo>
                    <a:lnTo>
                      <a:pt x="457" y="367"/>
                    </a:lnTo>
                    <a:lnTo>
                      <a:pt x="459" y="367"/>
                    </a:lnTo>
                    <a:lnTo>
                      <a:pt x="460" y="367"/>
                    </a:lnTo>
                    <a:lnTo>
                      <a:pt x="462" y="367"/>
                    </a:lnTo>
                    <a:lnTo>
                      <a:pt x="463" y="367"/>
                    </a:lnTo>
                    <a:lnTo>
                      <a:pt x="465" y="367"/>
                    </a:lnTo>
                    <a:lnTo>
                      <a:pt x="467" y="367"/>
                    </a:lnTo>
                    <a:lnTo>
                      <a:pt x="468" y="365"/>
                    </a:lnTo>
                    <a:lnTo>
                      <a:pt x="471" y="365"/>
                    </a:lnTo>
                    <a:lnTo>
                      <a:pt x="473" y="365"/>
                    </a:lnTo>
                    <a:lnTo>
                      <a:pt x="474" y="365"/>
                    </a:lnTo>
                    <a:lnTo>
                      <a:pt x="478" y="365"/>
                    </a:lnTo>
                    <a:lnTo>
                      <a:pt x="479" y="364"/>
                    </a:lnTo>
                    <a:lnTo>
                      <a:pt x="479" y="364"/>
                    </a:lnTo>
                    <a:lnTo>
                      <a:pt x="482" y="364"/>
                    </a:lnTo>
                    <a:lnTo>
                      <a:pt x="485" y="364"/>
                    </a:lnTo>
                    <a:lnTo>
                      <a:pt x="487" y="364"/>
                    </a:lnTo>
                    <a:lnTo>
                      <a:pt x="489" y="364"/>
                    </a:lnTo>
                    <a:lnTo>
                      <a:pt x="492" y="362"/>
                    </a:lnTo>
                    <a:lnTo>
                      <a:pt x="493" y="362"/>
                    </a:lnTo>
                    <a:lnTo>
                      <a:pt x="495" y="362"/>
                    </a:lnTo>
                    <a:lnTo>
                      <a:pt x="496" y="362"/>
                    </a:lnTo>
                    <a:lnTo>
                      <a:pt x="498" y="362"/>
                    </a:lnTo>
                    <a:lnTo>
                      <a:pt x="500" y="362"/>
                    </a:lnTo>
                    <a:lnTo>
                      <a:pt x="501" y="361"/>
                    </a:lnTo>
                    <a:lnTo>
                      <a:pt x="503" y="361"/>
                    </a:lnTo>
                    <a:lnTo>
                      <a:pt x="504" y="361"/>
                    </a:lnTo>
                    <a:lnTo>
                      <a:pt x="506" y="361"/>
                    </a:lnTo>
                    <a:lnTo>
                      <a:pt x="507" y="361"/>
                    </a:lnTo>
                    <a:lnTo>
                      <a:pt x="507" y="361"/>
                    </a:lnTo>
                    <a:lnTo>
                      <a:pt x="509" y="359"/>
                    </a:lnTo>
                    <a:lnTo>
                      <a:pt x="511" y="359"/>
                    </a:lnTo>
                    <a:lnTo>
                      <a:pt x="512" y="359"/>
                    </a:lnTo>
                    <a:lnTo>
                      <a:pt x="514" y="359"/>
                    </a:lnTo>
                    <a:lnTo>
                      <a:pt x="515" y="358"/>
                    </a:lnTo>
                    <a:lnTo>
                      <a:pt x="517" y="358"/>
                    </a:lnTo>
                    <a:lnTo>
                      <a:pt x="518" y="358"/>
                    </a:lnTo>
                    <a:lnTo>
                      <a:pt x="520" y="356"/>
                    </a:lnTo>
                    <a:lnTo>
                      <a:pt x="522" y="356"/>
                    </a:lnTo>
                    <a:lnTo>
                      <a:pt x="525" y="356"/>
                    </a:lnTo>
                    <a:lnTo>
                      <a:pt x="526" y="354"/>
                    </a:lnTo>
                    <a:lnTo>
                      <a:pt x="528" y="354"/>
                    </a:lnTo>
                    <a:lnTo>
                      <a:pt x="531" y="353"/>
                    </a:lnTo>
                    <a:lnTo>
                      <a:pt x="534" y="353"/>
                    </a:lnTo>
                    <a:lnTo>
                      <a:pt x="536" y="351"/>
                    </a:lnTo>
                    <a:lnTo>
                      <a:pt x="539" y="351"/>
                    </a:lnTo>
                    <a:lnTo>
                      <a:pt x="539" y="351"/>
                    </a:lnTo>
                    <a:lnTo>
                      <a:pt x="542" y="350"/>
                    </a:lnTo>
                    <a:lnTo>
                      <a:pt x="545" y="350"/>
                    </a:lnTo>
                    <a:lnTo>
                      <a:pt x="547" y="348"/>
                    </a:lnTo>
                    <a:lnTo>
                      <a:pt x="550" y="348"/>
                    </a:lnTo>
                    <a:lnTo>
                      <a:pt x="551" y="347"/>
                    </a:lnTo>
                    <a:lnTo>
                      <a:pt x="553" y="347"/>
                    </a:lnTo>
                    <a:lnTo>
                      <a:pt x="556" y="345"/>
                    </a:lnTo>
                    <a:lnTo>
                      <a:pt x="558" y="345"/>
                    </a:lnTo>
                    <a:lnTo>
                      <a:pt x="559" y="345"/>
                    </a:lnTo>
                    <a:lnTo>
                      <a:pt x="561" y="343"/>
                    </a:lnTo>
                    <a:lnTo>
                      <a:pt x="562" y="343"/>
                    </a:lnTo>
                    <a:lnTo>
                      <a:pt x="564" y="342"/>
                    </a:lnTo>
                    <a:lnTo>
                      <a:pt x="565" y="342"/>
                    </a:lnTo>
                    <a:lnTo>
                      <a:pt x="567" y="342"/>
                    </a:lnTo>
                    <a:lnTo>
                      <a:pt x="569" y="340"/>
                    </a:lnTo>
                    <a:lnTo>
                      <a:pt x="570" y="340"/>
                    </a:lnTo>
                    <a:lnTo>
                      <a:pt x="572" y="340"/>
                    </a:lnTo>
                    <a:lnTo>
                      <a:pt x="573" y="339"/>
                    </a:lnTo>
                    <a:lnTo>
                      <a:pt x="573" y="339"/>
                    </a:lnTo>
                    <a:lnTo>
                      <a:pt x="575" y="339"/>
                    </a:lnTo>
                    <a:lnTo>
                      <a:pt x="576" y="337"/>
                    </a:lnTo>
                    <a:lnTo>
                      <a:pt x="578" y="337"/>
                    </a:lnTo>
                    <a:lnTo>
                      <a:pt x="580" y="336"/>
                    </a:lnTo>
                    <a:lnTo>
                      <a:pt x="581" y="336"/>
                    </a:lnTo>
                    <a:lnTo>
                      <a:pt x="583" y="334"/>
                    </a:lnTo>
                    <a:lnTo>
                      <a:pt x="584" y="334"/>
                    </a:lnTo>
                    <a:lnTo>
                      <a:pt x="586" y="332"/>
                    </a:lnTo>
                    <a:lnTo>
                      <a:pt x="589" y="332"/>
                    </a:lnTo>
                    <a:lnTo>
                      <a:pt x="591" y="331"/>
                    </a:lnTo>
                    <a:lnTo>
                      <a:pt x="592" y="329"/>
                    </a:lnTo>
                    <a:lnTo>
                      <a:pt x="595" y="328"/>
                    </a:lnTo>
                    <a:lnTo>
                      <a:pt x="597" y="328"/>
                    </a:lnTo>
                    <a:lnTo>
                      <a:pt x="597" y="328"/>
                    </a:lnTo>
                    <a:lnTo>
                      <a:pt x="600" y="326"/>
                    </a:lnTo>
                    <a:lnTo>
                      <a:pt x="603" y="325"/>
                    </a:lnTo>
                    <a:lnTo>
                      <a:pt x="605" y="323"/>
                    </a:lnTo>
                    <a:lnTo>
                      <a:pt x="606" y="323"/>
                    </a:lnTo>
                    <a:lnTo>
                      <a:pt x="609" y="321"/>
                    </a:lnTo>
                    <a:lnTo>
                      <a:pt x="611" y="321"/>
                    </a:lnTo>
                    <a:lnTo>
                      <a:pt x="613" y="320"/>
                    </a:lnTo>
                    <a:lnTo>
                      <a:pt x="614" y="320"/>
                    </a:lnTo>
                    <a:lnTo>
                      <a:pt x="616" y="318"/>
                    </a:lnTo>
                    <a:lnTo>
                      <a:pt x="617" y="318"/>
                    </a:lnTo>
                    <a:lnTo>
                      <a:pt x="619" y="317"/>
                    </a:lnTo>
                    <a:lnTo>
                      <a:pt x="620" y="317"/>
                    </a:lnTo>
                    <a:lnTo>
                      <a:pt x="620" y="315"/>
                    </a:lnTo>
                    <a:lnTo>
                      <a:pt x="622" y="315"/>
                    </a:lnTo>
                    <a:lnTo>
                      <a:pt x="624" y="314"/>
                    </a:lnTo>
                    <a:lnTo>
                      <a:pt x="625" y="314"/>
                    </a:lnTo>
                    <a:lnTo>
                      <a:pt x="627" y="314"/>
                    </a:lnTo>
                    <a:lnTo>
                      <a:pt x="627" y="312"/>
                    </a:lnTo>
                    <a:lnTo>
                      <a:pt x="628" y="312"/>
                    </a:lnTo>
                    <a:lnTo>
                      <a:pt x="630" y="310"/>
                    </a:lnTo>
                    <a:lnTo>
                      <a:pt x="631" y="310"/>
                    </a:lnTo>
                    <a:lnTo>
                      <a:pt x="633" y="309"/>
                    </a:lnTo>
                    <a:lnTo>
                      <a:pt x="633" y="309"/>
                    </a:lnTo>
                    <a:lnTo>
                      <a:pt x="635" y="307"/>
                    </a:lnTo>
                    <a:lnTo>
                      <a:pt x="636" y="307"/>
                    </a:lnTo>
                    <a:lnTo>
                      <a:pt x="638" y="306"/>
                    </a:lnTo>
                    <a:lnTo>
                      <a:pt x="639" y="306"/>
                    </a:lnTo>
                    <a:lnTo>
                      <a:pt x="642" y="304"/>
                    </a:lnTo>
                    <a:lnTo>
                      <a:pt x="644" y="303"/>
                    </a:lnTo>
                    <a:lnTo>
                      <a:pt x="646" y="303"/>
                    </a:lnTo>
                    <a:lnTo>
                      <a:pt x="647" y="301"/>
                    </a:lnTo>
                    <a:lnTo>
                      <a:pt x="650" y="299"/>
                    </a:lnTo>
                    <a:lnTo>
                      <a:pt x="650" y="299"/>
                    </a:lnTo>
                    <a:lnTo>
                      <a:pt x="652" y="298"/>
                    </a:lnTo>
                    <a:lnTo>
                      <a:pt x="653" y="298"/>
                    </a:lnTo>
                    <a:lnTo>
                      <a:pt x="657" y="296"/>
                    </a:lnTo>
                    <a:lnTo>
                      <a:pt x="658" y="295"/>
                    </a:lnTo>
                    <a:lnTo>
                      <a:pt x="660" y="295"/>
                    </a:lnTo>
                    <a:lnTo>
                      <a:pt x="661" y="293"/>
                    </a:lnTo>
                    <a:lnTo>
                      <a:pt x="663" y="293"/>
                    </a:lnTo>
                    <a:lnTo>
                      <a:pt x="664" y="292"/>
                    </a:lnTo>
                    <a:lnTo>
                      <a:pt x="666" y="292"/>
                    </a:lnTo>
                    <a:lnTo>
                      <a:pt x="668" y="290"/>
                    </a:lnTo>
                    <a:lnTo>
                      <a:pt x="668" y="290"/>
                    </a:lnTo>
                    <a:lnTo>
                      <a:pt x="669" y="289"/>
                    </a:lnTo>
                    <a:lnTo>
                      <a:pt x="671" y="289"/>
                    </a:lnTo>
                    <a:lnTo>
                      <a:pt x="672" y="287"/>
                    </a:lnTo>
                    <a:lnTo>
                      <a:pt x="672" y="287"/>
                    </a:lnTo>
                    <a:lnTo>
                      <a:pt x="674" y="287"/>
                    </a:lnTo>
                    <a:lnTo>
                      <a:pt x="675" y="285"/>
                    </a:lnTo>
                    <a:lnTo>
                      <a:pt x="675" y="285"/>
                    </a:lnTo>
                    <a:lnTo>
                      <a:pt x="677" y="284"/>
                    </a:lnTo>
                    <a:lnTo>
                      <a:pt x="678" y="284"/>
                    </a:lnTo>
                    <a:lnTo>
                      <a:pt x="678" y="284"/>
                    </a:lnTo>
                    <a:lnTo>
                      <a:pt x="680" y="282"/>
                    </a:lnTo>
                    <a:lnTo>
                      <a:pt x="682" y="282"/>
                    </a:lnTo>
                    <a:lnTo>
                      <a:pt x="682" y="281"/>
                    </a:lnTo>
                    <a:lnTo>
                      <a:pt x="683" y="281"/>
                    </a:lnTo>
                    <a:lnTo>
                      <a:pt x="685" y="279"/>
                    </a:lnTo>
                    <a:lnTo>
                      <a:pt x="686" y="279"/>
                    </a:lnTo>
                    <a:lnTo>
                      <a:pt x="688" y="278"/>
                    </a:lnTo>
                    <a:lnTo>
                      <a:pt x="689" y="276"/>
                    </a:lnTo>
                    <a:lnTo>
                      <a:pt x="691" y="276"/>
                    </a:lnTo>
                    <a:lnTo>
                      <a:pt x="693" y="274"/>
                    </a:lnTo>
                    <a:lnTo>
                      <a:pt x="694" y="273"/>
                    </a:lnTo>
                    <a:lnTo>
                      <a:pt x="694" y="273"/>
                    </a:lnTo>
                    <a:lnTo>
                      <a:pt x="696" y="273"/>
                    </a:lnTo>
                    <a:lnTo>
                      <a:pt x="697" y="271"/>
                    </a:lnTo>
                    <a:lnTo>
                      <a:pt x="699" y="270"/>
                    </a:lnTo>
                    <a:lnTo>
                      <a:pt x="700" y="270"/>
                    </a:lnTo>
                    <a:lnTo>
                      <a:pt x="702" y="268"/>
                    </a:lnTo>
                    <a:lnTo>
                      <a:pt x="704" y="268"/>
                    </a:lnTo>
                    <a:lnTo>
                      <a:pt x="704" y="267"/>
                    </a:lnTo>
                    <a:lnTo>
                      <a:pt x="705" y="267"/>
                    </a:lnTo>
                    <a:lnTo>
                      <a:pt x="707" y="265"/>
                    </a:lnTo>
                    <a:lnTo>
                      <a:pt x="708" y="265"/>
                    </a:lnTo>
                    <a:lnTo>
                      <a:pt x="708" y="263"/>
                    </a:lnTo>
                    <a:lnTo>
                      <a:pt x="710" y="263"/>
                    </a:lnTo>
                    <a:lnTo>
                      <a:pt x="710" y="262"/>
                    </a:lnTo>
                    <a:lnTo>
                      <a:pt x="711" y="262"/>
                    </a:lnTo>
                    <a:lnTo>
                      <a:pt x="711" y="262"/>
                    </a:lnTo>
                    <a:lnTo>
                      <a:pt x="713" y="260"/>
                    </a:lnTo>
                    <a:lnTo>
                      <a:pt x="713" y="260"/>
                    </a:lnTo>
                    <a:lnTo>
                      <a:pt x="715" y="260"/>
                    </a:lnTo>
                    <a:lnTo>
                      <a:pt x="715" y="259"/>
                    </a:lnTo>
                    <a:lnTo>
                      <a:pt x="716" y="259"/>
                    </a:lnTo>
                    <a:lnTo>
                      <a:pt x="716" y="259"/>
                    </a:lnTo>
                    <a:lnTo>
                      <a:pt x="718" y="257"/>
                    </a:lnTo>
                    <a:lnTo>
                      <a:pt x="718" y="257"/>
                    </a:lnTo>
                    <a:lnTo>
                      <a:pt x="719" y="256"/>
                    </a:lnTo>
                    <a:lnTo>
                      <a:pt x="719" y="256"/>
                    </a:lnTo>
                    <a:lnTo>
                      <a:pt x="721" y="256"/>
                    </a:lnTo>
                    <a:lnTo>
                      <a:pt x="722" y="254"/>
                    </a:lnTo>
                    <a:lnTo>
                      <a:pt x="722" y="254"/>
                    </a:lnTo>
                    <a:lnTo>
                      <a:pt x="724" y="252"/>
                    </a:lnTo>
                    <a:lnTo>
                      <a:pt x="726" y="252"/>
                    </a:lnTo>
                    <a:lnTo>
                      <a:pt x="726" y="251"/>
                    </a:lnTo>
                    <a:lnTo>
                      <a:pt x="727" y="249"/>
                    </a:lnTo>
                    <a:lnTo>
                      <a:pt x="727" y="249"/>
                    </a:lnTo>
                    <a:lnTo>
                      <a:pt x="729" y="249"/>
                    </a:lnTo>
                    <a:lnTo>
                      <a:pt x="730" y="248"/>
                    </a:lnTo>
                    <a:lnTo>
                      <a:pt x="730" y="248"/>
                    </a:lnTo>
                    <a:lnTo>
                      <a:pt x="732" y="246"/>
                    </a:lnTo>
                    <a:lnTo>
                      <a:pt x="733" y="246"/>
                    </a:lnTo>
                    <a:lnTo>
                      <a:pt x="733" y="245"/>
                    </a:lnTo>
                    <a:lnTo>
                      <a:pt x="735" y="245"/>
                    </a:lnTo>
                    <a:lnTo>
                      <a:pt x="735" y="243"/>
                    </a:lnTo>
                    <a:lnTo>
                      <a:pt x="737" y="243"/>
                    </a:lnTo>
                    <a:lnTo>
                      <a:pt x="737" y="241"/>
                    </a:lnTo>
                    <a:lnTo>
                      <a:pt x="738" y="241"/>
                    </a:lnTo>
                    <a:lnTo>
                      <a:pt x="738" y="241"/>
                    </a:lnTo>
                    <a:lnTo>
                      <a:pt x="740" y="240"/>
                    </a:lnTo>
                    <a:lnTo>
                      <a:pt x="740" y="240"/>
                    </a:lnTo>
                    <a:lnTo>
                      <a:pt x="741" y="240"/>
                    </a:lnTo>
                    <a:lnTo>
                      <a:pt x="741" y="238"/>
                    </a:lnTo>
                    <a:lnTo>
                      <a:pt x="741" y="238"/>
                    </a:lnTo>
                    <a:lnTo>
                      <a:pt x="743" y="238"/>
                    </a:lnTo>
                    <a:lnTo>
                      <a:pt x="743" y="237"/>
                    </a:lnTo>
                    <a:lnTo>
                      <a:pt x="744" y="237"/>
                    </a:lnTo>
                    <a:lnTo>
                      <a:pt x="744" y="237"/>
                    </a:lnTo>
                    <a:lnTo>
                      <a:pt x="746" y="235"/>
                    </a:lnTo>
                    <a:lnTo>
                      <a:pt x="746" y="235"/>
                    </a:lnTo>
                    <a:lnTo>
                      <a:pt x="748" y="235"/>
                    </a:lnTo>
                    <a:lnTo>
                      <a:pt x="749" y="234"/>
                    </a:lnTo>
                    <a:lnTo>
                      <a:pt x="749" y="234"/>
                    </a:lnTo>
                    <a:lnTo>
                      <a:pt x="751" y="232"/>
                    </a:lnTo>
                    <a:lnTo>
                      <a:pt x="752" y="232"/>
                    </a:lnTo>
                    <a:lnTo>
                      <a:pt x="752" y="230"/>
                    </a:lnTo>
                    <a:lnTo>
                      <a:pt x="754" y="230"/>
                    </a:lnTo>
                    <a:lnTo>
                      <a:pt x="755" y="229"/>
                    </a:lnTo>
                    <a:lnTo>
                      <a:pt x="757" y="229"/>
                    </a:lnTo>
                    <a:lnTo>
                      <a:pt x="757" y="229"/>
                    </a:lnTo>
                    <a:lnTo>
                      <a:pt x="759" y="227"/>
                    </a:lnTo>
                    <a:lnTo>
                      <a:pt x="760" y="226"/>
                    </a:lnTo>
                    <a:lnTo>
                      <a:pt x="760" y="226"/>
                    </a:lnTo>
                    <a:lnTo>
                      <a:pt x="762" y="224"/>
                    </a:lnTo>
                    <a:lnTo>
                      <a:pt x="763" y="224"/>
                    </a:lnTo>
                    <a:lnTo>
                      <a:pt x="765" y="223"/>
                    </a:lnTo>
                    <a:lnTo>
                      <a:pt x="765" y="223"/>
                    </a:lnTo>
                    <a:lnTo>
                      <a:pt x="766" y="221"/>
                    </a:lnTo>
                    <a:lnTo>
                      <a:pt x="766" y="221"/>
                    </a:lnTo>
                    <a:lnTo>
                      <a:pt x="768" y="221"/>
                    </a:lnTo>
                    <a:lnTo>
                      <a:pt x="768" y="219"/>
                    </a:lnTo>
                    <a:lnTo>
                      <a:pt x="770" y="219"/>
                    </a:lnTo>
                    <a:lnTo>
                      <a:pt x="771" y="218"/>
                    </a:lnTo>
                    <a:lnTo>
                      <a:pt x="771" y="218"/>
                    </a:lnTo>
                    <a:lnTo>
                      <a:pt x="771" y="218"/>
                    </a:lnTo>
                    <a:lnTo>
                      <a:pt x="773" y="216"/>
                    </a:lnTo>
                    <a:lnTo>
                      <a:pt x="773" y="216"/>
                    </a:lnTo>
                    <a:lnTo>
                      <a:pt x="774" y="215"/>
                    </a:lnTo>
                    <a:lnTo>
                      <a:pt x="774" y="215"/>
                    </a:lnTo>
                    <a:lnTo>
                      <a:pt x="776" y="213"/>
                    </a:lnTo>
                    <a:lnTo>
                      <a:pt x="776" y="213"/>
                    </a:lnTo>
                    <a:lnTo>
                      <a:pt x="777" y="212"/>
                    </a:lnTo>
                    <a:lnTo>
                      <a:pt x="779" y="212"/>
                    </a:lnTo>
                    <a:lnTo>
                      <a:pt x="779" y="210"/>
                    </a:lnTo>
                    <a:lnTo>
                      <a:pt x="781" y="209"/>
                    </a:lnTo>
                    <a:lnTo>
                      <a:pt x="782" y="209"/>
                    </a:lnTo>
                    <a:lnTo>
                      <a:pt x="782" y="207"/>
                    </a:lnTo>
                    <a:lnTo>
                      <a:pt x="784" y="205"/>
                    </a:lnTo>
                    <a:lnTo>
                      <a:pt x="785" y="204"/>
                    </a:lnTo>
                    <a:lnTo>
                      <a:pt x="787" y="202"/>
                    </a:lnTo>
                    <a:lnTo>
                      <a:pt x="788" y="201"/>
                    </a:lnTo>
                    <a:lnTo>
                      <a:pt x="788" y="199"/>
                    </a:lnTo>
                    <a:lnTo>
                      <a:pt x="788" y="199"/>
                    </a:lnTo>
                    <a:lnTo>
                      <a:pt x="790" y="198"/>
                    </a:lnTo>
                    <a:lnTo>
                      <a:pt x="792" y="196"/>
                    </a:lnTo>
                    <a:lnTo>
                      <a:pt x="793" y="196"/>
                    </a:lnTo>
                    <a:lnTo>
                      <a:pt x="795" y="194"/>
                    </a:lnTo>
                    <a:lnTo>
                      <a:pt x="796" y="193"/>
                    </a:lnTo>
                    <a:lnTo>
                      <a:pt x="796" y="191"/>
                    </a:lnTo>
                    <a:lnTo>
                      <a:pt x="798" y="190"/>
                    </a:lnTo>
                    <a:lnTo>
                      <a:pt x="799" y="190"/>
                    </a:lnTo>
                    <a:lnTo>
                      <a:pt x="799" y="188"/>
                    </a:lnTo>
                    <a:lnTo>
                      <a:pt x="801" y="187"/>
                    </a:lnTo>
                    <a:lnTo>
                      <a:pt x="802" y="187"/>
                    </a:lnTo>
                    <a:lnTo>
                      <a:pt x="802" y="185"/>
                    </a:lnTo>
                    <a:lnTo>
                      <a:pt x="804" y="185"/>
                    </a:lnTo>
                    <a:lnTo>
                      <a:pt x="804" y="183"/>
                    </a:lnTo>
                    <a:lnTo>
                      <a:pt x="806" y="182"/>
                    </a:lnTo>
                    <a:lnTo>
                      <a:pt x="806" y="182"/>
                    </a:lnTo>
                    <a:lnTo>
                      <a:pt x="807" y="180"/>
                    </a:lnTo>
                    <a:lnTo>
                      <a:pt x="807" y="179"/>
                    </a:lnTo>
                    <a:lnTo>
                      <a:pt x="809" y="179"/>
                    </a:lnTo>
                    <a:lnTo>
                      <a:pt x="810" y="177"/>
                    </a:lnTo>
                    <a:lnTo>
                      <a:pt x="810" y="176"/>
                    </a:lnTo>
                    <a:lnTo>
                      <a:pt x="812" y="176"/>
                    </a:lnTo>
                    <a:lnTo>
                      <a:pt x="812" y="174"/>
                    </a:lnTo>
                    <a:lnTo>
                      <a:pt x="813" y="172"/>
                    </a:lnTo>
                    <a:lnTo>
                      <a:pt x="815" y="171"/>
                    </a:lnTo>
                    <a:lnTo>
                      <a:pt x="817" y="169"/>
                    </a:lnTo>
                    <a:lnTo>
                      <a:pt x="817" y="168"/>
                    </a:lnTo>
                    <a:lnTo>
                      <a:pt x="818" y="166"/>
                    </a:lnTo>
                    <a:lnTo>
                      <a:pt x="820" y="165"/>
                    </a:lnTo>
                    <a:lnTo>
                      <a:pt x="821" y="163"/>
                    </a:lnTo>
                    <a:lnTo>
                      <a:pt x="823" y="161"/>
                    </a:lnTo>
                    <a:lnTo>
                      <a:pt x="824" y="158"/>
                    </a:lnTo>
                    <a:lnTo>
                      <a:pt x="824" y="158"/>
                    </a:lnTo>
                    <a:lnTo>
                      <a:pt x="828" y="157"/>
                    </a:lnTo>
                    <a:lnTo>
                      <a:pt x="829" y="155"/>
                    </a:lnTo>
                    <a:lnTo>
                      <a:pt x="831" y="152"/>
                    </a:lnTo>
                    <a:lnTo>
                      <a:pt x="832" y="150"/>
                    </a:lnTo>
                    <a:lnTo>
                      <a:pt x="834" y="149"/>
                    </a:lnTo>
                    <a:lnTo>
                      <a:pt x="834" y="147"/>
                    </a:lnTo>
                    <a:lnTo>
                      <a:pt x="835" y="146"/>
                    </a:lnTo>
                    <a:lnTo>
                      <a:pt x="837" y="144"/>
                    </a:lnTo>
                    <a:lnTo>
                      <a:pt x="839" y="143"/>
                    </a:lnTo>
                    <a:lnTo>
                      <a:pt x="839" y="143"/>
                    </a:lnTo>
                    <a:lnTo>
                      <a:pt x="840" y="141"/>
                    </a:lnTo>
                    <a:lnTo>
                      <a:pt x="842" y="139"/>
                    </a:lnTo>
                    <a:lnTo>
                      <a:pt x="842" y="138"/>
                    </a:lnTo>
                    <a:lnTo>
                      <a:pt x="843" y="136"/>
                    </a:lnTo>
                    <a:lnTo>
                      <a:pt x="843" y="136"/>
                    </a:lnTo>
                    <a:lnTo>
                      <a:pt x="845" y="135"/>
                    </a:lnTo>
                    <a:lnTo>
                      <a:pt x="846" y="133"/>
                    </a:lnTo>
                    <a:lnTo>
                      <a:pt x="846" y="132"/>
                    </a:lnTo>
                    <a:lnTo>
                      <a:pt x="848" y="132"/>
                    </a:lnTo>
                    <a:lnTo>
                      <a:pt x="848" y="130"/>
                    </a:lnTo>
                    <a:lnTo>
                      <a:pt x="850" y="128"/>
                    </a:lnTo>
                    <a:lnTo>
                      <a:pt x="851" y="127"/>
                    </a:lnTo>
                    <a:lnTo>
                      <a:pt x="851" y="125"/>
                    </a:lnTo>
                    <a:lnTo>
                      <a:pt x="853" y="124"/>
                    </a:lnTo>
                    <a:lnTo>
                      <a:pt x="854" y="122"/>
                    </a:lnTo>
                    <a:lnTo>
                      <a:pt x="856" y="121"/>
                    </a:lnTo>
                    <a:lnTo>
                      <a:pt x="856" y="119"/>
                    </a:lnTo>
                    <a:lnTo>
                      <a:pt x="857" y="116"/>
                    </a:lnTo>
                    <a:lnTo>
                      <a:pt x="859" y="114"/>
                    </a:lnTo>
                    <a:lnTo>
                      <a:pt x="861" y="113"/>
                    </a:lnTo>
                    <a:lnTo>
                      <a:pt x="862" y="110"/>
                    </a:lnTo>
                    <a:lnTo>
                      <a:pt x="864" y="108"/>
                    </a:lnTo>
                    <a:lnTo>
                      <a:pt x="864" y="108"/>
                    </a:lnTo>
                    <a:lnTo>
                      <a:pt x="867" y="105"/>
                    </a:lnTo>
                    <a:lnTo>
                      <a:pt x="868" y="103"/>
                    </a:lnTo>
                    <a:lnTo>
                      <a:pt x="870" y="100"/>
                    </a:lnTo>
                    <a:lnTo>
                      <a:pt x="872" y="99"/>
                    </a:lnTo>
                    <a:lnTo>
                      <a:pt x="873" y="97"/>
                    </a:lnTo>
                    <a:lnTo>
                      <a:pt x="873" y="94"/>
                    </a:lnTo>
                    <a:lnTo>
                      <a:pt x="875" y="92"/>
                    </a:lnTo>
                    <a:lnTo>
                      <a:pt x="876" y="91"/>
                    </a:lnTo>
                    <a:lnTo>
                      <a:pt x="878" y="89"/>
                    </a:lnTo>
                    <a:lnTo>
                      <a:pt x="878" y="88"/>
                    </a:lnTo>
                    <a:lnTo>
                      <a:pt x="879" y="86"/>
                    </a:lnTo>
                    <a:lnTo>
                      <a:pt x="881" y="86"/>
                    </a:lnTo>
                    <a:lnTo>
                      <a:pt x="881" y="85"/>
                    </a:lnTo>
                    <a:lnTo>
                      <a:pt x="883" y="83"/>
                    </a:lnTo>
                    <a:lnTo>
                      <a:pt x="884" y="81"/>
                    </a:lnTo>
                    <a:lnTo>
                      <a:pt x="884" y="80"/>
                    </a:lnTo>
                    <a:lnTo>
                      <a:pt x="886" y="78"/>
                    </a:lnTo>
                    <a:lnTo>
                      <a:pt x="886" y="77"/>
                    </a:lnTo>
                    <a:lnTo>
                      <a:pt x="887" y="77"/>
                    </a:lnTo>
                    <a:lnTo>
                      <a:pt x="889" y="75"/>
                    </a:lnTo>
                    <a:lnTo>
                      <a:pt x="889" y="74"/>
                    </a:lnTo>
                    <a:lnTo>
                      <a:pt x="890" y="72"/>
                    </a:lnTo>
                    <a:lnTo>
                      <a:pt x="892" y="70"/>
                    </a:lnTo>
                    <a:lnTo>
                      <a:pt x="892" y="69"/>
                    </a:lnTo>
                    <a:lnTo>
                      <a:pt x="894" y="67"/>
                    </a:lnTo>
                    <a:lnTo>
                      <a:pt x="895" y="66"/>
                    </a:lnTo>
                    <a:lnTo>
                      <a:pt x="897" y="63"/>
                    </a:lnTo>
                    <a:lnTo>
                      <a:pt x="898" y="61"/>
                    </a:lnTo>
                    <a:lnTo>
                      <a:pt x="900" y="59"/>
                    </a:lnTo>
                    <a:lnTo>
                      <a:pt x="901" y="56"/>
                    </a:lnTo>
                    <a:lnTo>
                      <a:pt x="903" y="55"/>
                    </a:lnTo>
                    <a:lnTo>
                      <a:pt x="905" y="52"/>
                    </a:lnTo>
                    <a:lnTo>
                      <a:pt x="905" y="52"/>
                    </a:lnTo>
                    <a:lnTo>
                      <a:pt x="906" y="48"/>
                    </a:lnTo>
                    <a:lnTo>
                      <a:pt x="909" y="47"/>
                    </a:lnTo>
                    <a:lnTo>
                      <a:pt x="911" y="44"/>
                    </a:lnTo>
                    <a:lnTo>
                      <a:pt x="912" y="42"/>
                    </a:lnTo>
                    <a:lnTo>
                      <a:pt x="914" y="41"/>
                    </a:lnTo>
                    <a:lnTo>
                      <a:pt x="914" y="39"/>
                    </a:lnTo>
                    <a:lnTo>
                      <a:pt x="916" y="36"/>
                    </a:lnTo>
                    <a:lnTo>
                      <a:pt x="917" y="34"/>
                    </a:lnTo>
                    <a:lnTo>
                      <a:pt x="919" y="33"/>
                    </a:lnTo>
                    <a:lnTo>
                      <a:pt x="919" y="31"/>
                    </a:lnTo>
                    <a:lnTo>
                      <a:pt x="920" y="30"/>
                    </a:lnTo>
                    <a:lnTo>
                      <a:pt x="922" y="30"/>
                    </a:lnTo>
                    <a:lnTo>
                      <a:pt x="922" y="28"/>
                    </a:lnTo>
                    <a:lnTo>
                      <a:pt x="923" y="27"/>
                    </a:lnTo>
                    <a:lnTo>
                      <a:pt x="923" y="25"/>
                    </a:lnTo>
                    <a:lnTo>
                      <a:pt x="925" y="23"/>
                    </a:lnTo>
                    <a:lnTo>
                      <a:pt x="925" y="23"/>
                    </a:lnTo>
                    <a:lnTo>
                      <a:pt x="926" y="22"/>
                    </a:lnTo>
                    <a:lnTo>
                      <a:pt x="926" y="20"/>
                    </a:lnTo>
                    <a:lnTo>
                      <a:pt x="928" y="19"/>
                    </a:lnTo>
                    <a:lnTo>
                      <a:pt x="928" y="19"/>
                    </a:lnTo>
                    <a:lnTo>
                      <a:pt x="930" y="17"/>
                    </a:lnTo>
                    <a:lnTo>
                      <a:pt x="930" y="16"/>
                    </a:lnTo>
                    <a:lnTo>
                      <a:pt x="931" y="14"/>
                    </a:lnTo>
                    <a:lnTo>
                      <a:pt x="931" y="12"/>
                    </a:lnTo>
                    <a:lnTo>
                      <a:pt x="933" y="11"/>
                    </a:lnTo>
                    <a:lnTo>
                      <a:pt x="934" y="9"/>
                    </a:lnTo>
                    <a:lnTo>
                      <a:pt x="934" y="8"/>
                    </a:lnTo>
                    <a:lnTo>
                      <a:pt x="936" y="6"/>
                    </a:lnTo>
                    <a:lnTo>
                      <a:pt x="937" y="5"/>
                    </a:lnTo>
                    <a:lnTo>
                      <a:pt x="937" y="1"/>
                    </a:lnTo>
                    <a:lnTo>
                      <a:pt x="939" y="0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5" name="Freeform 45"/>
              <p:cNvSpPr>
                <a:spLocks/>
              </p:cNvSpPr>
              <p:nvPr/>
            </p:nvSpPr>
            <p:spPr bwMode="auto">
              <a:xfrm>
                <a:off x="1833563" y="2486025"/>
                <a:ext cx="746125" cy="296863"/>
              </a:xfrm>
              <a:custGeom>
                <a:avLst/>
                <a:gdLst>
                  <a:gd name="T0" fmla="*/ 184 w 939"/>
                  <a:gd name="T1" fmla="*/ 0 h 373"/>
                  <a:gd name="T2" fmla="*/ 314 w 939"/>
                  <a:gd name="T3" fmla="*/ 0 h 373"/>
                  <a:gd name="T4" fmla="*/ 382 w 939"/>
                  <a:gd name="T5" fmla="*/ 1 h 373"/>
                  <a:gd name="T6" fmla="*/ 412 w 939"/>
                  <a:gd name="T7" fmla="*/ 1 h 373"/>
                  <a:gd name="T8" fmla="*/ 427 w 939"/>
                  <a:gd name="T9" fmla="*/ 3 h 373"/>
                  <a:gd name="T10" fmla="*/ 441 w 939"/>
                  <a:gd name="T11" fmla="*/ 3 h 373"/>
                  <a:gd name="T12" fmla="*/ 451 w 939"/>
                  <a:gd name="T13" fmla="*/ 5 h 373"/>
                  <a:gd name="T14" fmla="*/ 460 w 939"/>
                  <a:gd name="T15" fmla="*/ 5 h 373"/>
                  <a:gd name="T16" fmla="*/ 473 w 939"/>
                  <a:gd name="T17" fmla="*/ 8 h 373"/>
                  <a:gd name="T18" fmla="*/ 487 w 939"/>
                  <a:gd name="T19" fmla="*/ 9 h 373"/>
                  <a:gd name="T20" fmla="*/ 500 w 939"/>
                  <a:gd name="T21" fmla="*/ 11 h 373"/>
                  <a:gd name="T22" fmla="*/ 509 w 939"/>
                  <a:gd name="T23" fmla="*/ 12 h 373"/>
                  <a:gd name="T24" fmla="*/ 520 w 939"/>
                  <a:gd name="T25" fmla="*/ 16 h 373"/>
                  <a:gd name="T26" fmla="*/ 536 w 939"/>
                  <a:gd name="T27" fmla="*/ 20 h 373"/>
                  <a:gd name="T28" fmla="*/ 551 w 939"/>
                  <a:gd name="T29" fmla="*/ 27 h 373"/>
                  <a:gd name="T30" fmla="*/ 564 w 939"/>
                  <a:gd name="T31" fmla="*/ 30 h 373"/>
                  <a:gd name="T32" fmla="*/ 573 w 939"/>
                  <a:gd name="T33" fmla="*/ 34 h 373"/>
                  <a:gd name="T34" fmla="*/ 584 w 939"/>
                  <a:gd name="T35" fmla="*/ 39 h 373"/>
                  <a:gd name="T36" fmla="*/ 597 w 939"/>
                  <a:gd name="T37" fmla="*/ 45 h 373"/>
                  <a:gd name="T38" fmla="*/ 613 w 939"/>
                  <a:gd name="T39" fmla="*/ 53 h 373"/>
                  <a:gd name="T40" fmla="*/ 622 w 939"/>
                  <a:gd name="T41" fmla="*/ 58 h 373"/>
                  <a:gd name="T42" fmla="*/ 631 w 939"/>
                  <a:gd name="T43" fmla="*/ 63 h 373"/>
                  <a:gd name="T44" fmla="*/ 642 w 939"/>
                  <a:gd name="T45" fmla="*/ 67 h 373"/>
                  <a:gd name="T46" fmla="*/ 653 w 939"/>
                  <a:gd name="T47" fmla="*/ 75 h 373"/>
                  <a:gd name="T48" fmla="*/ 666 w 939"/>
                  <a:gd name="T49" fmla="*/ 81 h 373"/>
                  <a:gd name="T50" fmla="*/ 674 w 939"/>
                  <a:gd name="T51" fmla="*/ 86 h 373"/>
                  <a:gd name="T52" fmla="*/ 682 w 939"/>
                  <a:gd name="T53" fmla="*/ 91 h 373"/>
                  <a:gd name="T54" fmla="*/ 691 w 939"/>
                  <a:gd name="T55" fmla="*/ 97 h 373"/>
                  <a:gd name="T56" fmla="*/ 700 w 939"/>
                  <a:gd name="T57" fmla="*/ 103 h 373"/>
                  <a:gd name="T58" fmla="*/ 708 w 939"/>
                  <a:gd name="T59" fmla="*/ 108 h 373"/>
                  <a:gd name="T60" fmla="*/ 715 w 939"/>
                  <a:gd name="T61" fmla="*/ 113 h 373"/>
                  <a:gd name="T62" fmla="*/ 719 w 939"/>
                  <a:gd name="T63" fmla="*/ 118 h 373"/>
                  <a:gd name="T64" fmla="*/ 727 w 939"/>
                  <a:gd name="T65" fmla="*/ 122 h 373"/>
                  <a:gd name="T66" fmla="*/ 733 w 939"/>
                  <a:gd name="T67" fmla="*/ 129 h 373"/>
                  <a:gd name="T68" fmla="*/ 740 w 939"/>
                  <a:gd name="T69" fmla="*/ 132 h 373"/>
                  <a:gd name="T70" fmla="*/ 744 w 939"/>
                  <a:gd name="T71" fmla="*/ 136 h 373"/>
                  <a:gd name="T72" fmla="*/ 751 w 939"/>
                  <a:gd name="T73" fmla="*/ 140 h 373"/>
                  <a:gd name="T74" fmla="*/ 759 w 939"/>
                  <a:gd name="T75" fmla="*/ 146 h 373"/>
                  <a:gd name="T76" fmla="*/ 766 w 939"/>
                  <a:gd name="T77" fmla="*/ 151 h 373"/>
                  <a:gd name="T78" fmla="*/ 771 w 939"/>
                  <a:gd name="T79" fmla="*/ 155 h 373"/>
                  <a:gd name="T80" fmla="*/ 777 w 939"/>
                  <a:gd name="T81" fmla="*/ 160 h 373"/>
                  <a:gd name="T82" fmla="*/ 785 w 939"/>
                  <a:gd name="T83" fmla="*/ 168 h 373"/>
                  <a:gd name="T84" fmla="*/ 793 w 939"/>
                  <a:gd name="T85" fmla="*/ 177 h 373"/>
                  <a:gd name="T86" fmla="*/ 801 w 939"/>
                  <a:gd name="T87" fmla="*/ 185 h 373"/>
                  <a:gd name="T88" fmla="*/ 807 w 939"/>
                  <a:gd name="T89" fmla="*/ 193 h 373"/>
                  <a:gd name="T90" fmla="*/ 813 w 939"/>
                  <a:gd name="T91" fmla="*/ 201 h 373"/>
                  <a:gd name="T92" fmla="*/ 823 w 939"/>
                  <a:gd name="T93" fmla="*/ 212 h 373"/>
                  <a:gd name="T94" fmla="*/ 834 w 939"/>
                  <a:gd name="T95" fmla="*/ 223 h 373"/>
                  <a:gd name="T96" fmla="*/ 842 w 939"/>
                  <a:gd name="T97" fmla="*/ 234 h 373"/>
                  <a:gd name="T98" fmla="*/ 848 w 939"/>
                  <a:gd name="T99" fmla="*/ 241 h 373"/>
                  <a:gd name="T100" fmla="*/ 856 w 939"/>
                  <a:gd name="T101" fmla="*/ 252 h 373"/>
                  <a:gd name="T102" fmla="*/ 864 w 939"/>
                  <a:gd name="T103" fmla="*/ 265 h 373"/>
                  <a:gd name="T104" fmla="*/ 875 w 939"/>
                  <a:gd name="T105" fmla="*/ 279 h 373"/>
                  <a:gd name="T106" fmla="*/ 883 w 939"/>
                  <a:gd name="T107" fmla="*/ 290 h 373"/>
                  <a:gd name="T108" fmla="*/ 889 w 939"/>
                  <a:gd name="T109" fmla="*/ 300 h 373"/>
                  <a:gd name="T110" fmla="*/ 898 w 939"/>
                  <a:gd name="T111" fmla="*/ 312 h 373"/>
                  <a:gd name="T112" fmla="*/ 909 w 939"/>
                  <a:gd name="T113" fmla="*/ 326 h 373"/>
                  <a:gd name="T114" fmla="*/ 919 w 939"/>
                  <a:gd name="T115" fmla="*/ 339 h 373"/>
                  <a:gd name="T116" fmla="*/ 925 w 939"/>
                  <a:gd name="T117" fmla="*/ 348 h 373"/>
                  <a:gd name="T118" fmla="*/ 930 w 939"/>
                  <a:gd name="T119" fmla="*/ 358 h 373"/>
                  <a:gd name="T120" fmla="*/ 937 w 939"/>
                  <a:gd name="T121" fmla="*/ 369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9" h="373">
                    <a:moveTo>
                      <a:pt x="0" y="0"/>
                    </a:moveTo>
                    <a:lnTo>
                      <a:pt x="37" y="0"/>
                    </a:lnTo>
                    <a:lnTo>
                      <a:pt x="71" y="0"/>
                    </a:lnTo>
                    <a:lnTo>
                      <a:pt x="102" y="0"/>
                    </a:lnTo>
                    <a:lnTo>
                      <a:pt x="132" y="0"/>
                    </a:lnTo>
                    <a:lnTo>
                      <a:pt x="159" y="0"/>
                    </a:lnTo>
                    <a:lnTo>
                      <a:pt x="184" y="0"/>
                    </a:lnTo>
                    <a:lnTo>
                      <a:pt x="208" y="0"/>
                    </a:lnTo>
                    <a:lnTo>
                      <a:pt x="230" y="0"/>
                    </a:lnTo>
                    <a:lnTo>
                      <a:pt x="250" y="0"/>
                    </a:lnTo>
                    <a:lnTo>
                      <a:pt x="269" y="0"/>
                    </a:lnTo>
                    <a:lnTo>
                      <a:pt x="286" y="0"/>
                    </a:lnTo>
                    <a:lnTo>
                      <a:pt x="300" y="0"/>
                    </a:lnTo>
                    <a:lnTo>
                      <a:pt x="314" y="0"/>
                    </a:lnTo>
                    <a:lnTo>
                      <a:pt x="328" y="0"/>
                    </a:lnTo>
                    <a:lnTo>
                      <a:pt x="339" y="0"/>
                    </a:lnTo>
                    <a:lnTo>
                      <a:pt x="350" y="0"/>
                    </a:lnTo>
                    <a:lnTo>
                      <a:pt x="360" y="0"/>
                    </a:lnTo>
                    <a:lnTo>
                      <a:pt x="368" y="0"/>
                    </a:lnTo>
                    <a:lnTo>
                      <a:pt x="376" y="0"/>
                    </a:lnTo>
                    <a:lnTo>
                      <a:pt x="382" y="1"/>
                    </a:lnTo>
                    <a:lnTo>
                      <a:pt x="388" y="1"/>
                    </a:lnTo>
                    <a:lnTo>
                      <a:pt x="393" y="1"/>
                    </a:lnTo>
                    <a:lnTo>
                      <a:pt x="398" y="1"/>
                    </a:lnTo>
                    <a:lnTo>
                      <a:pt x="402" y="1"/>
                    </a:lnTo>
                    <a:lnTo>
                      <a:pt x="405" y="1"/>
                    </a:lnTo>
                    <a:lnTo>
                      <a:pt x="409" y="1"/>
                    </a:lnTo>
                    <a:lnTo>
                      <a:pt x="412" y="1"/>
                    </a:lnTo>
                    <a:lnTo>
                      <a:pt x="413" y="1"/>
                    </a:lnTo>
                    <a:lnTo>
                      <a:pt x="416" y="1"/>
                    </a:lnTo>
                    <a:lnTo>
                      <a:pt x="420" y="1"/>
                    </a:lnTo>
                    <a:lnTo>
                      <a:pt x="421" y="1"/>
                    </a:lnTo>
                    <a:lnTo>
                      <a:pt x="424" y="1"/>
                    </a:lnTo>
                    <a:lnTo>
                      <a:pt x="424" y="1"/>
                    </a:lnTo>
                    <a:lnTo>
                      <a:pt x="427" y="3"/>
                    </a:lnTo>
                    <a:lnTo>
                      <a:pt x="429" y="3"/>
                    </a:lnTo>
                    <a:lnTo>
                      <a:pt x="432" y="3"/>
                    </a:lnTo>
                    <a:lnTo>
                      <a:pt x="434" y="3"/>
                    </a:lnTo>
                    <a:lnTo>
                      <a:pt x="435" y="3"/>
                    </a:lnTo>
                    <a:lnTo>
                      <a:pt x="437" y="3"/>
                    </a:lnTo>
                    <a:lnTo>
                      <a:pt x="440" y="3"/>
                    </a:lnTo>
                    <a:lnTo>
                      <a:pt x="441" y="3"/>
                    </a:lnTo>
                    <a:lnTo>
                      <a:pt x="443" y="3"/>
                    </a:lnTo>
                    <a:lnTo>
                      <a:pt x="445" y="3"/>
                    </a:lnTo>
                    <a:lnTo>
                      <a:pt x="446" y="3"/>
                    </a:lnTo>
                    <a:lnTo>
                      <a:pt x="448" y="3"/>
                    </a:lnTo>
                    <a:lnTo>
                      <a:pt x="448" y="5"/>
                    </a:lnTo>
                    <a:lnTo>
                      <a:pt x="449" y="5"/>
                    </a:lnTo>
                    <a:lnTo>
                      <a:pt x="451" y="5"/>
                    </a:lnTo>
                    <a:lnTo>
                      <a:pt x="452" y="5"/>
                    </a:lnTo>
                    <a:lnTo>
                      <a:pt x="454" y="5"/>
                    </a:lnTo>
                    <a:lnTo>
                      <a:pt x="456" y="5"/>
                    </a:lnTo>
                    <a:lnTo>
                      <a:pt x="457" y="5"/>
                    </a:lnTo>
                    <a:lnTo>
                      <a:pt x="457" y="5"/>
                    </a:lnTo>
                    <a:lnTo>
                      <a:pt x="459" y="5"/>
                    </a:lnTo>
                    <a:lnTo>
                      <a:pt x="460" y="5"/>
                    </a:lnTo>
                    <a:lnTo>
                      <a:pt x="462" y="6"/>
                    </a:lnTo>
                    <a:lnTo>
                      <a:pt x="463" y="6"/>
                    </a:lnTo>
                    <a:lnTo>
                      <a:pt x="465" y="6"/>
                    </a:lnTo>
                    <a:lnTo>
                      <a:pt x="467" y="6"/>
                    </a:lnTo>
                    <a:lnTo>
                      <a:pt x="468" y="6"/>
                    </a:lnTo>
                    <a:lnTo>
                      <a:pt x="471" y="6"/>
                    </a:lnTo>
                    <a:lnTo>
                      <a:pt x="473" y="8"/>
                    </a:lnTo>
                    <a:lnTo>
                      <a:pt x="474" y="8"/>
                    </a:lnTo>
                    <a:lnTo>
                      <a:pt x="478" y="8"/>
                    </a:lnTo>
                    <a:lnTo>
                      <a:pt x="479" y="8"/>
                    </a:lnTo>
                    <a:lnTo>
                      <a:pt x="479" y="8"/>
                    </a:lnTo>
                    <a:lnTo>
                      <a:pt x="482" y="8"/>
                    </a:lnTo>
                    <a:lnTo>
                      <a:pt x="485" y="9"/>
                    </a:lnTo>
                    <a:lnTo>
                      <a:pt x="487" y="9"/>
                    </a:lnTo>
                    <a:lnTo>
                      <a:pt x="489" y="9"/>
                    </a:lnTo>
                    <a:lnTo>
                      <a:pt x="492" y="9"/>
                    </a:lnTo>
                    <a:lnTo>
                      <a:pt x="493" y="9"/>
                    </a:lnTo>
                    <a:lnTo>
                      <a:pt x="495" y="11"/>
                    </a:lnTo>
                    <a:lnTo>
                      <a:pt x="496" y="11"/>
                    </a:lnTo>
                    <a:lnTo>
                      <a:pt x="498" y="11"/>
                    </a:lnTo>
                    <a:lnTo>
                      <a:pt x="500" y="11"/>
                    </a:lnTo>
                    <a:lnTo>
                      <a:pt x="501" y="11"/>
                    </a:lnTo>
                    <a:lnTo>
                      <a:pt x="503" y="11"/>
                    </a:lnTo>
                    <a:lnTo>
                      <a:pt x="504" y="12"/>
                    </a:lnTo>
                    <a:lnTo>
                      <a:pt x="506" y="12"/>
                    </a:lnTo>
                    <a:lnTo>
                      <a:pt x="507" y="12"/>
                    </a:lnTo>
                    <a:lnTo>
                      <a:pt x="507" y="12"/>
                    </a:lnTo>
                    <a:lnTo>
                      <a:pt x="509" y="12"/>
                    </a:lnTo>
                    <a:lnTo>
                      <a:pt x="511" y="14"/>
                    </a:lnTo>
                    <a:lnTo>
                      <a:pt x="512" y="14"/>
                    </a:lnTo>
                    <a:lnTo>
                      <a:pt x="514" y="14"/>
                    </a:lnTo>
                    <a:lnTo>
                      <a:pt x="515" y="14"/>
                    </a:lnTo>
                    <a:lnTo>
                      <a:pt x="517" y="16"/>
                    </a:lnTo>
                    <a:lnTo>
                      <a:pt x="518" y="16"/>
                    </a:lnTo>
                    <a:lnTo>
                      <a:pt x="520" y="16"/>
                    </a:lnTo>
                    <a:lnTo>
                      <a:pt x="522" y="17"/>
                    </a:lnTo>
                    <a:lnTo>
                      <a:pt x="525" y="17"/>
                    </a:lnTo>
                    <a:lnTo>
                      <a:pt x="526" y="17"/>
                    </a:lnTo>
                    <a:lnTo>
                      <a:pt x="528" y="19"/>
                    </a:lnTo>
                    <a:lnTo>
                      <a:pt x="531" y="19"/>
                    </a:lnTo>
                    <a:lnTo>
                      <a:pt x="534" y="20"/>
                    </a:lnTo>
                    <a:lnTo>
                      <a:pt x="536" y="20"/>
                    </a:lnTo>
                    <a:lnTo>
                      <a:pt x="539" y="22"/>
                    </a:lnTo>
                    <a:lnTo>
                      <a:pt x="539" y="22"/>
                    </a:lnTo>
                    <a:lnTo>
                      <a:pt x="542" y="23"/>
                    </a:lnTo>
                    <a:lnTo>
                      <a:pt x="545" y="23"/>
                    </a:lnTo>
                    <a:lnTo>
                      <a:pt x="547" y="25"/>
                    </a:lnTo>
                    <a:lnTo>
                      <a:pt x="550" y="25"/>
                    </a:lnTo>
                    <a:lnTo>
                      <a:pt x="551" y="27"/>
                    </a:lnTo>
                    <a:lnTo>
                      <a:pt x="553" y="27"/>
                    </a:lnTo>
                    <a:lnTo>
                      <a:pt x="556" y="27"/>
                    </a:lnTo>
                    <a:lnTo>
                      <a:pt x="558" y="28"/>
                    </a:lnTo>
                    <a:lnTo>
                      <a:pt x="559" y="28"/>
                    </a:lnTo>
                    <a:lnTo>
                      <a:pt x="561" y="28"/>
                    </a:lnTo>
                    <a:lnTo>
                      <a:pt x="562" y="30"/>
                    </a:lnTo>
                    <a:lnTo>
                      <a:pt x="564" y="30"/>
                    </a:lnTo>
                    <a:lnTo>
                      <a:pt x="565" y="31"/>
                    </a:lnTo>
                    <a:lnTo>
                      <a:pt x="567" y="31"/>
                    </a:lnTo>
                    <a:lnTo>
                      <a:pt x="569" y="31"/>
                    </a:lnTo>
                    <a:lnTo>
                      <a:pt x="570" y="33"/>
                    </a:lnTo>
                    <a:lnTo>
                      <a:pt x="572" y="33"/>
                    </a:lnTo>
                    <a:lnTo>
                      <a:pt x="573" y="33"/>
                    </a:lnTo>
                    <a:lnTo>
                      <a:pt x="573" y="34"/>
                    </a:lnTo>
                    <a:lnTo>
                      <a:pt x="575" y="34"/>
                    </a:lnTo>
                    <a:lnTo>
                      <a:pt x="576" y="34"/>
                    </a:lnTo>
                    <a:lnTo>
                      <a:pt x="578" y="36"/>
                    </a:lnTo>
                    <a:lnTo>
                      <a:pt x="580" y="36"/>
                    </a:lnTo>
                    <a:lnTo>
                      <a:pt x="581" y="38"/>
                    </a:lnTo>
                    <a:lnTo>
                      <a:pt x="583" y="38"/>
                    </a:lnTo>
                    <a:lnTo>
                      <a:pt x="584" y="39"/>
                    </a:lnTo>
                    <a:lnTo>
                      <a:pt x="586" y="39"/>
                    </a:lnTo>
                    <a:lnTo>
                      <a:pt x="589" y="41"/>
                    </a:lnTo>
                    <a:lnTo>
                      <a:pt x="591" y="42"/>
                    </a:lnTo>
                    <a:lnTo>
                      <a:pt x="592" y="42"/>
                    </a:lnTo>
                    <a:lnTo>
                      <a:pt x="595" y="44"/>
                    </a:lnTo>
                    <a:lnTo>
                      <a:pt x="597" y="45"/>
                    </a:lnTo>
                    <a:lnTo>
                      <a:pt x="597" y="45"/>
                    </a:lnTo>
                    <a:lnTo>
                      <a:pt x="600" y="47"/>
                    </a:lnTo>
                    <a:lnTo>
                      <a:pt x="603" y="49"/>
                    </a:lnTo>
                    <a:lnTo>
                      <a:pt x="605" y="49"/>
                    </a:lnTo>
                    <a:lnTo>
                      <a:pt x="606" y="50"/>
                    </a:lnTo>
                    <a:lnTo>
                      <a:pt x="609" y="50"/>
                    </a:lnTo>
                    <a:lnTo>
                      <a:pt x="611" y="52"/>
                    </a:lnTo>
                    <a:lnTo>
                      <a:pt x="613" y="53"/>
                    </a:lnTo>
                    <a:lnTo>
                      <a:pt x="614" y="53"/>
                    </a:lnTo>
                    <a:lnTo>
                      <a:pt x="616" y="55"/>
                    </a:lnTo>
                    <a:lnTo>
                      <a:pt x="617" y="55"/>
                    </a:lnTo>
                    <a:lnTo>
                      <a:pt x="619" y="56"/>
                    </a:lnTo>
                    <a:lnTo>
                      <a:pt x="620" y="56"/>
                    </a:lnTo>
                    <a:lnTo>
                      <a:pt x="620" y="56"/>
                    </a:lnTo>
                    <a:lnTo>
                      <a:pt x="622" y="58"/>
                    </a:lnTo>
                    <a:lnTo>
                      <a:pt x="624" y="58"/>
                    </a:lnTo>
                    <a:lnTo>
                      <a:pt x="625" y="60"/>
                    </a:lnTo>
                    <a:lnTo>
                      <a:pt x="627" y="60"/>
                    </a:lnTo>
                    <a:lnTo>
                      <a:pt x="627" y="60"/>
                    </a:lnTo>
                    <a:lnTo>
                      <a:pt x="628" y="61"/>
                    </a:lnTo>
                    <a:lnTo>
                      <a:pt x="630" y="61"/>
                    </a:lnTo>
                    <a:lnTo>
                      <a:pt x="631" y="63"/>
                    </a:lnTo>
                    <a:lnTo>
                      <a:pt x="633" y="63"/>
                    </a:lnTo>
                    <a:lnTo>
                      <a:pt x="633" y="64"/>
                    </a:lnTo>
                    <a:lnTo>
                      <a:pt x="635" y="64"/>
                    </a:lnTo>
                    <a:lnTo>
                      <a:pt x="636" y="66"/>
                    </a:lnTo>
                    <a:lnTo>
                      <a:pt x="638" y="66"/>
                    </a:lnTo>
                    <a:lnTo>
                      <a:pt x="639" y="67"/>
                    </a:lnTo>
                    <a:lnTo>
                      <a:pt x="642" y="67"/>
                    </a:lnTo>
                    <a:lnTo>
                      <a:pt x="644" y="69"/>
                    </a:lnTo>
                    <a:lnTo>
                      <a:pt x="646" y="70"/>
                    </a:lnTo>
                    <a:lnTo>
                      <a:pt x="647" y="72"/>
                    </a:lnTo>
                    <a:lnTo>
                      <a:pt x="650" y="72"/>
                    </a:lnTo>
                    <a:lnTo>
                      <a:pt x="650" y="72"/>
                    </a:lnTo>
                    <a:lnTo>
                      <a:pt x="652" y="74"/>
                    </a:lnTo>
                    <a:lnTo>
                      <a:pt x="653" y="75"/>
                    </a:lnTo>
                    <a:lnTo>
                      <a:pt x="657" y="77"/>
                    </a:lnTo>
                    <a:lnTo>
                      <a:pt x="658" y="77"/>
                    </a:lnTo>
                    <a:lnTo>
                      <a:pt x="660" y="78"/>
                    </a:lnTo>
                    <a:lnTo>
                      <a:pt x="661" y="80"/>
                    </a:lnTo>
                    <a:lnTo>
                      <a:pt x="663" y="80"/>
                    </a:lnTo>
                    <a:lnTo>
                      <a:pt x="664" y="81"/>
                    </a:lnTo>
                    <a:lnTo>
                      <a:pt x="666" y="81"/>
                    </a:lnTo>
                    <a:lnTo>
                      <a:pt x="668" y="83"/>
                    </a:lnTo>
                    <a:lnTo>
                      <a:pt x="668" y="83"/>
                    </a:lnTo>
                    <a:lnTo>
                      <a:pt x="669" y="85"/>
                    </a:lnTo>
                    <a:lnTo>
                      <a:pt x="671" y="85"/>
                    </a:lnTo>
                    <a:lnTo>
                      <a:pt x="672" y="85"/>
                    </a:lnTo>
                    <a:lnTo>
                      <a:pt x="672" y="86"/>
                    </a:lnTo>
                    <a:lnTo>
                      <a:pt x="674" y="86"/>
                    </a:lnTo>
                    <a:lnTo>
                      <a:pt x="675" y="88"/>
                    </a:lnTo>
                    <a:lnTo>
                      <a:pt x="675" y="88"/>
                    </a:lnTo>
                    <a:lnTo>
                      <a:pt x="677" y="88"/>
                    </a:lnTo>
                    <a:lnTo>
                      <a:pt x="678" y="89"/>
                    </a:lnTo>
                    <a:lnTo>
                      <a:pt x="678" y="89"/>
                    </a:lnTo>
                    <a:lnTo>
                      <a:pt x="680" y="91"/>
                    </a:lnTo>
                    <a:lnTo>
                      <a:pt x="682" y="91"/>
                    </a:lnTo>
                    <a:lnTo>
                      <a:pt x="682" y="92"/>
                    </a:lnTo>
                    <a:lnTo>
                      <a:pt x="683" y="92"/>
                    </a:lnTo>
                    <a:lnTo>
                      <a:pt x="685" y="94"/>
                    </a:lnTo>
                    <a:lnTo>
                      <a:pt x="686" y="94"/>
                    </a:lnTo>
                    <a:lnTo>
                      <a:pt x="688" y="96"/>
                    </a:lnTo>
                    <a:lnTo>
                      <a:pt x="689" y="96"/>
                    </a:lnTo>
                    <a:lnTo>
                      <a:pt x="691" y="97"/>
                    </a:lnTo>
                    <a:lnTo>
                      <a:pt x="693" y="99"/>
                    </a:lnTo>
                    <a:lnTo>
                      <a:pt x="694" y="99"/>
                    </a:lnTo>
                    <a:lnTo>
                      <a:pt x="694" y="99"/>
                    </a:lnTo>
                    <a:lnTo>
                      <a:pt x="696" y="100"/>
                    </a:lnTo>
                    <a:lnTo>
                      <a:pt x="697" y="102"/>
                    </a:lnTo>
                    <a:lnTo>
                      <a:pt x="699" y="102"/>
                    </a:lnTo>
                    <a:lnTo>
                      <a:pt x="700" y="103"/>
                    </a:lnTo>
                    <a:lnTo>
                      <a:pt x="702" y="105"/>
                    </a:lnTo>
                    <a:lnTo>
                      <a:pt x="704" y="105"/>
                    </a:lnTo>
                    <a:lnTo>
                      <a:pt x="704" y="107"/>
                    </a:lnTo>
                    <a:lnTo>
                      <a:pt x="705" y="107"/>
                    </a:lnTo>
                    <a:lnTo>
                      <a:pt x="707" y="108"/>
                    </a:lnTo>
                    <a:lnTo>
                      <a:pt x="708" y="108"/>
                    </a:lnTo>
                    <a:lnTo>
                      <a:pt x="708" y="108"/>
                    </a:lnTo>
                    <a:lnTo>
                      <a:pt x="710" y="110"/>
                    </a:lnTo>
                    <a:lnTo>
                      <a:pt x="710" y="110"/>
                    </a:lnTo>
                    <a:lnTo>
                      <a:pt x="711" y="111"/>
                    </a:lnTo>
                    <a:lnTo>
                      <a:pt x="711" y="111"/>
                    </a:lnTo>
                    <a:lnTo>
                      <a:pt x="713" y="111"/>
                    </a:lnTo>
                    <a:lnTo>
                      <a:pt x="713" y="113"/>
                    </a:lnTo>
                    <a:lnTo>
                      <a:pt x="715" y="113"/>
                    </a:lnTo>
                    <a:lnTo>
                      <a:pt x="715" y="113"/>
                    </a:lnTo>
                    <a:lnTo>
                      <a:pt x="716" y="114"/>
                    </a:lnTo>
                    <a:lnTo>
                      <a:pt x="716" y="114"/>
                    </a:lnTo>
                    <a:lnTo>
                      <a:pt x="718" y="114"/>
                    </a:lnTo>
                    <a:lnTo>
                      <a:pt x="718" y="116"/>
                    </a:lnTo>
                    <a:lnTo>
                      <a:pt x="719" y="116"/>
                    </a:lnTo>
                    <a:lnTo>
                      <a:pt x="719" y="118"/>
                    </a:lnTo>
                    <a:lnTo>
                      <a:pt x="721" y="118"/>
                    </a:lnTo>
                    <a:lnTo>
                      <a:pt x="722" y="119"/>
                    </a:lnTo>
                    <a:lnTo>
                      <a:pt x="722" y="119"/>
                    </a:lnTo>
                    <a:lnTo>
                      <a:pt x="724" y="121"/>
                    </a:lnTo>
                    <a:lnTo>
                      <a:pt x="726" y="121"/>
                    </a:lnTo>
                    <a:lnTo>
                      <a:pt x="726" y="122"/>
                    </a:lnTo>
                    <a:lnTo>
                      <a:pt x="727" y="122"/>
                    </a:lnTo>
                    <a:lnTo>
                      <a:pt x="727" y="122"/>
                    </a:lnTo>
                    <a:lnTo>
                      <a:pt x="729" y="124"/>
                    </a:lnTo>
                    <a:lnTo>
                      <a:pt x="730" y="125"/>
                    </a:lnTo>
                    <a:lnTo>
                      <a:pt x="730" y="125"/>
                    </a:lnTo>
                    <a:lnTo>
                      <a:pt x="732" y="127"/>
                    </a:lnTo>
                    <a:lnTo>
                      <a:pt x="733" y="127"/>
                    </a:lnTo>
                    <a:lnTo>
                      <a:pt x="733" y="129"/>
                    </a:lnTo>
                    <a:lnTo>
                      <a:pt x="735" y="129"/>
                    </a:lnTo>
                    <a:lnTo>
                      <a:pt x="735" y="129"/>
                    </a:lnTo>
                    <a:lnTo>
                      <a:pt x="737" y="130"/>
                    </a:lnTo>
                    <a:lnTo>
                      <a:pt x="737" y="130"/>
                    </a:lnTo>
                    <a:lnTo>
                      <a:pt x="738" y="132"/>
                    </a:lnTo>
                    <a:lnTo>
                      <a:pt x="738" y="132"/>
                    </a:lnTo>
                    <a:lnTo>
                      <a:pt x="740" y="132"/>
                    </a:lnTo>
                    <a:lnTo>
                      <a:pt x="740" y="133"/>
                    </a:lnTo>
                    <a:lnTo>
                      <a:pt x="741" y="133"/>
                    </a:lnTo>
                    <a:lnTo>
                      <a:pt x="741" y="133"/>
                    </a:lnTo>
                    <a:lnTo>
                      <a:pt x="741" y="135"/>
                    </a:lnTo>
                    <a:lnTo>
                      <a:pt x="743" y="135"/>
                    </a:lnTo>
                    <a:lnTo>
                      <a:pt x="743" y="135"/>
                    </a:lnTo>
                    <a:lnTo>
                      <a:pt x="744" y="136"/>
                    </a:lnTo>
                    <a:lnTo>
                      <a:pt x="744" y="136"/>
                    </a:lnTo>
                    <a:lnTo>
                      <a:pt x="746" y="136"/>
                    </a:lnTo>
                    <a:lnTo>
                      <a:pt x="746" y="138"/>
                    </a:lnTo>
                    <a:lnTo>
                      <a:pt x="748" y="138"/>
                    </a:lnTo>
                    <a:lnTo>
                      <a:pt x="749" y="138"/>
                    </a:lnTo>
                    <a:lnTo>
                      <a:pt x="749" y="140"/>
                    </a:lnTo>
                    <a:lnTo>
                      <a:pt x="751" y="140"/>
                    </a:lnTo>
                    <a:lnTo>
                      <a:pt x="752" y="141"/>
                    </a:lnTo>
                    <a:lnTo>
                      <a:pt x="752" y="141"/>
                    </a:lnTo>
                    <a:lnTo>
                      <a:pt x="754" y="143"/>
                    </a:lnTo>
                    <a:lnTo>
                      <a:pt x="755" y="143"/>
                    </a:lnTo>
                    <a:lnTo>
                      <a:pt x="757" y="144"/>
                    </a:lnTo>
                    <a:lnTo>
                      <a:pt x="757" y="144"/>
                    </a:lnTo>
                    <a:lnTo>
                      <a:pt x="759" y="146"/>
                    </a:lnTo>
                    <a:lnTo>
                      <a:pt x="760" y="146"/>
                    </a:lnTo>
                    <a:lnTo>
                      <a:pt x="760" y="147"/>
                    </a:lnTo>
                    <a:lnTo>
                      <a:pt x="762" y="147"/>
                    </a:lnTo>
                    <a:lnTo>
                      <a:pt x="763" y="149"/>
                    </a:lnTo>
                    <a:lnTo>
                      <a:pt x="765" y="149"/>
                    </a:lnTo>
                    <a:lnTo>
                      <a:pt x="765" y="151"/>
                    </a:lnTo>
                    <a:lnTo>
                      <a:pt x="766" y="151"/>
                    </a:lnTo>
                    <a:lnTo>
                      <a:pt x="766" y="152"/>
                    </a:lnTo>
                    <a:lnTo>
                      <a:pt x="768" y="152"/>
                    </a:lnTo>
                    <a:lnTo>
                      <a:pt x="768" y="152"/>
                    </a:lnTo>
                    <a:lnTo>
                      <a:pt x="770" y="154"/>
                    </a:lnTo>
                    <a:lnTo>
                      <a:pt x="771" y="154"/>
                    </a:lnTo>
                    <a:lnTo>
                      <a:pt x="771" y="155"/>
                    </a:lnTo>
                    <a:lnTo>
                      <a:pt x="771" y="155"/>
                    </a:lnTo>
                    <a:lnTo>
                      <a:pt x="773" y="157"/>
                    </a:lnTo>
                    <a:lnTo>
                      <a:pt x="773" y="157"/>
                    </a:lnTo>
                    <a:lnTo>
                      <a:pt x="774" y="157"/>
                    </a:lnTo>
                    <a:lnTo>
                      <a:pt x="774" y="158"/>
                    </a:lnTo>
                    <a:lnTo>
                      <a:pt x="776" y="158"/>
                    </a:lnTo>
                    <a:lnTo>
                      <a:pt x="776" y="160"/>
                    </a:lnTo>
                    <a:lnTo>
                      <a:pt x="777" y="160"/>
                    </a:lnTo>
                    <a:lnTo>
                      <a:pt x="779" y="161"/>
                    </a:lnTo>
                    <a:lnTo>
                      <a:pt x="779" y="163"/>
                    </a:lnTo>
                    <a:lnTo>
                      <a:pt x="781" y="163"/>
                    </a:lnTo>
                    <a:lnTo>
                      <a:pt x="782" y="165"/>
                    </a:lnTo>
                    <a:lnTo>
                      <a:pt x="782" y="166"/>
                    </a:lnTo>
                    <a:lnTo>
                      <a:pt x="784" y="168"/>
                    </a:lnTo>
                    <a:lnTo>
                      <a:pt x="785" y="168"/>
                    </a:lnTo>
                    <a:lnTo>
                      <a:pt x="787" y="169"/>
                    </a:lnTo>
                    <a:lnTo>
                      <a:pt x="788" y="171"/>
                    </a:lnTo>
                    <a:lnTo>
                      <a:pt x="788" y="172"/>
                    </a:lnTo>
                    <a:lnTo>
                      <a:pt x="788" y="172"/>
                    </a:lnTo>
                    <a:lnTo>
                      <a:pt x="790" y="174"/>
                    </a:lnTo>
                    <a:lnTo>
                      <a:pt x="792" y="176"/>
                    </a:lnTo>
                    <a:lnTo>
                      <a:pt x="793" y="177"/>
                    </a:lnTo>
                    <a:lnTo>
                      <a:pt x="795" y="179"/>
                    </a:lnTo>
                    <a:lnTo>
                      <a:pt x="796" y="180"/>
                    </a:lnTo>
                    <a:lnTo>
                      <a:pt x="796" y="182"/>
                    </a:lnTo>
                    <a:lnTo>
                      <a:pt x="798" y="182"/>
                    </a:lnTo>
                    <a:lnTo>
                      <a:pt x="799" y="183"/>
                    </a:lnTo>
                    <a:lnTo>
                      <a:pt x="799" y="185"/>
                    </a:lnTo>
                    <a:lnTo>
                      <a:pt x="801" y="185"/>
                    </a:lnTo>
                    <a:lnTo>
                      <a:pt x="802" y="187"/>
                    </a:lnTo>
                    <a:lnTo>
                      <a:pt x="802" y="187"/>
                    </a:lnTo>
                    <a:lnTo>
                      <a:pt x="804" y="188"/>
                    </a:lnTo>
                    <a:lnTo>
                      <a:pt x="804" y="190"/>
                    </a:lnTo>
                    <a:lnTo>
                      <a:pt x="806" y="190"/>
                    </a:lnTo>
                    <a:lnTo>
                      <a:pt x="806" y="191"/>
                    </a:lnTo>
                    <a:lnTo>
                      <a:pt x="807" y="193"/>
                    </a:lnTo>
                    <a:lnTo>
                      <a:pt x="807" y="193"/>
                    </a:lnTo>
                    <a:lnTo>
                      <a:pt x="809" y="194"/>
                    </a:lnTo>
                    <a:lnTo>
                      <a:pt x="810" y="194"/>
                    </a:lnTo>
                    <a:lnTo>
                      <a:pt x="810" y="196"/>
                    </a:lnTo>
                    <a:lnTo>
                      <a:pt x="812" y="198"/>
                    </a:lnTo>
                    <a:lnTo>
                      <a:pt x="812" y="199"/>
                    </a:lnTo>
                    <a:lnTo>
                      <a:pt x="813" y="201"/>
                    </a:lnTo>
                    <a:lnTo>
                      <a:pt x="815" y="201"/>
                    </a:lnTo>
                    <a:lnTo>
                      <a:pt x="817" y="202"/>
                    </a:lnTo>
                    <a:lnTo>
                      <a:pt x="817" y="204"/>
                    </a:lnTo>
                    <a:lnTo>
                      <a:pt x="818" y="205"/>
                    </a:lnTo>
                    <a:lnTo>
                      <a:pt x="820" y="209"/>
                    </a:lnTo>
                    <a:lnTo>
                      <a:pt x="821" y="210"/>
                    </a:lnTo>
                    <a:lnTo>
                      <a:pt x="823" y="212"/>
                    </a:lnTo>
                    <a:lnTo>
                      <a:pt x="824" y="213"/>
                    </a:lnTo>
                    <a:lnTo>
                      <a:pt x="824" y="213"/>
                    </a:lnTo>
                    <a:lnTo>
                      <a:pt x="828" y="216"/>
                    </a:lnTo>
                    <a:lnTo>
                      <a:pt x="829" y="218"/>
                    </a:lnTo>
                    <a:lnTo>
                      <a:pt x="831" y="220"/>
                    </a:lnTo>
                    <a:lnTo>
                      <a:pt x="832" y="221"/>
                    </a:lnTo>
                    <a:lnTo>
                      <a:pt x="834" y="223"/>
                    </a:lnTo>
                    <a:lnTo>
                      <a:pt x="834" y="224"/>
                    </a:lnTo>
                    <a:lnTo>
                      <a:pt x="835" y="226"/>
                    </a:lnTo>
                    <a:lnTo>
                      <a:pt x="837" y="227"/>
                    </a:lnTo>
                    <a:lnTo>
                      <a:pt x="839" y="229"/>
                    </a:lnTo>
                    <a:lnTo>
                      <a:pt x="839" y="231"/>
                    </a:lnTo>
                    <a:lnTo>
                      <a:pt x="840" y="232"/>
                    </a:lnTo>
                    <a:lnTo>
                      <a:pt x="842" y="234"/>
                    </a:lnTo>
                    <a:lnTo>
                      <a:pt x="842" y="234"/>
                    </a:lnTo>
                    <a:lnTo>
                      <a:pt x="843" y="235"/>
                    </a:lnTo>
                    <a:lnTo>
                      <a:pt x="843" y="237"/>
                    </a:lnTo>
                    <a:lnTo>
                      <a:pt x="845" y="238"/>
                    </a:lnTo>
                    <a:lnTo>
                      <a:pt x="846" y="240"/>
                    </a:lnTo>
                    <a:lnTo>
                      <a:pt x="846" y="240"/>
                    </a:lnTo>
                    <a:lnTo>
                      <a:pt x="848" y="241"/>
                    </a:lnTo>
                    <a:lnTo>
                      <a:pt x="848" y="243"/>
                    </a:lnTo>
                    <a:lnTo>
                      <a:pt x="850" y="245"/>
                    </a:lnTo>
                    <a:lnTo>
                      <a:pt x="851" y="246"/>
                    </a:lnTo>
                    <a:lnTo>
                      <a:pt x="851" y="248"/>
                    </a:lnTo>
                    <a:lnTo>
                      <a:pt x="853" y="249"/>
                    </a:lnTo>
                    <a:lnTo>
                      <a:pt x="854" y="251"/>
                    </a:lnTo>
                    <a:lnTo>
                      <a:pt x="856" y="252"/>
                    </a:lnTo>
                    <a:lnTo>
                      <a:pt x="856" y="254"/>
                    </a:lnTo>
                    <a:lnTo>
                      <a:pt x="857" y="256"/>
                    </a:lnTo>
                    <a:lnTo>
                      <a:pt x="859" y="259"/>
                    </a:lnTo>
                    <a:lnTo>
                      <a:pt x="861" y="260"/>
                    </a:lnTo>
                    <a:lnTo>
                      <a:pt x="862" y="262"/>
                    </a:lnTo>
                    <a:lnTo>
                      <a:pt x="864" y="265"/>
                    </a:lnTo>
                    <a:lnTo>
                      <a:pt x="864" y="265"/>
                    </a:lnTo>
                    <a:lnTo>
                      <a:pt x="867" y="268"/>
                    </a:lnTo>
                    <a:lnTo>
                      <a:pt x="868" y="270"/>
                    </a:lnTo>
                    <a:lnTo>
                      <a:pt x="870" y="271"/>
                    </a:lnTo>
                    <a:lnTo>
                      <a:pt x="872" y="274"/>
                    </a:lnTo>
                    <a:lnTo>
                      <a:pt x="873" y="276"/>
                    </a:lnTo>
                    <a:lnTo>
                      <a:pt x="873" y="278"/>
                    </a:lnTo>
                    <a:lnTo>
                      <a:pt x="875" y="279"/>
                    </a:lnTo>
                    <a:lnTo>
                      <a:pt x="876" y="281"/>
                    </a:lnTo>
                    <a:lnTo>
                      <a:pt x="878" y="282"/>
                    </a:lnTo>
                    <a:lnTo>
                      <a:pt x="878" y="284"/>
                    </a:lnTo>
                    <a:lnTo>
                      <a:pt x="879" y="285"/>
                    </a:lnTo>
                    <a:lnTo>
                      <a:pt x="881" y="287"/>
                    </a:lnTo>
                    <a:lnTo>
                      <a:pt x="881" y="289"/>
                    </a:lnTo>
                    <a:lnTo>
                      <a:pt x="883" y="290"/>
                    </a:lnTo>
                    <a:lnTo>
                      <a:pt x="884" y="292"/>
                    </a:lnTo>
                    <a:lnTo>
                      <a:pt x="884" y="293"/>
                    </a:lnTo>
                    <a:lnTo>
                      <a:pt x="886" y="293"/>
                    </a:lnTo>
                    <a:lnTo>
                      <a:pt x="886" y="295"/>
                    </a:lnTo>
                    <a:lnTo>
                      <a:pt x="887" y="296"/>
                    </a:lnTo>
                    <a:lnTo>
                      <a:pt x="889" y="298"/>
                    </a:lnTo>
                    <a:lnTo>
                      <a:pt x="889" y="300"/>
                    </a:lnTo>
                    <a:lnTo>
                      <a:pt x="890" y="301"/>
                    </a:lnTo>
                    <a:lnTo>
                      <a:pt x="892" y="303"/>
                    </a:lnTo>
                    <a:lnTo>
                      <a:pt x="892" y="304"/>
                    </a:lnTo>
                    <a:lnTo>
                      <a:pt x="894" y="306"/>
                    </a:lnTo>
                    <a:lnTo>
                      <a:pt x="895" y="307"/>
                    </a:lnTo>
                    <a:lnTo>
                      <a:pt x="897" y="309"/>
                    </a:lnTo>
                    <a:lnTo>
                      <a:pt x="898" y="312"/>
                    </a:lnTo>
                    <a:lnTo>
                      <a:pt x="900" y="314"/>
                    </a:lnTo>
                    <a:lnTo>
                      <a:pt x="901" y="315"/>
                    </a:lnTo>
                    <a:lnTo>
                      <a:pt x="903" y="318"/>
                    </a:lnTo>
                    <a:lnTo>
                      <a:pt x="905" y="322"/>
                    </a:lnTo>
                    <a:lnTo>
                      <a:pt x="905" y="322"/>
                    </a:lnTo>
                    <a:lnTo>
                      <a:pt x="906" y="323"/>
                    </a:lnTo>
                    <a:lnTo>
                      <a:pt x="909" y="326"/>
                    </a:lnTo>
                    <a:lnTo>
                      <a:pt x="911" y="328"/>
                    </a:lnTo>
                    <a:lnTo>
                      <a:pt x="912" y="331"/>
                    </a:lnTo>
                    <a:lnTo>
                      <a:pt x="914" y="332"/>
                    </a:lnTo>
                    <a:lnTo>
                      <a:pt x="914" y="334"/>
                    </a:lnTo>
                    <a:lnTo>
                      <a:pt x="916" y="336"/>
                    </a:lnTo>
                    <a:lnTo>
                      <a:pt x="917" y="337"/>
                    </a:lnTo>
                    <a:lnTo>
                      <a:pt x="919" y="339"/>
                    </a:lnTo>
                    <a:lnTo>
                      <a:pt x="919" y="340"/>
                    </a:lnTo>
                    <a:lnTo>
                      <a:pt x="920" y="342"/>
                    </a:lnTo>
                    <a:lnTo>
                      <a:pt x="922" y="343"/>
                    </a:lnTo>
                    <a:lnTo>
                      <a:pt x="922" y="345"/>
                    </a:lnTo>
                    <a:lnTo>
                      <a:pt x="923" y="347"/>
                    </a:lnTo>
                    <a:lnTo>
                      <a:pt x="923" y="347"/>
                    </a:lnTo>
                    <a:lnTo>
                      <a:pt x="925" y="348"/>
                    </a:lnTo>
                    <a:lnTo>
                      <a:pt x="925" y="350"/>
                    </a:lnTo>
                    <a:lnTo>
                      <a:pt x="926" y="351"/>
                    </a:lnTo>
                    <a:lnTo>
                      <a:pt x="926" y="353"/>
                    </a:lnTo>
                    <a:lnTo>
                      <a:pt x="928" y="353"/>
                    </a:lnTo>
                    <a:lnTo>
                      <a:pt x="928" y="354"/>
                    </a:lnTo>
                    <a:lnTo>
                      <a:pt x="930" y="356"/>
                    </a:lnTo>
                    <a:lnTo>
                      <a:pt x="930" y="358"/>
                    </a:lnTo>
                    <a:lnTo>
                      <a:pt x="931" y="359"/>
                    </a:lnTo>
                    <a:lnTo>
                      <a:pt x="931" y="361"/>
                    </a:lnTo>
                    <a:lnTo>
                      <a:pt x="933" y="362"/>
                    </a:lnTo>
                    <a:lnTo>
                      <a:pt x="934" y="364"/>
                    </a:lnTo>
                    <a:lnTo>
                      <a:pt x="934" y="365"/>
                    </a:lnTo>
                    <a:lnTo>
                      <a:pt x="936" y="367"/>
                    </a:lnTo>
                    <a:lnTo>
                      <a:pt x="937" y="369"/>
                    </a:lnTo>
                    <a:lnTo>
                      <a:pt x="937" y="370"/>
                    </a:lnTo>
                    <a:lnTo>
                      <a:pt x="939" y="373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6" name="Freeform 46"/>
              <p:cNvSpPr>
                <a:spLocks/>
              </p:cNvSpPr>
              <p:nvPr/>
            </p:nvSpPr>
            <p:spPr bwMode="auto">
              <a:xfrm>
                <a:off x="1825625" y="2782888"/>
                <a:ext cx="88900" cy="295275"/>
              </a:xfrm>
              <a:custGeom>
                <a:avLst/>
                <a:gdLst>
                  <a:gd name="T0" fmla="*/ 6 w 111"/>
                  <a:gd name="T1" fmla="*/ 363 h 374"/>
                  <a:gd name="T2" fmla="*/ 14 w 111"/>
                  <a:gd name="T3" fmla="*/ 350 h 374"/>
                  <a:gd name="T4" fmla="*/ 19 w 111"/>
                  <a:gd name="T5" fmla="*/ 341 h 374"/>
                  <a:gd name="T6" fmla="*/ 24 w 111"/>
                  <a:gd name="T7" fmla="*/ 333 h 374"/>
                  <a:gd name="T8" fmla="*/ 27 w 111"/>
                  <a:gd name="T9" fmla="*/ 327 h 374"/>
                  <a:gd name="T10" fmla="*/ 30 w 111"/>
                  <a:gd name="T11" fmla="*/ 322 h 374"/>
                  <a:gd name="T12" fmla="*/ 31 w 111"/>
                  <a:gd name="T13" fmla="*/ 316 h 374"/>
                  <a:gd name="T14" fmla="*/ 35 w 111"/>
                  <a:gd name="T15" fmla="*/ 308 h 374"/>
                  <a:gd name="T16" fmla="*/ 38 w 111"/>
                  <a:gd name="T17" fmla="*/ 301 h 374"/>
                  <a:gd name="T18" fmla="*/ 41 w 111"/>
                  <a:gd name="T19" fmla="*/ 295 h 374"/>
                  <a:gd name="T20" fmla="*/ 42 w 111"/>
                  <a:gd name="T21" fmla="*/ 289 h 374"/>
                  <a:gd name="T22" fmla="*/ 46 w 111"/>
                  <a:gd name="T23" fmla="*/ 284 h 374"/>
                  <a:gd name="T24" fmla="*/ 47 w 111"/>
                  <a:gd name="T25" fmla="*/ 280 h 374"/>
                  <a:gd name="T26" fmla="*/ 49 w 111"/>
                  <a:gd name="T27" fmla="*/ 273 h 374"/>
                  <a:gd name="T28" fmla="*/ 52 w 111"/>
                  <a:gd name="T29" fmla="*/ 267 h 374"/>
                  <a:gd name="T30" fmla="*/ 55 w 111"/>
                  <a:gd name="T31" fmla="*/ 259 h 374"/>
                  <a:gd name="T32" fmla="*/ 58 w 111"/>
                  <a:gd name="T33" fmla="*/ 251 h 374"/>
                  <a:gd name="T34" fmla="*/ 61 w 111"/>
                  <a:gd name="T35" fmla="*/ 242 h 374"/>
                  <a:gd name="T36" fmla="*/ 63 w 111"/>
                  <a:gd name="T37" fmla="*/ 236 h 374"/>
                  <a:gd name="T38" fmla="*/ 66 w 111"/>
                  <a:gd name="T39" fmla="*/ 229 h 374"/>
                  <a:gd name="T40" fmla="*/ 67 w 111"/>
                  <a:gd name="T41" fmla="*/ 225 h 374"/>
                  <a:gd name="T42" fmla="*/ 69 w 111"/>
                  <a:gd name="T43" fmla="*/ 218 h 374"/>
                  <a:gd name="T44" fmla="*/ 71 w 111"/>
                  <a:gd name="T45" fmla="*/ 212 h 374"/>
                  <a:gd name="T46" fmla="*/ 74 w 111"/>
                  <a:gd name="T47" fmla="*/ 204 h 374"/>
                  <a:gd name="T48" fmla="*/ 75 w 111"/>
                  <a:gd name="T49" fmla="*/ 196 h 374"/>
                  <a:gd name="T50" fmla="*/ 78 w 111"/>
                  <a:gd name="T51" fmla="*/ 187 h 374"/>
                  <a:gd name="T52" fmla="*/ 82 w 111"/>
                  <a:gd name="T53" fmla="*/ 181 h 374"/>
                  <a:gd name="T54" fmla="*/ 83 w 111"/>
                  <a:gd name="T55" fmla="*/ 174 h 374"/>
                  <a:gd name="T56" fmla="*/ 85 w 111"/>
                  <a:gd name="T57" fmla="*/ 168 h 374"/>
                  <a:gd name="T58" fmla="*/ 86 w 111"/>
                  <a:gd name="T59" fmla="*/ 163 h 374"/>
                  <a:gd name="T60" fmla="*/ 88 w 111"/>
                  <a:gd name="T61" fmla="*/ 157 h 374"/>
                  <a:gd name="T62" fmla="*/ 91 w 111"/>
                  <a:gd name="T63" fmla="*/ 149 h 374"/>
                  <a:gd name="T64" fmla="*/ 94 w 111"/>
                  <a:gd name="T65" fmla="*/ 140 h 374"/>
                  <a:gd name="T66" fmla="*/ 96 w 111"/>
                  <a:gd name="T67" fmla="*/ 132 h 374"/>
                  <a:gd name="T68" fmla="*/ 99 w 111"/>
                  <a:gd name="T69" fmla="*/ 124 h 374"/>
                  <a:gd name="T70" fmla="*/ 100 w 111"/>
                  <a:gd name="T71" fmla="*/ 118 h 374"/>
                  <a:gd name="T72" fmla="*/ 102 w 111"/>
                  <a:gd name="T73" fmla="*/ 113 h 374"/>
                  <a:gd name="T74" fmla="*/ 102 w 111"/>
                  <a:gd name="T75" fmla="*/ 109 h 374"/>
                  <a:gd name="T76" fmla="*/ 104 w 111"/>
                  <a:gd name="T77" fmla="*/ 104 h 374"/>
                  <a:gd name="T78" fmla="*/ 104 w 111"/>
                  <a:gd name="T79" fmla="*/ 98 h 374"/>
                  <a:gd name="T80" fmla="*/ 104 w 111"/>
                  <a:gd name="T81" fmla="*/ 90 h 374"/>
                  <a:gd name="T82" fmla="*/ 105 w 111"/>
                  <a:gd name="T83" fmla="*/ 83 h 374"/>
                  <a:gd name="T84" fmla="*/ 105 w 111"/>
                  <a:gd name="T85" fmla="*/ 76 h 374"/>
                  <a:gd name="T86" fmla="*/ 105 w 111"/>
                  <a:gd name="T87" fmla="*/ 69 h 374"/>
                  <a:gd name="T88" fmla="*/ 107 w 111"/>
                  <a:gd name="T89" fmla="*/ 66 h 374"/>
                  <a:gd name="T90" fmla="*/ 107 w 111"/>
                  <a:gd name="T91" fmla="*/ 61 h 374"/>
                  <a:gd name="T92" fmla="*/ 107 w 111"/>
                  <a:gd name="T93" fmla="*/ 58 h 374"/>
                  <a:gd name="T94" fmla="*/ 108 w 111"/>
                  <a:gd name="T95" fmla="*/ 55 h 374"/>
                  <a:gd name="T96" fmla="*/ 108 w 111"/>
                  <a:gd name="T97" fmla="*/ 50 h 374"/>
                  <a:gd name="T98" fmla="*/ 110 w 111"/>
                  <a:gd name="T99" fmla="*/ 47 h 374"/>
                  <a:gd name="T100" fmla="*/ 110 w 111"/>
                  <a:gd name="T101" fmla="*/ 43 h 374"/>
                  <a:gd name="T102" fmla="*/ 111 w 111"/>
                  <a:gd name="T103" fmla="*/ 38 h 374"/>
                  <a:gd name="T104" fmla="*/ 111 w 111"/>
                  <a:gd name="T105" fmla="*/ 35 h 374"/>
                  <a:gd name="T106" fmla="*/ 111 w 111"/>
                  <a:gd name="T107" fmla="*/ 30 h 374"/>
                  <a:gd name="T108" fmla="*/ 111 w 111"/>
                  <a:gd name="T109" fmla="*/ 24 h 374"/>
                  <a:gd name="T110" fmla="*/ 111 w 111"/>
                  <a:gd name="T111" fmla="*/ 18 h 374"/>
                  <a:gd name="T112" fmla="*/ 111 w 111"/>
                  <a:gd name="T113" fmla="*/ 8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1" h="374">
                    <a:moveTo>
                      <a:pt x="0" y="374"/>
                    </a:moveTo>
                    <a:lnTo>
                      <a:pt x="3" y="371"/>
                    </a:lnTo>
                    <a:lnTo>
                      <a:pt x="5" y="366"/>
                    </a:lnTo>
                    <a:lnTo>
                      <a:pt x="6" y="363"/>
                    </a:lnTo>
                    <a:lnTo>
                      <a:pt x="9" y="360"/>
                    </a:lnTo>
                    <a:lnTo>
                      <a:pt x="11" y="356"/>
                    </a:lnTo>
                    <a:lnTo>
                      <a:pt x="13" y="353"/>
                    </a:lnTo>
                    <a:lnTo>
                      <a:pt x="14" y="350"/>
                    </a:lnTo>
                    <a:lnTo>
                      <a:pt x="16" y="349"/>
                    </a:lnTo>
                    <a:lnTo>
                      <a:pt x="17" y="345"/>
                    </a:lnTo>
                    <a:lnTo>
                      <a:pt x="17" y="344"/>
                    </a:lnTo>
                    <a:lnTo>
                      <a:pt x="19" y="341"/>
                    </a:lnTo>
                    <a:lnTo>
                      <a:pt x="20" y="339"/>
                    </a:lnTo>
                    <a:lnTo>
                      <a:pt x="22" y="338"/>
                    </a:lnTo>
                    <a:lnTo>
                      <a:pt x="22" y="334"/>
                    </a:lnTo>
                    <a:lnTo>
                      <a:pt x="24" y="333"/>
                    </a:lnTo>
                    <a:lnTo>
                      <a:pt x="24" y="331"/>
                    </a:lnTo>
                    <a:lnTo>
                      <a:pt x="25" y="330"/>
                    </a:lnTo>
                    <a:lnTo>
                      <a:pt x="25" y="328"/>
                    </a:lnTo>
                    <a:lnTo>
                      <a:pt x="27" y="327"/>
                    </a:lnTo>
                    <a:lnTo>
                      <a:pt x="27" y="325"/>
                    </a:lnTo>
                    <a:lnTo>
                      <a:pt x="28" y="325"/>
                    </a:lnTo>
                    <a:lnTo>
                      <a:pt x="28" y="323"/>
                    </a:lnTo>
                    <a:lnTo>
                      <a:pt x="30" y="322"/>
                    </a:lnTo>
                    <a:lnTo>
                      <a:pt x="30" y="320"/>
                    </a:lnTo>
                    <a:lnTo>
                      <a:pt x="30" y="319"/>
                    </a:lnTo>
                    <a:lnTo>
                      <a:pt x="31" y="317"/>
                    </a:lnTo>
                    <a:lnTo>
                      <a:pt x="31" y="316"/>
                    </a:lnTo>
                    <a:lnTo>
                      <a:pt x="33" y="314"/>
                    </a:lnTo>
                    <a:lnTo>
                      <a:pt x="33" y="311"/>
                    </a:lnTo>
                    <a:lnTo>
                      <a:pt x="35" y="309"/>
                    </a:lnTo>
                    <a:lnTo>
                      <a:pt x="35" y="308"/>
                    </a:lnTo>
                    <a:lnTo>
                      <a:pt x="36" y="306"/>
                    </a:lnTo>
                    <a:lnTo>
                      <a:pt x="36" y="306"/>
                    </a:lnTo>
                    <a:lnTo>
                      <a:pt x="36" y="303"/>
                    </a:lnTo>
                    <a:lnTo>
                      <a:pt x="38" y="301"/>
                    </a:lnTo>
                    <a:lnTo>
                      <a:pt x="38" y="300"/>
                    </a:lnTo>
                    <a:lnTo>
                      <a:pt x="39" y="298"/>
                    </a:lnTo>
                    <a:lnTo>
                      <a:pt x="39" y="297"/>
                    </a:lnTo>
                    <a:lnTo>
                      <a:pt x="41" y="295"/>
                    </a:lnTo>
                    <a:lnTo>
                      <a:pt x="41" y="294"/>
                    </a:lnTo>
                    <a:lnTo>
                      <a:pt x="42" y="292"/>
                    </a:lnTo>
                    <a:lnTo>
                      <a:pt x="42" y="291"/>
                    </a:lnTo>
                    <a:lnTo>
                      <a:pt x="42" y="289"/>
                    </a:lnTo>
                    <a:lnTo>
                      <a:pt x="44" y="287"/>
                    </a:lnTo>
                    <a:lnTo>
                      <a:pt x="44" y="286"/>
                    </a:lnTo>
                    <a:lnTo>
                      <a:pt x="44" y="286"/>
                    </a:lnTo>
                    <a:lnTo>
                      <a:pt x="46" y="284"/>
                    </a:lnTo>
                    <a:lnTo>
                      <a:pt x="46" y="283"/>
                    </a:lnTo>
                    <a:lnTo>
                      <a:pt x="46" y="281"/>
                    </a:lnTo>
                    <a:lnTo>
                      <a:pt x="46" y="280"/>
                    </a:lnTo>
                    <a:lnTo>
                      <a:pt x="47" y="280"/>
                    </a:lnTo>
                    <a:lnTo>
                      <a:pt x="47" y="278"/>
                    </a:lnTo>
                    <a:lnTo>
                      <a:pt x="47" y="276"/>
                    </a:lnTo>
                    <a:lnTo>
                      <a:pt x="49" y="275"/>
                    </a:lnTo>
                    <a:lnTo>
                      <a:pt x="49" y="273"/>
                    </a:lnTo>
                    <a:lnTo>
                      <a:pt x="49" y="272"/>
                    </a:lnTo>
                    <a:lnTo>
                      <a:pt x="50" y="270"/>
                    </a:lnTo>
                    <a:lnTo>
                      <a:pt x="50" y="269"/>
                    </a:lnTo>
                    <a:lnTo>
                      <a:pt x="52" y="267"/>
                    </a:lnTo>
                    <a:lnTo>
                      <a:pt x="52" y="265"/>
                    </a:lnTo>
                    <a:lnTo>
                      <a:pt x="53" y="264"/>
                    </a:lnTo>
                    <a:lnTo>
                      <a:pt x="53" y="261"/>
                    </a:lnTo>
                    <a:lnTo>
                      <a:pt x="55" y="259"/>
                    </a:lnTo>
                    <a:lnTo>
                      <a:pt x="55" y="256"/>
                    </a:lnTo>
                    <a:lnTo>
                      <a:pt x="56" y="254"/>
                    </a:lnTo>
                    <a:lnTo>
                      <a:pt x="56" y="254"/>
                    </a:lnTo>
                    <a:lnTo>
                      <a:pt x="58" y="251"/>
                    </a:lnTo>
                    <a:lnTo>
                      <a:pt x="58" y="248"/>
                    </a:lnTo>
                    <a:lnTo>
                      <a:pt x="60" y="247"/>
                    </a:lnTo>
                    <a:lnTo>
                      <a:pt x="60" y="245"/>
                    </a:lnTo>
                    <a:lnTo>
                      <a:pt x="61" y="242"/>
                    </a:lnTo>
                    <a:lnTo>
                      <a:pt x="61" y="240"/>
                    </a:lnTo>
                    <a:lnTo>
                      <a:pt x="63" y="239"/>
                    </a:lnTo>
                    <a:lnTo>
                      <a:pt x="63" y="237"/>
                    </a:lnTo>
                    <a:lnTo>
                      <a:pt x="63" y="236"/>
                    </a:lnTo>
                    <a:lnTo>
                      <a:pt x="64" y="234"/>
                    </a:lnTo>
                    <a:lnTo>
                      <a:pt x="64" y="232"/>
                    </a:lnTo>
                    <a:lnTo>
                      <a:pt x="64" y="231"/>
                    </a:lnTo>
                    <a:lnTo>
                      <a:pt x="66" y="229"/>
                    </a:lnTo>
                    <a:lnTo>
                      <a:pt x="66" y="228"/>
                    </a:lnTo>
                    <a:lnTo>
                      <a:pt x="66" y="226"/>
                    </a:lnTo>
                    <a:lnTo>
                      <a:pt x="67" y="225"/>
                    </a:lnTo>
                    <a:lnTo>
                      <a:pt x="67" y="225"/>
                    </a:lnTo>
                    <a:lnTo>
                      <a:pt x="67" y="223"/>
                    </a:lnTo>
                    <a:lnTo>
                      <a:pt x="69" y="221"/>
                    </a:lnTo>
                    <a:lnTo>
                      <a:pt x="69" y="220"/>
                    </a:lnTo>
                    <a:lnTo>
                      <a:pt x="69" y="218"/>
                    </a:lnTo>
                    <a:lnTo>
                      <a:pt x="69" y="217"/>
                    </a:lnTo>
                    <a:lnTo>
                      <a:pt x="71" y="215"/>
                    </a:lnTo>
                    <a:lnTo>
                      <a:pt x="71" y="214"/>
                    </a:lnTo>
                    <a:lnTo>
                      <a:pt x="71" y="212"/>
                    </a:lnTo>
                    <a:lnTo>
                      <a:pt x="72" y="211"/>
                    </a:lnTo>
                    <a:lnTo>
                      <a:pt x="72" y="209"/>
                    </a:lnTo>
                    <a:lnTo>
                      <a:pt x="74" y="206"/>
                    </a:lnTo>
                    <a:lnTo>
                      <a:pt x="74" y="204"/>
                    </a:lnTo>
                    <a:lnTo>
                      <a:pt x="75" y="203"/>
                    </a:lnTo>
                    <a:lnTo>
                      <a:pt x="75" y="200"/>
                    </a:lnTo>
                    <a:lnTo>
                      <a:pt x="75" y="196"/>
                    </a:lnTo>
                    <a:lnTo>
                      <a:pt x="75" y="196"/>
                    </a:lnTo>
                    <a:lnTo>
                      <a:pt x="77" y="195"/>
                    </a:lnTo>
                    <a:lnTo>
                      <a:pt x="77" y="192"/>
                    </a:lnTo>
                    <a:lnTo>
                      <a:pt x="78" y="190"/>
                    </a:lnTo>
                    <a:lnTo>
                      <a:pt x="78" y="187"/>
                    </a:lnTo>
                    <a:lnTo>
                      <a:pt x="80" y="185"/>
                    </a:lnTo>
                    <a:lnTo>
                      <a:pt x="80" y="184"/>
                    </a:lnTo>
                    <a:lnTo>
                      <a:pt x="80" y="182"/>
                    </a:lnTo>
                    <a:lnTo>
                      <a:pt x="82" y="181"/>
                    </a:lnTo>
                    <a:lnTo>
                      <a:pt x="82" y="179"/>
                    </a:lnTo>
                    <a:lnTo>
                      <a:pt x="82" y="178"/>
                    </a:lnTo>
                    <a:lnTo>
                      <a:pt x="83" y="176"/>
                    </a:lnTo>
                    <a:lnTo>
                      <a:pt x="83" y="174"/>
                    </a:lnTo>
                    <a:lnTo>
                      <a:pt x="83" y="173"/>
                    </a:lnTo>
                    <a:lnTo>
                      <a:pt x="85" y="171"/>
                    </a:lnTo>
                    <a:lnTo>
                      <a:pt x="85" y="170"/>
                    </a:lnTo>
                    <a:lnTo>
                      <a:pt x="85" y="168"/>
                    </a:lnTo>
                    <a:lnTo>
                      <a:pt x="85" y="167"/>
                    </a:lnTo>
                    <a:lnTo>
                      <a:pt x="86" y="167"/>
                    </a:lnTo>
                    <a:lnTo>
                      <a:pt x="86" y="165"/>
                    </a:lnTo>
                    <a:lnTo>
                      <a:pt x="86" y="163"/>
                    </a:lnTo>
                    <a:lnTo>
                      <a:pt x="86" y="162"/>
                    </a:lnTo>
                    <a:lnTo>
                      <a:pt x="88" y="160"/>
                    </a:lnTo>
                    <a:lnTo>
                      <a:pt x="88" y="159"/>
                    </a:lnTo>
                    <a:lnTo>
                      <a:pt x="88" y="157"/>
                    </a:lnTo>
                    <a:lnTo>
                      <a:pt x="89" y="156"/>
                    </a:lnTo>
                    <a:lnTo>
                      <a:pt x="89" y="154"/>
                    </a:lnTo>
                    <a:lnTo>
                      <a:pt x="89" y="151"/>
                    </a:lnTo>
                    <a:lnTo>
                      <a:pt x="91" y="149"/>
                    </a:lnTo>
                    <a:lnTo>
                      <a:pt x="91" y="148"/>
                    </a:lnTo>
                    <a:lnTo>
                      <a:pt x="93" y="145"/>
                    </a:lnTo>
                    <a:lnTo>
                      <a:pt x="93" y="143"/>
                    </a:lnTo>
                    <a:lnTo>
                      <a:pt x="94" y="140"/>
                    </a:lnTo>
                    <a:lnTo>
                      <a:pt x="94" y="140"/>
                    </a:lnTo>
                    <a:lnTo>
                      <a:pt x="94" y="137"/>
                    </a:lnTo>
                    <a:lnTo>
                      <a:pt x="96" y="135"/>
                    </a:lnTo>
                    <a:lnTo>
                      <a:pt x="96" y="132"/>
                    </a:lnTo>
                    <a:lnTo>
                      <a:pt x="97" y="130"/>
                    </a:lnTo>
                    <a:lnTo>
                      <a:pt x="97" y="129"/>
                    </a:lnTo>
                    <a:lnTo>
                      <a:pt x="97" y="127"/>
                    </a:lnTo>
                    <a:lnTo>
                      <a:pt x="99" y="124"/>
                    </a:lnTo>
                    <a:lnTo>
                      <a:pt x="99" y="123"/>
                    </a:lnTo>
                    <a:lnTo>
                      <a:pt x="99" y="121"/>
                    </a:lnTo>
                    <a:lnTo>
                      <a:pt x="100" y="120"/>
                    </a:lnTo>
                    <a:lnTo>
                      <a:pt x="100" y="118"/>
                    </a:lnTo>
                    <a:lnTo>
                      <a:pt x="100" y="118"/>
                    </a:lnTo>
                    <a:lnTo>
                      <a:pt x="100" y="116"/>
                    </a:lnTo>
                    <a:lnTo>
                      <a:pt x="100" y="115"/>
                    </a:lnTo>
                    <a:lnTo>
                      <a:pt x="102" y="113"/>
                    </a:lnTo>
                    <a:lnTo>
                      <a:pt x="102" y="112"/>
                    </a:lnTo>
                    <a:lnTo>
                      <a:pt x="102" y="112"/>
                    </a:lnTo>
                    <a:lnTo>
                      <a:pt x="102" y="110"/>
                    </a:lnTo>
                    <a:lnTo>
                      <a:pt x="102" y="109"/>
                    </a:lnTo>
                    <a:lnTo>
                      <a:pt x="102" y="107"/>
                    </a:lnTo>
                    <a:lnTo>
                      <a:pt x="102" y="105"/>
                    </a:lnTo>
                    <a:lnTo>
                      <a:pt x="104" y="104"/>
                    </a:lnTo>
                    <a:lnTo>
                      <a:pt x="104" y="104"/>
                    </a:lnTo>
                    <a:lnTo>
                      <a:pt x="104" y="102"/>
                    </a:lnTo>
                    <a:lnTo>
                      <a:pt x="104" y="101"/>
                    </a:lnTo>
                    <a:lnTo>
                      <a:pt x="104" y="99"/>
                    </a:lnTo>
                    <a:lnTo>
                      <a:pt x="104" y="98"/>
                    </a:lnTo>
                    <a:lnTo>
                      <a:pt x="104" y="96"/>
                    </a:lnTo>
                    <a:lnTo>
                      <a:pt x="104" y="93"/>
                    </a:lnTo>
                    <a:lnTo>
                      <a:pt x="104" y="91"/>
                    </a:lnTo>
                    <a:lnTo>
                      <a:pt x="104" y="90"/>
                    </a:lnTo>
                    <a:lnTo>
                      <a:pt x="104" y="87"/>
                    </a:lnTo>
                    <a:lnTo>
                      <a:pt x="104" y="87"/>
                    </a:lnTo>
                    <a:lnTo>
                      <a:pt x="105" y="85"/>
                    </a:lnTo>
                    <a:lnTo>
                      <a:pt x="105" y="83"/>
                    </a:lnTo>
                    <a:lnTo>
                      <a:pt x="105" y="80"/>
                    </a:lnTo>
                    <a:lnTo>
                      <a:pt x="105" y="79"/>
                    </a:lnTo>
                    <a:lnTo>
                      <a:pt x="105" y="77"/>
                    </a:lnTo>
                    <a:lnTo>
                      <a:pt x="105" y="76"/>
                    </a:lnTo>
                    <a:lnTo>
                      <a:pt x="105" y="74"/>
                    </a:lnTo>
                    <a:lnTo>
                      <a:pt x="105" y="72"/>
                    </a:lnTo>
                    <a:lnTo>
                      <a:pt x="105" y="71"/>
                    </a:lnTo>
                    <a:lnTo>
                      <a:pt x="105" y="69"/>
                    </a:lnTo>
                    <a:lnTo>
                      <a:pt x="107" y="69"/>
                    </a:lnTo>
                    <a:lnTo>
                      <a:pt x="107" y="68"/>
                    </a:lnTo>
                    <a:lnTo>
                      <a:pt x="107" y="66"/>
                    </a:lnTo>
                    <a:lnTo>
                      <a:pt x="107" y="66"/>
                    </a:lnTo>
                    <a:lnTo>
                      <a:pt x="107" y="65"/>
                    </a:lnTo>
                    <a:lnTo>
                      <a:pt x="107" y="63"/>
                    </a:lnTo>
                    <a:lnTo>
                      <a:pt x="107" y="63"/>
                    </a:lnTo>
                    <a:lnTo>
                      <a:pt x="107" y="61"/>
                    </a:lnTo>
                    <a:lnTo>
                      <a:pt x="107" y="61"/>
                    </a:lnTo>
                    <a:lnTo>
                      <a:pt x="107" y="60"/>
                    </a:lnTo>
                    <a:lnTo>
                      <a:pt x="107" y="60"/>
                    </a:lnTo>
                    <a:lnTo>
                      <a:pt x="107" y="58"/>
                    </a:lnTo>
                    <a:lnTo>
                      <a:pt x="108" y="58"/>
                    </a:lnTo>
                    <a:lnTo>
                      <a:pt x="108" y="57"/>
                    </a:lnTo>
                    <a:lnTo>
                      <a:pt x="108" y="55"/>
                    </a:lnTo>
                    <a:lnTo>
                      <a:pt x="108" y="55"/>
                    </a:lnTo>
                    <a:lnTo>
                      <a:pt x="108" y="54"/>
                    </a:lnTo>
                    <a:lnTo>
                      <a:pt x="108" y="52"/>
                    </a:lnTo>
                    <a:lnTo>
                      <a:pt x="108" y="52"/>
                    </a:lnTo>
                    <a:lnTo>
                      <a:pt x="108" y="50"/>
                    </a:lnTo>
                    <a:lnTo>
                      <a:pt x="110" y="49"/>
                    </a:lnTo>
                    <a:lnTo>
                      <a:pt x="110" y="47"/>
                    </a:lnTo>
                    <a:lnTo>
                      <a:pt x="110" y="47"/>
                    </a:lnTo>
                    <a:lnTo>
                      <a:pt x="110" y="47"/>
                    </a:lnTo>
                    <a:lnTo>
                      <a:pt x="110" y="46"/>
                    </a:lnTo>
                    <a:lnTo>
                      <a:pt x="110" y="44"/>
                    </a:lnTo>
                    <a:lnTo>
                      <a:pt x="110" y="43"/>
                    </a:lnTo>
                    <a:lnTo>
                      <a:pt x="110" y="43"/>
                    </a:lnTo>
                    <a:lnTo>
                      <a:pt x="111" y="41"/>
                    </a:lnTo>
                    <a:lnTo>
                      <a:pt x="111" y="40"/>
                    </a:lnTo>
                    <a:lnTo>
                      <a:pt x="111" y="40"/>
                    </a:lnTo>
                    <a:lnTo>
                      <a:pt x="111" y="38"/>
                    </a:lnTo>
                    <a:lnTo>
                      <a:pt x="111" y="36"/>
                    </a:lnTo>
                    <a:lnTo>
                      <a:pt x="111" y="36"/>
                    </a:lnTo>
                    <a:lnTo>
                      <a:pt x="111" y="35"/>
                    </a:lnTo>
                    <a:lnTo>
                      <a:pt x="111" y="35"/>
                    </a:lnTo>
                    <a:lnTo>
                      <a:pt x="111" y="33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0"/>
                    </a:lnTo>
                    <a:lnTo>
                      <a:pt x="111" y="29"/>
                    </a:lnTo>
                    <a:lnTo>
                      <a:pt x="111" y="27"/>
                    </a:lnTo>
                    <a:lnTo>
                      <a:pt x="111" y="25"/>
                    </a:lnTo>
                    <a:lnTo>
                      <a:pt x="111" y="24"/>
                    </a:lnTo>
                    <a:lnTo>
                      <a:pt x="111" y="22"/>
                    </a:lnTo>
                    <a:lnTo>
                      <a:pt x="111" y="21"/>
                    </a:lnTo>
                    <a:lnTo>
                      <a:pt x="111" y="19"/>
                    </a:lnTo>
                    <a:lnTo>
                      <a:pt x="111" y="18"/>
                    </a:lnTo>
                    <a:lnTo>
                      <a:pt x="111" y="16"/>
                    </a:lnTo>
                    <a:lnTo>
                      <a:pt x="111" y="13"/>
                    </a:lnTo>
                    <a:lnTo>
                      <a:pt x="111" y="11"/>
                    </a:lnTo>
                    <a:lnTo>
                      <a:pt x="111" y="8"/>
                    </a:lnTo>
                    <a:lnTo>
                      <a:pt x="111" y="5"/>
                    </a:lnTo>
                    <a:lnTo>
                      <a:pt x="110" y="3"/>
                    </a:lnTo>
                    <a:lnTo>
                      <a:pt x="110" y="0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7" name="Freeform 47"/>
              <p:cNvSpPr>
                <a:spLocks/>
              </p:cNvSpPr>
              <p:nvPr/>
            </p:nvSpPr>
            <p:spPr bwMode="auto">
              <a:xfrm>
                <a:off x="1825625" y="2486025"/>
                <a:ext cx="88900" cy="296863"/>
              </a:xfrm>
              <a:custGeom>
                <a:avLst/>
                <a:gdLst>
                  <a:gd name="T0" fmla="*/ 6 w 111"/>
                  <a:gd name="T1" fmla="*/ 12 h 375"/>
                  <a:gd name="T2" fmla="*/ 14 w 111"/>
                  <a:gd name="T3" fmla="*/ 23 h 375"/>
                  <a:gd name="T4" fmla="*/ 19 w 111"/>
                  <a:gd name="T5" fmla="*/ 33 h 375"/>
                  <a:gd name="T6" fmla="*/ 24 w 111"/>
                  <a:gd name="T7" fmla="*/ 41 h 375"/>
                  <a:gd name="T8" fmla="*/ 27 w 111"/>
                  <a:gd name="T9" fmla="*/ 47 h 375"/>
                  <a:gd name="T10" fmla="*/ 30 w 111"/>
                  <a:gd name="T11" fmla="*/ 53 h 375"/>
                  <a:gd name="T12" fmla="*/ 31 w 111"/>
                  <a:gd name="T13" fmla="*/ 60 h 375"/>
                  <a:gd name="T14" fmla="*/ 35 w 111"/>
                  <a:gd name="T15" fmla="*/ 67 h 375"/>
                  <a:gd name="T16" fmla="*/ 38 w 111"/>
                  <a:gd name="T17" fmla="*/ 74 h 375"/>
                  <a:gd name="T18" fmla="*/ 41 w 111"/>
                  <a:gd name="T19" fmla="*/ 80 h 375"/>
                  <a:gd name="T20" fmla="*/ 42 w 111"/>
                  <a:gd name="T21" fmla="*/ 86 h 375"/>
                  <a:gd name="T22" fmla="*/ 46 w 111"/>
                  <a:gd name="T23" fmla="*/ 91 h 375"/>
                  <a:gd name="T24" fmla="*/ 47 w 111"/>
                  <a:gd name="T25" fmla="*/ 96 h 375"/>
                  <a:gd name="T26" fmla="*/ 49 w 111"/>
                  <a:gd name="T27" fmla="*/ 100 h 375"/>
                  <a:gd name="T28" fmla="*/ 52 w 111"/>
                  <a:gd name="T29" fmla="*/ 108 h 375"/>
                  <a:gd name="T30" fmla="*/ 55 w 111"/>
                  <a:gd name="T31" fmla="*/ 116 h 375"/>
                  <a:gd name="T32" fmla="*/ 58 w 111"/>
                  <a:gd name="T33" fmla="*/ 124 h 375"/>
                  <a:gd name="T34" fmla="*/ 61 w 111"/>
                  <a:gd name="T35" fmla="*/ 132 h 375"/>
                  <a:gd name="T36" fmla="*/ 63 w 111"/>
                  <a:gd name="T37" fmla="*/ 140 h 375"/>
                  <a:gd name="T38" fmla="*/ 66 w 111"/>
                  <a:gd name="T39" fmla="*/ 146 h 375"/>
                  <a:gd name="T40" fmla="*/ 67 w 111"/>
                  <a:gd name="T41" fmla="*/ 151 h 375"/>
                  <a:gd name="T42" fmla="*/ 69 w 111"/>
                  <a:gd name="T43" fmla="*/ 157 h 375"/>
                  <a:gd name="T44" fmla="*/ 71 w 111"/>
                  <a:gd name="T45" fmla="*/ 163 h 375"/>
                  <a:gd name="T46" fmla="*/ 74 w 111"/>
                  <a:gd name="T47" fmla="*/ 171 h 375"/>
                  <a:gd name="T48" fmla="*/ 75 w 111"/>
                  <a:gd name="T49" fmla="*/ 177 h 375"/>
                  <a:gd name="T50" fmla="*/ 78 w 111"/>
                  <a:gd name="T51" fmla="*/ 187 h 375"/>
                  <a:gd name="T52" fmla="*/ 82 w 111"/>
                  <a:gd name="T53" fmla="*/ 194 h 375"/>
                  <a:gd name="T54" fmla="*/ 83 w 111"/>
                  <a:gd name="T55" fmla="*/ 201 h 375"/>
                  <a:gd name="T56" fmla="*/ 85 w 111"/>
                  <a:gd name="T57" fmla="*/ 205 h 375"/>
                  <a:gd name="T58" fmla="*/ 86 w 111"/>
                  <a:gd name="T59" fmla="*/ 212 h 375"/>
                  <a:gd name="T60" fmla="*/ 88 w 111"/>
                  <a:gd name="T61" fmla="*/ 218 h 375"/>
                  <a:gd name="T62" fmla="*/ 91 w 111"/>
                  <a:gd name="T63" fmla="*/ 226 h 375"/>
                  <a:gd name="T64" fmla="*/ 94 w 111"/>
                  <a:gd name="T65" fmla="*/ 235 h 375"/>
                  <a:gd name="T66" fmla="*/ 96 w 111"/>
                  <a:gd name="T67" fmla="*/ 241 h 375"/>
                  <a:gd name="T68" fmla="*/ 99 w 111"/>
                  <a:gd name="T69" fmla="*/ 249 h 375"/>
                  <a:gd name="T70" fmla="*/ 100 w 111"/>
                  <a:gd name="T71" fmla="*/ 256 h 375"/>
                  <a:gd name="T72" fmla="*/ 102 w 111"/>
                  <a:gd name="T73" fmla="*/ 262 h 375"/>
                  <a:gd name="T74" fmla="*/ 102 w 111"/>
                  <a:gd name="T75" fmla="*/ 267 h 375"/>
                  <a:gd name="T76" fmla="*/ 104 w 111"/>
                  <a:gd name="T77" fmla="*/ 271 h 375"/>
                  <a:gd name="T78" fmla="*/ 104 w 111"/>
                  <a:gd name="T79" fmla="*/ 278 h 375"/>
                  <a:gd name="T80" fmla="*/ 104 w 111"/>
                  <a:gd name="T81" fmla="*/ 285 h 375"/>
                  <a:gd name="T82" fmla="*/ 105 w 111"/>
                  <a:gd name="T83" fmla="*/ 292 h 375"/>
                  <a:gd name="T84" fmla="*/ 105 w 111"/>
                  <a:gd name="T85" fmla="*/ 300 h 375"/>
                  <a:gd name="T86" fmla="*/ 105 w 111"/>
                  <a:gd name="T87" fmla="*/ 304 h 375"/>
                  <a:gd name="T88" fmla="*/ 107 w 111"/>
                  <a:gd name="T89" fmla="*/ 309 h 375"/>
                  <a:gd name="T90" fmla="*/ 107 w 111"/>
                  <a:gd name="T91" fmla="*/ 312 h 375"/>
                  <a:gd name="T92" fmla="*/ 107 w 111"/>
                  <a:gd name="T93" fmla="*/ 317 h 375"/>
                  <a:gd name="T94" fmla="*/ 108 w 111"/>
                  <a:gd name="T95" fmla="*/ 320 h 375"/>
                  <a:gd name="T96" fmla="*/ 108 w 111"/>
                  <a:gd name="T97" fmla="*/ 325 h 375"/>
                  <a:gd name="T98" fmla="*/ 110 w 111"/>
                  <a:gd name="T99" fmla="*/ 328 h 375"/>
                  <a:gd name="T100" fmla="*/ 110 w 111"/>
                  <a:gd name="T101" fmla="*/ 332 h 375"/>
                  <a:gd name="T102" fmla="*/ 111 w 111"/>
                  <a:gd name="T103" fmla="*/ 337 h 375"/>
                  <a:gd name="T104" fmla="*/ 111 w 111"/>
                  <a:gd name="T105" fmla="*/ 340 h 375"/>
                  <a:gd name="T106" fmla="*/ 111 w 111"/>
                  <a:gd name="T107" fmla="*/ 345 h 375"/>
                  <a:gd name="T108" fmla="*/ 111 w 111"/>
                  <a:gd name="T109" fmla="*/ 350 h 375"/>
                  <a:gd name="T110" fmla="*/ 111 w 111"/>
                  <a:gd name="T111" fmla="*/ 358 h 375"/>
                  <a:gd name="T112" fmla="*/ 111 w 111"/>
                  <a:gd name="T113" fmla="*/ 367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1" h="375">
                    <a:moveTo>
                      <a:pt x="0" y="0"/>
                    </a:moveTo>
                    <a:lnTo>
                      <a:pt x="3" y="5"/>
                    </a:lnTo>
                    <a:lnTo>
                      <a:pt x="5" y="8"/>
                    </a:lnTo>
                    <a:lnTo>
                      <a:pt x="6" y="12"/>
                    </a:lnTo>
                    <a:lnTo>
                      <a:pt x="9" y="16"/>
                    </a:lnTo>
                    <a:lnTo>
                      <a:pt x="11" y="19"/>
                    </a:lnTo>
                    <a:lnTo>
                      <a:pt x="13" y="22"/>
                    </a:lnTo>
                    <a:lnTo>
                      <a:pt x="14" y="23"/>
                    </a:lnTo>
                    <a:lnTo>
                      <a:pt x="16" y="27"/>
                    </a:lnTo>
                    <a:lnTo>
                      <a:pt x="17" y="30"/>
                    </a:lnTo>
                    <a:lnTo>
                      <a:pt x="17" y="31"/>
                    </a:lnTo>
                    <a:lnTo>
                      <a:pt x="19" y="33"/>
                    </a:lnTo>
                    <a:lnTo>
                      <a:pt x="20" y="36"/>
                    </a:lnTo>
                    <a:lnTo>
                      <a:pt x="22" y="38"/>
                    </a:lnTo>
                    <a:lnTo>
                      <a:pt x="22" y="39"/>
                    </a:lnTo>
                    <a:lnTo>
                      <a:pt x="24" y="41"/>
                    </a:lnTo>
                    <a:lnTo>
                      <a:pt x="24" y="42"/>
                    </a:lnTo>
                    <a:lnTo>
                      <a:pt x="25" y="44"/>
                    </a:lnTo>
                    <a:lnTo>
                      <a:pt x="25" y="45"/>
                    </a:lnTo>
                    <a:lnTo>
                      <a:pt x="27" y="47"/>
                    </a:lnTo>
                    <a:lnTo>
                      <a:pt x="27" y="49"/>
                    </a:lnTo>
                    <a:lnTo>
                      <a:pt x="28" y="50"/>
                    </a:lnTo>
                    <a:lnTo>
                      <a:pt x="28" y="52"/>
                    </a:lnTo>
                    <a:lnTo>
                      <a:pt x="30" y="53"/>
                    </a:lnTo>
                    <a:lnTo>
                      <a:pt x="30" y="55"/>
                    </a:lnTo>
                    <a:lnTo>
                      <a:pt x="30" y="56"/>
                    </a:lnTo>
                    <a:lnTo>
                      <a:pt x="31" y="58"/>
                    </a:lnTo>
                    <a:lnTo>
                      <a:pt x="31" y="60"/>
                    </a:lnTo>
                    <a:lnTo>
                      <a:pt x="33" y="61"/>
                    </a:lnTo>
                    <a:lnTo>
                      <a:pt x="33" y="63"/>
                    </a:lnTo>
                    <a:lnTo>
                      <a:pt x="35" y="64"/>
                    </a:lnTo>
                    <a:lnTo>
                      <a:pt x="35" y="67"/>
                    </a:lnTo>
                    <a:lnTo>
                      <a:pt x="36" y="69"/>
                    </a:lnTo>
                    <a:lnTo>
                      <a:pt x="36" y="69"/>
                    </a:lnTo>
                    <a:lnTo>
                      <a:pt x="36" y="70"/>
                    </a:lnTo>
                    <a:lnTo>
                      <a:pt x="38" y="74"/>
                    </a:lnTo>
                    <a:lnTo>
                      <a:pt x="38" y="75"/>
                    </a:lnTo>
                    <a:lnTo>
                      <a:pt x="39" y="77"/>
                    </a:lnTo>
                    <a:lnTo>
                      <a:pt x="39" y="78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3"/>
                    </a:lnTo>
                    <a:lnTo>
                      <a:pt x="42" y="85"/>
                    </a:lnTo>
                    <a:lnTo>
                      <a:pt x="42" y="86"/>
                    </a:lnTo>
                    <a:lnTo>
                      <a:pt x="44" y="88"/>
                    </a:lnTo>
                    <a:lnTo>
                      <a:pt x="44" y="88"/>
                    </a:lnTo>
                    <a:lnTo>
                      <a:pt x="44" y="89"/>
                    </a:lnTo>
                    <a:lnTo>
                      <a:pt x="46" y="91"/>
                    </a:lnTo>
                    <a:lnTo>
                      <a:pt x="46" y="92"/>
                    </a:lnTo>
                    <a:lnTo>
                      <a:pt x="46" y="92"/>
                    </a:lnTo>
                    <a:lnTo>
                      <a:pt x="46" y="94"/>
                    </a:lnTo>
                    <a:lnTo>
                      <a:pt x="47" y="96"/>
                    </a:lnTo>
                    <a:lnTo>
                      <a:pt x="47" y="97"/>
                    </a:lnTo>
                    <a:lnTo>
                      <a:pt x="47" y="99"/>
                    </a:lnTo>
                    <a:lnTo>
                      <a:pt x="49" y="99"/>
                    </a:lnTo>
                    <a:lnTo>
                      <a:pt x="49" y="100"/>
                    </a:lnTo>
                    <a:lnTo>
                      <a:pt x="49" y="102"/>
                    </a:lnTo>
                    <a:lnTo>
                      <a:pt x="50" y="103"/>
                    </a:lnTo>
                    <a:lnTo>
                      <a:pt x="50" y="105"/>
                    </a:lnTo>
                    <a:lnTo>
                      <a:pt x="52" y="108"/>
                    </a:lnTo>
                    <a:lnTo>
                      <a:pt x="52" y="110"/>
                    </a:lnTo>
                    <a:lnTo>
                      <a:pt x="53" y="111"/>
                    </a:lnTo>
                    <a:lnTo>
                      <a:pt x="53" y="113"/>
                    </a:lnTo>
                    <a:lnTo>
                      <a:pt x="55" y="116"/>
                    </a:lnTo>
                    <a:lnTo>
                      <a:pt x="55" y="118"/>
                    </a:lnTo>
                    <a:lnTo>
                      <a:pt x="56" y="121"/>
                    </a:lnTo>
                    <a:lnTo>
                      <a:pt x="56" y="121"/>
                    </a:lnTo>
                    <a:lnTo>
                      <a:pt x="58" y="124"/>
                    </a:lnTo>
                    <a:lnTo>
                      <a:pt x="58" y="125"/>
                    </a:lnTo>
                    <a:lnTo>
                      <a:pt x="60" y="129"/>
                    </a:lnTo>
                    <a:lnTo>
                      <a:pt x="60" y="130"/>
                    </a:lnTo>
                    <a:lnTo>
                      <a:pt x="61" y="132"/>
                    </a:lnTo>
                    <a:lnTo>
                      <a:pt x="61" y="135"/>
                    </a:lnTo>
                    <a:lnTo>
                      <a:pt x="63" y="136"/>
                    </a:lnTo>
                    <a:lnTo>
                      <a:pt x="63" y="138"/>
                    </a:lnTo>
                    <a:lnTo>
                      <a:pt x="63" y="140"/>
                    </a:lnTo>
                    <a:lnTo>
                      <a:pt x="64" y="141"/>
                    </a:lnTo>
                    <a:lnTo>
                      <a:pt x="64" y="143"/>
                    </a:lnTo>
                    <a:lnTo>
                      <a:pt x="64" y="144"/>
                    </a:lnTo>
                    <a:lnTo>
                      <a:pt x="66" y="146"/>
                    </a:lnTo>
                    <a:lnTo>
                      <a:pt x="66" y="147"/>
                    </a:lnTo>
                    <a:lnTo>
                      <a:pt x="66" y="147"/>
                    </a:lnTo>
                    <a:lnTo>
                      <a:pt x="67" y="149"/>
                    </a:lnTo>
                    <a:lnTo>
                      <a:pt x="67" y="151"/>
                    </a:lnTo>
                    <a:lnTo>
                      <a:pt x="67" y="152"/>
                    </a:lnTo>
                    <a:lnTo>
                      <a:pt x="69" y="154"/>
                    </a:lnTo>
                    <a:lnTo>
                      <a:pt x="69" y="155"/>
                    </a:lnTo>
                    <a:lnTo>
                      <a:pt x="69" y="157"/>
                    </a:lnTo>
                    <a:lnTo>
                      <a:pt x="69" y="158"/>
                    </a:lnTo>
                    <a:lnTo>
                      <a:pt x="71" y="160"/>
                    </a:lnTo>
                    <a:lnTo>
                      <a:pt x="71" y="161"/>
                    </a:lnTo>
                    <a:lnTo>
                      <a:pt x="71" y="163"/>
                    </a:lnTo>
                    <a:lnTo>
                      <a:pt x="72" y="165"/>
                    </a:lnTo>
                    <a:lnTo>
                      <a:pt x="72" y="166"/>
                    </a:lnTo>
                    <a:lnTo>
                      <a:pt x="74" y="168"/>
                    </a:lnTo>
                    <a:lnTo>
                      <a:pt x="74" y="171"/>
                    </a:lnTo>
                    <a:lnTo>
                      <a:pt x="75" y="172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5" y="177"/>
                    </a:lnTo>
                    <a:lnTo>
                      <a:pt x="77" y="180"/>
                    </a:lnTo>
                    <a:lnTo>
                      <a:pt x="77" y="183"/>
                    </a:lnTo>
                    <a:lnTo>
                      <a:pt x="78" y="185"/>
                    </a:lnTo>
                    <a:lnTo>
                      <a:pt x="78" y="187"/>
                    </a:lnTo>
                    <a:lnTo>
                      <a:pt x="80" y="190"/>
                    </a:lnTo>
                    <a:lnTo>
                      <a:pt x="80" y="191"/>
                    </a:lnTo>
                    <a:lnTo>
                      <a:pt x="80" y="193"/>
                    </a:lnTo>
                    <a:lnTo>
                      <a:pt x="82" y="194"/>
                    </a:lnTo>
                    <a:lnTo>
                      <a:pt x="82" y="196"/>
                    </a:lnTo>
                    <a:lnTo>
                      <a:pt x="82" y="198"/>
                    </a:lnTo>
                    <a:lnTo>
                      <a:pt x="83" y="199"/>
                    </a:lnTo>
                    <a:lnTo>
                      <a:pt x="83" y="201"/>
                    </a:lnTo>
                    <a:lnTo>
                      <a:pt x="83" y="202"/>
                    </a:lnTo>
                    <a:lnTo>
                      <a:pt x="85" y="204"/>
                    </a:lnTo>
                    <a:lnTo>
                      <a:pt x="85" y="205"/>
                    </a:lnTo>
                    <a:lnTo>
                      <a:pt x="85" y="205"/>
                    </a:lnTo>
                    <a:lnTo>
                      <a:pt x="85" y="207"/>
                    </a:lnTo>
                    <a:lnTo>
                      <a:pt x="86" y="209"/>
                    </a:lnTo>
                    <a:lnTo>
                      <a:pt x="86" y="210"/>
                    </a:lnTo>
                    <a:lnTo>
                      <a:pt x="86" y="212"/>
                    </a:lnTo>
                    <a:lnTo>
                      <a:pt x="86" y="213"/>
                    </a:lnTo>
                    <a:lnTo>
                      <a:pt x="88" y="215"/>
                    </a:lnTo>
                    <a:lnTo>
                      <a:pt x="88" y="216"/>
                    </a:lnTo>
                    <a:lnTo>
                      <a:pt x="88" y="218"/>
                    </a:lnTo>
                    <a:lnTo>
                      <a:pt x="89" y="220"/>
                    </a:lnTo>
                    <a:lnTo>
                      <a:pt x="89" y="221"/>
                    </a:lnTo>
                    <a:lnTo>
                      <a:pt x="89" y="223"/>
                    </a:lnTo>
                    <a:lnTo>
                      <a:pt x="91" y="226"/>
                    </a:lnTo>
                    <a:lnTo>
                      <a:pt x="91" y="227"/>
                    </a:lnTo>
                    <a:lnTo>
                      <a:pt x="93" y="229"/>
                    </a:lnTo>
                    <a:lnTo>
                      <a:pt x="93" y="232"/>
                    </a:lnTo>
                    <a:lnTo>
                      <a:pt x="94" y="235"/>
                    </a:lnTo>
                    <a:lnTo>
                      <a:pt x="94" y="235"/>
                    </a:lnTo>
                    <a:lnTo>
                      <a:pt x="94" y="237"/>
                    </a:lnTo>
                    <a:lnTo>
                      <a:pt x="96" y="240"/>
                    </a:lnTo>
                    <a:lnTo>
                      <a:pt x="96" y="241"/>
                    </a:lnTo>
                    <a:lnTo>
                      <a:pt x="97" y="245"/>
                    </a:lnTo>
                    <a:lnTo>
                      <a:pt x="97" y="246"/>
                    </a:lnTo>
                    <a:lnTo>
                      <a:pt x="97" y="248"/>
                    </a:lnTo>
                    <a:lnTo>
                      <a:pt x="99" y="249"/>
                    </a:lnTo>
                    <a:lnTo>
                      <a:pt x="99" y="251"/>
                    </a:lnTo>
                    <a:lnTo>
                      <a:pt x="99" y="252"/>
                    </a:lnTo>
                    <a:lnTo>
                      <a:pt x="100" y="254"/>
                    </a:lnTo>
                    <a:lnTo>
                      <a:pt x="100" y="256"/>
                    </a:lnTo>
                    <a:lnTo>
                      <a:pt x="100" y="257"/>
                    </a:lnTo>
                    <a:lnTo>
                      <a:pt x="100" y="259"/>
                    </a:lnTo>
                    <a:lnTo>
                      <a:pt x="100" y="260"/>
                    </a:lnTo>
                    <a:lnTo>
                      <a:pt x="102" y="262"/>
                    </a:lnTo>
                    <a:lnTo>
                      <a:pt x="102" y="262"/>
                    </a:lnTo>
                    <a:lnTo>
                      <a:pt x="102" y="263"/>
                    </a:lnTo>
                    <a:lnTo>
                      <a:pt x="102" y="265"/>
                    </a:lnTo>
                    <a:lnTo>
                      <a:pt x="102" y="267"/>
                    </a:lnTo>
                    <a:lnTo>
                      <a:pt x="102" y="268"/>
                    </a:lnTo>
                    <a:lnTo>
                      <a:pt x="102" y="268"/>
                    </a:lnTo>
                    <a:lnTo>
                      <a:pt x="104" y="270"/>
                    </a:lnTo>
                    <a:lnTo>
                      <a:pt x="104" y="271"/>
                    </a:lnTo>
                    <a:lnTo>
                      <a:pt x="104" y="273"/>
                    </a:lnTo>
                    <a:lnTo>
                      <a:pt x="104" y="274"/>
                    </a:lnTo>
                    <a:lnTo>
                      <a:pt x="104" y="276"/>
                    </a:lnTo>
                    <a:lnTo>
                      <a:pt x="104" y="278"/>
                    </a:lnTo>
                    <a:lnTo>
                      <a:pt x="104" y="279"/>
                    </a:lnTo>
                    <a:lnTo>
                      <a:pt x="104" y="281"/>
                    </a:lnTo>
                    <a:lnTo>
                      <a:pt x="104" y="284"/>
                    </a:lnTo>
                    <a:lnTo>
                      <a:pt x="104" y="285"/>
                    </a:lnTo>
                    <a:lnTo>
                      <a:pt x="104" y="287"/>
                    </a:lnTo>
                    <a:lnTo>
                      <a:pt x="104" y="287"/>
                    </a:lnTo>
                    <a:lnTo>
                      <a:pt x="105" y="290"/>
                    </a:lnTo>
                    <a:lnTo>
                      <a:pt x="105" y="292"/>
                    </a:lnTo>
                    <a:lnTo>
                      <a:pt x="105" y="293"/>
                    </a:lnTo>
                    <a:lnTo>
                      <a:pt x="105" y="296"/>
                    </a:lnTo>
                    <a:lnTo>
                      <a:pt x="105" y="298"/>
                    </a:lnTo>
                    <a:lnTo>
                      <a:pt x="105" y="300"/>
                    </a:lnTo>
                    <a:lnTo>
                      <a:pt x="105" y="301"/>
                    </a:lnTo>
                    <a:lnTo>
                      <a:pt x="105" y="303"/>
                    </a:lnTo>
                    <a:lnTo>
                      <a:pt x="105" y="303"/>
                    </a:lnTo>
                    <a:lnTo>
                      <a:pt x="105" y="304"/>
                    </a:lnTo>
                    <a:lnTo>
                      <a:pt x="107" y="306"/>
                    </a:lnTo>
                    <a:lnTo>
                      <a:pt x="107" y="307"/>
                    </a:lnTo>
                    <a:lnTo>
                      <a:pt x="107" y="307"/>
                    </a:lnTo>
                    <a:lnTo>
                      <a:pt x="107" y="309"/>
                    </a:lnTo>
                    <a:lnTo>
                      <a:pt x="107" y="311"/>
                    </a:lnTo>
                    <a:lnTo>
                      <a:pt x="107" y="311"/>
                    </a:lnTo>
                    <a:lnTo>
                      <a:pt x="107" y="312"/>
                    </a:lnTo>
                    <a:lnTo>
                      <a:pt x="107" y="312"/>
                    </a:lnTo>
                    <a:lnTo>
                      <a:pt x="107" y="314"/>
                    </a:lnTo>
                    <a:lnTo>
                      <a:pt x="107" y="314"/>
                    </a:lnTo>
                    <a:lnTo>
                      <a:pt x="107" y="315"/>
                    </a:lnTo>
                    <a:lnTo>
                      <a:pt x="107" y="317"/>
                    </a:lnTo>
                    <a:lnTo>
                      <a:pt x="108" y="317"/>
                    </a:lnTo>
                    <a:lnTo>
                      <a:pt x="108" y="318"/>
                    </a:lnTo>
                    <a:lnTo>
                      <a:pt x="108" y="318"/>
                    </a:lnTo>
                    <a:lnTo>
                      <a:pt x="108" y="320"/>
                    </a:lnTo>
                    <a:lnTo>
                      <a:pt x="108" y="322"/>
                    </a:lnTo>
                    <a:lnTo>
                      <a:pt x="108" y="322"/>
                    </a:lnTo>
                    <a:lnTo>
                      <a:pt x="108" y="323"/>
                    </a:lnTo>
                    <a:lnTo>
                      <a:pt x="108" y="325"/>
                    </a:lnTo>
                    <a:lnTo>
                      <a:pt x="110" y="326"/>
                    </a:lnTo>
                    <a:lnTo>
                      <a:pt x="110" y="326"/>
                    </a:lnTo>
                    <a:lnTo>
                      <a:pt x="110" y="326"/>
                    </a:lnTo>
                    <a:lnTo>
                      <a:pt x="110" y="328"/>
                    </a:lnTo>
                    <a:lnTo>
                      <a:pt x="110" y="329"/>
                    </a:lnTo>
                    <a:lnTo>
                      <a:pt x="110" y="331"/>
                    </a:lnTo>
                    <a:lnTo>
                      <a:pt x="110" y="331"/>
                    </a:lnTo>
                    <a:lnTo>
                      <a:pt x="110" y="332"/>
                    </a:lnTo>
                    <a:lnTo>
                      <a:pt x="111" y="334"/>
                    </a:lnTo>
                    <a:lnTo>
                      <a:pt x="111" y="334"/>
                    </a:lnTo>
                    <a:lnTo>
                      <a:pt x="111" y="336"/>
                    </a:lnTo>
                    <a:lnTo>
                      <a:pt x="111" y="337"/>
                    </a:lnTo>
                    <a:lnTo>
                      <a:pt x="111" y="337"/>
                    </a:lnTo>
                    <a:lnTo>
                      <a:pt x="111" y="339"/>
                    </a:lnTo>
                    <a:lnTo>
                      <a:pt x="111" y="340"/>
                    </a:lnTo>
                    <a:lnTo>
                      <a:pt x="111" y="340"/>
                    </a:lnTo>
                    <a:lnTo>
                      <a:pt x="111" y="342"/>
                    </a:lnTo>
                    <a:lnTo>
                      <a:pt x="111" y="342"/>
                    </a:lnTo>
                    <a:lnTo>
                      <a:pt x="111" y="343"/>
                    </a:lnTo>
                    <a:lnTo>
                      <a:pt x="111" y="345"/>
                    </a:lnTo>
                    <a:lnTo>
                      <a:pt x="111" y="347"/>
                    </a:lnTo>
                    <a:lnTo>
                      <a:pt x="111" y="347"/>
                    </a:lnTo>
                    <a:lnTo>
                      <a:pt x="111" y="348"/>
                    </a:lnTo>
                    <a:lnTo>
                      <a:pt x="111" y="350"/>
                    </a:lnTo>
                    <a:lnTo>
                      <a:pt x="111" y="351"/>
                    </a:lnTo>
                    <a:lnTo>
                      <a:pt x="111" y="353"/>
                    </a:lnTo>
                    <a:lnTo>
                      <a:pt x="111" y="356"/>
                    </a:lnTo>
                    <a:lnTo>
                      <a:pt x="111" y="358"/>
                    </a:lnTo>
                    <a:lnTo>
                      <a:pt x="111" y="359"/>
                    </a:lnTo>
                    <a:lnTo>
                      <a:pt x="111" y="361"/>
                    </a:lnTo>
                    <a:lnTo>
                      <a:pt x="111" y="364"/>
                    </a:lnTo>
                    <a:lnTo>
                      <a:pt x="111" y="367"/>
                    </a:lnTo>
                    <a:lnTo>
                      <a:pt x="111" y="369"/>
                    </a:lnTo>
                    <a:lnTo>
                      <a:pt x="110" y="372"/>
                    </a:lnTo>
                    <a:lnTo>
                      <a:pt x="110" y="375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768" name="Rectangle 48"/>
              <p:cNvSpPr>
                <a:spLocks noChangeArrowheads="1"/>
              </p:cNvSpPr>
              <p:nvPr/>
            </p:nvSpPr>
            <p:spPr bwMode="auto">
              <a:xfrm>
                <a:off x="4144963" y="2049463"/>
                <a:ext cx="957583" cy="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600">
                    <a:solidFill>
                      <a:srgbClr val="000000"/>
                    </a:solidFill>
                    <a:latin typeface="Times-Roman" charset="0"/>
                  </a:rPr>
                  <a:t>Flip-flop</a:t>
                </a:r>
                <a:endParaRPr lang="en-US" altLang="en-US" sz="1600"/>
              </a:p>
            </p:txBody>
          </p:sp>
          <p:sp>
            <p:nvSpPr>
              <p:cNvPr id="47" name="Freeform 21"/>
              <p:cNvSpPr>
                <a:spLocks/>
              </p:cNvSpPr>
              <p:nvPr/>
            </p:nvSpPr>
            <p:spPr bwMode="auto">
              <a:xfrm>
                <a:off x="3201309" y="2759479"/>
                <a:ext cx="60325" cy="60325"/>
              </a:xfrm>
              <a:custGeom>
                <a:avLst/>
                <a:gdLst>
                  <a:gd name="T0" fmla="*/ 35 w 77"/>
                  <a:gd name="T1" fmla="*/ 0 h 77"/>
                  <a:gd name="T2" fmla="*/ 28 w 77"/>
                  <a:gd name="T3" fmla="*/ 2 h 77"/>
                  <a:gd name="T4" fmla="*/ 24 w 77"/>
                  <a:gd name="T5" fmla="*/ 3 h 77"/>
                  <a:gd name="T6" fmla="*/ 19 w 77"/>
                  <a:gd name="T7" fmla="*/ 5 h 77"/>
                  <a:gd name="T8" fmla="*/ 14 w 77"/>
                  <a:gd name="T9" fmla="*/ 8 h 77"/>
                  <a:gd name="T10" fmla="*/ 10 w 77"/>
                  <a:gd name="T11" fmla="*/ 13 h 77"/>
                  <a:gd name="T12" fmla="*/ 6 w 77"/>
                  <a:gd name="T13" fmla="*/ 17 h 77"/>
                  <a:gd name="T14" fmla="*/ 3 w 77"/>
                  <a:gd name="T15" fmla="*/ 22 h 77"/>
                  <a:gd name="T16" fmla="*/ 2 w 77"/>
                  <a:gd name="T17" fmla="*/ 27 h 77"/>
                  <a:gd name="T18" fmla="*/ 0 w 77"/>
                  <a:gd name="T19" fmla="*/ 33 h 77"/>
                  <a:gd name="T20" fmla="*/ 0 w 77"/>
                  <a:gd name="T21" fmla="*/ 38 h 77"/>
                  <a:gd name="T22" fmla="*/ 0 w 77"/>
                  <a:gd name="T23" fmla="*/ 43 h 77"/>
                  <a:gd name="T24" fmla="*/ 2 w 77"/>
                  <a:gd name="T25" fmla="*/ 47 h 77"/>
                  <a:gd name="T26" fmla="*/ 3 w 77"/>
                  <a:gd name="T27" fmla="*/ 54 h 77"/>
                  <a:gd name="T28" fmla="*/ 5 w 77"/>
                  <a:gd name="T29" fmla="*/ 58 h 77"/>
                  <a:gd name="T30" fmla="*/ 8 w 77"/>
                  <a:gd name="T31" fmla="*/ 63 h 77"/>
                  <a:gd name="T32" fmla="*/ 13 w 77"/>
                  <a:gd name="T33" fmla="*/ 66 h 77"/>
                  <a:gd name="T34" fmla="*/ 17 w 77"/>
                  <a:gd name="T35" fmla="*/ 69 h 77"/>
                  <a:gd name="T36" fmla="*/ 22 w 77"/>
                  <a:gd name="T37" fmla="*/ 72 h 77"/>
                  <a:gd name="T38" fmla="*/ 27 w 77"/>
                  <a:gd name="T39" fmla="*/ 75 h 77"/>
                  <a:gd name="T40" fmla="*/ 33 w 77"/>
                  <a:gd name="T41" fmla="*/ 75 h 77"/>
                  <a:gd name="T42" fmla="*/ 38 w 77"/>
                  <a:gd name="T43" fmla="*/ 77 h 77"/>
                  <a:gd name="T44" fmla="*/ 43 w 77"/>
                  <a:gd name="T45" fmla="*/ 75 h 77"/>
                  <a:gd name="T46" fmla="*/ 47 w 77"/>
                  <a:gd name="T47" fmla="*/ 75 h 77"/>
                  <a:gd name="T48" fmla="*/ 54 w 77"/>
                  <a:gd name="T49" fmla="*/ 74 h 77"/>
                  <a:gd name="T50" fmla="*/ 58 w 77"/>
                  <a:gd name="T51" fmla="*/ 71 h 77"/>
                  <a:gd name="T52" fmla="*/ 63 w 77"/>
                  <a:gd name="T53" fmla="*/ 68 h 77"/>
                  <a:gd name="T54" fmla="*/ 66 w 77"/>
                  <a:gd name="T55" fmla="*/ 65 h 77"/>
                  <a:gd name="T56" fmla="*/ 71 w 77"/>
                  <a:gd name="T57" fmla="*/ 60 h 77"/>
                  <a:gd name="T58" fmla="*/ 72 w 77"/>
                  <a:gd name="T59" fmla="*/ 55 h 77"/>
                  <a:gd name="T60" fmla="*/ 76 w 77"/>
                  <a:gd name="T61" fmla="*/ 49 h 77"/>
                  <a:gd name="T62" fmla="*/ 76 w 77"/>
                  <a:gd name="T63" fmla="*/ 44 h 77"/>
                  <a:gd name="T64" fmla="*/ 77 w 77"/>
                  <a:gd name="T65" fmla="*/ 38 h 77"/>
                  <a:gd name="T66" fmla="*/ 77 w 77"/>
                  <a:gd name="T67" fmla="*/ 35 h 77"/>
                  <a:gd name="T68" fmla="*/ 76 w 77"/>
                  <a:gd name="T69" fmla="*/ 28 h 77"/>
                  <a:gd name="T70" fmla="*/ 74 w 77"/>
                  <a:gd name="T71" fmla="*/ 24 h 77"/>
                  <a:gd name="T72" fmla="*/ 71 w 77"/>
                  <a:gd name="T73" fmla="*/ 19 h 77"/>
                  <a:gd name="T74" fmla="*/ 68 w 77"/>
                  <a:gd name="T75" fmla="*/ 14 h 77"/>
                  <a:gd name="T76" fmla="*/ 65 w 77"/>
                  <a:gd name="T77" fmla="*/ 10 h 77"/>
                  <a:gd name="T78" fmla="*/ 60 w 77"/>
                  <a:gd name="T79" fmla="*/ 6 h 77"/>
                  <a:gd name="T80" fmla="*/ 55 w 77"/>
                  <a:gd name="T81" fmla="*/ 3 h 77"/>
                  <a:gd name="T82" fmla="*/ 50 w 77"/>
                  <a:gd name="T83" fmla="*/ 2 h 77"/>
                  <a:gd name="T84" fmla="*/ 44 w 77"/>
                  <a:gd name="T85" fmla="*/ 0 h 77"/>
                  <a:gd name="T86" fmla="*/ 38 w 77"/>
                  <a:gd name="T8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7" h="77">
                    <a:moveTo>
                      <a:pt x="38" y="0"/>
                    </a:move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28" y="2"/>
                    </a:lnTo>
                    <a:lnTo>
                      <a:pt x="27" y="2"/>
                    </a:lnTo>
                    <a:lnTo>
                      <a:pt x="25" y="2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7" y="6"/>
                    </a:lnTo>
                    <a:lnTo>
                      <a:pt x="16" y="8"/>
                    </a:lnTo>
                    <a:lnTo>
                      <a:pt x="14" y="8"/>
                    </a:lnTo>
                    <a:lnTo>
                      <a:pt x="13" y="10"/>
                    </a:lnTo>
                    <a:lnTo>
                      <a:pt x="11" y="11"/>
                    </a:lnTo>
                    <a:lnTo>
                      <a:pt x="10" y="13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6" y="17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3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9"/>
                    </a:lnTo>
                    <a:lnTo>
                      <a:pt x="0" y="43"/>
                    </a:lnTo>
                    <a:lnTo>
                      <a:pt x="0" y="44"/>
                    </a:lnTo>
                    <a:lnTo>
                      <a:pt x="0" y="46"/>
                    </a:lnTo>
                    <a:lnTo>
                      <a:pt x="2" y="47"/>
                    </a:lnTo>
                    <a:lnTo>
                      <a:pt x="2" y="49"/>
                    </a:lnTo>
                    <a:lnTo>
                      <a:pt x="2" y="52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6" y="60"/>
                    </a:lnTo>
                    <a:lnTo>
                      <a:pt x="8" y="61"/>
                    </a:lnTo>
                    <a:lnTo>
                      <a:pt x="8" y="63"/>
                    </a:lnTo>
                    <a:lnTo>
                      <a:pt x="10" y="65"/>
                    </a:lnTo>
                    <a:lnTo>
                      <a:pt x="11" y="65"/>
                    </a:lnTo>
                    <a:lnTo>
                      <a:pt x="13" y="66"/>
                    </a:lnTo>
                    <a:lnTo>
                      <a:pt x="14" y="68"/>
                    </a:lnTo>
                    <a:lnTo>
                      <a:pt x="16" y="69"/>
                    </a:lnTo>
                    <a:lnTo>
                      <a:pt x="17" y="69"/>
                    </a:lnTo>
                    <a:lnTo>
                      <a:pt x="19" y="71"/>
                    </a:lnTo>
                    <a:lnTo>
                      <a:pt x="21" y="72"/>
                    </a:lnTo>
                    <a:lnTo>
                      <a:pt x="22" y="72"/>
                    </a:lnTo>
                    <a:lnTo>
                      <a:pt x="24" y="74"/>
                    </a:lnTo>
                    <a:lnTo>
                      <a:pt x="25" y="74"/>
                    </a:lnTo>
                    <a:lnTo>
                      <a:pt x="27" y="75"/>
                    </a:lnTo>
                    <a:lnTo>
                      <a:pt x="28" y="75"/>
                    </a:lnTo>
                    <a:lnTo>
                      <a:pt x="30" y="75"/>
                    </a:lnTo>
                    <a:lnTo>
                      <a:pt x="33" y="75"/>
                    </a:lnTo>
                    <a:lnTo>
                      <a:pt x="35" y="75"/>
                    </a:lnTo>
                    <a:lnTo>
                      <a:pt x="36" y="77"/>
                    </a:lnTo>
                    <a:lnTo>
                      <a:pt x="38" y="77"/>
                    </a:lnTo>
                    <a:lnTo>
                      <a:pt x="38" y="77"/>
                    </a:lnTo>
                    <a:lnTo>
                      <a:pt x="41" y="77"/>
                    </a:lnTo>
                    <a:lnTo>
                      <a:pt x="43" y="75"/>
                    </a:lnTo>
                    <a:lnTo>
                      <a:pt x="44" y="75"/>
                    </a:lnTo>
                    <a:lnTo>
                      <a:pt x="46" y="75"/>
                    </a:lnTo>
                    <a:lnTo>
                      <a:pt x="47" y="75"/>
                    </a:lnTo>
                    <a:lnTo>
                      <a:pt x="50" y="75"/>
                    </a:lnTo>
                    <a:lnTo>
                      <a:pt x="52" y="74"/>
                    </a:lnTo>
                    <a:lnTo>
                      <a:pt x="54" y="74"/>
                    </a:lnTo>
                    <a:lnTo>
                      <a:pt x="55" y="72"/>
                    </a:lnTo>
                    <a:lnTo>
                      <a:pt x="57" y="72"/>
                    </a:lnTo>
                    <a:lnTo>
                      <a:pt x="58" y="71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3" y="68"/>
                    </a:lnTo>
                    <a:lnTo>
                      <a:pt x="65" y="66"/>
                    </a:lnTo>
                    <a:lnTo>
                      <a:pt x="66" y="65"/>
                    </a:lnTo>
                    <a:lnTo>
                      <a:pt x="66" y="65"/>
                    </a:lnTo>
                    <a:lnTo>
                      <a:pt x="68" y="63"/>
                    </a:lnTo>
                    <a:lnTo>
                      <a:pt x="69" y="61"/>
                    </a:lnTo>
                    <a:lnTo>
                      <a:pt x="71" y="60"/>
                    </a:lnTo>
                    <a:lnTo>
                      <a:pt x="71" y="58"/>
                    </a:lnTo>
                    <a:lnTo>
                      <a:pt x="72" y="57"/>
                    </a:lnTo>
                    <a:lnTo>
                      <a:pt x="72" y="55"/>
                    </a:lnTo>
                    <a:lnTo>
                      <a:pt x="74" y="54"/>
                    </a:lnTo>
                    <a:lnTo>
                      <a:pt x="74" y="52"/>
                    </a:lnTo>
                    <a:lnTo>
                      <a:pt x="76" y="49"/>
                    </a:lnTo>
                    <a:lnTo>
                      <a:pt x="76" y="47"/>
                    </a:lnTo>
                    <a:lnTo>
                      <a:pt x="76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7" y="39"/>
                    </a:lnTo>
                    <a:lnTo>
                      <a:pt x="77" y="38"/>
                    </a:lnTo>
                    <a:lnTo>
                      <a:pt x="77" y="38"/>
                    </a:lnTo>
                    <a:lnTo>
                      <a:pt x="77" y="36"/>
                    </a:lnTo>
                    <a:lnTo>
                      <a:pt x="77" y="35"/>
                    </a:lnTo>
                    <a:lnTo>
                      <a:pt x="76" y="33"/>
                    </a:lnTo>
                    <a:lnTo>
                      <a:pt x="76" y="30"/>
                    </a:lnTo>
                    <a:lnTo>
                      <a:pt x="76" y="28"/>
                    </a:lnTo>
                    <a:lnTo>
                      <a:pt x="76" y="27"/>
                    </a:lnTo>
                    <a:lnTo>
                      <a:pt x="74" y="25"/>
                    </a:lnTo>
                    <a:lnTo>
                      <a:pt x="74" y="24"/>
                    </a:lnTo>
                    <a:lnTo>
                      <a:pt x="72" y="22"/>
                    </a:lnTo>
                    <a:lnTo>
                      <a:pt x="72" y="21"/>
                    </a:lnTo>
                    <a:lnTo>
                      <a:pt x="71" y="19"/>
                    </a:lnTo>
                    <a:lnTo>
                      <a:pt x="71" y="17"/>
                    </a:lnTo>
                    <a:lnTo>
                      <a:pt x="69" y="16"/>
                    </a:lnTo>
                    <a:lnTo>
                      <a:pt x="68" y="14"/>
                    </a:lnTo>
                    <a:lnTo>
                      <a:pt x="66" y="13"/>
                    </a:lnTo>
                    <a:lnTo>
                      <a:pt x="66" y="11"/>
                    </a:lnTo>
                    <a:lnTo>
                      <a:pt x="65" y="10"/>
                    </a:lnTo>
                    <a:lnTo>
                      <a:pt x="63" y="8"/>
                    </a:lnTo>
                    <a:lnTo>
                      <a:pt x="61" y="8"/>
                    </a:lnTo>
                    <a:lnTo>
                      <a:pt x="60" y="6"/>
                    </a:lnTo>
                    <a:lnTo>
                      <a:pt x="58" y="5"/>
                    </a:lnTo>
                    <a:lnTo>
                      <a:pt x="57" y="5"/>
                    </a:lnTo>
                    <a:lnTo>
                      <a:pt x="55" y="3"/>
                    </a:lnTo>
                    <a:lnTo>
                      <a:pt x="54" y="3"/>
                    </a:lnTo>
                    <a:lnTo>
                      <a:pt x="52" y="2"/>
                    </a:lnTo>
                    <a:lnTo>
                      <a:pt x="50" y="2"/>
                    </a:lnTo>
                    <a:lnTo>
                      <a:pt x="47" y="2"/>
                    </a:lnTo>
                    <a:lnTo>
                      <a:pt x="46" y="0"/>
                    </a:lnTo>
                    <a:lnTo>
                      <a:pt x="44" y="0"/>
                    </a:lnTo>
                    <a:lnTo>
                      <a:pt x="43" y="0"/>
                    </a:lnTo>
                    <a:lnTo>
                      <a:pt x="41" y="0"/>
                    </a:lnTo>
                    <a:lnTo>
                      <a:pt x="38" y="0"/>
                    </a:lnTo>
                  </a:path>
                </a:pathLst>
              </a:custGeom>
              <a:noFill/>
              <a:ln w="23813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9" name="Freeform 20"/>
              <p:cNvSpPr>
                <a:spLocks noChangeAspect="1"/>
              </p:cNvSpPr>
              <p:nvPr/>
            </p:nvSpPr>
            <p:spPr bwMode="auto">
              <a:xfrm>
                <a:off x="3201308" y="2747804"/>
                <a:ext cx="72000" cy="72000"/>
              </a:xfrm>
              <a:custGeom>
                <a:avLst/>
                <a:gdLst>
                  <a:gd name="T0" fmla="*/ 30 w 63"/>
                  <a:gd name="T1" fmla="*/ 0 h 63"/>
                  <a:gd name="T2" fmla="*/ 25 w 63"/>
                  <a:gd name="T3" fmla="*/ 0 h 63"/>
                  <a:gd name="T4" fmla="*/ 20 w 63"/>
                  <a:gd name="T5" fmla="*/ 2 h 63"/>
                  <a:gd name="T6" fmla="*/ 17 w 63"/>
                  <a:gd name="T7" fmla="*/ 3 h 63"/>
                  <a:gd name="T8" fmla="*/ 13 w 63"/>
                  <a:gd name="T9" fmla="*/ 6 h 63"/>
                  <a:gd name="T10" fmla="*/ 9 w 63"/>
                  <a:gd name="T11" fmla="*/ 9 h 63"/>
                  <a:gd name="T12" fmla="*/ 6 w 63"/>
                  <a:gd name="T13" fmla="*/ 13 h 63"/>
                  <a:gd name="T14" fmla="*/ 3 w 63"/>
                  <a:gd name="T15" fmla="*/ 16 h 63"/>
                  <a:gd name="T16" fmla="*/ 2 w 63"/>
                  <a:gd name="T17" fmla="*/ 20 h 63"/>
                  <a:gd name="T18" fmla="*/ 0 w 63"/>
                  <a:gd name="T19" fmla="*/ 25 h 63"/>
                  <a:gd name="T20" fmla="*/ 0 w 63"/>
                  <a:gd name="T21" fmla="*/ 30 h 63"/>
                  <a:gd name="T22" fmla="*/ 0 w 63"/>
                  <a:gd name="T23" fmla="*/ 33 h 63"/>
                  <a:gd name="T24" fmla="*/ 0 w 63"/>
                  <a:gd name="T25" fmla="*/ 38 h 63"/>
                  <a:gd name="T26" fmla="*/ 2 w 63"/>
                  <a:gd name="T27" fmla="*/ 42 h 63"/>
                  <a:gd name="T28" fmla="*/ 3 w 63"/>
                  <a:gd name="T29" fmla="*/ 47 h 63"/>
                  <a:gd name="T30" fmla="*/ 6 w 63"/>
                  <a:gd name="T31" fmla="*/ 50 h 63"/>
                  <a:gd name="T32" fmla="*/ 9 w 63"/>
                  <a:gd name="T33" fmla="*/ 53 h 63"/>
                  <a:gd name="T34" fmla="*/ 13 w 63"/>
                  <a:gd name="T35" fmla="*/ 56 h 63"/>
                  <a:gd name="T36" fmla="*/ 17 w 63"/>
                  <a:gd name="T37" fmla="*/ 60 h 63"/>
                  <a:gd name="T38" fmla="*/ 20 w 63"/>
                  <a:gd name="T39" fmla="*/ 61 h 63"/>
                  <a:gd name="T40" fmla="*/ 25 w 63"/>
                  <a:gd name="T41" fmla="*/ 63 h 63"/>
                  <a:gd name="T42" fmla="*/ 30 w 63"/>
                  <a:gd name="T43" fmla="*/ 63 h 63"/>
                  <a:gd name="T44" fmla="*/ 33 w 63"/>
                  <a:gd name="T45" fmla="*/ 63 h 63"/>
                  <a:gd name="T46" fmla="*/ 38 w 63"/>
                  <a:gd name="T47" fmla="*/ 63 h 63"/>
                  <a:gd name="T48" fmla="*/ 42 w 63"/>
                  <a:gd name="T49" fmla="*/ 61 h 63"/>
                  <a:gd name="T50" fmla="*/ 47 w 63"/>
                  <a:gd name="T51" fmla="*/ 60 h 63"/>
                  <a:gd name="T52" fmla="*/ 50 w 63"/>
                  <a:gd name="T53" fmla="*/ 56 h 63"/>
                  <a:gd name="T54" fmla="*/ 53 w 63"/>
                  <a:gd name="T55" fmla="*/ 53 h 63"/>
                  <a:gd name="T56" fmla="*/ 57 w 63"/>
                  <a:gd name="T57" fmla="*/ 50 h 63"/>
                  <a:gd name="T58" fmla="*/ 60 w 63"/>
                  <a:gd name="T59" fmla="*/ 47 h 63"/>
                  <a:gd name="T60" fmla="*/ 61 w 63"/>
                  <a:gd name="T61" fmla="*/ 42 h 63"/>
                  <a:gd name="T62" fmla="*/ 63 w 63"/>
                  <a:gd name="T63" fmla="*/ 38 h 63"/>
                  <a:gd name="T64" fmla="*/ 63 w 63"/>
                  <a:gd name="T65" fmla="*/ 33 h 63"/>
                  <a:gd name="T66" fmla="*/ 63 w 63"/>
                  <a:gd name="T67" fmla="*/ 30 h 63"/>
                  <a:gd name="T68" fmla="*/ 63 w 63"/>
                  <a:gd name="T69" fmla="*/ 25 h 63"/>
                  <a:gd name="T70" fmla="*/ 61 w 63"/>
                  <a:gd name="T71" fmla="*/ 20 h 63"/>
                  <a:gd name="T72" fmla="*/ 60 w 63"/>
                  <a:gd name="T73" fmla="*/ 16 h 63"/>
                  <a:gd name="T74" fmla="*/ 57 w 63"/>
                  <a:gd name="T75" fmla="*/ 13 h 63"/>
                  <a:gd name="T76" fmla="*/ 53 w 63"/>
                  <a:gd name="T77" fmla="*/ 9 h 63"/>
                  <a:gd name="T78" fmla="*/ 50 w 63"/>
                  <a:gd name="T79" fmla="*/ 6 h 63"/>
                  <a:gd name="T80" fmla="*/ 47 w 63"/>
                  <a:gd name="T81" fmla="*/ 3 h 63"/>
                  <a:gd name="T82" fmla="*/ 42 w 63"/>
                  <a:gd name="T83" fmla="*/ 2 h 63"/>
                  <a:gd name="T84" fmla="*/ 38 w 63"/>
                  <a:gd name="T85" fmla="*/ 0 h 63"/>
                  <a:gd name="T86" fmla="*/ 33 w 63"/>
                  <a:gd name="T87" fmla="*/ 0 h 63"/>
                  <a:gd name="T88" fmla="*/ 31 w 63"/>
                  <a:gd name="T89" fmla="*/ 3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3" h="63">
                    <a:moveTo>
                      <a:pt x="31" y="31"/>
                    </a:moveTo>
                    <a:lnTo>
                      <a:pt x="31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2"/>
                    </a:lnTo>
                    <a:lnTo>
                      <a:pt x="22" y="2"/>
                    </a:lnTo>
                    <a:lnTo>
                      <a:pt x="20" y="2"/>
                    </a:lnTo>
                    <a:lnTo>
                      <a:pt x="19" y="3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5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4"/>
                    </a:lnTo>
                    <a:lnTo>
                      <a:pt x="5" y="16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0" y="33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3" y="44"/>
                    </a:lnTo>
                    <a:lnTo>
                      <a:pt x="3" y="46"/>
                    </a:lnTo>
                    <a:lnTo>
                      <a:pt x="3" y="47"/>
                    </a:lnTo>
                    <a:lnTo>
                      <a:pt x="5" y="47"/>
                    </a:lnTo>
                    <a:lnTo>
                      <a:pt x="6" y="49"/>
                    </a:lnTo>
                    <a:lnTo>
                      <a:pt x="6" y="50"/>
                    </a:lnTo>
                    <a:lnTo>
                      <a:pt x="8" y="52"/>
                    </a:lnTo>
                    <a:lnTo>
                      <a:pt x="8" y="52"/>
                    </a:lnTo>
                    <a:lnTo>
                      <a:pt x="9" y="53"/>
                    </a:lnTo>
                    <a:lnTo>
                      <a:pt x="11" y="55"/>
                    </a:lnTo>
                    <a:lnTo>
                      <a:pt x="11" y="55"/>
                    </a:lnTo>
                    <a:lnTo>
                      <a:pt x="13" y="56"/>
                    </a:lnTo>
                    <a:lnTo>
                      <a:pt x="14" y="58"/>
                    </a:lnTo>
                    <a:lnTo>
                      <a:pt x="16" y="58"/>
                    </a:lnTo>
                    <a:lnTo>
                      <a:pt x="17" y="60"/>
                    </a:lnTo>
                    <a:lnTo>
                      <a:pt x="17" y="60"/>
                    </a:lnTo>
                    <a:lnTo>
                      <a:pt x="19" y="60"/>
                    </a:lnTo>
                    <a:lnTo>
                      <a:pt x="20" y="61"/>
                    </a:lnTo>
                    <a:lnTo>
                      <a:pt x="22" y="61"/>
                    </a:lnTo>
                    <a:lnTo>
                      <a:pt x="24" y="61"/>
                    </a:lnTo>
                    <a:lnTo>
                      <a:pt x="25" y="63"/>
                    </a:lnTo>
                    <a:lnTo>
                      <a:pt x="27" y="63"/>
                    </a:lnTo>
                    <a:lnTo>
                      <a:pt x="28" y="63"/>
                    </a:lnTo>
                    <a:lnTo>
                      <a:pt x="30" y="63"/>
                    </a:lnTo>
                    <a:lnTo>
                      <a:pt x="31" y="63"/>
                    </a:lnTo>
                    <a:lnTo>
                      <a:pt x="31" y="63"/>
                    </a:lnTo>
                    <a:lnTo>
                      <a:pt x="33" y="63"/>
                    </a:lnTo>
                    <a:lnTo>
                      <a:pt x="35" y="63"/>
                    </a:lnTo>
                    <a:lnTo>
                      <a:pt x="36" y="63"/>
                    </a:lnTo>
                    <a:lnTo>
                      <a:pt x="38" y="63"/>
                    </a:lnTo>
                    <a:lnTo>
                      <a:pt x="39" y="61"/>
                    </a:lnTo>
                    <a:lnTo>
                      <a:pt x="41" y="61"/>
                    </a:lnTo>
                    <a:lnTo>
                      <a:pt x="42" y="61"/>
                    </a:lnTo>
                    <a:lnTo>
                      <a:pt x="44" y="60"/>
                    </a:lnTo>
                    <a:lnTo>
                      <a:pt x="46" y="60"/>
                    </a:lnTo>
                    <a:lnTo>
                      <a:pt x="47" y="60"/>
                    </a:lnTo>
                    <a:lnTo>
                      <a:pt x="47" y="58"/>
                    </a:lnTo>
                    <a:lnTo>
                      <a:pt x="49" y="58"/>
                    </a:lnTo>
                    <a:lnTo>
                      <a:pt x="50" y="56"/>
                    </a:lnTo>
                    <a:lnTo>
                      <a:pt x="52" y="55"/>
                    </a:lnTo>
                    <a:lnTo>
                      <a:pt x="53" y="55"/>
                    </a:lnTo>
                    <a:lnTo>
                      <a:pt x="53" y="53"/>
                    </a:lnTo>
                    <a:lnTo>
                      <a:pt x="55" y="52"/>
                    </a:lnTo>
                    <a:lnTo>
                      <a:pt x="57" y="52"/>
                    </a:lnTo>
                    <a:lnTo>
                      <a:pt x="57" y="50"/>
                    </a:lnTo>
                    <a:lnTo>
                      <a:pt x="58" y="49"/>
                    </a:lnTo>
                    <a:lnTo>
                      <a:pt x="58" y="47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1" y="44"/>
                    </a:lnTo>
                    <a:lnTo>
                      <a:pt x="61" y="42"/>
                    </a:lnTo>
                    <a:lnTo>
                      <a:pt x="61" y="41"/>
                    </a:lnTo>
                    <a:lnTo>
                      <a:pt x="61" y="39"/>
                    </a:lnTo>
                    <a:lnTo>
                      <a:pt x="63" y="38"/>
                    </a:lnTo>
                    <a:lnTo>
                      <a:pt x="63" y="36"/>
                    </a:lnTo>
                    <a:lnTo>
                      <a:pt x="63" y="35"/>
                    </a:lnTo>
                    <a:lnTo>
                      <a:pt x="63" y="33"/>
                    </a:lnTo>
                    <a:lnTo>
                      <a:pt x="63" y="31"/>
                    </a:lnTo>
                    <a:lnTo>
                      <a:pt x="63" y="31"/>
                    </a:lnTo>
                    <a:lnTo>
                      <a:pt x="63" y="30"/>
                    </a:lnTo>
                    <a:lnTo>
                      <a:pt x="63" y="28"/>
                    </a:lnTo>
                    <a:lnTo>
                      <a:pt x="63" y="27"/>
                    </a:lnTo>
                    <a:lnTo>
                      <a:pt x="63" y="25"/>
                    </a:lnTo>
                    <a:lnTo>
                      <a:pt x="61" y="24"/>
                    </a:lnTo>
                    <a:lnTo>
                      <a:pt x="61" y="22"/>
                    </a:lnTo>
                    <a:lnTo>
                      <a:pt x="61" y="20"/>
                    </a:lnTo>
                    <a:lnTo>
                      <a:pt x="61" y="19"/>
                    </a:lnTo>
                    <a:lnTo>
                      <a:pt x="60" y="17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8" y="14"/>
                    </a:lnTo>
                    <a:lnTo>
                      <a:pt x="57" y="13"/>
                    </a:lnTo>
                    <a:lnTo>
                      <a:pt x="57" y="11"/>
                    </a:lnTo>
                    <a:lnTo>
                      <a:pt x="55" y="11"/>
                    </a:lnTo>
                    <a:lnTo>
                      <a:pt x="53" y="9"/>
                    </a:lnTo>
                    <a:lnTo>
                      <a:pt x="53" y="8"/>
                    </a:lnTo>
                    <a:lnTo>
                      <a:pt x="52" y="8"/>
                    </a:lnTo>
                    <a:lnTo>
                      <a:pt x="50" y="6"/>
                    </a:lnTo>
                    <a:lnTo>
                      <a:pt x="49" y="5"/>
                    </a:lnTo>
                    <a:lnTo>
                      <a:pt x="47" y="5"/>
                    </a:lnTo>
                    <a:lnTo>
                      <a:pt x="47" y="3"/>
                    </a:lnTo>
                    <a:lnTo>
                      <a:pt x="46" y="3"/>
                    </a:lnTo>
                    <a:lnTo>
                      <a:pt x="44" y="3"/>
                    </a:lnTo>
                    <a:lnTo>
                      <a:pt x="42" y="2"/>
                    </a:lnTo>
                    <a:lnTo>
                      <a:pt x="41" y="2"/>
                    </a:lnTo>
                    <a:lnTo>
                      <a:pt x="39" y="2"/>
                    </a:lnTo>
                    <a:lnTo>
                      <a:pt x="38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31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53" name="Rectangle 2"/>
          <p:cNvSpPr txBox="1">
            <a:spLocks noChangeArrowheads="1"/>
          </p:cNvSpPr>
          <p:nvPr/>
        </p:nvSpPr>
        <p:spPr>
          <a:xfrm>
            <a:off x="460375" y="534988"/>
            <a:ext cx="8223250" cy="914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pPr eaLnBrk="1" hangingPunct="1"/>
            <a:r>
              <a:rPr lang="en-US" kern="0"/>
              <a:t>2.4. PAL Architecture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165FAC76-DA19-401B-B033-6EC72953CAC6}" type="slidenum">
              <a:rPr lang="de-DE" smtClean="0"/>
              <a:t>28</a:t>
            </a:fld>
            <a:endParaRPr lang="de-DE"/>
          </a:p>
        </p:txBody>
      </p:sp>
      <p:sp>
        <p:nvSpPr>
          <p:cNvPr id="4" name="Oval 3"/>
          <p:cNvSpPr/>
          <p:nvPr/>
        </p:nvSpPr>
        <p:spPr>
          <a:xfrm>
            <a:off x="5200028" y="2430415"/>
            <a:ext cx="1054482" cy="1366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/>
          <p:cNvSpPr/>
          <p:nvPr/>
        </p:nvSpPr>
        <p:spPr>
          <a:xfrm>
            <a:off x="6264952" y="2431883"/>
            <a:ext cx="899933" cy="1366038"/>
          </a:xfrm>
          <a:prstGeom prst="ellipse">
            <a:avLst/>
          </a:prstGeom>
          <a:noFill/>
          <a:ln>
            <a:solidFill>
              <a:srgbClr val="0A6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230377" y="2421282"/>
            <a:ext cx="2646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Allows flip-flop bypass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958004" y="2747819"/>
            <a:ext cx="130532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7059853" y="2667505"/>
            <a:ext cx="1305325" cy="0"/>
          </a:xfrm>
          <a:prstGeom prst="straightConnector1">
            <a:avLst/>
          </a:prstGeom>
          <a:ln w="25400">
            <a:solidFill>
              <a:srgbClr val="0A64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10608" y="1992889"/>
            <a:ext cx="2809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solidFill>
                  <a:srgbClr val="0A64B6"/>
                </a:solidFill>
              </a:rPr>
              <a:t>Used to connect/disconnect the output pins</a:t>
            </a:r>
          </a:p>
        </p:txBody>
      </p:sp>
      <p:sp>
        <p:nvSpPr>
          <p:cNvPr id="58" name="Oval 57"/>
          <p:cNvSpPr/>
          <p:nvPr/>
        </p:nvSpPr>
        <p:spPr>
          <a:xfrm>
            <a:off x="1729388" y="4951618"/>
            <a:ext cx="1339155" cy="1135596"/>
          </a:xfrm>
          <a:prstGeom prst="ellipse">
            <a:avLst/>
          </a:prstGeom>
          <a:noFill/>
          <a:ln>
            <a:solidFill>
              <a:srgbClr val="0A6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/>
          <p:cNvSpPr txBox="1"/>
          <p:nvPr/>
        </p:nvSpPr>
        <p:spPr>
          <a:xfrm>
            <a:off x="6442903" y="4406199"/>
            <a:ext cx="2461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solidFill>
                  <a:srgbClr val="800000"/>
                </a:solidFill>
              </a:rPr>
              <a:t>For implementation of circuits that have multiple stages of logic gates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65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14"/>
    </mc:Choice>
    <mc:Fallback xmlns="">
      <p:transition spd="slow" advTm="740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5" grpId="0" animBg="1"/>
      <p:bldP spid="5" grpId="0"/>
      <p:bldP spid="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Text Box 143"/>
          <p:cNvSpPr txBox="1">
            <a:spLocks noChangeArrowheads="1"/>
          </p:cNvSpPr>
          <p:nvPr/>
        </p:nvSpPr>
        <p:spPr bwMode="auto">
          <a:xfrm>
            <a:off x="7596000" y="3204000"/>
            <a:ext cx="415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200">
                <a:solidFill>
                  <a:srgbClr val="FF0000"/>
                </a:solidFill>
                <a:latin typeface="Myriad Roman" charset="0"/>
              </a:rPr>
              <a:t>0/1</a:t>
            </a:r>
            <a:endParaRPr lang="en-US" sz="120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41" name="Rectangle 3"/>
          <p:cNvSpPr txBox="1">
            <a:spLocks noChangeArrowheads="1"/>
          </p:cNvSpPr>
          <p:nvPr/>
        </p:nvSpPr>
        <p:spPr bwMode="auto">
          <a:xfrm>
            <a:off x="460799" y="1753711"/>
            <a:ext cx="4866163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n-US" kern="0"/>
          </a:p>
        </p:txBody>
      </p:sp>
      <p:sp>
        <p:nvSpPr>
          <p:cNvPr id="38919" name="Text Box 142"/>
          <p:cNvSpPr txBox="1">
            <a:spLocks noChangeArrowheads="1"/>
          </p:cNvSpPr>
          <p:nvPr/>
        </p:nvSpPr>
        <p:spPr bwMode="auto">
          <a:xfrm>
            <a:off x="3962804" y="1841276"/>
            <a:ext cx="45960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n-lt"/>
              </a:rPr>
              <a:t>PAL with programmable registered outputs 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2.4. PAL Architecture</a:t>
            </a:r>
          </a:p>
        </p:txBody>
      </p:sp>
      <p:grpSp>
        <p:nvGrpSpPr>
          <p:cNvPr id="38917" name="Group 140"/>
          <p:cNvGrpSpPr>
            <a:grpSpLocks/>
          </p:cNvGrpSpPr>
          <p:nvPr/>
        </p:nvGrpSpPr>
        <p:grpSpPr bwMode="auto">
          <a:xfrm>
            <a:off x="459927" y="2346869"/>
            <a:ext cx="8258153" cy="3975812"/>
            <a:chOff x="676" y="1375"/>
            <a:chExt cx="4807" cy="2397"/>
          </a:xfrm>
        </p:grpSpPr>
        <p:sp>
          <p:nvSpPr>
            <p:cNvPr id="38922" name="Rectangle 5"/>
            <p:cNvSpPr>
              <a:spLocks noChangeArrowheads="1"/>
            </p:cNvSpPr>
            <p:nvPr/>
          </p:nvSpPr>
          <p:spPr bwMode="auto">
            <a:xfrm>
              <a:off x="2782" y="1602"/>
              <a:ext cx="2507" cy="1996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3" name="Rectangle 6"/>
            <p:cNvSpPr>
              <a:spLocks noChangeArrowheads="1"/>
            </p:cNvSpPr>
            <p:nvPr/>
          </p:nvSpPr>
          <p:spPr bwMode="auto">
            <a:xfrm>
              <a:off x="676" y="1602"/>
              <a:ext cx="1714" cy="1996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4" name="Freeform 7"/>
            <p:cNvSpPr>
              <a:spLocks/>
            </p:cNvSpPr>
            <p:nvPr/>
          </p:nvSpPr>
          <p:spPr bwMode="auto">
            <a:xfrm>
              <a:off x="1993" y="2075"/>
              <a:ext cx="276" cy="275"/>
            </a:xfrm>
            <a:custGeom>
              <a:avLst/>
              <a:gdLst>
                <a:gd name="T0" fmla="*/ 276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6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5" name="Freeform 8"/>
            <p:cNvSpPr>
              <a:spLocks/>
            </p:cNvSpPr>
            <p:nvPr/>
          </p:nvSpPr>
          <p:spPr bwMode="auto">
            <a:xfrm>
              <a:off x="1993" y="2978"/>
              <a:ext cx="276" cy="275"/>
            </a:xfrm>
            <a:custGeom>
              <a:avLst/>
              <a:gdLst>
                <a:gd name="T0" fmla="*/ 276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6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6" name="Oval 9"/>
            <p:cNvSpPr>
              <a:spLocks noChangeArrowheads="1"/>
            </p:cNvSpPr>
            <p:nvPr/>
          </p:nvSpPr>
          <p:spPr bwMode="auto">
            <a:xfrm>
              <a:off x="4463" y="2185"/>
              <a:ext cx="55" cy="55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7" name="Line 10"/>
            <p:cNvSpPr>
              <a:spLocks noChangeShapeType="1"/>
            </p:cNvSpPr>
            <p:nvPr/>
          </p:nvSpPr>
          <p:spPr bwMode="auto">
            <a:xfrm>
              <a:off x="4647" y="1844"/>
              <a:ext cx="112" cy="9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28" name="Freeform 11"/>
            <p:cNvSpPr>
              <a:spLocks/>
            </p:cNvSpPr>
            <p:nvPr/>
          </p:nvSpPr>
          <p:spPr bwMode="auto">
            <a:xfrm rot="1382635">
              <a:off x="4714" y="1912"/>
              <a:ext cx="121" cy="66"/>
            </a:xfrm>
            <a:custGeom>
              <a:avLst/>
              <a:gdLst>
                <a:gd name="T0" fmla="*/ 121 w 121"/>
                <a:gd name="T1" fmla="*/ 66 h 66"/>
                <a:gd name="T2" fmla="*/ 19 w 121"/>
                <a:gd name="T3" fmla="*/ 0 h 66"/>
                <a:gd name="T4" fmla="*/ 0 w 121"/>
                <a:gd name="T5" fmla="*/ 55 h 66"/>
                <a:gd name="T6" fmla="*/ 121 w 121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"/>
                <a:gd name="T13" fmla="*/ 0 h 66"/>
                <a:gd name="T14" fmla="*/ 121 w 12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" h="66">
                  <a:moveTo>
                    <a:pt x="121" y="66"/>
                  </a:moveTo>
                  <a:lnTo>
                    <a:pt x="19" y="0"/>
                  </a:lnTo>
                  <a:lnTo>
                    <a:pt x="0" y="55"/>
                  </a:lnTo>
                  <a:lnTo>
                    <a:pt x="121" y="6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29" name="Line 12"/>
            <p:cNvSpPr>
              <a:spLocks noChangeShapeType="1"/>
            </p:cNvSpPr>
            <p:nvPr/>
          </p:nvSpPr>
          <p:spPr bwMode="auto">
            <a:xfrm>
              <a:off x="735" y="1917"/>
              <a:ext cx="822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0" name="Line 13"/>
            <p:cNvSpPr>
              <a:spLocks noChangeShapeType="1"/>
            </p:cNvSpPr>
            <p:nvPr/>
          </p:nvSpPr>
          <p:spPr bwMode="auto">
            <a:xfrm>
              <a:off x="1876" y="2214"/>
              <a:ext cx="158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1" name="Line 14"/>
            <p:cNvSpPr>
              <a:spLocks noChangeShapeType="1"/>
            </p:cNvSpPr>
            <p:nvPr/>
          </p:nvSpPr>
          <p:spPr bwMode="auto">
            <a:xfrm>
              <a:off x="738" y="2214"/>
              <a:ext cx="81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2" name="Line 15"/>
            <p:cNvSpPr>
              <a:spLocks noChangeShapeType="1"/>
            </p:cNvSpPr>
            <p:nvPr/>
          </p:nvSpPr>
          <p:spPr bwMode="auto">
            <a:xfrm>
              <a:off x="742" y="2515"/>
              <a:ext cx="81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3" name="Freeform 16"/>
            <p:cNvSpPr>
              <a:spLocks/>
            </p:cNvSpPr>
            <p:nvPr/>
          </p:nvSpPr>
          <p:spPr bwMode="auto">
            <a:xfrm>
              <a:off x="1876" y="1917"/>
              <a:ext cx="154" cy="228"/>
            </a:xfrm>
            <a:custGeom>
              <a:avLst/>
              <a:gdLst>
                <a:gd name="T0" fmla="*/ 0 w 154"/>
                <a:gd name="T1" fmla="*/ 0 h 228"/>
                <a:gd name="T2" fmla="*/ 62 w 154"/>
                <a:gd name="T3" fmla="*/ 0 h 228"/>
                <a:gd name="T4" fmla="*/ 62 w 154"/>
                <a:gd name="T5" fmla="*/ 228 h 228"/>
                <a:gd name="T6" fmla="*/ 154 w 154"/>
                <a:gd name="T7" fmla="*/ 228 h 2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28"/>
                <a:gd name="T14" fmla="*/ 154 w 154"/>
                <a:gd name="T15" fmla="*/ 228 h 2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28">
                  <a:moveTo>
                    <a:pt x="0" y="0"/>
                  </a:moveTo>
                  <a:lnTo>
                    <a:pt x="62" y="0"/>
                  </a:lnTo>
                  <a:lnTo>
                    <a:pt x="62" y="228"/>
                  </a:lnTo>
                  <a:lnTo>
                    <a:pt x="154" y="228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34" name="Freeform 17"/>
            <p:cNvSpPr>
              <a:spLocks/>
            </p:cNvSpPr>
            <p:nvPr/>
          </p:nvSpPr>
          <p:spPr bwMode="auto">
            <a:xfrm>
              <a:off x="1876" y="2280"/>
              <a:ext cx="154" cy="235"/>
            </a:xfrm>
            <a:custGeom>
              <a:avLst/>
              <a:gdLst>
                <a:gd name="T0" fmla="*/ 0 w 154"/>
                <a:gd name="T1" fmla="*/ 235 h 235"/>
                <a:gd name="T2" fmla="*/ 62 w 154"/>
                <a:gd name="T3" fmla="*/ 235 h 235"/>
                <a:gd name="T4" fmla="*/ 62 w 154"/>
                <a:gd name="T5" fmla="*/ 0 h 235"/>
                <a:gd name="T6" fmla="*/ 154 w 154"/>
                <a:gd name="T7" fmla="*/ 0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35"/>
                <a:gd name="T14" fmla="*/ 154 w 154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35">
                  <a:moveTo>
                    <a:pt x="0" y="235"/>
                  </a:moveTo>
                  <a:lnTo>
                    <a:pt x="62" y="235"/>
                  </a:lnTo>
                  <a:lnTo>
                    <a:pt x="62" y="0"/>
                  </a:lnTo>
                  <a:lnTo>
                    <a:pt x="15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35" name="Line 18"/>
            <p:cNvSpPr>
              <a:spLocks noChangeShapeType="1"/>
            </p:cNvSpPr>
            <p:nvPr/>
          </p:nvSpPr>
          <p:spPr bwMode="auto">
            <a:xfrm>
              <a:off x="2269" y="2214"/>
              <a:ext cx="25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6" name="Line 19"/>
            <p:cNvSpPr>
              <a:spLocks noChangeShapeType="1"/>
            </p:cNvSpPr>
            <p:nvPr/>
          </p:nvSpPr>
          <p:spPr bwMode="auto">
            <a:xfrm>
              <a:off x="735" y="2820"/>
              <a:ext cx="822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7" name="Line 20"/>
            <p:cNvSpPr>
              <a:spLocks noChangeShapeType="1"/>
            </p:cNvSpPr>
            <p:nvPr/>
          </p:nvSpPr>
          <p:spPr bwMode="auto">
            <a:xfrm>
              <a:off x="1876" y="3117"/>
              <a:ext cx="158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8" name="Line 21"/>
            <p:cNvSpPr>
              <a:spLocks noChangeShapeType="1"/>
            </p:cNvSpPr>
            <p:nvPr/>
          </p:nvSpPr>
          <p:spPr bwMode="auto">
            <a:xfrm>
              <a:off x="738" y="3117"/>
              <a:ext cx="81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39" name="Line 22"/>
            <p:cNvSpPr>
              <a:spLocks noChangeShapeType="1"/>
            </p:cNvSpPr>
            <p:nvPr/>
          </p:nvSpPr>
          <p:spPr bwMode="auto">
            <a:xfrm>
              <a:off x="742" y="3418"/>
              <a:ext cx="81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0" name="Freeform 23"/>
            <p:cNvSpPr>
              <a:spLocks/>
            </p:cNvSpPr>
            <p:nvPr/>
          </p:nvSpPr>
          <p:spPr bwMode="auto">
            <a:xfrm>
              <a:off x="1876" y="2820"/>
              <a:ext cx="154" cy="227"/>
            </a:xfrm>
            <a:custGeom>
              <a:avLst/>
              <a:gdLst>
                <a:gd name="T0" fmla="*/ 0 w 154"/>
                <a:gd name="T1" fmla="*/ 0 h 227"/>
                <a:gd name="T2" fmla="*/ 62 w 154"/>
                <a:gd name="T3" fmla="*/ 0 h 227"/>
                <a:gd name="T4" fmla="*/ 62 w 154"/>
                <a:gd name="T5" fmla="*/ 227 h 227"/>
                <a:gd name="T6" fmla="*/ 154 w 154"/>
                <a:gd name="T7" fmla="*/ 227 h 2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27"/>
                <a:gd name="T14" fmla="*/ 154 w 154"/>
                <a:gd name="T15" fmla="*/ 227 h 2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27">
                  <a:moveTo>
                    <a:pt x="0" y="0"/>
                  </a:moveTo>
                  <a:lnTo>
                    <a:pt x="62" y="0"/>
                  </a:lnTo>
                  <a:lnTo>
                    <a:pt x="62" y="227"/>
                  </a:lnTo>
                  <a:lnTo>
                    <a:pt x="154" y="227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41" name="Freeform 24"/>
            <p:cNvSpPr>
              <a:spLocks/>
            </p:cNvSpPr>
            <p:nvPr/>
          </p:nvSpPr>
          <p:spPr bwMode="auto">
            <a:xfrm>
              <a:off x="1876" y="3183"/>
              <a:ext cx="154" cy="235"/>
            </a:xfrm>
            <a:custGeom>
              <a:avLst/>
              <a:gdLst>
                <a:gd name="T0" fmla="*/ 0 w 154"/>
                <a:gd name="T1" fmla="*/ 235 h 235"/>
                <a:gd name="T2" fmla="*/ 62 w 154"/>
                <a:gd name="T3" fmla="*/ 235 h 235"/>
                <a:gd name="T4" fmla="*/ 62 w 154"/>
                <a:gd name="T5" fmla="*/ 0 h 235"/>
                <a:gd name="T6" fmla="*/ 154 w 154"/>
                <a:gd name="T7" fmla="*/ 0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35"/>
                <a:gd name="T14" fmla="*/ 154 w 154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35">
                  <a:moveTo>
                    <a:pt x="0" y="235"/>
                  </a:moveTo>
                  <a:lnTo>
                    <a:pt x="62" y="235"/>
                  </a:lnTo>
                  <a:lnTo>
                    <a:pt x="62" y="0"/>
                  </a:lnTo>
                  <a:lnTo>
                    <a:pt x="15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42" name="Line 25"/>
            <p:cNvSpPr>
              <a:spLocks noChangeShapeType="1"/>
            </p:cNvSpPr>
            <p:nvPr/>
          </p:nvSpPr>
          <p:spPr bwMode="auto">
            <a:xfrm>
              <a:off x="2269" y="3117"/>
              <a:ext cx="25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3" name="Line 26"/>
            <p:cNvSpPr>
              <a:spLocks noChangeShapeType="1"/>
            </p:cNvSpPr>
            <p:nvPr/>
          </p:nvSpPr>
          <p:spPr bwMode="auto">
            <a:xfrm>
              <a:off x="1234" y="1800"/>
              <a:ext cx="1" cy="175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4" name="Line 27"/>
            <p:cNvSpPr>
              <a:spLocks noChangeShapeType="1"/>
            </p:cNvSpPr>
            <p:nvPr/>
          </p:nvSpPr>
          <p:spPr bwMode="auto">
            <a:xfrm>
              <a:off x="1270" y="1521"/>
              <a:ext cx="1" cy="12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5" name="Line 28"/>
            <p:cNvSpPr>
              <a:spLocks noChangeShapeType="1"/>
            </p:cNvSpPr>
            <p:nvPr/>
          </p:nvSpPr>
          <p:spPr bwMode="auto">
            <a:xfrm>
              <a:off x="1307" y="1748"/>
              <a:ext cx="1" cy="181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6" name="Line 29"/>
            <p:cNvSpPr>
              <a:spLocks noChangeShapeType="1"/>
            </p:cNvSpPr>
            <p:nvPr/>
          </p:nvSpPr>
          <p:spPr bwMode="auto">
            <a:xfrm>
              <a:off x="1017" y="1800"/>
              <a:ext cx="1" cy="175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7" name="Line 30"/>
            <p:cNvSpPr>
              <a:spLocks noChangeShapeType="1"/>
            </p:cNvSpPr>
            <p:nvPr/>
          </p:nvSpPr>
          <p:spPr bwMode="auto">
            <a:xfrm>
              <a:off x="1054" y="1521"/>
              <a:ext cx="1" cy="12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8" name="Line 31"/>
            <p:cNvSpPr>
              <a:spLocks noChangeShapeType="1"/>
            </p:cNvSpPr>
            <p:nvPr/>
          </p:nvSpPr>
          <p:spPr bwMode="auto">
            <a:xfrm>
              <a:off x="1091" y="1748"/>
              <a:ext cx="1" cy="181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49" name="Line 32"/>
            <p:cNvSpPr>
              <a:spLocks noChangeShapeType="1"/>
            </p:cNvSpPr>
            <p:nvPr/>
          </p:nvSpPr>
          <p:spPr bwMode="auto">
            <a:xfrm>
              <a:off x="837" y="1521"/>
              <a:ext cx="1" cy="12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50" name="Line 33"/>
            <p:cNvSpPr>
              <a:spLocks noChangeShapeType="1"/>
            </p:cNvSpPr>
            <p:nvPr/>
          </p:nvSpPr>
          <p:spPr bwMode="auto">
            <a:xfrm>
              <a:off x="870" y="1748"/>
              <a:ext cx="1" cy="181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51" name="Rectangle 34"/>
            <p:cNvSpPr>
              <a:spLocks noChangeArrowheads="1"/>
            </p:cNvSpPr>
            <p:nvPr/>
          </p:nvSpPr>
          <p:spPr bwMode="auto">
            <a:xfrm>
              <a:off x="1218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8952" name="Rectangle 35"/>
            <p:cNvSpPr>
              <a:spLocks noChangeArrowheads="1"/>
            </p:cNvSpPr>
            <p:nvPr/>
          </p:nvSpPr>
          <p:spPr bwMode="auto">
            <a:xfrm>
              <a:off x="1257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sz="1600"/>
            </a:p>
          </p:txBody>
        </p:sp>
        <p:sp>
          <p:nvSpPr>
            <p:cNvPr id="38953" name="Rectangle 36"/>
            <p:cNvSpPr>
              <a:spLocks noChangeArrowheads="1"/>
            </p:cNvSpPr>
            <p:nvPr/>
          </p:nvSpPr>
          <p:spPr bwMode="auto">
            <a:xfrm>
              <a:off x="1002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8954" name="Rectangle 37"/>
            <p:cNvSpPr>
              <a:spLocks noChangeArrowheads="1"/>
            </p:cNvSpPr>
            <p:nvPr/>
          </p:nvSpPr>
          <p:spPr bwMode="auto">
            <a:xfrm>
              <a:off x="1041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sz="1600"/>
            </a:p>
          </p:txBody>
        </p:sp>
        <p:sp>
          <p:nvSpPr>
            <p:cNvPr id="38955" name="Rectangle 38"/>
            <p:cNvSpPr>
              <a:spLocks noChangeArrowheads="1"/>
            </p:cNvSpPr>
            <p:nvPr/>
          </p:nvSpPr>
          <p:spPr bwMode="auto">
            <a:xfrm>
              <a:off x="782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8956" name="Rectangle 39"/>
            <p:cNvSpPr>
              <a:spLocks noChangeArrowheads="1"/>
            </p:cNvSpPr>
            <p:nvPr/>
          </p:nvSpPr>
          <p:spPr bwMode="auto">
            <a:xfrm>
              <a:off x="821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sz="1600"/>
            </a:p>
          </p:txBody>
        </p:sp>
        <p:sp>
          <p:nvSpPr>
            <p:cNvPr id="38957" name="Freeform 40"/>
            <p:cNvSpPr>
              <a:spLocks/>
            </p:cNvSpPr>
            <p:nvPr/>
          </p:nvSpPr>
          <p:spPr bwMode="auto">
            <a:xfrm>
              <a:off x="1171" y="1649"/>
              <a:ext cx="195" cy="154"/>
            </a:xfrm>
            <a:custGeom>
              <a:avLst/>
              <a:gdLst>
                <a:gd name="T0" fmla="*/ 0 w 195"/>
                <a:gd name="T1" fmla="*/ 0 h 154"/>
                <a:gd name="T2" fmla="*/ 99 w 195"/>
                <a:gd name="T3" fmla="*/ 154 h 154"/>
                <a:gd name="T4" fmla="*/ 195 w 195"/>
                <a:gd name="T5" fmla="*/ 0 h 154"/>
                <a:gd name="T6" fmla="*/ 0 w 195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154"/>
                <a:gd name="T14" fmla="*/ 195 w 195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154">
                  <a:moveTo>
                    <a:pt x="0" y="0"/>
                  </a:moveTo>
                  <a:lnTo>
                    <a:pt x="99" y="154"/>
                  </a:lnTo>
                  <a:lnTo>
                    <a:pt x="1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58" name="Freeform 41"/>
            <p:cNvSpPr>
              <a:spLocks/>
            </p:cNvSpPr>
            <p:nvPr/>
          </p:nvSpPr>
          <p:spPr bwMode="auto">
            <a:xfrm>
              <a:off x="955" y="1649"/>
              <a:ext cx="194" cy="154"/>
            </a:xfrm>
            <a:custGeom>
              <a:avLst/>
              <a:gdLst>
                <a:gd name="T0" fmla="*/ 0 w 194"/>
                <a:gd name="T1" fmla="*/ 0 h 154"/>
                <a:gd name="T2" fmla="*/ 99 w 194"/>
                <a:gd name="T3" fmla="*/ 154 h 154"/>
                <a:gd name="T4" fmla="*/ 194 w 194"/>
                <a:gd name="T5" fmla="*/ 0 h 154"/>
                <a:gd name="T6" fmla="*/ 0 w 194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"/>
                <a:gd name="T13" fmla="*/ 0 h 154"/>
                <a:gd name="T14" fmla="*/ 194 w 194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" h="154">
                  <a:moveTo>
                    <a:pt x="0" y="0"/>
                  </a:moveTo>
                  <a:lnTo>
                    <a:pt x="99" y="154"/>
                  </a:ln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59" name="Freeform 42"/>
            <p:cNvSpPr>
              <a:spLocks/>
            </p:cNvSpPr>
            <p:nvPr/>
          </p:nvSpPr>
          <p:spPr bwMode="auto">
            <a:xfrm>
              <a:off x="738" y="1649"/>
              <a:ext cx="195" cy="154"/>
            </a:xfrm>
            <a:custGeom>
              <a:avLst/>
              <a:gdLst>
                <a:gd name="T0" fmla="*/ 0 w 195"/>
                <a:gd name="T1" fmla="*/ 0 h 154"/>
                <a:gd name="T2" fmla="*/ 96 w 195"/>
                <a:gd name="T3" fmla="*/ 154 h 154"/>
                <a:gd name="T4" fmla="*/ 195 w 195"/>
                <a:gd name="T5" fmla="*/ 0 h 154"/>
                <a:gd name="T6" fmla="*/ 0 w 195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154"/>
                <a:gd name="T14" fmla="*/ 195 w 195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154">
                  <a:moveTo>
                    <a:pt x="0" y="0"/>
                  </a:moveTo>
                  <a:lnTo>
                    <a:pt x="96" y="154"/>
                  </a:lnTo>
                  <a:lnTo>
                    <a:pt x="1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0" name="Oval 43"/>
            <p:cNvSpPr>
              <a:spLocks noChangeArrowheads="1"/>
            </p:cNvSpPr>
            <p:nvPr/>
          </p:nvSpPr>
          <p:spPr bwMode="auto">
            <a:xfrm>
              <a:off x="1215" y="1770"/>
              <a:ext cx="37" cy="41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1" name="Oval 44"/>
            <p:cNvSpPr>
              <a:spLocks noChangeArrowheads="1"/>
            </p:cNvSpPr>
            <p:nvPr/>
          </p:nvSpPr>
          <p:spPr bwMode="auto">
            <a:xfrm>
              <a:off x="995" y="1774"/>
              <a:ext cx="41" cy="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2" name="Oval 45"/>
            <p:cNvSpPr>
              <a:spLocks noChangeArrowheads="1"/>
            </p:cNvSpPr>
            <p:nvPr/>
          </p:nvSpPr>
          <p:spPr bwMode="auto">
            <a:xfrm>
              <a:off x="779" y="1774"/>
              <a:ext cx="40" cy="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3" name="Rectangle 46"/>
            <p:cNvSpPr>
              <a:spLocks noChangeArrowheads="1"/>
            </p:cNvSpPr>
            <p:nvPr/>
          </p:nvSpPr>
          <p:spPr bwMode="auto">
            <a:xfrm>
              <a:off x="1462" y="3624"/>
              <a:ext cx="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5" name="Rectangle 48"/>
            <p:cNvSpPr>
              <a:spLocks noChangeArrowheads="1"/>
            </p:cNvSpPr>
            <p:nvPr/>
          </p:nvSpPr>
          <p:spPr bwMode="auto">
            <a:xfrm>
              <a:off x="1566" y="3624"/>
              <a:ext cx="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66" name="Rectangle 49"/>
            <p:cNvSpPr>
              <a:spLocks noChangeArrowheads="1"/>
            </p:cNvSpPr>
            <p:nvPr/>
          </p:nvSpPr>
          <p:spPr bwMode="auto">
            <a:xfrm>
              <a:off x="1936" y="3448"/>
              <a:ext cx="231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PLD</a:t>
              </a:r>
              <a:endParaRPr lang="en-US" sz="1600"/>
            </a:p>
          </p:txBody>
        </p:sp>
        <p:sp>
          <p:nvSpPr>
            <p:cNvPr id="38968" name="Rectangle 51"/>
            <p:cNvSpPr>
              <a:spLocks noChangeArrowheads="1"/>
            </p:cNvSpPr>
            <p:nvPr/>
          </p:nvSpPr>
          <p:spPr bwMode="auto">
            <a:xfrm>
              <a:off x="2196" y="3448"/>
              <a:ext cx="119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IC</a:t>
              </a:r>
              <a:endParaRPr lang="en-US" sz="1600"/>
            </a:p>
          </p:txBody>
        </p:sp>
        <p:sp>
          <p:nvSpPr>
            <p:cNvPr id="38969" name="Rectangle 52"/>
            <p:cNvSpPr>
              <a:spLocks noChangeArrowheads="1"/>
            </p:cNvSpPr>
            <p:nvPr/>
          </p:nvSpPr>
          <p:spPr bwMode="auto">
            <a:xfrm>
              <a:off x="2424" y="2073"/>
              <a:ext cx="16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O1</a:t>
              </a:r>
              <a:endParaRPr lang="en-US" sz="1600"/>
            </a:p>
          </p:txBody>
        </p:sp>
        <p:sp>
          <p:nvSpPr>
            <p:cNvPr id="38970" name="Rectangle 53"/>
            <p:cNvSpPr>
              <a:spLocks noChangeArrowheads="1"/>
            </p:cNvSpPr>
            <p:nvPr/>
          </p:nvSpPr>
          <p:spPr bwMode="auto">
            <a:xfrm>
              <a:off x="2424" y="2968"/>
              <a:ext cx="16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O2</a:t>
              </a:r>
              <a:endParaRPr lang="en-US" sz="1600"/>
            </a:p>
          </p:txBody>
        </p:sp>
        <p:sp>
          <p:nvSpPr>
            <p:cNvPr id="38971" name="Line 54"/>
            <p:cNvSpPr>
              <a:spLocks noChangeShapeType="1"/>
            </p:cNvSpPr>
            <p:nvPr/>
          </p:nvSpPr>
          <p:spPr bwMode="auto">
            <a:xfrm>
              <a:off x="2841" y="1917"/>
              <a:ext cx="82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72" name="Line 55"/>
            <p:cNvSpPr>
              <a:spLocks noChangeShapeType="1"/>
            </p:cNvSpPr>
            <p:nvPr/>
          </p:nvSpPr>
          <p:spPr bwMode="auto">
            <a:xfrm>
              <a:off x="3982" y="2214"/>
              <a:ext cx="15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73" name="Line 56"/>
            <p:cNvSpPr>
              <a:spLocks noChangeShapeType="1"/>
            </p:cNvSpPr>
            <p:nvPr/>
          </p:nvSpPr>
          <p:spPr bwMode="auto">
            <a:xfrm>
              <a:off x="2841" y="2214"/>
              <a:ext cx="82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74" name="Line 57"/>
            <p:cNvSpPr>
              <a:spLocks noChangeShapeType="1"/>
            </p:cNvSpPr>
            <p:nvPr/>
          </p:nvSpPr>
          <p:spPr bwMode="auto">
            <a:xfrm>
              <a:off x="2845" y="2515"/>
              <a:ext cx="81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75" name="Freeform 58"/>
            <p:cNvSpPr>
              <a:spLocks/>
            </p:cNvSpPr>
            <p:nvPr/>
          </p:nvSpPr>
          <p:spPr bwMode="auto">
            <a:xfrm>
              <a:off x="3982" y="1917"/>
              <a:ext cx="154" cy="228"/>
            </a:xfrm>
            <a:custGeom>
              <a:avLst/>
              <a:gdLst>
                <a:gd name="T0" fmla="*/ 0 w 154"/>
                <a:gd name="T1" fmla="*/ 0 h 228"/>
                <a:gd name="T2" fmla="*/ 63 w 154"/>
                <a:gd name="T3" fmla="*/ 0 h 228"/>
                <a:gd name="T4" fmla="*/ 63 w 154"/>
                <a:gd name="T5" fmla="*/ 228 h 228"/>
                <a:gd name="T6" fmla="*/ 154 w 154"/>
                <a:gd name="T7" fmla="*/ 228 h 2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28"/>
                <a:gd name="T14" fmla="*/ 154 w 154"/>
                <a:gd name="T15" fmla="*/ 228 h 2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28">
                  <a:moveTo>
                    <a:pt x="0" y="0"/>
                  </a:moveTo>
                  <a:lnTo>
                    <a:pt x="63" y="0"/>
                  </a:lnTo>
                  <a:lnTo>
                    <a:pt x="63" y="228"/>
                  </a:lnTo>
                  <a:lnTo>
                    <a:pt x="154" y="228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76" name="Freeform 59"/>
            <p:cNvSpPr>
              <a:spLocks/>
            </p:cNvSpPr>
            <p:nvPr/>
          </p:nvSpPr>
          <p:spPr bwMode="auto">
            <a:xfrm>
              <a:off x="3982" y="2280"/>
              <a:ext cx="154" cy="235"/>
            </a:xfrm>
            <a:custGeom>
              <a:avLst/>
              <a:gdLst>
                <a:gd name="T0" fmla="*/ 0 w 154"/>
                <a:gd name="T1" fmla="*/ 235 h 235"/>
                <a:gd name="T2" fmla="*/ 63 w 154"/>
                <a:gd name="T3" fmla="*/ 235 h 235"/>
                <a:gd name="T4" fmla="*/ 63 w 154"/>
                <a:gd name="T5" fmla="*/ 0 h 235"/>
                <a:gd name="T6" fmla="*/ 154 w 154"/>
                <a:gd name="T7" fmla="*/ 0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35"/>
                <a:gd name="T14" fmla="*/ 154 w 154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35">
                  <a:moveTo>
                    <a:pt x="0" y="235"/>
                  </a:moveTo>
                  <a:lnTo>
                    <a:pt x="63" y="235"/>
                  </a:lnTo>
                  <a:lnTo>
                    <a:pt x="63" y="0"/>
                  </a:lnTo>
                  <a:lnTo>
                    <a:pt x="15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79" name="Line 62"/>
            <p:cNvSpPr>
              <a:spLocks noChangeShapeType="1"/>
            </p:cNvSpPr>
            <p:nvPr/>
          </p:nvSpPr>
          <p:spPr bwMode="auto">
            <a:xfrm>
              <a:off x="2841" y="2820"/>
              <a:ext cx="82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0" name="Line 63"/>
            <p:cNvSpPr>
              <a:spLocks noChangeShapeType="1"/>
            </p:cNvSpPr>
            <p:nvPr/>
          </p:nvSpPr>
          <p:spPr bwMode="auto">
            <a:xfrm>
              <a:off x="3982" y="3117"/>
              <a:ext cx="158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1" name="Line 64"/>
            <p:cNvSpPr>
              <a:spLocks noChangeShapeType="1"/>
            </p:cNvSpPr>
            <p:nvPr/>
          </p:nvSpPr>
          <p:spPr bwMode="auto">
            <a:xfrm>
              <a:off x="2841" y="3117"/>
              <a:ext cx="82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2" name="Line 65"/>
            <p:cNvSpPr>
              <a:spLocks noChangeShapeType="1"/>
            </p:cNvSpPr>
            <p:nvPr/>
          </p:nvSpPr>
          <p:spPr bwMode="auto">
            <a:xfrm>
              <a:off x="2845" y="3418"/>
              <a:ext cx="81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3" name="Freeform 66"/>
            <p:cNvSpPr>
              <a:spLocks/>
            </p:cNvSpPr>
            <p:nvPr/>
          </p:nvSpPr>
          <p:spPr bwMode="auto">
            <a:xfrm>
              <a:off x="3982" y="2820"/>
              <a:ext cx="154" cy="227"/>
            </a:xfrm>
            <a:custGeom>
              <a:avLst/>
              <a:gdLst>
                <a:gd name="T0" fmla="*/ 0 w 154"/>
                <a:gd name="T1" fmla="*/ 0 h 227"/>
                <a:gd name="T2" fmla="*/ 63 w 154"/>
                <a:gd name="T3" fmla="*/ 0 h 227"/>
                <a:gd name="T4" fmla="*/ 63 w 154"/>
                <a:gd name="T5" fmla="*/ 227 h 227"/>
                <a:gd name="T6" fmla="*/ 154 w 154"/>
                <a:gd name="T7" fmla="*/ 227 h 2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27"/>
                <a:gd name="T14" fmla="*/ 154 w 154"/>
                <a:gd name="T15" fmla="*/ 227 h 2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27">
                  <a:moveTo>
                    <a:pt x="0" y="0"/>
                  </a:moveTo>
                  <a:lnTo>
                    <a:pt x="63" y="0"/>
                  </a:lnTo>
                  <a:lnTo>
                    <a:pt x="63" y="227"/>
                  </a:lnTo>
                  <a:lnTo>
                    <a:pt x="154" y="227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84" name="Freeform 67"/>
            <p:cNvSpPr>
              <a:spLocks/>
            </p:cNvSpPr>
            <p:nvPr/>
          </p:nvSpPr>
          <p:spPr bwMode="auto">
            <a:xfrm>
              <a:off x="3982" y="3183"/>
              <a:ext cx="154" cy="235"/>
            </a:xfrm>
            <a:custGeom>
              <a:avLst/>
              <a:gdLst>
                <a:gd name="T0" fmla="*/ 0 w 154"/>
                <a:gd name="T1" fmla="*/ 235 h 235"/>
                <a:gd name="T2" fmla="*/ 63 w 154"/>
                <a:gd name="T3" fmla="*/ 235 h 235"/>
                <a:gd name="T4" fmla="*/ 63 w 154"/>
                <a:gd name="T5" fmla="*/ 0 h 235"/>
                <a:gd name="T6" fmla="*/ 154 w 154"/>
                <a:gd name="T7" fmla="*/ 0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235"/>
                <a:gd name="T14" fmla="*/ 154 w 154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235">
                  <a:moveTo>
                    <a:pt x="0" y="235"/>
                  </a:moveTo>
                  <a:lnTo>
                    <a:pt x="63" y="235"/>
                  </a:lnTo>
                  <a:lnTo>
                    <a:pt x="63" y="0"/>
                  </a:lnTo>
                  <a:lnTo>
                    <a:pt x="15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8986" name="Line 69"/>
            <p:cNvSpPr>
              <a:spLocks noChangeShapeType="1"/>
            </p:cNvSpPr>
            <p:nvPr/>
          </p:nvSpPr>
          <p:spPr bwMode="auto">
            <a:xfrm>
              <a:off x="4375" y="3117"/>
              <a:ext cx="482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7" name="Line 70"/>
            <p:cNvSpPr>
              <a:spLocks noChangeShapeType="1"/>
            </p:cNvSpPr>
            <p:nvPr/>
          </p:nvSpPr>
          <p:spPr bwMode="auto">
            <a:xfrm>
              <a:off x="3340" y="1800"/>
              <a:ext cx="1" cy="175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8" name="Line 71"/>
            <p:cNvSpPr>
              <a:spLocks noChangeShapeType="1"/>
            </p:cNvSpPr>
            <p:nvPr/>
          </p:nvSpPr>
          <p:spPr bwMode="auto">
            <a:xfrm>
              <a:off x="3377" y="1521"/>
              <a:ext cx="1" cy="1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89" name="Line 72"/>
            <p:cNvSpPr>
              <a:spLocks noChangeShapeType="1"/>
            </p:cNvSpPr>
            <p:nvPr/>
          </p:nvSpPr>
          <p:spPr bwMode="auto">
            <a:xfrm>
              <a:off x="3414" y="1748"/>
              <a:ext cx="1" cy="181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0" name="Line 73"/>
            <p:cNvSpPr>
              <a:spLocks noChangeShapeType="1"/>
            </p:cNvSpPr>
            <p:nvPr/>
          </p:nvSpPr>
          <p:spPr bwMode="auto">
            <a:xfrm>
              <a:off x="3124" y="1800"/>
              <a:ext cx="1" cy="175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1" name="Line 74"/>
            <p:cNvSpPr>
              <a:spLocks noChangeShapeType="1"/>
            </p:cNvSpPr>
            <p:nvPr/>
          </p:nvSpPr>
          <p:spPr bwMode="auto">
            <a:xfrm>
              <a:off x="3160" y="1521"/>
              <a:ext cx="1" cy="1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2" name="Line 75"/>
            <p:cNvSpPr>
              <a:spLocks noChangeShapeType="1"/>
            </p:cNvSpPr>
            <p:nvPr/>
          </p:nvSpPr>
          <p:spPr bwMode="auto">
            <a:xfrm>
              <a:off x="3197" y="1748"/>
              <a:ext cx="1" cy="181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3" name="Line 76"/>
            <p:cNvSpPr>
              <a:spLocks noChangeShapeType="1"/>
            </p:cNvSpPr>
            <p:nvPr/>
          </p:nvSpPr>
          <p:spPr bwMode="auto">
            <a:xfrm>
              <a:off x="2944" y="1521"/>
              <a:ext cx="1" cy="1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4" name="Line 77"/>
            <p:cNvSpPr>
              <a:spLocks noChangeShapeType="1"/>
            </p:cNvSpPr>
            <p:nvPr/>
          </p:nvSpPr>
          <p:spPr bwMode="auto">
            <a:xfrm>
              <a:off x="2977" y="1748"/>
              <a:ext cx="1" cy="181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8995" name="Rectangle 78"/>
            <p:cNvSpPr>
              <a:spLocks noChangeArrowheads="1"/>
            </p:cNvSpPr>
            <p:nvPr/>
          </p:nvSpPr>
          <p:spPr bwMode="auto">
            <a:xfrm>
              <a:off x="3324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8996" name="Rectangle 79"/>
            <p:cNvSpPr>
              <a:spLocks noChangeArrowheads="1"/>
            </p:cNvSpPr>
            <p:nvPr/>
          </p:nvSpPr>
          <p:spPr bwMode="auto">
            <a:xfrm>
              <a:off x="3363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sz="1600"/>
            </a:p>
          </p:txBody>
        </p:sp>
        <p:sp>
          <p:nvSpPr>
            <p:cNvPr id="38997" name="Rectangle 80"/>
            <p:cNvSpPr>
              <a:spLocks noChangeArrowheads="1"/>
            </p:cNvSpPr>
            <p:nvPr/>
          </p:nvSpPr>
          <p:spPr bwMode="auto">
            <a:xfrm>
              <a:off x="3109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8998" name="Rectangle 81"/>
            <p:cNvSpPr>
              <a:spLocks noChangeArrowheads="1"/>
            </p:cNvSpPr>
            <p:nvPr/>
          </p:nvSpPr>
          <p:spPr bwMode="auto">
            <a:xfrm>
              <a:off x="3148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sz="1600"/>
            </a:p>
          </p:txBody>
        </p:sp>
        <p:sp>
          <p:nvSpPr>
            <p:cNvPr id="38999" name="Rectangle 82"/>
            <p:cNvSpPr>
              <a:spLocks noChangeArrowheads="1"/>
            </p:cNvSpPr>
            <p:nvPr/>
          </p:nvSpPr>
          <p:spPr bwMode="auto">
            <a:xfrm>
              <a:off x="2889" y="1379"/>
              <a:ext cx="4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en-US" sz="1600"/>
            </a:p>
          </p:txBody>
        </p:sp>
        <p:sp>
          <p:nvSpPr>
            <p:cNvPr id="39000" name="Rectangle 83"/>
            <p:cNvSpPr>
              <a:spLocks noChangeArrowheads="1"/>
            </p:cNvSpPr>
            <p:nvPr/>
          </p:nvSpPr>
          <p:spPr bwMode="auto">
            <a:xfrm>
              <a:off x="2928" y="1375"/>
              <a:ext cx="6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sz="1600"/>
            </a:p>
          </p:txBody>
        </p:sp>
        <p:sp>
          <p:nvSpPr>
            <p:cNvPr id="39001" name="Freeform 84"/>
            <p:cNvSpPr>
              <a:spLocks/>
            </p:cNvSpPr>
            <p:nvPr/>
          </p:nvSpPr>
          <p:spPr bwMode="auto">
            <a:xfrm>
              <a:off x="3278" y="1649"/>
              <a:ext cx="194" cy="154"/>
            </a:xfrm>
            <a:custGeom>
              <a:avLst/>
              <a:gdLst>
                <a:gd name="T0" fmla="*/ 0 w 194"/>
                <a:gd name="T1" fmla="*/ 0 h 154"/>
                <a:gd name="T2" fmla="*/ 99 w 194"/>
                <a:gd name="T3" fmla="*/ 154 h 154"/>
                <a:gd name="T4" fmla="*/ 194 w 194"/>
                <a:gd name="T5" fmla="*/ 0 h 154"/>
                <a:gd name="T6" fmla="*/ 0 w 194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"/>
                <a:gd name="T13" fmla="*/ 0 h 154"/>
                <a:gd name="T14" fmla="*/ 194 w 194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" h="154">
                  <a:moveTo>
                    <a:pt x="0" y="0"/>
                  </a:moveTo>
                  <a:lnTo>
                    <a:pt x="99" y="154"/>
                  </a:ln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2" name="Freeform 85"/>
            <p:cNvSpPr>
              <a:spLocks/>
            </p:cNvSpPr>
            <p:nvPr/>
          </p:nvSpPr>
          <p:spPr bwMode="auto">
            <a:xfrm>
              <a:off x="3061" y="1649"/>
              <a:ext cx="195" cy="154"/>
            </a:xfrm>
            <a:custGeom>
              <a:avLst/>
              <a:gdLst>
                <a:gd name="T0" fmla="*/ 0 w 195"/>
                <a:gd name="T1" fmla="*/ 0 h 154"/>
                <a:gd name="T2" fmla="*/ 99 w 195"/>
                <a:gd name="T3" fmla="*/ 154 h 154"/>
                <a:gd name="T4" fmla="*/ 195 w 195"/>
                <a:gd name="T5" fmla="*/ 0 h 154"/>
                <a:gd name="T6" fmla="*/ 0 w 195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154"/>
                <a:gd name="T14" fmla="*/ 195 w 195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154">
                  <a:moveTo>
                    <a:pt x="0" y="0"/>
                  </a:moveTo>
                  <a:lnTo>
                    <a:pt x="99" y="154"/>
                  </a:lnTo>
                  <a:lnTo>
                    <a:pt x="1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3" name="Freeform 86"/>
            <p:cNvSpPr>
              <a:spLocks/>
            </p:cNvSpPr>
            <p:nvPr/>
          </p:nvSpPr>
          <p:spPr bwMode="auto">
            <a:xfrm>
              <a:off x="2845" y="1649"/>
              <a:ext cx="194" cy="154"/>
            </a:xfrm>
            <a:custGeom>
              <a:avLst/>
              <a:gdLst>
                <a:gd name="T0" fmla="*/ 0 w 194"/>
                <a:gd name="T1" fmla="*/ 0 h 154"/>
                <a:gd name="T2" fmla="*/ 95 w 194"/>
                <a:gd name="T3" fmla="*/ 154 h 154"/>
                <a:gd name="T4" fmla="*/ 194 w 194"/>
                <a:gd name="T5" fmla="*/ 0 h 154"/>
                <a:gd name="T6" fmla="*/ 0 w 194"/>
                <a:gd name="T7" fmla="*/ 0 h 1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"/>
                <a:gd name="T13" fmla="*/ 0 h 154"/>
                <a:gd name="T14" fmla="*/ 194 w 194"/>
                <a:gd name="T15" fmla="*/ 154 h 1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" h="154">
                  <a:moveTo>
                    <a:pt x="0" y="0"/>
                  </a:moveTo>
                  <a:lnTo>
                    <a:pt x="95" y="154"/>
                  </a:ln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4" name="Oval 87"/>
            <p:cNvSpPr>
              <a:spLocks noChangeArrowheads="1"/>
            </p:cNvSpPr>
            <p:nvPr/>
          </p:nvSpPr>
          <p:spPr bwMode="auto">
            <a:xfrm>
              <a:off x="3322" y="1770"/>
              <a:ext cx="36" cy="41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5" name="Oval 88"/>
            <p:cNvSpPr>
              <a:spLocks noChangeArrowheads="1"/>
            </p:cNvSpPr>
            <p:nvPr/>
          </p:nvSpPr>
          <p:spPr bwMode="auto">
            <a:xfrm>
              <a:off x="3102" y="1774"/>
              <a:ext cx="40" cy="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6" name="Oval 89"/>
            <p:cNvSpPr>
              <a:spLocks noChangeArrowheads="1"/>
            </p:cNvSpPr>
            <p:nvPr/>
          </p:nvSpPr>
          <p:spPr bwMode="auto">
            <a:xfrm>
              <a:off x="2885" y="1774"/>
              <a:ext cx="40" cy="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09" name="Rectangle 92"/>
            <p:cNvSpPr>
              <a:spLocks noChangeArrowheads="1"/>
            </p:cNvSpPr>
            <p:nvPr/>
          </p:nvSpPr>
          <p:spPr bwMode="auto">
            <a:xfrm>
              <a:off x="4077" y="3624"/>
              <a:ext cx="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10" name="Rectangle 93"/>
            <p:cNvSpPr>
              <a:spLocks noChangeArrowheads="1"/>
            </p:cNvSpPr>
            <p:nvPr/>
          </p:nvSpPr>
          <p:spPr bwMode="auto">
            <a:xfrm>
              <a:off x="4828" y="3448"/>
              <a:ext cx="38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PLD IC</a:t>
              </a:r>
              <a:endParaRPr lang="en-US" sz="1600"/>
            </a:p>
          </p:txBody>
        </p:sp>
        <p:sp>
          <p:nvSpPr>
            <p:cNvPr id="39013" name="Rectangle 96"/>
            <p:cNvSpPr>
              <a:spLocks noChangeArrowheads="1"/>
            </p:cNvSpPr>
            <p:nvPr/>
          </p:nvSpPr>
          <p:spPr bwMode="auto">
            <a:xfrm>
              <a:off x="5323" y="3037"/>
              <a:ext cx="16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O2</a:t>
              </a:r>
              <a:endParaRPr lang="en-US" sz="1600"/>
            </a:p>
          </p:txBody>
        </p:sp>
        <p:sp>
          <p:nvSpPr>
            <p:cNvPr id="39014" name="Rectangle 97"/>
            <p:cNvSpPr>
              <a:spLocks noChangeArrowheads="1"/>
            </p:cNvSpPr>
            <p:nvPr/>
          </p:nvSpPr>
          <p:spPr bwMode="auto">
            <a:xfrm>
              <a:off x="5323" y="2041"/>
              <a:ext cx="16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Helvetica" panose="020B0604020202020204" pitchFamily="34" charset="0"/>
                </a:rPr>
                <a:t>O1</a:t>
              </a:r>
              <a:endParaRPr lang="en-US" sz="1600"/>
            </a:p>
          </p:txBody>
        </p:sp>
        <p:sp>
          <p:nvSpPr>
            <p:cNvPr id="39015" name="Freeform 98"/>
            <p:cNvSpPr>
              <a:spLocks/>
            </p:cNvSpPr>
            <p:nvPr/>
          </p:nvSpPr>
          <p:spPr bwMode="auto">
            <a:xfrm>
              <a:off x="4492" y="2211"/>
              <a:ext cx="31" cy="154"/>
            </a:xfrm>
            <a:custGeom>
              <a:avLst/>
              <a:gdLst>
                <a:gd name="T0" fmla="*/ 0 w 48"/>
                <a:gd name="T1" fmla="*/ 0 h 154"/>
                <a:gd name="T2" fmla="*/ 0 w 48"/>
                <a:gd name="T3" fmla="*/ 154 h 154"/>
                <a:gd name="T4" fmla="*/ 48 w 48"/>
                <a:gd name="T5" fmla="*/ 154 h 154"/>
                <a:gd name="T6" fmla="*/ 0 60000 65536"/>
                <a:gd name="T7" fmla="*/ 0 60000 65536"/>
                <a:gd name="T8" fmla="*/ 0 60000 65536"/>
                <a:gd name="T9" fmla="*/ 0 w 48"/>
                <a:gd name="T10" fmla="*/ 0 h 154"/>
                <a:gd name="T11" fmla="*/ 48 w 48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54">
                  <a:moveTo>
                    <a:pt x="0" y="0"/>
                  </a:moveTo>
                  <a:lnTo>
                    <a:pt x="0" y="154"/>
                  </a:lnTo>
                  <a:lnTo>
                    <a:pt x="48" y="1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17" name="Freeform 100"/>
            <p:cNvSpPr>
              <a:spLocks/>
            </p:cNvSpPr>
            <p:nvPr/>
          </p:nvSpPr>
          <p:spPr bwMode="auto">
            <a:xfrm>
              <a:off x="4426" y="2479"/>
              <a:ext cx="105" cy="1150"/>
            </a:xfrm>
            <a:custGeom>
              <a:avLst/>
              <a:gdLst>
                <a:gd name="T0" fmla="*/ 114 w 114"/>
                <a:gd name="T1" fmla="*/ 0 h 1222"/>
                <a:gd name="T2" fmla="*/ 0 w 114"/>
                <a:gd name="T3" fmla="*/ 0 h 1222"/>
                <a:gd name="T4" fmla="*/ 0 w 114"/>
                <a:gd name="T5" fmla="*/ 1222 h 1222"/>
                <a:gd name="T6" fmla="*/ 0 60000 65536"/>
                <a:gd name="T7" fmla="*/ 0 60000 65536"/>
                <a:gd name="T8" fmla="*/ 0 60000 65536"/>
                <a:gd name="T9" fmla="*/ 0 w 114"/>
                <a:gd name="T10" fmla="*/ 0 h 1222"/>
                <a:gd name="T11" fmla="*/ 114 w 114"/>
                <a:gd name="T12" fmla="*/ 1222 h 12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1222">
                  <a:moveTo>
                    <a:pt x="114" y="0"/>
                  </a:moveTo>
                  <a:lnTo>
                    <a:pt x="0" y="0"/>
                  </a:lnTo>
                  <a:lnTo>
                    <a:pt x="0" y="122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18" name="Line 101"/>
            <p:cNvSpPr>
              <a:spLocks noChangeShapeType="1"/>
            </p:cNvSpPr>
            <p:nvPr/>
          </p:nvSpPr>
          <p:spPr bwMode="auto">
            <a:xfrm flipH="1">
              <a:off x="4426" y="3381"/>
              <a:ext cx="105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39020" name="Oval 103"/>
            <p:cNvSpPr>
              <a:spLocks noChangeArrowheads="1"/>
            </p:cNvSpPr>
            <p:nvPr/>
          </p:nvSpPr>
          <p:spPr bwMode="auto">
            <a:xfrm>
              <a:off x="4397" y="3356"/>
              <a:ext cx="55" cy="55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21" name="Oval 104"/>
            <p:cNvSpPr>
              <a:spLocks noChangeArrowheads="1"/>
            </p:cNvSpPr>
            <p:nvPr/>
          </p:nvSpPr>
          <p:spPr bwMode="auto">
            <a:xfrm>
              <a:off x="4463" y="3088"/>
              <a:ext cx="55" cy="55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22" name="Freeform 105"/>
            <p:cNvSpPr>
              <a:spLocks/>
            </p:cNvSpPr>
            <p:nvPr/>
          </p:nvSpPr>
          <p:spPr bwMode="auto">
            <a:xfrm>
              <a:off x="4492" y="3114"/>
              <a:ext cx="42" cy="154"/>
            </a:xfrm>
            <a:custGeom>
              <a:avLst/>
              <a:gdLst>
                <a:gd name="T0" fmla="*/ 48 w 48"/>
                <a:gd name="T1" fmla="*/ 154 h 154"/>
                <a:gd name="T2" fmla="*/ 0 w 48"/>
                <a:gd name="T3" fmla="*/ 154 h 154"/>
                <a:gd name="T4" fmla="*/ 0 w 48"/>
                <a:gd name="T5" fmla="*/ 0 h 154"/>
                <a:gd name="T6" fmla="*/ 0 60000 65536"/>
                <a:gd name="T7" fmla="*/ 0 60000 65536"/>
                <a:gd name="T8" fmla="*/ 0 60000 65536"/>
                <a:gd name="T9" fmla="*/ 0 w 48"/>
                <a:gd name="T10" fmla="*/ 0 h 154"/>
                <a:gd name="T11" fmla="*/ 48 w 48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54">
                  <a:moveTo>
                    <a:pt x="48" y="154"/>
                  </a:moveTo>
                  <a:lnTo>
                    <a:pt x="0" y="154"/>
                  </a:lnTo>
                  <a:lnTo>
                    <a:pt x="0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27" name="Rectangle 116"/>
            <p:cNvSpPr>
              <a:spLocks noChangeArrowheads="1"/>
            </p:cNvSpPr>
            <p:nvPr/>
          </p:nvSpPr>
          <p:spPr bwMode="auto">
            <a:xfrm>
              <a:off x="4120" y="1660"/>
              <a:ext cx="989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FF0000"/>
                  </a:solidFill>
                  <a:latin typeface="Helvetica" panose="020B0604020202020204" pitchFamily="34" charset="0"/>
                </a:rPr>
                <a:t>programmable bits</a:t>
              </a:r>
              <a:endParaRPr lang="en-US" sz="1600">
                <a:solidFill>
                  <a:srgbClr val="FF0000"/>
                </a:solidFill>
              </a:endParaRPr>
            </a:p>
          </p:txBody>
        </p:sp>
        <p:sp>
          <p:nvSpPr>
            <p:cNvPr id="39028" name="Freeform 117"/>
            <p:cNvSpPr>
              <a:spLocks/>
            </p:cNvSpPr>
            <p:nvPr/>
          </p:nvSpPr>
          <p:spPr bwMode="auto">
            <a:xfrm>
              <a:off x="4100" y="2075"/>
              <a:ext cx="275" cy="275"/>
            </a:xfrm>
            <a:custGeom>
              <a:avLst/>
              <a:gdLst>
                <a:gd name="T0" fmla="*/ 275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5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29" name="Freeform 118"/>
            <p:cNvSpPr>
              <a:spLocks/>
            </p:cNvSpPr>
            <p:nvPr/>
          </p:nvSpPr>
          <p:spPr bwMode="auto">
            <a:xfrm>
              <a:off x="4100" y="2978"/>
              <a:ext cx="275" cy="275"/>
            </a:xfrm>
            <a:custGeom>
              <a:avLst/>
              <a:gdLst>
                <a:gd name="T0" fmla="*/ 275 w 75"/>
                <a:gd name="T1" fmla="*/ 136 h 75"/>
                <a:gd name="T2" fmla="*/ 0 w 75"/>
                <a:gd name="T3" fmla="*/ 275 h 75"/>
                <a:gd name="T4" fmla="*/ 40 w 75"/>
                <a:gd name="T5" fmla="*/ 139 h 75"/>
                <a:gd name="T6" fmla="*/ 40 w 75"/>
                <a:gd name="T7" fmla="*/ 136 h 75"/>
                <a:gd name="T8" fmla="*/ 0 w 75"/>
                <a:gd name="T9" fmla="*/ 0 h 75"/>
                <a:gd name="T10" fmla="*/ 275 w 75"/>
                <a:gd name="T11" fmla="*/ 13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37"/>
                    <a:pt x="58" y="75"/>
                    <a:pt x="0" y="75"/>
                  </a:cubicBezTo>
                  <a:cubicBezTo>
                    <a:pt x="0" y="75"/>
                    <a:pt x="11" y="71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4"/>
                    <a:pt x="0" y="0"/>
                    <a:pt x="0" y="0"/>
                  </a:cubicBezTo>
                  <a:cubicBezTo>
                    <a:pt x="58" y="0"/>
                    <a:pt x="75" y="37"/>
                    <a:pt x="75" y="37"/>
                  </a:cubicBez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0" name="Freeform 119"/>
            <p:cNvSpPr>
              <a:spLocks/>
            </p:cNvSpPr>
            <p:nvPr/>
          </p:nvSpPr>
          <p:spPr bwMode="auto">
            <a:xfrm>
              <a:off x="3663" y="1778"/>
              <a:ext cx="316" cy="279"/>
            </a:xfrm>
            <a:custGeom>
              <a:avLst/>
              <a:gdLst>
                <a:gd name="T0" fmla="*/ 0 w 86"/>
                <a:gd name="T1" fmla="*/ 279 h 76"/>
                <a:gd name="T2" fmla="*/ 180 w 86"/>
                <a:gd name="T3" fmla="*/ 279 h 76"/>
                <a:gd name="T4" fmla="*/ 316 w 86"/>
                <a:gd name="T5" fmla="*/ 140 h 76"/>
                <a:gd name="T6" fmla="*/ 180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1" name="Freeform 120"/>
            <p:cNvSpPr>
              <a:spLocks/>
            </p:cNvSpPr>
            <p:nvPr/>
          </p:nvSpPr>
          <p:spPr bwMode="auto">
            <a:xfrm>
              <a:off x="3663" y="2079"/>
              <a:ext cx="316" cy="275"/>
            </a:xfrm>
            <a:custGeom>
              <a:avLst/>
              <a:gdLst>
                <a:gd name="T0" fmla="*/ 0 w 86"/>
                <a:gd name="T1" fmla="*/ 275 h 75"/>
                <a:gd name="T2" fmla="*/ 180 w 86"/>
                <a:gd name="T3" fmla="*/ 275 h 75"/>
                <a:gd name="T4" fmla="*/ 316 w 86"/>
                <a:gd name="T5" fmla="*/ 136 h 75"/>
                <a:gd name="T6" fmla="*/ 180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2" name="Freeform 121"/>
            <p:cNvSpPr>
              <a:spLocks/>
            </p:cNvSpPr>
            <p:nvPr/>
          </p:nvSpPr>
          <p:spPr bwMode="auto">
            <a:xfrm>
              <a:off x="3663" y="2380"/>
              <a:ext cx="316" cy="275"/>
            </a:xfrm>
            <a:custGeom>
              <a:avLst/>
              <a:gdLst>
                <a:gd name="T0" fmla="*/ 0 w 86"/>
                <a:gd name="T1" fmla="*/ 275 h 75"/>
                <a:gd name="T2" fmla="*/ 180 w 86"/>
                <a:gd name="T3" fmla="*/ 275 h 75"/>
                <a:gd name="T4" fmla="*/ 316 w 86"/>
                <a:gd name="T5" fmla="*/ 136 h 75"/>
                <a:gd name="T6" fmla="*/ 180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3" name="Freeform 122"/>
            <p:cNvSpPr>
              <a:spLocks/>
            </p:cNvSpPr>
            <p:nvPr/>
          </p:nvSpPr>
          <p:spPr bwMode="auto">
            <a:xfrm>
              <a:off x="3663" y="2680"/>
              <a:ext cx="316" cy="279"/>
            </a:xfrm>
            <a:custGeom>
              <a:avLst/>
              <a:gdLst>
                <a:gd name="T0" fmla="*/ 0 w 86"/>
                <a:gd name="T1" fmla="*/ 279 h 76"/>
                <a:gd name="T2" fmla="*/ 180 w 86"/>
                <a:gd name="T3" fmla="*/ 279 h 76"/>
                <a:gd name="T4" fmla="*/ 316 w 86"/>
                <a:gd name="T5" fmla="*/ 140 h 76"/>
                <a:gd name="T6" fmla="*/ 180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4" name="Freeform 123"/>
            <p:cNvSpPr>
              <a:spLocks/>
            </p:cNvSpPr>
            <p:nvPr/>
          </p:nvSpPr>
          <p:spPr bwMode="auto">
            <a:xfrm>
              <a:off x="3663" y="2981"/>
              <a:ext cx="316" cy="276"/>
            </a:xfrm>
            <a:custGeom>
              <a:avLst/>
              <a:gdLst>
                <a:gd name="T0" fmla="*/ 0 w 86"/>
                <a:gd name="T1" fmla="*/ 276 h 75"/>
                <a:gd name="T2" fmla="*/ 180 w 86"/>
                <a:gd name="T3" fmla="*/ 276 h 75"/>
                <a:gd name="T4" fmla="*/ 316 w 86"/>
                <a:gd name="T5" fmla="*/ 136 h 75"/>
                <a:gd name="T6" fmla="*/ 180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5" name="Freeform 124"/>
            <p:cNvSpPr>
              <a:spLocks/>
            </p:cNvSpPr>
            <p:nvPr/>
          </p:nvSpPr>
          <p:spPr bwMode="auto">
            <a:xfrm>
              <a:off x="3663" y="3282"/>
              <a:ext cx="316" cy="276"/>
            </a:xfrm>
            <a:custGeom>
              <a:avLst/>
              <a:gdLst>
                <a:gd name="T0" fmla="*/ 0 w 86"/>
                <a:gd name="T1" fmla="*/ 276 h 75"/>
                <a:gd name="T2" fmla="*/ 180 w 86"/>
                <a:gd name="T3" fmla="*/ 276 h 75"/>
                <a:gd name="T4" fmla="*/ 316 w 86"/>
                <a:gd name="T5" fmla="*/ 136 h 75"/>
                <a:gd name="T6" fmla="*/ 180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6" name="Freeform 125"/>
            <p:cNvSpPr>
              <a:spLocks/>
            </p:cNvSpPr>
            <p:nvPr/>
          </p:nvSpPr>
          <p:spPr bwMode="auto">
            <a:xfrm>
              <a:off x="1557" y="1778"/>
              <a:ext cx="315" cy="279"/>
            </a:xfrm>
            <a:custGeom>
              <a:avLst/>
              <a:gdLst>
                <a:gd name="T0" fmla="*/ 0 w 86"/>
                <a:gd name="T1" fmla="*/ 279 h 76"/>
                <a:gd name="T2" fmla="*/ 179 w 86"/>
                <a:gd name="T3" fmla="*/ 279 h 76"/>
                <a:gd name="T4" fmla="*/ 315 w 86"/>
                <a:gd name="T5" fmla="*/ 140 h 76"/>
                <a:gd name="T6" fmla="*/ 179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7" name="Freeform 126"/>
            <p:cNvSpPr>
              <a:spLocks/>
            </p:cNvSpPr>
            <p:nvPr/>
          </p:nvSpPr>
          <p:spPr bwMode="auto">
            <a:xfrm>
              <a:off x="1557" y="2079"/>
              <a:ext cx="315" cy="275"/>
            </a:xfrm>
            <a:custGeom>
              <a:avLst/>
              <a:gdLst>
                <a:gd name="T0" fmla="*/ 0 w 86"/>
                <a:gd name="T1" fmla="*/ 275 h 75"/>
                <a:gd name="T2" fmla="*/ 179 w 86"/>
                <a:gd name="T3" fmla="*/ 275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8" name="Freeform 127"/>
            <p:cNvSpPr>
              <a:spLocks/>
            </p:cNvSpPr>
            <p:nvPr/>
          </p:nvSpPr>
          <p:spPr bwMode="auto">
            <a:xfrm>
              <a:off x="1557" y="2380"/>
              <a:ext cx="315" cy="275"/>
            </a:xfrm>
            <a:custGeom>
              <a:avLst/>
              <a:gdLst>
                <a:gd name="T0" fmla="*/ 0 w 86"/>
                <a:gd name="T1" fmla="*/ 275 h 75"/>
                <a:gd name="T2" fmla="*/ 179 w 86"/>
                <a:gd name="T3" fmla="*/ 275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39" name="Freeform 128"/>
            <p:cNvSpPr>
              <a:spLocks/>
            </p:cNvSpPr>
            <p:nvPr/>
          </p:nvSpPr>
          <p:spPr bwMode="auto">
            <a:xfrm>
              <a:off x="1557" y="2680"/>
              <a:ext cx="315" cy="279"/>
            </a:xfrm>
            <a:custGeom>
              <a:avLst/>
              <a:gdLst>
                <a:gd name="T0" fmla="*/ 0 w 86"/>
                <a:gd name="T1" fmla="*/ 279 h 76"/>
                <a:gd name="T2" fmla="*/ 179 w 86"/>
                <a:gd name="T3" fmla="*/ 279 h 76"/>
                <a:gd name="T4" fmla="*/ 315 w 86"/>
                <a:gd name="T5" fmla="*/ 140 h 76"/>
                <a:gd name="T6" fmla="*/ 179 w 86"/>
                <a:gd name="T7" fmla="*/ 0 h 76"/>
                <a:gd name="T8" fmla="*/ 0 w 86"/>
                <a:gd name="T9" fmla="*/ 0 h 76"/>
                <a:gd name="T10" fmla="*/ 0 w 86"/>
                <a:gd name="T11" fmla="*/ 279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6"/>
                <a:gd name="T20" fmla="*/ 86 w 86"/>
                <a:gd name="T21" fmla="*/ 76 h 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6">
                  <a:moveTo>
                    <a:pt x="0" y="76"/>
                  </a:moveTo>
                  <a:cubicBezTo>
                    <a:pt x="49" y="76"/>
                    <a:pt x="49" y="76"/>
                    <a:pt x="49" y="76"/>
                  </a:cubicBezTo>
                  <a:cubicBezTo>
                    <a:pt x="69" y="76"/>
                    <a:pt x="86" y="59"/>
                    <a:pt x="86" y="38"/>
                  </a:cubicBezTo>
                  <a:cubicBezTo>
                    <a:pt x="86" y="17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40" name="Freeform 129"/>
            <p:cNvSpPr>
              <a:spLocks/>
            </p:cNvSpPr>
            <p:nvPr/>
          </p:nvSpPr>
          <p:spPr bwMode="auto">
            <a:xfrm>
              <a:off x="1557" y="2981"/>
              <a:ext cx="315" cy="276"/>
            </a:xfrm>
            <a:custGeom>
              <a:avLst/>
              <a:gdLst>
                <a:gd name="T0" fmla="*/ 0 w 86"/>
                <a:gd name="T1" fmla="*/ 276 h 75"/>
                <a:gd name="T2" fmla="*/ 179 w 86"/>
                <a:gd name="T3" fmla="*/ 276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41" name="Freeform 130"/>
            <p:cNvSpPr>
              <a:spLocks/>
            </p:cNvSpPr>
            <p:nvPr/>
          </p:nvSpPr>
          <p:spPr bwMode="auto">
            <a:xfrm>
              <a:off x="1557" y="3282"/>
              <a:ext cx="315" cy="276"/>
            </a:xfrm>
            <a:custGeom>
              <a:avLst/>
              <a:gdLst>
                <a:gd name="T0" fmla="*/ 0 w 86"/>
                <a:gd name="T1" fmla="*/ 276 h 75"/>
                <a:gd name="T2" fmla="*/ 179 w 86"/>
                <a:gd name="T3" fmla="*/ 276 h 75"/>
                <a:gd name="T4" fmla="*/ 315 w 86"/>
                <a:gd name="T5" fmla="*/ 136 h 75"/>
                <a:gd name="T6" fmla="*/ 179 w 86"/>
                <a:gd name="T7" fmla="*/ 0 h 75"/>
                <a:gd name="T8" fmla="*/ 0 w 86"/>
                <a:gd name="T9" fmla="*/ 0 h 75"/>
                <a:gd name="T10" fmla="*/ 0 w 86"/>
                <a:gd name="T11" fmla="*/ 276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6"/>
                <a:gd name="T19" fmla="*/ 0 h 75"/>
                <a:gd name="T20" fmla="*/ 86 w 86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6" h="75">
                  <a:moveTo>
                    <a:pt x="0" y="75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69" y="75"/>
                    <a:pt x="86" y="58"/>
                    <a:pt x="86" y="37"/>
                  </a:cubicBezTo>
                  <a:cubicBezTo>
                    <a:pt x="86" y="16"/>
                    <a:pt x="6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47" name="Rectangle 136"/>
            <p:cNvSpPr>
              <a:spLocks noChangeArrowheads="1"/>
            </p:cNvSpPr>
            <p:nvPr/>
          </p:nvSpPr>
          <p:spPr bwMode="auto">
            <a:xfrm>
              <a:off x="4854" y="1913"/>
              <a:ext cx="166" cy="150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sz="1600"/>
            </a:p>
          </p:txBody>
        </p:sp>
        <p:sp>
          <p:nvSpPr>
            <p:cNvPr id="39050" name="Rectangle 139"/>
            <p:cNvSpPr>
              <a:spLocks noChangeArrowheads="1"/>
            </p:cNvSpPr>
            <p:nvPr/>
          </p:nvSpPr>
          <p:spPr bwMode="auto">
            <a:xfrm>
              <a:off x="4235" y="3431"/>
              <a:ext cx="14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600" err="1">
                  <a:solidFill>
                    <a:srgbClr val="000000"/>
                  </a:solidFill>
                  <a:latin typeface="Helvetica" panose="020B0604020202020204" pitchFamily="34" charset="0"/>
                </a:rPr>
                <a:t>clk</a:t>
              </a:r>
              <a:endParaRPr lang="en-US" sz="1600"/>
            </a:p>
          </p:txBody>
        </p:sp>
      </p:grpSp>
      <p:sp>
        <p:nvSpPr>
          <p:cNvPr id="38918" name="Text Box 141"/>
          <p:cNvSpPr txBox="1">
            <a:spLocks noChangeArrowheads="1"/>
          </p:cNvSpPr>
          <p:nvPr/>
        </p:nvSpPr>
        <p:spPr bwMode="auto">
          <a:xfrm>
            <a:off x="916824" y="1841276"/>
            <a:ext cx="1809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>
                <a:latin typeface="+mn-lt"/>
              </a:rPr>
              <a:t>Two-output PAL</a:t>
            </a:r>
          </a:p>
        </p:txBody>
      </p:sp>
      <p:sp>
        <p:nvSpPr>
          <p:cNvPr id="13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199FD8E3-E360-4970-AEB6-DE81D60750CD}" type="slidenum">
              <a:rPr lang="de-DE" smtClean="0"/>
              <a:t>29</a:t>
            </a:fld>
            <a:endParaRPr lang="de-DE"/>
          </a:p>
        </p:txBody>
      </p:sp>
      <p:sp>
        <p:nvSpPr>
          <p:cNvPr id="138" name="Line 73"/>
          <p:cNvSpPr>
            <a:spLocks noChangeShapeType="1"/>
          </p:cNvSpPr>
          <p:nvPr/>
        </p:nvSpPr>
        <p:spPr bwMode="auto">
          <a:xfrm>
            <a:off x="4265684" y="3060000"/>
            <a:ext cx="1718" cy="291592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140" name="Line 73"/>
          <p:cNvSpPr>
            <a:spLocks noChangeShapeType="1"/>
          </p:cNvSpPr>
          <p:nvPr/>
        </p:nvSpPr>
        <p:spPr bwMode="auto">
          <a:xfrm>
            <a:off x="648000" y="3060000"/>
            <a:ext cx="1718" cy="291592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68" name="Rectangle 71"/>
          <p:cNvSpPr>
            <a:spLocks noChangeArrowheads="1"/>
          </p:cNvSpPr>
          <p:nvPr/>
        </p:nvSpPr>
        <p:spPr bwMode="auto">
          <a:xfrm>
            <a:off x="972000" y="3581299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69" name="Rectangle 71"/>
          <p:cNvSpPr>
            <a:spLocks noChangeArrowheads="1"/>
          </p:cNvSpPr>
          <p:nvPr/>
        </p:nvSpPr>
        <p:spPr bwMode="auto">
          <a:xfrm>
            <a:off x="1116000" y="4068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270" name="Line 42"/>
          <p:cNvSpPr>
            <a:spLocks noChangeShapeType="1"/>
          </p:cNvSpPr>
          <p:nvPr/>
        </p:nvSpPr>
        <p:spPr bwMode="auto">
          <a:xfrm flipH="1">
            <a:off x="1750071" y="2651163"/>
            <a:ext cx="183158" cy="377657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71" name="Freeform 43"/>
          <p:cNvSpPr>
            <a:spLocks/>
          </p:cNvSpPr>
          <p:nvPr/>
        </p:nvSpPr>
        <p:spPr bwMode="auto">
          <a:xfrm>
            <a:off x="1678319" y="2981613"/>
            <a:ext cx="124623" cy="190716"/>
          </a:xfrm>
          <a:custGeom>
            <a:avLst/>
            <a:gdLst>
              <a:gd name="T0" fmla="*/ 0 w 66"/>
              <a:gd name="T1" fmla="*/ 160337 h 101"/>
              <a:gd name="T2" fmla="*/ 104775 w 66"/>
              <a:gd name="T3" fmla="*/ 34925 h 101"/>
              <a:gd name="T4" fmla="*/ 34925 w 66"/>
              <a:gd name="T5" fmla="*/ 0 h 101"/>
              <a:gd name="T6" fmla="*/ 0 w 66"/>
              <a:gd name="T7" fmla="*/ 160337 h 101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101"/>
              <a:gd name="T14" fmla="*/ 66 w 66"/>
              <a:gd name="T15" fmla="*/ 101 h 1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101">
                <a:moveTo>
                  <a:pt x="0" y="101"/>
                </a:moveTo>
                <a:lnTo>
                  <a:pt x="66" y="22"/>
                </a:lnTo>
                <a:lnTo>
                  <a:pt x="22" y="0"/>
                </a:lnTo>
                <a:lnTo>
                  <a:pt x="0" y="10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272" name="Rectangle 82"/>
          <p:cNvSpPr>
            <a:spLocks noChangeArrowheads="1"/>
          </p:cNvSpPr>
          <p:nvPr/>
        </p:nvSpPr>
        <p:spPr bwMode="auto">
          <a:xfrm>
            <a:off x="1952112" y="2421285"/>
            <a:ext cx="970203" cy="24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600" i="1">
                <a:solidFill>
                  <a:srgbClr val="000000"/>
                </a:solidFill>
                <a:latin typeface="Helvetica" panose="020B0604020202020204" pitchFamily="34" charset="0"/>
              </a:rPr>
              <a:t>wired AND</a:t>
            </a:r>
            <a:endParaRPr lang="en-US" sz="1600"/>
          </a:p>
        </p:txBody>
      </p:sp>
      <p:sp>
        <p:nvSpPr>
          <p:cNvPr id="147" name="Freeform 224"/>
          <p:cNvSpPr>
            <a:spLocks noChangeAspect="1"/>
          </p:cNvSpPr>
          <p:nvPr/>
        </p:nvSpPr>
        <p:spPr bwMode="auto">
          <a:xfrm>
            <a:off x="7081707" y="4140000"/>
            <a:ext cx="108000" cy="86399"/>
          </a:xfrm>
          <a:custGeom>
            <a:avLst/>
            <a:gdLst>
              <a:gd name="T0" fmla="*/ 0 w 149"/>
              <a:gd name="T1" fmla="*/ 119 h 119"/>
              <a:gd name="T2" fmla="*/ 149 w 149"/>
              <a:gd name="T3" fmla="*/ 59 h 119"/>
              <a:gd name="T4" fmla="*/ 0 w 149"/>
              <a:gd name="T5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" h="119">
                <a:moveTo>
                  <a:pt x="0" y="119"/>
                </a:moveTo>
                <a:lnTo>
                  <a:pt x="149" y="59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9" name="Rectangle 229"/>
          <p:cNvSpPr>
            <a:spLocks noChangeArrowheads="1"/>
          </p:cNvSpPr>
          <p:nvPr/>
        </p:nvSpPr>
        <p:spPr bwMode="auto">
          <a:xfrm>
            <a:off x="7103832" y="3885897"/>
            <a:ext cx="2095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cs typeface="Arial" pitchFamily="34" charset="0"/>
              </a:rPr>
              <a:t>D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4" name="Rectangle 234"/>
          <p:cNvSpPr>
            <a:spLocks noChangeArrowheads="1"/>
          </p:cNvSpPr>
          <p:nvPr/>
        </p:nvSpPr>
        <p:spPr bwMode="auto">
          <a:xfrm>
            <a:off x="7069681" y="3780000"/>
            <a:ext cx="396000" cy="578673"/>
          </a:xfrm>
          <a:prstGeom prst="rect">
            <a:avLst/>
          </a:prstGeom>
          <a:noFill/>
          <a:ln w="17526">
            <a:solidFill>
              <a:srgbClr val="0078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7" name="Rectangle 335"/>
          <p:cNvSpPr>
            <a:spLocks noChangeArrowheads="1"/>
          </p:cNvSpPr>
          <p:nvPr/>
        </p:nvSpPr>
        <p:spPr bwMode="auto">
          <a:xfrm>
            <a:off x="7313382" y="3885897"/>
            <a:ext cx="2095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cs typeface="Arial" pitchFamily="34" charset="0"/>
              </a:rPr>
              <a:t>Q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9" name="Line 470"/>
          <p:cNvSpPr>
            <a:spLocks noChangeShapeType="1"/>
          </p:cNvSpPr>
          <p:nvPr/>
        </p:nvSpPr>
        <p:spPr bwMode="auto">
          <a:xfrm flipH="1">
            <a:off x="8296372" y="3870000"/>
            <a:ext cx="540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0" name="Line 470"/>
          <p:cNvSpPr>
            <a:spLocks noChangeShapeType="1"/>
          </p:cNvSpPr>
          <p:nvPr/>
        </p:nvSpPr>
        <p:spPr bwMode="auto">
          <a:xfrm flipH="1">
            <a:off x="6789980" y="3733598"/>
            <a:ext cx="828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1" name="Line 470"/>
          <p:cNvSpPr>
            <a:spLocks noChangeShapeType="1"/>
          </p:cNvSpPr>
          <p:nvPr/>
        </p:nvSpPr>
        <p:spPr bwMode="auto">
          <a:xfrm flipH="1">
            <a:off x="7473980" y="3996000"/>
            <a:ext cx="144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2" name="Freeform 235"/>
          <p:cNvSpPr>
            <a:spLocks noChangeAspect="1"/>
          </p:cNvSpPr>
          <p:nvPr/>
        </p:nvSpPr>
        <p:spPr bwMode="auto">
          <a:xfrm>
            <a:off x="7617979" y="3581299"/>
            <a:ext cx="216000" cy="565984"/>
          </a:xfrm>
          <a:custGeom>
            <a:avLst/>
            <a:gdLst>
              <a:gd name="T0" fmla="*/ 237 w 237"/>
              <a:gd name="T1" fmla="*/ 503 h 621"/>
              <a:gd name="T2" fmla="*/ 237 w 237"/>
              <a:gd name="T3" fmla="*/ 118 h 621"/>
              <a:gd name="T4" fmla="*/ 0 w 237"/>
              <a:gd name="T5" fmla="*/ 0 h 621"/>
              <a:gd name="T6" fmla="*/ 0 w 237"/>
              <a:gd name="T7" fmla="*/ 621 h 621"/>
              <a:gd name="T8" fmla="*/ 237 w 237"/>
              <a:gd name="T9" fmla="*/ 503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7" h="621">
                <a:moveTo>
                  <a:pt x="237" y="503"/>
                </a:moveTo>
                <a:lnTo>
                  <a:pt x="237" y="118"/>
                </a:lnTo>
                <a:lnTo>
                  <a:pt x="0" y="0"/>
                </a:lnTo>
                <a:lnTo>
                  <a:pt x="0" y="621"/>
                </a:lnTo>
                <a:lnTo>
                  <a:pt x="237" y="503"/>
                </a:lnTo>
                <a:close/>
              </a:path>
            </a:pathLst>
          </a:custGeom>
          <a:noFill/>
          <a:ln w="17526">
            <a:solidFill>
              <a:srgbClr val="0078C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3" name="Line 231"/>
          <p:cNvSpPr>
            <a:spLocks noChangeShapeType="1"/>
          </p:cNvSpPr>
          <p:nvPr/>
        </p:nvSpPr>
        <p:spPr bwMode="auto">
          <a:xfrm>
            <a:off x="7776000" y="3492000"/>
            <a:ext cx="0" cy="18000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4" name="Line 233"/>
          <p:cNvSpPr>
            <a:spLocks noChangeShapeType="1"/>
          </p:cNvSpPr>
          <p:nvPr/>
        </p:nvSpPr>
        <p:spPr bwMode="auto">
          <a:xfrm>
            <a:off x="8186835" y="3672000"/>
            <a:ext cx="0" cy="141288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5" name="Freeform 236"/>
          <p:cNvSpPr>
            <a:spLocks noChangeAspect="1"/>
          </p:cNvSpPr>
          <p:nvPr/>
        </p:nvSpPr>
        <p:spPr bwMode="auto">
          <a:xfrm>
            <a:off x="8044372" y="3733598"/>
            <a:ext cx="252000" cy="252000"/>
          </a:xfrm>
          <a:custGeom>
            <a:avLst/>
            <a:gdLst>
              <a:gd name="T0" fmla="*/ 385 w 385"/>
              <a:gd name="T1" fmla="*/ 207 h 385"/>
              <a:gd name="T2" fmla="*/ 0 w 385"/>
              <a:gd name="T3" fmla="*/ 385 h 385"/>
              <a:gd name="T4" fmla="*/ 0 w 385"/>
              <a:gd name="T5" fmla="*/ 0 h 385"/>
              <a:gd name="T6" fmla="*/ 385 w 385"/>
              <a:gd name="T7" fmla="*/ 207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5" h="385">
                <a:moveTo>
                  <a:pt x="385" y="207"/>
                </a:moveTo>
                <a:lnTo>
                  <a:pt x="0" y="385"/>
                </a:lnTo>
                <a:lnTo>
                  <a:pt x="0" y="0"/>
                </a:lnTo>
                <a:lnTo>
                  <a:pt x="385" y="207"/>
                </a:lnTo>
                <a:close/>
              </a:path>
            </a:pathLst>
          </a:custGeom>
          <a:noFill/>
          <a:ln w="17526">
            <a:solidFill>
              <a:srgbClr val="0078C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6" name="Line 232"/>
          <p:cNvSpPr>
            <a:spLocks noChangeShapeType="1"/>
          </p:cNvSpPr>
          <p:nvPr/>
        </p:nvSpPr>
        <p:spPr bwMode="auto">
          <a:xfrm flipH="1">
            <a:off x="7830000" y="3852000"/>
            <a:ext cx="216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9" name="Freeform 224"/>
          <p:cNvSpPr>
            <a:spLocks noChangeAspect="1"/>
          </p:cNvSpPr>
          <p:nvPr/>
        </p:nvSpPr>
        <p:spPr bwMode="auto">
          <a:xfrm>
            <a:off x="7092000" y="5647111"/>
            <a:ext cx="108000" cy="86399"/>
          </a:xfrm>
          <a:custGeom>
            <a:avLst/>
            <a:gdLst>
              <a:gd name="T0" fmla="*/ 0 w 149"/>
              <a:gd name="T1" fmla="*/ 119 h 119"/>
              <a:gd name="T2" fmla="*/ 149 w 149"/>
              <a:gd name="T3" fmla="*/ 59 h 119"/>
              <a:gd name="T4" fmla="*/ 0 w 149"/>
              <a:gd name="T5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" h="119">
                <a:moveTo>
                  <a:pt x="0" y="119"/>
                </a:moveTo>
                <a:lnTo>
                  <a:pt x="149" y="59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0" name="Rectangle 229"/>
          <p:cNvSpPr>
            <a:spLocks noChangeArrowheads="1"/>
          </p:cNvSpPr>
          <p:nvPr/>
        </p:nvSpPr>
        <p:spPr bwMode="auto">
          <a:xfrm>
            <a:off x="7128000" y="5393008"/>
            <a:ext cx="2095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cs typeface="Arial" pitchFamily="34" charset="0"/>
              </a:rPr>
              <a:t>D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1" name="Rectangle 234"/>
          <p:cNvSpPr>
            <a:spLocks noChangeArrowheads="1"/>
          </p:cNvSpPr>
          <p:nvPr/>
        </p:nvSpPr>
        <p:spPr bwMode="auto">
          <a:xfrm>
            <a:off x="7092000" y="5287111"/>
            <a:ext cx="396000" cy="578673"/>
          </a:xfrm>
          <a:prstGeom prst="rect">
            <a:avLst/>
          </a:prstGeom>
          <a:noFill/>
          <a:ln w="17526">
            <a:solidFill>
              <a:srgbClr val="0078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2" name="Rectangle 335"/>
          <p:cNvSpPr>
            <a:spLocks noChangeArrowheads="1"/>
          </p:cNvSpPr>
          <p:nvPr/>
        </p:nvSpPr>
        <p:spPr bwMode="auto">
          <a:xfrm>
            <a:off x="7344000" y="5393008"/>
            <a:ext cx="2095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-Roman" charset="0"/>
                <a:cs typeface="Arial" pitchFamily="34" charset="0"/>
              </a:rPr>
              <a:t>Q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3" name="Line 470"/>
          <p:cNvSpPr>
            <a:spLocks noChangeShapeType="1"/>
          </p:cNvSpPr>
          <p:nvPr/>
        </p:nvSpPr>
        <p:spPr bwMode="auto">
          <a:xfrm flipH="1">
            <a:off x="8244000" y="5382000"/>
            <a:ext cx="540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4" name="Line 470"/>
          <p:cNvSpPr>
            <a:spLocks noChangeShapeType="1"/>
          </p:cNvSpPr>
          <p:nvPr/>
        </p:nvSpPr>
        <p:spPr bwMode="auto">
          <a:xfrm flipH="1">
            <a:off x="7488000" y="5503111"/>
            <a:ext cx="144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5" name="Freeform 235"/>
          <p:cNvSpPr>
            <a:spLocks noChangeAspect="1"/>
          </p:cNvSpPr>
          <p:nvPr/>
        </p:nvSpPr>
        <p:spPr bwMode="auto">
          <a:xfrm>
            <a:off x="7632000" y="5088410"/>
            <a:ext cx="216000" cy="565984"/>
          </a:xfrm>
          <a:custGeom>
            <a:avLst/>
            <a:gdLst>
              <a:gd name="T0" fmla="*/ 237 w 237"/>
              <a:gd name="T1" fmla="*/ 503 h 621"/>
              <a:gd name="T2" fmla="*/ 237 w 237"/>
              <a:gd name="T3" fmla="*/ 118 h 621"/>
              <a:gd name="T4" fmla="*/ 0 w 237"/>
              <a:gd name="T5" fmla="*/ 0 h 621"/>
              <a:gd name="T6" fmla="*/ 0 w 237"/>
              <a:gd name="T7" fmla="*/ 621 h 621"/>
              <a:gd name="T8" fmla="*/ 237 w 237"/>
              <a:gd name="T9" fmla="*/ 503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7" h="621">
                <a:moveTo>
                  <a:pt x="237" y="503"/>
                </a:moveTo>
                <a:lnTo>
                  <a:pt x="237" y="118"/>
                </a:lnTo>
                <a:lnTo>
                  <a:pt x="0" y="0"/>
                </a:lnTo>
                <a:lnTo>
                  <a:pt x="0" y="621"/>
                </a:lnTo>
                <a:lnTo>
                  <a:pt x="237" y="503"/>
                </a:lnTo>
                <a:close/>
              </a:path>
            </a:pathLst>
          </a:custGeom>
          <a:noFill/>
          <a:ln w="17526">
            <a:solidFill>
              <a:srgbClr val="0078C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6" name="Line 231"/>
          <p:cNvSpPr>
            <a:spLocks noChangeShapeType="1"/>
          </p:cNvSpPr>
          <p:nvPr/>
        </p:nvSpPr>
        <p:spPr bwMode="auto">
          <a:xfrm>
            <a:off x="7770279" y="5004000"/>
            <a:ext cx="0" cy="14400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7" name="Line 233"/>
          <p:cNvSpPr>
            <a:spLocks noChangeShapeType="1"/>
          </p:cNvSpPr>
          <p:nvPr/>
        </p:nvSpPr>
        <p:spPr bwMode="auto">
          <a:xfrm>
            <a:off x="8136000" y="5202000"/>
            <a:ext cx="0" cy="11520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8" name="Freeform 236"/>
          <p:cNvSpPr>
            <a:spLocks noChangeAspect="1"/>
          </p:cNvSpPr>
          <p:nvPr/>
        </p:nvSpPr>
        <p:spPr bwMode="auto">
          <a:xfrm>
            <a:off x="7992000" y="5240709"/>
            <a:ext cx="252000" cy="252000"/>
          </a:xfrm>
          <a:custGeom>
            <a:avLst/>
            <a:gdLst>
              <a:gd name="T0" fmla="*/ 385 w 385"/>
              <a:gd name="T1" fmla="*/ 207 h 385"/>
              <a:gd name="T2" fmla="*/ 0 w 385"/>
              <a:gd name="T3" fmla="*/ 385 h 385"/>
              <a:gd name="T4" fmla="*/ 0 w 385"/>
              <a:gd name="T5" fmla="*/ 0 h 385"/>
              <a:gd name="T6" fmla="*/ 385 w 385"/>
              <a:gd name="T7" fmla="*/ 207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5" h="385">
                <a:moveTo>
                  <a:pt x="385" y="207"/>
                </a:moveTo>
                <a:lnTo>
                  <a:pt x="0" y="385"/>
                </a:lnTo>
                <a:lnTo>
                  <a:pt x="0" y="0"/>
                </a:lnTo>
                <a:lnTo>
                  <a:pt x="385" y="207"/>
                </a:lnTo>
                <a:close/>
              </a:path>
            </a:pathLst>
          </a:custGeom>
          <a:noFill/>
          <a:ln w="17526">
            <a:solidFill>
              <a:srgbClr val="0078C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9" name="Line 232"/>
          <p:cNvSpPr>
            <a:spLocks noChangeShapeType="1"/>
          </p:cNvSpPr>
          <p:nvPr/>
        </p:nvSpPr>
        <p:spPr bwMode="auto">
          <a:xfrm flipH="1">
            <a:off x="7848000" y="5359111"/>
            <a:ext cx="14400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6" name="Line 10"/>
          <p:cNvSpPr>
            <a:spLocks noChangeShapeType="1"/>
          </p:cNvSpPr>
          <p:nvPr/>
        </p:nvSpPr>
        <p:spPr bwMode="auto">
          <a:xfrm rot="4549165">
            <a:off x="7988608" y="3016722"/>
            <a:ext cx="225137" cy="56887"/>
          </a:xfrm>
          <a:prstGeom prst="line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307" name="Freeform 11"/>
          <p:cNvSpPr>
            <a:spLocks/>
          </p:cNvSpPr>
          <p:nvPr/>
        </p:nvSpPr>
        <p:spPr bwMode="auto">
          <a:xfrm rot="4164950">
            <a:off x="8019305" y="3186211"/>
            <a:ext cx="207871" cy="109472"/>
          </a:xfrm>
          <a:custGeom>
            <a:avLst/>
            <a:gdLst>
              <a:gd name="T0" fmla="*/ 121 w 121"/>
              <a:gd name="T1" fmla="*/ 66 h 66"/>
              <a:gd name="T2" fmla="*/ 19 w 121"/>
              <a:gd name="T3" fmla="*/ 0 h 66"/>
              <a:gd name="T4" fmla="*/ 0 w 121"/>
              <a:gd name="T5" fmla="*/ 55 h 66"/>
              <a:gd name="T6" fmla="*/ 121 w 121"/>
              <a:gd name="T7" fmla="*/ 66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21"/>
              <a:gd name="T13" fmla="*/ 0 h 66"/>
              <a:gd name="T14" fmla="*/ 121 w 12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" h="66">
                <a:moveTo>
                  <a:pt x="121" y="66"/>
                </a:moveTo>
                <a:lnTo>
                  <a:pt x="19" y="0"/>
                </a:lnTo>
                <a:lnTo>
                  <a:pt x="0" y="55"/>
                </a:lnTo>
                <a:lnTo>
                  <a:pt x="121" y="6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310" name="Rectangle 71"/>
          <p:cNvSpPr>
            <a:spLocks noChangeArrowheads="1"/>
          </p:cNvSpPr>
          <p:nvPr/>
        </p:nvSpPr>
        <p:spPr bwMode="auto">
          <a:xfrm>
            <a:off x="1332000" y="3600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311" name="Rectangle 71"/>
          <p:cNvSpPr>
            <a:spLocks noChangeArrowheads="1"/>
          </p:cNvSpPr>
          <p:nvPr/>
        </p:nvSpPr>
        <p:spPr bwMode="auto">
          <a:xfrm>
            <a:off x="1332000" y="4572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312" name="Rectangle 71"/>
          <p:cNvSpPr>
            <a:spLocks noChangeArrowheads="1"/>
          </p:cNvSpPr>
          <p:nvPr/>
        </p:nvSpPr>
        <p:spPr bwMode="auto">
          <a:xfrm>
            <a:off x="576000" y="4086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313" name="Rectangle 71"/>
          <p:cNvSpPr>
            <a:spLocks noChangeArrowheads="1"/>
          </p:cNvSpPr>
          <p:nvPr/>
        </p:nvSpPr>
        <p:spPr bwMode="auto">
          <a:xfrm>
            <a:off x="1116000" y="457200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314" name="Text Box 143"/>
          <p:cNvSpPr txBox="1">
            <a:spLocks noChangeArrowheads="1"/>
          </p:cNvSpPr>
          <p:nvPr/>
        </p:nvSpPr>
        <p:spPr bwMode="auto">
          <a:xfrm>
            <a:off x="7964299" y="3420000"/>
            <a:ext cx="415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200">
                <a:solidFill>
                  <a:srgbClr val="FF0000"/>
                </a:solidFill>
                <a:latin typeface="Myriad Roman" charset="0"/>
              </a:rPr>
              <a:t>0/1</a:t>
            </a:r>
            <a:endParaRPr lang="en-US" sz="120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15" name="Rectangle 136"/>
          <p:cNvSpPr>
            <a:spLocks noChangeArrowheads="1"/>
          </p:cNvSpPr>
          <p:nvPr/>
        </p:nvSpPr>
        <p:spPr bwMode="auto">
          <a:xfrm>
            <a:off x="8011193" y="3429000"/>
            <a:ext cx="285179" cy="248799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316" name="Text Box 143"/>
          <p:cNvSpPr txBox="1">
            <a:spLocks noChangeArrowheads="1"/>
          </p:cNvSpPr>
          <p:nvPr/>
        </p:nvSpPr>
        <p:spPr bwMode="auto">
          <a:xfrm>
            <a:off x="7560000" y="4752000"/>
            <a:ext cx="415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200">
                <a:solidFill>
                  <a:srgbClr val="FF0000"/>
                </a:solidFill>
                <a:latin typeface="Myriad Roman" charset="0"/>
              </a:rPr>
              <a:t>0/1</a:t>
            </a:r>
            <a:endParaRPr lang="en-US" sz="120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17" name="Rectangle 136"/>
          <p:cNvSpPr>
            <a:spLocks noChangeArrowheads="1"/>
          </p:cNvSpPr>
          <p:nvPr/>
        </p:nvSpPr>
        <p:spPr bwMode="auto">
          <a:xfrm>
            <a:off x="7632000" y="4752000"/>
            <a:ext cx="285179" cy="248799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318" name="Text Box 143"/>
          <p:cNvSpPr txBox="1">
            <a:spLocks noChangeArrowheads="1"/>
          </p:cNvSpPr>
          <p:nvPr/>
        </p:nvSpPr>
        <p:spPr bwMode="auto">
          <a:xfrm>
            <a:off x="7922578" y="4951990"/>
            <a:ext cx="415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1200">
                <a:solidFill>
                  <a:srgbClr val="FF0000"/>
                </a:solidFill>
                <a:latin typeface="Myriad Roman" charset="0"/>
              </a:rPr>
              <a:t>0/1</a:t>
            </a:r>
            <a:endParaRPr lang="en-US" sz="120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19" name="Rectangle 136"/>
          <p:cNvSpPr>
            <a:spLocks noChangeArrowheads="1"/>
          </p:cNvSpPr>
          <p:nvPr/>
        </p:nvSpPr>
        <p:spPr bwMode="auto">
          <a:xfrm>
            <a:off x="7994578" y="4951990"/>
            <a:ext cx="285179" cy="248799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600"/>
          </a:p>
        </p:txBody>
      </p:sp>
      <p:sp>
        <p:nvSpPr>
          <p:cNvPr id="158" name="Rectangle 71"/>
          <p:cNvSpPr>
            <a:spLocks noChangeArrowheads="1"/>
          </p:cNvSpPr>
          <p:nvPr/>
        </p:nvSpPr>
        <p:spPr bwMode="auto">
          <a:xfrm>
            <a:off x="4187195" y="4083854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167" name="Rectangle 71"/>
          <p:cNvSpPr>
            <a:spLocks noChangeArrowheads="1"/>
          </p:cNvSpPr>
          <p:nvPr/>
        </p:nvSpPr>
        <p:spPr bwMode="auto">
          <a:xfrm>
            <a:off x="4571537" y="3591232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168" name="Rectangle 71"/>
          <p:cNvSpPr>
            <a:spLocks noChangeArrowheads="1"/>
          </p:cNvSpPr>
          <p:nvPr/>
        </p:nvSpPr>
        <p:spPr bwMode="auto">
          <a:xfrm>
            <a:off x="4962657" y="3584597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169" name="Rectangle 71"/>
          <p:cNvSpPr>
            <a:spLocks noChangeArrowheads="1"/>
          </p:cNvSpPr>
          <p:nvPr/>
        </p:nvSpPr>
        <p:spPr bwMode="auto">
          <a:xfrm>
            <a:off x="4724052" y="4079160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170" name="Rectangle 71"/>
          <p:cNvSpPr>
            <a:spLocks noChangeArrowheads="1"/>
          </p:cNvSpPr>
          <p:nvPr/>
        </p:nvSpPr>
        <p:spPr bwMode="auto">
          <a:xfrm>
            <a:off x="4727518" y="4583113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171" name="Rectangle 71"/>
          <p:cNvSpPr>
            <a:spLocks noChangeArrowheads="1"/>
          </p:cNvSpPr>
          <p:nvPr/>
        </p:nvSpPr>
        <p:spPr bwMode="auto">
          <a:xfrm>
            <a:off x="4960783" y="4582722"/>
            <a:ext cx="149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13013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12"/>
    </mc:Choice>
    <mc:Fallback xmlns="">
      <p:transition spd="slow" advTm="31812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2. Programmable Logic Devices (PLDs)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30</a:t>
            </a:fld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3505907" y="1753711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Digital 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061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PLDs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9958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ASIC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0558" y="3733598"/>
            <a:ext cx="858506" cy="60919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23" y="3733598"/>
            <a:ext cx="913794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SPLD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3606" y="3733598"/>
            <a:ext cx="91379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FPGA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1083" y="4038196"/>
            <a:ext cx="1522990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Full-Custom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1196" y="4038196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Semi-Custom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402" y="5256588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Standard Cell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4186" y="5256313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Gate Array 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084932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512816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6150277" y="3429000"/>
            <a:ext cx="1620002" cy="608921"/>
            <a:chOff x="6150277" y="3429000"/>
            <a:chExt cx="1620002" cy="608921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>
              <a:off x="6960278" y="2923699"/>
              <a:ext cx="1" cy="162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77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144929" y="4646842"/>
            <a:ext cx="2268001" cy="608921"/>
            <a:chOff x="6150277" y="3429000"/>
            <a:chExt cx="2268001" cy="608921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7284276" y="2588910"/>
              <a:ext cx="1" cy="2268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8418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4135964" y="2362907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514502" y="2520686"/>
            <a:ext cx="4572117" cy="558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2460673" y="3429275"/>
            <a:ext cx="1" cy="306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2514502" y="2285300"/>
            <a:ext cx="1" cy="2592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810502" y="3589598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221419" y="3581299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526020" y="4647392"/>
            <a:ext cx="761497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PAL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07627" y="4647392"/>
            <a:ext cx="761495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275440" y="4343069"/>
            <a:ext cx="1" cy="18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1233927" y="3721094"/>
            <a:ext cx="1" cy="15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2010558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9926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329" y="2664685"/>
            <a:ext cx="4188223" cy="27442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03"/>
    </mc:Choice>
    <mc:Fallback xmlns="">
      <p:transition spd="slow" advTm="730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2.5. </a:t>
            </a:r>
            <a:r>
              <a:rPr lang="en-US"/>
              <a:t>Complex PLDs 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628" y="1906588"/>
            <a:ext cx="4416671" cy="3173497"/>
          </a:xfrm>
        </p:spPr>
        <p:txBody>
          <a:bodyPr/>
          <a:lstStyle/>
          <a:p>
            <a:r>
              <a:rPr lang="en-US" b="1" dirty="0"/>
              <a:t>Complex Programmable Logic Device (CPLD)</a:t>
            </a:r>
          </a:p>
          <a:p>
            <a:pPr lvl="1" eaLnBrk="1" hangingPunct="1">
              <a:defRPr/>
            </a:pPr>
            <a:r>
              <a:rPr lang="en-US" dirty="0"/>
              <a:t>Combines several PAL-type SPLDs into a single package</a:t>
            </a:r>
          </a:p>
          <a:p>
            <a:pPr lvl="1" eaLnBrk="1" hangingPunct="1">
              <a:defRPr/>
            </a:pPr>
            <a:r>
              <a:rPr lang="en-US" dirty="0"/>
              <a:t>Non-volatile – memory is not lost when power is removed</a:t>
            </a:r>
          </a:p>
          <a:p>
            <a:pPr lvl="1" eaLnBrk="1" hangingPunct="1">
              <a:defRPr/>
            </a:pPr>
            <a:r>
              <a:rPr lang="en-US" dirty="0"/>
              <a:t>Can be repeatedly programmed to implement different functions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31</a:t>
            </a:fld>
            <a:endParaRPr lang="de-DE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4876598" y="2667505"/>
            <a:ext cx="4068753" cy="3197856"/>
            <a:chOff x="1535113" y="1296814"/>
            <a:chExt cx="6148387" cy="483235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543175" y="1296814"/>
              <a:ext cx="1755775" cy="1447800"/>
            </a:xfrm>
            <a:prstGeom prst="rect">
              <a:avLst/>
            </a:prstGeom>
            <a:noFill/>
            <a:ln w="23876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987675" y="1761952"/>
              <a:ext cx="999783" cy="32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PAL-like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535113" y="1296814"/>
              <a:ext cx="361950" cy="1447800"/>
            </a:xfrm>
            <a:prstGeom prst="rect">
              <a:avLst/>
            </a:prstGeom>
            <a:solidFill>
              <a:srgbClr val="DDDDDD"/>
            </a:solidFill>
            <a:ln w="23876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160712" y="2046114"/>
              <a:ext cx="746854" cy="371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block</a:t>
              </a:r>
              <a:r>
                <a:rPr lang="en-US" altLang="en-US" sz="170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70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2206625" y="1917526"/>
              <a:ext cx="52388" cy="50800"/>
            </a:xfrm>
            <a:custGeom>
              <a:avLst/>
              <a:gdLst>
                <a:gd name="T0" fmla="*/ 31 w 65"/>
                <a:gd name="T1" fmla="*/ 2 h 65"/>
                <a:gd name="T2" fmla="*/ 26 w 65"/>
                <a:gd name="T3" fmla="*/ 2 h 65"/>
                <a:gd name="T4" fmla="*/ 23 w 65"/>
                <a:gd name="T5" fmla="*/ 3 h 65"/>
                <a:gd name="T6" fmla="*/ 18 w 65"/>
                <a:gd name="T7" fmla="*/ 5 h 65"/>
                <a:gd name="T8" fmla="*/ 14 w 65"/>
                <a:gd name="T9" fmla="*/ 6 h 65"/>
                <a:gd name="T10" fmla="*/ 10 w 65"/>
                <a:gd name="T11" fmla="*/ 10 h 65"/>
                <a:gd name="T12" fmla="*/ 6 w 65"/>
                <a:gd name="T13" fmla="*/ 15 h 65"/>
                <a:gd name="T14" fmla="*/ 5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5 w 65"/>
                <a:gd name="T29" fmla="*/ 49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0 h 65"/>
                <a:gd name="T36" fmla="*/ 18 w 65"/>
                <a:gd name="T37" fmla="*/ 62 h 65"/>
                <a:gd name="T38" fmla="*/ 23 w 65"/>
                <a:gd name="T39" fmla="*/ 63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3 h 65"/>
                <a:gd name="T50" fmla="*/ 49 w 65"/>
                <a:gd name="T51" fmla="*/ 62 h 65"/>
                <a:gd name="T52" fmla="*/ 52 w 65"/>
                <a:gd name="T53" fmla="*/ 60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2 w 65"/>
                <a:gd name="T73" fmla="*/ 18 h 65"/>
                <a:gd name="T74" fmla="*/ 60 w 65"/>
                <a:gd name="T75" fmla="*/ 15 h 65"/>
                <a:gd name="T76" fmla="*/ 57 w 65"/>
                <a:gd name="T77" fmla="*/ 10 h 65"/>
                <a:gd name="T78" fmla="*/ 52 w 65"/>
                <a:gd name="T79" fmla="*/ 6 h 65"/>
                <a:gd name="T80" fmla="*/ 49 w 65"/>
                <a:gd name="T81" fmla="*/ 5 h 65"/>
                <a:gd name="T82" fmla="*/ 44 w 65"/>
                <a:gd name="T83" fmla="*/ 3 h 65"/>
                <a:gd name="T84" fmla="*/ 40 w 65"/>
                <a:gd name="T85" fmla="*/ 2 h 65"/>
                <a:gd name="T86" fmla="*/ 36 w 65"/>
                <a:gd name="T87" fmla="*/ 2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2198688" y="1934989"/>
              <a:ext cx="38100" cy="38100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2 h 49"/>
                <a:gd name="T4" fmla="*/ 15 w 49"/>
                <a:gd name="T5" fmla="*/ 2 h 49"/>
                <a:gd name="T6" fmla="*/ 12 w 49"/>
                <a:gd name="T7" fmla="*/ 3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1 h 49"/>
                <a:gd name="T14" fmla="*/ 4 w 49"/>
                <a:gd name="T15" fmla="*/ 13 h 49"/>
                <a:gd name="T16" fmla="*/ 2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2 w 49"/>
                <a:gd name="T35" fmla="*/ 44 h 49"/>
                <a:gd name="T36" fmla="*/ 13 w 49"/>
                <a:gd name="T37" fmla="*/ 46 h 49"/>
                <a:gd name="T38" fmla="*/ 17 w 49"/>
                <a:gd name="T39" fmla="*/ 47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5 w 49"/>
                <a:gd name="T49" fmla="*/ 47 h 49"/>
                <a:gd name="T50" fmla="*/ 38 w 49"/>
                <a:gd name="T51" fmla="*/ 46 h 49"/>
                <a:gd name="T52" fmla="*/ 39 w 49"/>
                <a:gd name="T53" fmla="*/ 42 h 49"/>
                <a:gd name="T54" fmla="*/ 43 w 49"/>
                <a:gd name="T55" fmla="*/ 41 h 49"/>
                <a:gd name="T56" fmla="*/ 44 w 49"/>
                <a:gd name="T57" fmla="*/ 37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5 h 49"/>
                <a:gd name="T72" fmla="*/ 46 w 49"/>
                <a:gd name="T73" fmla="*/ 11 h 49"/>
                <a:gd name="T74" fmla="*/ 43 w 49"/>
                <a:gd name="T75" fmla="*/ 8 h 49"/>
                <a:gd name="T76" fmla="*/ 41 w 49"/>
                <a:gd name="T77" fmla="*/ 7 h 49"/>
                <a:gd name="T78" fmla="*/ 38 w 49"/>
                <a:gd name="T79" fmla="*/ 5 h 49"/>
                <a:gd name="T80" fmla="*/ 35 w 49"/>
                <a:gd name="T81" fmla="*/ 3 h 49"/>
                <a:gd name="T82" fmla="*/ 31 w 49"/>
                <a:gd name="T83" fmla="*/ 2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3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2206625" y="2123901"/>
              <a:ext cx="52388" cy="52388"/>
            </a:xfrm>
            <a:custGeom>
              <a:avLst/>
              <a:gdLst>
                <a:gd name="T0" fmla="*/ 31 w 65"/>
                <a:gd name="T1" fmla="*/ 2 h 65"/>
                <a:gd name="T2" fmla="*/ 26 w 65"/>
                <a:gd name="T3" fmla="*/ 2 h 65"/>
                <a:gd name="T4" fmla="*/ 23 w 65"/>
                <a:gd name="T5" fmla="*/ 4 h 65"/>
                <a:gd name="T6" fmla="*/ 18 w 65"/>
                <a:gd name="T7" fmla="*/ 5 h 65"/>
                <a:gd name="T8" fmla="*/ 14 w 65"/>
                <a:gd name="T9" fmla="*/ 7 h 65"/>
                <a:gd name="T10" fmla="*/ 10 w 65"/>
                <a:gd name="T11" fmla="*/ 10 h 65"/>
                <a:gd name="T12" fmla="*/ 6 w 65"/>
                <a:gd name="T13" fmla="*/ 15 h 65"/>
                <a:gd name="T14" fmla="*/ 5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5 w 65"/>
                <a:gd name="T29" fmla="*/ 49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1 h 65"/>
                <a:gd name="T36" fmla="*/ 18 w 65"/>
                <a:gd name="T37" fmla="*/ 62 h 65"/>
                <a:gd name="T38" fmla="*/ 23 w 65"/>
                <a:gd name="T39" fmla="*/ 64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4 h 65"/>
                <a:gd name="T50" fmla="*/ 49 w 65"/>
                <a:gd name="T51" fmla="*/ 62 h 65"/>
                <a:gd name="T52" fmla="*/ 52 w 65"/>
                <a:gd name="T53" fmla="*/ 61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2 w 65"/>
                <a:gd name="T73" fmla="*/ 18 h 65"/>
                <a:gd name="T74" fmla="*/ 60 w 65"/>
                <a:gd name="T75" fmla="*/ 15 h 65"/>
                <a:gd name="T76" fmla="*/ 57 w 65"/>
                <a:gd name="T77" fmla="*/ 10 h 65"/>
                <a:gd name="T78" fmla="*/ 52 w 65"/>
                <a:gd name="T79" fmla="*/ 7 h 65"/>
                <a:gd name="T80" fmla="*/ 49 w 65"/>
                <a:gd name="T81" fmla="*/ 5 h 65"/>
                <a:gd name="T82" fmla="*/ 44 w 65"/>
                <a:gd name="T83" fmla="*/ 4 h 65"/>
                <a:gd name="T84" fmla="*/ 40 w 65"/>
                <a:gd name="T85" fmla="*/ 2 h 65"/>
                <a:gd name="T86" fmla="*/ 36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6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3" y="64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6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1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2" y="18"/>
                  </a:lnTo>
                  <a:lnTo>
                    <a:pt x="62" y="17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2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2198688" y="2114376"/>
              <a:ext cx="38100" cy="39688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2 h 49"/>
                <a:gd name="T4" fmla="*/ 15 w 49"/>
                <a:gd name="T5" fmla="*/ 2 h 49"/>
                <a:gd name="T6" fmla="*/ 12 w 49"/>
                <a:gd name="T7" fmla="*/ 3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1 h 49"/>
                <a:gd name="T14" fmla="*/ 4 w 49"/>
                <a:gd name="T15" fmla="*/ 13 h 49"/>
                <a:gd name="T16" fmla="*/ 2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2 w 49"/>
                <a:gd name="T35" fmla="*/ 44 h 49"/>
                <a:gd name="T36" fmla="*/ 13 w 49"/>
                <a:gd name="T37" fmla="*/ 45 h 49"/>
                <a:gd name="T38" fmla="*/ 17 w 49"/>
                <a:gd name="T39" fmla="*/ 47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5 w 49"/>
                <a:gd name="T49" fmla="*/ 47 h 49"/>
                <a:gd name="T50" fmla="*/ 38 w 49"/>
                <a:gd name="T51" fmla="*/ 45 h 49"/>
                <a:gd name="T52" fmla="*/ 39 w 49"/>
                <a:gd name="T53" fmla="*/ 42 h 49"/>
                <a:gd name="T54" fmla="*/ 43 w 49"/>
                <a:gd name="T55" fmla="*/ 41 h 49"/>
                <a:gd name="T56" fmla="*/ 44 w 49"/>
                <a:gd name="T57" fmla="*/ 37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5 h 49"/>
                <a:gd name="T72" fmla="*/ 46 w 49"/>
                <a:gd name="T73" fmla="*/ 11 h 49"/>
                <a:gd name="T74" fmla="*/ 43 w 49"/>
                <a:gd name="T75" fmla="*/ 8 h 49"/>
                <a:gd name="T76" fmla="*/ 41 w 49"/>
                <a:gd name="T77" fmla="*/ 6 h 49"/>
                <a:gd name="T78" fmla="*/ 38 w 49"/>
                <a:gd name="T79" fmla="*/ 5 h 49"/>
                <a:gd name="T80" fmla="*/ 35 w 49"/>
                <a:gd name="T81" fmla="*/ 3 h 49"/>
                <a:gd name="T82" fmla="*/ 31 w 49"/>
                <a:gd name="T83" fmla="*/ 2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2206625" y="2304876"/>
              <a:ext cx="52388" cy="52388"/>
            </a:xfrm>
            <a:custGeom>
              <a:avLst/>
              <a:gdLst>
                <a:gd name="T0" fmla="*/ 31 w 65"/>
                <a:gd name="T1" fmla="*/ 2 h 65"/>
                <a:gd name="T2" fmla="*/ 26 w 65"/>
                <a:gd name="T3" fmla="*/ 2 h 65"/>
                <a:gd name="T4" fmla="*/ 23 w 65"/>
                <a:gd name="T5" fmla="*/ 3 h 65"/>
                <a:gd name="T6" fmla="*/ 18 w 65"/>
                <a:gd name="T7" fmla="*/ 5 h 65"/>
                <a:gd name="T8" fmla="*/ 14 w 65"/>
                <a:gd name="T9" fmla="*/ 7 h 65"/>
                <a:gd name="T10" fmla="*/ 10 w 65"/>
                <a:gd name="T11" fmla="*/ 10 h 65"/>
                <a:gd name="T12" fmla="*/ 6 w 65"/>
                <a:gd name="T13" fmla="*/ 15 h 65"/>
                <a:gd name="T14" fmla="*/ 5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5 w 65"/>
                <a:gd name="T29" fmla="*/ 49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0 h 65"/>
                <a:gd name="T36" fmla="*/ 18 w 65"/>
                <a:gd name="T37" fmla="*/ 62 h 65"/>
                <a:gd name="T38" fmla="*/ 23 w 65"/>
                <a:gd name="T39" fmla="*/ 64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4 h 65"/>
                <a:gd name="T50" fmla="*/ 49 w 65"/>
                <a:gd name="T51" fmla="*/ 62 h 65"/>
                <a:gd name="T52" fmla="*/ 52 w 65"/>
                <a:gd name="T53" fmla="*/ 60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2 w 65"/>
                <a:gd name="T73" fmla="*/ 18 h 65"/>
                <a:gd name="T74" fmla="*/ 60 w 65"/>
                <a:gd name="T75" fmla="*/ 15 h 65"/>
                <a:gd name="T76" fmla="*/ 57 w 65"/>
                <a:gd name="T77" fmla="*/ 10 h 65"/>
                <a:gd name="T78" fmla="*/ 52 w 65"/>
                <a:gd name="T79" fmla="*/ 7 h 65"/>
                <a:gd name="T80" fmla="*/ 49 w 65"/>
                <a:gd name="T81" fmla="*/ 5 h 65"/>
                <a:gd name="T82" fmla="*/ 44 w 65"/>
                <a:gd name="T83" fmla="*/ 3 h 65"/>
                <a:gd name="T84" fmla="*/ 40 w 65"/>
                <a:gd name="T85" fmla="*/ 2 h 65"/>
                <a:gd name="T86" fmla="*/ 36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3" y="64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1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2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2198688" y="2322339"/>
              <a:ext cx="38100" cy="38100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2 h 49"/>
                <a:gd name="T4" fmla="*/ 15 w 49"/>
                <a:gd name="T5" fmla="*/ 2 h 49"/>
                <a:gd name="T6" fmla="*/ 12 w 49"/>
                <a:gd name="T7" fmla="*/ 4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2 h 49"/>
                <a:gd name="T14" fmla="*/ 4 w 49"/>
                <a:gd name="T15" fmla="*/ 13 h 49"/>
                <a:gd name="T16" fmla="*/ 2 w 49"/>
                <a:gd name="T17" fmla="*/ 17 h 49"/>
                <a:gd name="T18" fmla="*/ 0 w 49"/>
                <a:gd name="T19" fmla="*/ 21 h 49"/>
                <a:gd name="T20" fmla="*/ 0 w 49"/>
                <a:gd name="T21" fmla="*/ 25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8 h 49"/>
                <a:gd name="T30" fmla="*/ 5 w 49"/>
                <a:gd name="T31" fmla="*/ 39 h 49"/>
                <a:gd name="T32" fmla="*/ 8 w 49"/>
                <a:gd name="T33" fmla="*/ 43 h 49"/>
                <a:gd name="T34" fmla="*/ 12 w 49"/>
                <a:gd name="T35" fmla="*/ 44 h 49"/>
                <a:gd name="T36" fmla="*/ 13 w 49"/>
                <a:gd name="T37" fmla="*/ 46 h 49"/>
                <a:gd name="T38" fmla="*/ 17 w 49"/>
                <a:gd name="T39" fmla="*/ 48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8 h 49"/>
                <a:gd name="T48" fmla="*/ 35 w 49"/>
                <a:gd name="T49" fmla="*/ 48 h 49"/>
                <a:gd name="T50" fmla="*/ 38 w 49"/>
                <a:gd name="T51" fmla="*/ 46 h 49"/>
                <a:gd name="T52" fmla="*/ 39 w 49"/>
                <a:gd name="T53" fmla="*/ 43 h 49"/>
                <a:gd name="T54" fmla="*/ 43 w 49"/>
                <a:gd name="T55" fmla="*/ 41 h 49"/>
                <a:gd name="T56" fmla="*/ 44 w 49"/>
                <a:gd name="T57" fmla="*/ 38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8 h 49"/>
                <a:gd name="T64" fmla="*/ 49 w 49"/>
                <a:gd name="T65" fmla="*/ 25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5 h 49"/>
                <a:gd name="T72" fmla="*/ 46 w 49"/>
                <a:gd name="T73" fmla="*/ 12 h 49"/>
                <a:gd name="T74" fmla="*/ 43 w 49"/>
                <a:gd name="T75" fmla="*/ 8 h 49"/>
                <a:gd name="T76" fmla="*/ 41 w 49"/>
                <a:gd name="T77" fmla="*/ 7 h 49"/>
                <a:gd name="T78" fmla="*/ 38 w 49"/>
                <a:gd name="T79" fmla="*/ 5 h 49"/>
                <a:gd name="T80" fmla="*/ 35 w 49"/>
                <a:gd name="T81" fmla="*/ 4 h 49"/>
                <a:gd name="T82" fmla="*/ 31 w 49"/>
                <a:gd name="T83" fmla="*/ 2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8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3" y="48"/>
                  </a:lnTo>
                  <a:lnTo>
                    <a:pt x="35" y="48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1" y="43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3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0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3292475" y="3079576"/>
              <a:ext cx="50800" cy="52388"/>
            </a:xfrm>
            <a:custGeom>
              <a:avLst/>
              <a:gdLst>
                <a:gd name="T0" fmla="*/ 1 w 65"/>
                <a:gd name="T1" fmla="*/ 35 h 65"/>
                <a:gd name="T2" fmla="*/ 1 w 65"/>
                <a:gd name="T3" fmla="*/ 40 h 65"/>
                <a:gd name="T4" fmla="*/ 3 w 65"/>
                <a:gd name="T5" fmla="*/ 44 h 65"/>
                <a:gd name="T6" fmla="*/ 4 w 65"/>
                <a:gd name="T7" fmla="*/ 49 h 65"/>
                <a:gd name="T8" fmla="*/ 6 w 65"/>
                <a:gd name="T9" fmla="*/ 52 h 65"/>
                <a:gd name="T10" fmla="*/ 9 w 65"/>
                <a:gd name="T11" fmla="*/ 57 h 65"/>
                <a:gd name="T12" fmla="*/ 14 w 65"/>
                <a:gd name="T13" fmla="*/ 60 h 65"/>
                <a:gd name="T14" fmla="*/ 17 w 65"/>
                <a:gd name="T15" fmla="*/ 62 h 65"/>
                <a:gd name="T16" fmla="*/ 22 w 65"/>
                <a:gd name="T17" fmla="*/ 63 h 65"/>
                <a:gd name="T18" fmla="*/ 26 w 65"/>
                <a:gd name="T19" fmla="*/ 65 h 65"/>
                <a:gd name="T20" fmla="*/ 30 w 65"/>
                <a:gd name="T21" fmla="*/ 65 h 65"/>
                <a:gd name="T22" fmla="*/ 35 w 65"/>
                <a:gd name="T23" fmla="*/ 65 h 65"/>
                <a:gd name="T24" fmla="*/ 40 w 65"/>
                <a:gd name="T25" fmla="*/ 65 h 65"/>
                <a:gd name="T26" fmla="*/ 43 w 65"/>
                <a:gd name="T27" fmla="*/ 63 h 65"/>
                <a:gd name="T28" fmla="*/ 48 w 65"/>
                <a:gd name="T29" fmla="*/ 62 h 65"/>
                <a:gd name="T30" fmla="*/ 52 w 65"/>
                <a:gd name="T31" fmla="*/ 60 h 65"/>
                <a:gd name="T32" fmla="*/ 56 w 65"/>
                <a:gd name="T33" fmla="*/ 57 h 65"/>
                <a:gd name="T34" fmla="*/ 60 w 65"/>
                <a:gd name="T35" fmla="*/ 52 h 65"/>
                <a:gd name="T36" fmla="*/ 61 w 65"/>
                <a:gd name="T37" fmla="*/ 49 h 65"/>
                <a:gd name="T38" fmla="*/ 63 w 65"/>
                <a:gd name="T39" fmla="*/ 44 h 65"/>
                <a:gd name="T40" fmla="*/ 65 w 65"/>
                <a:gd name="T41" fmla="*/ 40 h 65"/>
                <a:gd name="T42" fmla="*/ 65 w 65"/>
                <a:gd name="T43" fmla="*/ 35 h 65"/>
                <a:gd name="T44" fmla="*/ 65 w 65"/>
                <a:gd name="T45" fmla="*/ 31 h 65"/>
                <a:gd name="T46" fmla="*/ 65 w 65"/>
                <a:gd name="T47" fmla="*/ 26 h 65"/>
                <a:gd name="T48" fmla="*/ 63 w 65"/>
                <a:gd name="T49" fmla="*/ 22 h 65"/>
                <a:gd name="T50" fmla="*/ 61 w 65"/>
                <a:gd name="T51" fmla="*/ 18 h 65"/>
                <a:gd name="T52" fmla="*/ 60 w 65"/>
                <a:gd name="T53" fmla="*/ 14 h 65"/>
                <a:gd name="T54" fmla="*/ 56 w 65"/>
                <a:gd name="T55" fmla="*/ 9 h 65"/>
                <a:gd name="T56" fmla="*/ 52 w 65"/>
                <a:gd name="T57" fmla="*/ 6 h 65"/>
                <a:gd name="T58" fmla="*/ 48 w 65"/>
                <a:gd name="T59" fmla="*/ 5 h 65"/>
                <a:gd name="T60" fmla="*/ 43 w 65"/>
                <a:gd name="T61" fmla="*/ 3 h 65"/>
                <a:gd name="T62" fmla="*/ 40 w 65"/>
                <a:gd name="T63" fmla="*/ 1 h 65"/>
                <a:gd name="T64" fmla="*/ 35 w 65"/>
                <a:gd name="T65" fmla="*/ 1 h 65"/>
                <a:gd name="T66" fmla="*/ 30 w 65"/>
                <a:gd name="T67" fmla="*/ 1 h 65"/>
                <a:gd name="T68" fmla="*/ 26 w 65"/>
                <a:gd name="T69" fmla="*/ 1 h 65"/>
                <a:gd name="T70" fmla="*/ 22 w 65"/>
                <a:gd name="T71" fmla="*/ 3 h 65"/>
                <a:gd name="T72" fmla="*/ 17 w 65"/>
                <a:gd name="T73" fmla="*/ 5 h 65"/>
                <a:gd name="T74" fmla="*/ 14 w 65"/>
                <a:gd name="T75" fmla="*/ 6 h 65"/>
                <a:gd name="T76" fmla="*/ 9 w 65"/>
                <a:gd name="T77" fmla="*/ 9 h 65"/>
                <a:gd name="T78" fmla="*/ 6 w 65"/>
                <a:gd name="T79" fmla="*/ 14 h 65"/>
                <a:gd name="T80" fmla="*/ 4 w 65"/>
                <a:gd name="T81" fmla="*/ 18 h 65"/>
                <a:gd name="T82" fmla="*/ 3 w 65"/>
                <a:gd name="T83" fmla="*/ 22 h 65"/>
                <a:gd name="T84" fmla="*/ 1 w 65"/>
                <a:gd name="T85" fmla="*/ 26 h 65"/>
                <a:gd name="T86" fmla="*/ 1 w 65"/>
                <a:gd name="T87" fmla="*/ 31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6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9" y="9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3282950" y="3097039"/>
              <a:ext cx="38100" cy="38100"/>
            </a:xfrm>
            <a:custGeom>
              <a:avLst/>
              <a:gdLst>
                <a:gd name="T0" fmla="*/ 0 w 49"/>
                <a:gd name="T1" fmla="*/ 26 h 49"/>
                <a:gd name="T2" fmla="*/ 2 w 49"/>
                <a:gd name="T3" fmla="*/ 31 h 49"/>
                <a:gd name="T4" fmla="*/ 2 w 49"/>
                <a:gd name="T5" fmla="*/ 34 h 49"/>
                <a:gd name="T6" fmla="*/ 3 w 49"/>
                <a:gd name="T7" fmla="*/ 37 h 49"/>
                <a:gd name="T8" fmla="*/ 5 w 49"/>
                <a:gd name="T9" fmla="*/ 39 h 49"/>
                <a:gd name="T10" fmla="*/ 8 w 49"/>
                <a:gd name="T11" fmla="*/ 42 h 49"/>
                <a:gd name="T12" fmla="*/ 12 w 49"/>
                <a:gd name="T13" fmla="*/ 44 h 49"/>
                <a:gd name="T14" fmla="*/ 13 w 49"/>
                <a:gd name="T15" fmla="*/ 45 h 49"/>
                <a:gd name="T16" fmla="*/ 16 w 49"/>
                <a:gd name="T17" fmla="*/ 47 h 49"/>
                <a:gd name="T18" fmla="*/ 21 w 49"/>
                <a:gd name="T19" fmla="*/ 49 h 49"/>
                <a:gd name="T20" fmla="*/ 25 w 49"/>
                <a:gd name="T21" fmla="*/ 49 h 49"/>
                <a:gd name="T22" fmla="*/ 26 w 49"/>
                <a:gd name="T23" fmla="*/ 49 h 49"/>
                <a:gd name="T24" fmla="*/ 31 w 49"/>
                <a:gd name="T25" fmla="*/ 47 h 49"/>
                <a:gd name="T26" fmla="*/ 34 w 49"/>
                <a:gd name="T27" fmla="*/ 47 h 49"/>
                <a:gd name="T28" fmla="*/ 38 w 49"/>
                <a:gd name="T29" fmla="*/ 45 h 49"/>
                <a:gd name="T30" fmla="*/ 39 w 49"/>
                <a:gd name="T31" fmla="*/ 42 h 49"/>
                <a:gd name="T32" fmla="*/ 42 w 49"/>
                <a:gd name="T33" fmla="*/ 41 h 49"/>
                <a:gd name="T34" fmla="*/ 44 w 49"/>
                <a:gd name="T35" fmla="*/ 37 h 49"/>
                <a:gd name="T36" fmla="*/ 46 w 49"/>
                <a:gd name="T37" fmla="*/ 34 h 49"/>
                <a:gd name="T38" fmla="*/ 47 w 49"/>
                <a:gd name="T39" fmla="*/ 31 h 49"/>
                <a:gd name="T40" fmla="*/ 49 w 49"/>
                <a:gd name="T41" fmla="*/ 28 h 49"/>
                <a:gd name="T42" fmla="*/ 49 w 49"/>
                <a:gd name="T43" fmla="*/ 24 h 49"/>
                <a:gd name="T44" fmla="*/ 49 w 49"/>
                <a:gd name="T45" fmla="*/ 21 h 49"/>
                <a:gd name="T46" fmla="*/ 47 w 49"/>
                <a:gd name="T47" fmla="*/ 18 h 49"/>
                <a:gd name="T48" fmla="*/ 47 w 49"/>
                <a:gd name="T49" fmla="*/ 14 h 49"/>
                <a:gd name="T50" fmla="*/ 46 w 49"/>
                <a:gd name="T51" fmla="*/ 11 h 49"/>
                <a:gd name="T52" fmla="*/ 42 w 49"/>
                <a:gd name="T53" fmla="*/ 8 h 49"/>
                <a:gd name="T54" fmla="*/ 41 w 49"/>
                <a:gd name="T55" fmla="*/ 6 h 49"/>
                <a:gd name="T56" fmla="*/ 38 w 49"/>
                <a:gd name="T57" fmla="*/ 5 h 49"/>
                <a:gd name="T58" fmla="*/ 34 w 49"/>
                <a:gd name="T59" fmla="*/ 3 h 49"/>
                <a:gd name="T60" fmla="*/ 31 w 49"/>
                <a:gd name="T61" fmla="*/ 1 h 49"/>
                <a:gd name="T62" fmla="*/ 28 w 49"/>
                <a:gd name="T63" fmla="*/ 0 h 49"/>
                <a:gd name="T64" fmla="*/ 25 w 49"/>
                <a:gd name="T65" fmla="*/ 0 h 49"/>
                <a:gd name="T66" fmla="*/ 21 w 49"/>
                <a:gd name="T67" fmla="*/ 0 h 49"/>
                <a:gd name="T68" fmla="*/ 18 w 49"/>
                <a:gd name="T69" fmla="*/ 1 h 49"/>
                <a:gd name="T70" fmla="*/ 15 w 49"/>
                <a:gd name="T71" fmla="*/ 1 h 49"/>
                <a:gd name="T72" fmla="*/ 12 w 49"/>
                <a:gd name="T73" fmla="*/ 3 h 49"/>
                <a:gd name="T74" fmla="*/ 8 w 49"/>
                <a:gd name="T75" fmla="*/ 5 h 49"/>
                <a:gd name="T76" fmla="*/ 7 w 49"/>
                <a:gd name="T77" fmla="*/ 8 h 49"/>
                <a:gd name="T78" fmla="*/ 5 w 49"/>
                <a:gd name="T79" fmla="*/ 11 h 49"/>
                <a:gd name="T80" fmla="*/ 3 w 49"/>
                <a:gd name="T81" fmla="*/ 13 h 49"/>
                <a:gd name="T82" fmla="*/ 2 w 49"/>
                <a:gd name="T83" fmla="*/ 16 h 49"/>
                <a:gd name="T84" fmla="*/ 0 w 49"/>
                <a:gd name="T85" fmla="*/ 21 h 49"/>
                <a:gd name="T86" fmla="*/ 0 w 49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0" y="24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3473450" y="3079576"/>
              <a:ext cx="50800" cy="52388"/>
            </a:xfrm>
            <a:custGeom>
              <a:avLst/>
              <a:gdLst>
                <a:gd name="T0" fmla="*/ 2 w 65"/>
                <a:gd name="T1" fmla="*/ 35 h 65"/>
                <a:gd name="T2" fmla="*/ 2 w 65"/>
                <a:gd name="T3" fmla="*/ 40 h 65"/>
                <a:gd name="T4" fmla="*/ 4 w 65"/>
                <a:gd name="T5" fmla="*/ 44 h 65"/>
                <a:gd name="T6" fmla="*/ 5 w 65"/>
                <a:gd name="T7" fmla="*/ 49 h 65"/>
                <a:gd name="T8" fmla="*/ 7 w 65"/>
                <a:gd name="T9" fmla="*/ 52 h 65"/>
                <a:gd name="T10" fmla="*/ 10 w 65"/>
                <a:gd name="T11" fmla="*/ 57 h 65"/>
                <a:gd name="T12" fmla="*/ 15 w 65"/>
                <a:gd name="T13" fmla="*/ 60 h 65"/>
                <a:gd name="T14" fmla="*/ 18 w 65"/>
                <a:gd name="T15" fmla="*/ 62 h 65"/>
                <a:gd name="T16" fmla="*/ 23 w 65"/>
                <a:gd name="T17" fmla="*/ 63 h 65"/>
                <a:gd name="T18" fmla="*/ 26 w 65"/>
                <a:gd name="T19" fmla="*/ 65 h 65"/>
                <a:gd name="T20" fmla="*/ 31 w 65"/>
                <a:gd name="T21" fmla="*/ 65 h 65"/>
                <a:gd name="T22" fmla="*/ 36 w 65"/>
                <a:gd name="T23" fmla="*/ 65 h 65"/>
                <a:gd name="T24" fmla="*/ 41 w 65"/>
                <a:gd name="T25" fmla="*/ 65 h 65"/>
                <a:gd name="T26" fmla="*/ 44 w 65"/>
                <a:gd name="T27" fmla="*/ 63 h 65"/>
                <a:gd name="T28" fmla="*/ 49 w 65"/>
                <a:gd name="T29" fmla="*/ 62 h 65"/>
                <a:gd name="T30" fmla="*/ 52 w 65"/>
                <a:gd name="T31" fmla="*/ 60 h 65"/>
                <a:gd name="T32" fmla="*/ 57 w 65"/>
                <a:gd name="T33" fmla="*/ 57 h 65"/>
                <a:gd name="T34" fmla="*/ 61 w 65"/>
                <a:gd name="T35" fmla="*/ 52 h 65"/>
                <a:gd name="T36" fmla="*/ 62 w 65"/>
                <a:gd name="T37" fmla="*/ 49 h 65"/>
                <a:gd name="T38" fmla="*/ 64 w 65"/>
                <a:gd name="T39" fmla="*/ 44 h 65"/>
                <a:gd name="T40" fmla="*/ 65 w 65"/>
                <a:gd name="T41" fmla="*/ 40 h 65"/>
                <a:gd name="T42" fmla="*/ 65 w 65"/>
                <a:gd name="T43" fmla="*/ 35 h 65"/>
                <a:gd name="T44" fmla="*/ 65 w 65"/>
                <a:gd name="T45" fmla="*/ 31 h 65"/>
                <a:gd name="T46" fmla="*/ 65 w 65"/>
                <a:gd name="T47" fmla="*/ 26 h 65"/>
                <a:gd name="T48" fmla="*/ 64 w 65"/>
                <a:gd name="T49" fmla="*/ 22 h 65"/>
                <a:gd name="T50" fmla="*/ 62 w 65"/>
                <a:gd name="T51" fmla="*/ 18 h 65"/>
                <a:gd name="T52" fmla="*/ 61 w 65"/>
                <a:gd name="T53" fmla="*/ 14 h 65"/>
                <a:gd name="T54" fmla="*/ 57 w 65"/>
                <a:gd name="T55" fmla="*/ 9 h 65"/>
                <a:gd name="T56" fmla="*/ 52 w 65"/>
                <a:gd name="T57" fmla="*/ 6 h 65"/>
                <a:gd name="T58" fmla="*/ 49 w 65"/>
                <a:gd name="T59" fmla="*/ 5 h 65"/>
                <a:gd name="T60" fmla="*/ 44 w 65"/>
                <a:gd name="T61" fmla="*/ 3 h 65"/>
                <a:gd name="T62" fmla="*/ 41 w 65"/>
                <a:gd name="T63" fmla="*/ 1 h 65"/>
                <a:gd name="T64" fmla="*/ 36 w 65"/>
                <a:gd name="T65" fmla="*/ 1 h 65"/>
                <a:gd name="T66" fmla="*/ 31 w 65"/>
                <a:gd name="T67" fmla="*/ 1 h 65"/>
                <a:gd name="T68" fmla="*/ 26 w 65"/>
                <a:gd name="T69" fmla="*/ 1 h 65"/>
                <a:gd name="T70" fmla="*/ 23 w 65"/>
                <a:gd name="T71" fmla="*/ 3 h 65"/>
                <a:gd name="T72" fmla="*/ 18 w 65"/>
                <a:gd name="T73" fmla="*/ 5 h 65"/>
                <a:gd name="T74" fmla="*/ 15 w 65"/>
                <a:gd name="T75" fmla="*/ 6 h 65"/>
                <a:gd name="T76" fmla="*/ 10 w 65"/>
                <a:gd name="T77" fmla="*/ 9 h 65"/>
                <a:gd name="T78" fmla="*/ 7 w 65"/>
                <a:gd name="T79" fmla="*/ 14 h 65"/>
                <a:gd name="T80" fmla="*/ 5 w 65"/>
                <a:gd name="T81" fmla="*/ 18 h 65"/>
                <a:gd name="T82" fmla="*/ 4 w 65"/>
                <a:gd name="T83" fmla="*/ 22 h 65"/>
                <a:gd name="T84" fmla="*/ 2 w 65"/>
                <a:gd name="T85" fmla="*/ 26 h 65"/>
                <a:gd name="T86" fmla="*/ 2 w 65"/>
                <a:gd name="T87" fmla="*/ 31 h 65"/>
                <a:gd name="T88" fmla="*/ 33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3" y="32"/>
                  </a:moveTo>
                  <a:lnTo>
                    <a:pt x="0" y="32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4" y="44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7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3" y="65"/>
                  </a:lnTo>
                  <a:lnTo>
                    <a:pt x="44" y="63"/>
                  </a:lnTo>
                  <a:lnTo>
                    <a:pt x="46" y="63"/>
                  </a:lnTo>
                  <a:lnTo>
                    <a:pt x="48" y="63"/>
                  </a:lnTo>
                  <a:lnTo>
                    <a:pt x="49" y="62"/>
                  </a:lnTo>
                  <a:lnTo>
                    <a:pt x="51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4" y="58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9" y="53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4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4" y="22"/>
                  </a:lnTo>
                  <a:lnTo>
                    <a:pt x="64" y="21"/>
                  </a:lnTo>
                  <a:lnTo>
                    <a:pt x="64" y="19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59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6" y="9"/>
                  </a:lnTo>
                  <a:lnTo>
                    <a:pt x="54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3" y="8"/>
                  </a:lnTo>
                  <a:lnTo>
                    <a:pt x="12" y="9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33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3489325" y="3097039"/>
              <a:ext cx="39688" cy="38100"/>
            </a:xfrm>
            <a:custGeom>
              <a:avLst/>
              <a:gdLst>
                <a:gd name="T0" fmla="*/ 0 w 49"/>
                <a:gd name="T1" fmla="*/ 26 h 49"/>
                <a:gd name="T2" fmla="*/ 2 w 49"/>
                <a:gd name="T3" fmla="*/ 31 h 49"/>
                <a:gd name="T4" fmla="*/ 2 w 49"/>
                <a:gd name="T5" fmla="*/ 34 h 49"/>
                <a:gd name="T6" fmla="*/ 4 w 49"/>
                <a:gd name="T7" fmla="*/ 37 h 49"/>
                <a:gd name="T8" fmla="*/ 5 w 49"/>
                <a:gd name="T9" fmla="*/ 39 h 49"/>
                <a:gd name="T10" fmla="*/ 9 w 49"/>
                <a:gd name="T11" fmla="*/ 42 h 49"/>
                <a:gd name="T12" fmla="*/ 12 w 49"/>
                <a:gd name="T13" fmla="*/ 44 h 49"/>
                <a:gd name="T14" fmla="*/ 13 w 49"/>
                <a:gd name="T15" fmla="*/ 45 h 49"/>
                <a:gd name="T16" fmla="*/ 17 w 49"/>
                <a:gd name="T17" fmla="*/ 47 h 49"/>
                <a:gd name="T18" fmla="*/ 22 w 49"/>
                <a:gd name="T19" fmla="*/ 49 h 49"/>
                <a:gd name="T20" fmla="*/ 25 w 49"/>
                <a:gd name="T21" fmla="*/ 49 h 49"/>
                <a:gd name="T22" fmla="*/ 27 w 49"/>
                <a:gd name="T23" fmla="*/ 49 h 49"/>
                <a:gd name="T24" fmla="*/ 31 w 49"/>
                <a:gd name="T25" fmla="*/ 47 h 49"/>
                <a:gd name="T26" fmla="*/ 35 w 49"/>
                <a:gd name="T27" fmla="*/ 47 h 49"/>
                <a:gd name="T28" fmla="*/ 38 w 49"/>
                <a:gd name="T29" fmla="*/ 45 h 49"/>
                <a:gd name="T30" fmla="*/ 40 w 49"/>
                <a:gd name="T31" fmla="*/ 42 h 49"/>
                <a:gd name="T32" fmla="*/ 43 w 49"/>
                <a:gd name="T33" fmla="*/ 41 h 49"/>
                <a:gd name="T34" fmla="*/ 44 w 49"/>
                <a:gd name="T35" fmla="*/ 37 h 49"/>
                <a:gd name="T36" fmla="*/ 46 w 49"/>
                <a:gd name="T37" fmla="*/ 34 h 49"/>
                <a:gd name="T38" fmla="*/ 48 w 49"/>
                <a:gd name="T39" fmla="*/ 31 h 49"/>
                <a:gd name="T40" fmla="*/ 49 w 49"/>
                <a:gd name="T41" fmla="*/ 28 h 49"/>
                <a:gd name="T42" fmla="*/ 49 w 49"/>
                <a:gd name="T43" fmla="*/ 24 h 49"/>
                <a:gd name="T44" fmla="*/ 49 w 49"/>
                <a:gd name="T45" fmla="*/ 21 h 49"/>
                <a:gd name="T46" fmla="*/ 48 w 49"/>
                <a:gd name="T47" fmla="*/ 18 h 49"/>
                <a:gd name="T48" fmla="*/ 48 w 49"/>
                <a:gd name="T49" fmla="*/ 14 h 49"/>
                <a:gd name="T50" fmla="*/ 46 w 49"/>
                <a:gd name="T51" fmla="*/ 11 h 49"/>
                <a:gd name="T52" fmla="*/ 43 w 49"/>
                <a:gd name="T53" fmla="*/ 8 h 49"/>
                <a:gd name="T54" fmla="*/ 41 w 49"/>
                <a:gd name="T55" fmla="*/ 6 h 49"/>
                <a:gd name="T56" fmla="*/ 38 w 49"/>
                <a:gd name="T57" fmla="*/ 5 h 49"/>
                <a:gd name="T58" fmla="*/ 35 w 49"/>
                <a:gd name="T59" fmla="*/ 3 h 49"/>
                <a:gd name="T60" fmla="*/ 31 w 49"/>
                <a:gd name="T61" fmla="*/ 1 h 49"/>
                <a:gd name="T62" fmla="*/ 28 w 49"/>
                <a:gd name="T63" fmla="*/ 0 h 49"/>
                <a:gd name="T64" fmla="*/ 25 w 49"/>
                <a:gd name="T65" fmla="*/ 0 h 49"/>
                <a:gd name="T66" fmla="*/ 22 w 49"/>
                <a:gd name="T67" fmla="*/ 0 h 49"/>
                <a:gd name="T68" fmla="*/ 18 w 49"/>
                <a:gd name="T69" fmla="*/ 1 h 49"/>
                <a:gd name="T70" fmla="*/ 15 w 49"/>
                <a:gd name="T71" fmla="*/ 1 h 49"/>
                <a:gd name="T72" fmla="*/ 12 w 49"/>
                <a:gd name="T73" fmla="*/ 3 h 49"/>
                <a:gd name="T74" fmla="*/ 9 w 49"/>
                <a:gd name="T75" fmla="*/ 5 h 49"/>
                <a:gd name="T76" fmla="*/ 7 w 49"/>
                <a:gd name="T77" fmla="*/ 8 h 49"/>
                <a:gd name="T78" fmla="*/ 5 w 49"/>
                <a:gd name="T79" fmla="*/ 11 h 49"/>
                <a:gd name="T80" fmla="*/ 4 w 49"/>
                <a:gd name="T81" fmla="*/ 13 h 49"/>
                <a:gd name="T82" fmla="*/ 2 w 49"/>
                <a:gd name="T83" fmla="*/ 16 h 49"/>
                <a:gd name="T84" fmla="*/ 0 w 49"/>
                <a:gd name="T85" fmla="*/ 21 h 49"/>
                <a:gd name="T86" fmla="*/ 0 w 49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0" y="24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40" y="44"/>
                  </a:lnTo>
                  <a:lnTo>
                    <a:pt x="40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4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7" y="6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3679825" y="3079576"/>
              <a:ext cx="50800" cy="52388"/>
            </a:xfrm>
            <a:custGeom>
              <a:avLst/>
              <a:gdLst>
                <a:gd name="T0" fmla="*/ 1 w 65"/>
                <a:gd name="T1" fmla="*/ 35 h 65"/>
                <a:gd name="T2" fmla="*/ 1 w 65"/>
                <a:gd name="T3" fmla="*/ 40 h 65"/>
                <a:gd name="T4" fmla="*/ 3 w 65"/>
                <a:gd name="T5" fmla="*/ 44 h 65"/>
                <a:gd name="T6" fmla="*/ 5 w 65"/>
                <a:gd name="T7" fmla="*/ 49 h 65"/>
                <a:gd name="T8" fmla="*/ 6 w 65"/>
                <a:gd name="T9" fmla="*/ 52 h 65"/>
                <a:gd name="T10" fmla="*/ 9 w 65"/>
                <a:gd name="T11" fmla="*/ 57 h 65"/>
                <a:gd name="T12" fmla="*/ 14 w 65"/>
                <a:gd name="T13" fmla="*/ 60 h 65"/>
                <a:gd name="T14" fmla="*/ 18 w 65"/>
                <a:gd name="T15" fmla="*/ 62 h 65"/>
                <a:gd name="T16" fmla="*/ 22 w 65"/>
                <a:gd name="T17" fmla="*/ 63 h 65"/>
                <a:gd name="T18" fmla="*/ 26 w 65"/>
                <a:gd name="T19" fmla="*/ 65 h 65"/>
                <a:gd name="T20" fmla="*/ 31 w 65"/>
                <a:gd name="T21" fmla="*/ 65 h 65"/>
                <a:gd name="T22" fmla="*/ 35 w 65"/>
                <a:gd name="T23" fmla="*/ 65 h 65"/>
                <a:gd name="T24" fmla="*/ 40 w 65"/>
                <a:gd name="T25" fmla="*/ 65 h 65"/>
                <a:gd name="T26" fmla="*/ 44 w 65"/>
                <a:gd name="T27" fmla="*/ 63 h 65"/>
                <a:gd name="T28" fmla="*/ 48 w 65"/>
                <a:gd name="T29" fmla="*/ 62 h 65"/>
                <a:gd name="T30" fmla="*/ 52 w 65"/>
                <a:gd name="T31" fmla="*/ 60 h 65"/>
                <a:gd name="T32" fmla="*/ 57 w 65"/>
                <a:gd name="T33" fmla="*/ 57 h 65"/>
                <a:gd name="T34" fmla="*/ 60 w 65"/>
                <a:gd name="T35" fmla="*/ 52 h 65"/>
                <a:gd name="T36" fmla="*/ 61 w 65"/>
                <a:gd name="T37" fmla="*/ 49 h 65"/>
                <a:gd name="T38" fmla="*/ 63 w 65"/>
                <a:gd name="T39" fmla="*/ 44 h 65"/>
                <a:gd name="T40" fmla="*/ 65 w 65"/>
                <a:gd name="T41" fmla="*/ 40 h 65"/>
                <a:gd name="T42" fmla="*/ 65 w 65"/>
                <a:gd name="T43" fmla="*/ 35 h 65"/>
                <a:gd name="T44" fmla="*/ 65 w 65"/>
                <a:gd name="T45" fmla="*/ 31 h 65"/>
                <a:gd name="T46" fmla="*/ 65 w 65"/>
                <a:gd name="T47" fmla="*/ 26 h 65"/>
                <a:gd name="T48" fmla="*/ 63 w 65"/>
                <a:gd name="T49" fmla="*/ 22 h 65"/>
                <a:gd name="T50" fmla="*/ 61 w 65"/>
                <a:gd name="T51" fmla="*/ 18 h 65"/>
                <a:gd name="T52" fmla="*/ 60 w 65"/>
                <a:gd name="T53" fmla="*/ 14 h 65"/>
                <a:gd name="T54" fmla="*/ 57 w 65"/>
                <a:gd name="T55" fmla="*/ 9 h 65"/>
                <a:gd name="T56" fmla="*/ 52 w 65"/>
                <a:gd name="T57" fmla="*/ 6 h 65"/>
                <a:gd name="T58" fmla="*/ 48 w 65"/>
                <a:gd name="T59" fmla="*/ 5 h 65"/>
                <a:gd name="T60" fmla="*/ 44 w 65"/>
                <a:gd name="T61" fmla="*/ 3 h 65"/>
                <a:gd name="T62" fmla="*/ 40 w 65"/>
                <a:gd name="T63" fmla="*/ 1 h 65"/>
                <a:gd name="T64" fmla="*/ 35 w 65"/>
                <a:gd name="T65" fmla="*/ 1 h 65"/>
                <a:gd name="T66" fmla="*/ 31 w 65"/>
                <a:gd name="T67" fmla="*/ 1 h 65"/>
                <a:gd name="T68" fmla="*/ 26 w 65"/>
                <a:gd name="T69" fmla="*/ 1 h 65"/>
                <a:gd name="T70" fmla="*/ 22 w 65"/>
                <a:gd name="T71" fmla="*/ 3 h 65"/>
                <a:gd name="T72" fmla="*/ 18 w 65"/>
                <a:gd name="T73" fmla="*/ 5 h 65"/>
                <a:gd name="T74" fmla="*/ 14 w 65"/>
                <a:gd name="T75" fmla="*/ 6 h 65"/>
                <a:gd name="T76" fmla="*/ 9 w 65"/>
                <a:gd name="T77" fmla="*/ 9 h 65"/>
                <a:gd name="T78" fmla="*/ 6 w 65"/>
                <a:gd name="T79" fmla="*/ 14 h 65"/>
                <a:gd name="T80" fmla="*/ 5 w 65"/>
                <a:gd name="T81" fmla="*/ 18 h 65"/>
                <a:gd name="T82" fmla="*/ 3 w 65"/>
                <a:gd name="T83" fmla="*/ 22 h 65"/>
                <a:gd name="T84" fmla="*/ 1 w 65"/>
                <a:gd name="T85" fmla="*/ 26 h 65"/>
                <a:gd name="T86" fmla="*/ 1 w 65"/>
                <a:gd name="T87" fmla="*/ 31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9" y="9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3695700" y="3097039"/>
              <a:ext cx="39688" cy="38100"/>
            </a:xfrm>
            <a:custGeom>
              <a:avLst/>
              <a:gdLst>
                <a:gd name="T0" fmla="*/ 0 w 49"/>
                <a:gd name="T1" fmla="*/ 26 h 49"/>
                <a:gd name="T2" fmla="*/ 1 w 49"/>
                <a:gd name="T3" fmla="*/ 31 h 49"/>
                <a:gd name="T4" fmla="*/ 1 w 49"/>
                <a:gd name="T5" fmla="*/ 34 h 49"/>
                <a:gd name="T6" fmla="*/ 3 w 49"/>
                <a:gd name="T7" fmla="*/ 37 h 49"/>
                <a:gd name="T8" fmla="*/ 5 w 49"/>
                <a:gd name="T9" fmla="*/ 39 h 49"/>
                <a:gd name="T10" fmla="*/ 8 w 49"/>
                <a:gd name="T11" fmla="*/ 42 h 49"/>
                <a:gd name="T12" fmla="*/ 11 w 49"/>
                <a:gd name="T13" fmla="*/ 44 h 49"/>
                <a:gd name="T14" fmla="*/ 13 w 49"/>
                <a:gd name="T15" fmla="*/ 45 h 49"/>
                <a:gd name="T16" fmla="*/ 16 w 49"/>
                <a:gd name="T17" fmla="*/ 47 h 49"/>
                <a:gd name="T18" fmla="*/ 21 w 49"/>
                <a:gd name="T19" fmla="*/ 49 h 49"/>
                <a:gd name="T20" fmla="*/ 24 w 49"/>
                <a:gd name="T21" fmla="*/ 49 h 49"/>
                <a:gd name="T22" fmla="*/ 26 w 49"/>
                <a:gd name="T23" fmla="*/ 49 h 49"/>
                <a:gd name="T24" fmla="*/ 31 w 49"/>
                <a:gd name="T25" fmla="*/ 47 h 49"/>
                <a:gd name="T26" fmla="*/ 34 w 49"/>
                <a:gd name="T27" fmla="*/ 47 h 49"/>
                <a:gd name="T28" fmla="*/ 37 w 49"/>
                <a:gd name="T29" fmla="*/ 45 h 49"/>
                <a:gd name="T30" fmla="*/ 39 w 49"/>
                <a:gd name="T31" fmla="*/ 42 h 49"/>
                <a:gd name="T32" fmla="*/ 42 w 49"/>
                <a:gd name="T33" fmla="*/ 41 h 49"/>
                <a:gd name="T34" fmla="*/ 44 w 49"/>
                <a:gd name="T35" fmla="*/ 37 h 49"/>
                <a:gd name="T36" fmla="*/ 45 w 49"/>
                <a:gd name="T37" fmla="*/ 34 h 49"/>
                <a:gd name="T38" fmla="*/ 47 w 49"/>
                <a:gd name="T39" fmla="*/ 31 h 49"/>
                <a:gd name="T40" fmla="*/ 49 w 49"/>
                <a:gd name="T41" fmla="*/ 28 h 49"/>
                <a:gd name="T42" fmla="*/ 49 w 49"/>
                <a:gd name="T43" fmla="*/ 24 h 49"/>
                <a:gd name="T44" fmla="*/ 49 w 49"/>
                <a:gd name="T45" fmla="*/ 21 h 49"/>
                <a:gd name="T46" fmla="*/ 47 w 49"/>
                <a:gd name="T47" fmla="*/ 18 h 49"/>
                <a:gd name="T48" fmla="*/ 47 w 49"/>
                <a:gd name="T49" fmla="*/ 14 h 49"/>
                <a:gd name="T50" fmla="*/ 45 w 49"/>
                <a:gd name="T51" fmla="*/ 11 h 49"/>
                <a:gd name="T52" fmla="*/ 42 w 49"/>
                <a:gd name="T53" fmla="*/ 8 h 49"/>
                <a:gd name="T54" fmla="*/ 40 w 49"/>
                <a:gd name="T55" fmla="*/ 6 h 49"/>
                <a:gd name="T56" fmla="*/ 37 w 49"/>
                <a:gd name="T57" fmla="*/ 5 h 49"/>
                <a:gd name="T58" fmla="*/ 34 w 49"/>
                <a:gd name="T59" fmla="*/ 3 h 49"/>
                <a:gd name="T60" fmla="*/ 31 w 49"/>
                <a:gd name="T61" fmla="*/ 1 h 49"/>
                <a:gd name="T62" fmla="*/ 27 w 49"/>
                <a:gd name="T63" fmla="*/ 0 h 49"/>
                <a:gd name="T64" fmla="*/ 24 w 49"/>
                <a:gd name="T65" fmla="*/ 0 h 49"/>
                <a:gd name="T66" fmla="*/ 21 w 49"/>
                <a:gd name="T67" fmla="*/ 0 h 49"/>
                <a:gd name="T68" fmla="*/ 18 w 49"/>
                <a:gd name="T69" fmla="*/ 1 h 49"/>
                <a:gd name="T70" fmla="*/ 14 w 49"/>
                <a:gd name="T71" fmla="*/ 1 h 49"/>
                <a:gd name="T72" fmla="*/ 11 w 49"/>
                <a:gd name="T73" fmla="*/ 3 h 49"/>
                <a:gd name="T74" fmla="*/ 8 w 49"/>
                <a:gd name="T75" fmla="*/ 5 h 49"/>
                <a:gd name="T76" fmla="*/ 6 w 49"/>
                <a:gd name="T77" fmla="*/ 8 h 49"/>
                <a:gd name="T78" fmla="*/ 5 w 49"/>
                <a:gd name="T79" fmla="*/ 11 h 49"/>
                <a:gd name="T80" fmla="*/ 3 w 49"/>
                <a:gd name="T81" fmla="*/ 13 h 49"/>
                <a:gd name="T82" fmla="*/ 1 w 49"/>
                <a:gd name="T83" fmla="*/ 16 h 49"/>
                <a:gd name="T84" fmla="*/ 0 w 49"/>
                <a:gd name="T85" fmla="*/ 21 h 49"/>
                <a:gd name="T86" fmla="*/ 0 w 49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0" y="24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1949450" y="2538239"/>
              <a:ext cx="153988" cy="50800"/>
            </a:xfrm>
            <a:custGeom>
              <a:avLst/>
              <a:gdLst>
                <a:gd name="T0" fmla="*/ 196 w 196"/>
                <a:gd name="T1" fmla="*/ 0 h 65"/>
                <a:gd name="T2" fmla="*/ 0 w 196"/>
                <a:gd name="T3" fmla="*/ 33 h 65"/>
                <a:gd name="T4" fmla="*/ 196 w 196"/>
                <a:gd name="T5" fmla="*/ 65 h 65"/>
                <a:gd name="T6" fmla="*/ 196 w 196"/>
                <a:gd name="T7" fmla="*/ 33 h 65"/>
                <a:gd name="T8" fmla="*/ 196 w 196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65">
                  <a:moveTo>
                    <a:pt x="196" y="0"/>
                  </a:moveTo>
                  <a:lnTo>
                    <a:pt x="0" y="33"/>
                  </a:lnTo>
                  <a:lnTo>
                    <a:pt x="196" y="65"/>
                  </a:lnTo>
                  <a:lnTo>
                    <a:pt x="196" y="33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2362200" y="2538239"/>
              <a:ext cx="155575" cy="50800"/>
            </a:xfrm>
            <a:custGeom>
              <a:avLst/>
              <a:gdLst>
                <a:gd name="T0" fmla="*/ 0 w 195"/>
                <a:gd name="T1" fmla="*/ 65 h 65"/>
                <a:gd name="T2" fmla="*/ 195 w 195"/>
                <a:gd name="T3" fmla="*/ 33 h 65"/>
                <a:gd name="T4" fmla="*/ 0 w 195"/>
                <a:gd name="T5" fmla="*/ 0 h 65"/>
                <a:gd name="T6" fmla="*/ 0 w 195"/>
                <a:gd name="T7" fmla="*/ 33 h 65"/>
                <a:gd name="T8" fmla="*/ 0 w 195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65">
                  <a:moveTo>
                    <a:pt x="0" y="65"/>
                  </a:moveTo>
                  <a:lnTo>
                    <a:pt x="195" y="33"/>
                  </a:lnTo>
                  <a:lnTo>
                    <a:pt x="0" y="0"/>
                  </a:lnTo>
                  <a:lnTo>
                    <a:pt x="0" y="33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 flipH="1">
              <a:off x="2103438" y="256363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2671763" y="2795414"/>
              <a:ext cx="77787" cy="155575"/>
            </a:xfrm>
            <a:custGeom>
              <a:avLst/>
              <a:gdLst>
                <a:gd name="T0" fmla="*/ 97 w 97"/>
                <a:gd name="T1" fmla="*/ 195 h 195"/>
                <a:gd name="T2" fmla="*/ 65 w 97"/>
                <a:gd name="T3" fmla="*/ 0 h 195"/>
                <a:gd name="T4" fmla="*/ 0 w 97"/>
                <a:gd name="T5" fmla="*/ 195 h 195"/>
                <a:gd name="T6" fmla="*/ 65 w 97"/>
                <a:gd name="T7" fmla="*/ 195 h 195"/>
                <a:gd name="T8" fmla="*/ 97 w 97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5">
                  <a:moveTo>
                    <a:pt x="97" y="195"/>
                  </a:moveTo>
                  <a:lnTo>
                    <a:pt x="65" y="0"/>
                  </a:lnTo>
                  <a:lnTo>
                    <a:pt x="0" y="195"/>
                  </a:lnTo>
                  <a:lnTo>
                    <a:pt x="65" y="195"/>
                  </a:lnTo>
                  <a:lnTo>
                    <a:pt x="97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2671763" y="3287539"/>
              <a:ext cx="77787" cy="153987"/>
            </a:xfrm>
            <a:custGeom>
              <a:avLst/>
              <a:gdLst>
                <a:gd name="T0" fmla="*/ 0 w 97"/>
                <a:gd name="T1" fmla="*/ 0 h 195"/>
                <a:gd name="T2" fmla="*/ 65 w 97"/>
                <a:gd name="T3" fmla="*/ 195 h 195"/>
                <a:gd name="T4" fmla="*/ 97 w 97"/>
                <a:gd name="T5" fmla="*/ 0 h 195"/>
                <a:gd name="T6" fmla="*/ 65 w 97"/>
                <a:gd name="T7" fmla="*/ 0 h 195"/>
                <a:gd name="T8" fmla="*/ 0 w 97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5">
                  <a:moveTo>
                    <a:pt x="0" y="0"/>
                  </a:moveTo>
                  <a:lnTo>
                    <a:pt x="65" y="195"/>
                  </a:lnTo>
                  <a:lnTo>
                    <a:pt x="97" y="0"/>
                  </a:lnTo>
                  <a:lnTo>
                    <a:pt x="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2724150" y="2950989"/>
              <a:ext cx="1588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2982913" y="2795414"/>
              <a:ext cx="50800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2982913" y="3287539"/>
              <a:ext cx="50800" cy="153987"/>
            </a:xfrm>
            <a:custGeom>
              <a:avLst/>
              <a:gdLst>
                <a:gd name="T0" fmla="*/ 0 w 65"/>
                <a:gd name="T1" fmla="*/ 0 h 195"/>
                <a:gd name="T2" fmla="*/ 33 w 65"/>
                <a:gd name="T3" fmla="*/ 195 h 195"/>
                <a:gd name="T4" fmla="*/ 65 w 65"/>
                <a:gd name="T5" fmla="*/ 0 h 195"/>
                <a:gd name="T6" fmla="*/ 33 w 65"/>
                <a:gd name="T7" fmla="*/ 0 h 195"/>
                <a:gd name="T8" fmla="*/ 0 w 65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0" y="0"/>
                  </a:moveTo>
                  <a:lnTo>
                    <a:pt x="33" y="195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flipV="1">
              <a:off x="3008313" y="2950989"/>
              <a:ext cx="1587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3989388" y="2795414"/>
              <a:ext cx="52387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3989388" y="3287539"/>
              <a:ext cx="52387" cy="153987"/>
            </a:xfrm>
            <a:custGeom>
              <a:avLst/>
              <a:gdLst>
                <a:gd name="T0" fmla="*/ 0 w 65"/>
                <a:gd name="T1" fmla="*/ 0 h 195"/>
                <a:gd name="T2" fmla="*/ 33 w 65"/>
                <a:gd name="T3" fmla="*/ 195 h 195"/>
                <a:gd name="T4" fmla="*/ 65 w 65"/>
                <a:gd name="T5" fmla="*/ 0 h 195"/>
                <a:gd name="T6" fmla="*/ 33 w 65"/>
                <a:gd name="T7" fmla="*/ 0 h 195"/>
                <a:gd name="T8" fmla="*/ 0 w 65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0" y="0"/>
                  </a:moveTo>
                  <a:lnTo>
                    <a:pt x="33" y="195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4014788" y="2950989"/>
              <a:ext cx="1587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4919663" y="1296814"/>
              <a:ext cx="1755775" cy="1447800"/>
            </a:xfrm>
            <a:prstGeom prst="rect">
              <a:avLst/>
            </a:prstGeom>
            <a:noFill/>
            <a:ln w="2381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 rot="16200000">
              <a:off x="1170171" y="1802795"/>
              <a:ext cx="1152158" cy="327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I/O block </a:t>
              </a:r>
              <a:endParaRPr lang="en-US" altLang="en-US" sz="1500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5365750" y="1761952"/>
              <a:ext cx="999783" cy="32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PAL-like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7296150" y="1296814"/>
              <a:ext cx="387350" cy="1447800"/>
            </a:xfrm>
            <a:prstGeom prst="rect">
              <a:avLst/>
            </a:prstGeom>
            <a:solidFill>
              <a:srgbClr val="E5E5E5"/>
            </a:solidFill>
            <a:ln w="238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5540375" y="2046114"/>
              <a:ext cx="726361" cy="371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block</a:t>
              </a:r>
              <a:r>
                <a:rPr lang="en-US" altLang="en-US" sz="1700">
                  <a:solidFill>
                    <a:srgbClr val="000000"/>
                  </a:solidFill>
                  <a:latin typeface="Times-Roman" charset="0"/>
                </a:rPr>
                <a:t> </a:t>
              </a:r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7115175" y="1426989"/>
              <a:ext cx="155575" cy="77787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66 h 98"/>
                <a:gd name="T4" fmla="*/ 0 w 195"/>
                <a:gd name="T5" fmla="*/ 0 h 98"/>
                <a:gd name="T6" fmla="*/ 0 w 195"/>
                <a:gd name="T7" fmla="*/ 66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66"/>
                  </a:lnTo>
                  <a:lnTo>
                    <a:pt x="0" y="0"/>
                  </a:lnTo>
                  <a:lnTo>
                    <a:pt x="0" y="66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6702425" y="1426989"/>
              <a:ext cx="153988" cy="77787"/>
            </a:xfrm>
            <a:custGeom>
              <a:avLst/>
              <a:gdLst>
                <a:gd name="T0" fmla="*/ 195 w 195"/>
                <a:gd name="T1" fmla="*/ 0 h 98"/>
                <a:gd name="T2" fmla="*/ 0 w 195"/>
                <a:gd name="T3" fmla="*/ 66 h 98"/>
                <a:gd name="T4" fmla="*/ 195 w 195"/>
                <a:gd name="T5" fmla="*/ 98 h 98"/>
                <a:gd name="T6" fmla="*/ 195 w 195"/>
                <a:gd name="T7" fmla="*/ 66 h 98"/>
                <a:gd name="T8" fmla="*/ 195 w 195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195" y="0"/>
                  </a:moveTo>
                  <a:lnTo>
                    <a:pt x="0" y="66"/>
                  </a:lnTo>
                  <a:lnTo>
                    <a:pt x="195" y="98"/>
                  </a:lnTo>
                  <a:lnTo>
                    <a:pt x="195" y="66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6881813" y="147778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7115175" y="1711151"/>
              <a:ext cx="155575" cy="77788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33 h 98"/>
                <a:gd name="T4" fmla="*/ 0 w 195"/>
                <a:gd name="T5" fmla="*/ 0 h 98"/>
                <a:gd name="T6" fmla="*/ 0 w 195"/>
                <a:gd name="T7" fmla="*/ 33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33"/>
                  </a:lnTo>
                  <a:lnTo>
                    <a:pt x="0" y="0"/>
                  </a:lnTo>
                  <a:lnTo>
                    <a:pt x="0" y="33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6702425" y="1711151"/>
              <a:ext cx="153988" cy="77788"/>
            </a:xfrm>
            <a:custGeom>
              <a:avLst/>
              <a:gdLst>
                <a:gd name="T0" fmla="*/ 195 w 195"/>
                <a:gd name="T1" fmla="*/ 0 h 98"/>
                <a:gd name="T2" fmla="*/ 0 w 195"/>
                <a:gd name="T3" fmla="*/ 33 h 98"/>
                <a:gd name="T4" fmla="*/ 195 w 195"/>
                <a:gd name="T5" fmla="*/ 98 h 98"/>
                <a:gd name="T6" fmla="*/ 195 w 195"/>
                <a:gd name="T7" fmla="*/ 33 h 98"/>
                <a:gd name="T8" fmla="*/ 195 w 195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195" y="0"/>
                  </a:moveTo>
                  <a:lnTo>
                    <a:pt x="0" y="33"/>
                  </a:lnTo>
                  <a:lnTo>
                    <a:pt x="195" y="98"/>
                  </a:lnTo>
                  <a:lnTo>
                    <a:pt x="195" y="33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6881813" y="1736551"/>
              <a:ext cx="233362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>
              <a:off x="6959600" y="1917526"/>
              <a:ext cx="52388" cy="50800"/>
            </a:xfrm>
            <a:custGeom>
              <a:avLst/>
              <a:gdLst>
                <a:gd name="T0" fmla="*/ 30 w 65"/>
                <a:gd name="T1" fmla="*/ 2 h 65"/>
                <a:gd name="T2" fmla="*/ 26 w 65"/>
                <a:gd name="T3" fmla="*/ 2 h 65"/>
                <a:gd name="T4" fmla="*/ 22 w 65"/>
                <a:gd name="T5" fmla="*/ 3 h 65"/>
                <a:gd name="T6" fmla="*/ 17 w 65"/>
                <a:gd name="T7" fmla="*/ 5 h 65"/>
                <a:gd name="T8" fmla="*/ 14 w 65"/>
                <a:gd name="T9" fmla="*/ 6 h 65"/>
                <a:gd name="T10" fmla="*/ 9 w 65"/>
                <a:gd name="T11" fmla="*/ 10 h 65"/>
                <a:gd name="T12" fmla="*/ 6 w 65"/>
                <a:gd name="T13" fmla="*/ 15 h 65"/>
                <a:gd name="T14" fmla="*/ 4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4 w 65"/>
                <a:gd name="T29" fmla="*/ 49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0 h 65"/>
                <a:gd name="T36" fmla="*/ 17 w 65"/>
                <a:gd name="T37" fmla="*/ 62 h 65"/>
                <a:gd name="T38" fmla="*/ 22 w 65"/>
                <a:gd name="T39" fmla="*/ 63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3 h 65"/>
                <a:gd name="T50" fmla="*/ 48 w 65"/>
                <a:gd name="T51" fmla="*/ 62 h 65"/>
                <a:gd name="T52" fmla="*/ 52 w 65"/>
                <a:gd name="T53" fmla="*/ 60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1 w 65"/>
                <a:gd name="T73" fmla="*/ 18 h 65"/>
                <a:gd name="T74" fmla="*/ 60 w 65"/>
                <a:gd name="T75" fmla="*/ 15 h 65"/>
                <a:gd name="T76" fmla="*/ 56 w 65"/>
                <a:gd name="T77" fmla="*/ 10 h 65"/>
                <a:gd name="T78" fmla="*/ 52 w 65"/>
                <a:gd name="T79" fmla="*/ 6 h 65"/>
                <a:gd name="T80" fmla="*/ 48 w 65"/>
                <a:gd name="T81" fmla="*/ 5 h 65"/>
                <a:gd name="T82" fmla="*/ 43 w 65"/>
                <a:gd name="T83" fmla="*/ 3 h 65"/>
                <a:gd name="T84" fmla="*/ 40 w 65"/>
                <a:gd name="T85" fmla="*/ 2 h 65"/>
                <a:gd name="T86" fmla="*/ 35 w 65"/>
                <a:gd name="T87" fmla="*/ 2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6977063" y="1934989"/>
              <a:ext cx="38100" cy="38100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2 h 49"/>
                <a:gd name="T4" fmla="*/ 14 w 49"/>
                <a:gd name="T5" fmla="*/ 2 h 49"/>
                <a:gd name="T6" fmla="*/ 11 w 49"/>
                <a:gd name="T7" fmla="*/ 3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1 h 49"/>
                <a:gd name="T14" fmla="*/ 3 w 49"/>
                <a:gd name="T15" fmla="*/ 13 h 49"/>
                <a:gd name="T16" fmla="*/ 1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1 w 49"/>
                <a:gd name="T35" fmla="*/ 44 h 49"/>
                <a:gd name="T36" fmla="*/ 13 w 49"/>
                <a:gd name="T37" fmla="*/ 46 h 49"/>
                <a:gd name="T38" fmla="*/ 16 w 49"/>
                <a:gd name="T39" fmla="*/ 47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4 w 49"/>
                <a:gd name="T49" fmla="*/ 47 h 49"/>
                <a:gd name="T50" fmla="*/ 37 w 49"/>
                <a:gd name="T51" fmla="*/ 46 h 49"/>
                <a:gd name="T52" fmla="*/ 39 w 49"/>
                <a:gd name="T53" fmla="*/ 42 h 49"/>
                <a:gd name="T54" fmla="*/ 42 w 49"/>
                <a:gd name="T55" fmla="*/ 41 h 49"/>
                <a:gd name="T56" fmla="*/ 44 w 49"/>
                <a:gd name="T57" fmla="*/ 37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5 h 49"/>
                <a:gd name="T72" fmla="*/ 45 w 49"/>
                <a:gd name="T73" fmla="*/ 11 h 49"/>
                <a:gd name="T74" fmla="*/ 42 w 49"/>
                <a:gd name="T75" fmla="*/ 8 h 49"/>
                <a:gd name="T76" fmla="*/ 40 w 49"/>
                <a:gd name="T77" fmla="*/ 7 h 49"/>
                <a:gd name="T78" fmla="*/ 37 w 49"/>
                <a:gd name="T79" fmla="*/ 5 h 49"/>
                <a:gd name="T80" fmla="*/ 34 w 49"/>
                <a:gd name="T81" fmla="*/ 3 h 49"/>
                <a:gd name="T82" fmla="*/ 31 w 49"/>
                <a:gd name="T83" fmla="*/ 2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5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>
              <a:off x="6959600" y="2123901"/>
              <a:ext cx="52388" cy="52388"/>
            </a:xfrm>
            <a:custGeom>
              <a:avLst/>
              <a:gdLst>
                <a:gd name="T0" fmla="*/ 30 w 65"/>
                <a:gd name="T1" fmla="*/ 2 h 65"/>
                <a:gd name="T2" fmla="*/ 26 w 65"/>
                <a:gd name="T3" fmla="*/ 2 h 65"/>
                <a:gd name="T4" fmla="*/ 22 w 65"/>
                <a:gd name="T5" fmla="*/ 4 h 65"/>
                <a:gd name="T6" fmla="*/ 17 w 65"/>
                <a:gd name="T7" fmla="*/ 5 h 65"/>
                <a:gd name="T8" fmla="*/ 14 w 65"/>
                <a:gd name="T9" fmla="*/ 7 h 65"/>
                <a:gd name="T10" fmla="*/ 9 w 65"/>
                <a:gd name="T11" fmla="*/ 10 h 65"/>
                <a:gd name="T12" fmla="*/ 6 w 65"/>
                <a:gd name="T13" fmla="*/ 15 h 65"/>
                <a:gd name="T14" fmla="*/ 4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4 w 65"/>
                <a:gd name="T29" fmla="*/ 49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1 h 65"/>
                <a:gd name="T36" fmla="*/ 17 w 65"/>
                <a:gd name="T37" fmla="*/ 62 h 65"/>
                <a:gd name="T38" fmla="*/ 22 w 65"/>
                <a:gd name="T39" fmla="*/ 64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4 h 65"/>
                <a:gd name="T50" fmla="*/ 48 w 65"/>
                <a:gd name="T51" fmla="*/ 62 h 65"/>
                <a:gd name="T52" fmla="*/ 52 w 65"/>
                <a:gd name="T53" fmla="*/ 61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1 w 65"/>
                <a:gd name="T73" fmla="*/ 18 h 65"/>
                <a:gd name="T74" fmla="*/ 60 w 65"/>
                <a:gd name="T75" fmla="*/ 15 h 65"/>
                <a:gd name="T76" fmla="*/ 56 w 65"/>
                <a:gd name="T77" fmla="*/ 10 h 65"/>
                <a:gd name="T78" fmla="*/ 52 w 65"/>
                <a:gd name="T79" fmla="*/ 7 h 65"/>
                <a:gd name="T80" fmla="*/ 48 w 65"/>
                <a:gd name="T81" fmla="*/ 5 h 65"/>
                <a:gd name="T82" fmla="*/ 43 w 65"/>
                <a:gd name="T83" fmla="*/ 4 h 65"/>
                <a:gd name="T84" fmla="*/ 40 w 65"/>
                <a:gd name="T85" fmla="*/ 2 h 65"/>
                <a:gd name="T86" fmla="*/ 35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6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6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1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7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6977063" y="2114376"/>
              <a:ext cx="38100" cy="39688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2 h 49"/>
                <a:gd name="T4" fmla="*/ 14 w 49"/>
                <a:gd name="T5" fmla="*/ 2 h 49"/>
                <a:gd name="T6" fmla="*/ 11 w 49"/>
                <a:gd name="T7" fmla="*/ 3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1 h 49"/>
                <a:gd name="T14" fmla="*/ 3 w 49"/>
                <a:gd name="T15" fmla="*/ 13 h 49"/>
                <a:gd name="T16" fmla="*/ 1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1 w 49"/>
                <a:gd name="T35" fmla="*/ 44 h 49"/>
                <a:gd name="T36" fmla="*/ 13 w 49"/>
                <a:gd name="T37" fmla="*/ 45 h 49"/>
                <a:gd name="T38" fmla="*/ 16 w 49"/>
                <a:gd name="T39" fmla="*/ 47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4 w 49"/>
                <a:gd name="T49" fmla="*/ 47 h 49"/>
                <a:gd name="T50" fmla="*/ 37 w 49"/>
                <a:gd name="T51" fmla="*/ 45 h 49"/>
                <a:gd name="T52" fmla="*/ 39 w 49"/>
                <a:gd name="T53" fmla="*/ 42 h 49"/>
                <a:gd name="T54" fmla="*/ 42 w 49"/>
                <a:gd name="T55" fmla="*/ 41 h 49"/>
                <a:gd name="T56" fmla="*/ 44 w 49"/>
                <a:gd name="T57" fmla="*/ 37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5 h 49"/>
                <a:gd name="T72" fmla="*/ 45 w 49"/>
                <a:gd name="T73" fmla="*/ 11 h 49"/>
                <a:gd name="T74" fmla="*/ 42 w 49"/>
                <a:gd name="T75" fmla="*/ 8 h 49"/>
                <a:gd name="T76" fmla="*/ 40 w 49"/>
                <a:gd name="T77" fmla="*/ 6 h 49"/>
                <a:gd name="T78" fmla="*/ 37 w 49"/>
                <a:gd name="T79" fmla="*/ 5 h 49"/>
                <a:gd name="T80" fmla="*/ 34 w 49"/>
                <a:gd name="T81" fmla="*/ 3 h 49"/>
                <a:gd name="T82" fmla="*/ 31 w 49"/>
                <a:gd name="T83" fmla="*/ 2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6959600" y="2304876"/>
              <a:ext cx="52388" cy="52388"/>
            </a:xfrm>
            <a:custGeom>
              <a:avLst/>
              <a:gdLst>
                <a:gd name="T0" fmla="*/ 30 w 65"/>
                <a:gd name="T1" fmla="*/ 2 h 65"/>
                <a:gd name="T2" fmla="*/ 26 w 65"/>
                <a:gd name="T3" fmla="*/ 2 h 65"/>
                <a:gd name="T4" fmla="*/ 22 w 65"/>
                <a:gd name="T5" fmla="*/ 3 h 65"/>
                <a:gd name="T6" fmla="*/ 17 w 65"/>
                <a:gd name="T7" fmla="*/ 5 h 65"/>
                <a:gd name="T8" fmla="*/ 14 w 65"/>
                <a:gd name="T9" fmla="*/ 7 h 65"/>
                <a:gd name="T10" fmla="*/ 9 w 65"/>
                <a:gd name="T11" fmla="*/ 10 h 65"/>
                <a:gd name="T12" fmla="*/ 6 w 65"/>
                <a:gd name="T13" fmla="*/ 15 h 65"/>
                <a:gd name="T14" fmla="*/ 4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4 w 65"/>
                <a:gd name="T29" fmla="*/ 49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0 h 65"/>
                <a:gd name="T36" fmla="*/ 17 w 65"/>
                <a:gd name="T37" fmla="*/ 62 h 65"/>
                <a:gd name="T38" fmla="*/ 22 w 65"/>
                <a:gd name="T39" fmla="*/ 64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4 h 65"/>
                <a:gd name="T50" fmla="*/ 48 w 65"/>
                <a:gd name="T51" fmla="*/ 62 h 65"/>
                <a:gd name="T52" fmla="*/ 52 w 65"/>
                <a:gd name="T53" fmla="*/ 60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1 w 65"/>
                <a:gd name="T73" fmla="*/ 18 h 65"/>
                <a:gd name="T74" fmla="*/ 60 w 65"/>
                <a:gd name="T75" fmla="*/ 15 h 65"/>
                <a:gd name="T76" fmla="*/ 56 w 65"/>
                <a:gd name="T77" fmla="*/ 10 h 65"/>
                <a:gd name="T78" fmla="*/ 52 w 65"/>
                <a:gd name="T79" fmla="*/ 7 h 65"/>
                <a:gd name="T80" fmla="*/ 48 w 65"/>
                <a:gd name="T81" fmla="*/ 5 h 65"/>
                <a:gd name="T82" fmla="*/ 43 w 65"/>
                <a:gd name="T83" fmla="*/ 3 h 65"/>
                <a:gd name="T84" fmla="*/ 40 w 65"/>
                <a:gd name="T85" fmla="*/ 2 h 65"/>
                <a:gd name="T86" fmla="*/ 35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1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>
              <a:off x="6977063" y="2322339"/>
              <a:ext cx="38100" cy="38100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2 h 49"/>
                <a:gd name="T4" fmla="*/ 14 w 49"/>
                <a:gd name="T5" fmla="*/ 2 h 49"/>
                <a:gd name="T6" fmla="*/ 11 w 49"/>
                <a:gd name="T7" fmla="*/ 4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2 h 49"/>
                <a:gd name="T14" fmla="*/ 3 w 49"/>
                <a:gd name="T15" fmla="*/ 13 h 49"/>
                <a:gd name="T16" fmla="*/ 1 w 49"/>
                <a:gd name="T17" fmla="*/ 17 h 49"/>
                <a:gd name="T18" fmla="*/ 0 w 49"/>
                <a:gd name="T19" fmla="*/ 21 h 49"/>
                <a:gd name="T20" fmla="*/ 0 w 49"/>
                <a:gd name="T21" fmla="*/ 25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8 h 49"/>
                <a:gd name="T30" fmla="*/ 5 w 49"/>
                <a:gd name="T31" fmla="*/ 39 h 49"/>
                <a:gd name="T32" fmla="*/ 8 w 49"/>
                <a:gd name="T33" fmla="*/ 43 h 49"/>
                <a:gd name="T34" fmla="*/ 11 w 49"/>
                <a:gd name="T35" fmla="*/ 44 h 49"/>
                <a:gd name="T36" fmla="*/ 13 w 49"/>
                <a:gd name="T37" fmla="*/ 46 h 49"/>
                <a:gd name="T38" fmla="*/ 16 w 49"/>
                <a:gd name="T39" fmla="*/ 48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8 h 49"/>
                <a:gd name="T48" fmla="*/ 34 w 49"/>
                <a:gd name="T49" fmla="*/ 48 h 49"/>
                <a:gd name="T50" fmla="*/ 37 w 49"/>
                <a:gd name="T51" fmla="*/ 46 h 49"/>
                <a:gd name="T52" fmla="*/ 39 w 49"/>
                <a:gd name="T53" fmla="*/ 43 h 49"/>
                <a:gd name="T54" fmla="*/ 42 w 49"/>
                <a:gd name="T55" fmla="*/ 41 h 49"/>
                <a:gd name="T56" fmla="*/ 44 w 49"/>
                <a:gd name="T57" fmla="*/ 38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8 h 49"/>
                <a:gd name="T64" fmla="*/ 49 w 49"/>
                <a:gd name="T65" fmla="*/ 25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5 h 49"/>
                <a:gd name="T72" fmla="*/ 45 w 49"/>
                <a:gd name="T73" fmla="*/ 12 h 49"/>
                <a:gd name="T74" fmla="*/ 42 w 49"/>
                <a:gd name="T75" fmla="*/ 8 h 49"/>
                <a:gd name="T76" fmla="*/ 40 w 49"/>
                <a:gd name="T77" fmla="*/ 7 h 49"/>
                <a:gd name="T78" fmla="*/ 37 w 49"/>
                <a:gd name="T79" fmla="*/ 5 h 49"/>
                <a:gd name="T80" fmla="*/ 34 w 49"/>
                <a:gd name="T81" fmla="*/ 4 h 49"/>
                <a:gd name="T82" fmla="*/ 31 w 49"/>
                <a:gd name="T83" fmla="*/ 2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8"/>
                  </a:lnTo>
                  <a:lnTo>
                    <a:pt x="16" y="48"/>
                  </a:lnTo>
                  <a:lnTo>
                    <a:pt x="16" y="48"/>
                  </a:lnTo>
                  <a:lnTo>
                    <a:pt x="18" y="48"/>
                  </a:lnTo>
                  <a:lnTo>
                    <a:pt x="19" y="48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8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6"/>
                  </a:lnTo>
                  <a:lnTo>
                    <a:pt x="35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5" y="38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0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5" y="4"/>
                  </a:lnTo>
                  <a:lnTo>
                    <a:pt x="34" y="4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5875338" y="3079576"/>
              <a:ext cx="50800" cy="52388"/>
            </a:xfrm>
            <a:custGeom>
              <a:avLst/>
              <a:gdLst>
                <a:gd name="T0" fmla="*/ 65 w 65"/>
                <a:gd name="T1" fmla="*/ 31 h 65"/>
                <a:gd name="T2" fmla="*/ 65 w 65"/>
                <a:gd name="T3" fmla="*/ 26 h 65"/>
                <a:gd name="T4" fmla="*/ 63 w 65"/>
                <a:gd name="T5" fmla="*/ 22 h 65"/>
                <a:gd name="T6" fmla="*/ 62 w 65"/>
                <a:gd name="T7" fmla="*/ 18 h 65"/>
                <a:gd name="T8" fmla="*/ 60 w 65"/>
                <a:gd name="T9" fmla="*/ 14 h 65"/>
                <a:gd name="T10" fmla="*/ 57 w 65"/>
                <a:gd name="T11" fmla="*/ 9 h 65"/>
                <a:gd name="T12" fmla="*/ 52 w 65"/>
                <a:gd name="T13" fmla="*/ 6 h 65"/>
                <a:gd name="T14" fmla="*/ 49 w 65"/>
                <a:gd name="T15" fmla="*/ 5 h 65"/>
                <a:gd name="T16" fmla="*/ 44 w 65"/>
                <a:gd name="T17" fmla="*/ 3 h 65"/>
                <a:gd name="T18" fmla="*/ 40 w 65"/>
                <a:gd name="T19" fmla="*/ 1 h 65"/>
                <a:gd name="T20" fmla="*/ 36 w 65"/>
                <a:gd name="T21" fmla="*/ 1 h 65"/>
                <a:gd name="T22" fmla="*/ 31 w 65"/>
                <a:gd name="T23" fmla="*/ 1 h 65"/>
                <a:gd name="T24" fmla="*/ 26 w 65"/>
                <a:gd name="T25" fmla="*/ 1 h 65"/>
                <a:gd name="T26" fmla="*/ 23 w 65"/>
                <a:gd name="T27" fmla="*/ 3 h 65"/>
                <a:gd name="T28" fmla="*/ 18 w 65"/>
                <a:gd name="T29" fmla="*/ 5 h 65"/>
                <a:gd name="T30" fmla="*/ 14 w 65"/>
                <a:gd name="T31" fmla="*/ 6 h 65"/>
                <a:gd name="T32" fmla="*/ 10 w 65"/>
                <a:gd name="T33" fmla="*/ 9 h 65"/>
                <a:gd name="T34" fmla="*/ 6 w 65"/>
                <a:gd name="T35" fmla="*/ 14 h 65"/>
                <a:gd name="T36" fmla="*/ 5 w 65"/>
                <a:gd name="T37" fmla="*/ 18 h 65"/>
                <a:gd name="T38" fmla="*/ 3 w 65"/>
                <a:gd name="T39" fmla="*/ 22 h 65"/>
                <a:gd name="T40" fmla="*/ 1 w 65"/>
                <a:gd name="T41" fmla="*/ 26 h 65"/>
                <a:gd name="T42" fmla="*/ 1 w 65"/>
                <a:gd name="T43" fmla="*/ 31 h 65"/>
                <a:gd name="T44" fmla="*/ 1 w 65"/>
                <a:gd name="T45" fmla="*/ 35 h 65"/>
                <a:gd name="T46" fmla="*/ 1 w 65"/>
                <a:gd name="T47" fmla="*/ 40 h 65"/>
                <a:gd name="T48" fmla="*/ 3 w 65"/>
                <a:gd name="T49" fmla="*/ 44 h 65"/>
                <a:gd name="T50" fmla="*/ 5 w 65"/>
                <a:gd name="T51" fmla="*/ 49 h 65"/>
                <a:gd name="T52" fmla="*/ 6 w 65"/>
                <a:gd name="T53" fmla="*/ 52 h 65"/>
                <a:gd name="T54" fmla="*/ 10 w 65"/>
                <a:gd name="T55" fmla="*/ 57 h 65"/>
                <a:gd name="T56" fmla="*/ 14 w 65"/>
                <a:gd name="T57" fmla="*/ 60 h 65"/>
                <a:gd name="T58" fmla="*/ 18 w 65"/>
                <a:gd name="T59" fmla="*/ 62 h 65"/>
                <a:gd name="T60" fmla="*/ 23 w 65"/>
                <a:gd name="T61" fmla="*/ 63 h 65"/>
                <a:gd name="T62" fmla="*/ 26 w 65"/>
                <a:gd name="T63" fmla="*/ 65 h 65"/>
                <a:gd name="T64" fmla="*/ 31 w 65"/>
                <a:gd name="T65" fmla="*/ 65 h 65"/>
                <a:gd name="T66" fmla="*/ 36 w 65"/>
                <a:gd name="T67" fmla="*/ 65 h 65"/>
                <a:gd name="T68" fmla="*/ 40 w 65"/>
                <a:gd name="T69" fmla="*/ 65 h 65"/>
                <a:gd name="T70" fmla="*/ 44 w 65"/>
                <a:gd name="T71" fmla="*/ 63 h 65"/>
                <a:gd name="T72" fmla="*/ 49 w 65"/>
                <a:gd name="T73" fmla="*/ 62 h 65"/>
                <a:gd name="T74" fmla="*/ 52 w 65"/>
                <a:gd name="T75" fmla="*/ 60 h 65"/>
                <a:gd name="T76" fmla="*/ 57 w 65"/>
                <a:gd name="T77" fmla="*/ 57 h 65"/>
                <a:gd name="T78" fmla="*/ 60 w 65"/>
                <a:gd name="T79" fmla="*/ 52 h 65"/>
                <a:gd name="T80" fmla="*/ 62 w 65"/>
                <a:gd name="T81" fmla="*/ 49 h 65"/>
                <a:gd name="T82" fmla="*/ 63 w 65"/>
                <a:gd name="T83" fmla="*/ 44 h 65"/>
                <a:gd name="T84" fmla="*/ 65 w 65"/>
                <a:gd name="T85" fmla="*/ 40 h 65"/>
                <a:gd name="T86" fmla="*/ 65 w 65"/>
                <a:gd name="T87" fmla="*/ 35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>
              <a:off x="5891213" y="3097039"/>
              <a:ext cx="39687" cy="38100"/>
            </a:xfrm>
            <a:custGeom>
              <a:avLst/>
              <a:gdLst>
                <a:gd name="T0" fmla="*/ 49 w 49"/>
                <a:gd name="T1" fmla="*/ 21 h 49"/>
                <a:gd name="T2" fmla="*/ 47 w 49"/>
                <a:gd name="T3" fmla="*/ 18 h 49"/>
                <a:gd name="T4" fmla="*/ 47 w 49"/>
                <a:gd name="T5" fmla="*/ 14 h 49"/>
                <a:gd name="T6" fmla="*/ 45 w 49"/>
                <a:gd name="T7" fmla="*/ 11 h 49"/>
                <a:gd name="T8" fmla="*/ 42 w 49"/>
                <a:gd name="T9" fmla="*/ 8 h 49"/>
                <a:gd name="T10" fmla="*/ 41 w 49"/>
                <a:gd name="T11" fmla="*/ 6 h 49"/>
                <a:gd name="T12" fmla="*/ 37 w 49"/>
                <a:gd name="T13" fmla="*/ 5 h 49"/>
                <a:gd name="T14" fmla="*/ 34 w 49"/>
                <a:gd name="T15" fmla="*/ 3 h 49"/>
                <a:gd name="T16" fmla="*/ 31 w 49"/>
                <a:gd name="T17" fmla="*/ 1 h 49"/>
                <a:gd name="T18" fmla="*/ 28 w 49"/>
                <a:gd name="T19" fmla="*/ 0 h 49"/>
                <a:gd name="T20" fmla="*/ 24 w 49"/>
                <a:gd name="T21" fmla="*/ 0 h 49"/>
                <a:gd name="T22" fmla="*/ 21 w 49"/>
                <a:gd name="T23" fmla="*/ 0 h 49"/>
                <a:gd name="T24" fmla="*/ 18 w 49"/>
                <a:gd name="T25" fmla="*/ 1 h 49"/>
                <a:gd name="T26" fmla="*/ 15 w 49"/>
                <a:gd name="T27" fmla="*/ 1 h 49"/>
                <a:gd name="T28" fmla="*/ 11 w 49"/>
                <a:gd name="T29" fmla="*/ 3 h 49"/>
                <a:gd name="T30" fmla="*/ 8 w 49"/>
                <a:gd name="T31" fmla="*/ 5 h 49"/>
                <a:gd name="T32" fmla="*/ 6 w 49"/>
                <a:gd name="T33" fmla="*/ 8 h 49"/>
                <a:gd name="T34" fmla="*/ 5 w 49"/>
                <a:gd name="T35" fmla="*/ 11 h 49"/>
                <a:gd name="T36" fmla="*/ 3 w 49"/>
                <a:gd name="T37" fmla="*/ 13 h 49"/>
                <a:gd name="T38" fmla="*/ 2 w 49"/>
                <a:gd name="T39" fmla="*/ 16 h 49"/>
                <a:gd name="T40" fmla="*/ 0 w 49"/>
                <a:gd name="T41" fmla="*/ 21 h 49"/>
                <a:gd name="T42" fmla="*/ 0 w 49"/>
                <a:gd name="T43" fmla="*/ 24 h 49"/>
                <a:gd name="T44" fmla="*/ 0 w 49"/>
                <a:gd name="T45" fmla="*/ 26 h 49"/>
                <a:gd name="T46" fmla="*/ 2 w 49"/>
                <a:gd name="T47" fmla="*/ 31 h 49"/>
                <a:gd name="T48" fmla="*/ 2 w 49"/>
                <a:gd name="T49" fmla="*/ 34 h 49"/>
                <a:gd name="T50" fmla="*/ 3 w 49"/>
                <a:gd name="T51" fmla="*/ 37 h 49"/>
                <a:gd name="T52" fmla="*/ 5 w 49"/>
                <a:gd name="T53" fmla="*/ 39 h 49"/>
                <a:gd name="T54" fmla="*/ 8 w 49"/>
                <a:gd name="T55" fmla="*/ 42 h 49"/>
                <a:gd name="T56" fmla="*/ 11 w 49"/>
                <a:gd name="T57" fmla="*/ 44 h 49"/>
                <a:gd name="T58" fmla="*/ 13 w 49"/>
                <a:gd name="T59" fmla="*/ 45 h 49"/>
                <a:gd name="T60" fmla="*/ 16 w 49"/>
                <a:gd name="T61" fmla="*/ 47 h 49"/>
                <a:gd name="T62" fmla="*/ 21 w 49"/>
                <a:gd name="T63" fmla="*/ 49 h 49"/>
                <a:gd name="T64" fmla="*/ 24 w 49"/>
                <a:gd name="T65" fmla="*/ 49 h 49"/>
                <a:gd name="T66" fmla="*/ 26 w 49"/>
                <a:gd name="T67" fmla="*/ 49 h 49"/>
                <a:gd name="T68" fmla="*/ 31 w 49"/>
                <a:gd name="T69" fmla="*/ 47 h 49"/>
                <a:gd name="T70" fmla="*/ 34 w 49"/>
                <a:gd name="T71" fmla="*/ 47 h 49"/>
                <a:gd name="T72" fmla="*/ 37 w 49"/>
                <a:gd name="T73" fmla="*/ 45 h 49"/>
                <a:gd name="T74" fmla="*/ 39 w 49"/>
                <a:gd name="T75" fmla="*/ 42 h 49"/>
                <a:gd name="T76" fmla="*/ 42 w 49"/>
                <a:gd name="T77" fmla="*/ 41 h 49"/>
                <a:gd name="T78" fmla="*/ 44 w 49"/>
                <a:gd name="T79" fmla="*/ 37 h 49"/>
                <a:gd name="T80" fmla="*/ 45 w 49"/>
                <a:gd name="T81" fmla="*/ 34 h 49"/>
                <a:gd name="T82" fmla="*/ 47 w 49"/>
                <a:gd name="T83" fmla="*/ 31 h 49"/>
                <a:gd name="T84" fmla="*/ 49 w 49"/>
                <a:gd name="T85" fmla="*/ 28 h 49"/>
                <a:gd name="T86" fmla="*/ 49 w 49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49" y="24"/>
                  </a:move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5668963" y="3079576"/>
              <a:ext cx="50800" cy="52388"/>
            </a:xfrm>
            <a:custGeom>
              <a:avLst/>
              <a:gdLst>
                <a:gd name="T0" fmla="*/ 66 w 66"/>
                <a:gd name="T1" fmla="*/ 31 h 65"/>
                <a:gd name="T2" fmla="*/ 66 w 66"/>
                <a:gd name="T3" fmla="*/ 26 h 65"/>
                <a:gd name="T4" fmla="*/ 64 w 66"/>
                <a:gd name="T5" fmla="*/ 22 h 65"/>
                <a:gd name="T6" fmla="*/ 62 w 66"/>
                <a:gd name="T7" fmla="*/ 18 h 65"/>
                <a:gd name="T8" fmla="*/ 61 w 66"/>
                <a:gd name="T9" fmla="*/ 14 h 65"/>
                <a:gd name="T10" fmla="*/ 57 w 66"/>
                <a:gd name="T11" fmla="*/ 9 h 65"/>
                <a:gd name="T12" fmla="*/ 52 w 66"/>
                <a:gd name="T13" fmla="*/ 6 h 65"/>
                <a:gd name="T14" fmla="*/ 49 w 66"/>
                <a:gd name="T15" fmla="*/ 5 h 65"/>
                <a:gd name="T16" fmla="*/ 44 w 66"/>
                <a:gd name="T17" fmla="*/ 3 h 65"/>
                <a:gd name="T18" fmla="*/ 41 w 66"/>
                <a:gd name="T19" fmla="*/ 1 h 65"/>
                <a:gd name="T20" fmla="*/ 36 w 66"/>
                <a:gd name="T21" fmla="*/ 1 h 65"/>
                <a:gd name="T22" fmla="*/ 31 w 66"/>
                <a:gd name="T23" fmla="*/ 1 h 65"/>
                <a:gd name="T24" fmla="*/ 26 w 66"/>
                <a:gd name="T25" fmla="*/ 1 h 65"/>
                <a:gd name="T26" fmla="*/ 23 w 66"/>
                <a:gd name="T27" fmla="*/ 3 h 65"/>
                <a:gd name="T28" fmla="*/ 18 w 66"/>
                <a:gd name="T29" fmla="*/ 5 h 65"/>
                <a:gd name="T30" fmla="*/ 15 w 66"/>
                <a:gd name="T31" fmla="*/ 6 h 65"/>
                <a:gd name="T32" fmla="*/ 10 w 66"/>
                <a:gd name="T33" fmla="*/ 9 h 65"/>
                <a:gd name="T34" fmla="*/ 7 w 66"/>
                <a:gd name="T35" fmla="*/ 14 h 65"/>
                <a:gd name="T36" fmla="*/ 5 w 66"/>
                <a:gd name="T37" fmla="*/ 18 h 65"/>
                <a:gd name="T38" fmla="*/ 4 w 66"/>
                <a:gd name="T39" fmla="*/ 22 h 65"/>
                <a:gd name="T40" fmla="*/ 2 w 66"/>
                <a:gd name="T41" fmla="*/ 26 h 65"/>
                <a:gd name="T42" fmla="*/ 2 w 66"/>
                <a:gd name="T43" fmla="*/ 31 h 65"/>
                <a:gd name="T44" fmla="*/ 2 w 66"/>
                <a:gd name="T45" fmla="*/ 35 h 65"/>
                <a:gd name="T46" fmla="*/ 2 w 66"/>
                <a:gd name="T47" fmla="*/ 40 h 65"/>
                <a:gd name="T48" fmla="*/ 4 w 66"/>
                <a:gd name="T49" fmla="*/ 44 h 65"/>
                <a:gd name="T50" fmla="*/ 5 w 66"/>
                <a:gd name="T51" fmla="*/ 49 h 65"/>
                <a:gd name="T52" fmla="*/ 7 w 66"/>
                <a:gd name="T53" fmla="*/ 52 h 65"/>
                <a:gd name="T54" fmla="*/ 10 w 66"/>
                <a:gd name="T55" fmla="*/ 57 h 65"/>
                <a:gd name="T56" fmla="*/ 15 w 66"/>
                <a:gd name="T57" fmla="*/ 60 h 65"/>
                <a:gd name="T58" fmla="*/ 18 w 66"/>
                <a:gd name="T59" fmla="*/ 62 h 65"/>
                <a:gd name="T60" fmla="*/ 23 w 66"/>
                <a:gd name="T61" fmla="*/ 63 h 65"/>
                <a:gd name="T62" fmla="*/ 26 w 66"/>
                <a:gd name="T63" fmla="*/ 65 h 65"/>
                <a:gd name="T64" fmla="*/ 31 w 66"/>
                <a:gd name="T65" fmla="*/ 65 h 65"/>
                <a:gd name="T66" fmla="*/ 36 w 66"/>
                <a:gd name="T67" fmla="*/ 65 h 65"/>
                <a:gd name="T68" fmla="*/ 41 w 66"/>
                <a:gd name="T69" fmla="*/ 65 h 65"/>
                <a:gd name="T70" fmla="*/ 44 w 66"/>
                <a:gd name="T71" fmla="*/ 63 h 65"/>
                <a:gd name="T72" fmla="*/ 49 w 66"/>
                <a:gd name="T73" fmla="*/ 62 h 65"/>
                <a:gd name="T74" fmla="*/ 52 w 66"/>
                <a:gd name="T75" fmla="*/ 60 h 65"/>
                <a:gd name="T76" fmla="*/ 57 w 66"/>
                <a:gd name="T77" fmla="*/ 57 h 65"/>
                <a:gd name="T78" fmla="*/ 61 w 66"/>
                <a:gd name="T79" fmla="*/ 52 h 65"/>
                <a:gd name="T80" fmla="*/ 62 w 66"/>
                <a:gd name="T81" fmla="*/ 49 h 65"/>
                <a:gd name="T82" fmla="*/ 64 w 66"/>
                <a:gd name="T83" fmla="*/ 44 h 65"/>
                <a:gd name="T84" fmla="*/ 66 w 66"/>
                <a:gd name="T85" fmla="*/ 40 h 65"/>
                <a:gd name="T86" fmla="*/ 66 w 66"/>
                <a:gd name="T87" fmla="*/ 35 h 65"/>
                <a:gd name="T88" fmla="*/ 33 w 66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6" h="65">
                  <a:moveTo>
                    <a:pt x="33" y="32"/>
                  </a:moveTo>
                  <a:lnTo>
                    <a:pt x="66" y="32"/>
                  </a:lnTo>
                  <a:lnTo>
                    <a:pt x="66" y="31"/>
                  </a:lnTo>
                  <a:lnTo>
                    <a:pt x="66" y="29"/>
                  </a:lnTo>
                  <a:lnTo>
                    <a:pt x="66" y="27"/>
                  </a:lnTo>
                  <a:lnTo>
                    <a:pt x="66" y="26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4" y="22"/>
                  </a:lnTo>
                  <a:lnTo>
                    <a:pt x="64" y="21"/>
                  </a:lnTo>
                  <a:lnTo>
                    <a:pt x="64" y="19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1" y="14"/>
                  </a:lnTo>
                  <a:lnTo>
                    <a:pt x="61" y="14"/>
                  </a:lnTo>
                  <a:lnTo>
                    <a:pt x="59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6" y="9"/>
                  </a:lnTo>
                  <a:lnTo>
                    <a:pt x="54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3" y="8"/>
                  </a:lnTo>
                  <a:lnTo>
                    <a:pt x="12" y="9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9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4" y="44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9" y="53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7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2" y="63"/>
                  </a:lnTo>
                  <a:lnTo>
                    <a:pt x="23" y="63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3" y="65"/>
                  </a:lnTo>
                  <a:lnTo>
                    <a:pt x="44" y="63"/>
                  </a:lnTo>
                  <a:lnTo>
                    <a:pt x="46" y="63"/>
                  </a:lnTo>
                  <a:lnTo>
                    <a:pt x="48" y="63"/>
                  </a:lnTo>
                  <a:lnTo>
                    <a:pt x="49" y="62"/>
                  </a:lnTo>
                  <a:lnTo>
                    <a:pt x="51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4" y="58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9" y="53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4" y="44"/>
                  </a:lnTo>
                  <a:lnTo>
                    <a:pt x="66" y="42"/>
                  </a:lnTo>
                  <a:lnTo>
                    <a:pt x="66" y="40"/>
                  </a:lnTo>
                  <a:lnTo>
                    <a:pt x="66" y="40"/>
                  </a:lnTo>
                  <a:lnTo>
                    <a:pt x="66" y="39"/>
                  </a:lnTo>
                  <a:lnTo>
                    <a:pt x="66" y="37"/>
                  </a:lnTo>
                  <a:lnTo>
                    <a:pt x="66" y="35"/>
                  </a:lnTo>
                  <a:lnTo>
                    <a:pt x="66" y="32"/>
                  </a:lnTo>
                  <a:lnTo>
                    <a:pt x="66" y="32"/>
                  </a:lnTo>
                  <a:lnTo>
                    <a:pt x="33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auto">
            <a:xfrm>
              <a:off x="5684838" y="3097039"/>
              <a:ext cx="39687" cy="38100"/>
            </a:xfrm>
            <a:custGeom>
              <a:avLst/>
              <a:gdLst>
                <a:gd name="T0" fmla="*/ 48 w 48"/>
                <a:gd name="T1" fmla="*/ 21 h 49"/>
                <a:gd name="T2" fmla="*/ 47 w 48"/>
                <a:gd name="T3" fmla="*/ 18 h 49"/>
                <a:gd name="T4" fmla="*/ 47 w 48"/>
                <a:gd name="T5" fmla="*/ 14 h 49"/>
                <a:gd name="T6" fmla="*/ 45 w 48"/>
                <a:gd name="T7" fmla="*/ 11 h 49"/>
                <a:gd name="T8" fmla="*/ 42 w 48"/>
                <a:gd name="T9" fmla="*/ 8 h 49"/>
                <a:gd name="T10" fmla="*/ 40 w 48"/>
                <a:gd name="T11" fmla="*/ 6 h 49"/>
                <a:gd name="T12" fmla="*/ 37 w 48"/>
                <a:gd name="T13" fmla="*/ 5 h 49"/>
                <a:gd name="T14" fmla="*/ 34 w 48"/>
                <a:gd name="T15" fmla="*/ 3 h 49"/>
                <a:gd name="T16" fmla="*/ 30 w 48"/>
                <a:gd name="T17" fmla="*/ 1 h 49"/>
                <a:gd name="T18" fmla="*/ 27 w 48"/>
                <a:gd name="T19" fmla="*/ 0 h 49"/>
                <a:gd name="T20" fmla="*/ 24 w 48"/>
                <a:gd name="T21" fmla="*/ 0 h 49"/>
                <a:gd name="T22" fmla="*/ 21 w 48"/>
                <a:gd name="T23" fmla="*/ 0 h 49"/>
                <a:gd name="T24" fmla="*/ 17 w 48"/>
                <a:gd name="T25" fmla="*/ 1 h 49"/>
                <a:gd name="T26" fmla="*/ 14 w 48"/>
                <a:gd name="T27" fmla="*/ 1 h 49"/>
                <a:gd name="T28" fmla="*/ 11 w 48"/>
                <a:gd name="T29" fmla="*/ 3 h 49"/>
                <a:gd name="T30" fmla="*/ 8 w 48"/>
                <a:gd name="T31" fmla="*/ 5 h 49"/>
                <a:gd name="T32" fmla="*/ 6 w 48"/>
                <a:gd name="T33" fmla="*/ 8 h 49"/>
                <a:gd name="T34" fmla="*/ 4 w 48"/>
                <a:gd name="T35" fmla="*/ 11 h 49"/>
                <a:gd name="T36" fmla="*/ 3 w 48"/>
                <a:gd name="T37" fmla="*/ 13 h 49"/>
                <a:gd name="T38" fmla="*/ 1 w 48"/>
                <a:gd name="T39" fmla="*/ 16 h 49"/>
                <a:gd name="T40" fmla="*/ 0 w 48"/>
                <a:gd name="T41" fmla="*/ 21 h 49"/>
                <a:gd name="T42" fmla="*/ 0 w 48"/>
                <a:gd name="T43" fmla="*/ 24 h 49"/>
                <a:gd name="T44" fmla="*/ 0 w 48"/>
                <a:gd name="T45" fmla="*/ 26 h 49"/>
                <a:gd name="T46" fmla="*/ 1 w 48"/>
                <a:gd name="T47" fmla="*/ 31 h 49"/>
                <a:gd name="T48" fmla="*/ 1 w 48"/>
                <a:gd name="T49" fmla="*/ 34 h 49"/>
                <a:gd name="T50" fmla="*/ 3 w 48"/>
                <a:gd name="T51" fmla="*/ 37 h 49"/>
                <a:gd name="T52" fmla="*/ 4 w 48"/>
                <a:gd name="T53" fmla="*/ 39 h 49"/>
                <a:gd name="T54" fmla="*/ 8 w 48"/>
                <a:gd name="T55" fmla="*/ 42 h 49"/>
                <a:gd name="T56" fmla="*/ 11 w 48"/>
                <a:gd name="T57" fmla="*/ 44 h 49"/>
                <a:gd name="T58" fmla="*/ 13 w 48"/>
                <a:gd name="T59" fmla="*/ 45 h 49"/>
                <a:gd name="T60" fmla="*/ 16 w 48"/>
                <a:gd name="T61" fmla="*/ 47 h 49"/>
                <a:gd name="T62" fmla="*/ 21 w 48"/>
                <a:gd name="T63" fmla="*/ 49 h 49"/>
                <a:gd name="T64" fmla="*/ 24 w 48"/>
                <a:gd name="T65" fmla="*/ 49 h 49"/>
                <a:gd name="T66" fmla="*/ 26 w 48"/>
                <a:gd name="T67" fmla="*/ 49 h 49"/>
                <a:gd name="T68" fmla="*/ 30 w 48"/>
                <a:gd name="T69" fmla="*/ 47 h 49"/>
                <a:gd name="T70" fmla="*/ 34 w 48"/>
                <a:gd name="T71" fmla="*/ 47 h 49"/>
                <a:gd name="T72" fmla="*/ 37 w 48"/>
                <a:gd name="T73" fmla="*/ 45 h 49"/>
                <a:gd name="T74" fmla="*/ 39 w 48"/>
                <a:gd name="T75" fmla="*/ 42 h 49"/>
                <a:gd name="T76" fmla="*/ 42 w 48"/>
                <a:gd name="T77" fmla="*/ 41 h 49"/>
                <a:gd name="T78" fmla="*/ 44 w 48"/>
                <a:gd name="T79" fmla="*/ 37 h 49"/>
                <a:gd name="T80" fmla="*/ 45 w 48"/>
                <a:gd name="T81" fmla="*/ 34 h 49"/>
                <a:gd name="T82" fmla="*/ 47 w 48"/>
                <a:gd name="T83" fmla="*/ 31 h 49"/>
                <a:gd name="T84" fmla="*/ 48 w 48"/>
                <a:gd name="T85" fmla="*/ 28 h 49"/>
                <a:gd name="T86" fmla="*/ 48 w 48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" h="49">
                  <a:moveTo>
                    <a:pt x="48" y="24"/>
                  </a:moveTo>
                  <a:lnTo>
                    <a:pt x="48" y="23"/>
                  </a:lnTo>
                  <a:lnTo>
                    <a:pt x="48" y="21"/>
                  </a:lnTo>
                  <a:lnTo>
                    <a:pt x="48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0" y="47"/>
                  </a:lnTo>
                  <a:lnTo>
                    <a:pt x="30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8" y="28"/>
                  </a:lnTo>
                  <a:lnTo>
                    <a:pt x="48" y="26"/>
                  </a:lnTo>
                  <a:lnTo>
                    <a:pt x="48" y="26"/>
                  </a:lnTo>
                  <a:lnTo>
                    <a:pt x="48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5487988" y="3079576"/>
              <a:ext cx="50800" cy="52388"/>
            </a:xfrm>
            <a:custGeom>
              <a:avLst/>
              <a:gdLst>
                <a:gd name="T0" fmla="*/ 65 w 65"/>
                <a:gd name="T1" fmla="*/ 31 h 65"/>
                <a:gd name="T2" fmla="*/ 65 w 65"/>
                <a:gd name="T3" fmla="*/ 26 h 65"/>
                <a:gd name="T4" fmla="*/ 63 w 65"/>
                <a:gd name="T5" fmla="*/ 22 h 65"/>
                <a:gd name="T6" fmla="*/ 61 w 65"/>
                <a:gd name="T7" fmla="*/ 18 h 65"/>
                <a:gd name="T8" fmla="*/ 60 w 65"/>
                <a:gd name="T9" fmla="*/ 14 h 65"/>
                <a:gd name="T10" fmla="*/ 57 w 65"/>
                <a:gd name="T11" fmla="*/ 9 h 65"/>
                <a:gd name="T12" fmla="*/ 52 w 65"/>
                <a:gd name="T13" fmla="*/ 6 h 65"/>
                <a:gd name="T14" fmla="*/ 48 w 65"/>
                <a:gd name="T15" fmla="*/ 5 h 65"/>
                <a:gd name="T16" fmla="*/ 44 w 65"/>
                <a:gd name="T17" fmla="*/ 3 h 65"/>
                <a:gd name="T18" fmla="*/ 40 w 65"/>
                <a:gd name="T19" fmla="*/ 1 h 65"/>
                <a:gd name="T20" fmla="*/ 35 w 65"/>
                <a:gd name="T21" fmla="*/ 1 h 65"/>
                <a:gd name="T22" fmla="*/ 31 w 65"/>
                <a:gd name="T23" fmla="*/ 1 h 65"/>
                <a:gd name="T24" fmla="*/ 26 w 65"/>
                <a:gd name="T25" fmla="*/ 1 h 65"/>
                <a:gd name="T26" fmla="*/ 22 w 65"/>
                <a:gd name="T27" fmla="*/ 3 h 65"/>
                <a:gd name="T28" fmla="*/ 18 w 65"/>
                <a:gd name="T29" fmla="*/ 5 h 65"/>
                <a:gd name="T30" fmla="*/ 14 w 65"/>
                <a:gd name="T31" fmla="*/ 6 h 65"/>
                <a:gd name="T32" fmla="*/ 9 w 65"/>
                <a:gd name="T33" fmla="*/ 9 h 65"/>
                <a:gd name="T34" fmla="*/ 6 w 65"/>
                <a:gd name="T35" fmla="*/ 14 h 65"/>
                <a:gd name="T36" fmla="*/ 5 w 65"/>
                <a:gd name="T37" fmla="*/ 18 h 65"/>
                <a:gd name="T38" fmla="*/ 3 w 65"/>
                <a:gd name="T39" fmla="*/ 22 h 65"/>
                <a:gd name="T40" fmla="*/ 1 w 65"/>
                <a:gd name="T41" fmla="*/ 26 h 65"/>
                <a:gd name="T42" fmla="*/ 1 w 65"/>
                <a:gd name="T43" fmla="*/ 31 h 65"/>
                <a:gd name="T44" fmla="*/ 1 w 65"/>
                <a:gd name="T45" fmla="*/ 35 h 65"/>
                <a:gd name="T46" fmla="*/ 1 w 65"/>
                <a:gd name="T47" fmla="*/ 40 h 65"/>
                <a:gd name="T48" fmla="*/ 3 w 65"/>
                <a:gd name="T49" fmla="*/ 44 h 65"/>
                <a:gd name="T50" fmla="*/ 5 w 65"/>
                <a:gd name="T51" fmla="*/ 49 h 65"/>
                <a:gd name="T52" fmla="*/ 6 w 65"/>
                <a:gd name="T53" fmla="*/ 52 h 65"/>
                <a:gd name="T54" fmla="*/ 9 w 65"/>
                <a:gd name="T55" fmla="*/ 57 h 65"/>
                <a:gd name="T56" fmla="*/ 14 w 65"/>
                <a:gd name="T57" fmla="*/ 60 h 65"/>
                <a:gd name="T58" fmla="*/ 18 w 65"/>
                <a:gd name="T59" fmla="*/ 62 h 65"/>
                <a:gd name="T60" fmla="*/ 22 w 65"/>
                <a:gd name="T61" fmla="*/ 63 h 65"/>
                <a:gd name="T62" fmla="*/ 26 w 65"/>
                <a:gd name="T63" fmla="*/ 65 h 65"/>
                <a:gd name="T64" fmla="*/ 31 w 65"/>
                <a:gd name="T65" fmla="*/ 65 h 65"/>
                <a:gd name="T66" fmla="*/ 35 w 65"/>
                <a:gd name="T67" fmla="*/ 65 h 65"/>
                <a:gd name="T68" fmla="*/ 40 w 65"/>
                <a:gd name="T69" fmla="*/ 65 h 65"/>
                <a:gd name="T70" fmla="*/ 44 w 65"/>
                <a:gd name="T71" fmla="*/ 63 h 65"/>
                <a:gd name="T72" fmla="*/ 48 w 65"/>
                <a:gd name="T73" fmla="*/ 62 h 65"/>
                <a:gd name="T74" fmla="*/ 52 w 65"/>
                <a:gd name="T75" fmla="*/ 60 h 65"/>
                <a:gd name="T76" fmla="*/ 57 w 65"/>
                <a:gd name="T77" fmla="*/ 57 h 65"/>
                <a:gd name="T78" fmla="*/ 60 w 65"/>
                <a:gd name="T79" fmla="*/ 52 h 65"/>
                <a:gd name="T80" fmla="*/ 61 w 65"/>
                <a:gd name="T81" fmla="*/ 49 h 65"/>
                <a:gd name="T82" fmla="*/ 63 w 65"/>
                <a:gd name="T83" fmla="*/ 44 h 65"/>
                <a:gd name="T84" fmla="*/ 65 w 65"/>
                <a:gd name="T85" fmla="*/ 40 h 65"/>
                <a:gd name="T86" fmla="*/ 65 w 65"/>
                <a:gd name="T87" fmla="*/ 35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9" y="9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auto">
            <a:xfrm>
              <a:off x="5485794" y="3097039"/>
              <a:ext cx="39687" cy="38100"/>
            </a:xfrm>
            <a:custGeom>
              <a:avLst/>
              <a:gdLst>
                <a:gd name="T0" fmla="*/ 49 w 49"/>
                <a:gd name="T1" fmla="*/ 21 h 49"/>
                <a:gd name="T2" fmla="*/ 47 w 49"/>
                <a:gd name="T3" fmla="*/ 18 h 49"/>
                <a:gd name="T4" fmla="*/ 47 w 49"/>
                <a:gd name="T5" fmla="*/ 14 h 49"/>
                <a:gd name="T6" fmla="*/ 46 w 49"/>
                <a:gd name="T7" fmla="*/ 11 h 49"/>
                <a:gd name="T8" fmla="*/ 43 w 49"/>
                <a:gd name="T9" fmla="*/ 8 h 49"/>
                <a:gd name="T10" fmla="*/ 41 w 49"/>
                <a:gd name="T11" fmla="*/ 6 h 49"/>
                <a:gd name="T12" fmla="*/ 38 w 49"/>
                <a:gd name="T13" fmla="*/ 5 h 49"/>
                <a:gd name="T14" fmla="*/ 34 w 49"/>
                <a:gd name="T15" fmla="*/ 3 h 49"/>
                <a:gd name="T16" fmla="*/ 31 w 49"/>
                <a:gd name="T17" fmla="*/ 1 h 49"/>
                <a:gd name="T18" fmla="*/ 28 w 49"/>
                <a:gd name="T19" fmla="*/ 0 h 49"/>
                <a:gd name="T20" fmla="*/ 25 w 49"/>
                <a:gd name="T21" fmla="*/ 0 h 49"/>
                <a:gd name="T22" fmla="*/ 21 w 49"/>
                <a:gd name="T23" fmla="*/ 0 h 49"/>
                <a:gd name="T24" fmla="*/ 18 w 49"/>
                <a:gd name="T25" fmla="*/ 1 h 49"/>
                <a:gd name="T26" fmla="*/ 15 w 49"/>
                <a:gd name="T27" fmla="*/ 1 h 49"/>
                <a:gd name="T28" fmla="*/ 12 w 49"/>
                <a:gd name="T29" fmla="*/ 3 h 49"/>
                <a:gd name="T30" fmla="*/ 8 w 49"/>
                <a:gd name="T31" fmla="*/ 5 h 49"/>
                <a:gd name="T32" fmla="*/ 7 w 49"/>
                <a:gd name="T33" fmla="*/ 8 h 49"/>
                <a:gd name="T34" fmla="*/ 5 w 49"/>
                <a:gd name="T35" fmla="*/ 11 h 49"/>
                <a:gd name="T36" fmla="*/ 3 w 49"/>
                <a:gd name="T37" fmla="*/ 13 h 49"/>
                <a:gd name="T38" fmla="*/ 2 w 49"/>
                <a:gd name="T39" fmla="*/ 16 h 49"/>
                <a:gd name="T40" fmla="*/ 0 w 49"/>
                <a:gd name="T41" fmla="*/ 21 h 49"/>
                <a:gd name="T42" fmla="*/ 0 w 49"/>
                <a:gd name="T43" fmla="*/ 24 h 49"/>
                <a:gd name="T44" fmla="*/ 0 w 49"/>
                <a:gd name="T45" fmla="*/ 26 h 49"/>
                <a:gd name="T46" fmla="*/ 2 w 49"/>
                <a:gd name="T47" fmla="*/ 31 h 49"/>
                <a:gd name="T48" fmla="*/ 2 w 49"/>
                <a:gd name="T49" fmla="*/ 34 h 49"/>
                <a:gd name="T50" fmla="*/ 3 w 49"/>
                <a:gd name="T51" fmla="*/ 37 h 49"/>
                <a:gd name="T52" fmla="*/ 5 w 49"/>
                <a:gd name="T53" fmla="*/ 39 h 49"/>
                <a:gd name="T54" fmla="*/ 8 w 49"/>
                <a:gd name="T55" fmla="*/ 42 h 49"/>
                <a:gd name="T56" fmla="*/ 12 w 49"/>
                <a:gd name="T57" fmla="*/ 44 h 49"/>
                <a:gd name="T58" fmla="*/ 13 w 49"/>
                <a:gd name="T59" fmla="*/ 45 h 49"/>
                <a:gd name="T60" fmla="*/ 17 w 49"/>
                <a:gd name="T61" fmla="*/ 47 h 49"/>
                <a:gd name="T62" fmla="*/ 21 w 49"/>
                <a:gd name="T63" fmla="*/ 49 h 49"/>
                <a:gd name="T64" fmla="*/ 25 w 49"/>
                <a:gd name="T65" fmla="*/ 49 h 49"/>
                <a:gd name="T66" fmla="*/ 26 w 49"/>
                <a:gd name="T67" fmla="*/ 49 h 49"/>
                <a:gd name="T68" fmla="*/ 31 w 49"/>
                <a:gd name="T69" fmla="*/ 47 h 49"/>
                <a:gd name="T70" fmla="*/ 34 w 49"/>
                <a:gd name="T71" fmla="*/ 47 h 49"/>
                <a:gd name="T72" fmla="*/ 38 w 49"/>
                <a:gd name="T73" fmla="*/ 45 h 49"/>
                <a:gd name="T74" fmla="*/ 39 w 49"/>
                <a:gd name="T75" fmla="*/ 42 h 49"/>
                <a:gd name="T76" fmla="*/ 43 w 49"/>
                <a:gd name="T77" fmla="*/ 41 h 49"/>
                <a:gd name="T78" fmla="*/ 44 w 49"/>
                <a:gd name="T79" fmla="*/ 37 h 49"/>
                <a:gd name="T80" fmla="*/ 46 w 49"/>
                <a:gd name="T81" fmla="*/ 34 h 49"/>
                <a:gd name="T82" fmla="*/ 47 w 49"/>
                <a:gd name="T83" fmla="*/ 31 h 49"/>
                <a:gd name="T84" fmla="*/ 49 w 49"/>
                <a:gd name="T85" fmla="*/ 28 h 49"/>
                <a:gd name="T86" fmla="*/ 49 w 49"/>
                <a:gd name="T8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49" y="24"/>
                  </a:move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7115175" y="2538239"/>
              <a:ext cx="155575" cy="50800"/>
            </a:xfrm>
            <a:custGeom>
              <a:avLst/>
              <a:gdLst>
                <a:gd name="T0" fmla="*/ 0 w 195"/>
                <a:gd name="T1" fmla="*/ 65 h 65"/>
                <a:gd name="T2" fmla="*/ 195 w 195"/>
                <a:gd name="T3" fmla="*/ 33 h 65"/>
                <a:gd name="T4" fmla="*/ 0 w 195"/>
                <a:gd name="T5" fmla="*/ 0 h 65"/>
                <a:gd name="T6" fmla="*/ 0 w 195"/>
                <a:gd name="T7" fmla="*/ 33 h 65"/>
                <a:gd name="T8" fmla="*/ 0 w 195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65">
                  <a:moveTo>
                    <a:pt x="0" y="65"/>
                  </a:moveTo>
                  <a:lnTo>
                    <a:pt x="195" y="33"/>
                  </a:lnTo>
                  <a:lnTo>
                    <a:pt x="0" y="0"/>
                  </a:lnTo>
                  <a:lnTo>
                    <a:pt x="0" y="33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6702425" y="2538239"/>
              <a:ext cx="153988" cy="50800"/>
            </a:xfrm>
            <a:custGeom>
              <a:avLst/>
              <a:gdLst>
                <a:gd name="T0" fmla="*/ 195 w 195"/>
                <a:gd name="T1" fmla="*/ 0 h 65"/>
                <a:gd name="T2" fmla="*/ 0 w 195"/>
                <a:gd name="T3" fmla="*/ 33 h 65"/>
                <a:gd name="T4" fmla="*/ 195 w 195"/>
                <a:gd name="T5" fmla="*/ 65 h 65"/>
                <a:gd name="T6" fmla="*/ 195 w 195"/>
                <a:gd name="T7" fmla="*/ 33 h 65"/>
                <a:gd name="T8" fmla="*/ 195 w 195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65">
                  <a:moveTo>
                    <a:pt x="195" y="0"/>
                  </a:moveTo>
                  <a:lnTo>
                    <a:pt x="0" y="33"/>
                  </a:lnTo>
                  <a:lnTo>
                    <a:pt x="195" y="65"/>
                  </a:lnTo>
                  <a:lnTo>
                    <a:pt x="195" y="33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Line 64"/>
            <p:cNvSpPr>
              <a:spLocks noChangeShapeType="1"/>
            </p:cNvSpPr>
            <p:nvPr/>
          </p:nvSpPr>
          <p:spPr bwMode="auto">
            <a:xfrm>
              <a:off x="6881813" y="256363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6469063" y="2795414"/>
              <a:ext cx="77787" cy="155575"/>
            </a:xfrm>
            <a:custGeom>
              <a:avLst/>
              <a:gdLst>
                <a:gd name="T0" fmla="*/ 98 w 98"/>
                <a:gd name="T1" fmla="*/ 195 h 195"/>
                <a:gd name="T2" fmla="*/ 33 w 98"/>
                <a:gd name="T3" fmla="*/ 0 h 195"/>
                <a:gd name="T4" fmla="*/ 0 w 98"/>
                <a:gd name="T5" fmla="*/ 195 h 195"/>
                <a:gd name="T6" fmla="*/ 33 w 98"/>
                <a:gd name="T7" fmla="*/ 195 h 195"/>
                <a:gd name="T8" fmla="*/ 98 w 98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5">
                  <a:moveTo>
                    <a:pt x="98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98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6469063" y="3287539"/>
              <a:ext cx="77787" cy="153987"/>
            </a:xfrm>
            <a:custGeom>
              <a:avLst/>
              <a:gdLst>
                <a:gd name="T0" fmla="*/ 0 w 98"/>
                <a:gd name="T1" fmla="*/ 0 h 195"/>
                <a:gd name="T2" fmla="*/ 33 w 98"/>
                <a:gd name="T3" fmla="*/ 195 h 195"/>
                <a:gd name="T4" fmla="*/ 98 w 98"/>
                <a:gd name="T5" fmla="*/ 0 h 195"/>
                <a:gd name="T6" fmla="*/ 33 w 98"/>
                <a:gd name="T7" fmla="*/ 0 h 195"/>
                <a:gd name="T8" fmla="*/ 0 w 98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5">
                  <a:moveTo>
                    <a:pt x="0" y="0"/>
                  </a:moveTo>
                  <a:lnTo>
                    <a:pt x="33" y="195"/>
                  </a:lnTo>
                  <a:lnTo>
                    <a:pt x="98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Line 67"/>
            <p:cNvSpPr>
              <a:spLocks noChangeShapeType="1"/>
            </p:cNvSpPr>
            <p:nvPr/>
          </p:nvSpPr>
          <p:spPr bwMode="auto">
            <a:xfrm flipV="1">
              <a:off x="6494463" y="2950989"/>
              <a:ext cx="1587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6184900" y="2795414"/>
              <a:ext cx="52388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auto">
            <a:xfrm>
              <a:off x="6184900" y="3287539"/>
              <a:ext cx="52388" cy="153987"/>
            </a:xfrm>
            <a:custGeom>
              <a:avLst/>
              <a:gdLst>
                <a:gd name="T0" fmla="*/ 0 w 65"/>
                <a:gd name="T1" fmla="*/ 0 h 195"/>
                <a:gd name="T2" fmla="*/ 33 w 65"/>
                <a:gd name="T3" fmla="*/ 195 h 195"/>
                <a:gd name="T4" fmla="*/ 65 w 65"/>
                <a:gd name="T5" fmla="*/ 0 h 195"/>
                <a:gd name="T6" fmla="*/ 33 w 65"/>
                <a:gd name="T7" fmla="*/ 0 h 195"/>
                <a:gd name="T8" fmla="*/ 0 w 65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0" y="0"/>
                  </a:moveTo>
                  <a:lnTo>
                    <a:pt x="33" y="195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Line 70"/>
            <p:cNvSpPr>
              <a:spLocks noChangeShapeType="1"/>
            </p:cNvSpPr>
            <p:nvPr/>
          </p:nvSpPr>
          <p:spPr bwMode="auto">
            <a:xfrm flipV="1">
              <a:off x="6210300" y="2950989"/>
              <a:ext cx="1588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auto">
            <a:xfrm>
              <a:off x="5178425" y="2795414"/>
              <a:ext cx="50800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auto">
            <a:xfrm>
              <a:off x="5178425" y="3287539"/>
              <a:ext cx="50800" cy="153987"/>
            </a:xfrm>
            <a:custGeom>
              <a:avLst/>
              <a:gdLst>
                <a:gd name="T0" fmla="*/ 0 w 65"/>
                <a:gd name="T1" fmla="*/ 0 h 195"/>
                <a:gd name="T2" fmla="*/ 33 w 65"/>
                <a:gd name="T3" fmla="*/ 195 h 195"/>
                <a:gd name="T4" fmla="*/ 65 w 65"/>
                <a:gd name="T5" fmla="*/ 0 h 195"/>
                <a:gd name="T6" fmla="*/ 33 w 65"/>
                <a:gd name="T7" fmla="*/ 0 h 195"/>
                <a:gd name="T8" fmla="*/ 0 w 65"/>
                <a:gd name="T9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0" y="0"/>
                  </a:moveTo>
                  <a:lnTo>
                    <a:pt x="33" y="195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Line 73"/>
            <p:cNvSpPr>
              <a:spLocks noChangeShapeType="1"/>
            </p:cNvSpPr>
            <p:nvPr/>
          </p:nvSpPr>
          <p:spPr bwMode="auto">
            <a:xfrm flipV="1">
              <a:off x="5203825" y="2950989"/>
              <a:ext cx="1588" cy="336550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2543175" y="4681364"/>
              <a:ext cx="1755775" cy="1447800"/>
            </a:xfrm>
            <a:prstGeom prst="rect">
              <a:avLst/>
            </a:prstGeom>
            <a:noFill/>
            <a:ln w="2381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 rot="5400000">
              <a:off x="6889934" y="1901222"/>
              <a:ext cx="1152158" cy="327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I/O block 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2987675" y="5148089"/>
              <a:ext cx="999783" cy="32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PAL-like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1535113" y="4681364"/>
              <a:ext cx="361950" cy="1447800"/>
            </a:xfrm>
            <a:prstGeom prst="rect">
              <a:avLst/>
            </a:prstGeom>
            <a:solidFill>
              <a:srgbClr val="E5E5E5"/>
            </a:solidFill>
            <a:ln w="238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3160712" y="5433839"/>
              <a:ext cx="746854" cy="371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block</a:t>
              </a:r>
              <a:r>
                <a:rPr lang="en-US" altLang="en-US" sz="1700">
                  <a:solidFill>
                    <a:srgbClr val="000000"/>
                  </a:solidFill>
                  <a:latin typeface="Times-Roman" charset="0"/>
                </a:rPr>
                <a:t> </a:t>
              </a:r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1949450" y="5922789"/>
              <a:ext cx="153988" cy="76200"/>
            </a:xfrm>
            <a:custGeom>
              <a:avLst/>
              <a:gdLst>
                <a:gd name="T0" fmla="*/ 196 w 196"/>
                <a:gd name="T1" fmla="*/ 0 h 98"/>
                <a:gd name="T2" fmla="*/ 0 w 196"/>
                <a:gd name="T3" fmla="*/ 33 h 98"/>
                <a:gd name="T4" fmla="*/ 196 w 196"/>
                <a:gd name="T5" fmla="*/ 98 h 98"/>
                <a:gd name="T6" fmla="*/ 196 w 196"/>
                <a:gd name="T7" fmla="*/ 33 h 98"/>
                <a:gd name="T8" fmla="*/ 196 w 196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98">
                  <a:moveTo>
                    <a:pt x="196" y="0"/>
                  </a:moveTo>
                  <a:lnTo>
                    <a:pt x="0" y="33"/>
                  </a:lnTo>
                  <a:lnTo>
                    <a:pt x="196" y="98"/>
                  </a:lnTo>
                  <a:lnTo>
                    <a:pt x="196" y="33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auto">
            <a:xfrm>
              <a:off x="2362200" y="5922789"/>
              <a:ext cx="155575" cy="76200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33 h 98"/>
                <a:gd name="T4" fmla="*/ 0 w 195"/>
                <a:gd name="T5" fmla="*/ 0 h 98"/>
                <a:gd name="T6" fmla="*/ 0 w 195"/>
                <a:gd name="T7" fmla="*/ 33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33"/>
                  </a:lnTo>
                  <a:lnTo>
                    <a:pt x="0" y="0"/>
                  </a:lnTo>
                  <a:lnTo>
                    <a:pt x="0" y="33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Line 81"/>
            <p:cNvSpPr>
              <a:spLocks noChangeShapeType="1"/>
            </p:cNvSpPr>
            <p:nvPr/>
          </p:nvSpPr>
          <p:spPr bwMode="auto">
            <a:xfrm flipH="1">
              <a:off x="2103438" y="594818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1949450" y="5638626"/>
              <a:ext cx="153988" cy="76200"/>
            </a:xfrm>
            <a:custGeom>
              <a:avLst/>
              <a:gdLst>
                <a:gd name="T0" fmla="*/ 196 w 196"/>
                <a:gd name="T1" fmla="*/ 0 h 98"/>
                <a:gd name="T2" fmla="*/ 0 w 196"/>
                <a:gd name="T3" fmla="*/ 65 h 98"/>
                <a:gd name="T4" fmla="*/ 196 w 196"/>
                <a:gd name="T5" fmla="*/ 98 h 98"/>
                <a:gd name="T6" fmla="*/ 196 w 196"/>
                <a:gd name="T7" fmla="*/ 65 h 98"/>
                <a:gd name="T8" fmla="*/ 196 w 196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98">
                  <a:moveTo>
                    <a:pt x="196" y="0"/>
                  </a:moveTo>
                  <a:lnTo>
                    <a:pt x="0" y="65"/>
                  </a:lnTo>
                  <a:lnTo>
                    <a:pt x="196" y="98"/>
                  </a:lnTo>
                  <a:lnTo>
                    <a:pt x="196" y="65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auto">
            <a:xfrm>
              <a:off x="2362200" y="5638626"/>
              <a:ext cx="155575" cy="76200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65 h 98"/>
                <a:gd name="T4" fmla="*/ 0 w 195"/>
                <a:gd name="T5" fmla="*/ 0 h 98"/>
                <a:gd name="T6" fmla="*/ 0 w 195"/>
                <a:gd name="T7" fmla="*/ 65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65"/>
                  </a:lnTo>
                  <a:lnTo>
                    <a:pt x="0" y="0"/>
                  </a:lnTo>
                  <a:lnTo>
                    <a:pt x="0" y="65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Line 84"/>
            <p:cNvSpPr>
              <a:spLocks noChangeShapeType="1"/>
            </p:cNvSpPr>
            <p:nvPr/>
          </p:nvSpPr>
          <p:spPr bwMode="auto">
            <a:xfrm flipH="1">
              <a:off x="2103438" y="5689426"/>
              <a:ext cx="233362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auto">
            <a:xfrm>
              <a:off x="2206625" y="5457651"/>
              <a:ext cx="52388" cy="50800"/>
            </a:xfrm>
            <a:custGeom>
              <a:avLst/>
              <a:gdLst>
                <a:gd name="T0" fmla="*/ 31 w 65"/>
                <a:gd name="T1" fmla="*/ 2 h 65"/>
                <a:gd name="T2" fmla="*/ 26 w 65"/>
                <a:gd name="T3" fmla="*/ 2 h 65"/>
                <a:gd name="T4" fmla="*/ 23 w 65"/>
                <a:gd name="T5" fmla="*/ 4 h 65"/>
                <a:gd name="T6" fmla="*/ 18 w 65"/>
                <a:gd name="T7" fmla="*/ 5 h 65"/>
                <a:gd name="T8" fmla="*/ 14 w 65"/>
                <a:gd name="T9" fmla="*/ 7 h 65"/>
                <a:gd name="T10" fmla="*/ 10 w 65"/>
                <a:gd name="T11" fmla="*/ 10 h 65"/>
                <a:gd name="T12" fmla="*/ 6 w 65"/>
                <a:gd name="T13" fmla="*/ 15 h 65"/>
                <a:gd name="T14" fmla="*/ 5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5 w 65"/>
                <a:gd name="T29" fmla="*/ 49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1 h 65"/>
                <a:gd name="T36" fmla="*/ 18 w 65"/>
                <a:gd name="T37" fmla="*/ 62 h 65"/>
                <a:gd name="T38" fmla="*/ 23 w 65"/>
                <a:gd name="T39" fmla="*/ 64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4 h 65"/>
                <a:gd name="T50" fmla="*/ 49 w 65"/>
                <a:gd name="T51" fmla="*/ 62 h 65"/>
                <a:gd name="T52" fmla="*/ 52 w 65"/>
                <a:gd name="T53" fmla="*/ 61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2 w 65"/>
                <a:gd name="T73" fmla="*/ 18 h 65"/>
                <a:gd name="T74" fmla="*/ 60 w 65"/>
                <a:gd name="T75" fmla="*/ 15 h 65"/>
                <a:gd name="T76" fmla="*/ 57 w 65"/>
                <a:gd name="T77" fmla="*/ 10 h 65"/>
                <a:gd name="T78" fmla="*/ 52 w 65"/>
                <a:gd name="T79" fmla="*/ 7 h 65"/>
                <a:gd name="T80" fmla="*/ 49 w 65"/>
                <a:gd name="T81" fmla="*/ 5 h 65"/>
                <a:gd name="T82" fmla="*/ 44 w 65"/>
                <a:gd name="T83" fmla="*/ 4 h 65"/>
                <a:gd name="T84" fmla="*/ 40 w 65"/>
                <a:gd name="T85" fmla="*/ 2 h 65"/>
                <a:gd name="T86" fmla="*/ 36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8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6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3" y="64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6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1"/>
                  </a:lnTo>
                  <a:lnTo>
                    <a:pt x="62" y="49"/>
                  </a:lnTo>
                  <a:lnTo>
                    <a:pt x="63" y="48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2"/>
                  </a:lnTo>
                  <a:lnTo>
                    <a:pt x="63" y="20"/>
                  </a:lnTo>
                  <a:lnTo>
                    <a:pt x="62" y="18"/>
                  </a:lnTo>
                  <a:lnTo>
                    <a:pt x="62" y="17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2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9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auto">
            <a:xfrm>
              <a:off x="2198688" y="5448126"/>
              <a:ext cx="38100" cy="38100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2 h 49"/>
                <a:gd name="T4" fmla="*/ 15 w 49"/>
                <a:gd name="T5" fmla="*/ 2 h 49"/>
                <a:gd name="T6" fmla="*/ 12 w 49"/>
                <a:gd name="T7" fmla="*/ 3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1 h 49"/>
                <a:gd name="T14" fmla="*/ 4 w 49"/>
                <a:gd name="T15" fmla="*/ 13 h 49"/>
                <a:gd name="T16" fmla="*/ 2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2 w 49"/>
                <a:gd name="T35" fmla="*/ 44 h 49"/>
                <a:gd name="T36" fmla="*/ 13 w 49"/>
                <a:gd name="T37" fmla="*/ 46 h 49"/>
                <a:gd name="T38" fmla="*/ 17 w 49"/>
                <a:gd name="T39" fmla="*/ 47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5 w 49"/>
                <a:gd name="T49" fmla="*/ 47 h 49"/>
                <a:gd name="T50" fmla="*/ 38 w 49"/>
                <a:gd name="T51" fmla="*/ 46 h 49"/>
                <a:gd name="T52" fmla="*/ 39 w 49"/>
                <a:gd name="T53" fmla="*/ 42 h 49"/>
                <a:gd name="T54" fmla="*/ 43 w 49"/>
                <a:gd name="T55" fmla="*/ 41 h 49"/>
                <a:gd name="T56" fmla="*/ 44 w 49"/>
                <a:gd name="T57" fmla="*/ 37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5 h 49"/>
                <a:gd name="T72" fmla="*/ 46 w 49"/>
                <a:gd name="T73" fmla="*/ 11 h 49"/>
                <a:gd name="T74" fmla="*/ 43 w 49"/>
                <a:gd name="T75" fmla="*/ 8 h 49"/>
                <a:gd name="T76" fmla="*/ 41 w 49"/>
                <a:gd name="T77" fmla="*/ 7 h 49"/>
                <a:gd name="T78" fmla="*/ 38 w 49"/>
                <a:gd name="T79" fmla="*/ 5 h 49"/>
                <a:gd name="T80" fmla="*/ 35 w 49"/>
                <a:gd name="T81" fmla="*/ 3 h 49"/>
                <a:gd name="T82" fmla="*/ 31 w 49"/>
                <a:gd name="T83" fmla="*/ 2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3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2206625" y="5249689"/>
              <a:ext cx="52388" cy="52387"/>
            </a:xfrm>
            <a:custGeom>
              <a:avLst/>
              <a:gdLst>
                <a:gd name="T0" fmla="*/ 31 w 65"/>
                <a:gd name="T1" fmla="*/ 2 h 65"/>
                <a:gd name="T2" fmla="*/ 26 w 65"/>
                <a:gd name="T3" fmla="*/ 2 h 65"/>
                <a:gd name="T4" fmla="*/ 23 w 65"/>
                <a:gd name="T5" fmla="*/ 3 h 65"/>
                <a:gd name="T6" fmla="*/ 18 w 65"/>
                <a:gd name="T7" fmla="*/ 5 h 65"/>
                <a:gd name="T8" fmla="*/ 14 w 65"/>
                <a:gd name="T9" fmla="*/ 6 h 65"/>
                <a:gd name="T10" fmla="*/ 10 w 65"/>
                <a:gd name="T11" fmla="*/ 10 h 65"/>
                <a:gd name="T12" fmla="*/ 6 w 65"/>
                <a:gd name="T13" fmla="*/ 15 h 65"/>
                <a:gd name="T14" fmla="*/ 5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5 w 65"/>
                <a:gd name="T29" fmla="*/ 49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0 h 65"/>
                <a:gd name="T36" fmla="*/ 18 w 65"/>
                <a:gd name="T37" fmla="*/ 62 h 65"/>
                <a:gd name="T38" fmla="*/ 23 w 65"/>
                <a:gd name="T39" fmla="*/ 63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3 h 65"/>
                <a:gd name="T50" fmla="*/ 49 w 65"/>
                <a:gd name="T51" fmla="*/ 62 h 65"/>
                <a:gd name="T52" fmla="*/ 52 w 65"/>
                <a:gd name="T53" fmla="*/ 60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2 w 65"/>
                <a:gd name="T73" fmla="*/ 18 h 65"/>
                <a:gd name="T74" fmla="*/ 60 w 65"/>
                <a:gd name="T75" fmla="*/ 15 h 65"/>
                <a:gd name="T76" fmla="*/ 57 w 65"/>
                <a:gd name="T77" fmla="*/ 10 h 65"/>
                <a:gd name="T78" fmla="*/ 52 w 65"/>
                <a:gd name="T79" fmla="*/ 6 h 65"/>
                <a:gd name="T80" fmla="*/ 49 w 65"/>
                <a:gd name="T81" fmla="*/ 5 h 65"/>
                <a:gd name="T82" fmla="*/ 44 w 65"/>
                <a:gd name="T83" fmla="*/ 3 h 65"/>
                <a:gd name="T84" fmla="*/ 40 w 65"/>
                <a:gd name="T85" fmla="*/ 2 h 65"/>
                <a:gd name="T86" fmla="*/ 36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auto">
            <a:xfrm>
              <a:off x="2198688" y="5267151"/>
              <a:ext cx="38100" cy="38100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2 h 49"/>
                <a:gd name="T4" fmla="*/ 15 w 49"/>
                <a:gd name="T5" fmla="*/ 2 h 49"/>
                <a:gd name="T6" fmla="*/ 12 w 49"/>
                <a:gd name="T7" fmla="*/ 3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2 h 49"/>
                <a:gd name="T14" fmla="*/ 4 w 49"/>
                <a:gd name="T15" fmla="*/ 13 h 49"/>
                <a:gd name="T16" fmla="*/ 2 w 49"/>
                <a:gd name="T17" fmla="*/ 16 h 49"/>
                <a:gd name="T18" fmla="*/ 0 w 49"/>
                <a:gd name="T19" fmla="*/ 21 h 49"/>
                <a:gd name="T20" fmla="*/ 0 w 49"/>
                <a:gd name="T21" fmla="*/ 25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8 h 49"/>
                <a:gd name="T30" fmla="*/ 5 w 49"/>
                <a:gd name="T31" fmla="*/ 39 h 49"/>
                <a:gd name="T32" fmla="*/ 8 w 49"/>
                <a:gd name="T33" fmla="*/ 42 h 49"/>
                <a:gd name="T34" fmla="*/ 12 w 49"/>
                <a:gd name="T35" fmla="*/ 44 h 49"/>
                <a:gd name="T36" fmla="*/ 13 w 49"/>
                <a:gd name="T37" fmla="*/ 46 h 49"/>
                <a:gd name="T38" fmla="*/ 17 w 49"/>
                <a:gd name="T39" fmla="*/ 47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5 w 49"/>
                <a:gd name="T49" fmla="*/ 47 h 49"/>
                <a:gd name="T50" fmla="*/ 38 w 49"/>
                <a:gd name="T51" fmla="*/ 46 h 49"/>
                <a:gd name="T52" fmla="*/ 39 w 49"/>
                <a:gd name="T53" fmla="*/ 42 h 49"/>
                <a:gd name="T54" fmla="*/ 43 w 49"/>
                <a:gd name="T55" fmla="*/ 41 h 49"/>
                <a:gd name="T56" fmla="*/ 44 w 49"/>
                <a:gd name="T57" fmla="*/ 38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8 h 49"/>
                <a:gd name="T64" fmla="*/ 49 w 49"/>
                <a:gd name="T65" fmla="*/ 25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5 h 49"/>
                <a:gd name="T72" fmla="*/ 46 w 49"/>
                <a:gd name="T73" fmla="*/ 12 h 49"/>
                <a:gd name="T74" fmla="*/ 43 w 49"/>
                <a:gd name="T75" fmla="*/ 8 h 49"/>
                <a:gd name="T76" fmla="*/ 41 w 49"/>
                <a:gd name="T77" fmla="*/ 7 h 49"/>
                <a:gd name="T78" fmla="*/ 38 w 49"/>
                <a:gd name="T79" fmla="*/ 5 h 49"/>
                <a:gd name="T80" fmla="*/ 35 w 49"/>
                <a:gd name="T81" fmla="*/ 3 h 49"/>
                <a:gd name="T82" fmla="*/ 31 w 49"/>
                <a:gd name="T83" fmla="*/ 2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3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auto">
            <a:xfrm>
              <a:off x="2206625" y="5043314"/>
              <a:ext cx="52388" cy="52387"/>
            </a:xfrm>
            <a:custGeom>
              <a:avLst/>
              <a:gdLst>
                <a:gd name="T0" fmla="*/ 31 w 65"/>
                <a:gd name="T1" fmla="*/ 1 h 65"/>
                <a:gd name="T2" fmla="*/ 26 w 65"/>
                <a:gd name="T3" fmla="*/ 1 h 65"/>
                <a:gd name="T4" fmla="*/ 23 w 65"/>
                <a:gd name="T5" fmla="*/ 3 h 65"/>
                <a:gd name="T6" fmla="*/ 18 w 65"/>
                <a:gd name="T7" fmla="*/ 4 h 65"/>
                <a:gd name="T8" fmla="*/ 14 w 65"/>
                <a:gd name="T9" fmla="*/ 6 h 65"/>
                <a:gd name="T10" fmla="*/ 10 w 65"/>
                <a:gd name="T11" fmla="*/ 9 h 65"/>
                <a:gd name="T12" fmla="*/ 6 w 65"/>
                <a:gd name="T13" fmla="*/ 14 h 65"/>
                <a:gd name="T14" fmla="*/ 5 w 65"/>
                <a:gd name="T15" fmla="*/ 17 h 65"/>
                <a:gd name="T16" fmla="*/ 3 w 65"/>
                <a:gd name="T17" fmla="*/ 22 h 65"/>
                <a:gd name="T18" fmla="*/ 1 w 65"/>
                <a:gd name="T19" fmla="*/ 26 h 65"/>
                <a:gd name="T20" fmla="*/ 1 w 65"/>
                <a:gd name="T21" fmla="*/ 30 h 65"/>
                <a:gd name="T22" fmla="*/ 1 w 65"/>
                <a:gd name="T23" fmla="*/ 35 h 65"/>
                <a:gd name="T24" fmla="*/ 1 w 65"/>
                <a:gd name="T25" fmla="*/ 40 h 65"/>
                <a:gd name="T26" fmla="*/ 3 w 65"/>
                <a:gd name="T27" fmla="*/ 44 h 65"/>
                <a:gd name="T28" fmla="*/ 5 w 65"/>
                <a:gd name="T29" fmla="*/ 48 h 65"/>
                <a:gd name="T30" fmla="*/ 6 w 65"/>
                <a:gd name="T31" fmla="*/ 52 h 65"/>
                <a:gd name="T32" fmla="*/ 10 w 65"/>
                <a:gd name="T33" fmla="*/ 57 h 65"/>
                <a:gd name="T34" fmla="*/ 14 w 65"/>
                <a:gd name="T35" fmla="*/ 60 h 65"/>
                <a:gd name="T36" fmla="*/ 18 w 65"/>
                <a:gd name="T37" fmla="*/ 61 h 65"/>
                <a:gd name="T38" fmla="*/ 23 w 65"/>
                <a:gd name="T39" fmla="*/ 63 h 65"/>
                <a:gd name="T40" fmla="*/ 26 w 65"/>
                <a:gd name="T41" fmla="*/ 65 h 65"/>
                <a:gd name="T42" fmla="*/ 31 w 65"/>
                <a:gd name="T43" fmla="*/ 65 h 65"/>
                <a:gd name="T44" fmla="*/ 36 w 65"/>
                <a:gd name="T45" fmla="*/ 65 h 65"/>
                <a:gd name="T46" fmla="*/ 40 w 65"/>
                <a:gd name="T47" fmla="*/ 65 h 65"/>
                <a:gd name="T48" fmla="*/ 44 w 65"/>
                <a:gd name="T49" fmla="*/ 63 h 65"/>
                <a:gd name="T50" fmla="*/ 49 w 65"/>
                <a:gd name="T51" fmla="*/ 61 h 65"/>
                <a:gd name="T52" fmla="*/ 52 w 65"/>
                <a:gd name="T53" fmla="*/ 60 h 65"/>
                <a:gd name="T54" fmla="*/ 57 w 65"/>
                <a:gd name="T55" fmla="*/ 57 h 65"/>
                <a:gd name="T56" fmla="*/ 60 w 65"/>
                <a:gd name="T57" fmla="*/ 52 h 65"/>
                <a:gd name="T58" fmla="*/ 62 w 65"/>
                <a:gd name="T59" fmla="*/ 48 h 65"/>
                <a:gd name="T60" fmla="*/ 63 w 65"/>
                <a:gd name="T61" fmla="*/ 44 h 65"/>
                <a:gd name="T62" fmla="*/ 65 w 65"/>
                <a:gd name="T63" fmla="*/ 40 h 65"/>
                <a:gd name="T64" fmla="*/ 65 w 65"/>
                <a:gd name="T65" fmla="*/ 35 h 65"/>
                <a:gd name="T66" fmla="*/ 65 w 65"/>
                <a:gd name="T67" fmla="*/ 30 h 65"/>
                <a:gd name="T68" fmla="*/ 65 w 65"/>
                <a:gd name="T69" fmla="*/ 26 h 65"/>
                <a:gd name="T70" fmla="*/ 63 w 65"/>
                <a:gd name="T71" fmla="*/ 22 h 65"/>
                <a:gd name="T72" fmla="*/ 62 w 65"/>
                <a:gd name="T73" fmla="*/ 17 h 65"/>
                <a:gd name="T74" fmla="*/ 60 w 65"/>
                <a:gd name="T75" fmla="*/ 14 h 65"/>
                <a:gd name="T76" fmla="*/ 57 w 65"/>
                <a:gd name="T77" fmla="*/ 9 h 65"/>
                <a:gd name="T78" fmla="*/ 52 w 65"/>
                <a:gd name="T79" fmla="*/ 6 h 65"/>
                <a:gd name="T80" fmla="*/ 49 w 65"/>
                <a:gd name="T81" fmla="*/ 4 h 65"/>
                <a:gd name="T82" fmla="*/ 44 w 65"/>
                <a:gd name="T83" fmla="*/ 3 h 65"/>
                <a:gd name="T84" fmla="*/ 40 w 65"/>
                <a:gd name="T85" fmla="*/ 1 h 65"/>
                <a:gd name="T86" fmla="*/ 36 w 65"/>
                <a:gd name="T87" fmla="*/ 1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32" y="0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9" y="61"/>
                  </a:lnTo>
                  <a:lnTo>
                    <a:pt x="50" y="61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0"/>
                  </a:lnTo>
                  <a:lnTo>
                    <a:pt x="62" y="48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2" y="17"/>
                  </a:lnTo>
                  <a:lnTo>
                    <a:pt x="62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4"/>
                  </a:lnTo>
                  <a:lnTo>
                    <a:pt x="49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auto">
            <a:xfrm>
              <a:off x="2198688" y="5060776"/>
              <a:ext cx="38100" cy="38100"/>
            </a:xfrm>
            <a:custGeom>
              <a:avLst/>
              <a:gdLst>
                <a:gd name="T0" fmla="*/ 22 w 49"/>
                <a:gd name="T1" fmla="*/ 0 h 49"/>
                <a:gd name="T2" fmla="*/ 18 w 49"/>
                <a:gd name="T3" fmla="*/ 1 h 49"/>
                <a:gd name="T4" fmla="*/ 15 w 49"/>
                <a:gd name="T5" fmla="*/ 1 h 49"/>
                <a:gd name="T6" fmla="*/ 12 w 49"/>
                <a:gd name="T7" fmla="*/ 3 h 49"/>
                <a:gd name="T8" fmla="*/ 8 w 49"/>
                <a:gd name="T9" fmla="*/ 5 h 49"/>
                <a:gd name="T10" fmla="*/ 7 w 49"/>
                <a:gd name="T11" fmla="*/ 8 h 49"/>
                <a:gd name="T12" fmla="*/ 5 w 49"/>
                <a:gd name="T13" fmla="*/ 11 h 49"/>
                <a:gd name="T14" fmla="*/ 4 w 49"/>
                <a:gd name="T15" fmla="*/ 13 h 49"/>
                <a:gd name="T16" fmla="*/ 2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2 w 49"/>
                <a:gd name="T25" fmla="*/ 31 h 49"/>
                <a:gd name="T26" fmla="*/ 2 w 49"/>
                <a:gd name="T27" fmla="*/ 34 h 49"/>
                <a:gd name="T28" fmla="*/ 4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2 w 49"/>
                <a:gd name="T35" fmla="*/ 44 h 49"/>
                <a:gd name="T36" fmla="*/ 13 w 49"/>
                <a:gd name="T37" fmla="*/ 45 h 49"/>
                <a:gd name="T38" fmla="*/ 17 w 49"/>
                <a:gd name="T39" fmla="*/ 47 h 49"/>
                <a:gd name="T40" fmla="*/ 22 w 49"/>
                <a:gd name="T41" fmla="*/ 49 h 49"/>
                <a:gd name="T42" fmla="*/ 25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5 w 49"/>
                <a:gd name="T49" fmla="*/ 47 h 49"/>
                <a:gd name="T50" fmla="*/ 38 w 49"/>
                <a:gd name="T51" fmla="*/ 45 h 49"/>
                <a:gd name="T52" fmla="*/ 39 w 49"/>
                <a:gd name="T53" fmla="*/ 42 h 49"/>
                <a:gd name="T54" fmla="*/ 43 w 49"/>
                <a:gd name="T55" fmla="*/ 40 h 49"/>
                <a:gd name="T56" fmla="*/ 44 w 49"/>
                <a:gd name="T57" fmla="*/ 37 h 49"/>
                <a:gd name="T58" fmla="*/ 46 w 49"/>
                <a:gd name="T59" fmla="*/ 34 h 49"/>
                <a:gd name="T60" fmla="*/ 48 w 49"/>
                <a:gd name="T61" fmla="*/ 31 h 49"/>
                <a:gd name="T62" fmla="*/ 49 w 49"/>
                <a:gd name="T63" fmla="*/ 27 h 49"/>
                <a:gd name="T64" fmla="*/ 49 w 49"/>
                <a:gd name="T65" fmla="*/ 24 h 49"/>
                <a:gd name="T66" fmla="*/ 49 w 49"/>
                <a:gd name="T67" fmla="*/ 21 h 49"/>
                <a:gd name="T68" fmla="*/ 48 w 49"/>
                <a:gd name="T69" fmla="*/ 18 h 49"/>
                <a:gd name="T70" fmla="*/ 48 w 49"/>
                <a:gd name="T71" fmla="*/ 14 h 49"/>
                <a:gd name="T72" fmla="*/ 46 w 49"/>
                <a:gd name="T73" fmla="*/ 11 h 49"/>
                <a:gd name="T74" fmla="*/ 43 w 49"/>
                <a:gd name="T75" fmla="*/ 8 h 49"/>
                <a:gd name="T76" fmla="*/ 41 w 49"/>
                <a:gd name="T77" fmla="*/ 6 h 49"/>
                <a:gd name="T78" fmla="*/ 38 w 49"/>
                <a:gd name="T79" fmla="*/ 5 h 49"/>
                <a:gd name="T80" fmla="*/ 35 w 49"/>
                <a:gd name="T81" fmla="*/ 3 h 49"/>
                <a:gd name="T82" fmla="*/ 31 w 49"/>
                <a:gd name="T83" fmla="*/ 1 h 49"/>
                <a:gd name="T84" fmla="*/ 28 w 49"/>
                <a:gd name="T85" fmla="*/ 0 h 49"/>
                <a:gd name="T86" fmla="*/ 25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8" y="45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1" y="42"/>
                  </a:lnTo>
                  <a:lnTo>
                    <a:pt x="41" y="40"/>
                  </a:lnTo>
                  <a:lnTo>
                    <a:pt x="43" y="40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7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4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4" y="11"/>
                  </a:lnTo>
                  <a:lnTo>
                    <a:pt x="44" y="9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auto">
            <a:xfrm>
              <a:off x="3292475" y="4268614"/>
              <a:ext cx="50800" cy="52387"/>
            </a:xfrm>
            <a:custGeom>
              <a:avLst/>
              <a:gdLst>
                <a:gd name="T0" fmla="*/ 65 w 65"/>
                <a:gd name="T1" fmla="*/ 31 h 65"/>
                <a:gd name="T2" fmla="*/ 65 w 65"/>
                <a:gd name="T3" fmla="*/ 26 h 65"/>
                <a:gd name="T4" fmla="*/ 63 w 65"/>
                <a:gd name="T5" fmla="*/ 23 h 65"/>
                <a:gd name="T6" fmla="*/ 61 w 65"/>
                <a:gd name="T7" fmla="*/ 18 h 65"/>
                <a:gd name="T8" fmla="*/ 60 w 65"/>
                <a:gd name="T9" fmla="*/ 15 h 65"/>
                <a:gd name="T10" fmla="*/ 56 w 65"/>
                <a:gd name="T11" fmla="*/ 10 h 65"/>
                <a:gd name="T12" fmla="*/ 52 w 65"/>
                <a:gd name="T13" fmla="*/ 7 h 65"/>
                <a:gd name="T14" fmla="*/ 48 w 65"/>
                <a:gd name="T15" fmla="*/ 5 h 65"/>
                <a:gd name="T16" fmla="*/ 43 w 65"/>
                <a:gd name="T17" fmla="*/ 3 h 65"/>
                <a:gd name="T18" fmla="*/ 40 w 65"/>
                <a:gd name="T19" fmla="*/ 2 h 65"/>
                <a:gd name="T20" fmla="*/ 35 w 65"/>
                <a:gd name="T21" fmla="*/ 2 h 65"/>
                <a:gd name="T22" fmla="*/ 30 w 65"/>
                <a:gd name="T23" fmla="*/ 2 h 65"/>
                <a:gd name="T24" fmla="*/ 26 w 65"/>
                <a:gd name="T25" fmla="*/ 2 h 65"/>
                <a:gd name="T26" fmla="*/ 22 w 65"/>
                <a:gd name="T27" fmla="*/ 3 h 65"/>
                <a:gd name="T28" fmla="*/ 17 w 65"/>
                <a:gd name="T29" fmla="*/ 5 h 65"/>
                <a:gd name="T30" fmla="*/ 14 w 65"/>
                <a:gd name="T31" fmla="*/ 7 h 65"/>
                <a:gd name="T32" fmla="*/ 9 w 65"/>
                <a:gd name="T33" fmla="*/ 10 h 65"/>
                <a:gd name="T34" fmla="*/ 6 w 65"/>
                <a:gd name="T35" fmla="*/ 15 h 65"/>
                <a:gd name="T36" fmla="*/ 4 w 65"/>
                <a:gd name="T37" fmla="*/ 18 h 65"/>
                <a:gd name="T38" fmla="*/ 3 w 65"/>
                <a:gd name="T39" fmla="*/ 23 h 65"/>
                <a:gd name="T40" fmla="*/ 1 w 65"/>
                <a:gd name="T41" fmla="*/ 26 h 65"/>
                <a:gd name="T42" fmla="*/ 1 w 65"/>
                <a:gd name="T43" fmla="*/ 31 h 65"/>
                <a:gd name="T44" fmla="*/ 1 w 65"/>
                <a:gd name="T45" fmla="*/ 36 h 65"/>
                <a:gd name="T46" fmla="*/ 1 w 65"/>
                <a:gd name="T47" fmla="*/ 41 h 65"/>
                <a:gd name="T48" fmla="*/ 3 w 65"/>
                <a:gd name="T49" fmla="*/ 44 h 65"/>
                <a:gd name="T50" fmla="*/ 4 w 65"/>
                <a:gd name="T51" fmla="*/ 49 h 65"/>
                <a:gd name="T52" fmla="*/ 6 w 65"/>
                <a:gd name="T53" fmla="*/ 52 h 65"/>
                <a:gd name="T54" fmla="*/ 9 w 65"/>
                <a:gd name="T55" fmla="*/ 57 h 65"/>
                <a:gd name="T56" fmla="*/ 14 w 65"/>
                <a:gd name="T57" fmla="*/ 60 h 65"/>
                <a:gd name="T58" fmla="*/ 17 w 65"/>
                <a:gd name="T59" fmla="*/ 62 h 65"/>
                <a:gd name="T60" fmla="*/ 22 w 65"/>
                <a:gd name="T61" fmla="*/ 64 h 65"/>
                <a:gd name="T62" fmla="*/ 26 w 65"/>
                <a:gd name="T63" fmla="*/ 65 h 65"/>
                <a:gd name="T64" fmla="*/ 30 w 65"/>
                <a:gd name="T65" fmla="*/ 65 h 65"/>
                <a:gd name="T66" fmla="*/ 35 w 65"/>
                <a:gd name="T67" fmla="*/ 65 h 65"/>
                <a:gd name="T68" fmla="*/ 40 w 65"/>
                <a:gd name="T69" fmla="*/ 65 h 65"/>
                <a:gd name="T70" fmla="*/ 43 w 65"/>
                <a:gd name="T71" fmla="*/ 64 h 65"/>
                <a:gd name="T72" fmla="*/ 48 w 65"/>
                <a:gd name="T73" fmla="*/ 62 h 65"/>
                <a:gd name="T74" fmla="*/ 52 w 65"/>
                <a:gd name="T75" fmla="*/ 60 h 65"/>
                <a:gd name="T76" fmla="*/ 56 w 65"/>
                <a:gd name="T77" fmla="*/ 57 h 65"/>
                <a:gd name="T78" fmla="*/ 60 w 65"/>
                <a:gd name="T79" fmla="*/ 52 h 65"/>
                <a:gd name="T80" fmla="*/ 61 w 65"/>
                <a:gd name="T81" fmla="*/ 49 h 65"/>
                <a:gd name="T82" fmla="*/ 63 w 65"/>
                <a:gd name="T83" fmla="*/ 44 h 65"/>
                <a:gd name="T84" fmla="*/ 65 w 65"/>
                <a:gd name="T85" fmla="*/ 41 h 65"/>
                <a:gd name="T86" fmla="*/ 65 w 65"/>
                <a:gd name="T87" fmla="*/ 36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auto">
            <a:xfrm>
              <a:off x="3282950" y="4286076"/>
              <a:ext cx="38100" cy="38100"/>
            </a:xfrm>
            <a:custGeom>
              <a:avLst/>
              <a:gdLst>
                <a:gd name="T0" fmla="*/ 49 w 49"/>
                <a:gd name="T1" fmla="*/ 21 h 49"/>
                <a:gd name="T2" fmla="*/ 47 w 49"/>
                <a:gd name="T3" fmla="*/ 18 h 49"/>
                <a:gd name="T4" fmla="*/ 47 w 49"/>
                <a:gd name="T5" fmla="*/ 15 h 49"/>
                <a:gd name="T6" fmla="*/ 46 w 49"/>
                <a:gd name="T7" fmla="*/ 12 h 49"/>
                <a:gd name="T8" fmla="*/ 42 w 49"/>
                <a:gd name="T9" fmla="*/ 8 h 49"/>
                <a:gd name="T10" fmla="*/ 41 w 49"/>
                <a:gd name="T11" fmla="*/ 7 h 49"/>
                <a:gd name="T12" fmla="*/ 38 w 49"/>
                <a:gd name="T13" fmla="*/ 5 h 49"/>
                <a:gd name="T14" fmla="*/ 34 w 49"/>
                <a:gd name="T15" fmla="*/ 3 h 49"/>
                <a:gd name="T16" fmla="*/ 31 w 49"/>
                <a:gd name="T17" fmla="*/ 2 h 49"/>
                <a:gd name="T18" fmla="*/ 28 w 49"/>
                <a:gd name="T19" fmla="*/ 0 h 49"/>
                <a:gd name="T20" fmla="*/ 25 w 49"/>
                <a:gd name="T21" fmla="*/ 0 h 49"/>
                <a:gd name="T22" fmla="*/ 21 w 49"/>
                <a:gd name="T23" fmla="*/ 0 h 49"/>
                <a:gd name="T24" fmla="*/ 18 w 49"/>
                <a:gd name="T25" fmla="*/ 2 h 49"/>
                <a:gd name="T26" fmla="*/ 15 w 49"/>
                <a:gd name="T27" fmla="*/ 2 h 49"/>
                <a:gd name="T28" fmla="*/ 12 w 49"/>
                <a:gd name="T29" fmla="*/ 3 h 49"/>
                <a:gd name="T30" fmla="*/ 8 w 49"/>
                <a:gd name="T31" fmla="*/ 5 h 49"/>
                <a:gd name="T32" fmla="*/ 7 w 49"/>
                <a:gd name="T33" fmla="*/ 8 h 49"/>
                <a:gd name="T34" fmla="*/ 5 w 49"/>
                <a:gd name="T35" fmla="*/ 12 h 49"/>
                <a:gd name="T36" fmla="*/ 3 w 49"/>
                <a:gd name="T37" fmla="*/ 13 h 49"/>
                <a:gd name="T38" fmla="*/ 2 w 49"/>
                <a:gd name="T39" fmla="*/ 16 h 49"/>
                <a:gd name="T40" fmla="*/ 0 w 49"/>
                <a:gd name="T41" fmla="*/ 21 h 49"/>
                <a:gd name="T42" fmla="*/ 0 w 49"/>
                <a:gd name="T43" fmla="*/ 25 h 49"/>
                <a:gd name="T44" fmla="*/ 0 w 49"/>
                <a:gd name="T45" fmla="*/ 26 h 49"/>
                <a:gd name="T46" fmla="*/ 2 w 49"/>
                <a:gd name="T47" fmla="*/ 31 h 49"/>
                <a:gd name="T48" fmla="*/ 2 w 49"/>
                <a:gd name="T49" fmla="*/ 34 h 49"/>
                <a:gd name="T50" fmla="*/ 3 w 49"/>
                <a:gd name="T51" fmla="*/ 38 h 49"/>
                <a:gd name="T52" fmla="*/ 5 w 49"/>
                <a:gd name="T53" fmla="*/ 39 h 49"/>
                <a:gd name="T54" fmla="*/ 8 w 49"/>
                <a:gd name="T55" fmla="*/ 43 h 49"/>
                <a:gd name="T56" fmla="*/ 12 w 49"/>
                <a:gd name="T57" fmla="*/ 44 h 49"/>
                <a:gd name="T58" fmla="*/ 13 w 49"/>
                <a:gd name="T59" fmla="*/ 46 h 49"/>
                <a:gd name="T60" fmla="*/ 16 w 49"/>
                <a:gd name="T61" fmla="*/ 47 h 49"/>
                <a:gd name="T62" fmla="*/ 21 w 49"/>
                <a:gd name="T63" fmla="*/ 49 h 49"/>
                <a:gd name="T64" fmla="*/ 25 w 49"/>
                <a:gd name="T65" fmla="*/ 49 h 49"/>
                <a:gd name="T66" fmla="*/ 26 w 49"/>
                <a:gd name="T67" fmla="*/ 49 h 49"/>
                <a:gd name="T68" fmla="*/ 31 w 49"/>
                <a:gd name="T69" fmla="*/ 47 h 49"/>
                <a:gd name="T70" fmla="*/ 34 w 49"/>
                <a:gd name="T71" fmla="*/ 47 h 49"/>
                <a:gd name="T72" fmla="*/ 38 w 49"/>
                <a:gd name="T73" fmla="*/ 46 h 49"/>
                <a:gd name="T74" fmla="*/ 39 w 49"/>
                <a:gd name="T75" fmla="*/ 43 h 49"/>
                <a:gd name="T76" fmla="*/ 42 w 49"/>
                <a:gd name="T77" fmla="*/ 41 h 49"/>
                <a:gd name="T78" fmla="*/ 44 w 49"/>
                <a:gd name="T79" fmla="*/ 38 h 49"/>
                <a:gd name="T80" fmla="*/ 46 w 49"/>
                <a:gd name="T81" fmla="*/ 34 h 49"/>
                <a:gd name="T82" fmla="*/ 47 w 49"/>
                <a:gd name="T83" fmla="*/ 31 h 49"/>
                <a:gd name="T84" fmla="*/ 49 w 49"/>
                <a:gd name="T85" fmla="*/ 28 h 49"/>
                <a:gd name="T86" fmla="*/ 49 w 49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49" y="25"/>
                  </a:move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1" y="43"/>
                  </a:lnTo>
                  <a:lnTo>
                    <a:pt x="41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auto">
            <a:xfrm>
              <a:off x="3473450" y="4268614"/>
              <a:ext cx="50800" cy="52387"/>
            </a:xfrm>
            <a:custGeom>
              <a:avLst/>
              <a:gdLst>
                <a:gd name="T0" fmla="*/ 65 w 65"/>
                <a:gd name="T1" fmla="*/ 31 h 65"/>
                <a:gd name="T2" fmla="*/ 65 w 65"/>
                <a:gd name="T3" fmla="*/ 26 h 65"/>
                <a:gd name="T4" fmla="*/ 64 w 65"/>
                <a:gd name="T5" fmla="*/ 23 h 65"/>
                <a:gd name="T6" fmla="*/ 62 w 65"/>
                <a:gd name="T7" fmla="*/ 18 h 65"/>
                <a:gd name="T8" fmla="*/ 61 w 65"/>
                <a:gd name="T9" fmla="*/ 15 h 65"/>
                <a:gd name="T10" fmla="*/ 57 w 65"/>
                <a:gd name="T11" fmla="*/ 10 h 65"/>
                <a:gd name="T12" fmla="*/ 52 w 65"/>
                <a:gd name="T13" fmla="*/ 7 h 65"/>
                <a:gd name="T14" fmla="*/ 49 w 65"/>
                <a:gd name="T15" fmla="*/ 5 h 65"/>
                <a:gd name="T16" fmla="*/ 44 w 65"/>
                <a:gd name="T17" fmla="*/ 3 h 65"/>
                <a:gd name="T18" fmla="*/ 41 w 65"/>
                <a:gd name="T19" fmla="*/ 2 h 65"/>
                <a:gd name="T20" fmla="*/ 36 w 65"/>
                <a:gd name="T21" fmla="*/ 2 h 65"/>
                <a:gd name="T22" fmla="*/ 31 w 65"/>
                <a:gd name="T23" fmla="*/ 2 h 65"/>
                <a:gd name="T24" fmla="*/ 26 w 65"/>
                <a:gd name="T25" fmla="*/ 2 h 65"/>
                <a:gd name="T26" fmla="*/ 23 w 65"/>
                <a:gd name="T27" fmla="*/ 3 h 65"/>
                <a:gd name="T28" fmla="*/ 18 w 65"/>
                <a:gd name="T29" fmla="*/ 5 h 65"/>
                <a:gd name="T30" fmla="*/ 15 w 65"/>
                <a:gd name="T31" fmla="*/ 7 h 65"/>
                <a:gd name="T32" fmla="*/ 10 w 65"/>
                <a:gd name="T33" fmla="*/ 10 h 65"/>
                <a:gd name="T34" fmla="*/ 7 w 65"/>
                <a:gd name="T35" fmla="*/ 15 h 65"/>
                <a:gd name="T36" fmla="*/ 5 w 65"/>
                <a:gd name="T37" fmla="*/ 18 h 65"/>
                <a:gd name="T38" fmla="*/ 4 w 65"/>
                <a:gd name="T39" fmla="*/ 23 h 65"/>
                <a:gd name="T40" fmla="*/ 2 w 65"/>
                <a:gd name="T41" fmla="*/ 26 h 65"/>
                <a:gd name="T42" fmla="*/ 2 w 65"/>
                <a:gd name="T43" fmla="*/ 31 h 65"/>
                <a:gd name="T44" fmla="*/ 2 w 65"/>
                <a:gd name="T45" fmla="*/ 36 h 65"/>
                <a:gd name="T46" fmla="*/ 2 w 65"/>
                <a:gd name="T47" fmla="*/ 41 h 65"/>
                <a:gd name="T48" fmla="*/ 4 w 65"/>
                <a:gd name="T49" fmla="*/ 44 h 65"/>
                <a:gd name="T50" fmla="*/ 5 w 65"/>
                <a:gd name="T51" fmla="*/ 49 h 65"/>
                <a:gd name="T52" fmla="*/ 7 w 65"/>
                <a:gd name="T53" fmla="*/ 52 h 65"/>
                <a:gd name="T54" fmla="*/ 10 w 65"/>
                <a:gd name="T55" fmla="*/ 57 h 65"/>
                <a:gd name="T56" fmla="*/ 15 w 65"/>
                <a:gd name="T57" fmla="*/ 60 h 65"/>
                <a:gd name="T58" fmla="*/ 18 w 65"/>
                <a:gd name="T59" fmla="*/ 62 h 65"/>
                <a:gd name="T60" fmla="*/ 23 w 65"/>
                <a:gd name="T61" fmla="*/ 64 h 65"/>
                <a:gd name="T62" fmla="*/ 26 w 65"/>
                <a:gd name="T63" fmla="*/ 65 h 65"/>
                <a:gd name="T64" fmla="*/ 31 w 65"/>
                <a:gd name="T65" fmla="*/ 65 h 65"/>
                <a:gd name="T66" fmla="*/ 36 w 65"/>
                <a:gd name="T67" fmla="*/ 65 h 65"/>
                <a:gd name="T68" fmla="*/ 41 w 65"/>
                <a:gd name="T69" fmla="*/ 65 h 65"/>
                <a:gd name="T70" fmla="*/ 44 w 65"/>
                <a:gd name="T71" fmla="*/ 64 h 65"/>
                <a:gd name="T72" fmla="*/ 49 w 65"/>
                <a:gd name="T73" fmla="*/ 62 h 65"/>
                <a:gd name="T74" fmla="*/ 52 w 65"/>
                <a:gd name="T75" fmla="*/ 60 h 65"/>
                <a:gd name="T76" fmla="*/ 57 w 65"/>
                <a:gd name="T77" fmla="*/ 57 h 65"/>
                <a:gd name="T78" fmla="*/ 61 w 65"/>
                <a:gd name="T79" fmla="*/ 52 h 65"/>
                <a:gd name="T80" fmla="*/ 62 w 65"/>
                <a:gd name="T81" fmla="*/ 49 h 65"/>
                <a:gd name="T82" fmla="*/ 64 w 65"/>
                <a:gd name="T83" fmla="*/ 44 h 65"/>
                <a:gd name="T84" fmla="*/ 65 w 65"/>
                <a:gd name="T85" fmla="*/ 41 h 65"/>
                <a:gd name="T86" fmla="*/ 65 w 65"/>
                <a:gd name="T87" fmla="*/ 36 h 65"/>
                <a:gd name="T88" fmla="*/ 33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3" y="33"/>
                  </a:move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4" y="20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1" y="15"/>
                  </a:lnTo>
                  <a:lnTo>
                    <a:pt x="61" y="15"/>
                  </a:lnTo>
                  <a:lnTo>
                    <a:pt x="59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6" y="10"/>
                  </a:lnTo>
                  <a:lnTo>
                    <a:pt x="54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3" y="8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8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9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7" y="62"/>
                  </a:lnTo>
                  <a:lnTo>
                    <a:pt x="18" y="62"/>
                  </a:lnTo>
                  <a:lnTo>
                    <a:pt x="20" y="64"/>
                  </a:lnTo>
                  <a:lnTo>
                    <a:pt x="21" y="64"/>
                  </a:lnTo>
                  <a:lnTo>
                    <a:pt x="23" y="64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3" y="65"/>
                  </a:lnTo>
                  <a:lnTo>
                    <a:pt x="44" y="64"/>
                  </a:lnTo>
                  <a:lnTo>
                    <a:pt x="46" y="64"/>
                  </a:lnTo>
                  <a:lnTo>
                    <a:pt x="48" y="64"/>
                  </a:lnTo>
                  <a:lnTo>
                    <a:pt x="49" y="62"/>
                  </a:lnTo>
                  <a:lnTo>
                    <a:pt x="51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4" y="59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9" y="54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4" y="47"/>
                  </a:lnTo>
                  <a:lnTo>
                    <a:pt x="64" y="46"/>
                  </a:lnTo>
                  <a:lnTo>
                    <a:pt x="64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auto">
            <a:xfrm>
              <a:off x="3489325" y="4286076"/>
              <a:ext cx="39688" cy="38100"/>
            </a:xfrm>
            <a:custGeom>
              <a:avLst/>
              <a:gdLst>
                <a:gd name="T0" fmla="*/ 49 w 49"/>
                <a:gd name="T1" fmla="*/ 21 h 49"/>
                <a:gd name="T2" fmla="*/ 48 w 49"/>
                <a:gd name="T3" fmla="*/ 18 h 49"/>
                <a:gd name="T4" fmla="*/ 48 w 49"/>
                <a:gd name="T5" fmla="*/ 15 h 49"/>
                <a:gd name="T6" fmla="*/ 46 w 49"/>
                <a:gd name="T7" fmla="*/ 12 h 49"/>
                <a:gd name="T8" fmla="*/ 43 w 49"/>
                <a:gd name="T9" fmla="*/ 8 h 49"/>
                <a:gd name="T10" fmla="*/ 41 w 49"/>
                <a:gd name="T11" fmla="*/ 7 h 49"/>
                <a:gd name="T12" fmla="*/ 38 w 49"/>
                <a:gd name="T13" fmla="*/ 5 h 49"/>
                <a:gd name="T14" fmla="*/ 35 w 49"/>
                <a:gd name="T15" fmla="*/ 3 h 49"/>
                <a:gd name="T16" fmla="*/ 31 w 49"/>
                <a:gd name="T17" fmla="*/ 2 h 49"/>
                <a:gd name="T18" fmla="*/ 28 w 49"/>
                <a:gd name="T19" fmla="*/ 0 h 49"/>
                <a:gd name="T20" fmla="*/ 25 w 49"/>
                <a:gd name="T21" fmla="*/ 0 h 49"/>
                <a:gd name="T22" fmla="*/ 22 w 49"/>
                <a:gd name="T23" fmla="*/ 0 h 49"/>
                <a:gd name="T24" fmla="*/ 18 w 49"/>
                <a:gd name="T25" fmla="*/ 2 h 49"/>
                <a:gd name="T26" fmla="*/ 15 w 49"/>
                <a:gd name="T27" fmla="*/ 2 h 49"/>
                <a:gd name="T28" fmla="*/ 12 w 49"/>
                <a:gd name="T29" fmla="*/ 3 h 49"/>
                <a:gd name="T30" fmla="*/ 9 w 49"/>
                <a:gd name="T31" fmla="*/ 5 h 49"/>
                <a:gd name="T32" fmla="*/ 7 w 49"/>
                <a:gd name="T33" fmla="*/ 8 h 49"/>
                <a:gd name="T34" fmla="*/ 5 w 49"/>
                <a:gd name="T35" fmla="*/ 12 h 49"/>
                <a:gd name="T36" fmla="*/ 4 w 49"/>
                <a:gd name="T37" fmla="*/ 13 h 49"/>
                <a:gd name="T38" fmla="*/ 2 w 49"/>
                <a:gd name="T39" fmla="*/ 16 h 49"/>
                <a:gd name="T40" fmla="*/ 0 w 49"/>
                <a:gd name="T41" fmla="*/ 21 h 49"/>
                <a:gd name="T42" fmla="*/ 0 w 49"/>
                <a:gd name="T43" fmla="*/ 25 h 49"/>
                <a:gd name="T44" fmla="*/ 0 w 49"/>
                <a:gd name="T45" fmla="*/ 26 h 49"/>
                <a:gd name="T46" fmla="*/ 2 w 49"/>
                <a:gd name="T47" fmla="*/ 31 h 49"/>
                <a:gd name="T48" fmla="*/ 2 w 49"/>
                <a:gd name="T49" fmla="*/ 34 h 49"/>
                <a:gd name="T50" fmla="*/ 4 w 49"/>
                <a:gd name="T51" fmla="*/ 38 h 49"/>
                <a:gd name="T52" fmla="*/ 5 w 49"/>
                <a:gd name="T53" fmla="*/ 39 h 49"/>
                <a:gd name="T54" fmla="*/ 9 w 49"/>
                <a:gd name="T55" fmla="*/ 43 h 49"/>
                <a:gd name="T56" fmla="*/ 12 w 49"/>
                <a:gd name="T57" fmla="*/ 44 h 49"/>
                <a:gd name="T58" fmla="*/ 13 w 49"/>
                <a:gd name="T59" fmla="*/ 46 h 49"/>
                <a:gd name="T60" fmla="*/ 17 w 49"/>
                <a:gd name="T61" fmla="*/ 47 h 49"/>
                <a:gd name="T62" fmla="*/ 22 w 49"/>
                <a:gd name="T63" fmla="*/ 49 h 49"/>
                <a:gd name="T64" fmla="*/ 25 w 49"/>
                <a:gd name="T65" fmla="*/ 49 h 49"/>
                <a:gd name="T66" fmla="*/ 27 w 49"/>
                <a:gd name="T67" fmla="*/ 49 h 49"/>
                <a:gd name="T68" fmla="*/ 31 w 49"/>
                <a:gd name="T69" fmla="*/ 47 h 49"/>
                <a:gd name="T70" fmla="*/ 35 w 49"/>
                <a:gd name="T71" fmla="*/ 47 h 49"/>
                <a:gd name="T72" fmla="*/ 38 w 49"/>
                <a:gd name="T73" fmla="*/ 46 h 49"/>
                <a:gd name="T74" fmla="*/ 40 w 49"/>
                <a:gd name="T75" fmla="*/ 43 h 49"/>
                <a:gd name="T76" fmla="*/ 43 w 49"/>
                <a:gd name="T77" fmla="*/ 41 h 49"/>
                <a:gd name="T78" fmla="*/ 44 w 49"/>
                <a:gd name="T79" fmla="*/ 38 h 49"/>
                <a:gd name="T80" fmla="*/ 46 w 49"/>
                <a:gd name="T81" fmla="*/ 34 h 49"/>
                <a:gd name="T82" fmla="*/ 48 w 49"/>
                <a:gd name="T83" fmla="*/ 31 h 49"/>
                <a:gd name="T84" fmla="*/ 49 w 49"/>
                <a:gd name="T85" fmla="*/ 28 h 49"/>
                <a:gd name="T86" fmla="*/ 49 w 49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49" y="25"/>
                  </a:move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8" y="20"/>
                  </a:lnTo>
                  <a:lnTo>
                    <a:pt x="48" y="18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5" y="47"/>
                  </a:lnTo>
                  <a:lnTo>
                    <a:pt x="35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40" y="44"/>
                  </a:lnTo>
                  <a:lnTo>
                    <a:pt x="40" y="43"/>
                  </a:lnTo>
                  <a:lnTo>
                    <a:pt x="41" y="43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3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auto">
            <a:xfrm>
              <a:off x="3679825" y="4268614"/>
              <a:ext cx="50800" cy="52387"/>
            </a:xfrm>
            <a:custGeom>
              <a:avLst/>
              <a:gdLst>
                <a:gd name="T0" fmla="*/ 65 w 65"/>
                <a:gd name="T1" fmla="*/ 31 h 65"/>
                <a:gd name="T2" fmla="*/ 65 w 65"/>
                <a:gd name="T3" fmla="*/ 26 h 65"/>
                <a:gd name="T4" fmla="*/ 63 w 65"/>
                <a:gd name="T5" fmla="*/ 23 h 65"/>
                <a:gd name="T6" fmla="*/ 61 w 65"/>
                <a:gd name="T7" fmla="*/ 18 h 65"/>
                <a:gd name="T8" fmla="*/ 60 w 65"/>
                <a:gd name="T9" fmla="*/ 15 h 65"/>
                <a:gd name="T10" fmla="*/ 57 w 65"/>
                <a:gd name="T11" fmla="*/ 10 h 65"/>
                <a:gd name="T12" fmla="*/ 52 w 65"/>
                <a:gd name="T13" fmla="*/ 7 h 65"/>
                <a:gd name="T14" fmla="*/ 48 w 65"/>
                <a:gd name="T15" fmla="*/ 5 h 65"/>
                <a:gd name="T16" fmla="*/ 44 w 65"/>
                <a:gd name="T17" fmla="*/ 3 h 65"/>
                <a:gd name="T18" fmla="*/ 40 w 65"/>
                <a:gd name="T19" fmla="*/ 2 h 65"/>
                <a:gd name="T20" fmla="*/ 35 w 65"/>
                <a:gd name="T21" fmla="*/ 2 h 65"/>
                <a:gd name="T22" fmla="*/ 31 w 65"/>
                <a:gd name="T23" fmla="*/ 2 h 65"/>
                <a:gd name="T24" fmla="*/ 26 w 65"/>
                <a:gd name="T25" fmla="*/ 2 h 65"/>
                <a:gd name="T26" fmla="*/ 22 w 65"/>
                <a:gd name="T27" fmla="*/ 3 h 65"/>
                <a:gd name="T28" fmla="*/ 18 w 65"/>
                <a:gd name="T29" fmla="*/ 5 h 65"/>
                <a:gd name="T30" fmla="*/ 14 w 65"/>
                <a:gd name="T31" fmla="*/ 7 h 65"/>
                <a:gd name="T32" fmla="*/ 9 w 65"/>
                <a:gd name="T33" fmla="*/ 10 h 65"/>
                <a:gd name="T34" fmla="*/ 6 w 65"/>
                <a:gd name="T35" fmla="*/ 15 h 65"/>
                <a:gd name="T36" fmla="*/ 5 w 65"/>
                <a:gd name="T37" fmla="*/ 18 h 65"/>
                <a:gd name="T38" fmla="*/ 3 w 65"/>
                <a:gd name="T39" fmla="*/ 23 h 65"/>
                <a:gd name="T40" fmla="*/ 1 w 65"/>
                <a:gd name="T41" fmla="*/ 26 h 65"/>
                <a:gd name="T42" fmla="*/ 1 w 65"/>
                <a:gd name="T43" fmla="*/ 31 h 65"/>
                <a:gd name="T44" fmla="*/ 1 w 65"/>
                <a:gd name="T45" fmla="*/ 36 h 65"/>
                <a:gd name="T46" fmla="*/ 1 w 65"/>
                <a:gd name="T47" fmla="*/ 41 h 65"/>
                <a:gd name="T48" fmla="*/ 3 w 65"/>
                <a:gd name="T49" fmla="*/ 44 h 65"/>
                <a:gd name="T50" fmla="*/ 5 w 65"/>
                <a:gd name="T51" fmla="*/ 49 h 65"/>
                <a:gd name="T52" fmla="*/ 6 w 65"/>
                <a:gd name="T53" fmla="*/ 52 h 65"/>
                <a:gd name="T54" fmla="*/ 9 w 65"/>
                <a:gd name="T55" fmla="*/ 57 h 65"/>
                <a:gd name="T56" fmla="*/ 14 w 65"/>
                <a:gd name="T57" fmla="*/ 60 h 65"/>
                <a:gd name="T58" fmla="*/ 18 w 65"/>
                <a:gd name="T59" fmla="*/ 62 h 65"/>
                <a:gd name="T60" fmla="*/ 22 w 65"/>
                <a:gd name="T61" fmla="*/ 64 h 65"/>
                <a:gd name="T62" fmla="*/ 26 w 65"/>
                <a:gd name="T63" fmla="*/ 65 h 65"/>
                <a:gd name="T64" fmla="*/ 31 w 65"/>
                <a:gd name="T65" fmla="*/ 65 h 65"/>
                <a:gd name="T66" fmla="*/ 35 w 65"/>
                <a:gd name="T67" fmla="*/ 65 h 65"/>
                <a:gd name="T68" fmla="*/ 40 w 65"/>
                <a:gd name="T69" fmla="*/ 65 h 65"/>
                <a:gd name="T70" fmla="*/ 44 w 65"/>
                <a:gd name="T71" fmla="*/ 64 h 65"/>
                <a:gd name="T72" fmla="*/ 48 w 65"/>
                <a:gd name="T73" fmla="*/ 62 h 65"/>
                <a:gd name="T74" fmla="*/ 52 w 65"/>
                <a:gd name="T75" fmla="*/ 60 h 65"/>
                <a:gd name="T76" fmla="*/ 57 w 65"/>
                <a:gd name="T77" fmla="*/ 57 h 65"/>
                <a:gd name="T78" fmla="*/ 60 w 65"/>
                <a:gd name="T79" fmla="*/ 52 h 65"/>
                <a:gd name="T80" fmla="*/ 61 w 65"/>
                <a:gd name="T81" fmla="*/ 49 h 65"/>
                <a:gd name="T82" fmla="*/ 63 w 65"/>
                <a:gd name="T83" fmla="*/ 44 h 65"/>
                <a:gd name="T84" fmla="*/ 65 w 65"/>
                <a:gd name="T85" fmla="*/ 41 h 65"/>
                <a:gd name="T86" fmla="*/ 65 w 65"/>
                <a:gd name="T87" fmla="*/ 36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auto">
            <a:xfrm>
              <a:off x="3695700" y="4286076"/>
              <a:ext cx="39688" cy="38100"/>
            </a:xfrm>
            <a:custGeom>
              <a:avLst/>
              <a:gdLst>
                <a:gd name="T0" fmla="*/ 49 w 49"/>
                <a:gd name="T1" fmla="*/ 21 h 49"/>
                <a:gd name="T2" fmla="*/ 47 w 49"/>
                <a:gd name="T3" fmla="*/ 18 h 49"/>
                <a:gd name="T4" fmla="*/ 47 w 49"/>
                <a:gd name="T5" fmla="*/ 15 h 49"/>
                <a:gd name="T6" fmla="*/ 45 w 49"/>
                <a:gd name="T7" fmla="*/ 12 h 49"/>
                <a:gd name="T8" fmla="*/ 42 w 49"/>
                <a:gd name="T9" fmla="*/ 8 h 49"/>
                <a:gd name="T10" fmla="*/ 40 w 49"/>
                <a:gd name="T11" fmla="*/ 7 h 49"/>
                <a:gd name="T12" fmla="*/ 37 w 49"/>
                <a:gd name="T13" fmla="*/ 5 h 49"/>
                <a:gd name="T14" fmla="*/ 34 w 49"/>
                <a:gd name="T15" fmla="*/ 3 h 49"/>
                <a:gd name="T16" fmla="*/ 31 w 49"/>
                <a:gd name="T17" fmla="*/ 2 h 49"/>
                <a:gd name="T18" fmla="*/ 27 w 49"/>
                <a:gd name="T19" fmla="*/ 0 h 49"/>
                <a:gd name="T20" fmla="*/ 24 w 49"/>
                <a:gd name="T21" fmla="*/ 0 h 49"/>
                <a:gd name="T22" fmla="*/ 21 w 49"/>
                <a:gd name="T23" fmla="*/ 0 h 49"/>
                <a:gd name="T24" fmla="*/ 18 w 49"/>
                <a:gd name="T25" fmla="*/ 2 h 49"/>
                <a:gd name="T26" fmla="*/ 14 w 49"/>
                <a:gd name="T27" fmla="*/ 2 h 49"/>
                <a:gd name="T28" fmla="*/ 11 w 49"/>
                <a:gd name="T29" fmla="*/ 3 h 49"/>
                <a:gd name="T30" fmla="*/ 8 w 49"/>
                <a:gd name="T31" fmla="*/ 5 h 49"/>
                <a:gd name="T32" fmla="*/ 6 w 49"/>
                <a:gd name="T33" fmla="*/ 8 h 49"/>
                <a:gd name="T34" fmla="*/ 5 w 49"/>
                <a:gd name="T35" fmla="*/ 12 h 49"/>
                <a:gd name="T36" fmla="*/ 3 w 49"/>
                <a:gd name="T37" fmla="*/ 13 h 49"/>
                <a:gd name="T38" fmla="*/ 1 w 49"/>
                <a:gd name="T39" fmla="*/ 16 h 49"/>
                <a:gd name="T40" fmla="*/ 0 w 49"/>
                <a:gd name="T41" fmla="*/ 21 h 49"/>
                <a:gd name="T42" fmla="*/ 0 w 49"/>
                <a:gd name="T43" fmla="*/ 25 h 49"/>
                <a:gd name="T44" fmla="*/ 0 w 49"/>
                <a:gd name="T45" fmla="*/ 26 h 49"/>
                <a:gd name="T46" fmla="*/ 1 w 49"/>
                <a:gd name="T47" fmla="*/ 31 h 49"/>
                <a:gd name="T48" fmla="*/ 1 w 49"/>
                <a:gd name="T49" fmla="*/ 34 h 49"/>
                <a:gd name="T50" fmla="*/ 3 w 49"/>
                <a:gd name="T51" fmla="*/ 38 h 49"/>
                <a:gd name="T52" fmla="*/ 5 w 49"/>
                <a:gd name="T53" fmla="*/ 39 h 49"/>
                <a:gd name="T54" fmla="*/ 8 w 49"/>
                <a:gd name="T55" fmla="*/ 43 h 49"/>
                <a:gd name="T56" fmla="*/ 11 w 49"/>
                <a:gd name="T57" fmla="*/ 44 h 49"/>
                <a:gd name="T58" fmla="*/ 13 w 49"/>
                <a:gd name="T59" fmla="*/ 46 h 49"/>
                <a:gd name="T60" fmla="*/ 16 w 49"/>
                <a:gd name="T61" fmla="*/ 47 h 49"/>
                <a:gd name="T62" fmla="*/ 21 w 49"/>
                <a:gd name="T63" fmla="*/ 49 h 49"/>
                <a:gd name="T64" fmla="*/ 24 w 49"/>
                <a:gd name="T65" fmla="*/ 49 h 49"/>
                <a:gd name="T66" fmla="*/ 26 w 49"/>
                <a:gd name="T67" fmla="*/ 49 h 49"/>
                <a:gd name="T68" fmla="*/ 31 w 49"/>
                <a:gd name="T69" fmla="*/ 47 h 49"/>
                <a:gd name="T70" fmla="*/ 34 w 49"/>
                <a:gd name="T71" fmla="*/ 47 h 49"/>
                <a:gd name="T72" fmla="*/ 37 w 49"/>
                <a:gd name="T73" fmla="*/ 46 h 49"/>
                <a:gd name="T74" fmla="*/ 39 w 49"/>
                <a:gd name="T75" fmla="*/ 43 h 49"/>
                <a:gd name="T76" fmla="*/ 42 w 49"/>
                <a:gd name="T77" fmla="*/ 41 h 49"/>
                <a:gd name="T78" fmla="*/ 44 w 49"/>
                <a:gd name="T79" fmla="*/ 38 h 49"/>
                <a:gd name="T80" fmla="*/ 45 w 49"/>
                <a:gd name="T81" fmla="*/ 34 h 49"/>
                <a:gd name="T82" fmla="*/ 47 w 49"/>
                <a:gd name="T83" fmla="*/ 31 h 49"/>
                <a:gd name="T84" fmla="*/ 49 w 49"/>
                <a:gd name="T85" fmla="*/ 28 h 49"/>
                <a:gd name="T86" fmla="*/ 49 w 49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49" y="25"/>
                  </a:move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0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6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5" y="38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auto">
            <a:xfrm>
              <a:off x="1949450" y="4811539"/>
              <a:ext cx="153988" cy="77787"/>
            </a:xfrm>
            <a:custGeom>
              <a:avLst/>
              <a:gdLst>
                <a:gd name="T0" fmla="*/ 196 w 196"/>
                <a:gd name="T1" fmla="*/ 0 h 97"/>
                <a:gd name="T2" fmla="*/ 0 w 196"/>
                <a:gd name="T3" fmla="*/ 65 h 97"/>
                <a:gd name="T4" fmla="*/ 196 w 196"/>
                <a:gd name="T5" fmla="*/ 97 h 97"/>
                <a:gd name="T6" fmla="*/ 196 w 196"/>
                <a:gd name="T7" fmla="*/ 65 h 97"/>
                <a:gd name="T8" fmla="*/ 196 w 196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97">
                  <a:moveTo>
                    <a:pt x="196" y="0"/>
                  </a:moveTo>
                  <a:lnTo>
                    <a:pt x="0" y="65"/>
                  </a:lnTo>
                  <a:lnTo>
                    <a:pt x="196" y="97"/>
                  </a:lnTo>
                  <a:lnTo>
                    <a:pt x="196" y="65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auto">
            <a:xfrm>
              <a:off x="2362200" y="4811539"/>
              <a:ext cx="155575" cy="77787"/>
            </a:xfrm>
            <a:custGeom>
              <a:avLst/>
              <a:gdLst>
                <a:gd name="T0" fmla="*/ 0 w 195"/>
                <a:gd name="T1" fmla="*/ 97 h 97"/>
                <a:gd name="T2" fmla="*/ 195 w 195"/>
                <a:gd name="T3" fmla="*/ 65 h 97"/>
                <a:gd name="T4" fmla="*/ 0 w 195"/>
                <a:gd name="T5" fmla="*/ 0 h 97"/>
                <a:gd name="T6" fmla="*/ 0 w 195"/>
                <a:gd name="T7" fmla="*/ 65 h 97"/>
                <a:gd name="T8" fmla="*/ 0 w 195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7">
                  <a:moveTo>
                    <a:pt x="0" y="97"/>
                  </a:moveTo>
                  <a:lnTo>
                    <a:pt x="195" y="65"/>
                  </a:lnTo>
                  <a:lnTo>
                    <a:pt x="0" y="0"/>
                  </a:lnTo>
                  <a:lnTo>
                    <a:pt x="0" y="65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Line 99"/>
            <p:cNvSpPr>
              <a:spLocks noChangeShapeType="1"/>
            </p:cNvSpPr>
            <p:nvPr/>
          </p:nvSpPr>
          <p:spPr bwMode="auto">
            <a:xfrm flipH="1">
              <a:off x="2103438" y="486233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auto">
            <a:xfrm>
              <a:off x="2671763" y="4474989"/>
              <a:ext cx="77787" cy="155575"/>
            </a:xfrm>
            <a:custGeom>
              <a:avLst/>
              <a:gdLst>
                <a:gd name="T0" fmla="*/ 0 w 97"/>
                <a:gd name="T1" fmla="*/ 0 h 196"/>
                <a:gd name="T2" fmla="*/ 65 w 97"/>
                <a:gd name="T3" fmla="*/ 196 h 196"/>
                <a:gd name="T4" fmla="*/ 97 w 97"/>
                <a:gd name="T5" fmla="*/ 0 h 196"/>
                <a:gd name="T6" fmla="*/ 65 w 97"/>
                <a:gd name="T7" fmla="*/ 0 h 196"/>
                <a:gd name="T8" fmla="*/ 0 w 97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6">
                  <a:moveTo>
                    <a:pt x="0" y="0"/>
                  </a:moveTo>
                  <a:lnTo>
                    <a:pt x="65" y="196"/>
                  </a:lnTo>
                  <a:lnTo>
                    <a:pt x="97" y="0"/>
                  </a:lnTo>
                  <a:lnTo>
                    <a:pt x="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auto">
            <a:xfrm>
              <a:off x="2671763" y="3984451"/>
              <a:ext cx="77787" cy="155575"/>
            </a:xfrm>
            <a:custGeom>
              <a:avLst/>
              <a:gdLst>
                <a:gd name="T0" fmla="*/ 97 w 97"/>
                <a:gd name="T1" fmla="*/ 195 h 195"/>
                <a:gd name="T2" fmla="*/ 65 w 97"/>
                <a:gd name="T3" fmla="*/ 0 h 195"/>
                <a:gd name="T4" fmla="*/ 0 w 97"/>
                <a:gd name="T5" fmla="*/ 195 h 195"/>
                <a:gd name="T6" fmla="*/ 65 w 97"/>
                <a:gd name="T7" fmla="*/ 195 h 195"/>
                <a:gd name="T8" fmla="*/ 97 w 97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5">
                  <a:moveTo>
                    <a:pt x="97" y="195"/>
                  </a:moveTo>
                  <a:lnTo>
                    <a:pt x="65" y="0"/>
                  </a:lnTo>
                  <a:lnTo>
                    <a:pt x="0" y="195"/>
                  </a:lnTo>
                  <a:lnTo>
                    <a:pt x="65" y="195"/>
                  </a:lnTo>
                  <a:lnTo>
                    <a:pt x="97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Line 102"/>
            <p:cNvSpPr>
              <a:spLocks noChangeShapeType="1"/>
            </p:cNvSpPr>
            <p:nvPr/>
          </p:nvSpPr>
          <p:spPr bwMode="auto">
            <a:xfrm>
              <a:off x="2724150" y="4140026"/>
              <a:ext cx="1588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2982913" y="4474989"/>
              <a:ext cx="50800" cy="155575"/>
            </a:xfrm>
            <a:custGeom>
              <a:avLst/>
              <a:gdLst>
                <a:gd name="T0" fmla="*/ 0 w 65"/>
                <a:gd name="T1" fmla="*/ 0 h 196"/>
                <a:gd name="T2" fmla="*/ 33 w 65"/>
                <a:gd name="T3" fmla="*/ 196 h 196"/>
                <a:gd name="T4" fmla="*/ 65 w 65"/>
                <a:gd name="T5" fmla="*/ 0 h 196"/>
                <a:gd name="T6" fmla="*/ 33 w 65"/>
                <a:gd name="T7" fmla="*/ 0 h 196"/>
                <a:gd name="T8" fmla="*/ 0 w 65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6">
                  <a:moveTo>
                    <a:pt x="0" y="0"/>
                  </a:moveTo>
                  <a:lnTo>
                    <a:pt x="33" y="196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auto">
            <a:xfrm>
              <a:off x="2982913" y="3984451"/>
              <a:ext cx="50800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Line 105"/>
            <p:cNvSpPr>
              <a:spLocks noChangeShapeType="1"/>
            </p:cNvSpPr>
            <p:nvPr/>
          </p:nvSpPr>
          <p:spPr bwMode="auto">
            <a:xfrm>
              <a:off x="3008313" y="4140026"/>
              <a:ext cx="1587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auto">
            <a:xfrm>
              <a:off x="3989388" y="4474989"/>
              <a:ext cx="52387" cy="155575"/>
            </a:xfrm>
            <a:custGeom>
              <a:avLst/>
              <a:gdLst>
                <a:gd name="T0" fmla="*/ 0 w 65"/>
                <a:gd name="T1" fmla="*/ 0 h 196"/>
                <a:gd name="T2" fmla="*/ 33 w 65"/>
                <a:gd name="T3" fmla="*/ 196 h 196"/>
                <a:gd name="T4" fmla="*/ 65 w 65"/>
                <a:gd name="T5" fmla="*/ 0 h 196"/>
                <a:gd name="T6" fmla="*/ 33 w 65"/>
                <a:gd name="T7" fmla="*/ 0 h 196"/>
                <a:gd name="T8" fmla="*/ 0 w 65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6">
                  <a:moveTo>
                    <a:pt x="0" y="0"/>
                  </a:moveTo>
                  <a:lnTo>
                    <a:pt x="33" y="196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auto">
            <a:xfrm>
              <a:off x="3989388" y="3984451"/>
              <a:ext cx="52387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>
              <a:off x="4014788" y="4140026"/>
              <a:ext cx="1587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Rectangle 109"/>
            <p:cNvSpPr>
              <a:spLocks noChangeArrowheads="1"/>
            </p:cNvSpPr>
            <p:nvPr/>
          </p:nvSpPr>
          <p:spPr bwMode="auto">
            <a:xfrm>
              <a:off x="4919663" y="4681364"/>
              <a:ext cx="1755775" cy="1447800"/>
            </a:xfrm>
            <a:prstGeom prst="rect">
              <a:avLst/>
            </a:prstGeom>
            <a:noFill/>
            <a:ln w="2381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Rectangle 110"/>
            <p:cNvSpPr>
              <a:spLocks noChangeArrowheads="1"/>
            </p:cNvSpPr>
            <p:nvPr/>
          </p:nvSpPr>
          <p:spPr bwMode="auto">
            <a:xfrm rot="16200000">
              <a:off x="1170171" y="5190522"/>
              <a:ext cx="1152158" cy="327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I/O block </a:t>
              </a:r>
            </a:p>
          </p:txBody>
        </p:sp>
        <p:sp>
          <p:nvSpPr>
            <p:cNvPr id="113" name="Rectangle 111"/>
            <p:cNvSpPr>
              <a:spLocks noChangeArrowheads="1"/>
            </p:cNvSpPr>
            <p:nvPr/>
          </p:nvSpPr>
          <p:spPr bwMode="auto">
            <a:xfrm>
              <a:off x="5365750" y="5148089"/>
              <a:ext cx="999783" cy="32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PAL-like</a:t>
              </a:r>
            </a:p>
          </p:txBody>
        </p:sp>
        <p:sp>
          <p:nvSpPr>
            <p:cNvPr id="114" name="Rectangle 112"/>
            <p:cNvSpPr>
              <a:spLocks noChangeArrowheads="1"/>
            </p:cNvSpPr>
            <p:nvPr/>
          </p:nvSpPr>
          <p:spPr bwMode="auto">
            <a:xfrm>
              <a:off x="7296150" y="4681364"/>
              <a:ext cx="387350" cy="1447800"/>
            </a:xfrm>
            <a:prstGeom prst="rect">
              <a:avLst/>
            </a:prstGeom>
            <a:solidFill>
              <a:srgbClr val="E5E5E5"/>
            </a:solidFill>
            <a:ln w="2381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5540375" y="5433839"/>
              <a:ext cx="746854" cy="371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block</a:t>
              </a:r>
              <a:r>
                <a:rPr lang="en-US" altLang="en-US" sz="1700">
                  <a:solidFill>
                    <a:srgbClr val="000000"/>
                  </a:solidFill>
                  <a:latin typeface="Times-Roman" charset="0"/>
                </a:rPr>
                <a:t> </a:t>
              </a:r>
            </a:p>
          </p:txBody>
        </p:sp>
        <p:sp>
          <p:nvSpPr>
            <p:cNvPr id="116" name="Freeform 114"/>
            <p:cNvSpPr>
              <a:spLocks/>
            </p:cNvSpPr>
            <p:nvPr/>
          </p:nvSpPr>
          <p:spPr bwMode="auto">
            <a:xfrm>
              <a:off x="7115175" y="5922789"/>
              <a:ext cx="155575" cy="76200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33 h 98"/>
                <a:gd name="T4" fmla="*/ 0 w 195"/>
                <a:gd name="T5" fmla="*/ 0 h 98"/>
                <a:gd name="T6" fmla="*/ 0 w 195"/>
                <a:gd name="T7" fmla="*/ 33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33"/>
                  </a:lnTo>
                  <a:lnTo>
                    <a:pt x="0" y="0"/>
                  </a:lnTo>
                  <a:lnTo>
                    <a:pt x="0" y="33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Freeform 115"/>
            <p:cNvSpPr>
              <a:spLocks/>
            </p:cNvSpPr>
            <p:nvPr/>
          </p:nvSpPr>
          <p:spPr bwMode="auto">
            <a:xfrm>
              <a:off x="6702425" y="5922789"/>
              <a:ext cx="153988" cy="76200"/>
            </a:xfrm>
            <a:custGeom>
              <a:avLst/>
              <a:gdLst>
                <a:gd name="T0" fmla="*/ 195 w 195"/>
                <a:gd name="T1" fmla="*/ 0 h 98"/>
                <a:gd name="T2" fmla="*/ 0 w 195"/>
                <a:gd name="T3" fmla="*/ 33 h 98"/>
                <a:gd name="T4" fmla="*/ 195 w 195"/>
                <a:gd name="T5" fmla="*/ 98 h 98"/>
                <a:gd name="T6" fmla="*/ 195 w 195"/>
                <a:gd name="T7" fmla="*/ 33 h 98"/>
                <a:gd name="T8" fmla="*/ 195 w 195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195" y="0"/>
                  </a:moveTo>
                  <a:lnTo>
                    <a:pt x="0" y="33"/>
                  </a:lnTo>
                  <a:lnTo>
                    <a:pt x="195" y="98"/>
                  </a:lnTo>
                  <a:lnTo>
                    <a:pt x="195" y="33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Line 116"/>
            <p:cNvSpPr>
              <a:spLocks noChangeShapeType="1"/>
            </p:cNvSpPr>
            <p:nvPr/>
          </p:nvSpPr>
          <p:spPr bwMode="auto">
            <a:xfrm>
              <a:off x="6881813" y="594818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Freeform 117"/>
            <p:cNvSpPr>
              <a:spLocks/>
            </p:cNvSpPr>
            <p:nvPr/>
          </p:nvSpPr>
          <p:spPr bwMode="auto">
            <a:xfrm>
              <a:off x="7115175" y="5638626"/>
              <a:ext cx="155575" cy="76200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65 h 98"/>
                <a:gd name="T4" fmla="*/ 0 w 195"/>
                <a:gd name="T5" fmla="*/ 0 h 98"/>
                <a:gd name="T6" fmla="*/ 0 w 195"/>
                <a:gd name="T7" fmla="*/ 65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65"/>
                  </a:lnTo>
                  <a:lnTo>
                    <a:pt x="0" y="0"/>
                  </a:lnTo>
                  <a:lnTo>
                    <a:pt x="0" y="65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Freeform 118"/>
            <p:cNvSpPr>
              <a:spLocks/>
            </p:cNvSpPr>
            <p:nvPr/>
          </p:nvSpPr>
          <p:spPr bwMode="auto">
            <a:xfrm>
              <a:off x="6702425" y="5638626"/>
              <a:ext cx="153988" cy="76200"/>
            </a:xfrm>
            <a:custGeom>
              <a:avLst/>
              <a:gdLst>
                <a:gd name="T0" fmla="*/ 195 w 195"/>
                <a:gd name="T1" fmla="*/ 0 h 98"/>
                <a:gd name="T2" fmla="*/ 0 w 195"/>
                <a:gd name="T3" fmla="*/ 65 h 98"/>
                <a:gd name="T4" fmla="*/ 195 w 195"/>
                <a:gd name="T5" fmla="*/ 98 h 98"/>
                <a:gd name="T6" fmla="*/ 195 w 195"/>
                <a:gd name="T7" fmla="*/ 65 h 98"/>
                <a:gd name="T8" fmla="*/ 195 w 195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195" y="0"/>
                  </a:moveTo>
                  <a:lnTo>
                    <a:pt x="0" y="65"/>
                  </a:lnTo>
                  <a:lnTo>
                    <a:pt x="195" y="98"/>
                  </a:lnTo>
                  <a:lnTo>
                    <a:pt x="195" y="65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1" name="Line 119"/>
            <p:cNvSpPr>
              <a:spLocks noChangeShapeType="1"/>
            </p:cNvSpPr>
            <p:nvPr/>
          </p:nvSpPr>
          <p:spPr bwMode="auto">
            <a:xfrm>
              <a:off x="6881813" y="5689426"/>
              <a:ext cx="233362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Freeform 120"/>
            <p:cNvSpPr>
              <a:spLocks/>
            </p:cNvSpPr>
            <p:nvPr/>
          </p:nvSpPr>
          <p:spPr bwMode="auto">
            <a:xfrm>
              <a:off x="6959600" y="5457651"/>
              <a:ext cx="52388" cy="50800"/>
            </a:xfrm>
            <a:custGeom>
              <a:avLst/>
              <a:gdLst>
                <a:gd name="T0" fmla="*/ 30 w 65"/>
                <a:gd name="T1" fmla="*/ 2 h 65"/>
                <a:gd name="T2" fmla="*/ 26 w 65"/>
                <a:gd name="T3" fmla="*/ 2 h 65"/>
                <a:gd name="T4" fmla="*/ 22 w 65"/>
                <a:gd name="T5" fmla="*/ 4 h 65"/>
                <a:gd name="T6" fmla="*/ 17 w 65"/>
                <a:gd name="T7" fmla="*/ 5 h 65"/>
                <a:gd name="T8" fmla="*/ 14 w 65"/>
                <a:gd name="T9" fmla="*/ 7 h 65"/>
                <a:gd name="T10" fmla="*/ 9 w 65"/>
                <a:gd name="T11" fmla="*/ 10 h 65"/>
                <a:gd name="T12" fmla="*/ 6 w 65"/>
                <a:gd name="T13" fmla="*/ 15 h 65"/>
                <a:gd name="T14" fmla="*/ 4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4 w 65"/>
                <a:gd name="T29" fmla="*/ 49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1 h 65"/>
                <a:gd name="T36" fmla="*/ 17 w 65"/>
                <a:gd name="T37" fmla="*/ 62 h 65"/>
                <a:gd name="T38" fmla="*/ 22 w 65"/>
                <a:gd name="T39" fmla="*/ 64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4 h 65"/>
                <a:gd name="T50" fmla="*/ 48 w 65"/>
                <a:gd name="T51" fmla="*/ 62 h 65"/>
                <a:gd name="T52" fmla="*/ 52 w 65"/>
                <a:gd name="T53" fmla="*/ 61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1 w 65"/>
                <a:gd name="T73" fmla="*/ 18 h 65"/>
                <a:gd name="T74" fmla="*/ 60 w 65"/>
                <a:gd name="T75" fmla="*/ 15 h 65"/>
                <a:gd name="T76" fmla="*/ 56 w 65"/>
                <a:gd name="T77" fmla="*/ 10 h 65"/>
                <a:gd name="T78" fmla="*/ 52 w 65"/>
                <a:gd name="T79" fmla="*/ 7 h 65"/>
                <a:gd name="T80" fmla="*/ 48 w 65"/>
                <a:gd name="T81" fmla="*/ 5 h 65"/>
                <a:gd name="T82" fmla="*/ 43 w 65"/>
                <a:gd name="T83" fmla="*/ 4 h 65"/>
                <a:gd name="T84" fmla="*/ 40 w 65"/>
                <a:gd name="T85" fmla="*/ 2 h 65"/>
                <a:gd name="T86" fmla="*/ 35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8"/>
                  </a:lnTo>
                  <a:lnTo>
                    <a:pt x="4" y="49"/>
                  </a:lnTo>
                  <a:lnTo>
                    <a:pt x="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6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6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1"/>
                  </a:lnTo>
                  <a:lnTo>
                    <a:pt x="61" y="49"/>
                  </a:lnTo>
                  <a:lnTo>
                    <a:pt x="63" y="48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3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3" y="23"/>
                  </a:lnTo>
                  <a:lnTo>
                    <a:pt x="63" y="22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7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2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9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" name="Freeform 121"/>
            <p:cNvSpPr>
              <a:spLocks/>
            </p:cNvSpPr>
            <p:nvPr/>
          </p:nvSpPr>
          <p:spPr bwMode="auto">
            <a:xfrm>
              <a:off x="6977063" y="5448126"/>
              <a:ext cx="38100" cy="38100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2 h 49"/>
                <a:gd name="T4" fmla="*/ 14 w 49"/>
                <a:gd name="T5" fmla="*/ 2 h 49"/>
                <a:gd name="T6" fmla="*/ 11 w 49"/>
                <a:gd name="T7" fmla="*/ 3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1 h 49"/>
                <a:gd name="T14" fmla="*/ 3 w 49"/>
                <a:gd name="T15" fmla="*/ 13 h 49"/>
                <a:gd name="T16" fmla="*/ 1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1 w 49"/>
                <a:gd name="T35" fmla="*/ 44 h 49"/>
                <a:gd name="T36" fmla="*/ 13 w 49"/>
                <a:gd name="T37" fmla="*/ 46 h 49"/>
                <a:gd name="T38" fmla="*/ 16 w 49"/>
                <a:gd name="T39" fmla="*/ 47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4 w 49"/>
                <a:gd name="T49" fmla="*/ 47 h 49"/>
                <a:gd name="T50" fmla="*/ 37 w 49"/>
                <a:gd name="T51" fmla="*/ 46 h 49"/>
                <a:gd name="T52" fmla="*/ 39 w 49"/>
                <a:gd name="T53" fmla="*/ 42 h 49"/>
                <a:gd name="T54" fmla="*/ 42 w 49"/>
                <a:gd name="T55" fmla="*/ 41 h 49"/>
                <a:gd name="T56" fmla="*/ 44 w 49"/>
                <a:gd name="T57" fmla="*/ 37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8 h 49"/>
                <a:gd name="T64" fmla="*/ 49 w 49"/>
                <a:gd name="T65" fmla="*/ 24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5 h 49"/>
                <a:gd name="T72" fmla="*/ 45 w 49"/>
                <a:gd name="T73" fmla="*/ 11 h 49"/>
                <a:gd name="T74" fmla="*/ 42 w 49"/>
                <a:gd name="T75" fmla="*/ 8 h 49"/>
                <a:gd name="T76" fmla="*/ 40 w 49"/>
                <a:gd name="T77" fmla="*/ 7 h 49"/>
                <a:gd name="T78" fmla="*/ 37 w 49"/>
                <a:gd name="T79" fmla="*/ 5 h 49"/>
                <a:gd name="T80" fmla="*/ 34 w 49"/>
                <a:gd name="T81" fmla="*/ 3 h 49"/>
                <a:gd name="T82" fmla="*/ 31 w 49"/>
                <a:gd name="T83" fmla="*/ 2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5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Freeform 122"/>
            <p:cNvSpPr>
              <a:spLocks/>
            </p:cNvSpPr>
            <p:nvPr/>
          </p:nvSpPr>
          <p:spPr bwMode="auto">
            <a:xfrm>
              <a:off x="6959600" y="5249689"/>
              <a:ext cx="52388" cy="52387"/>
            </a:xfrm>
            <a:custGeom>
              <a:avLst/>
              <a:gdLst>
                <a:gd name="T0" fmla="*/ 30 w 65"/>
                <a:gd name="T1" fmla="*/ 2 h 65"/>
                <a:gd name="T2" fmla="*/ 26 w 65"/>
                <a:gd name="T3" fmla="*/ 2 h 65"/>
                <a:gd name="T4" fmla="*/ 22 w 65"/>
                <a:gd name="T5" fmla="*/ 3 h 65"/>
                <a:gd name="T6" fmla="*/ 17 w 65"/>
                <a:gd name="T7" fmla="*/ 5 h 65"/>
                <a:gd name="T8" fmla="*/ 14 w 65"/>
                <a:gd name="T9" fmla="*/ 6 h 65"/>
                <a:gd name="T10" fmla="*/ 9 w 65"/>
                <a:gd name="T11" fmla="*/ 10 h 65"/>
                <a:gd name="T12" fmla="*/ 6 w 65"/>
                <a:gd name="T13" fmla="*/ 15 h 65"/>
                <a:gd name="T14" fmla="*/ 4 w 65"/>
                <a:gd name="T15" fmla="*/ 18 h 65"/>
                <a:gd name="T16" fmla="*/ 3 w 65"/>
                <a:gd name="T17" fmla="*/ 23 h 65"/>
                <a:gd name="T18" fmla="*/ 1 w 65"/>
                <a:gd name="T19" fmla="*/ 26 h 65"/>
                <a:gd name="T20" fmla="*/ 1 w 65"/>
                <a:gd name="T21" fmla="*/ 31 h 65"/>
                <a:gd name="T22" fmla="*/ 1 w 65"/>
                <a:gd name="T23" fmla="*/ 36 h 65"/>
                <a:gd name="T24" fmla="*/ 1 w 65"/>
                <a:gd name="T25" fmla="*/ 41 h 65"/>
                <a:gd name="T26" fmla="*/ 3 w 65"/>
                <a:gd name="T27" fmla="*/ 44 h 65"/>
                <a:gd name="T28" fmla="*/ 4 w 65"/>
                <a:gd name="T29" fmla="*/ 49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0 h 65"/>
                <a:gd name="T36" fmla="*/ 17 w 65"/>
                <a:gd name="T37" fmla="*/ 62 h 65"/>
                <a:gd name="T38" fmla="*/ 22 w 65"/>
                <a:gd name="T39" fmla="*/ 63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3 h 65"/>
                <a:gd name="T50" fmla="*/ 48 w 65"/>
                <a:gd name="T51" fmla="*/ 62 h 65"/>
                <a:gd name="T52" fmla="*/ 52 w 65"/>
                <a:gd name="T53" fmla="*/ 60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9 h 65"/>
                <a:gd name="T60" fmla="*/ 63 w 65"/>
                <a:gd name="T61" fmla="*/ 44 h 65"/>
                <a:gd name="T62" fmla="*/ 65 w 65"/>
                <a:gd name="T63" fmla="*/ 41 h 65"/>
                <a:gd name="T64" fmla="*/ 65 w 65"/>
                <a:gd name="T65" fmla="*/ 36 h 65"/>
                <a:gd name="T66" fmla="*/ 65 w 65"/>
                <a:gd name="T67" fmla="*/ 31 h 65"/>
                <a:gd name="T68" fmla="*/ 65 w 65"/>
                <a:gd name="T69" fmla="*/ 26 h 65"/>
                <a:gd name="T70" fmla="*/ 63 w 65"/>
                <a:gd name="T71" fmla="*/ 23 h 65"/>
                <a:gd name="T72" fmla="*/ 61 w 65"/>
                <a:gd name="T73" fmla="*/ 18 h 65"/>
                <a:gd name="T74" fmla="*/ 60 w 65"/>
                <a:gd name="T75" fmla="*/ 15 h 65"/>
                <a:gd name="T76" fmla="*/ 56 w 65"/>
                <a:gd name="T77" fmla="*/ 10 h 65"/>
                <a:gd name="T78" fmla="*/ 52 w 65"/>
                <a:gd name="T79" fmla="*/ 6 h 65"/>
                <a:gd name="T80" fmla="*/ 48 w 65"/>
                <a:gd name="T81" fmla="*/ 5 h 65"/>
                <a:gd name="T82" fmla="*/ 43 w 65"/>
                <a:gd name="T83" fmla="*/ 3 h 65"/>
                <a:gd name="T84" fmla="*/ 40 w 65"/>
                <a:gd name="T85" fmla="*/ 2 h 65"/>
                <a:gd name="T86" fmla="*/ 35 w 65"/>
                <a:gd name="T87" fmla="*/ 2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32" y="0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5" name="Freeform 123"/>
            <p:cNvSpPr>
              <a:spLocks/>
            </p:cNvSpPr>
            <p:nvPr/>
          </p:nvSpPr>
          <p:spPr bwMode="auto">
            <a:xfrm>
              <a:off x="6977063" y="5267151"/>
              <a:ext cx="38100" cy="38100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2 h 49"/>
                <a:gd name="T4" fmla="*/ 14 w 49"/>
                <a:gd name="T5" fmla="*/ 2 h 49"/>
                <a:gd name="T6" fmla="*/ 11 w 49"/>
                <a:gd name="T7" fmla="*/ 3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2 h 49"/>
                <a:gd name="T14" fmla="*/ 3 w 49"/>
                <a:gd name="T15" fmla="*/ 13 h 49"/>
                <a:gd name="T16" fmla="*/ 1 w 49"/>
                <a:gd name="T17" fmla="*/ 16 h 49"/>
                <a:gd name="T18" fmla="*/ 0 w 49"/>
                <a:gd name="T19" fmla="*/ 21 h 49"/>
                <a:gd name="T20" fmla="*/ 0 w 49"/>
                <a:gd name="T21" fmla="*/ 25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8 h 49"/>
                <a:gd name="T30" fmla="*/ 5 w 49"/>
                <a:gd name="T31" fmla="*/ 39 h 49"/>
                <a:gd name="T32" fmla="*/ 8 w 49"/>
                <a:gd name="T33" fmla="*/ 42 h 49"/>
                <a:gd name="T34" fmla="*/ 11 w 49"/>
                <a:gd name="T35" fmla="*/ 44 h 49"/>
                <a:gd name="T36" fmla="*/ 13 w 49"/>
                <a:gd name="T37" fmla="*/ 46 h 49"/>
                <a:gd name="T38" fmla="*/ 16 w 49"/>
                <a:gd name="T39" fmla="*/ 47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4 w 49"/>
                <a:gd name="T49" fmla="*/ 47 h 49"/>
                <a:gd name="T50" fmla="*/ 37 w 49"/>
                <a:gd name="T51" fmla="*/ 46 h 49"/>
                <a:gd name="T52" fmla="*/ 39 w 49"/>
                <a:gd name="T53" fmla="*/ 42 h 49"/>
                <a:gd name="T54" fmla="*/ 42 w 49"/>
                <a:gd name="T55" fmla="*/ 41 h 49"/>
                <a:gd name="T56" fmla="*/ 44 w 49"/>
                <a:gd name="T57" fmla="*/ 38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8 h 49"/>
                <a:gd name="T64" fmla="*/ 49 w 49"/>
                <a:gd name="T65" fmla="*/ 25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5 h 49"/>
                <a:gd name="T72" fmla="*/ 45 w 49"/>
                <a:gd name="T73" fmla="*/ 12 h 49"/>
                <a:gd name="T74" fmla="*/ 42 w 49"/>
                <a:gd name="T75" fmla="*/ 8 h 49"/>
                <a:gd name="T76" fmla="*/ 40 w 49"/>
                <a:gd name="T77" fmla="*/ 7 h 49"/>
                <a:gd name="T78" fmla="*/ 37 w 49"/>
                <a:gd name="T79" fmla="*/ 5 h 49"/>
                <a:gd name="T80" fmla="*/ 34 w 49"/>
                <a:gd name="T81" fmla="*/ 3 h 49"/>
                <a:gd name="T82" fmla="*/ 31 w 49"/>
                <a:gd name="T83" fmla="*/ 2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5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5" y="38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Freeform 124"/>
            <p:cNvSpPr>
              <a:spLocks/>
            </p:cNvSpPr>
            <p:nvPr/>
          </p:nvSpPr>
          <p:spPr bwMode="auto">
            <a:xfrm>
              <a:off x="6959600" y="5043314"/>
              <a:ext cx="52388" cy="52387"/>
            </a:xfrm>
            <a:custGeom>
              <a:avLst/>
              <a:gdLst>
                <a:gd name="T0" fmla="*/ 30 w 65"/>
                <a:gd name="T1" fmla="*/ 1 h 65"/>
                <a:gd name="T2" fmla="*/ 26 w 65"/>
                <a:gd name="T3" fmla="*/ 1 h 65"/>
                <a:gd name="T4" fmla="*/ 22 w 65"/>
                <a:gd name="T5" fmla="*/ 3 h 65"/>
                <a:gd name="T6" fmla="*/ 17 w 65"/>
                <a:gd name="T7" fmla="*/ 4 h 65"/>
                <a:gd name="T8" fmla="*/ 14 w 65"/>
                <a:gd name="T9" fmla="*/ 6 h 65"/>
                <a:gd name="T10" fmla="*/ 9 w 65"/>
                <a:gd name="T11" fmla="*/ 9 h 65"/>
                <a:gd name="T12" fmla="*/ 6 w 65"/>
                <a:gd name="T13" fmla="*/ 14 h 65"/>
                <a:gd name="T14" fmla="*/ 4 w 65"/>
                <a:gd name="T15" fmla="*/ 17 h 65"/>
                <a:gd name="T16" fmla="*/ 3 w 65"/>
                <a:gd name="T17" fmla="*/ 22 h 65"/>
                <a:gd name="T18" fmla="*/ 1 w 65"/>
                <a:gd name="T19" fmla="*/ 26 h 65"/>
                <a:gd name="T20" fmla="*/ 1 w 65"/>
                <a:gd name="T21" fmla="*/ 30 h 65"/>
                <a:gd name="T22" fmla="*/ 1 w 65"/>
                <a:gd name="T23" fmla="*/ 35 h 65"/>
                <a:gd name="T24" fmla="*/ 1 w 65"/>
                <a:gd name="T25" fmla="*/ 40 h 65"/>
                <a:gd name="T26" fmla="*/ 3 w 65"/>
                <a:gd name="T27" fmla="*/ 44 h 65"/>
                <a:gd name="T28" fmla="*/ 4 w 65"/>
                <a:gd name="T29" fmla="*/ 48 h 65"/>
                <a:gd name="T30" fmla="*/ 6 w 65"/>
                <a:gd name="T31" fmla="*/ 52 h 65"/>
                <a:gd name="T32" fmla="*/ 9 w 65"/>
                <a:gd name="T33" fmla="*/ 57 h 65"/>
                <a:gd name="T34" fmla="*/ 14 w 65"/>
                <a:gd name="T35" fmla="*/ 60 h 65"/>
                <a:gd name="T36" fmla="*/ 17 w 65"/>
                <a:gd name="T37" fmla="*/ 61 h 65"/>
                <a:gd name="T38" fmla="*/ 22 w 65"/>
                <a:gd name="T39" fmla="*/ 63 h 65"/>
                <a:gd name="T40" fmla="*/ 26 w 65"/>
                <a:gd name="T41" fmla="*/ 65 h 65"/>
                <a:gd name="T42" fmla="*/ 30 w 65"/>
                <a:gd name="T43" fmla="*/ 65 h 65"/>
                <a:gd name="T44" fmla="*/ 35 w 65"/>
                <a:gd name="T45" fmla="*/ 65 h 65"/>
                <a:gd name="T46" fmla="*/ 40 w 65"/>
                <a:gd name="T47" fmla="*/ 65 h 65"/>
                <a:gd name="T48" fmla="*/ 43 w 65"/>
                <a:gd name="T49" fmla="*/ 63 h 65"/>
                <a:gd name="T50" fmla="*/ 48 w 65"/>
                <a:gd name="T51" fmla="*/ 61 h 65"/>
                <a:gd name="T52" fmla="*/ 52 w 65"/>
                <a:gd name="T53" fmla="*/ 60 h 65"/>
                <a:gd name="T54" fmla="*/ 56 w 65"/>
                <a:gd name="T55" fmla="*/ 57 h 65"/>
                <a:gd name="T56" fmla="*/ 60 w 65"/>
                <a:gd name="T57" fmla="*/ 52 h 65"/>
                <a:gd name="T58" fmla="*/ 61 w 65"/>
                <a:gd name="T59" fmla="*/ 48 h 65"/>
                <a:gd name="T60" fmla="*/ 63 w 65"/>
                <a:gd name="T61" fmla="*/ 44 h 65"/>
                <a:gd name="T62" fmla="*/ 65 w 65"/>
                <a:gd name="T63" fmla="*/ 40 h 65"/>
                <a:gd name="T64" fmla="*/ 65 w 65"/>
                <a:gd name="T65" fmla="*/ 35 h 65"/>
                <a:gd name="T66" fmla="*/ 65 w 65"/>
                <a:gd name="T67" fmla="*/ 30 h 65"/>
                <a:gd name="T68" fmla="*/ 65 w 65"/>
                <a:gd name="T69" fmla="*/ 26 h 65"/>
                <a:gd name="T70" fmla="*/ 63 w 65"/>
                <a:gd name="T71" fmla="*/ 22 h 65"/>
                <a:gd name="T72" fmla="*/ 61 w 65"/>
                <a:gd name="T73" fmla="*/ 17 h 65"/>
                <a:gd name="T74" fmla="*/ 60 w 65"/>
                <a:gd name="T75" fmla="*/ 14 h 65"/>
                <a:gd name="T76" fmla="*/ 56 w 65"/>
                <a:gd name="T77" fmla="*/ 9 h 65"/>
                <a:gd name="T78" fmla="*/ 52 w 65"/>
                <a:gd name="T79" fmla="*/ 6 h 65"/>
                <a:gd name="T80" fmla="*/ 48 w 65"/>
                <a:gd name="T81" fmla="*/ 4 h 65"/>
                <a:gd name="T82" fmla="*/ 43 w 65"/>
                <a:gd name="T83" fmla="*/ 3 h 65"/>
                <a:gd name="T84" fmla="*/ 40 w 65"/>
                <a:gd name="T85" fmla="*/ 1 h 65"/>
                <a:gd name="T86" fmla="*/ 35 w 65"/>
                <a:gd name="T87" fmla="*/ 1 h 65"/>
                <a:gd name="T88" fmla="*/ 32 w 65"/>
                <a:gd name="T89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2"/>
                  </a:moveTo>
                  <a:lnTo>
                    <a:pt x="32" y="0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9"/>
                  </a:lnTo>
                  <a:lnTo>
                    <a:pt x="9" y="9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22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8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9" y="63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3" y="63"/>
                  </a:lnTo>
                  <a:lnTo>
                    <a:pt x="45" y="63"/>
                  </a:lnTo>
                  <a:lnTo>
                    <a:pt x="47" y="63"/>
                  </a:lnTo>
                  <a:lnTo>
                    <a:pt x="48" y="61"/>
                  </a:lnTo>
                  <a:lnTo>
                    <a:pt x="50" y="61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8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8"/>
                  </a:lnTo>
                  <a:lnTo>
                    <a:pt x="63" y="47"/>
                  </a:lnTo>
                  <a:lnTo>
                    <a:pt x="63" y="45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5"/>
                  </a:lnTo>
                  <a:lnTo>
                    <a:pt x="65" y="32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5" y="29"/>
                  </a:lnTo>
                  <a:lnTo>
                    <a:pt x="65" y="27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19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6" y="9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0" y="4"/>
                  </a:lnTo>
                  <a:lnTo>
                    <a:pt x="48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" name="Freeform 125"/>
            <p:cNvSpPr>
              <a:spLocks/>
            </p:cNvSpPr>
            <p:nvPr/>
          </p:nvSpPr>
          <p:spPr bwMode="auto">
            <a:xfrm>
              <a:off x="6977063" y="5060776"/>
              <a:ext cx="38100" cy="38100"/>
            </a:xfrm>
            <a:custGeom>
              <a:avLst/>
              <a:gdLst>
                <a:gd name="T0" fmla="*/ 21 w 49"/>
                <a:gd name="T1" fmla="*/ 0 h 49"/>
                <a:gd name="T2" fmla="*/ 18 w 49"/>
                <a:gd name="T3" fmla="*/ 1 h 49"/>
                <a:gd name="T4" fmla="*/ 14 w 49"/>
                <a:gd name="T5" fmla="*/ 1 h 49"/>
                <a:gd name="T6" fmla="*/ 11 w 49"/>
                <a:gd name="T7" fmla="*/ 3 h 49"/>
                <a:gd name="T8" fmla="*/ 8 w 49"/>
                <a:gd name="T9" fmla="*/ 5 h 49"/>
                <a:gd name="T10" fmla="*/ 6 w 49"/>
                <a:gd name="T11" fmla="*/ 8 h 49"/>
                <a:gd name="T12" fmla="*/ 5 w 49"/>
                <a:gd name="T13" fmla="*/ 11 h 49"/>
                <a:gd name="T14" fmla="*/ 3 w 49"/>
                <a:gd name="T15" fmla="*/ 13 h 49"/>
                <a:gd name="T16" fmla="*/ 1 w 49"/>
                <a:gd name="T17" fmla="*/ 16 h 49"/>
                <a:gd name="T18" fmla="*/ 0 w 49"/>
                <a:gd name="T19" fmla="*/ 21 h 49"/>
                <a:gd name="T20" fmla="*/ 0 w 49"/>
                <a:gd name="T21" fmla="*/ 24 h 49"/>
                <a:gd name="T22" fmla="*/ 0 w 49"/>
                <a:gd name="T23" fmla="*/ 26 h 49"/>
                <a:gd name="T24" fmla="*/ 1 w 49"/>
                <a:gd name="T25" fmla="*/ 31 h 49"/>
                <a:gd name="T26" fmla="*/ 1 w 49"/>
                <a:gd name="T27" fmla="*/ 34 h 49"/>
                <a:gd name="T28" fmla="*/ 3 w 49"/>
                <a:gd name="T29" fmla="*/ 37 h 49"/>
                <a:gd name="T30" fmla="*/ 5 w 49"/>
                <a:gd name="T31" fmla="*/ 39 h 49"/>
                <a:gd name="T32" fmla="*/ 8 w 49"/>
                <a:gd name="T33" fmla="*/ 42 h 49"/>
                <a:gd name="T34" fmla="*/ 11 w 49"/>
                <a:gd name="T35" fmla="*/ 44 h 49"/>
                <a:gd name="T36" fmla="*/ 13 w 49"/>
                <a:gd name="T37" fmla="*/ 45 h 49"/>
                <a:gd name="T38" fmla="*/ 16 w 49"/>
                <a:gd name="T39" fmla="*/ 47 h 49"/>
                <a:gd name="T40" fmla="*/ 21 w 49"/>
                <a:gd name="T41" fmla="*/ 49 h 49"/>
                <a:gd name="T42" fmla="*/ 24 w 49"/>
                <a:gd name="T43" fmla="*/ 49 h 49"/>
                <a:gd name="T44" fmla="*/ 26 w 49"/>
                <a:gd name="T45" fmla="*/ 49 h 49"/>
                <a:gd name="T46" fmla="*/ 31 w 49"/>
                <a:gd name="T47" fmla="*/ 47 h 49"/>
                <a:gd name="T48" fmla="*/ 34 w 49"/>
                <a:gd name="T49" fmla="*/ 47 h 49"/>
                <a:gd name="T50" fmla="*/ 37 w 49"/>
                <a:gd name="T51" fmla="*/ 45 h 49"/>
                <a:gd name="T52" fmla="*/ 39 w 49"/>
                <a:gd name="T53" fmla="*/ 42 h 49"/>
                <a:gd name="T54" fmla="*/ 42 w 49"/>
                <a:gd name="T55" fmla="*/ 40 h 49"/>
                <a:gd name="T56" fmla="*/ 44 w 49"/>
                <a:gd name="T57" fmla="*/ 37 h 49"/>
                <a:gd name="T58" fmla="*/ 45 w 49"/>
                <a:gd name="T59" fmla="*/ 34 h 49"/>
                <a:gd name="T60" fmla="*/ 47 w 49"/>
                <a:gd name="T61" fmla="*/ 31 h 49"/>
                <a:gd name="T62" fmla="*/ 49 w 49"/>
                <a:gd name="T63" fmla="*/ 27 h 49"/>
                <a:gd name="T64" fmla="*/ 49 w 49"/>
                <a:gd name="T65" fmla="*/ 24 h 49"/>
                <a:gd name="T66" fmla="*/ 49 w 49"/>
                <a:gd name="T67" fmla="*/ 21 h 49"/>
                <a:gd name="T68" fmla="*/ 47 w 49"/>
                <a:gd name="T69" fmla="*/ 18 h 49"/>
                <a:gd name="T70" fmla="*/ 47 w 49"/>
                <a:gd name="T71" fmla="*/ 14 h 49"/>
                <a:gd name="T72" fmla="*/ 45 w 49"/>
                <a:gd name="T73" fmla="*/ 11 h 49"/>
                <a:gd name="T74" fmla="*/ 42 w 49"/>
                <a:gd name="T75" fmla="*/ 8 h 49"/>
                <a:gd name="T76" fmla="*/ 40 w 49"/>
                <a:gd name="T77" fmla="*/ 6 h 49"/>
                <a:gd name="T78" fmla="*/ 37 w 49"/>
                <a:gd name="T79" fmla="*/ 5 h 49"/>
                <a:gd name="T80" fmla="*/ 34 w 49"/>
                <a:gd name="T81" fmla="*/ 3 h 49"/>
                <a:gd name="T82" fmla="*/ 31 w 49"/>
                <a:gd name="T83" fmla="*/ 1 h 49"/>
                <a:gd name="T84" fmla="*/ 27 w 49"/>
                <a:gd name="T85" fmla="*/ 0 h 49"/>
                <a:gd name="T86" fmla="*/ 24 w 49"/>
                <a:gd name="T8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8" y="42"/>
                  </a:lnTo>
                  <a:lnTo>
                    <a:pt x="8" y="42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3" y="45"/>
                  </a:lnTo>
                  <a:lnTo>
                    <a:pt x="13" y="45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5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2"/>
                  </a:lnTo>
                  <a:lnTo>
                    <a:pt x="40" y="42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5" y="37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7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4" y="9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8" name="Freeform 126"/>
            <p:cNvSpPr>
              <a:spLocks/>
            </p:cNvSpPr>
            <p:nvPr/>
          </p:nvSpPr>
          <p:spPr bwMode="auto">
            <a:xfrm>
              <a:off x="5875338" y="4268614"/>
              <a:ext cx="50800" cy="52387"/>
            </a:xfrm>
            <a:custGeom>
              <a:avLst/>
              <a:gdLst>
                <a:gd name="T0" fmla="*/ 1 w 65"/>
                <a:gd name="T1" fmla="*/ 36 h 65"/>
                <a:gd name="T2" fmla="*/ 1 w 65"/>
                <a:gd name="T3" fmla="*/ 41 h 65"/>
                <a:gd name="T4" fmla="*/ 3 w 65"/>
                <a:gd name="T5" fmla="*/ 44 h 65"/>
                <a:gd name="T6" fmla="*/ 5 w 65"/>
                <a:gd name="T7" fmla="*/ 49 h 65"/>
                <a:gd name="T8" fmla="*/ 6 w 65"/>
                <a:gd name="T9" fmla="*/ 52 h 65"/>
                <a:gd name="T10" fmla="*/ 10 w 65"/>
                <a:gd name="T11" fmla="*/ 57 h 65"/>
                <a:gd name="T12" fmla="*/ 14 w 65"/>
                <a:gd name="T13" fmla="*/ 60 h 65"/>
                <a:gd name="T14" fmla="*/ 18 w 65"/>
                <a:gd name="T15" fmla="*/ 62 h 65"/>
                <a:gd name="T16" fmla="*/ 23 w 65"/>
                <a:gd name="T17" fmla="*/ 64 h 65"/>
                <a:gd name="T18" fmla="*/ 26 w 65"/>
                <a:gd name="T19" fmla="*/ 65 h 65"/>
                <a:gd name="T20" fmla="*/ 31 w 65"/>
                <a:gd name="T21" fmla="*/ 65 h 65"/>
                <a:gd name="T22" fmla="*/ 36 w 65"/>
                <a:gd name="T23" fmla="*/ 65 h 65"/>
                <a:gd name="T24" fmla="*/ 40 w 65"/>
                <a:gd name="T25" fmla="*/ 65 h 65"/>
                <a:gd name="T26" fmla="*/ 44 w 65"/>
                <a:gd name="T27" fmla="*/ 64 h 65"/>
                <a:gd name="T28" fmla="*/ 49 w 65"/>
                <a:gd name="T29" fmla="*/ 62 h 65"/>
                <a:gd name="T30" fmla="*/ 52 w 65"/>
                <a:gd name="T31" fmla="*/ 60 h 65"/>
                <a:gd name="T32" fmla="*/ 57 w 65"/>
                <a:gd name="T33" fmla="*/ 57 h 65"/>
                <a:gd name="T34" fmla="*/ 60 w 65"/>
                <a:gd name="T35" fmla="*/ 52 h 65"/>
                <a:gd name="T36" fmla="*/ 62 w 65"/>
                <a:gd name="T37" fmla="*/ 49 h 65"/>
                <a:gd name="T38" fmla="*/ 63 w 65"/>
                <a:gd name="T39" fmla="*/ 44 h 65"/>
                <a:gd name="T40" fmla="*/ 65 w 65"/>
                <a:gd name="T41" fmla="*/ 41 h 65"/>
                <a:gd name="T42" fmla="*/ 65 w 65"/>
                <a:gd name="T43" fmla="*/ 36 h 65"/>
                <a:gd name="T44" fmla="*/ 65 w 65"/>
                <a:gd name="T45" fmla="*/ 31 h 65"/>
                <a:gd name="T46" fmla="*/ 65 w 65"/>
                <a:gd name="T47" fmla="*/ 26 h 65"/>
                <a:gd name="T48" fmla="*/ 63 w 65"/>
                <a:gd name="T49" fmla="*/ 23 h 65"/>
                <a:gd name="T50" fmla="*/ 62 w 65"/>
                <a:gd name="T51" fmla="*/ 18 h 65"/>
                <a:gd name="T52" fmla="*/ 60 w 65"/>
                <a:gd name="T53" fmla="*/ 15 h 65"/>
                <a:gd name="T54" fmla="*/ 57 w 65"/>
                <a:gd name="T55" fmla="*/ 10 h 65"/>
                <a:gd name="T56" fmla="*/ 52 w 65"/>
                <a:gd name="T57" fmla="*/ 7 h 65"/>
                <a:gd name="T58" fmla="*/ 49 w 65"/>
                <a:gd name="T59" fmla="*/ 5 h 65"/>
                <a:gd name="T60" fmla="*/ 44 w 65"/>
                <a:gd name="T61" fmla="*/ 3 h 65"/>
                <a:gd name="T62" fmla="*/ 40 w 65"/>
                <a:gd name="T63" fmla="*/ 2 h 65"/>
                <a:gd name="T64" fmla="*/ 36 w 65"/>
                <a:gd name="T65" fmla="*/ 2 h 65"/>
                <a:gd name="T66" fmla="*/ 31 w 65"/>
                <a:gd name="T67" fmla="*/ 2 h 65"/>
                <a:gd name="T68" fmla="*/ 26 w 65"/>
                <a:gd name="T69" fmla="*/ 2 h 65"/>
                <a:gd name="T70" fmla="*/ 23 w 65"/>
                <a:gd name="T71" fmla="*/ 3 h 65"/>
                <a:gd name="T72" fmla="*/ 18 w 65"/>
                <a:gd name="T73" fmla="*/ 5 h 65"/>
                <a:gd name="T74" fmla="*/ 14 w 65"/>
                <a:gd name="T75" fmla="*/ 7 h 65"/>
                <a:gd name="T76" fmla="*/ 10 w 65"/>
                <a:gd name="T77" fmla="*/ 10 h 65"/>
                <a:gd name="T78" fmla="*/ 6 w 65"/>
                <a:gd name="T79" fmla="*/ 15 h 65"/>
                <a:gd name="T80" fmla="*/ 5 w 65"/>
                <a:gd name="T81" fmla="*/ 18 h 65"/>
                <a:gd name="T82" fmla="*/ 3 w 65"/>
                <a:gd name="T83" fmla="*/ 23 h 65"/>
                <a:gd name="T84" fmla="*/ 1 w 65"/>
                <a:gd name="T85" fmla="*/ 26 h 65"/>
                <a:gd name="T86" fmla="*/ 1 w 65"/>
                <a:gd name="T87" fmla="*/ 31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3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9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9" name="Freeform 127"/>
            <p:cNvSpPr>
              <a:spLocks/>
            </p:cNvSpPr>
            <p:nvPr/>
          </p:nvSpPr>
          <p:spPr bwMode="auto">
            <a:xfrm>
              <a:off x="5891213" y="4286076"/>
              <a:ext cx="39687" cy="38100"/>
            </a:xfrm>
            <a:custGeom>
              <a:avLst/>
              <a:gdLst>
                <a:gd name="T0" fmla="*/ 0 w 49"/>
                <a:gd name="T1" fmla="*/ 26 h 49"/>
                <a:gd name="T2" fmla="*/ 2 w 49"/>
                <a:gd name="T3" fmla="*/ 31 h 49"/>
                <a:gd name="T4" fmla="*/ 2 w 49"/>
                <a:gd name="T5" fmla="*/ 34 h 49"/>
                <a:gd name="T6" fmla="*/ 3 w 49"/>
                <a:gd name="T7" fmla="*/ 38 h 49"/>
                <a:gd name="T8" fmla="*/ 5 w 49"/>
                <a:gd name="T9" fmla="*/ 39 h 49"/>
                <a:gd name="T10" fmla="*/ 8 w 49"/>
                <a:gd name="T11" fmla="*/ 43 h 49"/>
                <a:gd name="T12" fmla="*/ 11 w 49"/>
                <a:gd name="T13" fmla="*/ 44 h 49"/>
                <a:gd name="T14" fmla="*/ 13 w 49"/>
                <a:gd name="T15" fmla="*/ 46 h 49"/>
                <a:gd name="T16" fmla="*/ 16 w 49"/>
                <a:gd name="T17" fmla="*/ 47 h 49"/>
                <a:gd name="T18" fmla="*/ 21 w 49"/>
                <a:gd name="T19" fmla="*/ 49 h 49"/>
                <a:gd name="T20" fmla="*/ 24 w 49"/>
                <a:gd name="T21" fmla="*/ 49 h 49"/>
                <a:gd name="T22" fmla="*/ 26 w 49"/>
                <a:gd name="T23" fmla="*/ 49 h 49"/>
                <a:gd name="T24" fmla="*/ 31 w 49"/>
                <a:gd name="T25" fmla="*/ 47 h 49"/>
                <a:gd name="T26" fmla="*/ 34 w 49"/>
                <a:gd name="T27" fmla="*/ 47 h 49"/>
                <a:gd name="T28" fmla="*/ 37 w 49"/>
                <a:gd name="T29" fmla="*/ 46 h 49"/>
                <a:gd name="T30" fmla="*/ 39 w 49"/>
                <a:gd name="T31" fmla="*/ 43 h 49"/>
                <a:gd name="T32" fmla="*/ 42 w 49"/>
                <a:gd name="T33" fmla="*/ 41 h 49"/>
                <a:gd name="T34" fmla="*/ 44 w 49"/>
                <a:gd name="T35" fmla="*/ 38 h 49"/>
                <a:gd name="T36" fmla="*/ 45 w 49"/>
                <a:gd name="T37" fmla="*/ 34 h 49"/>
                <a:gd name="T38" fmla="*/ 47 w 49"/>
                <a:gd name="T39" fmla="*/ 31 h 49"/>
                <a:gd name="T40" fmla="*/ 49 w 49"/>
                <a:gd name="T41" fmla="*/ 28 h 49"/>
                <a:gd name="T42" fmla="*/ 49 w 49"/>
                <a:gd name="T43" fmla="*/ 25 h 49"/>
                <a:gd name="T44" fmla="*/ 49 w 49"/>
                <a:gd name="T45" fmla="*/ 21 h 49"/>
                <a:gd name="T46" fmla="*/ 47 w 49"/>
                <a:gd name="T47" fmla="*/ 18 h 49"/>
                <a:gd name="T48" fmla="*/ 47 w 49"/>
                <a:gd name="T49" fmla="*/ 15 h 49"/>
                <a:gd name="T50" fmla="*/ 45 w 49"/>
                <a:gd name="T51" fmla="*/ 12 h 49"/>
                <a:gd name="T52" fmla="*/ 42 w 49"/>
                <a:gd name="T53" fmla="*/ 8 h 49"/>
                <a:gd name="T54" fmla="*/ 41 w 49"/>
                <a:gd name="T55" fmla="*/ 7 h 49"/>
                <a:gd name="T56" fmla="*/ 37 w 49"/>
                <a:gd name="T57" fmla="*/ 5 h 49"/>
                <a:gd name="T58" fmla="*/ 34 w 49"/>
                <a:gd name="T59" fmla="*/ 3 h 49"/>
                <a:gd name="T60" fmla="*/ 31 w 49"/>
                <a:gd name="T61" fmla="*/ 2 h 49"/>
                <a:gd name="T62" fmla="*/ 28 w 49"/>
                <a:gd name="T63" fmla="*/ 0 h 49"/>
                <a:gd name="T64" fmla="*/ 24 w 49"/>
                <a:gd name="T65" fmla="*/ 0 h 49"/>
                <a:gd name="T66" fmla="*/ 21 w 49"/>
                <a:gd name="T67" fmla="*/ 0 h 49"/>
                <a:gd name="T68" fmla="*/ 18 w 49"/>
                <a:gd name="T69" fmla="*/ 2 h 49"/>
                <a:gd name="T70" fmla="*/ 15 w 49"/>
                <a:gd name="T71" fmla="*/ 2 h 49"/>
                <a:gd name="T72" fmla="*/ 11 w 49"/>
                <a:gd name="T73" fmla="*/ 3 h 49"/>
                <a:gd name="T74" fmla="*/ 8 w 49"/>
                <a:gd name="T75" fmla="*/ 5 h 49"/>
                <a:gd name="T76" fmla="*/ 6 w 49"/>
                <a:gd name="T77" fmla="*/ 8 h 49"/>
                <a:gd name="T78" fmla="*/ 5 w 49"/>
                <a:gd name="T79" fmla="*/ 12 h 49"/>
                <a:gd name="T80" fmla="*/ 3 w 49"/>
                <a:gd name="T81" fmla="*/ 13 h 49"/>
                <a:gd name="T82" fmla="*/ 2 w 49"/>
                <a:gd name="T83" fmla="*/ 16 h 49"/>
                <a:gd name="T84" fmla="*/ 0 w 49"/>
                <a:gd name="T85" fmla="*/ 21 h 49"/>
                <a:gd name="T86" fmla="*/ 0 w 49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0" y="25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0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29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6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1" y="43"/>
                  </a:lnTo>
                  <a:lnTo>
                    <a:pt x="41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5" y="38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Freeform 128"/>
            <p:cNvSpPr>
              <a:spLocks/>
            </p:cNvSpPr>
            <p:nvPr/>
          </p:nvSpPr>
          <p:spPr bwMode="auto">
            <a:xfrm>
              <a:off x="5668963" y="4268614"/>
              <a:ext cx="50800" cy="52387"/>
            </a:xfrm>
            <a:custGeom>
              <a:avLst/>
              <a:gdLst>
                <a:gd name="T0" fmla="*/ 2 w 66"/>
                <a:gd name="T1" fmla="*/ 36 h 65"/>
                <a:gd name="T2" fmla="*/ 2 w 66"/>
                <a:gd name="T3" fmla="*/ 41 h 65"/>
                <a:gd name="T4" fmla="*/ 4 w 66"/>
                <a:gd name="T5" fmla="*/ 44 h 65"/>
                <a:gd name="T6" fmla="*/ 5 w 66"/>
                <a:gd name="T7" fmla="*/ 49 h 65"/>
                <a:gd name="T8" fmla="*/ 7 w 66"/>
                <a:gd name="T9" fmla="*/ 52 h 65"/>
                <a:gd name="T10" fmla="*/ 10 w 66"/>
                <a:gd name="T11" fmla="*/ 57 h 65"/>
                <a:gd name="T12" fmla="*/ 15 w 66"/>
                <a:gd name="T13" fmla="*/ 60 h 65"/>
                <a:gd name="T14" fmla="*/ 18 w 66"/>
                <a:gd name="T15" fmla="*/ 62 h 65"/>
                <a:gd name="T16" fmla="*/ 23 w 66"/>
                <a:gd name="T17" fmla="*/ 64 h 65"/>
                <a:gd name="T18" fmla="*/ 26 w 66"/>
                <a:gd name="T19" fmla="*/ 65 h 65"/>
                <a:gd name="T20" fmla="*/ 31 w 66"/>
                <a:gd name="T21" fmla="*/ 65 h 65"/>
                <a:gd name="T22" fmla="*/ 36 w 66"/>
                <a:gd name="T23" fmla="*/ 65 h 65"/>
                <a:gd name="T24" fmla="*/ 41 w 66"/>
                <a:gd name="T25" fmla="*/ 65 h 65"/>
                <a:gd name="T26" fmla="*/ 44 w 66"/>
                <a:gd name="T27" fmla="*/ 64 h 65"/>
                <a:gd name="T28" fmla="*/ 49 w 66"/>
                <a:gd name="T29" fmla="*/ 62 h 65"/>
                <a:gd name="T30" fmla="*/ 52 w 66"/>
                <a:gd name="T31" fmla="*/ 60 h 65"/>
                <a:gd name="T32" fmla="*/ 57 w 66"/>
                <a:gd name="T33" fmla="*/ 57 h 65"/>
                <a:gd name="T34" fmla="*/ 61 w 66"/>
                <a:gd name="T35" fmla="*/ 52 h 65"/>
                <a:gd name="T36" fmla="*/ 62 w 66"/>
                <a:gd name="T37" fmla="*/ 49 h 65"/>
                <a:gd name="T38" fmla="*/ 64 w 66"/>
                <a:gd name="T39" fmla="*/ 44 h 65"/>
                <a:gd name="T40" fmla="*/ 66 w 66"/>
                <a:gd name="T41" fmla="*/ 41 h 65"/>
                <a:gd name="T42" fmla="*/ 66 w 66"/>
                <a:gd name="T43" fmla="*/ 36 h 65"/>
                <a:gd name="T44" fmla="*/ 66 w 66"/>
                <a:gd name="T45" fmla="*/ 31 h 65"/>
                <a:gd name="T46" fmla="*/ 66 w 66"/>
                <a:gd name="T47" fmla="*/ 26 h 65"/>
                <a:gd name="T48" fmla="*/ 64 w 66"/>
                <a:gd name="T49" fmla="*/ 23 h 65"/>
                <a:gd name="T50" fmla="*/ 62 w 66"/>
                <a:gd name="T51" fmla="*/ 18 h 65"/>
                <a:gd name="T52" fmla="*/ 61 w 66"/>
                <a:gd name="T53" fmla="*/ 15 h 65"/>
                <a:gd name="T54" fmla="*/ 57 w 66"/>
                <a:gd name="T55" fmla="*/ 10 h 65"/>
                <a:gd name="T56" fmla="*/ 52 w 66"/>
                <a:gd name="T57" fmla="*/ 7 h 65"/>
                <a:gd name="T58" fmla="*/ 49 w 66"/>
                <a:gd name="T59" fmla="*/ 5 h 65"/>
                <a:gd name="T60" fmla="*/ 44 w 66"/>
                <a:gd name="T61" fmla="*/ 3 h 65"/>
                <a:gd name="T62" fmla="*/ 41 w 66"/>
                <a:gd name="T63" fmla="*/ 2 h 65"/>
                <a:gd name="T64" fmla="*/ 36 w 66"/>
                <a:gd name="T65" fmla="*/ 2 h 65"/>
                <a:gd name="T66" fmla="*/ 31 w 66"/>
                <a:gd name="T67" fmla="*/ 2 h 65"/>
                <a:gd name="T68" fmla="*/ 26 w 66"/>
                <a:gd name="T69" fmla="*/ 2 h 65"/>
                <a:gd name="T70" fmla="*/ 23 w 66"/>
                <a:gd name="T71" fmla="*/ 3 h 65"/>
                <a:gd name="T72" fmla="*/ 18 w 66"/>
                <a:gd name="T73" fmla="*/ 5 h 65"/>
                <a:gd name="T74" fmla="*/ 15 w 66"/>
                <a:gd name="T75" fmla="*/ 7 h 65"/>
                <a:gd name="T76" fmla="*/ 10 w 66"/>
                <a:gd name="T77" fmla="*/ 10 h 65"/>
                <a:gd name="T78" fmla="*/ 7 w 66"/>
                <a:gd name="T79" fmla="*/ 15 h 65"/>
                <a:gd name="T80" fmla="*/ 5 w 66"/>
                <a:gd name="T81" fmla="*/ 18 h 65"/>
                <a:gd name="T82" fmla="*/ 4 w 66"/>
                <a:gd name="T83" fmla="*/ 23 h 65"/>
                <a:gd name="T84" fmla="*/ 2 w 66"/>
                <a:gd name="T85" fmla="*/ 26 h 65"/>
                <a:gd name="T86" fmla="*/ 2 w 66"/>
                <a:gd name="T87" fmla="*/ 31 h 65"/>
                <a:gd name="T88" fmla="*/ 33 w 66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6" h="65">
                  <a:moveTo>
                    <a:pt x="33" y="33"/>
                  </a:moveTo>
                  <a:lnTo>
                    <a:pt x="0" y="33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9" y="54"/>
                  </a:lnTo>
                  <a:lnTo>
                    <a:pt x="10" y="55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9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7" y="62"/>
                  </a:lnTo>
                  <a:lnTo>
                    <a:pt x="18" y="62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3" y="65"/>
                  </a:lnTo>
                  <a:lnTo>
                    <a:pt x="44" y="64"/>
                  </a:lnTo>
                  <a:lnTo>
                    <a:pt x="46" y="64"/>
                  </a:lnTo>
                  <a:lnTo>
                    <a:pt x="48" y="64"/>
                  </a:lnTo>
                  <a:lnTo>
                    <a:pt x="49" y="62"/>
                  </a:lnTo>
                  <a:lnTo>
                    <a:pt x="51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4" y="59"/>
                  </a:lnTo>
                  <a:lnTo>
                    <a:pt x="56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9" y="54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2" y="50"/>
                  </a:lnTo>
                  <a:lnTo>
                    <a:pt x="62" y="49"/>
                  </a:lnTo>
                  <a:lnTo>
                    <a:pt x="64" y="47"/>
                  </a:lnTo>
                  <a:lnTo>
                    <a:pt x="64" y="46"/>
                  </a:lnTo>
                  <a:lnTo>
                    <a:pt x="64" y="44"/>
                  </a:lnTo>
                  <a:lnTo>
                    <a:pt x="66" y="42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6" y="39"/>
                  </a:lnTo>
                  <a:lnTo>
                    <a:pt x="66" y="37"/>
                  </a:lnTo>
                  <a:lnTo>
                    <a:pt x="66" y="36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6" y="31"/>
                  </a:lnTo>
                  <a:lnTo>
                    <a:pt x="66" y="29"/>
                  </a:lnTo>
                  <a:lnTo>
                    <a:pt x="66" y="28"/>
                  </a:lnTo>
                  <a:lnTo>
                    <a:pt x="66" y="26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4" y="20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61" y="15"/>
                  </a:lnTo>
                  <a:lnTo>
                    <a:pt x="61" y="15"/>
                  </a:lnTo>
                  <a:lnTo>
                    <a:pt x="59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6" y="10"/>
                  </a:lnTo>
                  <a:lnTo>
                    <a:pt x="54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3" y="8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1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1" name="Freeform 129"/>
            <p:cNvSpPr>
              <a:spLocks/>
            </p:cNvSpPr>
            <p:nvPr/>
          </p:nvSpPr>
          <p:spPr bwMode="auto">
            <a:xfrm>
              <a:off x="5684838" y="4286076"/>
              <a:ext cx="39687" cy="38100"/>
            </a:xfrm>
            <a:custGeom>
              <a:avLst/>
              <a:gdLst>
                <a:gd name="T0" fmla="*/ 0 w 48"/>
                <a:gd name="T1" fmla="*/ 26 h 49"/>
                <a:gd name="T2" fmla="*/ 1 w 48"/>
                <a:gd name="T3" fmla="*/ 31 h 49"/>
                <a:gd name="T4" fmla="*/ 1 w 48"/>
                <a:gd name="T5" fmla="*/ 34 h 49"/>
                <a:gd name="T6" fmla="*/ 3 w 48"/>
                <a:gd name="T7" fmla="*/ 38 h 49"/>
                <a:gd name="T8" fmla="*/ 4 w 48"/>
                <a:gd name="T9" fmla="*/ 39 h 49"/>
                <a:gd name="T10" fmla="*/ 8 w 48"/>
                <a:gd name="T11" fmla="*/ 43 h 49"/>
                <a:gd name="T12" fmla="*/ 11 w 48"/>
                <a:gd name="T13" fmla="*/ 44 h 49"/>
                <a:gd name="T14" fmla="*/ 13 w 48"/>
                <a:gd name="T15" fmla="*/ 46 h 49"/>
                <a:gd name="T16" fmla="*/ 16 w 48"/>
                <a:gd name="T17" fmla="*/ 47 h 49"/>
                <a:gd name="T18" fmla="*/ 21 w 48"/>
                <a:gd name="T19" fmla="*/ 49 h 49"/>
                <a:gd name="T20" fmla="*/ 24 w 48"/>
                <a:gd name="T21" fmla="*/ 49 h 49"/>
                <a:gd name="T22" fmla="*/ 26 w 48"/>
                <a:gd name="T23" fmla="*/ 49 h 49"/>
                <a:gd name="T24" fmla="*/ 30 w 48"/>
                <a:gd name="T25" fmla="*/ 47 h 49"/>
                <a:gd name="T26" fmla="*/ 34 w 48"/>
                <a:gd name="T27" fmla="*/ 47 h 49"/>
                <a:gd name="T28" fmla="*/ 37 w 48"/>
                <a:gd name="T29" fmla="*/ 46 h 49"/>
                <a:gd name="T30" fmla="*/ 39 w 48"/>
                <a:gd name="T31" fmla="*/ 43 h 49"/>
                <a:gd name="T32" fmla="*/ 42 w 48"/>
                <a:gd name="T33" fmla="*/ 41 h 49"/>
                <a:gd name="T34" fmla="*/ 44 w 48"/>
                <a:gd name="T35" fmla="*/ 38 h 49"/>
                <a:gd name="T36" fmla="*/ 45 w 48"/>
                <a:gd name="T37" fmla="*/ 34 h 49"/>
                <a:gd name="T38" fmla="*/ 47 w 48"/>
                <a:gd name="T39" fmla="*/ 31 h 49"/>
                <a:gd name="T40" fmla="*/ 48 w 48"/>
                <a:gd name="T41" fmla="*/ 28 h 49"/>
                <a:gd name="T42" fmla="*/ 48 w 48"/>
                <a:gd name="T43" fmla="*/ 25 h 49"/>
                <a:gd name="T44" fmla="*/ 48 w 48"/>
                <a:gd name="T45" fmla="*/ 21 h 49"/>
                <a:gd name="T46" fmla="*/ 47 w 48"/>
                <a:gd name="T47" fmla="*/ 18 h 49"/>
                <a:gd name="T48" fmla="*/ 47 w 48"/>
                <a:gd name="T49" fmla="*/ 15 h 49"/>
                <a:gd name="T50" fmla="*/ 45 w 48"/>
                <a:gd name="T51" fmla="*/ 12 h 49"/>
                <a:gd name="T52" fmla="*/ 42 w 48"/>
                <a:gd name="T53" fmla="*/ 8 h 49"/>
                <a:gd name="T54" fmla="*/ 40 w 48"/>
                <a:gd name="T55" fmla="*/ 7 h 49"/>
                <a:gd name="T56" fmla="*/ 37 w 48"/>
                <a:gd name="T57" fmla="*/ 5 h 49"/>
                <a:gd name="T58" fmla="*/ 34 w 48"/>
                <a:gd name="T59" fmla="*/ 3 h 49"/>
                <a:gd name="T60" fmla="*/ 30 w 48"/>
                <a:gd name="T61" fmla="*/ 2 h 49"/>
                <a:gd name="T62" fmla="*/ 27 w 48"/>
                <a:gd name="T63" fmla="*/ 0 h 49"/>
                <a:gd name="T64" fmla="*/ 24 w 48"/>
                <a:gd name="T65" fmla="*/ 0 h 49"/>
                <a:gd name="T66" fmla="*/ 21 w 48"/>
                <a:gd name="T67" fmla="*/ 0 h 49"/>
                <a:gd name="T68" fmla="*/ 17 w 48"/>
                <a:gd name="T69" fmla="*/ 2 h 49"/>
                <a:gd name="T70" fmla="*/ 14 w 48"/>
                <a:gd name="T71" fmla="*/ 2 h 49"/>
                <a:gd name="T72" fmla="*/ 11 w 48"/>
                <a:gd name="T73" fmla="*/ 3 h 49"/>
                <a:gd name="T74" fmla="*/ 8 w 48"/>
                <a:gd name="T75" fmla="*/ 5 h 49"/>
                <a:gd name="T76" fmla="*/ 6 w 48"/>
                <a:gd name="T77" fmla="*/ 8 h 49"/>
                <a:gd name="T78" fmla="*/ 4 w 48"/>
                <a:gd name="T79" fmla="*/ 12 h 49"/>
                <a:gd name="T80" fmla="*/ 3 w 48"/>
                <a:gd name="T81" fmla="*/ 13 h 49"/>
                <a:gd name="T82" fmla="*/ 1 w 48"/>
                <a:gd name="T83" fmla="*/ 16 h 49"/>
                <a:gd name="T84" fmla="*/ 0 w 48"/>
                <a:gd name="T85" fmla="*/ 21 h 49"/>
                <a:gd name="T86" fmla="*/ 0 w 48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" h="49">
                  <a:moveTo>
                    <a:pt x="0" y="25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2" y="49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7" y="49"/>
                  </a:lnTo>
                  <a:lnTo>
                    <a:pt x="29" y="47"/>
                  </a:lnTo>
                  <a:lnTo>
                    <a:pt x="30" y="47"/>
                  </a:lnTo>
                  <a:lnTo>
                    <a:pt x="30" y="47"/>
                  </a:lnTo>
                  <a:lnTo>
                    <a:pt x="32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5" y="46"/>
                  </a:lnTo>
                  <a:lnTo>
                    <a:pt x="37" y="46"/>
                  </a:lnTo>
                  <a:lnTo>
                    <a:pt x="37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5" y="38"/>
                  </a:lnTo>
                  <a:lnTo>
                    <a:pt x="45" y="36"/>
                  </a:lnTo>
                  <a:lnTo>
                    <a:pt x="45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8" y="28"/>
                  </a:lnTo>
                  <a:lnTo>
                    <a:pt x="48" y="26"/>
                  </a:lnTo>
                  <a:lnTo>
                    <a:pt x="48" y="26"/>
                  </a:lnTo>
                  <a:lnTo>
                    <a:pt x="48" y="25"/>
                  </a:lnTo>
                  <a:lnTo>
                    <a:pt x="48" y="25"/>
                  </a:lnTo>
                  <a:lnTo>
                    <a:pt x="48" y="23"/>
                  </a:lnTo>
                  <a:lnTo>
                    <a:pt x="48" y="21"/>
                  </a:lnTo>
                  <a:lnTo>
                    <a:pt x="48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5" y="13"/>
                  </a:lnTo>
                  <a:lnTo>
                    <a:pt x="45" y="13"/>
                  </a:lnTo>
                  <a:lnTo>
                    <a:pt x="45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2" name="Freeform 130"/>
            <p:cNvSpPr>
              <a:spLocks/>
            </p:cNvSpPr>
            <p:nvPr/>
          </p:nvSpPr>
          <p:spPr bwMode="auto">
            <a:xfrm>
              <a:off x="5487988" y="4268614"/>
              <a:ext cx="50800" cy="52387"/>
            </a:xfrm>
            <a:custGeom>
              <a:avLst/>
              <a:gdLst>
                <a:gd name="T0" fmla="*/ 1 w 65"/>
                <a:gd name="T1" fmla="*/ 36 h 65"/>
                <a:gd name="T2" fmla="*/ 1 w 65"/>
                <a:gd name="T3" fmla="*/ 41 h 65"/>
                <a:gd name="T4" fmla="*/ 3 w 65"/>
                <a:gd name="T5" fmla="*/ 44 h 65"/>
                <a:gd name="T6" fmla="*/ 5 w 65"/>
                <a:gd name="T7" fmla="*/ 49 h 65"/>
                <a:gd name="T8" fmla="*/ 6 w 65"/>
                <a:gd name="T9" fmla="*/ 52 h 65"/>
                <a:gd name="T10" fmla="*/ 9 w 65"/>
                <a:gd name="T11" fmla="*/ 57 h 65"/>
                <a:gd name="T12" fmla="*/ 14 w 65"/>
                <a:gd name="T13" fmla="*/ 60 h 65"/>
                <a:gd name="T14" fmla="*/ 18 w 65"/>
                <a:gd name="T15" fmla="*/ 62 h 65"/>
                <a:gd name="T16" fmla="*/ 22 w 65"/>
                <a:gd name="T17" fmla="*/ 64 h 65"/>
                <a:gd name="T18" fmla="*/ 26 w 65"/>
                <a:gd name="T19" fmla="*/ 65 h 65"/>
                <a:gd name="T20" fmla="*/ 31 w 65"/>
                <a:gd name="T21" fmla="*/ 65 h 65"/>
                <a:gd name="T22" fmla="*/ 35 w 65"/>
                <a:gd name="T23" fmla="*/ 65 h 65"/>
                <a:gd name="T24" fmla="*/ 40 w 65"/>
                <a:gd name="T25" fmla="*/ 65 h 65"/>
                <a:gd name="T26" fmla="*/ 44 w 65"/>
                <a:gd name="T27" fmla="*/ 64 h 65"/>
                <a:gd name="T28" fmla="*/ 48 w 65"/>
                <a:gd name="T29" fmla="*/ 62 h 65"/>
                <a:gd name="T30" fmla="*/ 52 w 65"/>
                <a:gd name="T31" fmla="*/ 60 h 65"/>
                <a:gd name="T32" fmla="*/ 57 w 65"/>
                <a:gd name="T33" fmla="*/ 57 h 65"/>
                <a:gd name="T34" fmla="*/ 60 w 65"/>
                <a:gd name="T35" fmla="*/ 52 h 65"/>
                <a:gd name="T36" fmla="*/ 61 w 65"/>
                <a:gd name="T37" fmla="*/ 49 h 65"/>
                <a:gd name="T38" fmla="*/ 63 w 65"/>
                <a:gd name="T39" fmla="*/ 44 h 65"/>
                <a:gd name="T40" fmla="*/ 65 w 65"/>
                <a:gd name="T41" fmla="*/ 41 h 65"/>
                <a:gd name="T42" fmla="*/ 65 w 65"/>
                <a:gd name="T43" fmla="*/ 36 h 65"/>
                <a:gd name="T44" fmla="*/ 65 w 65"/>
                <a:gd name="T45" fmla="*/ 31 h 65"/>
                <a:gd name="T46" fmla="*/ 65 w 65"/>
                <a:gd name="T47" fmla="*/ 26 h 65"/>
                <a:gd name="T48" fmla="*/ 63 w 65"/>
                <a:gd name="T49" fmla="*/ 23 h 65"/>
                <a:gd name="T50" fmla="*/ 61 w 65"/>
                <a:gd name="T51" fmla="*/ 18 h 65"/>
                <a:gd name="T52" fmla="*/ 60 w 65"/>
                <a:gd name="T53" fmla="*/ 15 h 65"/>
                <a:gd name="T54" fmla="*/ 57 w 65"/>
                <a:gd name="T55" fmla="*/ 10 h 65"/>
                <a:gd name="T56" fmla="*/ 52 w 65"/>
                <a:gd name="T57" fmla="*/ 7 h 65"/>
                <a:gd name="T58" fmla="*/ 48 w 65"/>
                <a:gd name="T59" fmla="*/ 5 h 65"/>
                <a:gd name="T60" fmla="*/ 44 w 65"/>
                <a:gd name="T61" fmla="*/ 3 h 65"/>
                <a:gd name="T62" fmla="*/ 40 w 65"/>
                <a:gd name="T63" fmla="*/ 2 h 65"/>
                <a:gd name="T64" fmla="*/ 35 w 65"/>
                <a:gd name="T65" fmla="*/ 2 h 65"/>
                <a:gd name="T66" fmla="*/ 31 w 65"/>
                <a:gd name="T67" fmla="*/ 2 h 65"/>
                <a:gd name="T68" fmla="*/ 26 w 65"/>
                <a:gd name="T69" fmla="*/ 2 h 65"/>
                <a:gd name="T70" fmla="*/ 22 w 65"/>
                <a:gd name="T71" fmla="*/ 3 h 65"/>
                <a:gd name="T72" fmla="*/ 18 w 65"/>
                <a:gd name="T73" fmla="*/ 5 h 65"/>
                <a:gd name="T74" fmla="*/ 14 w 65"/>
                <a:gd name="T75" fmla="*/ 7 h 65"/>
                <a:gd name="T76" fmla="*/ 9 w 65"/>
                <a:gd name="T77" fmla="*/ 10 h 65"/>
                <a:gd name="T78" fmla="*/ 6 w 65"/>
                <a:gd name="T79" fmla="*/ 15 h 65"/>
                <a:gd name="T80" fmla="*/ 5 w 65"/>
                <a:gd name="T81" fmla="*/ 18 h 65"/>
                <a:gd name="T82" fmla="*/ 3 w 65"/>
                <a:gd name="T83" fmla="*/ 23 h 65"/>
                <a:gd name="T84" fmla="*/ 1 w 65"/>
                <a:gd name="T85" fmla="*/ 26 h 65"/>
                <a:gd name="T86" fmla="*/ 1 w 65"/>
                <a:gd name="T87" fmla="*/ 31 h 65"/>
                <a:gd name="T88" fmla="*/ 32 w 65"/>
                <a:gd name="T89" fmla="*/ 3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65">
                  <a:moveTo>
                    <a:pt x="32" y="33"/>
                  </a:moveTo>
                  <a:lnTo>
                    <a:pt x="0" y="3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8" y="54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11" y="57"/>
                  </a:lnTo>
                  <a:lnTo>
                    <a:pt x="13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2" y="65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5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2"/>
                  </a:lnTo>
                  <a:lnTo>
                    <a:pt x="50" y="62"/>
                  </a:lnTo>
                  <a:lnTo>
                    <a:pt x="52" y="60"/>
                  </a:lnTo>
                  <a:lnTo>
                    <a:pt x="52" y="60"/>
                  </a:lnTo>
                  <a:lnTo>
                    <a:pt x="53" y="59"/>
                  </a:lnTo>
                  <a:lnTo>
                    <a:pt x="55" y="57"/>
                  </a:lnTo>
                  <a:lnTo>
                    <a:pt x="57" y="57"/>
                  </a:lnTo>
                  <a:lnTo>
                    <a:pt x="57" y="55"/>
                  </a:lnTo>
                  <a:lnTo>
                    <a:pt x="58" y="54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1" y="50"/>
                  </a:lnTo>
                  <a:lnTo>
                    <a:pt x="61" y="49"/>
                  </a:lnTo>
                  <a:lnTo>
                    <a:pt x="63" y="47"/>
                  </a:lnTo>
                  <a:lnTo>
                    <a:pt x="63" y="46"/>
                  </a:lnTo>
                  <a:lnTo>
                    <a:pt x="63" y="44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5" y="41"/>
                  </a:lnTo>
                  <a:lnTo>
                    <a:pt x="65" y="39"/>
                  </a:lnTo>
                  <a:lnTo>
                    <a:pt x="65" y="37"/>
                  </a:lnTo>
                  <a:lnTo>
                    <a:pt x="65" y="36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5" y="28"/>
                  </a:lnTo>
                  <a:lnTo>
                    <a:pt x="65" y="26"/>
                  </a:lnTo>
                  <a:lnTo>
                    <a:pt x="65" y="24"/>
                  </a:lnTo>
                  <a:lnTo>
                    <a:pt x="65" y="24"/>
                  </a:lnTo>
                  <a:lnTo>
                    <a:pt x="63" y="23"/>
                  </a:lnTo>
                  <a:lnTo>
                    <a:pt x="63" y="21"/>
                  </a:lnTo>
                  <a:lnTo>
                    <a:pt x="63" y="20"/>
                  </a:lnTo>
                  <a:lnTo>
                    <a:pt x="61" y="18"/>
                  </a:lnTo>
                  <a:lnTo>
                    <a:pt x="61" y="16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8" y="13"/>
                  </a:lnTo>
                  <a:lnTo>
                    <a:pt x="57" y="11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3" y="8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6" y="5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9" y="11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3" name="Freeform 131"/>
            <p:cNvSpPr>
              <a:spLocks/>
            </p:cNvSpPr>
            <p:nvPr/>
          </p:nvSpPr>
          <p:spPr bwMode="auto">
            <a:xfrm>
              <a:off x="5478463" y="4286076"/>
              <a:ext cx="39687" cy="38100"/>
            </a:xfrm>
            <a:custGeom>
              <a:avLst/>
              <a:gdLst>
                <a:gd name="T0" fmla="*/ 0 w 49"/>
                <a:gd name="T1" fmla="*/ 26 h 49"/>
                <a:gd name="T2" fmla="*/ 2 w 49"/>
                <a:gd name="T3" fmla="*/ 31 h 49"/>
                <a:gd name="T4" fmla="*/ 2 w 49"/>
                <a:gd name="T5" fmla="*/ 34 h 49"/>
                <a:gd name="T6" fmla="*/ 3 w 49"/>
                <a:gd name="T7" fmla="*/ 38 h 49"/>
                <a:gd name="T8" fmla="*/ 5 w 49"/>
                <a:gd name="T9" fmla="*/ 39 h 49"/>
                <a:gd name="T10" fmla="*/ 8 w 49"/>
                <a:gd name="T11" fmla="*/ 43 h 49"/>
                <a:gd name="T12" fmla="*/ 12 w 49"/>
                <a:gd name="T13" fmla="*/ 44 h 49"/>
                <a:gd name="T14" fmla="*/ 13 w 49"/>
                <a:gd name="T15" fmla="*/ 46 h 49"/>
                <a:gd name="T16" fmla="*/ 17 w 49"/>
                <a:gd name="T17" fmla="*/ 47 h 49"/>
                <a:gd name="T18" fmla="*/ 21 w 49"/>
                <a:gd name="T19" fmla="*/ 49 h 49"/>
                <a:gd name="T20" fmla="*/ 25 w 49"/>
                <a:gd name="T21" fmla="*/ 49 h 49"/>
                <a:gd name="T22" fmla="*/ 26 w 49"/>
                <a:gd name="T23" fmla="*/ 49 h 49"/>
                <a:gd name="T24" fmla="*/ 31 w 49"/>
                <a:gd name="T25" fmla="*/ 47 h 49"/>
                <a:gd name="T26" fmla="*/ 34 w 49"/>
                <a:gd name="T27" fmla="*/ 47 h 49"/>
                <a:gd name="T28" fmla="*/ 38 w 49"/>
                <a:gd name="T29" fmla="*/ 46 h 49"/>
                <a:gd name="T30" fmla="*/ 39 w 49"/>
                <a:gd name="T31" fmla="*/ 43 h 49"/>
                <a:gd name="T32" fmla="*/ 43 w 49"/>
                <a:gd name="T33" fmla="*/ 41 h 49"/>
                <a:gd name="T34" fmla="*/ 44 w 49"/>
                <a:gd name="T35" fmla="*/ 38 h 49"/>
                <a:gd name="T36" fmla="*/ 46 w 49"/>
                <a:gd name="T37" fmla="*/ 34 h 49"/>
                <a:gd name="T38" fmla="*/ 47 w 49"/>
                <a:gd name="T39" fmla="*/ 31 h 49"/>
                <a:gd name="T40" fmla="*/ 49 w 49"/>
                <a:gd name="T41" fmla="*/ 28 h 49"/>
                <a:gd name="T42" fmla="*/ 49 w 49"/>
                <a:gd name="T43" fmla="*/ 25 h 49"/>
                <a:gd name="T44" fmla="*/ 49 w 49"/>
                <a:gd name="T45" fmla="*/ 21 h 49"/>
                <a:gd name="T46" fmla="*/ 47 w 49"/>
                <a:gd name="T47" fmla="*/ 18 h 49"/>
                <a:gd name="T48" fmla="*/ 47 w 49"/>
                <a:gd name="T49" fmla="*/ 15 h 49"/>
                <a:gd name="T50" fmla="*/ 46 w 49"/>
                <a:gd name="T51" fmla="*/ 12 h 49"/>
                <a:gd name="T52" fmla="*/ 43 w 49"/>
                <a:gd name="T53" fmla="*/ 8 h 49"/>
                <a:gd name="T54" fmla="*/ 41 w 49"/>
                <a:gd name="T55" fmla="*/ 7 h 49"/>
                <a:gd name="T56" fmla="*/ 38 w 49"/>
                <a:gd name="T57" fmla="*/ 5 h 49"/>
                <a:gd name="T58" fmla="*/ 34 w 49"/>
                <a:gd name="T59" fmla="*/ 3 h 49"/>
                <a:gd name="T60" fmla="*/ 31 w 49"/>
                <a:gd name="T61" fmla="*/ 2 h 49"/>
                <a:gd name="T62" fmla="*/ 28 w 49"/>
                <a:gd name="T63" fmla="*/ 0 h 49"/>
                <a:gd name="T64" fmla="*/ 25 w 49"/>
                <a:gd name="T65" fmla="*/ 0 h 49"/>
                <a:gd name="T66" fmla="*/ 21 w 49"/>
                <a:gd name="T67" fmla="*/ 0 h 49"/>
                <a:gd name="T68" fmla="*/ 18 w 49"/>
                <a:gd name="T69" fmla="*/ 2 h 49"/>
                <a:gd name="T70" fmla="*/ 15 w 49"/>
                <a:gd name="T71" fmla="*/ 2 h 49"/>
                <a:gd name="T72" fmla="*/ 12 w 49"/>
                <a:gd name="T73" fmla="*/ 3 h 49"/>
                <a:gd name="T74" fmla="*/ 8 w 49"/>
                <a:gd name="T75" fmla="*/ 5 h 49"/>
                <a:gd name="T76" fmla="*/ 7 w 49"/>
                <a:gd name="T77" fmla="*/ 8 h 49"/>
                <a:gd name="T78" fmla="*/ 5 w 49"/>
                <a:gd name="T79" fmla="*/ 12 h 49"/>
                <a:gd name="T80" fmla="*/ 3 w 49"/>
                <a:gd name="T81" fmla="*/ 13 h 49"/>
                <a:gd name="T82" fmla="*/ 2 w 49"/>
                <a:gd name="T83" fmla="*/ 16 h 49"/>
                <a:gd name="T84" fmla="*/ 0 w 49"/>
                <a:gd name="T85" fmla="*/ 21 h 49"/>
                <a:gd name="T86" fmla="*/ 0 w 49"/>
                <a:gd name="T87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9" h="49">
                  <a:moveTo>
                    <a:pt x="0" y="25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0" y="44"/>
                  </a:lnTo>
                  <a:lnTo>
                    <a:pt x="12" y="44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7" y="47"/>
                  </a:lnTo>
                  <a:lnTo>
                    <a:pt x="18" y="47"/>
                  </a:lnTo>
                  <a:lnTo>
                    <a:pt x="20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3" y="49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8" y="49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3" y="47"/>
                  </a:lnTo>
                  <a:lnTo>
                    <a:pt x="34" y="47"/>
                  </a:lnTo>
                  <a:lnTo>
                    <a:pt x="34" y="46"/>
                  </a:lnTo>
                  <a:lnTo>
                    <a:pt x="36" y="46"/>
                  </a:lnTo>
                  <a:lnTo>
                    <a:pt x="38" y="46"/>
                  </a:lnTo>
                  <a:lnTo>
                    <a:pt x="38" y="44"/>
                  </a:lnTo>
                  <a:lnTo>
                    <a:pt x="39" y="44"/>
                  </a:lnTo>
                  <a:lnTo>
                    <a:pt x="39" y="43"/>
                  </a:lnTo>
                  <a:lnTo>
                    <a:pt x="41" y="43"/>
                  </a:lnTo>
                  <a:lnTo>
                    <a:pt x="41" y="41"/>
                  </a:lnTo>
                  <a:lnTo>
                    <a:pt x="43" y="41"/>
                  </a:lnTo>
                  <a:lnTo>
                    <a:pt x="43" y="39"/>
                  </a:lnTo>
                  <a:lnTo>
                    <a:pt x="44" y="39"/>
                  </a:lnTo>
                  <a:lnTo>
                    <a:pt x="44" y="38"/>
                  </a:lnTo>
                  <a:lnTo>
                    <a:pt x="46" y="38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4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3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7" y="20"/>
                  </a:lnTo>
                  <a:lnTo>
                    <a:pt x="47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8" y="5"/>
                  </a:lnTo>
                  <a:lnTo>
                    <a:pt x="38" y="3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25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" name="Freeform 132"/>
            <p:cNvSpPr>
              <a:spLocks/>
            </p:cNvSpPr>
            <p:nvPr/>
          </p:nvSpPr>
          <p:spPr bwMode="auto">
            <a:xfrm>
              <a:off x="7115175" y="4811539"/>
              <a:ext cx="155575" cy="77787"/>
            </a:xfrm>
            <a:custGeom>
              <a:avLst/>
              <a:gdLst>
                <a:gd name="T0" fmla="*/ 0 w 195"/>
                <a:gd name="T1" fmla="*/ 97 h 97"/>
                <a:gd name="T2" fmla="*/ 195 w 195"/>
                <a:gd name="T3" fmla="*/ 65 h 97"/>
                <a:gd name="T4" fmla="*/ 0 w 195"/>
                <a:gd name="T5" fmla="*/ 0 h 97"/>
                <a:gd name="T6" fmla="*/ 0 w 195"/>
                <a:gd name="T7" fmla="*/ 65 h 97"/>
                <a:gd name="T8" fmla="*/ 0 w 195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7">
                  <a:moveTo>
                    <a:pt x="0" y="97"/>
                  </a:moveTo>
                  <a:lnTo>
                    <a:pt x="195" y="65"/>
                  </a:lnTo>
                  <a:lnTo>
                    <a:pt x="0" y="0"/>
                  </a:lnTo>
                  <a:lnTo>
                    <a:pt x="0" y="65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" name="Freeform 133"/>
            <p:cNvSpPr>
              <a:spLocks/>
            </p:cNvSpPr>
            <p:nvPr/>
          </p:nvSpPr>
          <p:spPr bwMode="auto">
            <a:xfrm>
              <a:off x="6702425" y="4811539"/>
              <a:ext cx="153988" cy="77787"/>
            </a:xfrm>
            <a:custGeom>
              <a:avLst/>
              <a:gdLst>
                <a:gd name="T0" fmla="*/ 195 w 195"/>
                <a:gd name="T1" fmla="*/ 0 h 97"/>
                <a:gd name="T2" fmla="*/ 0 w 195"/>
                <a:gd name="T3" fmla="*/ 65 h 97"/>
                <a:gd name="T4" fmla="*/ 195 w 195"/>
                <a:gd name="T5" fmla="*/ 97 h 97"/>
                <a:gd name="T6" fmla="*/ 195 w 195"/>
                <a:gd name="T7" fmla="*/ 65 h 97"/>
                <a:gd name="T8" fmla="*/ 195 w 195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7">
                  <a:moveTo>
                    <a:pt x="195" y="0"/>
                  </a:moveTo>
                  <a:lnTo>
                    <a:pt x="0" y="65"/>
                  </a:lnTo>
                  <a:lnTo>
                    <a:pt x="195" y="97"/>
                  </a:lnTo>
                  <a:lnTo>
                    <a:pt x="195" y="65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0000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>
              <a:off x="6881813" y="4862339"/>
              <a:ext cx="233362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7" name="Freeform 135"/>
            <p:cNvSpPr>
              <a:spLocks/>
            </p:cNvSpPr>
            <p:nvPr/>
          </p:nvSpPr>
          <p:spPr bwMode="auto">
            <a:xfrm>
              <a:off x="6469063" y="4474989"/>
              <a:ext cx="77787" cy="155575"/>
            </a:xfrm>
            <a:custGeom>
              <a:avLst/>
              <a:gdLst>
                <a:gd name="T0" fmla="*/ 0 w 98"/>
                <a:gd name="T1" fmla="*/ 0 h 196"/>
                <a:gd name="T2" fmla="*/ 33 w 98"/>
                <a:gd name="T3" fmla="*/ 196 h 196"/>
                <a:gd name="T4" fmla="*/ 98 w 98"/>
                <a:gd name="T5" fmla="*/ 0 h 196"/>
                <a:gd name="T6" fmla="*/ 33 w 98"/>
                <a:gd name="T7" fmla="*/ 0 h 196"/>
                <a:gd name="T8" fmla="*/ 0 w 98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6">
                  <a:moveTo>
                    <a:pt x="0" y="0"/>
                  </a:moveTo>
                  <a:lnTo>
                    <a:pt x="33" y="196"/>
                  </a:lnTo>
                  <a:lnTo>
                    <a:pt x="98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Freeform 136"/>
            <p:cNvSpPr>
              <a:spLocks/>
            </p:cNvSpPr>
            <p:nvPr/>
          </p:nvSpPr>
          <p:spPr bwMode="auto">
            <a:xfrm>
              <a:off x="6469063" y="3984451"/>
              <a:ext cx="77787" cy="155575"/>
            </a:xfrm>
            <a:custGeom>
              <a:avLst/>
              <a:gdLst>
                <a:gd name="T0" fmla="*/ 98 w 98"/>
                <a:gd name="T1" fmla="*/ 195 h 195"/>
                <a:gd name="T2" fmla="*/ 33 w 98"/>
                <a:gd name="T3" fmla="*/ 0 h 195"/>
                <a:gd name="T4" fmla="*/ 0 w 98"/>
                <a:gd name="T5" fmla="*/ 195 h 195"/>
                <a:gd name="T6" fmla="*/ 33 w 98"/>
                <a:gd name="T7" fmla="*/ 195 h 195"/>
                <a:gd name="T8" fmla="*/ 98 w 98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5">
                  <a:moveTo>
                    <a:pt x="98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98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9" name="Line 137"/>
            <p:cNvSpPr>
              <a:spLocks noChangeShapeType="1"/>
            </p:cNvSpPr>
            <p:nvPr/>
          </p:nvSpPr>
          <p:spPr bwMode="auto">
            <a:xfrm>
              <a:off x="6494463" y="4140026"/>
              <a:ext cx="1587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0" name="Freeform 138"/>
            <p:cNvSpPr>
              <a:spLocks/>
            </p:cNvSpPr>
            <p:nvPr/>
          </p:nvSpPr>
          <p:spPr bwMode="auto">
            <a:xfrm>
              <a:off x="6184900" y="4474989"/>
              <a:ext cx="52388" cy="155575"/>
            </a:xfrm>
            <a:custGeom>
              <a:avLst/>
              <a:gdLst>
                <a:gd name="T0" fmla="*/ 0 w 65"/>
                <a:gd name="T1" fmla="*/ 0 h 196"/>
                <a:gd name="T2" fmla="*/ 33 w 65"/>
                <a:gd name="T3" fmla="*/ 196 h 196"/>
                <a:gd name="T4" fmla="*/ 65 w 65"/>
                <a:gd name="T5" fmla="*/ 0 h 196"/>
                <a:gd name="T6" fmla="*/ 33 w 65"/>
                <a:gd name="T7" fmla="*/ 0 h 196"/>
                <a:gd name="T8" fmla="*/ 0 w 65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6">
                  <a:moveTo>
                    <a:pt x="0" y="0"/>
                  </a:moveTo>
                  <a:lnTo>
                    <a:pt x="33" y="196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1" name="Freeform 139"/>
            <p:cNvSpPr>
              <a:spLocks/>
            </p:cNvSpPr>
            <p:nvPr/>
          </p:nvSpPr>
          <p:spPr bwMode="auto">
            <a:xfrm>
              <a:off x="6184900" y="3984451"/>
              <a:ext cx="52388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2" name="Line 140"/>
            <p:cNvSpPr>
              <a:spLocks noChangeShapeType="1"/>
            </p:cNvSpPr>
            <p:nvPr/>
          </p:nvSpPr>
          <p:spPr bwMode="auto">
            <a:xfrm>
              <a:off x="6210300" y="4140026"/>
              <a:ext cx="1588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" name="Freeform 141"/>
            <p:cNvSpPr>
              <a:spLocks/>
            </p:cNvSpPr>
            <p:nvPr/>
          </p:nvSpPr>
          <p:spPr bwMode="auto">
            <a:xfrm>
              <a:off x="5178425" y="4474989"/>
              <a:ext cx="50800" cy="155575"/>
            </a:xfrm>
            <a:custGeom>
              <a:avLst/>
              <a:gdLst>
                <a:gd name="T0" fmla="*/ 0 w 65"/>
                <a:gd name="T1" fmla="*/ 0 h 196"/>
                <a:gd name="T2" fmla="*/ 33 w 65"/>
                <a:gd name="T3" fmla="*/ 196 h 196"/>
                <a:gd name="T4" fmla="*/ 65 w 65"/>
                <a:gd name="T5" fmla="*/ 0 h 196"/>
                <a:gd name="T6" fmla="*/ 33 w 65"/>
                <a:gd name="T7" fmla="*/ 0 h 196"/>
                <a:gd name="T8" fmla="*/ 0 w 65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6">
                  <a:moveTo>
                    <a:pt x="0" y="0"/>
                  </a:moveTo>
                  <a:lnTo>
                    <a:pt x="33" y="196"/>
                  </a:lnTo>
                  <a:lnTo>
                    <a:pt x="65" y="0"/>
                  </a:lnTo>
                  <a:lnTo>
                    <a:pt x="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4" name="Freeform 142"/>
            <p:cNvSpPr>
              <a:spLocks/>
            </p:cNvSpPr>
            <p:nvPr/>
          </p:nvSpPr>
          <p:spPr bwMode="auto">
            <a:xfrm>
              <a:off x="5178425" y="3984451"/>
              <a:ext cx="50800" cy="155575"/>
            </a:xfrm>
            <a:custGeom>
              <a:avLst/>
              <a:gdLst>
                <a:gd name="T0" fmla="*/ 65 w 65"/>
                <a:gd name="T1" fmla="*/ 195 h 195"/>
                <a:gd name="T2" fmla="*/ 33 w 65"/>
                <a:gd name="T3" fmla="*/ 0 h 195"/>
                <a:gd name="T4" fmla="*/ 0 w 65"/>
                <a:gd name="T5" fmla="*/ 195 h 195"/>
                <a:gd name="T6" fmla="*/ 33 w 65"/>
                <a:gd name="T7" fmla="*/ 195 h 195"/>
                <a:gd name="T8" fmla="*/ 65 w 65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95">
                  <a:moveTo>
                    <a:pt x="65" y="195"/>
                  </a:moveTo>
                  <a:lnTo>
                    <a:pt x="33" y="0"/>
                  </a:lnTo>
                  <a:lnTo>
                    <a:pt x="0" y="195"/>
                  </a:lnTo>
                  <a:lnTo>
                    <a:pt x="33" y="195"/>
                  </a:lnTo>
                  <a:lnTo>
                    <a:pt x="65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5" name="Line 143"/>
            <p:cNvSpPr>
              <a:spLocks noChangeShapeType="1"/>
            </p:cNvSpPr>
            <p:nvPr/>
          </p:nvSpPr>
          <p:spPr bwMode="auto">
            <a:xfrm>
              <a:off x="5203825" y="4140026"/>
              <a:ext cx="1588" cy="334963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Rectangle 144"/>
            <p:cNvSpPr>
              <a:spLocks noChangeArrowheads="1"/>
            </p:cNvSpPr>
            <p:nvPr/>
          </p:nvSpPr>
          <p:spPr bwMode="auto">
            <a:xfrm>
              <a:off x="2362200" y="3493914"/>
              <a:ext cx="4494213" cy="438150"/>
            </a:xfrm>
            <a:prstGeom prst="rect">
              <a:avLst/>
            </a:prstGeom>
            <a:noFill/>
            <a:ln w="23813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7" name="Freeform 145"/>
            <p:cNvSpPr>
              <a:spLocks/>
            </p:cNvSpPr>
            <p:nvPr/>
          </p:nvSpPr>
          <p:spPr bwMode="auto">
            <a:xfrm>
              <a:off x="1690688" y="2795414"/>
              <a:ext cx="77787" cy="155575"/>
            </a:xfrm>
            <a:custGeom>
              <a:avLst/>
              <a:gdLst>
                <a:gd name="T0" fmla="*/ 98 w 98"/>
                <a:gd name="T1" fmla="*/ 195 h 195"/>
                <a:gd name="T2" fmla="*/ 32 w 98"/>
                <a:gd name="T3" fmla="*/ 0 h 195"/>
                <a:gd name="T4" fmla="*/ 0 w 98"/>
                <a:gd name="T5" fmla="*/ 195 h 195"/>
                <a:gd name="T6" fmla="*/ 32 w 98"/>
                <a:gd name="T7" fmla="*/ 195 h 195"/>
                <a:gd name="T8" fmla="*/ 98 w 98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5">
                  <a:moveTo>
                    <a:pt x="98" y="195"/>
                  </a:moveTo>
                  <a:lnTo>
                    <a:pt x="32" y="0"/>
                  </a:lnTo>
                  <a:lnTo>
                    <a:pt x="0" y="195"/>
                  </a:lnTo>
                  <a:lnTo>
                    <a:pt x="32" y="195"/>
                  </a:lnTo>
                  <a:lnTo>
                    <a:pt x="98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8" name="Freeform 146"/>
            <p:cNvSpPr>
              <a:spLocks/>
            </p:cNvSpPr>
            <p:nvPr/>
          </p:nvSpPr>
          <p:spPr bwMode="auto">
            <a:xfrm>
              <a:off x="2181225" y="3544714"/>
              <a:ext cx="155575" cy="52387"/>
            </a:xfrm>
            <a:custGeom>
              <a:avLst/>
              <a:gdLst>
                <a:gd name="T0" fmla="*/ 0 w 195"/>
                <a:gd name="T1" fmla="*/ 65 h 65"/>
                <a:gd name="T2" fmla="*/ 195 w 195"/>
                <a:gd name="T3" fmla="*/ 32 h 65"/>
                <a:gd name="T4" fmla="*/ 0 w 195"/>
                <a:gd name="T5" fmla="*/ 0 h 65"/>
                <a:gd name="T6" fmla="*/ 0 w 195"/>
                <a:gd name="T7" fmla="*/ 32 h 65"/>
                <a:gd name="T8" fmla="*/ 0 w 195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65">
                  <a:moveTo>
                    <a:pt x="0" y="65"/>
                  </a:moveTo>
                  <a:lnTo>
                    <a:pt x="195" y="32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9" name="Freeform 147"/>
            <p:cNvSpPr>
              <a:spLocks/>
            </p:cNvSpPr>
            <p:nvPr/>
          </p:nvSpPr>
          <p:spPr bwMode="auto">
            <a:xfrm>
              <a:off x="1716088" y="2950989"/>
              <a:ext cx="439737" cy="620712"/>
            </a:xfrm>
            <a:custGeom>
              <a:avLst/>
              <a:gdLst>
                <a:gd name="T0" fmla="*/ 554 w 554"/>
                <a:gd name="T1" fmla="*/ 781 h 781"/>
                <a:gd name="T2" fmla="*/ 0 w 554"/>
                <a:gd name="T3" fmla="*/ 781 h 781"/>
                <a:gd name="T4" fmla="*/ 0 w 554"/>
                <a:gd name="T5" fmla="*/ 0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4" h="781">
                  <a:moveTo>
                    <a:pt x="554" y="781"/>
                  </a:moveTo>
                  <a:lnTo>
                    <a:pt x="0" y="781"/>
                  </a:lnTo>
                  <a:lnTo>
                    <a:pt x="0" y="0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0" name="Freeform 148"/>
            <p:cNvSpPr>
              <a:spLocks/>
            </p:cNvSpPr>
            <p:nvPr/>
          </p:nvSpPr>
          <p:spPr bwMode="auto">
            <a:xfrm>
              <a:off x="1690688" y="4474989"/>
              <a:ext cx="77787" cy="155575"/>
            </a:xfrm>
            <a:custGeom>
              <a:avLst/>
              <a:gdLst>
                <a:gd name="T0" fmla="*/ 0 w 98"/>
                <a:gd name="T1" fmla="*/ 0 h 196"/>
                <a:gd name="T2" fmla="*/ 32 w 98"/>
                <a:gd name="T3" fmla="*/ 196 h 196"/>
                <a:gd name="T4" fmla="*/ 98 w 98"/>
                <a:gd name="T5" fmla="*/ 0 h 196"/>
                <a:gd name="T6" fmla="*/ 32 w 98"/>
                <a:gd name="T7" fmla="*/ 0 h 196"/>
                <a:gd name="T8" fmla="*/ 0 w 98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96">
                  <a:moveTo>
                    <a:pt x="0" y="0"/>
                  </a:moveTo>
                  <a:lnTo>
                    <a:pt x="32" y="196"/>
                  </a:lnTo>
                  <a:lnTo>
                    <a:pt x="98" y="0"/>
                  </a:lnTo>
                  <a:lnTo>
                    <a:pt x="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1" name="Freeform 149"/>
            <p:cNvSpPr>
              <a:spLocks/>
            </p:cNvSpPr>
            <p:nvPr/>
          </p:nvSpPr>
          <p:spPr bwMode="auto">
            <a:xfrm>
              <a:off x="2181225" y="3803476"/>
              <a:ext cx="155575" cy="77788"/>
            </a:xfrm>
            <a:custGeom>
              <a:avLst/>
              <a:gdLst>
                <a:gd name="T0" fmla="*/ 0 w 195"/>
                <a:gd name="T1" fmla="*/ 98 h 98"/>
                <a:gd name="T2" fmla="*/ 195 w 195"/>
                <a:gd name="T3" fmla="*/ 65 h 98"/>
                <a:gd name="T4" fmla="*/ 0 w 195"/>
                <a:gd name="T5" fmla="*/ 0 h 98"/>
                <a:gd name="T6" fmla="*/ 0 w 195"/>
                <a:gd name="T7" fmla="*/ 65 h 98"/>
                <a:gd name="T8" fmla="*/ 0 w 195"/>
                <a:gd name="T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0" y="98"/>
                  </a:moveTo>
                  <a:lnTo>
                    <a:pt x="195" y="65"/>
                  </a:lnTo>
                  <a:lnTo>
                    <a:pt x="0" y="0"/>
                  </a:lnTo>
                  <a:lnTo>
                    <a:pt x="0" y="65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2" name="Freeform 150"/>
            <p:cNvSpPr>
              <a:spLocks/>
            </p:cNvSpPr>
            <p:nvPr/>
          </p:nvSpPr>
          <p:spPr bwMode="auto">
            <a:xfrm>
              <a:off x="1716088" y="3855864"/>
              <a:ext cx="439737" cy="619125"/>
            </a:xfrm>
            <a:custGeom>
              <a:avLst/>
              <a:gdLst>
                <a:gd name="T0" fmla="*/ 554 w 554"/>
                <a:gd name="T1" fmla="*/ 0 h 781"/>
                <a:gd name="T2" fmla="*/ 0 w 554"/>
                <a:gd name="T3" fmla="*/ 0 h 781"/>
                <a:gd name="T4" fmla="*/ 0 w 554"/>
                <a:gd name="T5" fmla="*/ 781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4" h="781">
                  <a:moveTo>
                    <a:pt x="554" y="0"/>
                  </a:moveTo>
                  <a:lnTo>
                    <a:pt x="0" y="0"/>
                  </a:lnTo>
                  <a:lnTo>
                    <a:pt x="0" y="781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" name="Freeform 151"/>
            <p:cNvSpPr>
              <a:spLocks/>
            </p:cNvSpPr>
            <p:nvPr/>
          </p:nvSpPr>
          <p:spPr bwMode="auto">
            <a:xfrm>
              <a:off x="7450138" y="2795414"/>
              <a:ext cx="77787" cy="155575"/>
            </a:xfrm>
            <a:custGeom>
              <a:avLst/>
              <a:gdLst>
                <a:gd name="T0" fmla="*/ 97 w 97"/>
                <a:gd name="T1" fmla="*/ 195 h 195"/>
                <a:gd name="T2" fmla="*/ 65 w 97"/>
                <a:gd name="T3" fmla="*/ 0 h 195"/>
                <a:gd name="T4" fmla="*/ 0 w 97"/>
                <a:gd name="T5" fmla="*/ 195 h 195"/>
                <a:gd name="T6" fmla="*/ 65 w 97"/>
                <a:gd name="T7" fmla="*/ 195 h 195"/>
                <a:gd name="T8" fmla="*/ 97 w 97"/>
                <a:gd name="T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5">
                  <a:moveTo>
                    <a:pt x="97" y="195"/>
                  </a:moveTo>
                  <a:lnTo>
                    <a:pt x="65" y="0"/>
                  </a:lnTo>
                  <a:lnTo>
                    <a:pt x="0" y="195"/>
                  </a:lnTo>
                  <a:lnTo>
                    <a:pt x="65" y="195"/>
                  </a:lnTo>
                  <a:lnTo>
                    <a:pt x="97" y="195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4" name="Freeform 152"/>
            <p:cNvSpPr>
              <a:spLocks/>
            </p:cNvSpPr>
            <p:nvPr/>
          </p:nvSpPr>
          <p:spPr bwMode="auto">
            <a:xfrm>
              <a:off x="6881813" y="3544714"/>
              <a:ext cx="155575" cy="52387"/>
            </a:xfrm>
            <a:custGeom>
              <a:avLst/>
              <a:gdLst>
                <a:gd name="T0" fmla="*/ 195 w 195"/>
                <a:gd name="T1" fmla="*/ 0 h 65"/>
                <a:gd name="T2" fmla="*/ 0 w 195"/>
                <a:gd name="T3" fmla="*/ 32 h 65"/>
                <a:gd name="T4" fmla="*/ 195 w 195"/>
                <a:gd name="T5" fmla="*/ 65 h 65"/>
                <a:gd name="T6" fmla="*/ 195 w 195"/>
                <a:gd name="T7" fmla="*/ 32 h 65"/>
                <a:gd name="T8" fmla="*/ 195 w 195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65">
                  <a:moveTo>
                    <a:pt x="195" y="0"/>
                  </a:moveTo>
                  <a:lnTo>
                    <a:pt x="0" y="32"/>
                  </a:lnTo>
                  <a:lnTo>
                    <a:pt x="195" y="65"/>
                  </a:lnTo>
                  <a:lnTo>
                    <a:pt x="195" y="32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5" name="Freeform 153"/>
            <p:cNvSpPr>
              <a:spLocks/>
            </p:cNvSpPr>
            <p:nvPr/>
          </p:nvSpPr>
          <p:spPr bwMode="auto">
            <a:xfrm>
              <a:off x="7062788" y="2950989"/>
              <a:ext cx="439737" cy="620712"/>
            </a:xfrm>
            <a:custGeom>
              <a:avLst/>
              <a:gdLst>
                <a:gd name="T0" fmla="*/ 0 w 553"/>
                <a:gd name="T1" fmla="*/ 781 h 781"/>
                <a:gd name="T2" fmla="*/ 553 w 553"/>
                <a:gd name="T3" fmla="*/ 781 h 781"/>
                <a:gd name="T4" fmla="*/ 553 w 553"/>
                <a:gd name="T5" fmla="*/ 0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3" h="781">
                  <a:moveTo>
                    <a:pt x="0" y="781"/>
                  </a:moveTo>
                  <a:lnTo>
                    <a:pt x="553" y="781"/>
                  </a:lnTo>
                  <a:lnTo>
                    <a:pt x="553" y="0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6" name="Freeform 154"/>
            <p:cNvSpPr>
              <a:spLocks/>
            </p:cNvSpPr>
            <p:nvPr/>
          </p:nvSpPr>
          <p:spPr bwMode="auto">
            <a:xfrm>
              <a:off x="7450138" y="4474989"/>
              <a:ext cx="77787" cy="155575"/>
            </a:xfrm>
            <a:custGeom>
              <a:avLst/>
              <a:gdLst>
                <a:gd name="T0" fmla="*/ 0 w 97"/>
                <a:gd name="T1" fmla="*/ 0 h 196"/>
                <a:gd name="T2" fmla="*/ 65 w 97"/>
                <a:gd name="T3" fmla="*/ 196 h 196"/>
                <a:gd name="T4" fmla="*/ 97 w 97"/>
                <a:gd name="T5" fmla="*/ 0 h 196"/>
                <a:gd name="T6" fmla="*/ 65 w 97"/>
                <a:gd name="T7" fmla="*/ 0 h 196"/>
                <a:gd name="T8" fmla="*/ 0 w 97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96">
                  <a:moveTo>
                    <a:pt x="0" y="0"/>
                  </a:moveTo>
                  <a:lnTo>
                    <a:pt x="65" y="196"/>
                  </a:lnTo>
                  <a:lnTo>
                    <a:pt x="97" y="0"/>
                  </a:lnTo>
                  <a:lnTo>
                    <a:pt x="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7" name="Freeform 155"/>
            <p:cNvSpPr>
              <a:spLocks/>
            </p:cNvSpPr>
            <p:nvPr/>
          </p:nvSpPr>
          <p:spPr bwMode="auto">
            <a:xfrm>
              <a:off x="6881813" y="3803476"/>
              <a:ext cx="155575" cy="77788"/>
            </a:xfrm>
            <a:custGeom>
              <a:avLst/>
              <a:gdLst>
                <a:gd name="T0" fmla="*/ 195 w 195"/>
                <a:gd name="T1" fmla="*/ 0 h 98"/>
                <a:gd name="T2" fmla="*/ 0 w 195"/>
                <a:gd name="T3" fmla="*/ 65 h 98"/>
                <a:gd name="T4" fmla="*/ 195 w 195"/>
                <a:gd name="T5" fmla="*/ 98 h 98"/>
                <a:gd name="T6" fmla="*/ 195 w 195"/>
                <a:gd name="T7" fmla="*/ 65 h 98"/>
                <a:gd name="T8" fmla="*/ 195 w 195"/>
                <a:gd name="T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98">
                  <a:moveTo>
                    <a:pt x="195" y="0"/>
                  </a:moveTo>
                  <a:lnTo>
                    <a:pt x="0" y="65"/>
                  </a:lnTo>
                  <a:lnTo>
                    <a:pt x="195" y="98"/>
                  </a:lnTo>
                  <a:lnTo>
                    <a:pt x="195" y="65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/>
            </a:solidFill>
            <a:ln w="238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Freeform 156"/>
            <p:cNvSpPr>
              <a:spLocks/>
            </p:cNvSpPr>
            <p:nvPr/>
          </p:nvSpPr>
          <p:spPr bwMode="auto">
            <a:xfrm>
              <a:off x="7062788" y="3855864"/>
              <a:ext cx="439737" cy="619125"/>
            </a:xfrm>
            <a:custGeom>
              <a:avLst/>
              <a:gdLst>
                <a:gd name="T0" fmla="*/ 0 w 553"/>
                <a:gd name="T1" fmla="*/ 0 h 781"/>
                <a:gd name="T2" fmla="*/ 553 w 553"/>
                <a:gd name="T3" fmla="*/ 0 h 781"/>
                <a:gd name="T4" fmla="*/ 553 w 553"/>
                <a:gd name="T5" fmla="*/ 781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3" h="781">
                  <a:moveTo>
                    <a:pt x="0" y="0"/>
                  </a:moveTo>
                  <a:lnTo>
                    <a:pt x="553" y="0"/>
                  </a:lnTo>
                  <a:lnTo>
                    <a:pt x="553" y="781"/>
                  </a:lnTo>
                </a:path>
              </a:pathLst>
            </a:custGeom>
            <a:noFill/>
            <a:ln w="23813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9" name="Rectangle 157"/>
            <p:cNvSpPr>
              <a:spLocks noChangeArrowheads="1"/>
            </p:cNvSpPr>
            <p:nvPr/>
          </p:nvSpPr>
          <p:spPr bwMode="auto">
            <a:xfrm rot="5400000">
              <a:off x="6889934" y="5288946"/>
              <a:ext cx="1152158" cy="327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I/O block </a:t>
              </a:r>
            </a:p>
          </p:txBody>
        </p:sp>
        <p:sp>
          <p:nvSpPr>
            <p:cNvPr id="160" name="Rectangle 158"/>
            <p:cNvSpPr>
              <a:spLocks noChangeArrowheads="1"/>
            </p:cNvSpPr>
            <p:nvPr/>
          </p:nvSpPr>
          <p:spPr bwMode="auto">
            <a:xfrm>
              <a:off x="3487738" y="3573289"/>
              <a:ext cx="2661808" cy="32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 charset="0"/>
                </a:rPr>
                <a:t>Interconnection wires </a:t>
              </a:r>
            </a:p>
          </p:txBody>
        </p:sp>
      </p:grpSp>
      <p:sp>
        <p:nvSpPr>
          <p:cNvPr id="161" name="Freeform 27"/>
          <p:cNvSpPr>
            <a:spLocks/>
          </p:cNvSpPr>
          <p:nvPr/>
        </p:nvSpPr>
        <p:spPr bwMode="auto">
          <a:xfrm>
            <a:off x="5181196" y="2786187"/>
            <a:ext cx="101903" cy="33617"/>
          </a:xfrm>
          <a:custGeom>
            <a:avLst/>
            <a:gdLst>
              <a:gd name="T0" fmla="*/ 196 w 196"/>
              <a:gd name="T1" fmla="*/ 0 h 65"/>
              <a:gd name="T2" fmla="*/ 0 w 196"/>
              <a:gd name="T3" fmla="*/ 33 h 65"/>
              <a:gd name="T4" fmla="*/ 196 w 196"/>
              <a:gd name="T5" fmla="*/ 65 h 65"/>
              <a:gd name="T6" fmla="*/ 196 w 196"/>
              <a:gd name="T7" fmla="*/ 33 h 65"/>
              <a:gd name="T8" fmla="*/ 196 w 196"/>
              <a:gd name="T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" h="65">
                <a:moveTo>
                  <a:pt x="196" y="0"/>
                </a:moveTo>
                <a:lnTo>
                  <a:pt x="0" y="33"/>
                </a:lnTo>
                <a:lnTo>
                  <a:pt x="196" y="65"/>
                </a:lnTo>
                <a:lnTo>
                  <a:pt x="196" y="33"/>
                </a:lnTo>
                <a:lnTo>
                  <a:pt x="196" y="0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2" name="Freeform 28"/>
          <p:cNvSpPr>
            <a:spLocks/>
          </p:cNvSpPr>
          <p:nvPr/>
        </p:nvSpPr>
        <p:spPr bwMode="auto">
          <a:xfrm>
            <a:off x="5454338" y="2786187"/>
            <a:ext cx="102953" cy="33617"/>
          </a:xfrm>
          <a:custGeom>
            <a:avLst/>
            <a:gdLst>
              <a:gd name="T0" fmla="*/ 0 w 195"/>
              <a:gd name="T1" fmla="*/ 65 h 65"/>
              <a:gd name="T2" fmla="*/ 195 w 195"/>
              <a:gd name="T3" fmla="*/ 33 h 65"/>
              <a:gd name="T4" fmla="*/ 0 w 195"/>
              <a:gd name="T5" fmla="*/ 0 h 65"/>
              <a:gd name="T6" fmla="*/ 0 w 195"/>
              <a:gd name="T7" fmla="*/ 33 h 65"/>
              <a:gd name="T8" fmla="*/ 0 w 195"/>
              <a:gd name="T9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" h="65">
                <a:moveTo>
                  <a:pt x="0" y="65"/>
                </a:moveTo>
                <a:lnTo>
                  <a:pt x="195" y="33"/>
                </a:lnTo>
                <a:lnTo>
                  <a:pt x="0" y="0"/>
                </a:lnTo>
                <a:lnTo>
                  <a:pt x="0" y="33"/>
                </a:lnTo>
                <a:lnTo>
                  <a:pt x="0" y="65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3" name="Line 29"/>
          <p:cNvSpPr>
            <a:spLocks noChangeShapeType="1"/>
          </p:cNvSpPr>
          <p:nvPr/>
        </p:nvSpPr>
        <p:spPr bwMode="auto">
          <a:xfrm flipH="1">
            <a:off x="5283099" y="2802996"/>
            <a:ext cx="154430" cy="10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" name="Freeform 27"/>
          <p:cNvSpPr>
            <a:spLocks/>
          </p:cNvSpPr>
          <p:nvPr/>
        </p:nvSpPr>
        <p:spPr bwMode="auto">
          <a:xfrm>
            <a:off x="5181196" y="2972103"/>
            <a:ext cx="101903" cy="33617"/>
          </a:xfrm>
          <a:custGeom>
            <a:avLst/>
            <a:gdLst>
              <a:gd name="T0" fmla="*/ 196 w 196"/>
              <a:gd name="T1" fmla="*/ 0 h 65"/>
              <a:gd name="T2" fmla="*/ 0 w 196"/>
              <a:gd name="T3" fmla="*/ 33 h 65"/>
              <a:gd name="T4" fmla="*/ 196 w 196"/>
              <a:gd name="T5" fmla="*/ 65 h 65"/>
              <a:gd name="T6" fmla="*/ 196 w 196"/>
              <a:gd name="T7" fmla="*/ 33 h 65"/>
              <a:gd name="T8" fmla="*/ 196 w 196"/>
              <a:gd name="T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" h="65">
                <a:moveTo>
                  <a:pt x="196" y="0"/>
                </a:moveTo>
                <a:lnTo>
                  <a:pt x="0" y="33"/>
                </a:lnTo>
                <a:lnTo>
                  <a:pt x="196" y="65"/>
                </a:lnTo>
                <a:lnTo>
                  <a:pt x="196" y="33"/>
                </a:lnTo>
                <a:lnTo>
                  <a:pt x="196" y="0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5" name="Freeform 28"/>
          <p:cNvSpPr>
            <a:spLocks/>
          </p:cNvSpPr>
          <p:nvPr/>
        </p:nvSpPr>
        <p:spPr bwMode="auto">
          <a:xfrm>
            <a:off x="5454338" y="2972103"/>
            <a:ext cx="102953" cy="33617"/>
          </a:xfrm>
          <a:custGeom>
            <a:avLst/>
            <a:gdLst>
              <a:gd name="T0" fmla="*/ 0 w 195"/>
              <a:gd name="T1" fmla="*/ 65 h 65"/>
              <a:gd name="T2" fmla="*/ 195 w 195"/>
              <a:gd name="T3" fmla="*/ 33 h 65"/>
              <a:gd name="T4" fmla="*/ 0 w 195"/>
              <a:gd name="T5" fmla="*/ 0 h 65"/>
              <a:gd name="T6" fmla="*/ 0 w 195"/>
              <a:gd name="T7" fmla="*/ 33 h 65"/>
              <a:gd name="T8" fmla="*/ 0 w 195"/>
              <a:gd name="T9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" h="65">
                <a:moveTo>
                  <a:pt x="0" y="65"/>
                </a:moveTo>
                <a:lnTo>
                  <a:pt x="195" y="33"/>
                </a:lnTo>
                <a:lnTo>
                  <a:pt x="0" y="0"/>
                </a:lnTo>
                <a:lnTo>
                  <a:pt x="0" y="33"/>
                </a:lnTo>
                <a:lnTo>
                  <a:pt x="0" y="65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6" name="Line 29"/>
          <p:cNvSpPr>
            <a:spLocks noChangeShapeType="1"/>
          </p:cNvSpPr>
          <p:nvPr/>
        </p:nvSpPr>
        <p:spPr bwMode="auto">
          <a:xfrm flipH="1">
            <a:off x="5283099" y="2988912"/>
            <a:ext cx="154430" cy="10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1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70"/>
    </mc:Choice>
    <mc:Fallback xmlns="">
      <p:transition spd="slow" advTm="3827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4696372" y="1621363"/>
            <a:ext cx="4140000" cy="4396720"/>
            <a:chOff x="1360" y="136"/>
            <a:chExt cx="3435" cy="3648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1360" y="136"/>
              <a:ext cx="3435" cy="3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205"/>
            <p:cNvGrpSpPr>
              <a:grpSpLocks/>
            </p:cNvGrpSpPr>
            <p:nvPr/>
          </p:nvGrpSpPr>
          <p:grpSpPr bwMode="auto">
            <a:xfrm>
              <a:off x="1364" y="719"/>
              <a:ext cx="3278" cy="3011"/>
              <a:chOff x="1364" y="719"/>
              <a:chExt cx="3278" cy="3011"/>
            </a:xfrm>
          </p:grpSpPr>
          <p:sp>
            <p:nvSpPr>
              <p:cNvPr id="35083" name="Line 5"/>
              <p:cNvSpPr>
                <a:spLocks noChangeShapeType="1"/>
              </p:cNvSpPr>
              <p:nvPr/>
            </p:nvSpPr>
            <p:spPr bwMode="auto">
              <a:xfrm>
                <a:off x="3951" y="818"/>
                <a:ext cx="0" cy="66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4" name="Line 6"/>
              <p:cNvSpPr>
                <a:spLocks noChangeShapeType="1"/>
              </p:cNvSpPr>
              <p:nvPr/>
            </p:nvSpPr>
            <p:spPr bwMode="auto">
              <a:xfrm>
                <a:off x="4148" y="818"/>
                <a:ext cx="0" cy="66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5" name="Line 7"/>
              <p:cNvSpPr>
                <a:spLocks noChangeShapeType="1"/>
              </p:cNvSpPr>
              <p:nvPr/>
            </p:nvSpPr>
            <p:spPr bwMode="auto">
              <a:xfrm>
                <a:off x="4346" y="788"/>
                <a:ext cx="0" cy="69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6" name="Line 8"/>
              <p:cNvSpPr>
                <a:spLocks noChangeShapeType="1"/>
              </p:cNvSpPr>
              <p:nvPr/>
            </p:nvSpPr>
            <p:spPr bwMode="auto">
              <a:xfrm>
                <a:off x="1641" y="818"/>
                <a:ext cx="0" cy="66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7" name="Line 9"/>
              <p:cNvSpPr>
                <a:spLocks noChangeShapeType="1"/>
              </p:cNvSpPr>
              <p:nvPr/>
            </p:nvSpPr>
            <p:spPr bwMode="auto">
              <a:xfrm>
                <a:off x="1838" y="818"/>
                <a:ext cx="0" cy="66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8" name="Line 10"/>
              <p:cNvSpPr>
                <a:spLocks noChangeShapeType="1"/>
              </p:cNvSpPr>
              <p:nvPr/>
            </p:nvSpPr>
            <p:spPr bwMode="auto">
              <a:xfrm>
                <a:off x="2174" y="818"/>
                <a:ext cx="0" cy="66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9" name="Line 11"/>
              <p:cNvSpPr>
                <a:spLocks noChangeShapeType="1"/>
              </p:cNvSpPr>
              <p:nvPr/>
            </p:nvSpPr>
            <p:spPr bwMode="auto">
              <a:xfrm flipH="1">
                <a:off x="1364" y="1272"/>
                <a:ext cx="3150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0" name="Line 12"/>
              <p:cNvSpPr>
                <a:spLocks noChangeShapeType="1"/>
              </p:cNvSpPr>
              <p:nvPr/>
            </p:nvSpPr>
            <p:spPr bwMode="auto">
              <a:xfrm flipH="1">
                <a:off x="1364" y="1173"/>
                <a:ext cx="3150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1" name="Freeform 13"/>
              <p:cNvSpPr>
                <a:spLocks/>
              </p:cNvSpPr>
              <p:nvPr/>
            </p:nvSpPr>
            <p:spPr bwMode="auto">
              <a:xfrm>
                <a:off x="2944" y="1085"/>
                <a:ext cx="20" cy="19"/>
              </a:xfrm>
              <a:custGeom>
                <a:avLst/>
                <a:gdLst>
                  <a:gd name="T0" fmla="*/ 33 w 59"/>
                  <a:gd name="T1" fmla="*/ 59 h 59"/>
                  <a:gd name="T2" fmla="*/ 37 w 59"/>
                  <a:gd name="T3" fmla="*/ 57 h 59"/>
                  <a:gd name="T4" fmla="*/ 40 w 59"/>
                  <a:gd name="T5" fmla="*/ 56 h 59"/>
                  <a:gd name="T6" fmla="*/ 44 w 59"/>
                  <a:gd name="T7" fmla="*/ 54 h 59"/>
                  <a:gd name="T8" fmla="*/ 47 w 59"/>
                  <a:gd name="T9" fmla="*/ 53 h 59"/>
                  <a:gd name="T10" fmla="*/ 52 w 59"/>
                  <a:gd name="T11" fmla="*/ 50 h 59"/>
                  <a:gd name="T12" fmla="*/ 55 w 59"/>
                  <a:gd name="T13" fmla="*/ 47 h 59"/>
                  <a:gd name="T14" fmla="*/ 56 w 59"/>
                  <a:gd name="T15" fmla="*/ 42 h 59"/>
                  <a:gd name="T16" fmla="*/ 58 w 59"/>
                  <a:gd name="T17" fmla="*/ 40 h 59"/>
                  <a:gd name="T18" fmla="*/ 59 w 59"/>
                  <a:gd name="T19" fmla="*/ 35 h 59"/>
                  <a:gd name="T20" fmla="*/ 59 w 59"/>
                  <a:gd name="T21" fmla="*/ 31 h 59"/>
                  <a:gd name="T22" fmla="*/ 59 w 59"/>
                  <a:gd name="T23" fmla="*/ 28 h 59"/>
                  <a:gd name="T24" fmla="*/ 59 w 59"/>
                  <a:gd name="T25" fmla="*/ 23 h 59"/>
                  <a:gd name="T26" fmla="*/ 58 w 59"/>
                  <a:gd name="T27" fmla="*/ 19 h 59"/>
                  <a:gd name="T28" fmla="*/ 56 w 59"/>
                  <a:gd name="T29" fmla="*/ 14 h 59"/>
                  <a:gd name="T30" fmla="*/ 55 w 59"/>
                  <a:gd name="T31" fmla="*/ 11 h 59"/>
                  <a:gd name="T32" fmla="*/ 52 w 59"/>
                  <a:gd name="T33" fmla="*/ 8 h 59"/>
                  <a:gd name="T34" fmla="*/ 47 w 59"/>
                  <a:gd name="T35" fmla="*/ 5 h 59"/>
                  <a:gd name="T36" fmla="*/ 44 w 59"/>
                  <a:gd name="T37" fmla="*/ 3 h 59"/>
                  <a:gd name="T38" fmla="*/ 40 w 59"/>
                  <a:gd name="T39" fmla="*/ 1 h 59"/>
                  <a:gd name="T40" fmla="*/ 37 w 59"/>
                  <a:gd name="T41" fmla="*/ 0 h 59"/>
                  <a:gd name="T42" fmla="*/ 33 w 59"/>
                  <a:gd name="T43" fmla="*/ 0 h 59"/>
                  <a:gd name="T44" fmla="*/ 28 w 59"/>
                  <a:gd name="T45" fmla="*/ 0 h 59"/>
                  <a:gd name="T46" fmla="*/ 24 w 59"/>
                  <a:gd name="T47" fmla="*/ 0 h 59"/>
                  <a:gd name="T48" fmla="*/ 21 w 59"/>
                  <a:gd name="T49" fmla="*/ 1 h 59"/>
                  <a:gd name="T50" fmla="*/ 16 w 59"/>
                  <a:gd name="T51" fmla="*/ 3 h 59"/>
                  <a:gd name="T52" fmla="*/ 13 w 59"/>
                  <a:gd name="T53" fmla="*/ 5 h 59"/>
                  <a:gd name="T54" fmla="*/ 9 w 59"/>
                  <a:gd name="T55" fmla="*/ 8 h 59"/>
                  <a:gd name="T56" fmla="*/ 6 w 59"/>
                  <a:gd name="T57" fmla="*/ 11 h 59"/>
                  <a:gd name="T58" fmla="*/ 4 w 59"/>
                  <a:gd name="T59" fmla="*/ 14 h 59"/>
                  <a:gd name="T60" fmla="*/ 3 w 59"/>
                  <a:gd name="T61" fmla="*/ 19 h 59"/>
                  <a:gd name="T62" fmla="*/ 1 w 59"/>
                  <a:gd name="T63" fmla="*/ 23 h 59"/>
                  <a:gd name="T64" fmla="*/ 1 w 59"/>
                  <a:gd name="T65" fmla="*/ 28 h 59"/>
                  <a:gd name="T66" fmla="*/ 1 w 59"/>
                  <a:gd name="T67" fmla="*/ 31 h 59"/>
                  <a:gd name="T68" fmla="*/ 1 w 59"/>
                  <a:gd name="T69" fmla="*/ 35 h 59"/>
                  <a:gd name="T70" fmla="*/ 3 w 59"/>
                  <a:gd name="T71" fmla="*/ 40 h 59"/>
                  <a:gd name="T72" fmla="*/ 4 w 59"/>
                  <a:gd name="T73" fmla="*/ 42 h 59"/>
                  <a:gd name="T74" fmla="*/ 6 w 59"/>
                  <a:gd name="T75" fmla="*/ 47 h 59"/>
                  <a:gd name="T76" fmla="*/ 9 w 59"/>
                  <a:gd name="T77" fmla="*/ 50 h 59"/>
                  <a:gd name="T78" fmla="*/ 13 w 59"/>
                  <a:gd name="T79" fmla="*/ 53 h 59"/>
                  <a:gd name="T80" fmla="*/ 16 w 59"/>
                  <a:gd name="T81" fmla="*/ 54 h 59"/>
                  <a:gd name="T82" fmla="*/ 21 w 59"/>
                  <a:gd name="T83" fmla="*/ 56 h 59"/>
                  <a:gd name="T84" fmla="*/ 24 w 59"/>
                  <a:gd name="T85" fmla="*/ 57 h 59"/>
                  <a:gd name="T86" fmla="*/ 28 w 59"/>
                  <a:gd name="T87" fmla="*/ 59 h 59"/>
                  <a:gd name="T88" fmla="*/ 30 w 59"/>
                  <a:gd name="T89" fmla="*/ 2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29"/>
                    </a:move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5" y="57"/>
                    </a:lnTo>
                    <a:lnTo>
                      <a:pt x="37" y="57"/>
                    </a:lnTo>
                    <a:lnTo>
                      <a:pt x="37" y="57"/>
                    </a:lnTo>
                    <a:lnTo>
                      <a:pt x="38" y="57"/>
                    </a:lnTo>
                    <a:lnTo>
                      <a:pt x="40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4"/>
                    </a:lnTo>
                    <a:lnTo>
                      <a:pt x="46" y="54"/>
                    </a:lnTo>
                    <a:lnTo>
                      <a:pt x="47" y="53"/>
                    </a:lnTo>
                    <a:lnTo>
                      <a:pt x="47" y="53"/>
                    </a:lnTo>
                    <a:lnTo>
                      <a:pt x="49" y="51"/>
                    </a:lnTo>
                    <a:lnTo>
                      <a:pt x="50" y="51"/>
                    </a:lnTo>
                    <a:lnTo>
                      <a:pt x="52" y="50"/>
                    </a:lnTo>
                    <a:lnTo>
                      <a:pt x="52" y="48"/>
                    </a:lnTo>
                    <a:lnTo>
                      <a:pt x="53" y="47"/>
                    </a:lnTo>
                    <a:lnTo>
                      <a:pt x="55" y="47"/>
                    </a:lnTo>
                    <a:lnTo>
                      <a:pt x="55" y="45"/>
                    </a:lnTo>
                    <a:lnTo>
                      <a:pt x="56" y="44"/>
                    </a:lnTo>
                    <a:lnTo>
                      <a:pt x="56" y="42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59" y="28"/>
                    </a:lnTo>
                    <a:lnTo>
                      <a:pt x="59" y="26"/>
                    </a:lnTo>
                    <a:lnTo>
                      <a:pt x="59" y="25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0"/>
                    </a:lnTo>
                    <a:lnTo>
                      <a:pt x="58" y="19"/>
                    </a:lnTo>
                    <a:lnTo>
                      <a:pt x="58" y="17"/>
                    </a:lnTo>
                    <a:lnTo>
                      <a:pt x="58" y="16"/>
                    </a:lnTo>
                    <a:lnTo>
                      <a:pt x="56" y="14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1"/>
                    </a:lnTo>
                    <a:lnTo>
                      <a:pt x="53" y="10"/>
                    </a:lnTo>
                    <a:lnTo>
                      <a:pt x="52" y="8"/>
                    </a:lnTo>
                    <a:lnTo>
                      <a:pt x="52" y="8"/>
                    </a:lnTo>
                    <a:lnTo>
                      <a:pt x="50" y="7"/>
                    </a:lnTo>
                    <a:lnTo>
                      <a:pt x="49" y="5"/>
                    </a:lnTo>
                    <a:lnTo>
                      <a:pt x="47" y="5"/>
                    </a:lnTo>
                    <a:lnTo>
                      <a:pt x="47" y="4"/>
                    </a:lnTo>
                    <a:lnTo>
                      <a:pt x="46" y="4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3" y="4"/>
                    </a:lnTo>
                    <a:lnTo>
                      <a:pt x="13" y="5"/>
                    </a:lnTo>
                    <a:lnTo>
                      <a:pt x="12" y="5"/>
                    </a:lnTo>
                    <a:lnTo>
                      <a:pt x="10" y="7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7" y="10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23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4" y="42"/>
                    </a:lnTo>
                    <a:lnTo>
                      <a:pt x="4" y="44"/>
                    </a:lnTo>
                    <a:lnTo>
                      <a:pt x="6" y="45"/>
                    </a:lnTo>
                    <a:lnTo>
                      <a:pt x="6" y="47"/>
                    </a:lnTo>
                    <a:lnTo>
                      <a:pt x="7" y="47"/>
                    </a:lnTo>
                    <a:lnTo>
                      <a:pt x="9" y="48"/>
                    </a:lnTo>
                    <a:lnTo>
                      <a:pt x="9" y="50"/>
                    </a:lnTo>
                    <a:lnTo>
                      <a:pt x="10" y="51"/>
                    </a:lnTo>
                    <a:lnTo>
                      <a:pt x="12" y="51"/>
                    </a:lnTo>
                    <a:lnTo>
                      <a:pt x="13" y="53"/>
                    </a:lnTo>
                    <a:lnTo>
                      <a:pt x="13" y="53"/>
                    </a:lnTo>
                    <a:lnTo>
                      <a:pt x="15" y="54"/>
                    </a:lnTo>
                    <a:lnTo>
                      <a:pt x="16" y="54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7"/>
                    </a:lnTo>
                    <a:lnTo>
                      <a:pt x="22" y="57"/>
                    </a:lnTo>
                    <a:lnTo>
                      <a:pt x="24" y="57"/>
                    </a:lnTo>
                    <a:lnTo>
                      <a:pt x="25" y="57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0" y="29"/>
                    </a:lnTo>
                    <a:close/>
                  </a:path>
                </a:pathLst>
              </a:custGeom>
              <a:solidFill>
                <a:srgbClr val="00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2" name="Freeform 14"/>
              <p:cNvSpPr>
                <a:spLocks/>
              </p:cNvSpPr>
              <p:nvPr/>
            </p:nvSpPr>
            <p:spPr bwMode="auto">
              <a:xfrm>
                <a:off x="2948" y="1078"/>
                <a:ext cx="24" cy="24"/>
              </a:xfrm>
              <a:custGeom>
                <a:avLst/>
                <a:gdLst>
                  <a:gd name="T0" fmla="*/ 40 w 72"/>
                  <a:gd name="T1" fmla="*/ 73 h 73"/>
                  <a:gd name="T2" fmla="*/ 46 w 72"/>
                  <a:gd name="T3" fmla="*/ 73 h 73"/>
                  <a:gd name="T4" fmla="*/ 50 w 72"/>
                  <a:gd name="T5" fmla="*/ 70 h 73"/>
                  <a:gd name="T6" fmla="*/ 55 w 72"/>
                  <a:gd name="T7" fmla="*/ 68 h 73"/>
                  <a:gd name="T8" fmla="*/ 59 w 72"/>
                  <a:gd name="T9" fmla="*/ 65 h 73"/>
                  <a:gd name="T10" fmla="*/ 63 w 72"/>
                  <a:gd name="T11" fmla="*/ 61 h 73"/>
                  <a:gd name="T12" fmla="*/ 66 w 72"/>
                  <a:gd name="T13" fmla="*/ 58 h 73"/>
                  <a:gd name="T14" fmla="*/ 69 w 72"/>
                  <a:gd name="T15" fmla="*/ 52 h 73"/>
                  <a:gd name="T16" fmla="*/ 71 w 72"/>
                  <a:gd name="T17" fmla="*/ 48 h 73"/>
                  <a:gd name="T18" fmla="*/ 72 w 72"/>
                  <a:gd name="T19" fmla="*/ 43 h 73"/>
                  <a:gd name="T20" fmla="*/ 72 w 72"/>
                  <a:gd name="T21" fmla="*/ 37 h 73"/>
                  <a:gd name="T22" fmla="*/ 72 w 72"/>
                  <a:gd name="T23" fmla="*/ 33 h 73"/>
                  <a:gd name="T24" fmla="*/ 71 w 72"/>
                  <a:gd name="T25" fmla="*/ 28 h 73"/>
                  <a:gd name="T26" fmla="*/ 69 w 72"/>
                  <a:gd name="T27" fmla="*/ 23 h 73"/>
                  <a:gd name="T28" fmla="*/ 68 w 72"/>
                  <a:gd name="T29" fmla="*/ 18 h 73"/>
                  <a:gd name="T30" fmla="*/ 65 w 72"/>
                  <a:gd name="T31" fmla="*/ 14 h 73"/>
                  <a:gd name="T32" fmla="*/ 60 w 72"/>
                  <a:gd name="T33" fmla="*/ 11 h 73"/>
                  <a:gd name="T34" fmla="*/ 56 w 72"/>
                  <a:gd name="T35" fmla="*/ 8 h 73"/>
                  <a:gd name="T36" fmla="*/ 52 w 72"/>
                  <a:gd name="T37" fmla="*/ 5 h 73"/>
                  <a:gd name="T38" fmla="*/ 47 w 72"/>
                  <a:gd name="T39" fmla="*/ 3 h 73"/>
                  <a:gd name="T40" fmla="*/ 41 w 72"/>
                  <a:gd name="T41" fmla="*/ 2 h 73"/>
                  <a:gd name="T42" fmla="*/ 37 w 72"/>
                  <a:gd name="T43" fmla="*/ 0 h 73"/>
                  <a:gd name="T44" fmla="*/ 32 w 72"/>
                  <a:gd name="T45" fmla="*/ 2 h 73"/>
                  <a:gd name="T46" fmla="*/ 28 w 72"/>
                  <a:gd name="T47" fmla="*/ 2 h 73"/>
                  <a:gd name="T48" fmla="*/ 22 w 72"/>
                  <a:gd name="T49" fmla="*/ 3 h 73"/>
                  <a:gd name="T50" fmla="*/ 18 w 72"/>
                  <a:gd name="T51" fmla="*/ 6 h 73"/>
                  <a:gd name="T52" fmla="*/ 13 w 72"/>
                  <a:gd name="T53" fmla="*/ 9 h 73"/>
                  <a:gd name="T54" fmla="*/ 10 w 72"/>
                  <a:gd name="T55" fmla="*/ 12 h 73"/>
                  <a:gd name="T56" fmla="*/ 6 w 72"/>
                  <a:gd name="T57" fmla="*/ 17 h 73"/>
                  <a:gd name="T58" fmla="*/ 4 w 72"/>
                  <a:gd name="T59" fmla="*/ 21 h 73"/>
                  <a:gd name="T60" fmla="*/ 1 w 72"/>
                  <a:gd name="T61" fmla="*/ 27 h 73"/>
                  <a:gd name="T62" fmla="*/ 1 w 72"/>
                  <a:gd name="T63" fmla="*/ 31 h 73"/>
                  <a:gd name="T64" fmla="*/ 0 w 72"/>
                  <a:gd name="T65" fmla="*/ 37 h 73"/>
                  <a:gd name="T66" fmla="*/ 0 w 72"/>
                  <a:gd name="T67" fmla="*/ 40 h 73"/>
                  <a:gd name="T68" fmla="*/ 1 w 72"/>
                  <a:gd name="T69" fmla="*/ 46 h 73"/>
                  <a:gd name="T70" fmla="*/ 3 w 72"/>
                  <a:gd name="T71" fmla="*/ 51 h 73"/>
                  <a:gd name="T72" fmla="*/ 6 w 72"/>
                  <a:gd name="T73" fmla="*/ 57 h 73"/>
                  <a:gd name="T74" fmla="*/ 9 w 72"/>
                  <a:gd name="T75" fmla="*/ 60 h 73"/>
                  <a:gd name="T76" fmla="*/ 12 w 72"/>
                  <a:gd name="T77" fmla="*/ 64 h 73"/>
                  <a:gd name="T78" fmla="*/ 16 w 72"/>
                  <a:gd name="T79" fmla="*/ 67 h 73"/>
                  <a:gd name="T80" fmla="*/ 21 w 72"/>
                  <a:gd name="T81" fmla="*/ 70 h 73"/>
                  <a:gd name="T82" fmla="*/ 25 w 72"/>
                  <a:gd name="T83" fmla="*/ 71 h 73"/>
                  <a:gd name="T84" fmla="*/ 31 w 72"/>
                  <a:gd name="T85" fmla="*/ 73 h 73"/>
                  <a:gd name="T86" fmla="*/ 37 w 72"/>
                  <a:gd name="T8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73">
                    <a:moveTo>
                      <a:pt x="37" y="73"/>
                    </a:moveTo>
                    <a:lnTo>
                      <a:pt x="38" y="73"/>
                    </a:lnTo>
                    <a:lnTo>
                      <a:pt x="40" y="73"/>
                    </a:lnTo>
                    <a:lnTo>
                      <a:pt x="41" y="73"/>
                    </a:lnTo>
                    <a:lnTo>
                      <a:pt x="44" y="73"/>
                    </a:lnTo>
                    <a:lnTo>
                      <a:pt x="46" y="73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0" y="64"/>
                    </a:lnTo>
                    <a:lnTo>
                      <a:pt x="62" y="62"/>
                    </a:lnTo>
                    <a:lnTo>
                      <a:pt x="63" y="61"/>
                    </a:lnTo>
                    <a:lnTo>
                      <a:pt x="65" y="60"/>
                    </a:lnTo>
                    <a:lnTo>
                      <a:pt x="65" y="58"/>
                    </a:lnTo>
                    <a:lnTo>
                      <a:pt x="66" y="58"/>
                    </a:lnTo>
                    <a:lnTo>
                      <a:pt x="68" y="57"/>
                    </a:lnTo>
                    <a:lnTo>
                      <a:pt x="68" y="55"/>
                    </a:lnTo>
                    <a:lnTo>
                      <a:pt x="69" y="52"/>
                    </a:lnTo>
                    <a:lnTo>
                      <a:pt x="69" y="51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2" y="40"/>
                    </a:lnTo>
                    <a:lnTo>
                      <a:pt x="72" y="39"/>
                    </a:lnTo>
                    <a:lnTo>
                      <a:pt x="72" y="37"/>
                    </a:lnTo>
                    <a:lnTo>
                      <a:pt x="72" y="37"/>
                    </a:lnTo>
                    <a:lnTo>
                      <a:pt x="72" y="36"/>
                    </a:lnTo>
                    <a:lnTo>
                      <a:pt x="72" y="33"/>
                    </a:lnTo>
                    <a:lnTo>
                      <a:pt x="72" y="31"/>
                    </a:lnTo>
                    <a:lnTo>
                      <a:pt x="72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69" y="23"/>
                    </a:lnTo>
                    <a:lnTo>
                      <a:pt x="69" y="21"/>
                    </a:lnTo>
                    <a:lnTo>
                      <a:pt x="68" y="20"/>
                    </a:lnTo>
                    <a:lnTo>
                      <a:pt x="68" y="18"/>
                    </a:lnTo>
                    <a:lnTo>
                      <a:pt x="66" y="17"/>
                    </a:lnTo>
                    <a:lnTo>
                      <a:pt x="65" y="15"/>
                    </a:lnTo>
                    <a:lnTo>
                      <a:pt x="65" y="14"/>
                    </a:lnTo>
                    <a:lnTo>
                      <a:pt x="63" y="12"/>
                    </a:lnTo>
                    <a:lnTo>
                      <a:pt x="62" y="12"/>
                    </a:lnTo>
                    <a:lnTo>
                      <a:pt x="60" y="11"/>
                    </a:lnTo>
                    <a:lnTo>
                      <a:pt x="59" y="9"/>
                    </a:lnTo>
                    <a:lnTo>
                      <a:pt x="58" y="8"/>
                    </a:lnTo>
                    <a:lnTo>
                      <a:pt x="56" y="8"/>
                    </a:lnTo>
                    <a:lnTo>
                      <a:pt x="55" y="6"/>
                    </a:lnTo>
                    <a:lnTo>
                      <a:pt x="53" y="5"/>
                    </a:lnTo>
                    <a:lnTo>
                      <a:pt x="52" y="5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2"/>
                    </a:lnTo>
                    <a:lnTo>
                      <a:pt x="44" y="2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2" y="2"/>
                    </a:lnTo>
                    <a:lnTo>
                      <a:pt x="31" y="2"/>
                    </a:lnTo>
                    <a:lnTo>
                      <a:pt x="29" y="2"/>
                    </a:lnTo>
                    <a:lnTo>
                      <a:pt x="28" y="2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8" y="6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3" y="9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4"/>
                    </a:lnTo>
                    <a:lnTo>
                      <a:pt x="7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4" y="20"/>
                    </a:lnTo>
                    <a:lnTo>
                      <a:pt x="4" y="21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5"/>
                    </a:lnTo>
                    <a:lnTo>
                      <a:pt x="1" y="46"/>
                    </a:lnTo>
                    <a:lnTo>
                      <a:pt x="1" y="48"/>
                    </a:lnTo>
                    <a:lnTo>
                      <a:pt x="3" y="49"/>
                    </a:lnTo>
                    <a:lnTo>
                      <a:pt x="3" y="51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7" y="58"/>
                    </a:lnTo>
                    <a:lnTo>
                      <a:pt x="9" y="60"/>
                    </a:lnTo>
                    <a:lnTo>
                      <a:pt x="10" y="61"/>
                    </a:lnTo>
                    <a:lnTo>
                      <a:pt x="10" y="62"/>
                    </a:lnTo>
                    <a:lnTo>
                      <a:pt x="12" y="64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70"/>
                    </a:lnTo>
                    <a:lnTo>
                      <a:pt x="22" y="70"/>
                    </a:lnTo>
                    <a:lnTo>
                      <a:pt x="23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29" y="73"/>
                    </a:lnTo>
                    <a:lnTo>
                      <a:pt x="31" y="73"/>
                    </a:lnTo>
                    <a:lnTo>
                      <a:pt x="32" y="73"/>
                    </a:lnTo>
                    <a:lnTo>
                      <a:pt x="34" y="73"/>
                    </a:lnTo>
                    <a:lnTo>
                      <a:pt x="37" y="73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3" name="Freeform 15"/>
              <p:cNvSpPr>
                <a:spLocks/>
              </p:cNvSpPr>
              <p:nvPr/>
            </p:nvSpPr>
            <p:spPr bwMode="auto">
              <a:xfrm>
                <a:off x="2944" y="1025"/>
                <a:ext cx="20" cy="20"/>
              </a:xfrm>
              <a:custGeom>
                <a:avLst/>
                <a:gdLst>
                  <a:gd name="T0" fmla="*/ 33 w 59"/>
                  <a:gd name="T1" fmla="*/ 59 h 59"/>
                  <a:gd name="T2" fmla="*/ 37 w 59"/>
                  <a:gd name="T3" fmla="*/ 58 h 59"/>
                  <a:gd name="T4" fmla="*/ 40 w 59"/>
                  <a:gd name="T5" fmla="*/ 56 h 59"/>
                  <a:gd name="T6" fmla="*/ 44 w 59"/>
                  <a:gd name="T7" fmla="*/ 55 h 59"/>
                  <a:gd name="T8" fmla="*/ 47 w 59"/>
                  <a:gd name="T9" fmla="*/ 53 h 59"/>
                  <a:gd name="T10" fmla="*/ 52 w 59"/>
                  <a:gd name="T11" fmla="*/ 50 h 59"/>
                  <a:gd name="T12" fmla="*/ 55 w 59"/>
                  <a:gd name="T13" fmla="*/ 47 h 59"/>
                  <a:gd name="T14" fmla="*/ 56 w 59"/>
                  <a:gd name="T15" fmla="*/ 43 h 59"/>
                  <a:gd name="T16" fmla="*/ 58 w 59"/>
                  <a:gd name="T17" fmla="*/ 40 h 59"/>
                  <a:gd name="T18" fmla="*/ 59 w 59"/>
                  <a:gd name="T19" fmla="*/ 35 h 59"/>
                  <a:gd name="T20" fmla="*/ 59 w 59"/>
                  <a:gd name="T21" fmla="*/ 31 h 59"/>
                  <a:gd name="T22" fmla="*/ 59 w 59"/>
                  <a:gd name="T23" fmla="*/ 28 h 59"/>
                  <a:gd name="T24" fmla="*/ 59 w 59"/>
                  <a:gd name="T25" fmla="*/ 24 h 59"/>
                  <a:gd name="T26" fmla="*/ 58 w 59"/>
                  <a:gd name="T27" fmla="*/ 19 h 59"/>
                  <a:gd name="T28" fmla="*/ 56 w 59"/>
                  <a:gd name="T29" fmla="*/ 15 h 59"/>
                  <a:gd name="T30" fmla="*/ 55 w 59"/>
                  <a:gd name="T31" fmla="*/ 12 h 59"/>
                  <a:gd name="T32" fmla="*/ 52 w 59"/>
                  <a:gd name="T33" fmla="*/ 9 h 59"/>
                  <a:gd name="T34" fmla="*/ 47 w 59"/>
                  <a:gd name="T35" fmla="*/ 6 h 59"/>
                  <a:gd name="T36" fmla="*/ 44 w 59"/>
                  <a:gd name="T37" fmla="*/ 3 h 59"/>
                  <a:gd name="T38" fmla="*/ 40 w 59"/>
                  <a:gd name="T39" fmla="*/ 1 h 59"/>
                  <a:gd name="T40" fmla="*/ 37 w 59"/>
                  <a:gd name="T41" fmla="*/ 0 h 59"/>
                  <a:gd name="T42" fmla="*/ 33 w 59"/>
                  <a:gd name="T43" fmla="*/ 0 h 59"/>
                  <a:gd name="T44" fmla="*/ 28 w 59"/>
                  <a:gd name="T45" fmla="*/ 0 h 59"/>
                  <a:gd name="T46" fmla="*/ 24 w 59"/>
                  <a:gd name="T47" fmla="*/ 0 h 59"/>
                  <a:gd name="T48" fmla="*/ 21 w 59"/>
                  <a:gd name="T49" fmla="*/ 1 h 59"/>
                  <a:gd name="T50" fmla="*/ 16 w 59"/>
                  <a:gd name="T51" fmla="*/ 3 h 59"/>
                  <a:gd name="T52" fmla="*/ 13 w 59"/>
                  <a:gd name="T53" fmla="*/ 6 h 59"/>
                  <a:gd name="T54" fmla="*/ 9 w 59"/>
                  <a:gd name="T55" fmla="*/ 9 h 59"/>
                  <a:gd name="T56" fmla="*/ 6 w 59"/>
                  <a:gd name="T57" fmla="*/ 12 h 59"/>
                  <a:gd name="T58" fmla="*/ 4 w 59"/>
                  <a:gd name="T59" fmla="*/ 15 h 59"/>
                  <a:gd name="T60" fmla="*/ 3 w 59"/>
                  <a:gd name="T61" fmla="*/ 19 h 59"/>
                  <a:gd name="T62" fmla="*/ 1 w 59"/>
                  <a:gd name="T63" fmla="*/ 24 h 59"/>
                  <a:gd name="T64" fmla="*/ 1 w 59"/>
                  <a:gd name="T65" fmla="*/ 28 h 59"/>
                  <a:gd name="T66" fmla="*/ 1 w 59"/>
                  <a:gd name="T67" fmla="*/ 31 h 59"/>
                  <a:gd name="T68" fmla="*/ 1 w 59"/>
                  <a:gd name="T69" fmla="*/ 35 h 59"/>
                  <a:gd name="T70" fmla="*/ 3 w 59"/>
                  <a:gd name="T71" fmla="*/ 40 h 59"/>
                  <a:gd name="T72" fmla="*/ 4 w 59"/>
                  <a:gd name="T73" fmla="*/ 43 h 59"/>
                  <a:gd name="T74" fmla="*/ 6 w 59"/>
                  <a:gd name="T75" fmla="*/ 47 h 59"/>
                  <a:gd name="T76" fmla="*/ 9 w 59"/>
                  <a:gd name="T77" fmla="*/ 50 h 59"/>
                  <a:gd name="T78" fmla="*/ 13 w 59"/>
                  <a:gd name="T79" fmla="*/ 53 h 59"/>
                  <a:gd name="T80" fmla="*/ 16 w 59"/>
                  <a:gd name="T81" fmla="*/ 55 h 59"/>
                  <a:gd name="T82" fmla="*/ 21 w 59"/>
                  <a:gd name="T83" fmla="*/ 56 h 59"/>
                  <a:gd name="T84" fmla="*/ 24 w 59"/>
                  <a:gd name="T85" fmla="*/ 58 h 59"/>
                  <a:gd name="T86" fmla="*/ 28 w 59"/>
                  <a:gd name="T87" fmla="*/ 59 h 59"/>
                  <a:gd name="T88" fmla="*/ 30 w 59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7" y="53"/>
                    </a:lnTo>
                    <a:lnTo>
                      <a:pt x="47" y="53"/>
                    </a:lnTo>
                    <a:lnTo>
                      <a:pt x="49" y="52"/>
                    </a:lnTo>
                    <a:lnTo>
                      <a:pt x="50" y="52"/>
                    </a:lnTo>
                    <a:lnTo>
                      <a:pt x="52" y="50"/>
                    </a:lnTo>
                    <a:lnTo>
                      <a:pt x="52" y="49"/>
                    </a:lnTo>
                    <a:lnTo>
                      <a:pt x="53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6"/>
                    </a:lnTo>
                    <a:lnTo>
                      <a:pt x="56" y="15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2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7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7" y="4"/>
                    </a:lnTo>
                    <a:lnTo>
                      <a:pt x="46" y="4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3" y="4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7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7" y="47"/>
                    </a:lnTo>
                    <a:lnTo>
                      <a:pt x="9" y="49"/>
                    </a:lnTo>
                    <a:lnTo>
                      <a:pt x="9" y="50"/>
                    </a:lnTo>
                    <a:lnTo>
                      <a:pt x="10" y="52"/>
                    </a:lnTo>
                    <a:lnTo>
                      <a:pt x="12" y="52"/>
                    </a:lnTo>
                    <a:lnTo>
                      <a:pt x="13" y="53"/>
                    </a:lnTo>
                    <a:lnTo>
                      <a:pt x="13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4" name="Freeform 16"/>
              <p:cNvSpPr>
                <a:spLocks/>
              </p:cNvSpPr>
              <p:nvPr/>
            </p:nvSpPr>
            <p:spPr bwMode="auto">
              <a:xfrm>
                <a:off x="2948" y="1019"/>
                <a:ext cx="24" cy="24"/>
              </a:xfrm>
              <a:custGeom>
                <a:avLst/>
                <a:gdLst>
                  <a:gd name="T0" fmla="*/ 40 w 72"/>
                  <a:gd name="T1" fmla="*/ 72 h 72"/>
                  <a:gd name="T2" fmla="*/ 46 w 72"/>
                  <a:gd name="T3" fmla="*/ 72 h 72"/>
                  <a:gd name="T4" fmla="*/ 50 w 72"/>
                  <a:gd name="T5" fmla="*/ 69 h 72"/>
                  <a:gd name="T6" fmla="*/ 55 w 72"/>
                  <a:gd name="T7" fmla="*/ 68 h 72"/>
                  <a:gd name="T8" fmla="*/ 59 w 72"/>
                  <a:gd name="T9" fmla="*/ 65 h 72"/>
                  <a:gd name="T10" fmla="*/ 63 w 72"/>
                  <a:gd name="T11" fmla="*/ 60 h 72"/>
                  <a:gd name="T12" fmla="*/ 66 w 72"/>
                  <a:gd name="T13" fmla="*/ 57 h 72"/>
                  <a:gd name="T14" fmla="*/ 69 w 72"/>
                  <a:gd name="T15" fmla="*/ 51 h 72"/>
                  <a:gd name="T16" fmla="*/ 71 w 72"/>
                  <a:gd name="T17" fmla="*/ 47 h 72"/>
                  <a:gd name="T18" fmla="*/ 72 w 72"/>
                  <a:gd name="T19" fmla="*/ 43 h 72"/>
                  <a:gd name="T20" fmla="*/ 72 w 72"/>
                  <a:gd name="T21" fmla="*/ 37 h 72"/>
                  <a:gd name="T22" fmla="*/ 72 w 72"/>
                  <a:gd name="T23" fmla="*/ 32 h 72"/>
                  <a:gd name="T24" fmla="*/ 71 w 72"/>
                  <a:gd name="T25" fmla="*/ 28 h 72"/>
                  <a:gd name="T26" fmla="*/ 69 w 72"/>
                  <a:gd name="T27" fmla="*/ 22 h 72"/>
                  <a:gd name="T28" fmla="*/ 68 w 72"/>
                  <a:gd name="T29" fmla="*/ 17 h 72"/>
                  <a:gd name="T30" fmla="*/ 65 w 72"/>
                  <a:gd name="T31" fmla="*/ 13 h 72"/>
                  <a:gd name="T32" fmla="*/ 60 w 72"/>
                  <a:gd name="T33" fmla="*/ 10 h 72"/>
                  <a:gd name="T34" fmla="*/ 56 w 72"/>
                  <a:gd name="T35" fmla="*/ 7 h 72"/>
                  <a:gd name="T36" fmla="*/ 52 w 72"/>
                  <a:gd name="T37" fmla="*/ 4 h 72"/>
                  <a:gd name="T38" fmla="*/ 47 w 72"/>
                  <a:gd name="T39" fmla="*/ 3 h 72"/>
                  <a:gd name="T40" fmla="*/ 41 w 72"/>
                  <a:gd name="T41" fmla="*/ 1 h 72"/>
                  <a:gd name="T42" fmla="*/ 37 w 72"/>
                  <a:gd name="T43" fmla="*/ 0 h 72"/>
                  <a:gd name="T44" fmla="*/ 32 w 72"/>
                  <a:gd name="T45" fmla="*/ 1 h 72"/>
                  <a:gd name="T46" fmla="*/ 28 w 72"/>
                  <a:gd name="T47" fmla="*/ 1 h 72"/>
                  <a:gd name="T48" fmla="*/ 22 w 72"/>
                  <a:gd name="T49" fmla="*/ 3 h 72"/>
                  <a:gd name="T50" fmla="*/ 18 w 72"/>
                  <a:gd name="T51" fmla="*/ 6 h 72"/>
                  <a:gd name="T52" fmla="*/ 13 w 72"/>
                  <a:gd name="T53" fmla="*/ 9 h 72"/>
                  <a:gd name="T54" fmla="*/ 10 w 72"/>
                  <a:gd name="T55" fmla="*/ 11 h 72"/>
                  <a:gd name="T56" fmla="*/ 6 w 72"/>
                  <a:gd name="T57" fmla="*/ 16 h 72"/>
                  <a:gd name="T58" fmla="*/ 4 w 72"/>
                  <a:gd name="T59" fmla="*/ 20 h 72"/>
                  <a:gd name="T60" fmla="*/ 1 w 72"/>
                  <a:gd name="T61" fmla="*/ 26 h 72"/>
                  <a:gd name="T62" fmla="*/ 1 w 72"/>
                  <a:gd name="T63" fmla="*/ 31 h 72"/>
                  <a:gd name="T64" fmla="*/ 0 w 72"/>
                  <a:gd name="T65" fmla="*/ 37 h 72"/>
                  <a:gd name="T66" fmla="*/ 0 w 72"/>
                  <a:gd name="T67" fmla="*/ 40 h 72"/>
                  <a:gd name="T68" fmla="*/ 1 w 72"/>
                  <a:gd name="T69" fmla="*/ 46 h 72"/>
                  <a:gd name="T70" fmla="*/ 3 w 72"/>
                  <a:gd name="T71" fmla="*/ 50 h 72"/>
                  <a:gd name="T72" fmla="*/ 6 w 72"/>
                  <a:gd name="T73" fmla="*/ 56 h 72"/>
                  <a:gd name="T74" fmla="*/ 9 w 72"/>
                  <a:gd name="T75" fmla="*/ 59 h 72"/>
                  <a:gd name="T76" fmla="*/ 12 w 72"/>
                  <a:gd name="T77" fmla="*/ 63 h 72"/>
                  <a:gd name="T78" fmla="*/ 16 w 72"/>
                  <a:gd name="T79" fmla="*/ 66 h 72"/>
                  <a:gd name="T80" fmla="*/ 21 w 72"/>
                  <a:gd name="T81" fmla="*/ 69 h 72"/>
                  <a:gd name="T82" fmla="*/ 25 w 72"/>
                  <a:gd name="T83" fmla="*/ 71 h 72"/>
                  <a:gd name="T84" fmla="*/ 31 w 72"/>
                  <a:gd name="T85" fmla="*/ 72 h 72"/>
                  <a:gd name="T86" fmla="*/ 37 w 72"/>
                  <a:gd name="T87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72">
                    <a:moveTo>
                      <a:pt x="37" y="72"/>
                    </a:moveTo>
                    <a:lnTo>
                      <a:pt x="38" y="72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4" y="72"/>
                    </a:lnTo>
                    <a:lnTo>
                      <a:pt x="46" y="72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69"/>
                    </a:lnTo>
                    <a:lnTo>
                      <a:pt x="52" y="69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0" y="63"/>
                    </a:lnTo>
                    <a:lnTo>
                      <a:pt x="62" y="62"/>
                    </a:lnTo>
                    <a:lnTo>
                      <a:pt x="63" y="60"/>
                    </a:lnTo>
                    <a:lnTo>
                      <a:pt x="65" y="59"/>
                    </a:lnTo>
                    <a:lnTo>
                      <a:pt x="65" y="57"/>
                    </a:lnTo>
                    <a:lnTo>
                      <a:pt x="66" y="57"/>
                    </a:lnTo>
                    <a:lnTo>
                      <a:pt x="68" y="56"/>
                    </a:lnTo>
                    <a:lnTo>
                      <a:pt x="68" y="54"/>
                    </a:lnTo>
                    <a:lnTo>
                      <a:pt x="69" y="51"/>
                    </a:lnTo>
                    <a:lnTo>
                      <a:pt x="69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2" y="44"/>
                    </a:lnTo>
                    <a:lnTo>
                      <a:pt x="72" y="43"/>
                    </a:lnTo>
                    <a:lnTo>
                      <a:pt x="72" y="40"/>
                    </a:lnTo>
                    <a:lnTo>
                      <a:pt x="72" y="38"/>
                    </a:lnTo>
                    <a:lnTo>
                      <a:pt x="72" y="37"/>
                    </a:lnTo>
                    <a:lnTo>
                      <a:pt x="72" y="37"/>
                    </a:lnTo>
                    <a:lnTo>
                      <a:pt x="72" y="35"/>
                    </a:lnTo>
                    <a:lnTo>
                      <a:pt x="72" y="32"/>
                    </a:lnTo>
                    <a:lnTo>
                      <a:pt x="72" y="31"/>
                    </a:lnTo>
                    <a:lnTo>
                      <a:pt x="72" y="29"/>
                    </a:lnTo>
                    <a:lnTo>
                      <a:pt x="71" y="28"/>
                    </a:lnTo>
                    <a:lnTo>
                      <a:pt x="71" y="26"/>
                    </a:lnTo>
                    <a:lnTo>
                      <a:pt x="71" y="25"/>
                    </a:lnTo>
                    <a:lnTo>
                      <a:pt x="69" y="22"/>
                    </a:lnTo>
                    <a:lnTo>
                      <a:pt x="69" y="20"/>
                    </a:lnTo>
                    <a:lnTo>
                      <a:pt x="68" y="19"/>
                    </a:lnTo>
                    <a:lnTo>
                      <a:pt x="68" y="17"/>
                    </a:lnTo>
                    <a:lnTo>
                      <a:pt x="66" y="16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3" y="11"/>
                    </a:lnTo>
                    <a:lnTo>
                      <a:pt x="62" y="11"/>
                    </a:lnTo>
                    <a:lnTo>
                      <a:pt x="60" y="10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1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29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8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3"/>
                    </a:lnTo>
                    <a:lnTo>
                      <a:pt x="7" y="14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7" y="57"/>
                    </a:lnTo>
                    <a:lnTo>
                      <a:pt x="9" y="59"/>
                    </a:lnTo>
                    <a:lnTo>
                      <a:pt x="10" y="60"/>
                    </a:lnTo>
                    <a:lnTo>
                      <a:pt x="10" y="62"/>
                    </a:lnTo>
                    <a:lnTo>
                      <a:pt x="12" y="63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6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69"/>
                    </a:lnTo>
                    <a:lnTo>
                      <a:pt x="22" y="69"/>
                    </a:lnTo>
                    <a:lnTo>
                      <a:pt x="23" y="71"/>
                    </a:lnTo>
                    <a:lnTo>
                      <a:pt x="25" y="71"/>
                    </a:lnTo>
                    <a:lnTo>
                      <a:pt x="28" y="72"/>
                    </a:lnTo>
                    <a:lnTo>
                      <a:pt x="29" y="72"/>
                    </a:lnTo>
                    <a:lnTo>
                      <a:pt x="31" y="72"/>
                    </a:lnTo>
                    <a:lnTo>
                      <a:pt x="32" y="72"/>
                    </a:lnTo>
                    <a:lnTo>
                      <a:pt x="34" y="72"/>
                    </a:lnTo>
                    <a:lnTo>
                      <a:pt x="37" y="72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5" name="Freeform 17"/>
              <p:cNvSpPr>
                <a:spLocks/>
              </p:cNvSpPr>
              <p:nvPr/>
            </p:nvSpPr>
            <p:spPr bwMode="auto">
              <a:xfrm>
                <a:off x="2944" y="966"/>
                <a:ext cx="20" cy="20"/>
              </a:xfrm>
              <a:custGeom>
                <a:avLst/>
                <a:gdLst>
                  <a:gd name="T0" fmla="*/ 33 w 59"/>
                  <a:gd name="T1" fmla="*/ 59 h 59"/>
                  <a:gd name="T2" fmla="*/ 37 w 59"/>
                  <a:gd name="T3" fmla="*/ 58 h 59"/>
                  <a:gd name="T4" fmla="*/ 40 w 59"/>
                  <a:gd name="T5" fmla="*/ 56 h 59"/>
                  <a:gd name="T6" fmla="*/ 44 w 59"/>
                  <a:gd name="T7" fmla="*/ 55 h 59"/>
                  <a:gd name="T8" fmla="*/ 47 w 59"/>
                  <a:gd name="T9" fmla="*/ 54 h 59"/>
                  <a:gd name="T10" fmla="*/ 52 w 59"/>
                  <a:gd name="T11" fmla="*/ 51 h 59"/>
                  <a:gd name="T12" fmla="*/ 55 w 59"/>
                  <a:gd name="T13" fmla="*/ 48 h 59"/>
                  <a:gd name="T14" fmla="*/ 56 w 59"/>
                  <a:gd name="T15" fmla="*/ 43 h 59"/>
                  <a:gd name="T16" fmla="*/ 58 w 59"/>
                  <a:gd name="T17" fmla="*/ 40 h 59"/>
                  <a:gd name="T18" fmla="*/ 59 w 59"/>
                  <a:gd name="T19" fmla="*/ 36 h 59"/>
                  <a:gd name="T20" fmla="*/ 59 w 59"/>
                  <a:gd name="T21" fmla="*/ 31 h 59"/>
                  <a:gd name="T22" fmla="*/ 59 w 59"/>
                  <a:gd name="T23" fmla="*/ 28 h 59"/>
                  <a:gd name="T24" fmla="*/ 59 w 59"/>
                  <a:gd name="T25" fmla="*/ 24 h 59"/>
                  <a:gd name="T26" fmla="*/ 58 w 59"/>
                  <a:gd name="T27" fmla="*/ 19 h 59"/>
                  <a:gd name="T28" fmla="*/ 56 w 59"/>
                  <a:gd name="T29" fmla="*/ 15 h 59"/>
                  <a:gd name="T30" fmla="*/ 55 w 59"/>
                  <a:gd name="T31" fmla="*/ 12 h 59"/>
                  <a:gd name="T32" fmla="*/ 52 w 59"/>
                  <a:gd name="T33" fmla="*/ 9 h 59"/>
                  <a:gd name="T34" fmla="*/ 47 w 59"/>
                  <a:gd name="T35" fmla="*/ 6 h 59"/>
                  <a:gd name="T36" fmla="*/ 44 w 59"/>
                  <a:gd name="T37" fmla="*/ 3 h 59"/>
                  <a:gd name="T38" fmla="*/ 40 w 59"/>
                  <a:gd name="T39" fmla="*/ 2 h 59"/>
                  <a:gd name="T40" fmla="*/ 37 w 59"/>
                  <a:gd name="T41" fmla="*/ 0 h 59"/>
                  <a:gd name="T42" fmla="*/ 33 w 59"/>
                  <a:gd name="T43" fmla="*/ 0 h 59"/>
                  <a:gd name="T44" fmla="*/ 28 w 59"/>
                  <a:gd name="T45" fmla="*/ 0 h 59"/>
                  <a:gd name="T46" fmla="*/ 24 w 59"/>
                  <a:gd name="T47" fmla="*/ 0 h 59"/>
                  <a:gd name="T48" fmla="*/ 21 w 59"/>
                  <a:gd name="T49" fmla="*/ 2 h 59"/>
                  <a:gd name="T50" fmla="*/ 16 w 59"/>
                  <a:gd name="T51" fmla="*/ 3 h 59"/>
                  <a:gd name="T52" fmla="*/ 13 w 59"/>
                  <a:gd name="T53" fmla="*/ 6 h 59"/>
                  <a:gd name="T54" fmla="*/ 9 w 59"/>
                  <a:gd name="T55" fmla="*/ 9 h 59"/>
                  <a:gd name="T56" fmla="*/ 6 w 59"/>
                  <a:gd name="T57" fmla="*/ 12 h 59"/>
                  <a:gd name="T58" fmla="*/ 4 w 59"/>
                  <a:gd name="T59" fmla="*/ 15 h 59"/>
                  <a:gd name="T60" fmla="*/ 3 w 59"/>
                  <a:gd name="T61" fmla="*/ 19 h 59"/>
                  <a:gd name="T62" fmla="*/ 1 w 59"/>
                  <a:gd name="T63" fmla="*/ 24 h 59"/>
                  <a:gd name="T64" fmla="*/ 1 w 59"/>
                  <a:gd name="T65" fmla="*/ 28 h 59"/>
                  <a:gd name="T66" fmla="*/ 1 w 59"/>
                  <a:gd name="T67" fmla="*/ 31 h 59"/>
                  <a:gd name="T68" fmla="*/ 1 w 59"/>
                  <a:gd name="T69" fmla="*/ 36 h 59"/>
                  <a:gd name="T70" fmla="*/ 3 w 59"/>
                  <a:gd name="T71" fmla="*/ 40 h 59"/>
                  <a:gd name="T72" fmla="*/ 4 w 59"/>
                  <a:gd name="T73" fmla="*/ 43 h 59"/>
                  <a:gd name="T74" fmla="*/ 6 w 59"/>
                  <a:gd name="T75" fmla="*/ 48 h 59"/>
                  <a:gd name="T76" fmla="*/ 9 w 59"/>
                  <a:gd name="T77" fmla="*/ 51 h 59"/>
                  <a:gd name="T78" fmla="*/ 13 w 59"/>
                  <a:gd name="T79" fmla="*/ 54 h 59"/>
                  <a:gd name="T80" fmla="*/ 16 w 59"/>
                  <a:gd name="T81" fmla="*/ 55 h 59"/>
                  <a:gd name="T82" fmla="*/ 21 w 59"/>
                  <a:gd name="T83" fmla="*/ 56 h 59"/>
                  <a:gd name="T84" fmla="*/ 24 w 59"/>
                  <a:gd name="T85" fmla="*/ 58 h 59"/>
                  <a:gd name="T86" fmla="*/ 28 w 59"/>
                  <a:gd name="T87" fmla="*/ 59 h 59"/>
                  <a:gd name="T88" fmla="*/ 30 w 59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7" y="54"/>
                    </a:lnTo>
                    <a:lnTo>
                      <a:pt x="47" y="54"/>
                    </a:lnTo>
                    <a:lnTo>
                      <a:pt x="49" y="52"/>
                    </a:lnTo>
                    <a:lnTo>
                      <a:pt x="50" y="52"/>
                    </a:lnTo>
                    <a:lnTo>
                      <a:pt x="52" y="51"/>
                    </a:lnTo>
                    <a:lnTo>
                      <a:pt x="52" y="49"/>
                    </a:lnTo>
                    <a:lnTo>
                      <a:pt x="53" y="48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7"/>
                    </a:lnTo>
                    <a:lnTo>
                      <a:pt x="56" y="15"/>
                    </a:lnTo>
                    <a:lnTo>
                      <a:pt x="56" y="14"/>
                    </a:lnTo>
                    <a:lnTo>
                      <a:pt x="55" y="14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8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7" y="5"/>
                    </a:lnTo>
                    <a:lnTo>
                      <a:pt x="46" y="5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7" y="11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6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7" y="48"/>
                    </a:lnTo>
                    <a:lnTo>
                      <a:pt x="9" y="49"/>
                    </a:lnTo>
                    <a:lnTo>
                      <a:pt x="9" y="51"/>
                    </a:lnTo>
                    <a:lnTo>
                      <a:pt x="10" y="52"/>
                    </a:lnTo>
                    <a:lnTo>
                      <a:pt x="12" y="52"/>
                    </a:lnTo>
                    <a:lnTo>
                      <a:pt x="13" y="54"/>
                    </a:lnTo>
                    <a:lnTo>
                      <a:pt x="13" y="54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6" name="Freeform 18"/>
              <p:cNvSpPr>
                <a:spLocks/>
              </p:cNvSpPr>
              <p:nvPr/>
            </p:nvSpPr>
            <p:spPr bwMode="auto">
              <a:xfrm>
                <a:off x="2948" y="960"/>
                <a:ext cx="24" cy="24"/>
              </a:xfrm>
              <a:custGeom>
                <a:avLst/>
                <a:gdLst>
                  <a:gd name="T0" fmla="*/ 40 w 72"/>
                  <a:gd name="T1" fmla="*/ 73 h 73"/>
                  <a:gd name="T2" fmla="*/ 46 w 72"/>
                  <a:gd name="T3" fmla="*/ 73 h 73"/>
                  <a:gd name="T4" fmla="*/ 50 w 72"/>
                  <a:gd name="T5" fmla="*/ 70 h 73"/>
                  <a:gd name="T6" fmla="*/ 55 w 72"/>
                  <a:gd name="T7" fmla="*/ 68 h 73"/>
                  <a:gd name="T8" fmla="*/ 59 w 72"/>
                  <a:gd name="T9" fmla="*/ 65 h 73"/>
                  <a:gd name="T10" fmla="*/ 63 w 72"/>
                  <a:gd name="T11" fmla="*/ 61 h 73"/>
                  <a:gd name="T12" fmla="*/ 66 w 72"/>
                  <a:gd name="T13" fmla="*/ 58 h 73"/>
                  <a:gd name="T14" fmla="*/ 69 w 72"/>
                  <a:gd name="T15" fmla="*/ 52 h 73"/>
                  <a:gd name="T16" fmla="*/ 71 w 72"/>
                  <a:gd name="T17" fmla="*/ 47 h 73"/>
                  <a:gd name="T18" fmla="*/ 72 w 72"/>
                  <a:gd name="T19" fmla="*/ 43 h 73"/>
                  <a:gd name="T20" fmla="*/ 72 w 72"/>
                  <a:gd name="T21" fmla="*/ 37 h 73"/>
                  <a:gd name="T22" fmla="*/ 72 w 72"/>
                  <a:gd name="T23" fmla="*/ 33 h 73"/>
                  <a:gd name="T24" fmla="*/ 71 w 72"/>
                  <a:gd name="T25" fmla="*/ 28 h 73"/>
                  <a:gd name="T26" fmla="*/ 69 w 72"/>
                  <a:gd name="T27" fmla="*/ 22 h 73"/>
                  <a:gd name="T28" fmla="*/ 68 w 72"/>
                  <a:gd name="T29" fmla="*/ 18 h 73"/>
                  <a:gd name="T30" fmla="*/ 65 w 72"/>
                  <a:gd name="T31" fmla="*/ 13 h 73"/>
                  <a:gd name="T32" fmla="*/ 60 w 72"/>
                  <a:gd name="T33" fmla="*/ 10 h 73"/>
                  <a:gd name="T34" fmla="*/ 56 w 72"/>
                  <a:gd name="T35" fmla="*/ 7 h 73"/>
                  <a:gd name="T36" fmla="*/ 52 w 72"/>
                  <a:gd name="T37" fmla="*/ 4 h 73"/>
                  <a:gd name="T38" fmla="*/ 47 w 72"/>
                  <a:gd name="T39" fmla="*/ 3 h 73"/>
                  <a:gd name="T40" fmla="*/ 41 w 72"/>
                  <a:gd name="T41" fmla="*/ 1 h 73"/>
                  <a:gd name="T42" fmla="*/ 37 w 72"/>
                  <a:gd name="T43" fmla="*/ 0 h 73"/>
                  <a:gd name="T44" fmla="*/ 32 w 72"/>
                  <a:gd name="T45" fmla="*/ 1 h 73"/>
                  <a:gd name="T46" fmla="*/ 28 w 72"/>
                  <a:gd name="T47" fmla="*/ 1 h 73"/>
                  <a:gd name="T48" fmla="*/ 22 w 72"/>
                  <a:gd name="T49" fmla="*/ 3 h 73"/>
                  <a:gd name="T50" fmla="*/ 18 w 72"/>
                  <a:gd name="T51" fmla="*/ 6 h 73"/>
                  <a:gd name="T52" fmla="*/ 13 w 72"/>
                  <a:gd name="T53" fmla="*/ 9 h 73"/>
                  <a:gd name="T54" fmla="*/ 10 w 72"/>
                  <a:gd name="T55" fmla="*/ 12 h 73"/>
                  <a:gd name="T56" fmla="*/ 6 w 72"/>
                  <a:gd name="T57" fmla="*/ 16 h 73"/>
                  <a:gd name="T58" fmla="*/ 4 w 72"/>
                  <a:gd name="T59" fmla="*/ 21 h 73"/>
                  <a:gd name="T60" fmla="*/ 1 w 72"/>
                  <a:gd name="T61" fmla="*/ 27 h 73"/>
                  <a:gd name="T62" fmla="*/ 1 w 72"/>
                  <a:gd name="T63" fmla="*/ 31 h 73"/>
                  <a:gd name="T64" fmla="*/ 0 w 72"/>
                  <a:gd name="T65" fmla="*/ 37 h 73"/>
                  <a:gd name="T66" fmla="*/ 0 w 72"/>
                  <a:gd name="T67" fmla="*/ 40 h 73"/>
                  <a:gd name="T68" fmla="*/ 1 w 72"/>
                  <a:gd name="T69" fmla="*/ 46 h 73"/>
                  <a:gd name="T70" fmla="*/ 3 w 72"/>
                  <a:gd name="T71" fmla="*/ 50 h 73"/>
                  <a:gd name="T72" fmla="*/ 6 w 72"/>
                  <a:gd name="T73" fmla="*/ 56 h 73"/>
                  <a:gd name="T74" fmla="*/ 9 w 72"/>
                  <a:gd name="T75" fmla="*/ 59 h 73"/>
                  <a:gd name="T76" fmla="*/ 12 w 72"/>
                  <a:gd name="T77" fmla="*/ 64 h 73"/>
                  <a:gd name="T78" fmla="*/ 16 w 72"/>
                  <a:gd name="T79" fmla="*/ 67 h 73"/>
                  <a:gd name="T80" fmla="*/ 21 w 72"/>
                  <a:gd name="T81" fmla="*/ 70 h 73"/>
                  <a:gd name="T82" fmla="*/ 25 w 72"/>
                  <a:gd name="T83" fmla="*/ 71 h 73"/>
                  <a:gd name="T84" fmla="*/ 31 w 72"/>
                  <a:gd name="T85" fmla="*/ 73 h 73"/>
                  <a:gd name="T86" fmla="*/ 37 w 72"/>
                  <a:gd name="T8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73">
                    <a:moveTo>
                      <a:pt x="37" y="73"/>
                    </a:moveTo>
                    <a:lnTo>
                      <a:pt x="38" y="73"/>
                    </a:lnTo>
                    <a:lnTo>
                      <a:pt x="40" y="73"/>
                    </a:lnTo>
                    <a:lnTo>
                      <a:pt x="41" y="73"/>
                    </a:lnTo>
                    <a:lnTo>
                      <a:pt x="44" y="73"/>
                    </a:lnTo>
                    <a:lnTo>
                      <a:pt x="46" y="73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0" y="64"/>
                    </a:lnTo>
                    <a:lnTo>
                      <a:pt x="62" y="62"/>
                    </a:lnTo>
                    <a:lnTo>
                      <a:pt x="63" y="61"/>
                    </a:lnTo>
                    <a:lnTo>
                      <a:pt x="65" y="59"/>
                    </a:lnTo>
                    <a:lnTo>
                      <a:pt x="65" y="58"/>
                    </a:lnTo>
                    <a:lnTo>
                      <a:pt x="66" y="58"/>
                    </a:lnTo>
                    <a:lnTo>
                      <a:pt x="68" y="56"/>
                    </a:lnTo>
                    <a:lnTo>
                      <a:pt x="68" y="55"/>
                    </a:lnTo>
                    <a:lnTo>
                      <a:pt x="69" y="52"/>
                    </a:lnTo>
                    <a:lnTo>
                      <a:pt x="69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2" y="44"/>
                    </a:lnTo>
                    <a:lnTo>
                      <a:pt x="72" y="43"/>
                    </a:lnTo>
                    <a:lnTo>
                      <a:pt x="72" y="40"/>
                    </a:lnTo>
                    <a:lnTo>
                      <a:pt x="72" y="38"/>
                    </a:lnTo>
                    <a:lnTo>
                      <a:pt x="72" y="37"/>
                    </a:lnTo>
                    <a:lnTo>
                      <a:pt x="72" y="37"/>
                    </a:lnTo>
                    <a:lnTo>
                      <a:pt x="72" y="36"/>
                    </a:lnTo>
                    <a:lnTo>
                      <a:pt x="72" y="33"/>
                    </a:lnTo>
                    <a:lnTo>
                      <a:pt x="72" y="31"/>
                    </a:lnTo>
                    <a:lnTo>
                      <a:pt x="72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69" y="22"/>
                    </a:lnTo>
                    <a:lnTo>
                      <a:pt x="69" y="21"/>
                    </a:lnTo>
                    <a:lnTo>
                      <a:pt x="68" y="19"/>
                    </a:lnTo>
                    <a:lnTo>
                      <a:pt x="68" y="18"/>
                    </a:lnTo>
                    <a:lnTo>
                      <a:pt x="66" y="16"/>
                    </a:lnTo>
                    <a:lnTo>
                      <a:pt x="65" y="15"/>
                    </a:lnTo>
                    <a:lnTo>
                      <a:pt x="65" y="13"/>
                    </a:lnTo>
                    <a:lnTo>
                      <a:pt x="63" y="12"/>
                    </a:lnTo>
                    <a:lnTo>
                      <a:pt x="62" y="12"/>
                    </a:lnTo>
                    <a:lnTo>
                      <a:pt x="60" y="10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1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29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8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3"/>
                    </a:lnTo>
                    <a:lnTo>
                      <a:pt x="7" y="15"/>
                    </a:lnTo>
                    <a:lnTo>
                      <a:pt x="6" y="16"/>
                    </a:lnTo>
                    <a:lnTo>
                      <a:pt x="6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6" y="56"/>
                    </a:lnTo>
                    <a:lnTo>
                      <a:pt x="6" y="58"/>
                    </a:lnTo>
                    <a:lnTo>
                      <a:pt x="7" y="58"/>
                    </a:lnTo>
                    <a:lnTo>
                      <a:pt x="9" y="59"/>
                    </a:lnTo>
                    <a:lnTo>
                      <a:pt x="10" y="61"/>
                    </a:lnTo>
                    <a:lnTo>
                      <a:pt x="10" y="62"/>
                    </a:lnTo>
                    <a:lnTo>
                      <a:pt x="12" y="64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70"/>
                    </a:lnTo>
                    <a:lnTo>
                      <a:pt x="22" y="70"/>
                    </a:lnTo>
                    <a:lnTo>
                      <a:pt x="23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29" y="73"/>
                    </a:lnTo>
                    <a:lnTo>
                      <a:pt x="31" y="73"/>
                    </a:lnTo>
                    <a:lnTo>
                      <a:pt x="32" y="73"/>
                    </a:lnTo>
                    <a:lnTo>
                      <a:pt x="34" y="73"/>
                    </a:lnTo>
                    <a:lnTo>
                      <a:pt x="37" y="73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7" name="Line 19"/>
              <p:cNvSpPr>
                <a:spLocks noChangeShapeType="1"/>
              </p:cNvSpPr>
              <p:nvPr/>
            </p:nvSpPr>
            <p:spPr bwMode="auto">
              <a:xfrm flipH="1">
                <a:off x="1364" y="887"/>
                <a:ext cx="3150" cy="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8" name="Line 20"/>
              <p:cNvSpPr>
                <a:spLocks noChangeShapeType="1"/>
              </p:cNvSpPr>
              <p:nvPr/>
            </p:nvSpPr>
            <p:spPr bwMode="auto">
              <a:xfrm>
                <a:off x="1740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99" name="Line 21"/>
              <p:cNvSpPr>
                <a:spLocks noChangeShapeType="1"/>
              </p:cNvSpPr>
              <p:nvPr/>
            </p:nvSpPr>
            <p:spPr bwMode="auto">
              <a:xfrm>
                <a:off x="1937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0" name="Line 22"/>
              <p:cNvSpPr>
                <a:spLocks noChangeShapeType="1"/>
              </p:cNvSpPr>
              <p:nvPr/>
            </p:nvSpPr>
            <p:spPr bwMode="auto">
              <a:xfrm>
                <a:off x="2273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1" name="Line 23"/>
              <p:cNvSpPr>
                <a:spLocks noChangeShapeType="1"/>
              </p:cNvSpPr>
              <p:nvPr/>
            </p:nvSpPr>
            <p:spPr bwMode="auto">
              <a:xfrm flipH="1">
                <a:off x="1809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2" name="Line 24"/>
              <p:cNvSpPr>
                <a:spLocks noChangeShapeType="1"/>
              </p:cNvSpPr>
              <p:nvPr/>
            </p:nvSpPr>
            <p:spPr bwMode="auto">
              <a:xfrm flipH="1" flipV="1">
                <a:off x="1809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3" name="Line 25"/>
              <p:cNvSpPr>
                <a:spLocks noChangeShapeType="1"/>
              </p:cNvSpPr>
              <p:nvPr/>
            </p:nvSpPr>
            <p:spPr bwMode="auto">
              <a:xfrm flipH="1">
                <a:off x="1611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4" name="Line 26"/>
              <p:cNvSpPr>
                <a:spLocks noChangeShapeType="1"/>
              </p:cNvSpPr>
              <p:nvPr/>
            </p:nvSpPr>
            <p:spPr bwMode="auto">
              <a:xfrm flipH="1" flipV="1">
                <a:off x="1611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5" name="Line 27"/>
              <p:cNvSpPr>
                <a:spLocks noChangeShapeType="1"/>
              </p:cNvSpPr>
              <p:nvPr/>
            </p:nvSpPr>
            <p:spPr bwMode="auto">
              <a:xfrm flipH="1">
                <a:off x="1611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6" name="Line 28"/>
              <p:cNvSpPr>
                <a:spLocks noChangeShapeType="1"/>
              </p:cNvSpPr>
              <p:nvPr/>
            </p:nvSpPr>
            <p:spPr bwMode="auto">
              <a:xfrm flipH="1" flipV="1">
                <a:off x="1611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7" name="Line 29"/>
              <p:cNvSpPr>
                <a:spLocks noChangeShapeType="1"/>
              </p:cNvSpPr>
              <p:nvPr/>
            </p:nvSpPr>
            <p:spPr bwMode="auto">
              <a:xfrm flipH="1">
                <a:off x="1710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8" name="Line 30"/>
              <p:cNvSpPr>
                <a:spLocks noChangeShapeType="1"/>
              </p:cNvSpPr>
              <p:nvPr/>
            </p:nvSpPr>
            <p:spPr bwMode="auto">
              <a:xfrm flipH="1" flipV="1">
                <a:off x="1710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09" name="Line 31"/>
              <p:cNvSpPr>
                <a:spLocks noChangeShapeType="1"/>
              </p:cNvSpPr>
              <p:nvPr/>
            </p:nvSpPr>
            <p:spPr bwMode="auto">
              <a:xfrm flipH="1">
                <a:off x="1809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0" name="Line 32"/>
              <p:cNvSpPr>
                <a:spLocks noChangeShapeType="1"/>
              </p:cNvSpPr>
              <p:nvPr/>
            </p:nvSpPr>
            <p:spPr bwMode="auto">
              <a:xfrm flipH="1" flipV="1">
                <a:off x="1809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1" name="Line 33"/>
              <p:cNvSpPr>
                <a:spLocks noChangeShapeType="1"/>
              </p:cNvSpPr>
              <p:nvPr/>
            </p:nvSpPr>
            <p:spPr bwMode="auto">
              <a:xfrm flipH="1">
                <a:off x="1917" y="1252"/>
                <a:ext cx="5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2" name="Line 34"/>
              <p:cNvSpPr>
                <a:spLocks noChangeShapeType="1"/>
              </p:cNvSpPr>
              <p:nvPr/>
            </p:nvSpPr>
            <p:spPr bwMode="auto">
              <a:xfrm flipH="1" flipV="1">
                <a:off x="1917" y="1252"/>
                <a:ext cx="5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3" name="Line 35"/>
              <p:cNvSpPr>
                <a:spLocks noChangeShapeType="1"/>
              </p:cNvSpPr>
              <p:nvPr/>
            </p:nvSpPr>
            <p:spPr bwMode="auto">
              <a:xfrm flipH="1">
                <a:off x="1917" y="1144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4" name="Line 36"/>
              <p:cNvSpPr>
                <a:spLocks noChangeShapeType="1"/>
              </p:cNvSpPr>
              <p:nvPr/>
            </p:nvSpPr>
            <p:spPr bwMode="auto">
              <a:xfrm flipH="1" flipV="1">
                <a:off x="1917" y="1144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5" name="Line 37"/>
              <p:cNvSpPr>
                <a:spLocks noChangeShapeType="1"/>
              </p:cNvSpPr>
              <p:nvPr/>
            </p:nvSpPr>
            <p:spPr bwMode="auto">
              <a:xfrm flipH="1">
                <a:off x="1710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6" name="Line 38"/>
              <p:cNvSpPr>
                <a:spLocks noChangeShapeType="1"/>
              </p:cNvSpPr>
              <p:nvPr/>
            </p:nvSpPr>
            <p:spPr bwMode="auto">
              <a:xfrm flipH="1" flipV="1">
                <a:off x="1710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7" name="Line 39"/>
              <p:cNvSpPr>
                <a:spLocks noChangeShapeType="1"/>
              </p:cNvSpPr>
              <p:nvPr/>
            </p:nvSpPr>
            <p:spPr bwMode="auto">
              <a:xfrm flipH="1">
                <a:off x="1611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8" name="Line 40"/>
              <p:cNvSpPr>
                <a:spLocks noChangeShapeType="1"/>
              </p:cNvSpPr>
              <p:nvPr/>
            </p:nvSpPr>
            <p:spPr bwMode="auto">
              <a:xfrm flipH="1" flipV="1">
                <a:off x="1611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19" name="Line 41"/>
              <p:cNvSpPr>
                <a:spLocks noChangeShapeType="1"/>
              </p:cNvSpPr>
              <p:nvPr/>
            </p:nvSpPr>
            <p:spPr bwMode="auto">
              <a:xfrm flipH="1">
                <a:off x="1710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0" name="Line 42"/>
              <p:cNvSpPr>
                <a:spLocks noChangeShapeType="1"/>
              </p:cNvSpPr>
              <p:nvPr/>
            </p:nvSpPr>
            <p:spPr bwMode="auto">
              <a:xfrm flipH="1" flipV="1">
                <a:off x="1710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1" name="Line 43"/>
              <p:cNvSpPr>
                <a:spLocks noChangeShapeType="1"/>
              </p:cNvSpPr>
              <p:nvPr/>
            </p:nvSpPr>
            <p:spPr bwMode="auto">
              <a:xfrm flipH="1">
                <a:off x="1809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2" name="Line 44"/>
              <p:cNvSpPr>
                <a:spLocks noChangeShapeType="1"/>
              </p:cNvSpPr>
              <p:nvPr/>
            </p:nvSpPr>
            <p:spPr bwMode="auto">
              <a:xfrm flipH="1" flipV="1">
                <a:off x="1809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3" name="Line 45"/>
              <p:cNvSpPr>
                <a:spLocks noChangeShapeType="1"/>
              </p:cNvSpPr>
              <p:nvPr/>
            </p:nvSpPr>
            <p:spPr bwMode="auto">
              <a:xfrm flipH="1">
                <a:off x="1917" y="858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4" name="Line 46"/>
              <p:cNvSpPr>
                <a:spLocks noChangeShapeType="1"/>
              </p:cNvSpPr>
              <p:nvPr/>
            </p:nvSpPr>
            <p:spPr bwMode="auto">
              <a:xfrm flipH="1" flipV="1">
                <a:off x="1917" y="858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5" name="Line 47"/>
              <p:cNvSpPr>
                <a:spLocks noChangeShapeType="1"/>
              </p:cNvSpPr>
              <p:nvPr/>
            </p:nvSpPr>
            <p:spPr bwMode="auto">
              <a:xfrm flipH="1">
                <a:off x="2144" y="1144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6" name="Line 48"/>
              <p:cNvSpPr>
                <a:spLocks noChangeShapeType="1"/>
              </p:cNvSpPr>
              <p:nvPr/>
            </p:nvSpPr>
            <p:spPr bwMode="auto">
              <a:xfrm flipH="1" flipV="1">
                <a:off x="2144" y="1144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7" name="Line 49"/>
              <p:cNvSpPr>
                <a:spLocks noChangeShapeType="1"/>
              </p:cNvSpPr>
              <p:nvPr/>
            </p:nvSpPr>
            <p:spPr bwMode="auto">
              <a:xfrm flipH="1">
                <a:off x="2253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8" name="Line 50"/>
              <p:cNvSpPr>
                <a:spLocks noChangeShapeType="1"/>
              </p:cNvSpPr>
              <p:nvPr/>
            </p:nvSpPr>
            <p:spPr bwMode="auto">
              <a:xfrm flipH="1" flipV="1">
                <a:off x="2253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29" name="Line 51"/>
              <p:cNvSpPr>
                <a:spLocks noChangeShapeType="1"/>
              </p:cNvSpPr>
              <p:nvPr/>
            </p:nvSpPr>
            <p:spPr bwMode="auto">
              <a:xfrm flipH="1">
                <a:off x="2144" y="1252"/>
                <a:ext cx="6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0" name="Line 52"/>
              <p:cNvSpPr>
                <a:spLocks noChangeShapeType="1"/>
              </p:cNvSpPr>
              <p:nvPr/>
            </p:nvSpPr>
            <p:spPr bwMode="auto">
              <a:xfrm flipH="1" flipV="1">
                <a:off x="2144" y="1252"/>
                <a:ext cx="6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1" name="Line 53"/>
              <p:cNvSpPr>
                <a:spLocks noChangeShapeType="1"/>
              </p:cNvSpPr>
              <p:nvPr/>
            </p:nvSpPr>
            <p:spPr bwMode="auto">
              <a:xfrm flipH="1">
                <a:off x="2253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2" name="Line 54"/>
              <p:cNvSpPr>
                <a:spLocks noChangeShapeType="1"/>
              </p:cNvSpPr>
              <p:nvPr/>
            </p:nvSpPr>
            <p:spPr bwMode="auto">
              <a:xfrm flipH="1" flipV="1">
                <a:off x="2253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3" name="Line 55"/>
              <p:cNvSpPr>
                <a:spLocks noChangeShapeType="1"/>
              </p:cNvSpPr>
              <p:nvPr/>
            </p:nvSpPr>
            <p:spPr bwMode="auto">
              <a:xfrm flipH="1">
                <a:off x="2144" y="858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4" name="Line 56"/>
              <p:cNvSpPr>
                <a:spLocks noChangeShapeType="1"/>
              </p:cNvSpPr>
              <p:nvPr/>
            </p:nvSpPr>
            <p:spPr bwMode="auto">
              <a:xfrm flipH="1" flipV="1">
                <a:off x="2144" y="858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5" name="Line 57"/>
              <p:cNvSpPr>
                <a:spLocks noChangeShapeType="1"/>
              </p:cNvSpPr>
              <p:nvPr/>
            </p:nvSpPr>
            <p:spPr bwMode="auto">
              <a:xfrm flipH="1">
                <a:off x="2253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6" name="Line 58"/>
              <p:cNvSpPr>
                <a:spLocks noChangeShapeType="1"/>
              </p:cNvSpPr>
              <p:nvPr/>
            </p:nvSpPr>
            <p:spPr bwMode="auto">
              <a:xfrm flipH="1" flipV="1">
                <a:off x="2253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7" name="Line 59"/>
              <p:cNvSpPr>
                <a:spLocks noChangeShapeType="1"/>
              </p:cNvSpPr>
              <p:nvPr/>
            </p:nvSpPr>
            <p:spPr bwMode="auto">
              <a:xfrm>
                <a:off x="4050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8" name="Line 60"/>
              <p:cNvSpPr>
                <a:spLocks noChangeShapeType="1"/>
              </p:cNvSpPr>
              <p:nvPr/>
            </p:nvSpPr>
            <p:spPr bwMode="auto">
              <a:xfrm>
                <a:off x="3842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39" name="Line 61"/>
              <p:cNvSpPr>
                <a:spLocks noChangeShapeType="1"/>
              </p:cNvSpPr>
              <p:nvPr/>
            </p:nvSpPr>
            <p:spPr bwMode="auto">
              <a:xfrm>
                <a:off x="4247" y="719"/>
                <a:ext cx="0" cy="622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0" name="Line 62"/>
              <p:cNvSpPr>
                <a:spLocks noChangeShapeType="1"/>
              </p:cNvSpPr>
              <p:nvPr/>
            </p:nvSpPr>
            <p:spPr bwMode="auto">
              <a:xfrm flipH="1">
                <a:off x="3813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1" name="Line 63"/>
              <p:cNvSpPr>
                <a:spLocks noChangeShapeType="1"/>
              </p:cNvSpPr>
              <p:nvPr/>
            </p:nvSpPr>
            <p:spPr bwMode="auto">
              <a:xfrm flipH="1" flipV="1">
                <a:off x="3813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2" name="Line 64"/>
              <p:cNvSpPr>
                <a:spLocks noChangeShapeType="1"/>
              </p:cNvSpPr>
              <p:nvPr/>
            </p:nvSpPr>
            <p:spPr bwMode="auto">
              <a:xfrm flipH="1">
                <a:off x="3921" y="1252"/>
                <a:ext cx="5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3" name="Line 65"/>
              <p:cNvSpPr>
                <a:spLocks noChangeShapeType="1"/>
              </p:cNvSpPr>
              <p:nvPr/>
            </p:nvSpPr>
            <p:spPr bwMode="auto">
              <a:xfrm flipH="1" flipV="1">
                <a:off x="3921" y="1252"/>
                <a:ext cx="5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4" name="Line 66"/>
              <p:cNvSpPr>
                <a:spLocks noChangeShapeType="1"/>
              </p:cNvSpPr>
              <p:nvPr/>
            </p:nvSpPr>
            <p:spPr bwMode="auto">
              <a:xfrm flipH="1">
                <a:off x="4020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5" name="Line 67"/>
              <p:cNvSpPr>
                <a:spLocks noChangeShapeType="1"/>
              </p:cNvSpPr>
              <p:nvPr/>
            </p:nvSpPr>
            <p:spPr bwMode="auto">
              <a:xfrm flipH="1" flipV="1">
                <a:off x="4020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6" name="Line 68"/>
              <p:cNvSpPr>
                <a:spLocks noChangeShapeType="1"/>
              </p:cNvSpPr>
              <p:nvPr/>
            </p:nvSpPr>
            <p:spPr bwMode="auto">
              <a:xfrm flipH="1">
                <a:off x="4119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7" name="Line 69"/>
              <p:cNvSpPr>
                <a:spLocks noChangeShapeType="1"/>
              </p:cNvSpPr>
              <p:nvPr/>
            </p:nvSpPr>
            <p:spPr bwMode="auto">
              <a:xfrm flipH="1" flipV="1">
                <a:off x="4119" y="1252"/>
                <a:ext cx="5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8" name="Line 70"/>
              <p:cNvSpPr>
                <a:spLocks noChangeShapeType="1"/>
              </p:cNvSpPr>
              <p:nvPr/>
            </p:nvSpPr>
            <p:spPr bwMode="auto">
              <a:xfrm flipH="1">
                <a:off x="4217" y="1252"/>
                <a:ext cx="6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49" name="Line 71"/>
              <p:cNvSpPr>
                <a:spLocks noChangeShapeType="1"/>
              </p:cNvSpPr>
              <p:nvPr/>
            </p:nvSpPr>
            <p:spPr bwMode="auto">
              <a:xfrm flipH="1" flipV="1">
                <a:off x="4217" y="1252"/>
                <a:ext cx="60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0" name="Line 72"/>
              <p:cNvSpPr>
                <a:spLocks noChangeShapeType="1"/>
              </p:cNvSpPr>
              <p:nvPr/>
            </p:nvSpPr>
            <p:spPr bwMode="auto">
              <a:xfrm flipH="1">
                <a:off x="4326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1" name="Line 73"/>
              <p:cNvSpPr>
                <a:spLocks noChangeShapeType="1"/>
              </p:cNvSpPr>
              <p:nvPr/>
            </p:nvSpPr>
            <p:spPr bwMode="auto">
              <a:xfrm flipH="1" flipV="1">
                <a:off x="4326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2" name="Line 74"/>
              <p:cNvSpPr>
                <a:spLocks noChangeShapeType="1"/>
              </p:cNvSpPr>
              <p:nvPr/>
            </p:nvSpPr>
            <p:spPr bwMode="auto">
              <a:xfrm flipH="1">
                <a:off x="3813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3" name="Line 75"/>
              <p:cNvSpPr>
                <a:spLocks noChangeShapeType="1"/>
              </p:cNvSpPr>
              <p:nvPr/>
            </p:nvSpPr>
            <p:spPr bwMode="auto">
              <a:xfrm flipH="1" flipV="1">
                <a:off x="3813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4" name="Line 76"/>
              <p:cNvSpPr>
                <a:spLocks noChangeShapeType="1"/>
              </p:cNvSpPr>
              <p:nvPr/>
            </p:nvSpPr>
            <p:spPr bwMode="auto">
              <a:xfrm flipH="1">
                <a:off x="3921" y="1144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5" name="Line 77"/>
              <p:cNvSpPr>
                <a:spLocks noChangeShapeType="1"/>
              </p:cNvSpPr>
              <p:nvPr/>
            </p:nvSpPr>
            <p:spPr bwMode="auto">
              <a:xfrm flipH="1" flipV="1">
                <a:off x="3921" y="1144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6" name="Line 78"/>
              <p:cNvSpPr>
                <a:spLocks noChangeShapeType="1"/>
              </p:cNvSpPr>
              <p:nvPr/>
            </p:nvSpPr>
            <p:spPr bwMode="auto">
              <a:xfrm flipH="1">
                <a:off x="4020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7" name="Line 79"/>
              <p:cNvSpPr>
                <a:spLocks noChangeShapeType="1"/>
              </p:cNvSpPr>
              <p:nvPr/>
            </p:nvSpPr>
            <p:spPr bwMode="auto">
              <a:xfrm flipH="1" flipV="1">
                <a:off x="4020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8" name="Line 80"/>
              <p:cNvSpPr>
                <a:spLocks noChangeShapeType="1"/>
              </p:cNvSpPr>
              <p:nvPr/>
            </p:nvSpPr>
            <p:spPr bwMode="auto">
              <a:xfrm flipH="1">
                <a:off x="4119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59" name="Line 81"/>
              <p:cNvSpPr>
                <a:spLocks noChangeShapeType="1"/>
              </p:cNvSpPr>
              <p:nvPr/>
            </p:nvSpPr>
            <p:spPr bwMode="auto">
              <a:xfrm flipH="1" flipV="1">
                <a:off x="4119" y="1144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0" name="Line 82"/>
              <p:cNvSpPr>
                <a:spLocks noChangeShapeType="1"/>
              </p:cNvSpPr>
              <p:nvPr/>
            </p:nvSpPr>
            <p:spPr bwMode="auto">
              <a:xfrm flipH="1">
                <a:off x="4217" y="1144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1" name="Line 83"/>
              <p:cNvSpPr>
                <a:spLocks noChangeShapeType="1"/>
              </p:cNvSpPr>
              <p:nvPr/>
            </p:nvSpPr>
            <p:spPr bwMode="auto">
              <a:xfrm flipH="1" flipV="1">
                <a:off x="4217" y="1144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2" name="Line 84"/>
              <p:cNvSpPr>
                <a:spLocks noChangeShapeType="1"/>
              </p:cNvSpPr>
              <p:nvPr/>
            </p:nvSpPr>
            <p:spPr bwMode="auto">
              <a:xfrm flipH="1">
                <a:off x="4326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3" name="Line 85"/>
              <p:cNvSpPr>
                <a:spLocks noChangeShapeType="1"/>
              </p:cNvSpPr>
              <p:nvPr/>
            </p:nvSpPr>
            <p:spPr bwMode="auto">
              <a:xfrm flipH="1" flipV="1">
                <a:off x="4326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4" name="Line 86"/>
              <p:cNvSpPr>
                <a:spLocks noChangeShapeType="1"/>
              </p:cNvSpPr>
              <p:nvPr/>
            </p:nvSpPr>
            <p:spPr bwMode="auto">
              <a:xfrm flipH="1">
                <a:off x="3813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5" name="Line 87"/>
              <p:cNvSpPr>
                <a:spLocks noChangeShapeType="1"/>
              </p:cNvSpPr>
              <p:nvPr/>
            </p:nvSpPr>
            <p:spPr bwMode="auto">
              <a:xfrm flipH="1" flipV="1">
                <a:off x="3813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6" name="Line 88"/>
              <p:cNvSpPr>
                <a:spLocks noChangeShapeType="1"/>
              </p:cNvSpPr>
              <p:nvPr/>
            </p:nvSpPr>
            <p:spPr bwMode="auto">
              <a:xfrm flipH="1">
                <a:off x="3921" y="858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7" name="Line 89"/>
              <p:cNvSpPr>
                <a:spLocks noChangeShapeType="1"/>
              </p:cNvSpPr>
              <p:nvPr/>
            </p:nvSpPr>
            <p:spPr bwMode="auto">
              <a:xfrm flipH="1" flipV="1">
                <a:off x="3921" y="858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8" name="Line 90"/>
              <p:cNvSpPr>
                <a:spLocks noChangeShapeType="1"/>
              </p:cNvSpPr>
              <p:nvPr/>
            </p:nvSpPr>
            <p:spPr bwMode="auto">
              <a:xfrm flipH="1">
                <a:off x="4020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69" name="Line 91"/>
              <p:cNvSpPr>
                <a:spLocks noChangeShapeType="1"/>
              </p:cNvSpPr>
              <p:nvPr/>
            </p:nvSpPr>
            <p:spPr bwMode="auto">
              <a:xfrm flipH="1" flipV="1">
                <a:off x="4020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0" name="Line 92"/>
              <p:cNvSpPr>
                <a:spLocks noChangeShapeType="1"/>
              </p:cNvSpPr>
              <p:nvPr/>
            </p:nvSpPr>
            <p:spPr bwMode="auto">
              <a:xfrm flipH="1">
                <a:off x="4119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1" name="Line 93"/>
              <p:cNvSpPr>
                <a:spLocks noChangeShapeType="1"/>
              </p:cNvSpPr>
              <p:nvPr/>
            </p:nvSpPr>
            <p:spPr bwMode="auto">
              <a:xfrm flipH="1" flipV="1">
                <a:off x="4119" y="858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2" name="Line 94"/>
              <p:cNvSpPr>
                <a:spLocks noChangeShapeType="1"/>
              </p:cNvSpPr>
              <p:nvPr/>
            </p:nvSpPr>
            <p:spPr bwMode="auto">
              <a:xfrm flipH="1">
                <a:off x="4217" y="858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3" name="Line 95"/>
              <p:cNvSpPr>
                <a:spLocks noChangeShapeType="1"/>
              </p:cNvSpPr>
              <p:nvPr/>
            </p:nvSpPr>
            <p:spPr bwMode="auto">
              <a:xfrm flipH="1" flipV="1">
                <a:off x="4217" y="858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4" name="Line 96"/>
              <p:cNvSpPr>
                <a:spLocks noChangeShapeType="1"/>
              </p:cNvSpPr>
              <p:nvPr/>
            </p:nvSpPr>
            <p:spPr bwMode="auto">
              <a:xfrm flipH="1">
                <a:off x="4326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5" name="Line 97"/>
              <p:cNvSpPr>
                <a:spLocks noChangeShapeType="1"/>
              </p:cNvSpPr>
              <p:nvPr/>
            </p:nvSpPr>
            <p:spPr bwMode="auto">
              <a:xfrm flipH="1" flipV="1">
                <a:off x="4326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6" name="Freeform 98"/>
              <p:cNvSpPr>
                <a:spLocks/>
              </p:cNvSpPr>
              <p:nvPr/>
            </p:nvSpPr>
            <p:spPr bwMode="auto">
              <a:xfrm>
                <a:off x="4445" y="818"/>
                <a:ext cx="197" cy="563"/>
              </a:xfrm>
              <a:custGeom>
                <a:avLst/>
                <a:gdLst>
                  <a:gd name="T0" fmla="*/ 592 w 592"/>
                  <a:gd name="T1" fmla="*/ 1688 h 1688"/>
                  <a:gd name="T2" fmla="*/ 0 w 592"/>
                  <a:gd name="T3" fmla="*/ 1688 h 1688"/>
                  <a:gd name="T4" fmla="*/ 0 w 592"/>
                  <a:gd name="T5" fmla="*/ 0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2" h="1688">
                    <a:moveTo>
                      <a:pt x="592" y="1688"/>
                    </a:moveTo>
                    <a:lnTo>
                      <a:pt x="0" y="1688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7" name="Line 99"/>
              <p:cNvSpPr>
                <a:spLocks noChangeShapeType="1"/>
              </p:cNvSpPr>
              <p:nvPr/>
            </p:nvSpPr>
            <p:spPr bwMode="auto">
              <a:xfrm flipH="1">
                <a:off x="4425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8" name="Line 100"/>
              <p:cNvSpPr>
                <a:spLocks noChangeShapeType="1"/>
              </p:cNvSpPr>
              <p:nvPr/>
            </p:nvSpPr>
            <p:spPr bwMode="auto">
              <a:xfrm flipH="1" flipV="1">
                <a:off x="4425" y="1252"/>
                <a:ext cx="49" cy="50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79" name="Line 101"/>
              <p:cNvSpPr>
                <a:spLocks noChangeShapeType="1"/>
              </p:cNvSpPr>
              <p:nvPr/>
            </p:nvSpPr>
            <p:spPr bwMode="auto">
              <a:xfrm flipH="1">
                <a:off x="4425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0" name="Line 102"/>
              <p:cNvSpPr>
                <a:spLocks noChangeShapeType="1"/>
              </p:cNvSpPr>
              <p:nvPr/>
            </p:nvSpPr>
            <p:spPr bwMode="auto">
              <a:xfrm flipH="1" flipV="1">
                <a:off x="4425" y="1144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1" name="Line 103"/>
              <p:cNvSpPr>
                <a:spLocks noChangeShapeType="1"/>
              </p:cNvSpPr>
              <p:nvPr/>
            </p:nvSpPr>
            <p:spPr bwMode="auto">
              <a:xfrm flipH="1">
                <a:off x="4425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2" name="Line 104"/>
              <p:cNvSpPr>
                <a:spLocks noChangeShapeType="1"/>
              </p:cNvSpPr>
              <p:nvPr/>
            </p:nvSpPr>
            <p:spPr bwMode="auto">
              <a:xfrm flipH="1" flipV="1">
                <a:off x="4425" y="858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3" name="Freeform 105"/>
              <p:cNvSpPr>
                <a:spLocks/>
              </p:cNvSpPr>
              <p:nvPr/>
            </p:nvSpPr>
            <p:spPr bwMode="auto">
              <a:xfrm>
                <a:off x="1404" y="1025"/>
                <a:ext cx="20" cy="20"/>
              </a:xfrm>
              <a:custGeom>
                <a:avLst/>
                <a:gdLst>
                  <a:gd name="T0" fmla="*/ 1 w 59"/>
                  <a:gd name="T1" fmla="*/ 31 h 59"/>
                  <a:gd name="T2" fmla="*/ 1 w 59"/>
                  <a:gd name="T3" fmla="*/ 35 h 59"/>
                  <a:gd name="T4" fmla="*/ 3 w 59"/>
                  <a:gd name="T5" fmla="*/ 40 h 59"/>
                  <a:gd name="T6" fmla="*/ 4 w 59"/>
                  <a:gd name="T7" fmla="*/ 43 h 59"/>
                  <a:gd name="T8" fmla="*/ 6 w 59"/>
                  <a:gd name="T9" fmla="*/ 47 h 59"/>
                  <a:gd name="T10" fmla="*/ 9 w 59"/>
                  <a:gd name="T11" fmla="*/ 50 h 59"/>
                  <a:gd name="T12" fmla="*/ 13 w 59"/>
                  <a:gd name="T13" fmla="*/ 53 h 59"/>
                  <a:gd name="T14" fmla="*/ 16 w 59"/>
                  <a:gd name="T15" fmla="*/ 55 h 59"/>
                  <a:gd name="T16" fmla="*/ 21 w 59"/>
                  <a:gd name="T17" fmla="*/ 56 h 59"/>
                  <a:gd name="T18" fmla="*/ 23 w 59"/>
                  <a:gd name="T19" fmla="*/ 58 h 59"/>
                  <a:gd name="T20" fmla="*/ 28 w 59"/>
                  <a:gd name="T21" fmla="*/ 59 h 59"/>
                  <a:gd name="T22" fmla="*/ 32 w 59"/>
                  <a:gd name="T23" fmla="*/ 59 h 59"/>
                  <a:gd name="T24" fmla="*/ 37 w 59"/>
                  <a:gd name="T25" fmla="*/ 58 h 59"/>
                  <a:gd name="T26" fmla="*/ 40 w 59"/>
                  <a:gd name="T27" fmla="*/ 56 h 59"/>
                  <a:gd name="T28" fmla="*/ 44 w 59"/>
                  <a:gd name="T29" fmla="*/ 55 h 59"/>
                  <a:gd name="T30" fmla="*/ 47 w 59"/>
                  <a:gd name="T31" fmla="*/ 53 h 59"/>
                  <a:gd name="T32" fmla="*/ 52 w 59"/>
                  <a:gd name="T33" fmla="*/ 50 h 59"/>
                  <a:gd name="T34" fmla="*/ 55 w 59"/>
                  <a:gd name="T35" fmla="*/ 47 h 59"/>
                  <a:gd name="T36" fmla="*/ 56 w 59"/>
                  <a:gd name="T37" fmla="*/ 43 h 59"/>
                  <a:gd name="T38" fmla="*/ 58 w 59"/>
                  <a:gd name="T39" fmla="*/ 40 h 59"/>
                  <a:gd name="T40" fmla="*/ 59 w 59"/>
                  <a:gd name="T41" fmla="*/ 35 h 59"/>
                  <a:gd name="T42" fmla="*/ 59 w 59"/>
                  <a:gd name="T43" fmla="*/ 31 h 59"/>
                  <a:gd name="T44" fmla="*/ 59 w 59"/>
                  <a:gd name="T45" fmla="*/ 28 h 59"/>
                  <a:gd name="T46" fmla="*/ 59 w 59"/>
                  <a:gd name="T47" fmla="*/ 24 h 59"/>
                  <a:gd name="T48" fmla="*/ 58 w 59"/>
                  <a:gd name="T49" fmla="*/ 19 h 59"/>
                  <a:gd name="T50" fmla="*/ 56 w 59"/>
                  <a:gd name="T51" fmla="*/ 15 h 59"/>
                  <a:gd name="T52" fmla="*/ 55 w 59"/>
                  <a:gd name="T53" fmla="*/ 12 h 59"/>
                  <a:gd name="T54" fmla="*/ 52 w 59"/>
                  <a:gd name="T55" fmla="*/ 9 h 59"/>
                  <a:gd name="T56" fmla="*/ 47 w 59"/>
                  <a:gd name="T57" fmla="*/ 6 h 59"/>
                  <a:gd name="T58" fmla="*/ 44 w 59"/>
                  <a:gd name="T59" fmla="*/ 3 h 59"/>
                  <a:gd name="T60" fmla="*/ 40 w 59"/>
                  <a:gd name="T61" fmla="*/ 1 h 59"/>
                  <a:gd name="T62" fmla="*/ 37 w 59"/>
                  <a:gd name="T63" fmla="*/ 0 h 59"/>
                  <a:gd name="T64" fmla="*/ 32 w 59"/>
                  <a:gd name="T65" fmla="*/ 0 h 59"/>
                  <a:gd name="T66" fmla="*/ 28 w 59"/>
                  <a:gd name="T67" fmla="*/ 0 h 59"/>
                  <a:gd name="T68" fmla="*/ 23 w 59"/>
                  <a:gd name="T69" fmla="*/ 0 h 59"/>
                  <a:gd name="T70" fmla="*/ 21 w 59"/>
                  <a:gd name="T71" fmla="*/ 1 h 59"/>
                  <a:gd name="T72" fmla="*/ 16 w 59"/>
                  <a:gd name="T73" fmla="*/ 3 h 59"/>
                  <a:gd name="T74" fmla="*/ 13 w 59"/>
                  <a:gd name="T75" fmla="*/ 6 h 59"/>
                  <a:gd name="T76" fmla="*/ 9 w 59"/>
                  <a:gd name="T77" fmla="*/ 9 h 59"/>
                  <a:gd name="T78" fmla="*/ 6 w 59"/>
                  <a:gd name="T79" fmla="*/ 12 h 59"/>
                  <a:gd name="T80" fmla="*/ 4 w 59"/>
                  <a:gd name="T81" fmla="*/ 15 h 59"/>
                  <a:gd name="T82" fmla="*/ 3 w 59"/>
                  <a:gd name="T83" fmla="*/ 19 h 59"/>
                  <a:gd name="T84" fmla="*/ 1 w 59"/>
                  <a:gd name="T85" fmla="*/ 24 h 59"/>
                  <a:gd name="T86" fmla="*/ 1 w 59"/>
                  <a:gd name="T87" fmla="*/ 28 h 59"/>
                  <a:gd name="T88" fmla="*/ 29 w 59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29" y="30"/>
                    </a:moveTo>
                    <a:lnTo>
                      <a:pt x="0" y="30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7" y="47"/>
                    </a:lnTo>
                    <a:lnTo>
                      <a:pt x="9" y="49"/>
                    </a:lnTo>
                    <a:lnTo>
                      <a:pt x="9" y="50"/>
                    </a:lnTo>
                    <a:lnTo>
                      <a:pt x="10" y="52"/>
                    </a:lnTo>
                    <a:lnTo>
                      <a:pt x="12" y="52"/>
                    </a:lnTo>
                    <a:lnTo>
                      <a:pt x="13" y="53"/>
                    </a:lnTo>
                    <a:lnTo>
                      <a:pt x="13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8"/>
                    </a:lnTo>
                    <a:lnTo>
                      <a:pt x="23" y="58"/>
                    </a:lnTo>
                    <a:lnTo>
                      <a:pt x="23" y="58"/>
                    </a:lnTo>
                    <a:lnTo>
                      <a:pt x="25" y="58"/>
                    </a:lnTo>
                    <a:lnTo>
                      <a:pt x="26" y="59"/>
                    </a:lnTo>
                    <a:lnTo>
                      <a:pt x="28" y="59"/>
                    </a:lnTo>
                    <a:lnTo>
                      <a:pt x="29" y="59"/>
                    </a:lnTo>
                    <a:lnTo>
                      <a:pt x="29" y="59"/>
                    </a:lnTo>
                    <a:lnTo>
                      <a:pt x="32" y="59"/>
                    </a:lnTo>
                    <a:lnTo>
                      <a:pt x="34" y="59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7" y="53"/>
                    </a:lnTo>
                    <a:lnTo>
                      <a:pt x="47" y="53"/>
                    </a:lnTo>
                    <a:lnTo>
                      <a:pt x="49" y="52"/>
                    </a:lnTo>
                    <a:lnTo>
                      <a:pt x="50" y="52"/>
                    </a:lnTo>
                    <a:lnTo>
                      <a:pt x="52" y="50"/>
                    </a:lnTo>
                    <a:lnTo>
                      <a:pt x="52" y="49"/>
                    </a:lnTo>
                    <a:lnTo>
                      <a:pt x="53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6"/>
                    </a:lnTo>
                    <a:lnTo>
                      <a:pt x="56" y="15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2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7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7" y="4"/>
                    </a:lnTo>
                    <a:lnTo>
                      <a:pt x="46" y="4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3" y="4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7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29" y="3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4" name="Freeform 106"/>
              <p:cNvSpPr>
                <a:spLocks/>
              </p:cNvSpPr>
              <p:nvPr/>
            </p:nvSpPr>
            <p:spPr bwMode="auto">
              <a:xfrm>
                <a:off x="1398" y="1019"/>
                <a:ext cx="24" cy="24"/>
              </a:xfrm>
              <a:custGeom>
                <a:avLst/>
                <a:gdLst>
                  <a:gd name="T0" fmla="*/ 0 w 73"/>
                  <a:gd name="T1" fmla="*/ 40 h 72"/>
                  <a:gd name="T2" fmla="*/ 2 w 73"/>
                  <a:gd name="T3" fmla="*/ 46 h 72"/>
                  <a:gd name="T4" fmla="*/ 3 w 73"/>
                  <a:gd name="T5" fmla="*/ 50 h 72"/>
                  <a:gd name="T6" fmla="*/ 6 w 73"/>
                  <a:gd name="T7" fmla="*/ 56 h 72"/>
                  <a:gd name="T8" fmla="*/ 9 w 73"/>
                  <a:gd name="T9" fmla="*/ 59 h 72"/>
                  <a:gd name="T10" fmla="*/ 12 w 73"/>
                  <a:gd name="T11" fmla="*/ 63 h 72"/>
                  <a:gd name="T12" fmla="*/ 16 w 73"/>
                  <a:gd name="T13" fmla="*/ 66 h 72"/>
                  <a:gd name="T14" fmla="*/ 21 w 73"/>
                  <a:gd name="T15" fmla="*/ 69 h 72"/>
                  <a:gd name="T16" fmla="*/ 25 w 73"/>
                  <a:gd name="T17" fmla="*/ 71 h 72"/>
                  <a:gd name="T18" fmla="*/ 31 w 73"/>
                  <a:gd name="T19" fmla="*/ 72 h 72"/>
                  <a:gd name="T20" fmla="*/ 37 w 73"/>
                  <a:gd name="T21" fmla="*/ 72 h 72"/>
                  <a:gd name="T22" fmla="*/ 40 w 73"/>
                  <a:gd name="T23" fmla="*/ 72 h 72"/>
                  <a:gd name="T24" fmla="*/ 46 w 73"/>
                  <a:gd name="T25" fmla="*/ 72 h 72"/>
                  <a:gd name="T26" fmla="*/ 50 w 73"/>
                  <a:gd name="T27" fmla="*/ 69 h 72"/>
                  <a:gd name="T28" fmla="*/ 55 w 73"/>
                  <a:gd name="T29" fmla="*/ 68 h 72"/>
                  <a:gd name="T30" fmla="*/ 59 w 73"/>
                  <a:gd name="T31" fmla="*/ 65 h 72"/>
                  <a:gd name="T32" fmla="*/ 64 w 73"/>
                  <a:gd name="T33" fmla="*/ 60 h 72"/>
                  <a:gd name="T34" fmla="*/ 67 w 73"/>
                  <a:gd name="T35" fmla="*/ 57 h 72"/>
                  <a:gd name="T36" fmla="*/ 70 w 73"/>
                  <a:gd name="T37" fmla="*/ 51 h 72"/>
                  <a:gd name="T38" fmla="*/ 71 w 73"/>
                  <a:gd name="T39" fmla="*/ 47 h 72"/>
                  <a:gd name="T40" fmla="*/ 73 w 73"/>
                  <a:gd name="T41" fmla="*/ 43 h 72"/>
                  <a:gd name="T42" fmla="*/ 73 w 73"/>
                  <a:gd name="T43" fmla="*/ 37 h 72"/>
                  <a:gd name="T44" fmla="*/ 73 w 73"/>
                  <a:gd name="T45" fmla="*/ 32 h 72"/>
                  <a:gd name="T46" fmla="*/ 71 w 73"/>
                  <a:gd name="T47" fmla="*/ 28 h 72"/>
                  <a:gd name="T48" fmla="*/ 70 w 73"/>
                  <a:gd name="T49" fmla="*/ 22 h 72"/>
                  <a:gd name="T50" fmla="*/ 68 w 73"/>
                  <a:gd name="T51" fmla="*/ 17 h 72"/>
                  <a:gd name="T52" fmla="*/ 65 w 73"/>
                  <a:gd name="T53" fmla="*/ 13 h 72"/>
                  <a:gd name="T54" fmla="*/ 61 w 73"/>
                  <a:gd name="T55" fmla="*/ 10 h 72"/>
                  <a:gd name="T56" fmla="*/ 56 w 73"/>
                  <a:gd name="T57" fmla="*/ 7 h 72"/>
                  <a:gd name="T58" fmla="*/ 52 w 73"/>
                  <a:gd name="T59" fmla="*/ 4 h 72"/>
                  <a:gd name="T60" fmla="*/ 47 w 73"/>
                  <a:gd name="T61" fmla="*/ 3 h 72"/>
                  <a:gd name="T62" fmla="*/ 41 w 73"/>
                  <a:gd name="T63" fmla="*/ 1 h 72"/>
                  <a:gd name="T64" fmla="*/ 37 w 73"/>
                  <a:gd name="T65" fmla="*/ 0 h 72"/>
                  <a:gd name="T66" fmla="*/ 33 w 73"/>
                  <a:gd name="T67" fmla="*/ 1 h 72"/>
                  <a:gd name="T68" fmla="*/ 28 w 73"/>
                  <a:gd name="T69" fmla="*/ 1 h 72"/>
                  <a:gd name="T70" fmla="*/ 22 w 73"/>
                  <a:gd name="T71" fmla="*/ 3 h 72"/>
                  <a:gd name="T72" fmla="*/ 18 w 73"/>
                  <a:gd name="T73" fmla="*/ 6 h 72"/>
                  <a:gd name="T74" fmla="*/ 13 w 73"/>
                  <a:gd name="T75" fmla="*/ 9 h 72"/>
                  <a:gd name="T76" fmla="*/ 10 w 73"/>
                  <a:gd name="T77" fmla="*/ 11 h 72"/>
                  <a:gd name="T78" fmla="*/ 6 w 73"/>
                  <a:gd name="T79" fmla="*/ 16 h 72"/>
                  <a:gd name="T80" fmla="*/ 4 w 73"/>
                  <a:gd name="T81" fmla="*/ 20 h 72"/>
                  <a:gd name="T82" fmla="*/ 2 w 73"/>
                  <a:gd name="T83" fmla="*/ 26 h 72"/>
                  <a:gd name="T84" fmla="*/ 2 w 73"/>
                  <a:gd name="T85" fmla="*/ 31 h 72"/>
                  <a:gd name="T86" fmla="*/ 0 w 73"/>
                  <a:gd name="T87" fmla="*/ 3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2">
                    <a:moveTo>
                      <a:pt x="0" y="37"/>
                    </a:moveTo>
                    <a:lnTo>
                      <a:pt x="0" y="38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6"/>
                    </a:lnTo>
                    <a:lnTo>
                      <a:pt x="2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7" y="57"/>
                    </a:lnTo>
                    <a:lnTo>
                      <a:pt x="9" y="59"/>
                    </a:lnTo>
                    <a:lnTo>
                      <a:pt x="10" y="60"/>
                    </a:lnTo>
                    <a:lnTo>
                      <a:pt x="10" y="62"/>
                    </a:lnTo>
                    <a:lnTo>
                      <a:pt x="12" y="63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6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69"/>
                    </a:lnTo>
                    <a:lnTo>
                      <a:pt x="22" y="69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2"/>
                    </a:lnTo>
                    <a:lnTo>
                      <a:pt x="30" y="72"/>
                    </a:lnTo>
                    <a:lnTo>
                      <a:pt x="31" y="72"/>
                    </a:lnTo>
                    <a:lnTo>
                      <a:pt x="33" y="72"/>
                    </a:lnTo>
                    <a:lnTo>
                      <a:pt x="34" y="72"/>
                    </a:lnTo>
                    <a:lnTo>
                      <a:pt x="37" y="72"/>
                    </a:lnTo>
                    <a:lnTo>
                      <a:pt x="37" y="72"/>
                    </a:lnTo>
                    <a:lnTo>
                      <a:pt x="39" y="72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4" y="72"/>
                    </a:lnTo>
                    <a:lnTo>
                      <a:pt x="46" y="72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69"/>
                    </a:lnTo>
                    <a:lnTo>
                      <a:pt x="52" y="69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1" y="63"/>
                    </a:lnTo>
                    <a:lnTo>
                      <a:pt x="62" y="62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5" y="57"/>
                    </a:lnTo>
                    <a:lnTo>
                      <a:pt x="67" y="57"/>
                    </a:lnTo>
                    <a:lnTo>
                      <a:pt x="68" y="56"/>
                    </a:lnTo>
                    <a:lnTo>
                      <a:pt x="68" y="54"/>
                    </a:lnTo>
                    <a:lnTo>
                      <a:pt x="70" y="51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3" y="44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8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3" y="32"/>
                    </a:lnTo>
                    <a:lnTo>
                      <a:pt x="73" y="31"/>
                    </a:lnTo>
                    <a:lnTo>
                      <a:pt x="73" y="29"/>
                    </a:lnTo>
                    <a:lnTo>
                      <a:pt x="71" y="28"/>
                    </a:lnTo>
                    <a:lnTo>
                      <a:pt x="71" y="26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0"/>
                    </a:lnTo>
                    <a:lnTo>
                      <a:pt x="68" y="19"/>
                    </a:lnTo>
                    <a:lnTo>
                      <a:pt x="68" y="17"/>
                    </a:lnTo>
                    <a:lnTo>
                      <a:pt x="67" y="16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2" y="11"/>
                    </a:lnTo>
                    <a:lnTo>
                      <a:pt x="61" y="10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1"/>
                    </a:lnTo>
                    <a:lnTo>
                      <a:pt x="33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8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3"/>
                    </a:lnTo>
                    <a:lnTo>
                      <a:pt x="7" y="14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5" name="Freeform 107"/>
              <p:cNvSpPr>
                <a:spLocks/>
              </p:cNvSpPr>
              <p:nvPr/>
            </p:nvSpPr>
            <p:spPr bwMode="auto">
              <a:xfrm>
                <a:off x="1463" y="1025"/>
                <a:ext cx="20" cy="20"/>
              </a:xfrm>
              <a:custGeom>
                <a:avLst/>
                <a:gdLst>
                  <a:gd name="T0" fmla="*/ 2 w 60"/>
                  <a:gd name="T1" fmla="*/ 31 h 59"/>
                  <a:gd name="T2" fmla="*/ 2 w 60"/>
                  <a:gd name="T3" fmla="*/ 35 h 59"/>
                  <a:gd name="T4" fmla="*/ 3 w 60"/>
                  <a:gd name="T5" fmla="*/ 40 h 59"/>
                  <a:gd name="T6" fmla="*/ 5 w 60"/>
                  <a:gd name="T7" fmla="*/ 43 h 59"/>
                  <a:gd name="T8" fmla="*/ 6 w 60"/>
                  <a:gd name="T9" fmla="*/ 47 h 59"/>
                  <a:gd name="T10" fmla="*/ 9 w 60"/>
                  <a:gd name="T11" fmla="*/ 50 h 59"/>
                  <a:gd name="T12" fmla="*/ 14 w 60"/>
                  <a:gd name="T13" fmla="*/ 53 h 59"/>
                  <a:gd name="T14" fmla="*/ 17 w 60"/>
                  <a:gd name="T15" fmla="*/ 55 h 59"/>
                  <a:gd name="T16" fmla="*/ 21 w 60"/>
                  <a:gd name="T17" fmla="*/ 56 h 59"/>
                  <a:gd name="T18" fmla="*/ 24 w 60"/>
                  <a:gd name="T19" fmla="*/ 58 h 59"/>
                  <a:gd name="T20" fmla="*/ 29 w 60"/>
                  <a:gd name="T21" fmla="*/ 59 h 59"/>
                  <a:gd name="T22" fmla="*/ 33 w 60"/>
                  <a:gd name="T23" fmla="*/ 59 h 59"/>
                  <a:gd name="T24" fmla="*/ 38 w 60"/>
                  <a:gd name="T25" fmla="*/ 58 h 59"/>
                  <a:gd name="T26" fmla="*/ 40 w 60"/>
                  <a:gd name="T27" fmla="*/ 56 h 59"/>
                  <a:gd name="T28" fmla="*/ 45 w 60"/>
                  <a:gd name="T29" fmla="*/ 55 h 59"/>
                  <a:gd name="T30" fmla="*/ 48 w 60"/>
                  <a:gd name="T31" fmla="*/ 53 h 59"/>
                  <a:gd name="T32" fmla="*/ 52 w 60"/>
                  <a:gd name="T33" fmla="*/ 50 h 59"/>
                  <a:gd name="T34" fmla="*/ 55 w 60"/>
                  <a:gd name="T35" fmla="*/ 47 h 59"/>
                  <a:gd name="T36" fmla="*/ 57 w 60"/>
                  <a:gd name="T37" fmla="*/ 43 h 59"/>
                  <a:gd name="T38" fmla="*/ 58 w 60"/>
                  <a:gd name="T39" fmla="*/ 40 h 59"/>
                  <a:gd name="T40" fmla="*/ 60 w 60"/>
                  <a:gd name="T41" fmla="*/ 35 h 59"/>
                  <a:gd name="T42" fmla="*/ 60 w 60"/>
                  <a:gd name="T43" fmla="*/ 31 h 59"/>
                  <a:gd name="T44" fmla="*/ 60 w 60"/>
                  <a:gd name="T45" fmla="*/ 28 h 59"/>
                  <a:gd name="T46" fmla="*/ 60 w 60"/>
                  <a:gd name="T47" fmla="*/ 24 h 59"/>
                  <a:gd name="T48" fmla="*/ 58 w 60"/>
                  <a:gd name="T49" fmla="*/ 19 h 59"/>
                  <a:gd name="T50" fmla="*/ 57 w 60"/>
                  <a:gd name="T51" fmla="*/ 15 h 59"/>
                  <a:gd name="T52" fmla="*/ 55 w 60"/>
                  <a:gd name="T53" fmla="*/ 12 h 59"/>
                  <a:gd name="T54" fmla="*/ 52 w 60"/>
                  <a:gd name="T55" fmla="*/ 9 h 59"/>
                  <a:gd name="T56" fmla="*/ 48 w 60"/>
                  <a:gd name="T57" fmla="*/ 6 h 59"/>
                  <a:gd name="T58" fmla="*/ 45 w 60"/>
                  <a:gd name="T59" fmla="*/ 3 h 59"/>
                  <a:gd name="T60" fmla="*/ 40 w 60"/>
                  <a:gd name="T61" fmla="*/ 1 h 59"/>
                  <a:gd name="T62" fmla="*/ 38 w 60"/>
                  <a:gd name="T63" fmla="*/ 0 h 59"/>
                  <a:gd name="T64" fmla="*/ 33 w 60"/>
                  <a:gd name="T65" fmla="*/ 0 h 59"/>
                  <a:gd name="T66" fmla="*/ 29 w 60"/>
                  <a:gd name="T67" fmla="*/ 0 h 59"/>
                  <a:gd name="T68" fmla="*/ 24 w 60"/>
                  <a:gd name="T69" fmla="*/ 0 h 59"/>
                  <a:gd name="T70" fmla="*/ 21 w 60"/>
                  <a:gd name="T71" fmla="*/ 1 h 59"/>
                  <a:gd name="T72" fmla="*/ 17 w 60"/>
                  <a:gd name="T73" fmla="*/ 3 h 59"/>
                  <a:gd name="T74" fmla="*/ 14 w 60"/>
                  <a:gd name="T75" fmla="*/ 6 h 59"/>
                  <a:gd name="T76" fmla="*/ 9 w 60"/>
                  <a:gd name="T77" fmla="*/ 9 h 59"/>
                  <a:gd name="T78" fmla="*/ 6 w 60"/>
                  <a:gd name="T79" fmla="*/ 12 h 59"/>
                  <a:gd name="T80" fmla="*/ 5 w 60"/>
                  <a:gd name="T81" fmla="*/ 15 h 59"/>
                  <a:gd name="T82" fmla="*/ 3 w 60"/>
                  <a:gd name="T83" fmla="*/ 19 h 59"/>
                  <a:gd name="T84" fmla="*/ 2 w 60"/>
                  <a:gd name="T85" fmla="*/ 24 h 59"/>
                  <a:gd name="T86" fmla="*/ 2 w 60"/>
                  <a:gd name="T87" fmla="*/ 28 h 59"/>
                  <a:gd name="T88" fmla="*/ 30 w 60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0" h="59">
                    <a:moveTo>
                      <a:pt x="30" y="30"/>
                    </a:moveTo>
                    <a:lnTo>
                      <a:pt x="0" y="30"/>
                    </a:lnTo>
                    <a:lnTo>
                      <a:pt x="2" y="31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7"/>
                    </a:lnTo>
                    <a:lnTo>
                      <a:pt x="9" y="49"/>
                    </a:lnTo>
                    <a:lnTo>
                      <a:pt x="9" y="50"/>
                    </a:lnTo>
                    <a:lnTo>
                      <a:pt x="11" y="52"/>
                    </a:lnTo>
                    <a:lnTo>
                      <a:pt x="12" y="52"/>
                    </a:lnTo>
                    <a:lnTo>
                      <a:pt x="14" y="53"/>
                    </a:lnTo>
                    <a:lnTo>
                      <a:pt x="14" y="53"/>
                    </a:lnTo>
                    <a:lnTo>
                      <a:pt x="15" y="55"/>
                    </a:lnTo>
                    <a:lnTo>
                      <a:pt x="17" y="55"/>
                    </a:lnTo>
                    <a:lnTo>
                      <a:pt x="18" y="56"/>
                    </a:lnTo>
                    <a:lnTo>
                      <a:pt x="20" y="56"/>
                    </a:lnTo>
                    <a:lnTo>
                      <a:pt x="21" y="56"/>
                    </a:lnTo>
                    <a:lnTo>
                      <a:pt x="23" y="58"/>
                    </a:lnTo>
                    <a:lnTo>
                      <a:pt x="24" y="58"/>
                    </a:lnTo>
                    <a:lnTo>
                      <a:pt x="24" y="58"/>
                    </a:lnTo>
                    <a:lnTo>
                      <a:pt x="26" y="58"/>
                    </a:lnTo>
                    <a:lnTo>
                      <a:pt x="27" y="59"/>
                    </a:lnTo>
                    <a:lnTo>
                      <a:pt x="29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5" y="59"/>
                    </a:lnTo>
                    <a:lnTo>
                      <a:pt x="36" y="58"/>
                    </a:lnTo>
                    <a:lnTo>
                      <a:pt x="38" y="58"/>
                    </a:lnTo>
                    <a:lnTo>
                      <a:pt x="38" y="58"/>
                    </a:lnTo>
                    <a:lnTo>
                      <a:pt x="39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5"/>
                    </a:lnTo>
                    <a:lnTo>
                      <a:pt x="46" y="55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9" y="52"/>
                    </a:lnTo>
                    <a:lnTo>
                      <a:pt x="51" y="52"/>
                    </a:lnTo>
                    <a:lnTo>
                      <a:pt x="52" y="50"/>
                    </a:lnTo>
                    <a:lnTo>
                      <a:pt x="52" y="49"/>
                    </a:lnTo>
                    <a:lnTo>
                      <a:pt x="54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7" y="44"/>
                    </a:lnTo>
                    <a:lnTo>
                      <a:pt x="57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60" y="38"/>
                    </a:lnTo>
                    <a:lnTo>
                      <a:pt x="60" y="37"/>
                    </a:lnTo>
                    <a:lnTo>
                      <a:pt x="60" y="35"/>
                    </a:lnTo>
                    <a:lnTo>
                      <a:pt x="60" y="34"/>
                    </a:lnTo>
                    <a:lnTo>
                      <a:pt x="60" y="32"/>
                    </a:lnTo>
                    <a:lnTo>
                      <a:pt x="60" y="31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28"/>
                    </a:lnTo>
                    <a:lnTo>
                      <a:pt x="60" y="27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60" y="22"/>
                    </a:lnTo>
                    <a:lnTo>
                      <a:pt x="60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6"/>
                    </a:lnTo>
                    <a:lnTo>
                      <a:pt x="57" y="15"/>
                    </a:lnTo>
                    <a:lnTo>
                      <a:pt x="57" y="13"/>
                    </a:lnTo>
                    <a:lnTo>
                      <a:pt x="55" y="13"/>
                    </a:lnTo>
                    <a:lnTo>
                      <a:pt x="55" y="12"/>
                    </a:lnTo>
                    <a:lnTo>
                      <a:pt x="54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4"/>
                    </a:lnTo>
                    <a:lnTo>
                      <a:pt x="46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6" y="0"/>
                    </a:lnTo>
                    <a:lnTo>
                      <a:pt x="35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6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2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6" name="Freeform 108"/>
              <p:cNvSpPr>
                <a:spLocks/>
              </p:cNvSpPr>
              <p:nvPr/>
            </p:nvSpPr>
            <p:spPr bwMode="auto">
              <a:xfrm>
                <a:off x="1457" y="1019"/>
                <a:ext cx="24" cy="24"/>
              </a:xfrm>
              <a:custGeom>
                <a:avLst/>
                <a:gdLst>
                  <a:gd name="T0" fmla="*/ 0 w 72"/>
                  <a:gd name="T1" fmla="*/ 40 h 72"/>
                  <a:gd name="T2" fmla="*/ 1 w 72"/>
                  <a:gd name="T3" fmla="*/ 46 h 72"/>
                  <a:gd name="T4" fmla="*/ 3 w 72"/>
                  <a:gd name="T5" fmla="*/ 50 h 72"/>
                  <a:gd name="T6" fmla="*/ 6 w 72"/>
                  <a:gd name="T7" fmla="*/ 56 h 72"/>
                  <a:gd name="T8" fmla="*/ 9 w 72"/>
                  <a:gd name="T9" fmla="*/ 59 h 72"/>
                  <a:gd name="T10" fmla="*/ 12 w 72"/>
                  <a:gd name="T11" fmla="*/ 63 h 72"/>
                  <a:gd name="T12" fmla="*/ 16 w 72"/>
                  <a:gd name="T13" fmla="*/ 66 h 72"/>
                  <a:gd name="T14" fmla="*/ 20 w 72"/>
                  <a:gd name="T15" fmla="*/ 69 h 72"/>
                  <a:gd name="T16" fmla="*/ 25 w 72"/>
                  <a:gd name="T17" fmla="*/ 71 h 72"/>
                  <a:gd name="T18" fmla="*/ 31 w 72"/>
                  <a:gd name="T19" fmla="*/ 72 h 72"/>
                  <a:gd name="T20" fmla="*/ 37 w 72"/>
                  <a:gd name="T21" fmla="*/ 72 h 72"/>
                  <a:gd name="T22" fmla="*/ 40 w 72"/>
                  <a:gd name="T23" fmla="*/ 72 h 72"/>
                  <a:gd name="T24" fmla="*/ 46 w 72"/>
                  <a:gd name="T25" fmla="*/ 72 h 72"/>
                  <a:gd name="T26" fmla="*/ 50 w 72"/>
                  <a:gd name="T27" fmla="*/ 69 h 72"/>
                  <a:gd name="T28" fmla="*/ 55 w 72"/>
                  <a:gd name="T29" fmla="*/ 68 h 72"/>
                  <a:gd name="T30" fmla="*/ 59 w 72"/>
                  <a:gd name="T31" fmla="*/ 65 h 72"/>
                  <a:gd name="T32" fmla="*/ 63 w 72"/>
                  <a:gd name="T33" fmla="*/ 60 h 72"/>
                  <a:gd name="T34" fmla="*/ 66 w 72"/>
                  <a:gd name="T35" fmla="*/ 57 h 72"/>
                  <a:gd name="T36" fmla="*/ 69 w 72"/>
                  <a:gd name="T37" fmla="*/ 51 h 72"/>
                  <a:gd name="T38" fmla="*/ 71 w 72"/>
                  <a:gd name="T39" fmla="*/ 47 h 72"/>
                  <a:gd name="T40" fmla="*/ 72 w 72"/>
                  <a:gd name="T41" fmla="*/ 43 h 72"/>
                  <a:gd name="T42" fmla="*/ 72 w 72"/>
                  <a:gd name="T43" fmla="*/ 37 h 72"/>
                  <a:gd name="T44" fmla="*/ 72 w 72"/>
                  <a:gd name="T45" fmla="*/ 32 h 72"/>
                  <a:gd name="T46" fmla="*/ 71 w 72"/>
                  <a:gd name="T47" fmla="*/ 28 h 72"/>
                  <a:gd name="T48" fmla="*/ 69 w 72"/>
                  <a:gd name="T49" fmla="*/ 22 h 72"/>
                  <a:gd name="T50" fmla="*/ 68 w 72"/>
                  <a:gd name="T51" fmla="*/ 17 h 72"/>
                  <a:gd name="T52" fmla="*/ 65 w 72"/>
                  <a:gd name="T53" fmla="*/ 13 h 72"/>
                  <a:gd name="T54" fmla="*/ 60 w 72"/>
                  <a:gd name="T55" fmla="*/ 10 h 72"/>
                  <a:gd name="T56" fmla="*/ 56 w 72"/>
                  <a:gd name="T57" fmla="*/ 7 h 72"/>
                  <a:gd name="T58" fmla="*/ 52 w 72"/>
                  <a:gd name="T59" fmla="*/ 4 h 72"/>
                  <a:gd name="T60" fmla="*/ 47 w 72"/>
                  <a:gd name="T61" fmla="*/ 3 h 72"/>
                  <a:gd name="T62" fmla="*/ 41 w 72"/>
                  <a:gd name="T63" fmla="*/ 1 h 72"/>
                  <a:gd name="T64" fmla="*/ 37 w 72"/>
                  <a:gd name="T65" fmla="*/ 0 h 72"/>
                  <a:gd name="T66" fmla="*/ 32 w 72"/>
                  <a:gd name="T67" fmla="*/ 1 h 72"/>
                  <a:gd name="T68" fmla="*/ 28 w 72"/>
                  <a:gd name="T69" fmla="*/ 1 h 72"/>
                  <a:gd name="T70" fmla="*/ 22 w 72"/>
                  <a:gd name="T71" fmla="*/ 3 h 72"/>
                  <a:gd name="T72" fmla="*/ 17 w 72"/>
                  <a:gd name="T73" fmla="*/ 6 h 72"/>
                  <a:gd name="T74" fmla="*/ 13 w 72"/>
                  <a:gd name="T75" fmla="*/ 9 h 72"/>
                  <a:gd name="T76" fmla="*/ 10 w 72"/>
                  <a:gd name="T77" fmla="*/ 11 h 72"/>
                  <a:gd name="T78" fmla="*/ 6 w 72"/>
                  <a:gd name="T79" fmla="*/ 16 h 72"/>
                  <a:gd name="T80" fmla="*/ 4 w 72"/>
                  <a:gd name="T81" fmla="*/ 20 h 72"/>
                  <a:gd name="T82" fmla="*/ 1 w 72"/>
                  <a:gd name="T83" fmla="*/ 26 h 72"/>
                  <a:gd name="T84" fmla="*/ 1 w 72"/>
                  <a:gd name="T85" fmla="*/ 31 h 72"/>
                  <a:gd name="T86" fmla="*/ 0 w 72"/>
                  <a:gd name="T87" fmla="*/ 3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72">
                    <a:moveTo>
                      <a:pt x="0" y="37"/>
                    </a:moveTo>
                    <a:lnTo>
                      <a:pt x="0" y="38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7" y="57"/>
                    </a:lnTo>
                    <a:lnTo>
                      <a:pt x="9" y="59"/>
                    </a:lnTo>
                    <a:lnTo>
                      <a:pt x="10" y="60"/>
                    </a:lnTo>
                    <a:lnTo>
                      <a:pt x="10" y="62"/>
                    </a:lnTo>
                    <a:lnTo>
                      <a:pt x="12" y="63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6"/>
                    </a:lnTo>
                    <a:lnTo>
                      <a:pt x="17" y="68"/>
                    </a:lnTo>
                    <a:lnTo>
                      <a:pt x="19" y="68"/>
                    </a:lnTo>
                    <a:lnTo>
                      <a:pt x="20" y="69"/>
                    </a:lnTo>
                    <a:lnTo>
                      <a:pt x="22" y="69"/>
                    </a:lnTo>
                    <a:lnTo>
                      <a:pt x="23" y="71"/>
                    </a:lnTo>
                    <a:lnTo>
                      <a:pt x="25" y="71"/>
                    </a:lnTo>
                    <a:lnTo>
                      <a:pt x="28" y="72"/>
                    </a:lnTo>
                    <a:lnTo>
                      <a:pt x="29" y="72"/>
                    </a:lnTo>
                    <a:lnTo>
                      <a:pt x="31" y="72"/>
                    </a:lnTo>
                    <a:lnTo>
                      <a:pt x="32" y="72"/>
                    </a:lnTo>
                    <a:lnTo>
                      <a:pt x="34" y="72"/>
                    </a:lnTo>
                    <a:lnTo>
                      <a:pt x="37" y="72"/>
                    </a:lnTo>
                    <a:lnTo>
                      <a:pt x="37" y="72"/>
                    </a:lnTo>
                    <a:lnTo>
                      <a:pt x="38" y="72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4" y="72"/>
                    </a:lnTo>
                    <a:lnTo>
                      <a:pt x="46" y="72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69"/>
                    </a:lnTo>
                    <a:lnTo>
                      <a:pt x="52" y="69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6"/>
                    </a:lnTo>
                    <a:lnTo>
                      <a:pt x="57" y="65"/>
                    </a:lnTo>
                    <a:lnTo>
                      <a:pt x="59" y="65"/>
                    </a:lnTo>
                    <a:lnTo>
                      <a:pt x="60" y="63"/>
                    </a:lnTo>
                    <a:lnTo>
                      <a:pt x="62" y="62"/>
                    </a:lnTo>
                    <a:lnTo>
                      <a:pt x="63" y="60"/>
                    </a:lnTo>
                    <a:lnTo>
                      <a:pt x="65" y="59"/>
                    </a:lnTo>
                    <a:lnTo>
                      <a:pt x="65" y="57"/>
                    </a:lnTo>
                    <a:lnTo>
                      <a:pt x="66" y="57"/>
                    </a:lnTo>
                    <a:lnTo>
                      <a:pt x="68" y="56"/>
                    </a:lnTo>
                    <a:lnTo>
                      <a:pt x="68" y="54"/>
                    </a:lnTo>
                    <a:lnTo>
                      <a:pt x="69" y="51"/>
                    </a:lnTo>
                    <a:lnTo>
                      <a:pt x="69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2" y="44"/>
                    </a:lnTo>
                    <a:lnTo>
                      <a:pt x="72" y="43"/>
                    </a:lnTo>
                    <a:lnTo>
                      <a:pt x="72" y="40"/>
                    </a:lnTo>
                    <a:lnTo>
                      <a:pt x="72" y="38"/>
                    </a:lnTo>
                    <a:lnTo>
                      <a:pt x="72" y="37"/>
                    </a:lnTo>
                    <a:lnTo>
                      <a:pt x="72" y="37"/>
                    </a:lnTo>
                    <a:lnTo>
                      <a:pt x="72" y="35"/>
                    </a:lnTo>
                    <a:lnTo>
                      <a:pt x="72" y="32"/>
                    </a:lnTo>
                    <a:lnTo>
                      <a:pt x="72" y="31"/>
                    </a:lnTo>
                    <a:lnTo>
                      <a:pt x="72" y="29"/>
                    </a:lnTo>
                    <a:lnTo>
                      <a:pt x="71" y="28"/>
                    </a:lnTo>
                    <a:lnTo>
                      <a:pt x="71" y="26"/>
                    </a:lnTo>
                    <a:lnTo>
                      <a:pt x="71" y="25"/>
                    </a:lnTo>
                    <a:lnTo>
                      <a:pt x="69" y="22"/>
                    </a:lnTo>
                    <a:lnTo>
                      <a:pt x="69" y="20"/>
                    </a:lnTo>
                    <a:lnTo>
                      <a:pt x="68" y="19"/>
                    </a:lnTo>
                    <a:lnTo>
                      <a:pt x="68" y="17"/>
                    </a:lnTo>
                    <a:lnTo>
                      <a:pt x="66" y="16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3" y="11"/>
                    </a:lnTo>
                    <a:lnTo>
                      <a:pt x="62" y="11"/>
                    </a:lnTo>
                    <a:lnTo>
                      <a:pt x="60" y="10"/>
                    </a:lnTo>
                    <a:lnTo>
                      <a:pt x="59" y="9"/>
                    </a:lnTo>
                    <a:lnTo>
                      <a:pt x="57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1"/>
                    </a:lnTo>
                    <a:lnTo>
                      <a:pt x="32" y="1"/>
                    </a:lnTo>
                    <a:lnTo>
                      <a:pt x="31" y="1"/>
                    </a:lnTo>
                    <a:lnTo>
                      <a:pt x="29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20" y="4"/>
                    </a:lnTo>
                    <a:lnTo>
                      <a:pt x="19" y="4"/>
                    </a:lnTo>
                    <a:lnTo>
                      <a:pt x="17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3"/>
                    </a:lnTo>
                    <a:lnTo>
                      <a:pt x="7" y="14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7" name="Freeform 109"/>
              <p:cNvSpPr>
                <a:spLocks/>
              </p:cNvSpPr>
              <p:nvPr/>
            </p:nvSpPr>
            <p:spPr bwMode="auto">
              <a:xfrm>
                <a:off x="1522" y="1025"/>
                <a:ext cx="20" cy="20"/>
              </a:xfrm>
              <a:custGeom>
                <a:avLst/>
                <a:gdLst>
                  <a:gd name="T0" fmla="*/ 2 w 59"/>
                  <a:gd name="T1" fmla="*/ 31 h 59"/>
                  <a:gd name="T2" fmla="*/ 2 w 59"/>
                  <a:gd name="T3" fmla="*/ 35 h 59"/>
                  <a:gd name="T4" fmla="*/ 3 w 59"/>
                  <a:gd name="T5" fmla="*/ 40 h 59"/>
                  <a:gd name="T6" fmla="*/ 5 w 59"/>
                  <a:gd name="T7" fmla="*/ 43 h 59"/>
                  <a:gd name="T8" fmla="*/ 6 w 59"/>
                  <a:gd name="T9" fmla="*/ 47 h 59"/>
                  <a:gd name="T10" fmla="*/ 9 w 59"/>
                  <a:gd name="T11" fmla="*/ 50 h 59"/>
                  <a:gd name="T12" fmla="*/ 14 w 59"/>
                  <a:gd name="T13" fmla="*/ 53 h 59"/>
                  <a:gd name="T14" fmla="*/ 16 w 59"/>
                  <a:gd name="T15" fmla="*/ 55 h 59"/>
                  <a:gd name="T16" fmla="*/ 21 w 59"/>
                  <a:gd name="T17" fmla="*/ 56 h 59"/>
                  <a:gd name="T18" fmla="*/ 24 w 59"/>
                  <a:gd name="T19" fmla="*/ 58 h 59"/>
                  <a:gd name="T20" fmla="*/ 28 w 59"/>
                  <a:gd name="T21" fmla="*/ 59 h 59"/>
                  <a:gd name="T22" fmla="*/ 33 w 59"/>
                  <a:gd name="T23" fmla="*/ 59 h 59"/>
                  <a:gd name="T24" fmla="*/ 37 w 59"/>
                  <a:gd name="T25" fmla="*/ 58 h 59"/>
                  <a:gd name="T26" fmla="*/ 40 w 59"/>
                  <a:gd name="T27" fmla="*/ 56 h 59"/>
                  <a:gd name="T28" fmla="*/ 45 w 59"/>
                  <a:gd name="T29" fmla="*/ 55 h 59"/>
                  <a:gd name="T30" fmla="*/ 48 w 59"/>
                  <a:gd name="T31" fmla="*/ 53 h 59"/>
                  <a:gd name="T32" fmla="*/ 52 w 59"/>
                  <a:gd name="T33" fmla="*/ 50 h 59"/>
                  <a:gd name="T34" fmla="*/ 55 w 59"/>
                  <a:gd name="T35" fmla="*/ 47 h 59"/>
                  <a:gd name="T36" fmla="*/ 56 w 59"/>
                  <a:gd name="T37" fmla="*/ 43 h 59"/>
                  <a:gd name="T38" fmla="*/ 58 w 59"/>
                  <a:gd name="T39" fmla="*/ 40 h 59"/>
                  <a:gd name="T40" fmla="*/ 59 w 59"/>
                  <a:gd name="T41" fmla="*/ 35 h 59"/>
                  <a:gd name="T42" fmla="*/ 59 w 59"/>
                  <a:gd name="T43" fmla="*/ 31 h 59"/>
                  <a:gd name="T44" fmla="*/ 59 w 59"/>
                  <a:gd name="T45" fmla="*/ 28 h 59"/>
                  <a:gd name="T46" fmla="*/ 59 w 59"/>
                  <a:gd name="T47" fmla="*/ 24 h 59"/>
                  <a:gd name="T48" fmla="*/ 58 w 59"/>
                  <a:gd name="T49" fmla="*/ 19 h 59"/>
                  <a:gd name="T50" fmla="*/ 56 w 59"/>
                  <a:gd name="T51" fmla="*/ 15 h 59"/>
                  <a:gd name="T52" fmla="*/ 55 w 59"/>
                  <a:gd name="T53" fmla="*/ 12 h 59"/>
                  <a:gd name="T54" fmla="*/ 52 w 59"/>
                  <a:gd name="T55" fmla="*/ 9 h 59"/>
                  <a:gd name="T56" fmla="*/ 48 w 59"/>
                  <a:gd name="T57" fmla="*/ 6 h 59"/>
                  <a:gd name="T58" fmla="*/ 45 w 59"/>
                  <a:gd name="T59" fmla="*/ 3 h 59"/>
                  <a:gd name="T60" fmla="*/ 40 w 59"/>
                  <a:gd name="T61" fmla="*/ 1 h 59"/>
                  <a:gd name="T62" fmla="*/ 37 w 59"/>
                  <a:gd name="T63" fmla="*/ 0 h 59"/>
                  <a:gd name="T64" fmla="*/ 33 w 59"/>
                  <a:gd name="T65" fmla="*/ 0 h 59"/>
                  <a:gd name="T66" fmla="*/ 28 w 59"/>
                  <a:gd name="T67" fmla="*/ 0 h 59"/>
                  <a:gd name="T68" fmla="*/ 24 w 59"/>
                  <a:gd name="T69" fmla="*/ 0 h 59"/>
                  <a:gd name="T70" fmla="*/ 21 w 59"/>
                  <a:gd name="T71" fmla="*/ 1 h 59"/>
                  <a:gd name="T72" fmla="*/ 16 w 59"/>
                  <a:gd name="T73" fmla="*/ 3 h 59"/>
                  <a:gd name="T74" fmla="*/ 14 w 59"/>
                  <a:gd name="T75" fmla="*/ 6 h 59"/>
                  <a:gd name="T76" fmla="*/ 9 w 59"/>
                  <a:gd name="T77" fmla="*/ 9 h 59"/>
                  <a:gd name="T78" fmla="*/ 6 w 59"/>
                  <a:gd name="T79" fmla="*/ 12 h 59"/>
                  <a:gd name="T80" fmla="*/ 5 w 59"/>
                  <a:gd name="T81" fmla="*/ 15 h 59"/>
                  <a:gd name="T82" fmla="*/ 3 w 59"/>
                  <a:gd name="T83" fmla="*/ 19 h 59"/>
                  <a:gd name="T84" fmla="*/ 2 w 59"/>
                  <a:gd name="T85" fmla="*/ 24 h 59"/>
                  <a:gd name="T86" fmla="*/ 2 w 59"/>
                  <a:gd name="T87" fmla="*/ 28 h 59"/>
                  <a:gd name="T88" fmla="*/ 30 w 59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0" y="30"/>
                    </a:lnTo>
                    <a:lnTo>
                      <a:pt x="2" y="31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7"/>
                    </a:lnTo>
                    <a:lnTo>
                      <a:pt x="9" y="49"/>
                    </a:lnTo>
                    <a:lnTo>
                      <a:pt x="9" y="50"/>
                    </a:lnTo>
                    <a:lnTo>
                      <a:pt x="11" y="52"/>
                    </a:lnTo>
                    <a:lnTo>
                      <a:pt x="12" y="52"/>
                    </a:lnTo>
                    <a:lnTo>
                      <a:pt x="14" y="53"/>
                    </a:lnTo>
                    <a:lnTo>
                      <a:pt x="14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5"/>
                    </a:lnTo>
                    <a:lnTo>
                      <a:pt x="46" y="55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9" y="52"/>
                    </a:lnTo>
                    <a:lnTo>
                      <a:pt x="51" y="52"/>
                    </a:lnTo>
                    <a:lnTo>
                      <a:pt x="52" y="50"/>
                    </a:lnTo>
                    <a:lnTo>
                      <a:pt x="52" y="49"/>
                    </a:lnTo>
                    <a:lnTo>
                      <a:pt x="53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6"/>
                    </a:lnTo>
                    <a:lnTo>
                      <a:pt x="56" y="15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2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4"/>
                    </a:lnTo>
                    <a:lnTo>
                      <a:pt x="46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2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8" name="Freeform 110"/>
              <p:cNvSpPr>
                <a:spLocks/>
              </p:cNvSpPr>
              <p:nvPr/>
            </p:nvSpPr>
            <p:spPr bwMode="auto">
              <a:xfrm>
                <a:off x="1516" y="1019"/>
                <a:ext cx="25" cy="24"/>
              </a:xfrm>
              <a:custGeom>
                <a:avLst/>
                <a:gdLst>
                  <a:gd name="T0" fmla="*/ 0 w 73"/>
                  <a:gd name="T1" fmla="*/ 40 h 72"/>
                  <a:gd name="T2" fmla="*/ 2 w 73"/>
                  <a:gd name="T3" fmla="*/ 46 h 72"/>
                  <a:gd name="T4" fmla="*/ 3 w 73"/>
                  <a:gd name="T5" fmla="*/ 50 h 72"/>
                  <a:gd name="T6" fmla="*/ 6 w 73"/>
                  <a:gd name="T7" fmla="*/ 56 h 72"/>
                  <a:gd name="T8" fmla="*/ 9 w 73"/>
                  <a:gd name="T9" fmla="*/ 59 h 72"/>
                  <a:gd name="T10" fmla="*/ 12 w 73"/>
                  <a:gd name="T11" fmla="*/ 63 h 72"/>
                  <a:gd name="T12" fmla="*/ 17 w 73"/>
                  <a:gd name="T13" fmla="*/ 66 h 72"/>
                  <a:gd name="T14" fmla="*/ 21 w 73"/>
                  <a:gd name="T15" fmla="*/ 69 h 72"/>
                  <a:gd name="T16" fmla="*/ 26 w 73"/>
                  <a:gd name="T17" fmla="*/ 71 h 72"/>
                  <a:gd name="T18" fmla="*/ 32 w 73"/>
                  <a:gd name="T19" fmla="*/ 72 h 72"/>
                  <a:gd name="T20" fmla="*/ 37 w 73"/>
                  <a:gd name="T21" fmla="*/ 72 h 72"/>
                  <a:gd name="T22" fmla="*/ 40 w 73"/>
                  <a:gd name="T23" fmla="*/ 72 h 72"/>
                  <a:gd name="T24" fmla="*/ 46 w 73"/>
                  <a:gd name="T25" fmla="*/ 72 h 72"/>
                  <a:gd name="T26" fmla="*/ 51 w 73"/>
                  <a:gd name="T27" fmla="*/ 69 h 72"/>
                  <a:gd name="T28" fmla="*/ 55 w 73"/>
                  <a:gd name="T29" fmla="*/ 68 h 72"/>
                  <a:gd name="T30" fmla="*/ 60 w 73"/>
                  <a:gd name="T31" fmla="*/ 65 h 72"/>
                  <a:gd name="T32" fmla="*/ 64 w 73"/>
                  <a:gd name="T33" fmla="*/ 60 h 72"/>
                  <a:gd name="T34" fmla="*/ 67 w 73"/>
                  <a:gd name="T35" fmla="*/ 57 h 72"/>
                  <a:gd name="T36" fmla="*/ 70 w 73"/>
                  <a:gd name="T37" fmla="*/ 51 h 72"/>
                  <a:gd name="T38" fmla="*/ 71 w 73"/>
                  <a:gd name="T39" fmla="*/ 47 h 72"/>
                  <a:gd name="T40" fmla="*/ 73 w 73"/>
                  <a:gd name="T41" fmla="*/ 43 h 72"/>
                  <a:gd name="T42" fmla="*/ 73 w 73"/>
                  <a:gd name="T43" fmla="*/ 37 h 72"/>
                  <a:gd name="T44" fmla="*/ 73 w 73"/>
                  <a:gd name="T45" fmla="*/ 32 h 72"/>
                  <a:gd name="T46" fmla="*/ 71 w 73"/>
                  <a:gd name="T47" fmla="*/ 28 h 72"/>
                  <a:gd name="T48" fmla="*/ 70 w 73"/>
                  <a:gd name="T49" fmla="*/ 22 h 72"/>
                  <a:gd name="T50" fmla="*/ 69 w 73"/>
                  <a:gd name="T51" fmla="*/ 17 h 72"/>
                  <a:gd name="T52" fmla="*/ 66 w 73"/>
                  <a:gd name="T53" fmla="*/ 13 h 72"/>
                  <a:gd name="T54" fmla="*/ 61 w 73"/>
                  <a:gd name="T55" fmla="*/ 10 h 72"/>
                  <a:gd name="T56" fmla="*/ 57 w 73"/>
                  <a:gd name="T57" fmla="*/ 7 h 72"/>
                  <a:gd name="T58" fmla="*/ 52 w 73"/>
                  <a:gd name="T59" fmla="*/ 4 h 72"/>
                  <a:gd name="T60" fmla="*/ 48 w 73"/>
                  <a:gd name="T61" fmla="*/ 3 h 72"/>
                  <a:gd name="T62" fmla="*/ 42 w 73"/>
                  <a:gd name="T63" fmla="*/ 1 h 72"/>
                  <a:gd name="T64" fmla="*/ 37 w 73"/>
                  <a:gd name="T65" fmla="*/ 0 h 72"/>
                  <a:gd name="T66" fmla="*/ 33 w 73"/>
                  <a:gd name="T67" fmla="*/ 1 h 72"/>
                  <a:gd name="T68" fmla="*/ 29 w 73"/>
                  <a:gd name="T69" fmla="*/ 1 h 72"/>
                  <a:gd name="T70" fmla="*/ 23 w 73"/>
                  <a:gd name="T71" fmla="*/ 3 h 72"/>
                  <a:gd name="T72" fmla="*/ 18 w 73"/>
                  <a:gd name="T73" fmla="*/ 6 h 72"/>
                  <a:gd name="T74" fmla="*/ 14 w 73"/>
                  <a:gd name="T75" fmla="*/ 9 h 72"/>
                  <a:gd name="T76" fmla="*/ 11 w 73"/>
                  <a:gd name="T77" fmla="*/ 11 h 72"/>
                  <a:gd name="T78" fmla="*/ 6 w 73"/>
                  <a:gd name="T79" fmla="*/ 16 h 72"/>
                  <a:gd name="T80" fmla="*/ 5 w 73"/>
                  <a:gd name="T81" fmla="*/ 20 h 72"/>
                  <a:gd name="T82" fmla="*/ 2 w 73"/>
                  <a:gd name="T83" fmla="*/ 26 h 72"/>
                  <a:gd name="T84" fmla="*/ 2 w 73"/>
                  <a:gd name="T85" fmla="*/ 31 h 72"/>
                  <a:gd name="T86" fmla="*/ 0 w 73"/>
                  <a:gd name="T87" fmla="*/ 3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2">
                    <a:moveTo>
                      <a:pt x="0" y="37"/>
                    </a:moveTo>
                    <a:lnTo>
                      <a:pt x="0" y="38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6"/>
                    </a:lnTo>
                    <a:lnTo>
                      <a:pt x="2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5" y="51"/>
                    </a:lnTo>
                    <a:lnTo>
                      <a:pt x="5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8" y="57"/>
                    </a:lnTo>
                    <a:lnTo>
                      <a:pt x="9" y="59"/>
                    </a:lnTo>
                    <a:lnTo>
                      <a:pt x="11" y="60"/>
                    </a:lnTo>
                    <a:lnTo>
                      <a:pt x="11" y="62"/>
                    </a:lnTo>
                    <a:lnTo>
                      <a:pt x="12" y="63"/>
                    </a:lnTo>
                    <a:lnTo>
                      <a:pt x="14" y="65"/>
                    </a:lnTo>
                    <a:lnTo>
                      <a:pt x="15" y="65"/>
                    </a:lnTo>
                    <a:lnTo>
                      <a:pt x="17" y="66"/>
                    </a:lnTo>
                    <a:lnTo>
                      <a:pt x="18" y="68"/>
                    </a:lnTo>
                    <a:lnTo>
                      <a:pt x="20" y="68"/>
                    </a:lnTo>
                    <a:lnTo>
                      <a:pt x="21" y="69"/>
                    </a:lnTo>
                    <a:lnTo>
                      <a:pt x="23" y="69"/>
                    </a:lnTo>
                    <a:lnTo>
                      <a:pt x="24" y="71"/>
                    </a:lnTo>
                    <a:lnTo>
                      <a:pt x="26" y="71"/>
                    </a:lnTo>
                    <a:lnTo>
                      <a:pt x="29" y="72"/>
                    </a:lnTo>
                    <a:lnTo>
                      <a:pt x="30" y="72"/>
                    </a:lnTo>
                    <a:lnTo>
                      <a:pt x="32" y="72"/>
                    </a:lnTo>
                    <a:lnTo>
                      <a:pt x="33" y="72"/>
                    </a:lnTo>
                    <a:lnTo>
                      <a:pt x="34" y="72"/>
                    </a:lnTo>
                    <a:lnTo>
                      <a:pt x="37" y="72"/>
                    </a:lnTo>
                    <a:lnTo>
                      <a:pt x="37" y="72"/>
                    </a:lnTo>
                    <a:lnTo>
                      <a:pt x="39" y="72"/>
                    </a:lnTo>
                    <a:lnTo>
                      <a:pt x="40" y="72"/>
                    </a:lnTo>
                    <a:lnTo>
                      <a:pt x="42" y="72"/>
                    </a:lnTo>
                    <a:lnTo>
                      <a:pt x="45" y="72"/>
                    </a:lnTo>
                    <a:lnTo>
                      <a:pt x="46" y="72"/>
                    </a:lnTo>
                    <a:lnTo>
                      <a:pt x="48" y="71"/>
                    </a:lnTo>
                    <a:lnTo>
                      <a:pt x="49" y="71"/>
                    </a:lnTo>
                    <a:lnTo>
                      <a:pt x="51" y="69"/>
                    </a:lnTo>
                    <a:lnTo>
                      <a:pt x="52" y="69"/>
                    </a:lnTo>
                    <a:lnTo>
                      <a:pt x="54" y="68"/>
                    </a:lnTo>
                    <a:lnTo>
                      <a:pt x="55" y="68"/>
                    </a:lnTo>
                    <a:lnTo>
                      <a:pt x="57" y="66"/>
                    </a:lnTo>
                    <a:lnTo>
                      <a:pt x="58" y="65"/>
                    </a:lnTo>
                    <a:lnTo>
                      <a:pt x="60" y="65"/>
                    </a:lnTo>
                    <a:lnTo>
                      <a:pt x="61" y="63"/>
                    </a:lnTo>
                    <a:lnTo>
                      <a:pt x="63" y="62"/>
                    </a:lnTo>
                    <a:lnTo>
                      <a:pt x="64" y="60"/>
                    </a:lnTo>
                    <a:lnTo>
                      <a:pt x="66" y="59"/>
                    </a:lnTo>
                    <a:lnTo>
                      <a:pt x="66" y="57"/>
                    </a:lnTo>
                    <a:lnTo>
                      <a:pt x="67" y="57"/>
                    </a:lnTo>
                    <a:lnTo>
                      <a:pt x="69" y="56"/>
                    </a:lnTo>
                    <a:lnTo>
                      <a:pt x="69" y="54"/>
                    </a:lnTo>
                    <a:lnTo>
                      <a:pt x="70" y="51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3" y="44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8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3" y="32"/>
                    </a:lnTo>
                    <a:lnTo>
                      <a:pt x="73" y="31"/>
                    </a:lnTo>
                    <a:lnTo>
                      <a:pt x="73" y="29"/>
                    </a:lnTo>
                    <a:lnTo>
                      <a:pt x="71" y="28"/>
                    </a:lnTo>
                    <a:lnTo>
                      <a:pt x="71" y="26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0"/>
                    </a:lnTo>
                    <a:lnTo>
                      <a:pt x="69" y="19"/>
                    </a:lnTo>
                    <a:lnTo>
                      <a:pt x="69" y="17"/>
                    </a:lnTo>
                    <a:lnTo>
                      <a:pt x="67" y="16"/>
                    </a:lnTo>
                    <a:lnTo>
                      <a:pt x="66" y="14"/>
                    </a:lnTo>
                    <a:lnTo>
                      <a:pt x="66" y="13"/>
                    </a:lnTo>
                    <a:lnTo>
                      <a:pt x="64" y="11"/>
                    </a:lnTo>
                    <a:lnTo>
                      <a:pt x="63" y="11"/>
                    </a:lnTo>
                    <a:lnTo>
                      <a:pt x="61" y="10"/>
                    </a:lnTo>
                    <a:lnTo>
                      <a:pt x="60" y="9"/>
                    </a:lnTo>
                    <a:lnTo>
                      <a:pt x="58" y="7"/>
                    </a:lnTo>
                    <a:lnTo>
                      <a:pt x="57" y="7"/>
                    </a:lnTo>
                    <a:lnTo>
                      <a:pt x="55" y="6"/>
                    </a:lnTo>
                    <a:lnTo>
                      <a:pt x="54" y="4"/>
                    </a:lnTo>
                    <a:lnTo>
                      <a:pt x="52" y="4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8" y="3"/>
                    </a:lnTo>
                    <a:lnTo>
                      <a:pt x="46" y="1"/>
                    </a:lnTo>
                    <a:lnTo>
                      <a:pt x="45" y="1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1"/>
                    </a:lnTo>
                    <a:lnTo>
                      <a:pt x="33" y="1"/>
                    </a:lnTo>
                    <a:lnTo>
                      <a:pt x="32" y="1"/>
                    </a:lnTo>
                    <a:lnTo>
                      <a:pt x="30" y="1"/>
                    </a:lnTo>
                    <a:lnTo>
                      <a:pt x="29" y="1"/>
                    </a:lnTo>
                    <a:lnTo>
                      <a:pt x="26" y="3"/>
                    </a:lnTo>
                    <a:lnTo>
                      <a:pt x="24" y="3"/>
                    </a:lnTo>
                    <a:lnTo>
                      <a:pt x="23" y="3"/>
                    </a:lnTo>
                    <a:lnTo>
                      <a:pt x="21" y="4"/>
                    </a:lnTo>
                    <a:lnTo>
                      <a:pt x="20" y="4"/>
                    </a:lnTo>
                    <a:lnTo>
                      <a:pt x="18" y="6"/>
                    </a:lnTo>
                    <a:lnTo>
                      <a:pt x="17" y="7"/>
                    </a:lnTo>
                    <a:lnTo>
                      <a:pt x="15" y="7"/>
                    </a:lnTo>
                    <a:lnTo>
                      <a:pt x="14" y="9"/>
                    </a:lnTo>
                    <a:lnTo>
                      <a:pt x="12" y="10"/>
                    </a:lnTo>
                    <a:lnTo>
                      <a:pt x="11" y="11"/>
                    </a:lnTo>
                    <a:lnTo>
                      <a:pt x="11" y="11"/>
                    </a:lnTo>
                    <a:lnTo>
                      <a:pt x="9" y="13"/>
                    </a:lnTo>
                    <a:lnTo>
                      <a:pt x="8" y="14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78C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89" name="Line 111"/>
              <p:cNvSpPr>
                <a:spLocks noChangeShapeType="1"/>
              </p:cNvSpPr>
              <p:nvPr/>
            </p:nvSpPr>
            <p:spPr bwMode="auto">
              <a:xfrm>
                <a:off x="1572" y="2308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0" name="Line 112"/>
              <p:cNvSpPr>
                <a:spLocks noChangeShapeType="1"/>
              </p:cNvSpPr>
              <p:nvPr/>
            </p:nvSpPr>
            <p:spPr bwMode="auto">
              <a:xfrm>
                <a:off x="1572" y="2160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1" name="Line 113"/>
              <p:cNvSpPr>
                <a:spLocks noChangeShapeType="1"/>
              </p:cNvSpPr>
              <p:nvPr/>
            </p:nvSpPr>
            <p:spPr bwMode="auto">
              <a:xfrm>
                <a:off x="1572" y="2012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2" name="Line 114"/>
              <p:cNvSpPr>
                <a:spLocks noChangeShapeType="1"/>
              </p:cNvSpPr>
              <p:nvPr/>
            </p:nvSpPr>
            <p:spPr bwMode="auto">
              <a:xfrm flipH="1">
                <a:off x="1809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3" name="Line 115"/>
              <p:cNvSpPr>
                <a:spLocks noChangeShapeType="1"/>
              </p:cNvSpPr>
              <p:nvPr/>
            </p:nvSpPr>
            <p:spPr bwMode="auto">
              <a:xfrm flipH="1" flipV="1">
                <a:off x="1809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4" name="Line 116"/>
              <p:cNvSpPr>
                <a:spLocks noChangeShapeType="1"/>
              </p:cNvSpPr>
              <p:nvPr/>
            </p:nvSpPr>
            <p:spPr bwMode="auto">
              <a:xfrm flipH="1">
                <a:off x="1611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5" name="Line 117"/>
              <p:cNvSpPr>
                <a:spLocks noChangeShapeType="1"/>
              </p:cNvSpPr>
              <p:nvPr/>
            </p:nvSpPr>
            <p:spPr bwMode="auto">
              <a:xfrm flipH="1" flipV="1">
                <a:off x="1611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6" name="Line 118"/>
              <p:cNvSpPr>
                <a:spLocks noChangeShapeType="1"/>
              </p:cNvSpPr>
              <p:nvPr/>
            </p:nvSpPr>
            <p:spPr bwMode="auto">
              <a:xfrm flipH="1">
                <a:off x="1917" y="2279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7" name="Line 119"/>
              <p:cNvSpPr>
                <a:spLocks noChangeShapeType="1"/>
              </p:cNvSpPr>
              <p:nvPr/>
            </p:nvSpPr>
            <p:spPr bwMode="auto">
              <a:xfrm flipH="1" flipV="1">
                <a:off x="1917" y="2279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8" name="Line 120"/>
              <p:cNvSpPr>
                <a:spLocks noChangeShapeType="1"/>
              </p:cNvSpPr>
              <p:nvPr/>
            </p:nvSpPr>
            <p:spPr bwMode="auto">
              <a:xfrm flipH="1">
                <a:off x="1710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99" name="Line 121"/>
              <p:cNvSpPr>
                <a:spLocks noChangeShapeType="1"/>
              </p:cNvSpPr>
              <p:nvPr/>
            </p:nvSpPr>
            <p:spPr bwMode="auto">
              <a:xfrm flipH="1" flipV="1">
                <a:off x="1710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0" name="Line 122"/>
              <p:cNvSpPr>
                <a:spLocks noChangeShapeType="1"/>
              </p:cNvSpPr>
              <p:nvPr/>
            </p:nvSpPr>
            <p:spPr bwMode="auto">
              <a:xfrm flipH="1">
                <a:off x="1611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1" name="Line 123"/>
              <p:cNvSpPr>
                <a:spLocks noChangeShapeType="1"/>
              </p:cNvSpPr>
              <p:nvPr/>
            </p:nvSpPr>
            <p:spPr bwMode="auto">
              <a:xfrm flipH="1" flipV="1">
                <a:off x="1611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2" name="Line 124"/>
              <p:cNvSpPr>
                <a:spLocks noChangeShapeType="1"/>
              </p:cNvSpPr>
              <p:nvPr/>
            </p:nvSpPr>
            <p:spPr bwMode="auto">
              <a:xfrm flipV="1">
                <a:off x="1641" y="1548"/>
                <a:ext cx="0" cy="218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3" name="Line 125"/>
              <p:cNvSpPr>
                <a:spLocks noChangeShapeType="1"/>
              </p:cNvSpPr>
              <p:nvPr/>
            </p:nvSpPr>
            <p:spPr bwMode="auto">
              <a:xfrm flipV="1">
                <a:off x="1838" y="1548"/>
                <a:ext cx="0" cy="218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4" name="Line 126"/>
              <p:cNvSpPr>
                <a:spLocks noChangeShapeType="1"/>
              </p:cNvSpPr>
              <p:nvPr/>
            </p:nvSpPr>
            <p:spPr bwMode="auto">
              <a:xfrm>
                <a:off x="1641" y="1548"/>
                <a:ext cx="9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5" name="Line 127"/>
              <p:cNvSpPr>
                <a:spLocks noChangeShapeType="1"/>
              </p:cNvSpPr>
              <p:nvPr/>
            </p:nvSpPr>
            <p:spPr bwMode="auto">
              <a:xfrm>
                <a:off x="1838" y="1548"/>
                <a:ext cx="9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6" name="Line 128"/>
              <p:cNvSpPr>
                <a:spLocks noChangeShapeType="1"/>
              </p:cNvSpPr>
              <p:nvPr/>
            </p:nvSpPr>
            <p:spPr bwMode="auto">
              <a:xfrm flipV="1">
                <a:off x="1740" y="1835"/>
                <a:ext cx="0" cy="1895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7" name="Line 129"/>
              <p:cNvSpPr>
                <a:spLocks noChangeShapeType="1"/>
              </p:cNvSpPr>
              <p:nvPr/>
            </p:nvSpPr>
            <p:spPr bwMode="auto">
              <a:xfrm>
                <a:off x="1937" y="1835"/>
                <a:ext cx="0" cy="1895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8" name="Freeform 130"/>
              <p:cNvSpPr>
                <a:spLocks/>
              </p:cNvSpPr>
              <p:nvPr/>
            </p:nvSpPr>
            <p:spPr bwMode="auto">
              <a:xfrm>
                <a:off x="1631" y="1539"/>
                <a:ext cx="20" cy="19"/>
              </a:xfrm>
              <a:custGeom>
                <a:avLst/>
                <a:gdLst>
                  <a:gd name="T0" fmla="*/ 59 w 59"/>
                  <a:gd name="T1" fmla="*/ 28 h 59"/>
                  <a:gd name="T2" fmla="*/ 59 w 59"/>
                  <a:gd name="T3" fmla="*/ 23 h 59"/>
                  <a:gd name="T4" fmla="*/ 58 w 59"/>
                  <a:gd name="T5" fmla="*/ 19 h 59"/>
                  <a:gd name="T6" fmla="*/ 56 w 59"/>
                  <a:gd name="T7" fmla="*/ 14 h 59"/>
                  <a:gd name="T8" fmla="*/ 55 w 59"/>
                  <a:gd name="T9" fmla="*/ 11 h 59"/>
                  <a:gd name="T10" fmla="*/ 52 w 59"/>
                  <a:gd name="T11" fmla="*/ 9 h 59"/>
                  <a:gd name="T12" fmla="*/ 47 w 59"/>
                  <a:gd name="T13" fmla="*/ 6 h 59"/>
                  <a:gd name="T14" fmla="*/ 44 w 59"/>
                  <a:gd name="T15" fmla="*/ 3 h 59"/>
                  <a:gd name="T16" fmla="*/ 40 w 59"/>
                  <a:gd name="T17" fmla="*/ 1 h 59"/>
                  <a:gd name="T18" fmla="*/ 37 w 59"/>
                  <a:gd name="T19" fmla="*/ 0 h 59"/>
                  <a:gd name="T20" fmla="*/ 33 w 59"/>
                  <a:gd name="T21" fmla="*/ 0 h 59"/>
                  <a:gd name="T22" fmla="*/ 28 w 59"/>
                  <a:gd name="T23" fmla="*/ 0 h 59"/>
                  <a:gd name="T24" fmla="*/ 24 w 59"/>
                  <a:gd name="T25" fmla="*/ 0 h 59"/>
                  <a:gd name="T26" fmla="*/ 21 w 59"/>
                  <a:gd name="T27" fmla="*/ 1 h 59"/>
                  <a:gd name="T28" fmla="*/ 16 w 59"/>
                  <a:gd name="T29" fmla="*/ 3 h 59"/>
                  <a:gd name="T30" fmla="*/ 13 w 59"/>
                  <a:gd name="T31" fmla="*/ 6 h 59"/>
                  <a:gd name="T32" fmla="*/ 9 w 59"/>
                  <a:gd name="T33" fmla="*/ 9 h 59"/>
                  <a:gd name="T34" fmla="*/ 6 w 59"/>
                  <a:gd name="T35" fmla="*/ 11 h 59"/>
                  <a:gd name="T36" fmla="*/ 4 w 59"/>
                  <a:gd name="T37" fmla="*/ 14 h 59"/>
                  <a:gd name="T38" fmla="*/ 3 w 59"/>
                  <a:gd name="T39" fmla="*/ 19 h 59"/>
                  <a:gd name="T40" fmla="*/ 1 w 59"/>
                  <a:gd name="T41" fmla="*/ 23 h 59"/>
                  <a:gd name="T42" fmla="*/ 1 w 59"/>
                  <a:gd name="T43" fmla="*/ 28 h 59"/>
                  <a:gd name="T44" fmla="*/ 1 w 59"/>
                  <a:gd name="T45" fmla="*/ 31 h 59"/>
                  <a:gd name="T46" fmla="*/ 1 w 59"/>
                  <a:gd name="T47" fmla="*/ 35 h 59"/>
                  <a:gd name="T48" fmla="*/ 3 w 59"/>
                  <a:gd name="T49" fmla="*/ 40 h 59"/>
                  <a:gd name="T50" fmla="*/ 4 w 59"/>
                  <a:gd name="T51" fmla="*/ 43 h 59"/>
                  <a:gd name="T52" fmla="*/ 6 w 59"/>
                  <a:gd name="T53" fmla="*/ 47 h 59"/>
                  <a:gd name="T54" fmla="*/ 9 w 59"/>
                  <a:gd name="T55" fmla="*/ 50 h 59"/>
                  <a:gd name="T56" fmla="*/ 13 w 59"/>
                  <a:gd name="T57" fmla="*/ 53 h 59"/>
                  <a:gd name="T58" fmla="*/ 16 w 59"/>
                  <a:gd name="T59" fmla="*/ 54 h 59"/>
                  <a:gd name="T60" fmla="*/ 21 w 59"/>
                  <a:gd name="T61" fmla="*/ 56 h 59"/>
                  <a:gd name="T62" fmla="*/ 24 w 59"/>
                  <a:gd name="T63" fmla="*/ 57 h 59"/>
                  <a:gd name="T64" fmla="*/ 28 w 59"/>
                  <a:gd name="T65" fmla="*/ 59 h 59"/>
                  <a:gd name="T66" fmla="*/ 33 w 59"/>
                  <a:gd name="T67" fmla="*/ 59 h 59"/>
                  <a:gd name="T68" fmla="*/ 37 w 59"/>
                  <a:gd name="T69" fmla="*/ 57 h 59"/>
                  <a:gd name="T70" fmla="*/ 40 w 59"/>
                  <a:gd name="T71" fmla="*/ 56 h 59"/>
                  <a:gd name="T72" fmla="*/ 44 w 59"/>
                  <a:gd name="T73" fmla="*/ 54 h 59"/>
                  <a:gd name="T74" fmla="*/ 47 w 59"/>
                  <a:gd name="T75" fmla="*/ 53 h 59"/>
                  <a:gd name="T76" fmla="*/ 52 w 59"/>
                  <a:gd name="T77" fmla="*/ 50 h 59"/>
                  <a:gd name="T78" fmla="*/ 55 w 59"/>
                  <a:gd name="T79" fmla="*/ 47 h 59"/>
                  <a:gd name="T80" fmla="*/ 56 w 59"/>
                  <a:gd name="T81" fmla="*/ 43 h 59"/>
                  <a:gd name="T82" fmla="*/ 58 w 59"/>
                  <a:gd name="T83" fmla="*/ 40 h 59"/>
                  <a:gd name="T84" fmla="*/ 59 w 59"/>
                  <a:gd name="T85" fmla="*/ 35 h 59"/>
                  <a:gd name="T86" fmla="*/ 59 w 59"/>
                  <a:gd name="T87" fmla="*/ 31 h 59"/>
                  <a:gd name="T88" fmla="*/ 30 w 59"/>
                  <a:gd name="T89" fmla="*/ 2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29"/>
                    </a:moveTo>
                    <a:lnTo>
                      <a:pt x="59" y="29"/>
                    </a:lnTo>
                    <a:lnTo>
                      <a:pt x="59" y="28"/>
                    </a:lnTo>
                    <a:lnTo>
                      <a:pt x="59" y="26"/>
                    </a:lnTo>
                    <a:lnTo>
                      <a:pt x="59" y="25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0"/>
                    </a:lnTo>
                    <a:lnTo>
                      <a:pt x="58" y="19"/>
                    </a:lnTo>
                    <a:lnTo>
                      <a:pt x="58" y="17"/>
                    </a:lnTo>
                    <a:lnTo>
                      <a:pt x="58" y="16"/>
                    </a:lnTo>
                    <a:lnTo>
                      <a:pt x="56" y="14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1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7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7" y="4"/>
                    </a:lnTo>
                    <a:lnTo>
                      <a:pt x="46" y="4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3" y="4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7" y="10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23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7" y="47"/>
                    </a:lnTo>
                    <a:lnTo>
                      <a:pt x="9" y="48"/>
                    </a:lnTo>
                    <a:lnTo>
                      <a:pt x="9" y="50"/>
                    </a:lnTo>
                    <a:lnTo>
                      <a:pt x="10" y="51"/>
                    </a:lnTo>
                    <a:lnTo>
                      <a:pt x="12" y="51"/>
                    </a:lnTo>
                    <a:lnTo>
                      <a:pt x="13" y="53"/>
                    </a:lnTo>
                    <a:lnTo>
                      <a:pt x="13" y="53"/>
                    </a:lnTo>
                    <a:lnTo>
                      <a:pt x="15" y="54"/>
                    </a:lnTo>
                    <a:lnTo>
                      <a:pt x="16" y="54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7"/>
                    </a:lnTo>
                    <a:lnTo>
                      <a:pt x="24" y="57"/>
                    </a:lnTo>
                    <a:lnTo>
                      <a:pt x="24" y="57"/>
                    </a:lnTo>
                    <a:lnTo>
                      <a:pt x="25" y="57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7"/>
                    </a:lnTo>
                    <a:lnTo>
                      <a:pt x="37" y="57"/>
                    </a:lnTo>
                    <a:lnTo>
                      <a:pt x="37" y="57"/>
                    </a:lnTo>
                    <a:lnTo>
                      <a:pt x="38" y="57"/>
                    </a:lnTo>
                    <a:lnTo>
                      <a:pt x="40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4"/>
                    </a:lnTo>
                    <a:lnTo>
                      <a:pt x="46" y="54"/>
                    </a:lnTo>
                    <a:lnTo>
                      <a:pt x="47" y="53"/>
                    </a:lnTo>
                    <a:lnTo>
                      <a:pt x="47" y="53"/>
                    </a:lnTo>
                    <a:lnTo>
                      <a:pt x="49" y="51"/>
                    </a:lnTo>
                    <a:lnTo>
                      <a:pt x="50" y="51"/>
                    </a:lnTo>
                    <a:lnTo>
                      <a:pt x="52" y="50"/>
                    </a:lnTo>
                    <a:lnTo>
                      <a:pt x="52" y="48"/>
                    </a:lnTo>
                    <a:lnTo>
                      <a:pt x="53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30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09" name="Freeform 131"/>
              <p:cNvSpPr>
                <a:spLocks/>
              </p:cNvSpPr>
              <p:nvPr/>
            </p:nvSpPr>
            <p:spPr bwMode="auto">
              <a:xfrm>
                <a:off x="1625" y="1532"/>
                <a:ext cx="24" cy="24"/>
              </a:xfrm>
              <a:custGeom>
                <a:avLst/>
                <a:gdLst>
                  <a:gd name="T0" fmla="*/ 73 w 73"/>
                  <a:gd name="T1" fmla="*/ 33 h 73"/>
                  <a:gd name="T2" fmla="*/ 71 w 73"/>
                  <a:gd name="T3" fmla="*/ 29 h 73"/>
                  <a:gd name="T4" fmla="*/ 70 w 73"/>
                  <a:gd name="T5" fmla="*/ 23 h 73"/>
                  <a:gd name="T6" fmla="*/ 68 w 73"/>
                  <a:gd name="T7" fmla="*/ 18 h 73"/>
                  <a:gd name="T8" fmla="*/ 65 w 73"/>
                  <a:gd name="T9" fmla="*/ 14 h 73"/>
                  <a:gd name="T10" fmla="*/ 61 w 73"/>
                  <a:gd name="T11" fmla="*/ 11 h 73"/>
                  <a:gd name="T12" fmla="*/ 56 w 73"/>
                  <a:gd name="T13" fmla="*/ 8 h 73"/>
                  <a:gd name="T14" fmla="*/ 52 w 73"/>
                  <a:gd name="T15" fmla="*/ 5 h 73"/>
                  <a:gd name="T16" fmla="*/ 48 w 73"/>
                  <a:gd name="T17" fmla="*/ 3 h 73"/>
                  <a:gd name="T18" fmla="*/ 42 w 73"/>
                  <a:gd name="T19" fmla="*/ 2 h 73"/>
                  <a:gd name="T20" fmla="*/ 37 w 73"/>
                  <a:gd name="T21" fmla="*/ 0 h 73"/>
                  <a:gd name="T22" fmla="*/ 33 w 73"/>
                  <a:gd name="T23" fmla="*/ 2 h 73"/>
                  <a:gd name="T24" fmla="*/ 28 w 73"/>
                  <a:gd name="T25" fmla="*/ 2 h 73"/>
                  <a:gd name="T26" fmla="*/ 22 w 73"/>
                  <a:gd name="T27" fmla="*/ 3 h 73"/>
                  <a:gd name="T28" fmla="*/ 18 w 73"/>
                  <a:gd name="T29" fmla="*/ 6 h 73"/>
                  <a:gd name="T30" fmla="*/ 14 w 73"/>
                  <a:gd name="T31" fmla="*/ 9 h 73"/>
                  <a:gd name="T32" fmla="*/ 11 w 73"/>
                  <a:gd name="T33" fmla="*/ 12 h 73"/>
                  <a:gd name="T34" fmla="*/ 6 w 73"/>
                  <a:gd name="T35" fmla="*/ 17 h 73"/>
                  <a:gd name="T36" fmla="*/ 5 w 73"/>
                  <a:gd name="T37" fmla="*/ 21 h 73"/>
                  <a:gd name="T38" fmla="*/ 2 w 73"/>
                  <a:gd name="T39" fmla="*/ 27 h 73"/>
                  <a:gd name="T40" fmla="*/ 2 w 73"/>
                  <a:gd name="T41" fmla="*/ 31 h 73"/>
                  <a:gd name="T42" fmla="*/ 0 w 73"/>
                  <a:gd name="T43" fmla="*/ 37 h 73"/>
                  <a:gd name="T44" fmla="*/ 0 w 73"/>
                  <a:gd name="T45" fmla="*/ 40 h 73"/>
                  <a:gd name="T46" fmla="*/ 2 w 73"/>
                  <a:gd name="T47" fmla="*/ 46 h 73"/>
                  <a:gd name="T48" fmla="*/ 3 w 73"/>
                  <a:gd name="T49" fmla="*/ 51 h 73"/>
                  <a:gd name="T50" fmla="*/ 6 w 73"/>
                  <a:gd name="T51" fmla="*/ 57 h 73"/>
                  <a:gd name="T52" fmla="*/ 9 w 73"/>
                  <a:gd name="T53" fmla="*/ 60 h 73"/>
                  <a:gd name="T54" fmla="*/ 12 w 73"/>
                  <a:gd name="T55" fmla="*/ 64 h 73"/>
                  <a:gd name="T56" fmla="*/ 16 w 73"/>
                  <a:gd name="T57" fmla="*/ 67 h 73"/>
                  <a:gd name="T58" fmla="*/ 21 w 73"/>
                  <a:gd name="T59" fmla="*/ 70 h 73"/>
                  <a:gd name="T60" fmla="*/ 25 w 73"/>
                  <a:gd name="T61" fmla="*/ 71 h 73"/>
                  <a:gd name="T62" fmla="*/ 31 w 73"/>
                  <a:gd name="T63" fmla="*/ 73 h 73"/>
                  <a:gd name="T64" fmla="*/ 37 w 73"/>
                  <a:gd name="T65" fmla="*/ 73 h 73"/>
                  <a:gd name="T66" fmla="*/ 40 w 73"/>
                  <a:gd name="T67" fmla="*/ 73 h 73"/>
                  <a:gd name="T68" fmla="*/ 46 w 73"/>
                  <a:gd name="T69" fmla="*/ 73 h 73"/>
                  <a:gd name="T70" fmla="*/ 51 w 73"/>
                  <a:gd name="T71" fmla="*/ 70 h 73"/>
                  <a:gd name="T72" fmla="*/ 55 w 73"/>
                  <a:gd name="T73" fmla="*/ 68 h 73"/>
                  <a:gd name="T74" fmla="*/ 59 w 73"/>
                  <a:gd name="T75" fmla="*/ 66 h 73"/>
                  <a:gd name="T76" fmla="*/ 64 w 73"/>
                  <a:gd name="T77" fmla="*/ 61 h 73"/>
                  <a:gd name="T78" fmla="*/ 67 w 73"/>
                  <a:gd name="T79" fmla="*/ 58 h 73"/>
                  <a:gd name="T80" fmla="*/ 70 w 73"/>
                  <a:gd name="T81" fmla="*/ 52 h 73"/>
                  <a:gd name="T82" fmla="*/ 71 w 73"/>
                  <a:gd name="T83" fmla="*/ 48 h 73"/>
                  <a:gd name="T84" fmla="*/ 73 w 73"/>
                  <a:gd name="T85" fmla="*/ 43 h 73"/>
                  <a:gd name="T86" fmla="*/ 73 w 73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lnTo>
                      <a:pt x="73" y="36"/>
                    </a:lnTo>
                    <a:lnTo>
                      <a:pt x="73" y="33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9"/>
                    </a:lnTo>
                    <a:lnTo>
                      <a:pt x="71" y="27"/>
                    </a:lnTo>
                    <a:lnTo>
                      <a:pt x="71" y="26"/>
                    </a:lnTo>
                    <a:lnTo>
                      <a:pt x="70" y="23"/>
                    </a:lnTo>
                    <a:lnTo>
                      <a:pt x="70" y="21"/>
                    </a:lnTo>
                    <a:lnTo>
                      <a:pt x="68" y="20"/>
                    </a:lnTo>
                    <a:lnTo>
                      <a:pt x="68" y="18"/>
                    </a:lnTo>
                    <a:lnTo>
                      <a:pt x="67" y="17"/>
                    </a:lnTo>
                    <a:lnTo>
                      <a:pt x="65" y="15"/>
                    </a:lnTo>
                    <a:lnTo>
                      <a:pt x="65" y="14"/>
                    </a:lnTo>
                    <a:lnTo>
                      <a:pt x="64" y="12"/>
                    </a:lnTo>
                    <a:lnTo>
                      <a:pt x="62" y="12"/>
                    </a:lnTo>
                    <a:lnTo>
                      <a:pt x="61" y="11"/>
                    </a:lnTo>
                    <a:lnTo>
                      <a:pt x="59" y="9"/>
                    </a:lnTo>
                    <a:lnTo>
                      <a:pt x="58" y="8"/>
                    </a:lnTo>
                    <a:lnTo>
                      <a:pt x="56" y="8"/>
                    </a:lnTo>
                    <a:lnTo>
                      <a:pt x="55" y="6"/>
                    </a:lnTo>
                    <a:lnTo>
                      <a:pt x="54" y="5"/>
                    </a:lnTo>
                    <a:lnTo>
                      <a:pt x="52" y="5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8" y="3"/>
                    </a:lnTo>
                    <a:lnTo>
                      <a:pt x="46" y="2"/>
                    </a:lnTo>
                    <a:lnTo>
                      <a:pt x="45" y="2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8" y="2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8" y="6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4" y="9"/>
                    </a:lnTo>
                    <a:lnTo>
                      <a:pt x="12" y="11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4"/>
                    </a:lnTo>
                    <a:lnTo>
                      <a:pt x="8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51"/>
                    </a:lnTo>
                    <a:lnTo>
                      <a:pt x="5" y="52"/>
                    </a:lnTo>
                    <a:lnTo>
                      <a:pt x="5" y="55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8" y="58"/>
                    </a:lnTo>
                    <a:lnTo>
                      <a:pt x="9" y="60"/>
                    </a:lnTo>
                    <a:lnTo>
                      <a:pt x="11" y="61"/>
                    </a:lnTo>
                    <a:lnTo>
                      <a:pt x="11" y="63"/>
                    </a:lnTo>
                    <a:lnTo>
                      <a:pt x="12" y="64"/>
                    </a:lnTo>
                    <a:lnTo>
                      <a:pt x="14" y="66"/>
                    </a:lnTo>
                    <a:lnTo>
                      <a:pt x="15" y="66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70"/>
                    </a:lnTo>
                    <a:lnTo>
                      <a:pt x="22" y="70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3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2" y="73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8" y="71"/>
                    </a:lnTo>
                    <a:lnTo>
                      <a:pt x="49" y="71"/>
                    </a:lnTo>
                    <a:lnTo>
                      <a:pt x="51" y="70"/>
                    </a:lnTo>
                    <a:lnTo>
                      <a:pt x="52" y="70"/>
                    </a:lnTo>
                    <a:lnTo>
                      <a:pt x="54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6"/>
                    </a:lnTo>
                    <a:lnTo>
                      <a:pt x="59" y="66"/>
                    </a:lnTo>
                    <a:lnTo>
                      <a:pt x="61" y="64"/>
                    </a:lnTo>
                    <a:lnTo>
                      <a:pt x="62" y="63"/>
                    </a:lnTo>
                    <a:lnTo>
                      <a:pt x="64" y="61"/>
                    </a:lnTo>
                    <a:lnTo>
                      <a:pt x="65" y="60"/>
                    </a:lnTo>
                    <a:lnTo>
                      <a:pt x="65" y="58"/>
                    </a:lnTo>
                    <a:lnTo>
                      <a:pt x="67" y="58"/>
                    </a:lnTo>
                    <a:lnTo>
                      <a:pt x="68" y="57"/>
                    </a:lnTo>
                    <a:lnTo>
                      <a:pt x="68" y="55"/>
                    </a:lnTo>
                    <a:lnTo>
                      <a:pt x="70" y="52"/>
                    </a:lnTo>
                    <a:lnTo>
                      <a:pt x="70" y="51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3" y="45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9"/>
                    </a:lnTo>
                    <a:lnTo>
                      <a:pt x="73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0" name="Freeform 132"/>
              <p:cNvSpPr>
                <a:spLocks/>
              </p:cNvSpPr>
              <p:nvPr/>
            </p:nvSpPr>
            <p:spPr bwMode="auto">
              <a:xfrm>
                <a:off x="1740" y="1548"/>
                <a:ext cx="0" cy="139"/>
              </a:xfrm>
              <a:custGeom>
                <a:avLst/>
                <a:gdLst>
                  <a:gd name="T0" fmla="*/ 0 h 415"/>
                  <a:gd name="T1" fmla="*/ 415 h 415"/>
                  <a:gd name="T2" fmla="*/ 0 h 4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5">
                    <a:moveTo>
                      <a:pt x="0" y="0"/>
                    </a:moveTo>
                    <a:lnTo>
                      <a:pt x="0" y="4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1" name="Line 133"/>
              <p:cNvSpPr>
                <a:spLocks noChangeShapeType="1"/>
              </p:cNvSpPr>
              <p:nvPr/>
            </p:nvSpPr>
            <p:spPr bwMode="auto">
              <a:xfrm>
                <a:off x="1740" y="1548"/>
                <a:ext cx="0" cy="13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2" name="Freeform 134"/>
              <p:cNvSpPr>
                <a:spLocks/>
              </p:cNvSpPr>
              <p:nvPr/>
            </p:nvSpPr>
            <p:spPr bwMode="auto">
              <a:xfrm>
                <a:off x="1937" y="1548"/>
                <a:ext cx="0" cy="139"/>
              </a:xfrm>
              <a:custGeom>
                <a:avLst/>
                <a:gdLst>
                  <a:gd name="T0" fmla="*/ 0 h 415"/>
                  <a:gd name="T1" fmla="*/ 415 h 415"/>
                  <a:gd name="T2" fmla="*/ 0 h 4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5">
                    <a:moveTo>
                      <a:pt x="0" y="0"/>
                    </a:moveTo>
                    <a:lnTo>
                      <a:pt x="0" y="4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3" name="Line 135"/>
              <p:cNvSpPr>
                <a:spLocks noChangeShapeType="1"/>
              </p:cNvSpPr>
              <p:nvPr/>
            </p:nvSpPr>
            <p:spPr bwMode="auto">
              <a:xfrm>
                <a:off x="1937" y="1548"/>
                <a:ext cx="0" cy="13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4" name="Freeform 136"/>
              <p:cNvSpPr>
                <a:spLocks/>
              </p:cNvSpPr>
              <p:nvPr/>
            </p:nvSpPr>
            <p:spPr bwMode="auto">
              <a:xfrm>
                <a:off x="1828" y="1539"/>
                <a:ext cx="20" cy="19"/>
              </a:xfrm>
              <a:custGeom>
                <a:avLst/>
                <a:gdLst>
                  <a:gd name="T0" fmla="*/ 60 w 60"/>
                  <a:gd name="T1" fmla="*/ 28 h 59"/>
                  <a:gd name="T2" fmla="*/ 60 w 60"/>
                  <a:gd name="T3" fmla="*/ 23 h 59"/>
                  <a:gd name="T4" fmla="*/ 58 w 60"/>
                  <a:gd name="T5" fmla="*/ 19 h 59"/>
                  <a:gd name="T6" fmla="*/ 57 w 60"/>
                  <a:gd name="T7" fmla="*/ 14 h 59"/>
                  <a:gd name="T8" fmla="*/ 55 w 60"/>
                  <a:gd name="T9" fmla="*/ 11 h 59"/>
                  <a:gd name="T10" fmla="*/ 52 w 60"/>
                  <a:gd name="T11" fmla="*/ 9 h 59"/>
                  <a:gd name="T12" fmla="*/ 48 w 60"/>
                  <a:gd name="T13" fmla="*/ 6 h 59"/>
                  <a:gd name="T14" fmla="*/ 45 w 60"/>
                  <a:gd name="T15" fmla="*/ 3 h 59"/>
                  <a:gd name="T16" fmla="*/ 40 w 60"/>
                  <a:gd name="T17" fmla="*/ 1 h 59"/>
                  <a:gd name="T18" fmla="*/ 37 w 60"/>
                  <a:gd name="T19" fmla="*/ 0 h 59"/>
                  <a:gd name="T20" fmla="*/ 33 w 60"/>
                  <a:gd name="T21" fmla="*/ 0 h 59"/>
                  <a:gd name="T22" fmla="*/ 28 w 60"/>
                  <a:gd name="T23" fmla="*/ 0 h 59"/>
                  <a:gd name="T24" fmla="*/ 24 w 60"/>
                  <a:gd name="T25" fmla="*/ 0 h 59"/>
                  <a:gd name="T26" fmla="*/ 21 w 60"/>
                  <a:gd name="T27" fmla="*/ 1 h 59"/>
                  <a:gd name="T28" fmla="*/ 17 w 60"/>
                  <a:gd name="T29" fmla="*/ 3 h 59"/>
                  <a:gd name="T30" fmla="*/ 14 w 60"/>
                  <a:gd name="T31" fmla="*/ 6 h 59"/>
                  <a:gd name="T32" fmla="*/ 9 w 60"/>
                  <a:gd name="T33" fmla="*/ 9 h 59"/>
                  <a:gd name="T34" fmla="*/ 6 w 60"/>
                  <a:gd name="T35" fmla="*/ 11 h 59"/>
                  <a:gd name="T36" fmla="*/ 5 w 60"/>
                  <a:gd name="T37" fmla="*/ 14 h 59"/>
                  <a:gd name="T38" fmla="*/ 3 w 60"/>
                  <a:gd name="T39" fmla="*/ 19 h 59"/>
                  <a:gd name="T40" fmla="*/ 2 w 60"/>
                  <a:gd name="T41" fmla="*/ 23 h 59"/>
                  <a:gd name="T42" fmla="*/ 2 w 60"/>
                  <a:gd name="T43" fmla="*/ 28 h 59"/>
                  <a:gd name="T44" fmla="*/ 2 w 60"/>
                  <a:gd name="T45" fmla="*/ 31 h 59"/>
                  <a:gd name="T46" fmla="*/ 2 w 60"/>
                  <a:gd name="T47" fmla="*/ 35 h 59"/>
                  <a:gd name="T48" fmla="*/ 3 w 60"/>
                  <a:gd name="T49" fmla="*/ 40 h 59"/>
                  <a:gd name="T50" fmla="*/ 5 w 60"/>
                  <a:gd name="T51" fmla="*/ 43 h 59"/>
                  <a:gd name="T52" fmla="*/ 6 w 60"/>
                  <a:gd name="T53" fmla="*/ 47 h 59"/>
                  <a:gd name="T54" fmla="*/ 9 w 60"/>
                  <a:gd name="T55" fmla="*/ 50 h 59"/>
                  <a:gd name="T56" fmla="*/ 14 w 60"/>
                  <a:gd name="T57" fmla="*/ 53 h 59"/>
                  <a:gd name="T58" fmla="*/ 17 w 60"/>
                  <a:gd name="T59" fmla="*/ 54 h 59"/>
                  <a:gd name="T60" fmla="*/ 21 w 60"/>
                  <a:gd name="T61" fmla="*/ 56 h 59"/>
                  <a:gd name="T62" fmla="*/ 24 w 60"/>
                  <a:gd name="T63" fmla="*/ 57 h 59"/>
                  <a:gd name="T64" fmla="*/ 28 w 60"/>
                  <a:gd name="T65" fmla="*/ 59 h 59"/>
                  <a:gd name="T66" fmla="*/ 33 w 60"/>
                  <a:gd name="T67" fmla="*/ 59 h 59"/>
                  <a:gd name="T68" fmla="*/ 37 w 60"/>
                  <a:gd name="T69" fmla="*/ 57 h 59"/>
                  <a:gd name="T70" fmla="*/ 40 w 60"/>
                  <a:gd name="T71" fmla="*/ 56 h 59"/>
                  <a:gd name="T72" fmla="*/ 45 w 60"/>
                  <a:gd name="T73" fmla="*/ 54 h 59"/>
                  <a:gd name="T74" fmla="*/ 48 w 60"/>
                  <a:gd name="T75" fmla="*/ 53 h 59"/>
                  <a:gd name="T76" fmla="*/ 52 w 60"/>
                  <a:gd name="T77" fmla="*/ 50 h 59"/>
                  <a:gd name="T78" fmla="*/ 55 w 60"/>
                  <a:gd name="T79" fmla="*/ 47 h 59"/>
                  <a:gd name="T80" fmla="*/ 57 w 60"/>
                  <a:gd name="T81" fmla="*/ 43 h 59"/>
                  <a:gd name="T82" fmla="*/ 58 w 60"/>
                  <a:gd name="T83" fmla="*/ 40 h 59"/>
                  <a:gd name="T84" fmla="*/ 60 w 60"/>
                  <a:gd name="T85" fmla="*/ 35 h 59"/>
                  <a:gd name="T86" fmla="*/ 60 w 60"/>
                  <a:gd name="T87" fmla="*/ 31 h 59"/>
                  <a:gd name="T88" fmla="*/ 30 w 60"/>
                  <a:gd name="T89" fmla="*/ 2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0" h="59">
                    <a:moveTo>
                      <a:pt x="30" y="29"/>
                    </a:moveTo>
                    <a:lnTo>
                      <a:pt x="60" y="29"/>
                    </a:lnTo>
                    <a:lnTo>
                      <a:pt x="60" y="28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3"/>
                    </a:lnTo>
                    <a:lnTo>
                      <a:pt x="60" y="22"/>
                    </a:lnTo>
                    <a:lnTo>
                      <a:pt x="60" y="20"/>
                    </a:lnTo>
                    <a:lnTo>
                      <a:pt x="58" y="19"/>
                    </a:lnTo>
                    <a:lnTo>
                      <a:pt x="58" y="17"/>
                    </a:lnTo>
                    <a:lnTo>
                      <a:pt x="58" y="16"/>
                    </a:lnTo>
                    <a:lnTo>
                      <a:pt x="57" y="14"/>
                    </a:lnTo>
                    <a:lnTo>
                      <a:pt x="57" y="13"/>
                    </a:lnTo>
                    <a:lnTo>
                      <a:pt x="55" y="13"/>
                    </a:lnTo>
                    <a:lnTo>
                      <a:pt x="55" y="11"/>
                    </a:lnTo>
                    <a:lnTo>
                      <a:pt x="54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4"/>
                    </a:lnTo>
                    <a:lnTo>
                      <a:pt x="46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3" y="1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2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2" y="31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7"/>
                    </a:lnTo>
                    <a:lnTo>
                      <a:pt x="9" y="48"/>
                    </a:lnTo>
                    <a:lnTo>
                      <a:pt x="9" y="50"/>
                    </a:lnTo>
                    <a:lnTo>
                      <a:pt x="11" y="51"/>
                    </a:lnTo>
                    <a:lnTo>
                      <a:pt x="12" y="51"/>
                    </a:lnTo>
                    <a:lnTo>
                      <a:pt x="14" y="53"/>
                    </a:lnTo>
                    <a:lnTo>
                      <a:pt x="14" y="53"/>
                    </a:lnTo>
                    <a:lnTo>
                      <a:pt x="15" y="54"/>
                    </a:lnTo>
                    <a:lnTo>
                      <a:pt x="17" y="54"/>
                    </a:lnTo>
                    <a:lnTo>
                      <a:pt x="18" y="56"/>
                    </a:lnTo>
                    <a:lnTo>
                      <a:pt x="20" y="56"/>
                    </a:lnTo>
                    <a:lnTo>
                      <a:pt x="21" y="56"/>
                    </a:lnTo>
                    <a:lnTo>
                      <a:pt x="23" y="57"/>
                    </a:lnTo>
                    <a:lnTo>
                      <a:pt x="24" y="57"/>
                    </a:lnTo>
                    <a:lnTo>
                      <a:pt x="24" y="57"/>
                    </a:lnTo>
                    <a:lnTo>
                      <a:pt x="25" y="57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7"/>
                    </a:lnTo>
                    <a:lnTo>
                      <a:pt x="37" y="57"/>
                    </a:lnTo>
                    <a:lnTo>
                      <a:pt x="37" y="57"/>
                    </a:lnTo>
                    <a:lnTo>
                      <a:pt x="39" y="57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4"/>
                    </a:lnTo>
                    <a:lnTo>
                      <a:pt x="46" y="54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9" y="51"/>
                    </a:lnTo>
                    <a:lnTo>
                      <a:pt x="51" y="51"/>
                    </a:lnTo>
                    <a:lnTo>
                      <a:pt x="52" y="50"/>
                    </a:lnTo>
                    <a:lnTo>
                      <a:pt x="52" y="48"/>
                    </a:lnTo>
                    <a:lnTo>
                      <a:pt x="54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7" y="44"/>
                    </a:lnTo>
                    <a:lnTo>
                      <a:pt x="57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60" y="38"/>
                    </a:lnTo>
                    <a:lnTo>
                      <a:pt x="60" y="37"/>
                    </a:lnTo>
                    <a:lnTo>
                      <a:pt x="60" y="35"/>
                    </a:lnTo>
                    <a:lnTo>
                      <a:pt x="60" y="34"/>
                    </a:lnTo>
                    <a:lnTo>
                      <a:pt x="60" y="32"/>
                    </a:lnTo>
                    <a:lnTo>
                      <a:pt x="60" y="31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30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5" name="Freeform 137"/>
              <p:cNvSpPr>
                <a:spLocks/>
              </p:cNvSpPr>
              <p:nvPr/>
            </p:nvSpPr>
            <p:spPr bwMode="auto">
              <a:xfrm>
                <a:off x="1832" y="1532"/>
                <a:ext cx="25" cy="24"/>
              </a:xfrm>
              <a:custGeom>
                <a:avLst/>
                <a:gdLst>
                  <a:gd name="T0" fmla="*/ 73 w 73"/>
                  <a:gd name="T1" fmla="*/ 33 h 73"/>
                  <a:gd name="T2" fmla="*/ 71 w 73"/>
                  <a:gd name="T3" fmla="*/ 29 h 73"/>
                  <a:gd name="T4" fmla="*/ 70 w 73"/>
                  <a:gd name="T5" fmla="*/ 23 h 73"/>
                  <a:gd name="T6" fmla="*/ 68 w 73"/>
                  <a:gd name="T7" fmla="*/ 18 h 73"/>
                  <a:gd name="T8" fmla="*/ 65 w 73"/>
                  <a:gd name="T9" fmla="*/ 14 h 73"/>
                  <a:gd name="T10" fmla="*/ 61 w 73"/>
                  <a:gd name="T11" fmla="*/ 11 h 73"/>
                  <a:gd name="T12" fmla="*/ 56 w 73"/>
                  <a:gd name="T13" fmla="*/ 8 h 73"/>
                  <a:gd name="T14" fmla="*/ 52 w 73"/>
                  <a:gd name="T15" fmla="*/ 5 h 73"/>
                  <a:gd name="T16" fmla="*/ 48 w 73"/>
                  <a:gd name="T17" fmla="*/ 3 h 73"/>
                  <a:gd name="T18" fmla="*/ 42 w 73"/>
                  <a:gd name="T19" fmla="*/ 2 h 73"/>
                  <a:gd name="T20" fmla="*/ 37 w 73"/>
                  <a:gd name="T21" fmla="*/ 0 h 73"/>
                  <a:gd name="T22" fmla="*/ 33 w 73"/>
                  <a:gd name="T23" fmla="*/ 2 h 73"/>
                  <a:gd name="T24" fmla="*/ 28 w 73"/>
                  <a:gd name="T25" fmla="*/ 2 h 73"/>
                  <a:gd name="T26" fmla="*/ 22 w 73"/>
                  <a:gd name="T27" fmla="*/ 3 h 73"/>
                  <a:gd name="T28" fmla="*/ 18 w 73"/>
                  <a:gd name="T29" fmla="*/ 6 h 73"/>
                  <a:gd name="T30" fmla="*/ 13 w 73"/>
                  <a:gd name="T31" fmla="*/ 9 h 73"/>
                  <a:gd name="T32" fmla="*/ 11 w 73"/>
                  <a:gd name="T33" fmla="*/ 12 h 73"/>
                  <a:gd name="T34" fmla="*/ 6 w 73"/>
                  <a:gd name="T35" fmla="*/ 17 h 73"/>
                  <a:gd name="T36" fmla="*/ 5 w 73"/>
                  <a:gd name="T37" fmla="*/ 21 h 73"/>
                  <a:gd name="T38" fmla="*/ 2 w 73"/>
                  <a:gd name="T39" fmla="*/ 27 h 73"/>
                  <a:gd name="T40" fmla="*/ 2 w 73"/>
                  <a:gd name="T41" fmla="*/ 31 h 73"/>
                  <a:gd name="T42" fmla="*/ 0 w 73"/>
                  <a:gd name="T43" fmla="*/ 37 h 73"/>
                  <a:gd name="T44" fmla="*/ 0 w 73"/>
                  <a:gd name="T45" fmla="*/ 40 h 73"/>
                  <a:gd name="T46" fmla="*/ 2 w 73"/>
                  <a:gd name="T47" fmla="*/ 46 h 73"/>
                  <a:gd name="T48" fmla="*/ 3 w 73"/>
                  <a:gd name="T49" fmla="*/ 51 h 73"/>
                  <a:gd name="T50" fmla="*/ 6 w 73"/>
                  <a:gd name="T51" fmla="*/ 57 h 73"/>
                  <a:gd name="T52" fmla="*/ 9 w 73"/>
                  <a:gd name="T53" fmla="*/ 60 h 73"/>
                  <a:gd name="T54" fmla="*/ 12 w 73"/>
                  <a:gd name="T55" fmla="*/ 64 h 73"/>
                  <a:gd name="T56" fmla="*/ 16 w 73"/>
                  <a:gd name="T57" fmla="*/ 67 h 73"/>
                  <a:gd name="T58" fmla="*/ 21 w 73"/>
                  <a:gd name="T59" fmla="*/ 70 h 73"/>
                  <a:gd name="T60" fmla="*/ 25 w 73"/>
                  <a:gd name="T61" fmla="*/ 71 h 73"/>
                  <a:gd name="T62" fmla="*/ 31 w 73"/>
                  <a:gd name="T63" fmla="*/ 73 h 73"/>
                  <a:gd name="T64" fmla="*/ 37 w 73"/>
                  <a:gd name="T65" fmla="*/ 73 h 73"/>
                  <a:gd name="T66" fmla="*/ 40 w 73"/>
                  <a:gd name="T67" fmla="*/ 73 h 73"/>
                  <a:gd name="T68" fmla="*/ 46 w 73"/>
                  <a:gd name="T69" fmla="*/ 73 h 73"/>
                  <a:gd name="T70" fmla="*/ 50 w 73"/>
                  <a:gd name="T71" fmla="*/ 70 h 73"/>
                  <a:gd name="T72" fmla="*/ 55 w 73"/>
                  <a:gd name="T73" fmla="*/ 68 h 73"/>
                  <a:gd name="T74" fmla="*/ 59 w 73"/>
                  <a:gd name="T75" fmla="*/ 66 h 73"/>
                  <a:gd name="T76" fmla="*/ 64 w 73"/>
                  <a:gd name="T77" fmla="*/ 61 h 73"/>
                  <a:gd name="T78" fmla="*/ 67 w 73"/>
                  <a:gd name="T79" fmla="*/ 58 h 73"/>
                  <a:gd name="T80" fmla="*/ 70 w 73"/>
                  <a:gd name="T81" fmla="*/ 52 h 73"/>
                  <a:gd name="T82" fmla="*/ 71 w 73"/>
                  <a:gd name="T83" fmla="*/ 48 h 73"/>
                  <a:gd name="T84" fmla="*/ 73 w 73"/>
                  <a:gd name="T85" fmla="*/ 43 h 73"/>
                  <a:gd name="T86" fmla="*/ 73 w 73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lnTo>
                      <a:pt x="73" y="36"/>
                    </a:lnTo>
                    <a:lnTo>
                      <a:pt x="73" y="33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9"/>
                    </a:lnTo>
                    <a:lnTo>
                      <a:pt x="71" y="27"/>
                    </a:lnTo>
                    <a:lnTo>
                      <a:pt x="71" y="26"/>
                    </a:lnTo>
                    <a:lnTo>
                      <a:pt x="70" y="23"/>
                    </a:lnTo>
                    <a:lnTo>
                      <a:pt x="70" y="21"/>
                    </a:lnTo>
                    <a:lnTo>
                      <a:pt x="68" y="20"/>
                    </a:lnTo>
                    <a:lnTo>
                      <a:pt x="68" y="18"/>
                    </a:lnTo>
                    <a:lnTo>
                      <a:pt x="67" y="17"/>
                    </a:lnTo>
                    <a:lnTo>
                      <a:pt x="65" y="15"/>
                    </a:lnTo>
                    <a:lnTo>
                      <a:pt x="65" y="14"/>
                    </a:lnTo>
                    <a:lnTo>
                      <a:pt x="64" y="12"/>
                    </a:lnTo>
                    <a:lnTo>
                      <a:pt x="62" y="12"/>
                    </a:lnTo>
                    <a:lnTo>
                      <a:pt x="61" y="11"/>
                    </a:lnTo>
                    <a:lnTo>
                      <a:pt x="59" y="9"/>
                    </a:lnTo>
                    <a:lnTo>
                      <a:pt x="58" y="8"/>
                    </a:lnTo>
                    <a:lnTo>
                      <a:pt x="56" y="8"/>
                    </a:lnTo>
                    <a:lnTo>
                      <a:pt x="55" y="6"/>
                    </a:lnTo>
                    <a:lnTo>
                      <a:pt x="53" y="5"/>
                    </a:lnTo>
                    <a:lnTo>
                      <a:pt x="52" y="5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8" y="3"/>
                    </a:lnTo>
                    <a:lnTo>
                      <a:pt x="46" y="2"/>
                    </a:lnTo>
                    <a:lnTo>
                      <a:pt x="45" y="2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8" y="2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8" y="6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3" y="9"/>
                    </a:lnTo>
                    <a:lnTo>
                      <a:pt x="12" y="11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4"/>
                    </a:lnTo>
                    <a:lnTo>
                      <a:pt x="8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51"/>
                    </a:lnTo>
                    <a:lnTo>
                      <a:pt x="5" y="52"/>
                    </a:lnTo>
                    <a:lnTo>
                      <a:pt x="5" y="55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8" y="58"/>
                    </a:lnTo>
                    <a:lnTo>
                      <a:pt x="9" y="60"/>
                    </a:lnTo>
                    <a:lnTo>
                      <a:pt x="11" y="61"/>
                    </a:lnTo>
                    <a:lnTo>
                      <a:pt x="11" y="63"/>
                    </a:lnTo>
                    <a:lnTo>
                      <a:pt x="12" y="64"/>
                    </a:lnTo>
                    <a:lnTo>
                      <a:pt x="13" y="66"/>
                    </a:lnTo>
                    <a:lnTo>
                      <a:pt x="15" y="66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70"/>
                    </a:lnTo>
                    <a:lnTo>
                      <a:pt x="22" y="70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3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2" y="73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8" y="71"/>
                    </a:lnTo>
                    <a:lnTo>
                      <a:pt x="49" y="71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6"/>
                    </a:lnTo>
                    <a:lnTo>
                      <a:pt x="59" y="66"/>
                    </a:lnTo>
                    <a:lnTo>
                      <a:pt x="61" y="64"/>
                    </a:lnTo>
                    <a:lnTo>
                      <a:pt x="62" y="63"/>
                    </a:lnTo>
                    <a:lnTo>
                      <a:pt x="64" y="61"/>
                    </a:lnTo>
                    <a:lnTo>
                      <a:pt x="65" y="60"/>
                    </a:lnTo>
                    <a:lnTo>
                      <a:pt x="65" y="58"/>
                    </a:lnTo>
                    <a:lnTo>
                      <a:pt x="67" y="58"/>
                    </a:lnTo>
                    <a:lnTo>
                      <a:pt x="68" y="57"/>
                    </a:lnTo>
                    <a:lnTo>
                      <a:pt x="68" y="55"/>
                    </a:lnTo>
                    <a:lnTo>
                      <a:pt x="70" y="52"/>
                    </a:lnTo>
                    <a:lnTo>
                      <a:pt x="70" y="51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3" y="45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9"/>
                    </a:lnTo>
                    <a:lnTo>
                      <a:pt x="73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6" name="Line 138"/>
              <p:cNvSpPr>
                <a:spLocks noChangeShapeType="1"/>
              </p:cNvSpPr>
              <p:nvPr/>
            </p:nvSpPr>
            <p:spPr bwMode="auto">
              <a:xfrm flipH="1">
                <a:off x="2253" y="2131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7" name="Line 139"/>
              <p:cNvSpPr>
                <a:spLocks noChangeShapeType="1"/>
              </p:cNvSpPr>
              <p:nvPr/>
            </p:nvSpPr>
            <p:spPr bwMode="auto">
              <a:xfrm flipH="1" flipV="1">
                <a:off x="2253" y="2131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8" name="Line 140"/>
              <p:cNvSpPr>
                <a:spLocks noChangeShapeType="1"/>
              </p:cNvSpPr>
              <p:nvPr/>
            </p:nvSpPr>
            <p:spPr bwMode="auto">
              <a:xfrm flipH="1">
                <a:off x="2144" y="2279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19" name="Line 141"/>
              <p:cNvSpPr>
                <a:spLocks noChangeShapeType="1"/>
              </p:cNvSpPr>
              <p:nvPr/>
            </p:nvSpPr>
            <p:spPr bwMode="auto">
              <a:xfrm flipH="1" flipV="1">
                <a:off x="2144" y="2279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0" name="Line 142"/>
              <p:cNvSpPr>
                <a:spLocks noChangeShapeType="1"/>
              </p:cNvSpPr>
              <p:nvPr/>
            </p:nvSpPr>
            <p:spPr bwMode="auto">
              <a:xfrm flipV="1">
                <a:off x="2174" y="1548"/>
                <a:ext cx="0" cy="218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1" name="Line 143"/>
              <p:cNvSpPr>
                <a:spLocks noChangeShapeType="1"/>
              </p:cNvSpPr>
              <p:nvPr/>
            </p:nvSpPr>
            <p:spPr bwMode="auto">
              <a:xfrm>
                <a:off x="2174" y="1548"/>
                <a:ext cx="9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2" name="Line 144"/>
              <p:cNvSpPr>
                <a:spLocks noChangeShapeType="1"/>
              </p:cNvSpPr>
              <p:nvPr/>
            </p:nvSpPr>
            <p:spPr bwMode="auto">
              <a:xfrm flipV="1">
                <a:off x="2273" y="1835"/>
                <a:ext cx="0" cy="1895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3" name="Line 145"/>
              <p:cNvSpPr>
                <a:spLocks noChangeShapeType="1"/>
              </p:cNvSpPr>
              <p:nvPr/>
            </p:nvSpPr>
            <p:spPr bwMode="auto">
              <a:xfrm>
                <a:off x="2273" y="1548"/>
                <a:ext cx="0" cy="13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4" name="Freeform 146"/>
              <p:cNvSpPr>
                <a:spLocks/>
              </p:cNvSpPr>
              <p:nvPr/>
            </p:nvSpPr>
            <p:spPr bwMode="auto">
              <a:xfrm>
                <a:off x="2164" y="1539"/>
                <a:ext cx="20" cy="19"/>
              </a:xfrm>
              <a:custGeom>
                <a:avLst/>
                <a:gdLst>
                  <a:gd name="T0" fmla="*/ 59 w 59"/>
                  <a:gd name="T1" fmla="*/ 28 h 59"/>
                  <a:gd name="T2" fmla="*/ 59 w 59"/>
                  <a:gd name="T3" fmla="*/ 23 h 59"/>
                  <a:gd name="T4" fmla="*/ 58 w 59"/>
                  <a:gd name="T5" fmla="*/ 19 h 59"/>
                  <a:gd name="T6" fmla="*/ 57 w 59"/>
                  <a:gd name="T7" fmla="*/ 14 h 59"/>
                  <a:gd name="T8" fmla="*/ 55 w 59"/>
                  <a:gd name="T9" fmla="*/ 11 h 59"/>
                  <a:gd name="T10" fmla="*/ 52 w 59"/>
                  <a:gd name="T11" fmla="*/ 9 h 59"/>
                  <a:gd name="T12" fmla="*/ 48 w 59"/>
                  <a:gd name="T13" fmla="*/ 6 h 59"/>
                  <a:gd name="T14" fmla="*/ 45 w 59"/>
                  <a:gd name="T15" fmla="*/ 3 h 59"/>
                  <a:gd name="T16" fmla="*/ 40 w 59"/>
                  <a:gd name="T17" fmla="*/ 1 h 59"/>
                  <a:gd name="T18" fmla="*/ 37 w 59"/>
                  <a:gd name="T19" fmla="*/ 0 h 59"/>
                  <a:gd name="T20" fmla="*/ 33 w 59"/>
                  <a:gd name="T21" fmla="*/ 0 h 59"/>
                  <a:gd name="T22" fmla="*/ 28 w 59"/>
                  <a:gd name="T23" fmla="*/ 0 h 59"/>
                  <a:gd name="T24" fmla="*/ 24 w 59"/>
                  <a:gd name="T25" fmla="*/ 0 h 59"/>
                  <a:gd name="T26" fmla="*/ 21 w 59"/>
                  <a:gd name="T27" fmla="*/ 1 h 59"/>
                  <a:gd name="T28" fmla="*/ 17 w 59"/>
                  <a:gd name="T29" fmla="*/ 3 h 59"/>
                  <a:gd name="T30" fmla="*/ 14 w 59"/>
                  <a:gd name="T31" fmla="*/ 6 h 59"/>
                  <a:gd name="T32" fmla="*/ 9 w 59"/>
                  <a:gd name="T33" fmla="*/ 9 h 59"/>
                  <a:gd name="T34" fmla="*/ 6 w 59"/>
                  <a:gd name="T35" fmla="*/ 11 h 59"/>
                  <a:gd name="T36" fmla="*/ 5 w 59"/>
                  <a:gd name="T37" fmla="*/ 14 h 59"/>
                  <a:gd name="T38" fmla="*/ 3 w 59"/>
                  <a:gd name="T39" fmla="*/ 19 h 59"/>
                  <a:gd name="T40" fmla="*/ 2 w 59"/>
                  <a:gd name="T41" fmla="*/ 23 h 59"/>
                  <a:gd name="T42" fmla="*/ 2 w 59"/>
                  <a:gd name="T43" fmla="*/ 28 h 59"/>
                  <a:gd name="T44" fmla="*/ 2 w 59"/>
                  <a:gd name="T45" fmla="*/ 31 h 59"/>
                  <a:gd name="T46" fmla="*/ 2 w 59"/>
                  <a:gd name="T47" fmla="*/ 35 h 59"/>
                  <a:gd name="T48" fmla="*/ 3 w 59"/>
                  <a:gd name="T49" fmla="*/ 40 h 59"/>
                  <a:gd name="T50" fmla="*/ 5 w 59"/>
                  <a:gd name="T51" fmla="*/ 43 h 59"/>
                  <a:gd name="T52" fmla="*/ 6 w 59"/>
                  <a:gd name="T53" fmla="*/ 47 h 59"/>
                  <a:gd name="T54" fmla="*/ 9 w 59"/>
                  <a:gd name="T55" fmla="*/ 50 h 59"/>
                  <a:gd name="T56" fmla="*/ 14 w 59"/>
                  <a:gd name="T57" fmla="*/ 53 h 59"/>
                  <a:gd name="T58" fmla="*/ 17 w 59"/>
                  <a:gd name="T59" fmla="*/ 54 h 59"/>
                  <a:gd name="T60" fmla="*/ 21 w 59"/>
                  <a:gd name="T61" fmla="*/ 56 h 59"/>
                  <a:gd name="T62" fmla="*/ 24 w 59"/>
                  <a:gd name="T63" fmla="*/ 57 h 59"/>
                  <a:gd name="T64" fmla="*/ 28 w 59"/>
                  <a:gd name="T65" fmla="*/ 59 h 59"/>
                  <a:gd name="T66" fmla="*/ 33 w 59"/>
                  <a:gd name="T67" fmla="*/ 59 h 59"/>
                  <a:gd name="T68" fmla="*/ 37 w 59"/>
                  <a:gd name="T69" fmla="*/ 57 h 59"/>
                  <a:gd name="T70" fmla="*/ 40 w 59"/>
                  <a:gd name="T71" fmla="*/ 56 h 59"/>
                  <a:gd name="T72" fmla="*/ 45 w 59"/>
                  <a:gd name="T73" fmla="*/ 54 h 59"/>
                  <a:gd name="T74" fmla="*/ 48 w 59"/>
                  <a:gd name="T75" fmla="*/ 53 h 59"/>
                  <a:gd name="T76" fmla="*/ 52 w 59"/>
                  <a:gd name="T77" fmla="*/ 50 h 59"/>
                  <a:gd name="T78" fmla="*/ 55 w 59"/>
                  <a:gd name="T79" fmla="*/ 47 h 59"/>
                  <a:gd name="T80" fmla="*/ 57 w 59"/>
                  <a:gd name="T81" fmla="*/ 43 h 59"/>
                  <a:gd name="T82" fmla="*/ 58 w 59"/>
                  <a:gd name="T83" fmla="*/ 40 h 59"/>
                  <a:gd name="T84" fmla="*/ 59 w 59"/>
                  <a:gd name="T85" fmla="*/ 35 h 59"/>
                  <a:gd name="T86" fmla="*/ 59 w 59"/>
                  <a:gd name="T87" fmla="*/ 31 h 59"/>
                  <a:gd name="T88" fmla="*/ 30 w 59"/>
                  <a:gd name="T89" fmla="*/ 2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29"/>
                    </a:moveTo>
                    <a:lnTo>
                      <a:pt x="59" y="29"/>
                    </a:lnTo>
                    <a:lnTo>
                      <a:pt x="59" y="28"/>
                    </a:lnTo>
                    <a:lnTo>
                      <a:pt x="59" y="26"/>
                    </a:lnTo>
                    <a:lnTo>
                      <a:pt x="59" y="25"/>
                    </a:lnTo>
                    <a:lnTo>
                      <a:pt x="59" y="23"/>
                    </a:lnTo>
                    <a:lnTo>
                      <a:pt x="59" y="22"/>
                    </a:lnTo>
                    <a:lnTo>
                      <a:pt x="59" y="20"/>
                    </a:lnTo>
                    <a:lnTo>
                      <a:pt x="58" y="19"/>
                    </a:lnTo>
                    <a:lnTo>
                      <a:pt x="58" y="17"/>
                    </a:lnTo>
                    <a:lnTo>
                      <a:pt x="58" y="16"/>
                    </a:lnTo>
                    <a:lnTo>
                      <a:pt x="57" y="14"/>
                    </a:lnTo>
                    <a:lnTo>
                      <a:pt x="57" y="13"/>
                    </a:lnTo>
                    <a:lnTo>
                      <a:pt x="55" y="13"/>
                    </a:lnTo>
                    <a:lnTo>
                      <a:pt x="55" y="11"/>
                    </a:lnTo>
                    <a:lnTo>
                      <a:pt x="54" y="10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4"/>
                    </a:lnTo>
                    <a:lnTo>
                      <a:pt x="46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1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3"/>
                    </a:lnTo>
                    <a:lnTo>
                      <a:pt x="17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2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2" y="31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7"/>
                    </a:lnTo>
                    <a:lnTo>
                      <a:pt x="9" y="48"/>
                    </a:lnTo>
                    <a:lnTo>
                      <a:pt x="9" y="50"/>
                    </a:lnTo>
                    <a:lnTo>
                      <a:pt x="11" y="51"/>
                    </a:lnTo>
                    <a:lnTo>
                      <a:pt x="12" y="51"/>
                    </a:lnTo>
                    <a:lnTo>
                      <a:pt x="14" y="53"/>
                    </a:lnTo>
                    <a:lnTo>
                      <a:pt x="14" y="53"/>
                    </a:lnTo>
                    <a:lnTo>
                      <a:pt x="15" y="54"/>
                    </a:lnTo>
                    <a:lnTo>
                      <a:pt x="17" y="54"/>
                    </a:lnTo>
                    <a:lnTo>
                      <a:pt x="18" y="56"/>
                    </a:lnTo>
                    <a:lnTo>
                      <a:pt x="20" y="56"/>
                    </a:lnTo>
                    <a:lnTo>
                      <a:pt x="21" y="56"/>
                    </a:lnTo>
                    <a:lnTo>
                      <a:pt x="22" y="57"/>
                    </a:lnTo>
                    <a:lnTo>
                      <a:pt x="22" y="57"/>
                    </a:lnTo>
                    <a:lnTo>
                      <a:pt x="24" y="57"/>
                    </a:lnTo>
                    <a:lnTo>
                      <a:pt x="25" y="57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7"/>
                    </a:lnTo>
                    <a:lnTo>
                      <a:pt x="37" y="57"/>
                    </a:lnTo>
                    <a:lnTo>
                      <a:pt x="37" y="57"/>
                    </a:lnTo>
                    <a:lnTo>
                      <a:pt x="39" y="57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4"/>
                    </a:lnTo>
                    <a:lnTo>
                      <a:pt x="46" y="54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9" y="51"/>
                    </a:lnTo>
                    <a:lnTo>
                      <a:pt x="51" y="51"/>
                    </a:lnTo>
                    <a:lnTo>
                      <a:pt x="52" y="50"/>
                    </a:lnTo>
                    <a:lnTo>
                      <a:pt x="52" y="48"/>
                    </a:lnTo>
                    <a:lnTo>
                      <a:pt x="54" y="47"/>
                    </a:lnTo>
                    <a:lnTo>
                      <a:pt x="55" y="47"/>
                    </a:lnTo>
                    <a:lnTo>
                      <a:pt x="55" y="46"/>
                    </a:lnTo>
                    <a:lnTo>
                      <a:pt x="57" y="44"/>
                    </a:lnTo>
                    <a:lnTo>
                      <a:pt x="57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5"/>
                    </a:lnTo>
                    <a:lnTo>
                      <a:pt x="59" y="34"/>
                    </a:lnTo>
                    <a:lnTo>
                      <a:pt x="59" y="32"/>
                    </a:lnTo>
                    <a:lnTo>
                      <a:pt x="59" y="31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30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5" name="Freeform 147"/>
              <p:cNvSpPr>
                <a:spLocks/>
              </p:cNvSpPr>
              <p:nvPr/>
            </p:nvSpPr>
            <p:spPr bwMode="auto">
              <a:xfrm>
                <a:off x="2168" y="1532"/>
                <a:ext cx="24" cy="24"/>
              </a:xfrm>
              <a:custGeom>
                <a:avLst/>
                <a:gdLst>
                  <a:gd name="T0" fmla="*/ 73 w 73"/>
                  <a:gd name="T1" fmla="*/ 33 h 73"/>
                  <a:gd name="T2" fmla="*/ 71 w 73"/>
                  <a:gd name="T3" fmla="*/ 29 h 73"/>
                  <a:gd name="T4" fmla="*/ 70 w 73"/>
                  <a:gd name="T5" fmla="*/ 23 h 73"/>
                  <a:gd name="T6" fmla="*/ 68 w 73"/>
                  <a:gd name="T7" fmla="*/ 18 h 73"/>
                  <a:gd name="T8" fmla="*/ 65 w 73"/>
                  <a:gd name="T9" fmla="*/ 14 h 73"/>
                  <a:gd name="T10" fmla="*/ 61 w 73"/>
                  <a:gd name="T11" fmla="*/ 11 h 73"/>
                  <a:gd name="T12" fmla="*/ 56 w 73"/>
                  <a:gd name="T13" fmla="*/ 8 h 73"/>
                  <a:gd name="T14" fmla="*/ 52 w 73"/>
                  <a:gd name="T15" fmla="*/ 5 h 73"/>
                  <a:gd name="T16" fmla="*/ 47 w 73"/>
                  <a:gd name="T17" fmla="*/ 3 h 73"/>
                  <a:gd name="T18" fmla="*/ 42 w 73"/>
                  <a:gd name="T19" fmla="*/ 2 h 73"/>
                  <a:gd name="T20" fmla="*/ 37 w 73"/>
                  <a:gd name="T21" fmla="*/ 0 h 73"/>
                  <a:gd name="T22" fmla="*/ 33 w 73"/>
                  <a:gd name="T23" fmla="*/ 2 h 73"/>
                  <a:gd name="T24" fmla="*/ 28 w 73"/>
                  <a:gd name="T25" fmla="*/ 2 h 73"/>
                  <a:gd name="T26" fmla="*/ 22 w 73"/>
                  <a:gd name="T27" fmla="*/ 3 h 73"/>
                  <a:gd name="T28" fmla="*/ 18 w 73"/>
                  <a:gd name="T29" fmla="*/ 6 h 73"/>
                  <a:gd name="T30" fmla="*/ 13 w 73"/>
                  <a:gd name="T31" fmla="*/ 9 h 73"/>
                  <a:gd name="T32" fmla="*/ 10 w 73"/>
                  <a:gd name="T33" fmla="*/ 12 h 73"/>
                  <a:gd name="T34" fmla="*/ 6 w 73"/>
                  <a:gd name="T35" fmla="*/ 17 h 73"/>
                  <a:gd name="T36" fmla="*/ 5 w 73"/>
                  <a:gd name="T37" fmla="*/ 21 h 73"/>
                  <a:gd name="T38" fmla="*/ 2 w 73"/>
                  <a:gd name="T39" fmla="*/ 27 h 73"/>
                  <a:gd name="T40" fmla="*/ 2 w 73"/>
                  <a:gd name="T41" fmla="*/ 31 h 73"/>
                  <a:gd name="T42" fmla="*/ 0 w 73"/>
                  <a:gd name="T43" fmla="*/ 37 h 73"/>
                  <a:gd name="T44" fmla="*/ 0 w 73"/>
                  <a:gd name="T45" fmla="*/ 40 h 73"/>
                  <a:gd name="T46" fmla="*/ 2 w 73"/>
                  <a:gd name="T47" fmla="*/ 46 h 73"/>
                  <a:gd name="T48" fmla="*/ 3 w 73"/>
                  <a:gd name="T49" fmla="*/ 51 h 73"/>
                  <a:gd name="T50" fmla="*/ 6 w 73"/>
                  <a:gd name="T51" fmla="*/ 57 h 73"/>
                  <a:gd name="T52" fmla="*/ 9 w 73"/>
                  <a:gd name="T53" fmla="*/ 60 h 73"/>
                  <a:gd name="T54" fmla="*/ 12 w 73"/>
                  <a:gd name="T55" fmla="*/ 64 h 73"/>
                  <a:gd name="T56" fmla="*/ 16 w 73"/>
                  <a:gd name="T57" fmla="*/ 67 h 73"/>
                  <a:gd name="T58" fmla="*/ 21 w 73"/>
                  <a:gd name="T59" fmla="*/ 70 h 73"/>
                  <a:gd name="T60" fmla="*/ 25 w 73"/>
                  <a:gd name="T61" fmla="*/ 71 h 73"/>
                  <a:gd name="T62" fmla="*/ 31 w 73"/>
                  <a:gd name="T63" fmla="*/ 73 h 73"/>
                  <a:gd name="T64" fmla="*/ 37 w 73"/>
                  <a:gd name="T65" fmla="*/ 73 h 73"/>
                  <a:gd name="T66" fmla="*/ 40 w 73"/>
                  <a:gd name="T67" fmla="*/ 73 h 73"/>
                  <a:gd name="T68" fmla="*/ 46 w 73"/>
                  <a:gd name="T69" fmla="*/ 73 h 73"/>
                  <a:gd name="T70" fmla="*/ 50 w 73"/>
                  <a:gd name="T71" fmla="*/ 70 h 73"/>
                  <a:gd name="T72" fmla="*/ 55 w 73"/>
                  <a:gd name="T73" fmla="*/ 68 h 73"/>
                  <a:gd name="T74" fmla="*/ 59 w 73"/>
                  <a:gd name="T75" fmla="*/ 66 h 73"/>
                  <a:gd name="T76" fmla="*/ 64 w 73"/>
                  <a:gd name="T77" fmla="*/ 61 h 73"/>
                  <a:gd name="T78" fmla="*/ 67 w 73"/>
                  <a:gd name="T79" fmla="*/ 58 h 73"/>
                  <a:gd name="T80" fmla="*/ 70 w 73"/>
                  <a:gd name="T81" fmla="*/ 52 h 73"/>
                  <a:gd name="T82" fmla="*/ 71 w 73"/>
                  <a:gd name="T83" fmla="*/ 48 h 73"/>
                  <a:gd name="T84" fmla="*/ 73 w 73"/>
                  <a:gd name="T85" fmla="*/ 43 h 73"/>
                  <a:gd name="T86" fmla="*/ 73 w 73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3">
                    <a:moveTo>
                      <a:pt x="73" y="37"/>
                    </a:moveTo>
                    <a:lnTo>
                      <a:pt x="73" y="36"/>
                    </a:lnTo>
                    <a:lnTo>
                      <a:pt x="73" y="33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9"/>
                    </a:lnTo>
                    <a:lnTo>
                      <a:pt x="71" y="27"/>
                    </a:lnTo>
                    <a:lnTo>
                      <a:pt x="71" y="26"/>
                    </a:lnTo>
                    <a:lnTo>
                      <a:pt x="70" y="23"/>
                    </a:lnTo>
                    <a:lnTo>
                      <a:pt x="70" y="21"/>
                    </a:lnTo>
                    <a:lnTo>
                      <a:pt x="68" y="20"/>
                    </a:lnTo>
                    <a:lnTo>
                      <a:pt x="68" y="18"/>
                    </a:lnTo>
                    <a:lnTo>
                      <a:pt x="67" y="17"/>
                    </a:lnTo>
                    <a:lnTo>
                      <a:pt x="65" y="15"/>
                    </a:lnTo>
                    <a:lnTo>
                      <a:pt x="65" y="14"/>
                    </a:lnTo>
                    <a:lnTo>
                      <a:pt x="64" y="12"/>
                    </a:lnTo>
                    <a:lnTo>
                      <a:pt x="62" y="12"/>
                    </a:lnTo>
                    <a:lnTo>
                      <a:pt x="61" y="11"/>
                    </a:lnTo>
                    <a:lnTo>
                      <a:pt x="59" y="9"/>
                    </a:lnTo>
                    <a:lnTo>
                      <a:pt x="58" y="8"/>
                    </a:lnTo>
                    <a:lnTo>
                      <a:pt x="56" y="8"/>
                    </a:lnTo>
                    <a:lnTo>
                      <a:pt x="55" y="6"/>
                    </a:lnTo>
                    <a:lnTo>
                      <a:pt x="53" y="5"/>
                    </a:lnTo>
                    <a:lnTo>
                      <a:pt x="52" y="5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2"/>
                    </a:lnTo>
                    <a:lnTo>
                      <a:pt x="45" y="2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8" y="2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5"/>
                    </a:lnTo>
                    <a:lnTo>
                      <a:pt x="19" y="5"/>
                    </a:lnTo>
                    <a:lnTo>
                      <a:pt x="18" y="6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3" y="9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4"/>
                    </a:lnTo>
                    <a:lnTo>
                      <a:pt x="8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51"/>
                    </a:lnTo>
                    <a:lnTo>
                      <a:pt x="5" y="52"/>
                    </a:lnTo>
                    <a:lnTo>
                      <a:pt x="5" y="55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8" y="58"/>
                    </a:lnTo>
                    <a:lnTo>
                      <a:pt x="9" y="60"/>
                    </a:lnTo>
                    <a:lnTo>
                      <a:pt x="10" y="61"/>
                    </a:lnTo>
                    <a:lnTo>
                      <a:pt x="10" y="63"/>
                    </a:lnTo>
                    <a:lnTo>
                      <a:pt x="12" y="64"/>
                    </a:lnTo>
                    <a:lnTo>
                      <a:pt x="13" y="66"/>
                    </a:lnTo>
                    <a:lnTo>
                      <a:pt x="15" y="66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70"/>
                    </a:lnTo>
                    <a:lnTo>
                      <a:pt x="22" y="70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3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2" y="73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6"/>
                    </a:lnTo>
                    <a:lnTo>
                      <a:pt x="59" y="66"/>
                    </a:lnTo>
                    <a:lnTo>
                      <a:pt x="61" y="64"/>
                    </a:lnTo>
                    <a:lnTo>
                      <a:pt x="62" y="63"/>
                    </a:lnTo>
                    <a:lnTo>
                      <a:pt x="64" y="61"/>
                    </a:lnTo>
                    <a:lnTo>
                      <a:pt x="65" y="60"/>
                    </a:lnTo>
                    <a:lnTo>
                      <a:pt x="65" y="58"/>
                    </a:lnTo>
                    <a:lnTo>
                      <a:pt x="67" y="58"/>
                    </a:lnTo>
                    <a:lnTo>
                      <a:pt x="68" y="57"/>
                    </a:lnTo>
                    <a:lnTo>
                      <a:pt x="68" y="55"/>
                    </a:lnTo>
                    <a:lnTo>
                      <a:pt x="70" y="52"/>
                    </a:lnTo>
                    <a:lnTo>
                      <a:pt x="70" y="51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3" y="45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9"/>
                    </a:lnTo>
                    <a:lnTo>
                      <a:pt x="73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6" name="Line 148"/>
              <p:cNvSpPr>
                <a:spLocks noChangeShapeType="1"/>
              </p:cNvSpPr>
              <p:nvPr/>
            </p:nvSpPr>
            <p:spPr bwMode="auto">
              <a:xfrm flipH="1">
                <a:off x="1611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7" name="Line 149"/>
              <p:cNvSpPr>
                <a:spLocks noChangeShapeType="1"/>
              </p:cNvSpPr>
              <p:nvPr/>
            </p:nvSpPr>
            <p:spPr bwMode="auto">
              <a:xfrm flipH="1" flipV="1">
                <a:off x="1611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8" name="Line 150"/>
              <p:cNvSpPr>
                <a:spLocks noChangeShapeType="1"/>
              </p:cNvSpPr>
              <p:nvPr/>
            </p:nvSpPr>
            <p:spPr bwMode="auto">
              <a:xfrm flipH="1">
                <a:off x="1809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29" name="Line 151"/>
              <p:cNvSpPr>
                <a:spLocks noChangeShapeType="1"/>
              </p:cNvSpPr>
              <p:nvPr/>
            </p:nvSpPr>
            <p:spPr bwMode="auto">
              <a:xfrm flipH="1" flipV="1">
                <a:off x="1809" y="2279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0" name="Line 152"/>
              <p:cNvSpPr>
                <a:spLocks noChangeShapeType="1"/>
              </p:cNvSpPr>
              <p:nvPr/>
            </p:nvSpPr>
            <p:spPr bwMode="auto">
              <a:xfrm flipH="1">
                <a:off x="2253" y="2279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1" name="Line 153"/>
              <p:cNvSpPr>
                <a:spLocks noChangeShapeType="1"/>
              </p:cNvSpPr>
              <p:nvPr/>
            </p:nvSpPr>
            <p:spPr bwMode="auto">
              <a:xfrm flipH="1" flipV="1">
                <a:off x="2253" y="2279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2" name="Line 154"/>
              <p:cNvSpPr>
                <a:spLocks noChangeShapeType="1"/>
              </p:cNvSpPr>
              <p:nvPr/>
            </p:nvSpPr>
            <p:spPr bwMode="auto">
              <a:xfrm flipH="1">
                <a:off x="1710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3" name="Line 155"/>
              <p:cNvSpPr>
                <a:spLocks noChangeShapeType="1"/>
              </p:cNvSpPr>
              <p:nvPr/>
            </p:nvSpPr>
            <p:spPr bwMode="auto">
              <a:xfrm flipH="1" flipV="1">
                <a:off x="1710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4" name="Line 156"/>
              <p:cNvSpPr>
                <a:spLocks noChangeShapeType="1"/>
              </p:cNvSpPr>
              <p:nvPr/>
            </p:nvSpPr>
            <p:spPr bwMode="auto">
              <a:xfrm flipH="1">
                <a:off x="1809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5" name="Line 157"/>
              <p:cNvSpPr>
                <a:spLocks noChangeShapeType="1"/>
              </p:cNvSpPr>
              <p:nvPr/>
            </p:nvSpPr>
            <p:spPr bwMode="auto">
              <a:xfrm flipH="1" flipV="1">
                <a:off x="1809" y="2131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6" name="Line 158"/>
              <p:cNvSpPr>
                <a:spLocks noChangeShapeType="1"/>
              </p:cNvSpPr>
              <p:nvPr/>
            </p:nvSpPr>
            <p:spPr bwMode="auto">
              <a:xfrm flipH="1">
                <a:off x="1917" y="2131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7" name="Line 159"/>
              <p:cNvSpPr>
                <a:spLocks noChangeShapeType="1"/>
              </p:cNvSpPr>
              <p:nvPr/>
            </p:nvSpPr>
            <p:spPr bwMode="auto">
              <a:xfrm flipH="1" flipV="1">
                <a:off x="1917" y="2131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8" name="Line 160"/>
              <p:cNvSpPr>
                <a:spLocks noChangeShapeType="1"/>
              </p:cNvSpPr>
              <p:nvPr/>
            </p:nvSpPr>
            <p:spPr bwMode="auto">
              <a:xfrm flipH="1">
                <a:off x="2144" y="2131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39" name="Line 161"/>
              <p:cNvSpPr>
                <a:spLocks noChangeShapeType="1"/>
              </p:cNvSpPr>
              <p:nvPr/>
            </p:nvSpPr>
            <p:spPr bwMode="auto">
              <a:xfrm flipH="1" flipV="1">
                <a:off x="2144" y="2131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0" name="Line 162"/>
              <p:cNvSpPr>
                <a:spLocks noChangeShapeType="1"/>
              </p:cNvSpPr>
              <p:nvPr/>
            </p:nvSpPr>
            <p:spPr bwMode="auto">
              <a:xfrm flipH="1">
                <a:off x="2144" y="1983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1" name="Line 163"/>
              <p:cNvSpPr>
                <a:spLocks noChangeShapeType="1"/>
              </p:cNvSpPr>
              <p:nvPr/>
            </p:nvSpPr>
            <p:spPr bwMode="auto">
              <a:xfrm flipH="1" flipV="1">
                <a:off x="2144" y="1983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2" name="Line 164"/>
              <p:cNvSpPr>
                <a:spLocks noChangeShapeType="1"/>
              </p:cNvSpPr>
              <p:nvPr/>
            </p:nvSpPr>
            <p:spPr bwMode="auto">
              <a:xfrm flipH="1">
                <a:off x="2253" y="1983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3" name="Line 165"/>
              <p:cNvSpPr>
                <a:spLocks noChangeShapeType="1"/>
              </p:cNvSpPr>
              <p:nvPr/>
            </p:nvSpPr>
            <p:spPr bwMode="auto">
              <a:xfrm flipH="1" flipV="1">
                <a:off x="2253" y="1983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4" name="Line 166"/>
              <p:cNvSpPr>
                <a:spLocks noChangeShapeType="1"/>
              </p:cNvSpPr>
              <p:nvPr/>
            </p:nvSpPr>
            <p:spPr bwMode="auto">
              <a:xfrm flipH="1">
                <a:off x="1917" y="1983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5" name="Line 167"/>
              <p:cNvSpPr>
                <a:spLocks noChangeShapeType="1"/>
              </p:cNvSpPr>
              <p:nvPr/>
            </p:nvSpPr>
            <p:spPr bwMode="auto">
              <a:xfrm flipH="1" flipV="1">
                <a:off x="1917" y="1983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6" name="Line 168"/>
              <p:cNvSpPr>
                <a:spLocks noChangeShapeType="1"/>
              </p:cNvSpPr>
              <p:nvPr/>
            </p:nvSpPr>
            <p:spPr bwMode="auto">
              <a:xfrm flipH="1">
                <a:off x="1710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7" name="Line 169"/>
              <p:cNvSpPr>
                <a:spLocks noChangeShapeType="1"/>
              </p:cNvSpPr>
              <p:nvPr/>
            </p:nvSpPr>
            <p:spPr bwMode="auto">
              <a:xfrm flipH="1" flipV="1">
                <a:off x="1710" y="198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8" name="Freeform 170"/>
              <p:cNvSpPr>
                <a:spLocks/>
              </p:cNvSpPr>
              <p:nvPr/>
            </p:nvSpPr>
            <p:spPr bwMode="auto">
              <a:xfrm>
                <a:off x="2668" y="2160"/>
                <a:ext cx="177" cy="139"/>
              </a:xfrm>
              <a:custGeom>
                <a:avLst/>
                <a:gdLst>
                  <a:gd name="T0" fmla="*/ 0 w 533"/>
                  <a:gd name="T1" fmla="*/ 385 h 415"/>
                  <a:gd name="T2" fmla="*/ 29 w 533"/>
                  <a:gd name="T3" fmla="*/ 385 h 415"/>
                  <a:gd name="T4" fmla="*/ 29 w 533"/>
                  <a:gd name="T5" fmla="*/ 355 h 415"/>
                  <a:gd name="T6" fmla="*/ 29 w 533"/>
                  <a:gd name="T7" fmla="*/ 326 h 415"/>
                  <a:gd name="T8" fmla="*/ 59 w 533"/>
                  <a:gd name="T9" fmla="*/ 296 h 415"/>
                  <a:gd name="T10" fmla="*/ 59 w 533"/>
                  <a:gd name="T11" fmla="*/ 267 h 415"/>
                  <a:gd name="T12" fmla="*/ 59 w 533"/>
                  <a:gd name="T13" fmla="*/ 237 h 415"/>
                  <a:gd name="T14" fmla="*/ 59 w 533"/>
                  <a:gd name="T15" fmla="*/ 207 h 415"/>
                  <a:gd name="T16" fmla="*/ 59 w 533"/>
                  <a:gd name="T17" fmla="*/ 178 h 415"/>
                  <a:gd name="T18" fmla="*/ 59 w 533"/>
                  <a:gd name="T19" fmla="*/ 148 h 415"/>
                  <a:gd name="T20" fmla="*/ 59 w 533"/>
                  <a:gd name="T21" fmla="*/ 119 h 415"/>
                  <a:gd name="T22" fmla="*/ 29 w 533"/>
                  <a:gd name="T23" fmla="*/ 89 h 415"/>
                  <a:gd name="T24" fmla="*/ 29 w 533"/>
                  <a:gd name="T25" fmla="*/ 59 h 415"/>
                  <a:gd name="T26" fmla="*/ 0 w 533"/>
                  <a:gd name="T27" fmla="*/ 30 h 415"/>
                  <a:gd name="T28" fmla="*/ 0 w 533"/>
                  <a:gd name="T29" fmla="*/ 0 h 415"/>
                  <a:gd name="T30" fmla="*/ 237 w 533"/>
                  <a:gd name="T31" fmla="*/ 0 h 415"/>
                  <a:gd name="T32" fmla="*/ 237 w 533"/>
                  <a:gd name="T33" fmla="*/ 0 h 415"/>
                  <a:gd name="T34" fmla="*/ 266 w 533"/>
                  <a:gd name="T35" fmla="*/ 0 h 415"/>
                  <a:gd name="T36" fmla="*/ 296 w 533"/>
                  <a:gd name="T37" fmla="*/ 0 h 415"/>
                  <a:gd name="T38" fmla="*/ 325 w 533"/>
                  <a:gd name="T39" fmla="*/ 0 h 415"/>
                  <a:gd name="T40" fmla="*/ 355 w 533"/>
                  <a:gd name="T41" fmla="*/ 30 h 415"/>
                  <a:gd name="T42" fmla="*/ 385 w 533"/>
                  <a:gd name="T43" fmla="*/ 59 h 415"/>
                  <a:gd name="T44" fmla="*/ 414 w 533"/>
                  <a:gd name="T45" fmla="*/ 59 h 415"/>
                  <a:gd name="T46" fmla="*/ 444 w 533"/>
                  <a:gd name="T47" fmla="*/ 89 h 415"/>
                  <a:gd name="T48" fmla="*/ 444 w 533"/>
                  <a:gd name="T49" fmla="*/ 89 h 415"/>
                  <a:gd name="T50" fmla="*/ 474 w 533"/>
                  <a:gd name="T51" fmla="*/ 119 h 415"/>
                  <a:gd name="T52" fmla="*/ 503 w 533"/>
                  <a:gd name="T53" fmla="*/ 148 h 415"/>
                  <a:gd name="T54" fmla="*/ 503 w 533"/>
                  <a:gd name="T55" fmla="*/ 148 h 415"/>
                  <a:gd name="T56" fmla="*/ 503 w 533"/>
                  <a:gd name="T57" fmla="*/ 178 h 415"/>
                  <a:gd name="T58" fmla="*/ 533 w 533"/>
                  <a:gd name="T59" fmla="*/ 207 h 415"/>
                  <a:gd name="T60" fmla="*/ 503 w 533"/>
                  <a:gd name="T61" fmla="*/ 237 h 415"/>
                  <a:gd name="T62" fmla="*/ 503 w 533"/>
                  <a:gd name="T63" fmla="*/ 267 h 415"/>
                  <a:gd name="T64" fmla="*/ 474 w 533"/>
                  <a:gd name="T65" fmla="*/ 296 h 415"/>
                  <a:gd name="T66" fmla="*/ 474 w 533"/>
                  <a:gd name="T67" fmla="*/ 326 h 415"/>
                  <a:gd name="T68" fmla="*/ 444 w 533"/>
                  <a:gd name="T69" fmla="*/ 326 h 415"/>
                  <a:gd name="T70" fmla="*/ 414 w 533"/>
                  <a:gd name="T71" fmla="*/ 355 h 415"/>
                  <a:gd name="T72" fmla="*/ 385 w 533"/>
                  <a:gd name="T73" fmla="*/ 355 h 415"/>
                  <a:gd name="T74" fmla="*/ 355 w 533"/>
                  <a:gd name="T75" fmla="*/ 385 h 415"/>
                  <a:gd name="T76" fmla="*/ 325 w 533"/>
                  <a:gd name="T77" fmla="*/ 415 h 415"/>
                  <a:gd name="T78" fmla="*/ 296 w 533"/>
                  <a:gd name="T79" fmla="*/ 415 h 415"/>
                  <a:gd name="T80" fmla="*/ 266 w 533"/>
                  <a:gd name="T81" fmla="*/ 415 h 415"/>
                  <a:gd name="T82" fmla="*/ 237 w 533"/>
                  <a:gd name="T83" fmla="*/ 415 h 415"/>
                  <a:gd name="T84" fmla="*/ 0 w 533"/>
                  <a:gd name="T85" fmla="*/ 415 h 415"/>
                  <a:gd name="T86" fmla="*/ 0 w 533"/>
                  <a:gd name="T87" fmla="*/ 385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33" h="415">
                    <a:moveTo>
                      <a:pt x="0" y="385"/>
                    </a:moveTo>
                    <a:lnTo>
                      <a:pt x="29" y="385"/>
                    </a:lnTo>
                    <a:lnTo>
                      <a:pt x="29" y="355"/>
                    </a:lnTo>
                    <a:lnTo>
                      <a:pt x="29" y="326"/>
                    </a:lnTo>
                    <a:lnTo>
                      <a:pt x="59" y="296"/>
                    </a:lnTo>
                    <a:lnTo>
                      <a:pt x="59" y="267"/>
                    </a:lnTo>
                    <a:lnTo>
                      <a:pt x="59" y="237"/>
                    </a:lnTo>
                    <a:lnTo>
                      <a:pt x="59" y="207"/>
                    </a:lnTo>
                    <a:lnTo>
                      <a:pt x="59" y="178"/>
                    </a:lnTo>
                    <a:lnTo>
                      <a:pt x="59" y="148"/>
                    </a:lnTo>
                    <a:lnTo>
                      <a:pt x="59" y="119"/>
                    </a:lnTo>
                    <a:lnTo>
                      <a:pt x="29" y="89"/>
                    </a:lnTo>
                    <a:lnTo>
                      <a:pt x="29" y="59"/>
                    </a:lnTo>
                    <a:lnTo>
                      <a:pt x="0" y="30"/>
                    </a:lnTo>
                    <a:lnTo>
                      <a:pt x="0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5" y="0"/>
                    </a:lnTo>
                    <a:lnTo>
                      <a:pt x="355" y="30"/>
                    </a:lnTo>
                    <a:lnTo>
                      <a:pt x="385" y="59"/>
                    </a:lnTo>
                    <a:lnTo>
                      <a:pt x="414" y="59"/>
                    </a:lnTo>
                    <a:lnTo>
                      <a:pt x="444" y="89"/>
                    </a:lnTo>
                    <a:lnTo>
                      <a:pt x="444" y="89"/>
                    </a:lnTo>
                    <a:lnTo>
                      <a:pt x="474" y="119"/>
                    </a:lnTo>
                    <a:lnTo>
                      <a:pt x="503" y="148"/>
                    </a:lnTo>
                    <a:lnTo>
                      <a:pt x="503" y="148"/>
                    </a:lnTo>
                    <a:lnTo>
                      <a:pt x="503" y="178"/>
                    </a:lnTo>
                    <a:lnTo>
                      <a:pt x="533" y="207"/>
                    </a:lnTo>
                    <a:lnTo>
                      <a:pt x="503" y="237"/>
                    </a:lnTo>
                    <a:lnTo>
                      <a:pt x="503" y="267"/>
                    </a:lnTo>
                    <a:lnTo>
                      <a:pt x="474" y="296"/>
                    </a:lnTo>
                    <a:lnTo>
                      <a:pt x="474" y="326"/>
                    </a:lnTo>
                    <a:lnTo>
                      <a:pt x="444" y="326"/>
                    </a:lnTo>
                    <a:lnTo>
                      <a:pt x="414" y="355"/>
                    </a:lnTo>
                    <a:lnTo>
                      <a:pt x="385" y="355"/>
                    </a:lnTo>
                    <a:lnTo>
                      <a:pt x="355" y="385"/>
                    </a:lnTo>
                    <a:lnTo>
                      <a:pt x="325" y="415"/>
                    </a:lnTo>
                    <a:lnTo>
                      <a:pt x="296" y="415"/>
                    </a:lnTo>
                    <a:lnTo>
                      <a:pt x="266" y="415"/>
                    </a:lnTo>
                    <a:lnTo>
                      <a:pt x="237" y="415"/>
                    </a:lnTo>
                    <a:lnTo>
                      <a:pt x="0" y="415"/>
                    </a:lnTo>
                    <a:lnTo>
                      <a:pt x="0" y="3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49" name="Freeform 171"/>
              <p:cNvSpPr>
                <a:spLocks/>
              </p:cNvSpPr>
              <p:nvPr/>
            </p:nvSpPr>
            <p:spPr bwMode="auto">
              <a:xfrm>
                <a:off x="2669" y="2229"/>
                <a:ext cx="176" cy="71"/>
              </a:xfrm>
              <a:custGeom>
                <a:avLst/>
                <a:gdLst>
                  <a:gd name="T0" fmla="*/ 103 w 530"/>
                  <a:gd name="T1" fmla="*/ 212 h 212"/>
                  <a:gd name="T2" fmla="*/ 177 w 530"/>
                  <a:gd name="T3" fmla="*/ 212 h 212"/>
                  <a:gd name="T4" fmla="*/ 214 w 530"/>
                  <a:gd name="T5" fmla="*/ 212 h 212"/>
                  <a:gd name="T6" fmla="*/ 231 w 530"/>
                  <a:gd name="T7" fmla="*/ 212 h 212"/>
                  <a:gd name="T8" fmla="*/ 240 w 530"/>
                  <a:gd name="T9" fmla="*/ 211 h 212"/>
                  <a:gd name="T10" fmla="*/ 248 w 530"/>
                  <a:gd name="T11" fmla="*/ 211 h 212"/>
                  <a:gd name="T12" fmla="*/ 254 w 530"/>
                  <a:gd name="T13" fmla="*/ 209 h 212"/>
                  <a:gd name="T14" fmla="*/ 259 w 530"/>
                  <a:gd name="T15" fmla="*/ 209 h 212"/>
                  <a:gd name="T16" fmla="*/ 266 w 530"/>
                  <a:gd name="T17" fmla="*/ 208 h 212"/>
                  <a:gd name="T18" fmla="*/ 274 w 530"/>
                  <a:gd name="T19" fmla="*/ 208 h 212"/>
                  <a:gd name="T20" fmla="*/ 281 w 530"/>
                  <a:gd name="T21" fmla="*/ 206 h 212"/>
                  <a:gd name="T22" fmla="*/ 287 w 530"/>
                  <a:gd name="T23" fmla="*/ 205 h 212"/>
                  <a:gd name="T24" fmla="*/ 293 w 530"/>
                  <a:gd name="T25" fmla="*/ 203 h 212"/>
                  <a:gd name="T26" fmla="*/ 302 w 530"/>
                  <a:gd name="T27" fmla="*/ 200 h 212"/>
                  <a:gd name="T28" fmla="*/ 311 w 530"/>
                  <a:gd name="T29" fmla="*/ 197 h 212"/>
                  <a:gd name="T30" fmla="*/ 318 w 530"/>
                  <a:gd name="T31" fmla="*/ 196 h 212"/>
                  <a:gd name="T32" fmla="*/ 324 w 530"/>
                  <a:gd name="T33" fmla="*/ 193 h 212"/>
                  <a:gd name="T34" fmla="*/ 330 w 530"/>
                  <a:gd name="T35" fmla="*/ 190 h 212"/>
                  <a:gd name="T36" fmla="*/ 337 w 530"/>
                  <a:gd name="T37" fmla="*/ 187 h 212"/>
                  <a:gd name="T38" fmla="*/ 345 w 530"/>
                  <a:gd name="T39" fmla="*/ 182 h 212"/>
                  <a:gd name="T40" fmla="*/ 351 w 530"/>
                  <a:gd name="T41" fmla="*/ 180 h 212"/>
                  <a:gd name="T42" fmla="*/ 357 w 530"/>
                  <a:gd name="T43" fmla="*/ 177 h 212"/>
                  <a:gd name="T44" fmla="*/ 362 w 530"/>
                  <a:gd name="T45" fmla="*/ 174 h 212"/>
                  <a:gd name="T46" fmla="*/ 368 w 530"/>
                  <a:gd name="T47" fmla="*/ 169 h 212"/>
                  <a:gd name="T48" fmla="*/ 376 w 530"/>
                  <a:gd name="T49" fmla="*/ 166 h 212"/>
                  <a:gd name="T50" fmla="*/ 380 w 530"/>
                  <a:gd name="T51" fmla="*/ 163 h 212"/>
                  <a:gd name="T52" fmla="*/ 385 w 530"/>
                  <a:gd name="T53" fmla="*/ 160 h 212"/>
                  <a:gd name="T54" fmla="*/ 389 w 530"/>
                  <a:gd name="T55" fmla="*/ 157 h 212"/>
                  <a:gd name="T56" fmla="*/ 395 w 530"/>
                  <a:gd name="T57" fmla="*/ 154 h 212"/>
                  <a:gd name="T58" fmla="*/ 399 w 530"/>
                  <a:gd name="T59" fmla="*/ 150 h 212"/>
                  <a:gd name="T60" fmla="*/ 402 w 530"/>
                  <a:gd name="T61" fmla="*/ 148 h 212"/>
                  <a:gd name="T62" fmla="*/ 405 w 530"/>
                  <a:gd name="T63" fmla="*/ 145 h 212"/>
                  <a:gd name="T64" fmla="*/ 410 w 530"/>
                  <a:gd name="T65" fmla="*/ 142 h 212"/>
                  <a:gd name="T66" fmla="*/ 414 w 530"/>
                  <a:gd name="T67" fmla="*/ 140 h 212"/>
                  <a:gd name="T68" fmla="*/ 417 w 530"/>
                  <a:gd name="T69" fmla="*/ 138 h 212"/>
                  <a:gd name="T70" fmla="*/ 420 w 530"/>
                  <a:gd name="T71" fmla="*/ 135 h 212"/>
                  <a:gd name="T72" fmla="*/ 423 w 530"/>
                  <a:gd name="T73" fmla="*/ 134 h 212"/>
                  <a:gd name="T74" fmla="*/ 428 w 530"/>
                  <a:gd name="T75" fmla="*/ 131 h 212"/>
                  <a:gd name="T76" fmla="*/ 432 w 530"/>
                  <a:gd name="T77" fmla="*/ 126 h 212"/>
                  <a:gd name="T78" fmla="*/ 435 w 530"/>
                  <a:gd name="T79" fmla="*/ 125 h 212"/>
                  <a:gd name="T80" fmla="*/ 438 w 530"/>
                  <a:gd name="T81" fmla="*/ 122 h 212"/>
                  <a:gd name="T82" fmla="*/ 442 w 530"/>
                  <a:gd name="T83" fmla="*/ 117 h 212"/>
                  <a:gd name="T84" fmla="*/ 448 w 530"/>
                  <a:gd name="T85" fmla="*/ 111 h 212"/>
                  <a:gd name="T86" fmla="*/ 451 w 530"/>
                  <a:gd name="T87" fmla="*/ 107 h 212"/>
                  <a:gd name="T88" fmla="*/ 456 w 530"/>
                  <a:gd name="T89" fmla="*/ 104 h 212"/>
                  <a:gd name="T90" fmla="*/ 459 w 530"/>
                  <a:gd name="T91" fmla="*/ 100 h 212"/>
                  <a:gd name="T92" fmla="*/ 465 w 530"/>
                  <a:gd name="T93" fmla="*/ 92 h 212"/>
                  <a:gd name="T94" fmla="*/ 471 w 530"/>
                  <a:gd name="T95" fmla="*/ 86 h 212"/>
                  <a:gd name="T96" fmla="*/ 475 w 530"/>
                  <a:gd name="T97" fmla="*/ 80 h 212"/>
                  <a:gd name="T98" fmla="*/ 478 w 530"/>
                  <a:gd name="T99" fmla="*/ 76 h 212"/>
                  <a:gd name="T100" fmla="*/ 482 w 530"/>
                  <a:gd name="T101" fmla="*/ 70 h 212"/>
                  <a:gd name="T102" fmla="*/ 488 w 530"/>
                  <a:gd name="T103" fmla="*/ 63 h 212"/>
                  <a:gd name="T104" fmla="*/ 494 w 530"/>
                  <a:gd name="T105" fmla="*/ 54 h 212"/>
                  <a:gd name="T106" fmla="*/ 499 w 530"/>
                  <a:gd name="T107" fmla="*/ 48 h 212"/>
                  <a:gd name="T108" fmla="*/ 502 w 530"/>
                  <a:gd name="T109" fmla="*/ 43 h 212"/>
                  <a:gd name="T110" fmla="*/ 508 w 530"/>
                  <a:gd name="T111" fmla="*/ 36 h 212"/>
                  <a:gd name="T112" fmla="*/ 513 w 530"/>
                  <a:gd name="T113" fmla="*/ 28 h 212"/>
                  <a:gd name="T114" fmla="*/ 518 w 530"/>
                  <a:gd name="T115" fmla="*/ 20 h 212"/>
                  <a:gd name="T116" fmla="*/ 522 w 530"/>
                  <a:gd name="T117" fmla="*/ 15 h 212"/>
                  <a:gd name="T118" fmla="*/ 525 w 530"/>
                  <a:gd name="T119" fmla="*/ 9 h 212"/>
                  <a:gd name="T120" fmla="*/ 528 w 530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2">
                    <a:moveTo>
                      <a:pt x="0" y="212"/>
                    </a:moveTo>
                    <a:lnTo>
                      <a:pt x="19" y="212"/>
                    </a:lnTo>
                    <a:lnTo>
                      <a:pt x="38" y="212"/>
                    </a:lnTo>
                    <a:lnTo>
                      <a:pt x="56" y="212"/>
                    </a:lnTo>
                    <a:lnTo>
                      <a:pt x="72" y="212"/>
                    </a:lnTo>
                    <a:lnTo>
                      <a:pt x="88" y="212"/>
                    </a:lnTo>
                    <a:lnTo>
                      <a:pt x="103" y="212"/>
                    </a:lnTo>
                    <a:lnTo>
                      <a:pt x="117" y="212"/>
                    </a:lnTo>
                    <a:lnTo>
                      <a:pt x="128" y="212"/>
                    </a:lnTo>
                    <a:lnTo>
                      <a:pt x="140" y="212"/>
                    </a:lnTo>
                    <a:lnTo>
                      <a:pt x="151" y="212"/>
                    </a:lnTo>
                    <a:lnTo>
                      <a:pt x="160" y="212"/>
                    </a:lnTo>
                    <a:lnTo>
                      <a:pt x="168" y="212"/>
                    </a:lnTo>
                    <a:lnTo>
                      <a:pt x="177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7" y="212"/>
                    </a:lnTo>
                    <a:lnTo>
                      <a:pt x="211" y="212"/>
                    </a:lnTo>
                    <a:lnTo>
                      <a:pt x="214" y="212"/>
                    </a:lnTo>
                    <a:lnTo>
                      <a:pt x="217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6" y="212"/>
                    </a:lnTo>
                    <a:lnTo>
                      <a:pt x="228" y="212"/>
                    </a:lnTo>
                    <a:lnTo>
                      <a:pt x="229" y="212"/>
                    </a:lnTo>
                    <a:lnTo>
                      <a:pt x="231" y="212"/>
                    </a:lnTo>
                    <a:lnTo>
                      <a:pt x="232" y="212"/>
                    </a:lnTo>
                    <a:lnTo>
                      <a:pt x="234" y="211"/>
                    </a:lnTo>
                    <a:lnTo>
                      <a:pt x="235" y="211"/>
                    </a:lnTo>
                    <a:lnTo>
                      <a:pt x="237" y="211"/>
                    </a:lnTo>
                    <a:lnTo>
                      <a:pt x="238" y="211"/>
                    </a:lnTo>
                    <a:lnTo>
                      <a:pt x="238" y="211"/>
                    </a:lnTo>
                    <a:lnTo>
                      <a:pt x="240" y="211"/>
                    </a:lnTo>
                    <a:lnTo>
                      <a:pt x="241" y="211"/>
                    </a:lnTo>
                    <a:lnTo>
                      <a:pt x="242" y="211"/>
                    </a:lnTo>
                    <a:lnTo>
                      <a:pt x="244" y="211"/>
                    </a:lnTo>
                    <a:lnTo>
                      <a:pt x="245" y="211"/>
                    </a:lnTo>
                    <a:lnTo>
                      <a:pt x="245" y="211"/>
                    </a:lnTo>
                    <a:lnTo>
                      <a:pt x="247" y="211"/>
                    </a:lnTo>
                    <a:lnTo>
                      <a:pt x="248" y="211"/>
                    </a:lnTo>
                    <a:lnTo>
                      <a:pt x="248" y="211"/>
                    </a:lnTo>
                    <a:lnTo>
                      <a:pt x="250" y="211"/>
                    </a:lnTo>
                    <a:lnTo>
                      <a:pt x="251" y="211"/>
                    </a:lnTo>
                    <a:lnTo>
                      <a:pt x="251" y="211"/>
                    </a:lnTo>
                    <a:lnTo>
                      <a:pt x="253" y="211"/>
                    </a:lnTo>
                    <a:lnTo>
                      <a:pt x="253" y="211"/>
                    </a:lnTo>
                    <a:lnTo>
                      <a:pt x="254" y="209"/>
                    </a:lnTo>
                    <a:lnTo>
                      <a:pt x="254" y="209"/>
                    </a:lnTo>
                    <a:lnTo>
                      <a:pt x="256" y="209"/>
                    </a:lnTo>
                    <a:lnTo>
                      <a:pt x="256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9" y="209"/>
                    </a:lnTo>
                    <a:lnTo>
                      <a:pt x="259" y="209"/>
                    </a:lnTo>
                    <a:lnTo>
                      <a:pt x="260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3" y="209"/>
                    </a:lnTo>
                    <a:lnTo>
                      <a:pt x="265" y="209"/>
                    </a:lnTo>
                    <a:lnTo>
                      <a:pt x="265" y="209"/>
                    </a:lnTo>
                    <a:lnTo>
                      <a:pt x="266" y="208"/>
                    </a:lnTo>
                    <a:lnTo>
                      <a:pt x="268" y="208"/>
                    </a:lnTo>
                    <a:lnTo>
                      <a:pt x="269" y="208"/>
                    </a:lnTo>
                    <a:lnTo>
                      <a:pt x="271" y="208"/>
                    </a:lnTo>
                    <a:lnTo>
                      <a:pt x="271" y="208"/>
                    </a:lnTo>
                    <a:lnTo>
                      <a:pt x="272" y="208"/>
                    </a:lnTo>
                    <a:lnTo>
                      <a:pt x="274" y="208"/>
                    </a:lnTo>
                    <a:lnTo>
                      <a:pt x="274" y="208"/>
                    </a:lnTo>
                    <a:lnTo>
                      <a:pt x="275" y="208"/>
                    </a:lnTo>
                    <a:lnTo>
                      <a:pt x="277" y="206"/>
                    </a:lnTo>
                    <a:lnTo>
                      <a:pt x="278" y="206"/>
                    </a:lnTo>
                    <a:lnTo>
                      <a:pt x="278" y="206"/>
                    </a:lnTo>
                    <a:lnTo>
                      <a:pt x="280" y="206"/>
                    </a:lnTo>
                    <a:lnTo>
                      <a:pt x="281" y="206"/>
                    </a:lnTo>
                    <a:lnTo>
                      <a:pt x="281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4" y="206"/>
                    </a:lnTo>
                    <a:lnTo>
                      <a:pt x="284" y="205"/>
                    </a:lnTo>
                    <a:lnTo>
                      <a:pt x="285" y="205"/>
                    </a:lnTo>
                    <a:lnTo>
                      <a:pt x="285" y="205"/>
                    </a:lnTo>
                    <a:lnTo>
                      <a:pt x="287" y="205"/>
                    </a:lnTo>
                    <a:lnTo>
                      <a:pt x="288" y="205"/>
                    </a:lnTo>
                    <a:lnTo>
                      <a:pt x="288" y="205"/>
                    </a:lnTo>
                    <a:lnTo>
                      <a:pt x="290" y="205"/>
                    </a:lnTo>
                    <a:lnTo>
                      <a:pt x="290" y="205"/>
                    </a:lnTo>
                    <a:lnTo>
                      <a:pt x="291" y="203"/>
                    </a:lnTo>
                    <a:lnTo>
                      <a:pt x="293" y="203"/>
                    </a:lnTo>
                    <a:lnTo>
                      <a:pt x="293" y="203"/>
                    </a:lnTo>
                    <a:lnTo>
                      <a:pt x="294" y="203"/>
                    </a:lnTo>
                    <a:lnTo>
                      <a:pt x="296" y="203"/>
                    </a:lnTo>
                    <a:lnTo>
                      <a:pt x="296" y="202"/>
                    </a:lnTo>
                    <a:lnTo>
                      <a:pt x="297" y="202"/>
                    </a:lnTo>
                    <a:lnTo>
                      <a:pt x="299" y="202"/>
                    </a:lnTo>
                    <a:lnTo>
                      <a:pt x="300" y="202"/>
                    </a:lnTo>
                    <a:lnTo>
                      <a:pt x="302" y="200"/>
                    </a:lnTo>
                    <a:lnTo>
                      <a:pt x="303" y="200"/>
                    </a:lnTo>
                    <a:lnTo>
                      <a:pt x="303" y="200"/>
                    </a:lnTo>
                    <a:lnTo>
                      <a:pt x="305" y="200"/>
                    </a:lnTo>
                    <a:lnTo>
                      <a:pt x="306" y="199"/>
                    </a:lnTo>
                    <a:lnTo>
                      <a:pt x="308" y="199"/>
                    </a:lnTo>
                    <a:lnTo>
                      <a:pt x="309" y="199"/>
                    </a:lnTo>
                    <a:lnTo>
                      <a:pt x="311" y="197"/>
                    </a:lnTo>
                    <a:lnTo>
                      <a:pt x="312" y="197"/>
                    </a:lnTo>
                    <a:lnTo>
                      <a:pt x="314" y="197"/>
                    </a:lnTo>
                    <a:lnTo>
                      <a:pt x="314" y="197"/>
                    </a:lnTo>
                    <a:lnTo>
                      <a:pt x="315" y="196"/>
                    </a:lnTo>
                    <a:lnTo>
                      <a:pt x="317" y="196"/>
                    </a:lnTo>
                    <a:lnTo>
                      <a:pt x="317" y="196"/>
                    </a:lnTo>
                    <a:lnTo>
                      <a:pt x="318" y="196"/>
                    </a:lnTo>
                    <a:lnTo>
                      <a:pt x="318" y="196"/>
                    </a:lnTo>
                    <a:lnTo>
                      <a:pt x="320" y="194"/>
                    </a:lnTo>
                    <a:lnTo>
                      <a:pt x="321" y="194"/>
                    </a:lnTo>
                    <a:lnTo>
                      <a:pt x="321" y="194"/>
                    </a:lnTo>
                    <a:lnTo>
                      <a:pt x="322" y="194"/>
                    </a:lnTo>
                    <a:lnTo>
                      <a:pt x="322" y="193"/>
                    </a:lnTo>
                    <a:lnTo>
                      <a:pt x="324" y="193"/>
                    </a:lnTo>
                    <a:lnTo>
                      <a:pt x="324" y="193"/>
                    </a:lnTo>
                    <a:lnTo>
                      <a:pt x="325" y="193"/>
                    </a:lnTo>
                    <a:lnTo>
                      <a:pt x="325" y="193"/>
                    </a:lnTo>
                    <a:lnTo>
                      <a:pt x="327" y="191"/>
                    </a:lnTo>
                    <a:lnTo>
                      <a:pt x="327" y="191"/>
                    </a:lnTo>
                    <a:lnTo>
                      <a:pt x="328" y="191"/>
                    </a:lnTo>
                    <a:lnTo>
                      <a:pt x="330" y="190"/>
                    </a:lnTo>
                    <a:lnTo>
                      <a:pt x="330" y="190"/>
                    </a:lnTo>
                    <a:lnTo>
                      <a:pt x="331" y="190"/>
                    </a:lnTo>
                    <a:lnTo>
                      <a:pt x="333" y="188"/>
                    </a:lnTo>
                    <a:lnTo>
                      <a:pt x="334" y="188"/>
                    </a:lnTo>
                    <a:lnTo>
                      <a:pt x="336" y="187"/>
                    </a:lnTo>
                    <a:lnTo>
                      <a:pt x="337" y="187"/>
                    </a:lnTo>
                    <a:lnTo>
                      <a:pt x="337" y="187"/>
                    </a:lnTo>
                    <a:lnTo>
                      <a:pt x="339" y="185"/>
                    </a:lnTo>
                    <a:lnTo>
                      <a:pt x="340" y="185"/>
                    </a:lnTo>
                    <a:lnTo>
                      <a:pt x="340" y="185"/>
                    </a:lnTo>
                    <a:lnTo>
                      <a:pt x="342" y="184"/>
                    </a:lnTo>
                    <a:lnTo>
                      <a:pt x="343" y="184"/>
                    </a:lnTo>
                    <a:lnTo>
                      <a:pt x="345" y="182"/>
                    </a:lnTo>
                    <a:lnTo>
                      <a:pt x="345" y="182"/>
                    </a:lnTo>
                    <a:lnTo>
                      <a:pt x="346" y="182"/>
                    </a:lnTo>
                    <a:lnTo>
                      <a:pt x="348" y="181"/>
                    </a:lnTo>
                    <a:lnTo>
                      <a:pt x="348" y="181"/>
                    </a:lnTo>
                    <a:lnTo>
                      <a:pt x="349" y="181"/>
                    </a:lnTo>
                    <a:lnTo>
                      <a:pt x="349" y="181"/>
                    </a:lnTo>
                    <a:lnTo>
                      <a:pt x="351" y="180"/>
                    </a:lnTo>
                    <a:lnTo>
                      <a:pt x="351" y="180"/>
                    </a:lnTo>
                    <a:lnTo>
                      <a:pt x="352" y="180"/>
                    </a:lnTo>
                    <a:lnTo>
                      <a:pt x="352" y="180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5" y="178"/>
                    </a:lnTo>
                    <a:lnTo>
                      <a:pt x="355" y="178"/>
                    </a:lnTo>
                    <a:lnTo>
                      <a:pt x="357" y="177"/>
                    </a:lnTo>
                    <a:lnTo>
                      <a:pt x="357" y="177"/>
                    </a:lnTo>
                    <a:lnTo>
                      <a:pt x="358" y="177"/>
                    </a:lnTo>
                    <a:lnTo>
                      <a:pt x="358" y="175"/>
                    </a:lnTo>
                    <a:lnTo>
                      <a:pt x="359" y="175"/>
                    </a:lnTo>
                    <a:lnTo>
                      <a:pt x="359" y="175"/>
                    </a:lnTo>
                    <a:lnTo>
                      <a:pt x="361" y="174"/>
                    </a:lnTo>
                    <a:lnTo>
                      <a:pt x="362" y="174"/>
                    </a:lnTo>
                    <a:lnTo>
                      <a:pt x="362" y="174"/>
                    </a:lnTo>
                    <a:lnTo>
                      <a:pt x="364" y="172"/>
                    </a:lnTo>
                    <a:lnTo>
                      <a:pt x="365" y="172"/>
                    </a:lnTo>
                    <a:lnTo>
                      <a:pt x="367" y="171"/>
                    </a:lnTo>
                    <a:lnTo>
                      <a:pt x="367" y="171"/>
                    </a:lnTo>
                    <a:lnTo>
                      <a:pt x="368" y="171"/>
                    </a:lnTo>
                    <a:lnTo>
                      <a:pt x="368" y="169"/>
                    </a:lnTo>
                    <a:lnTo>
                      <a:pt x="370" y="169"/>
                    </a:lnTo>
                    <a:lnTo>
                      <a:pt x="371" y="169"/>
                    </a:lnTo>
                    <a:lnTo>
                      <a:pt x="371" y="168"/>
                    </a:lnTo>
                    <a:lnTo>
                      <a:pt x="373" y="168"/>
                    </a:lnTo>
                    <a:lnTo>
                      <a:pt x="374" y="168"/>
                    </a:lnTo>
                    <a:lnTo>
                      <a:pt x="374" y="166"/>
                    </a:lnTo>
                    <a:lnTo>
                      <a:pt x="376" y="166"/>
                    </a:lnTo>
                    <a:lnTo>
                      <a:pt x="376" y="166"/>
                    </a:lnTo>
                    <a:lnTo>
                      <a:pt x="377" y="165"/>
                    </a:lnTo>
                    <a:lnTo>
                      <a:pt x="377" y="165"/>
                    </a:lnTo>
                    <a:lnTo>
                      <a:pt x="379" y="165"/>
                    </a:lnTo>
                    <a:lnTo>
                      <a:pt x="379" y="165"/>
                    </a:lnTo>
                    <a:lnTo>
                      <a:pt x="379" y="163"/>
                    </a:lnTo>
                    <a:lnTo>
                      <a:pt x="380" y="163"/>
                    </a:lnTo>
                    <a:lnTo>
                      <a:pt x="380" y="163"/>
                    </a:lnTo>
                    <a:lnTo>
                      <a:pt x="382" y="163"/>
                    </a:lnTo>
                    <a:lnTo>
                      <a:pt x="382" y="162"/>
                    </a:lnTo>
                    <a:lnTo>
                      <a:pt x="382" y="162"/>
                    </a:lnTo>
                    <a:lnTo>
                      <a:pt x="383" y="162"/>
                    </a:lnTo>
                    <a:lnTo>
                      <a:pt x="383" y="162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6" y="160"/>
                    </a:lnTo>
                    <a:lnTo>
                      <a:pt x="386" y="159"/>
                    </a:lnTo>
                    <a:lnTo>
                      <a:pt x="388" y="159"/>
                    </a:lnTo>
                    <a:lnTo>
                      <a:pt x="388" y="159"/>
                    </a:lnTo>
                    <a:lnTo>
                      <a:pt x="389" y="157"/>
                    </a:lnTo>
                    <a:lnTo>
                      <a:pt x="389" y="157"/>
                    </a:lnTo>
                    <a:lnTo>
                      <a:pt x="391" y="157"/>
                    </a:lnTo>
                    <a:lnTo>
                      <a:pt x="391" y="156"/>
                    </a:lnTo>
                    <a:lnTo>
                      <a:pt x="391" y="156"/>
                    </a:lnTo>
                    <a:lnTo>
                      <a:pt x="392" y="156"/>
                    </a:lnTo>
                    <a:lnTo>
                      <a:pt x="394" y="154"/>
                    </a:lnTo>
                    <a:lnTo>
                      <a:pt x="394" y="154"/>
                    </a:lnTo>
                    <a:lnTo>
                      <a:pt x="395" y="154"/>
                    </a:lnTo>
                    <a:lnTo>
                      <a:pt x="397" y="153"/>
                    </a:lnTo>
                    <a:lnTo>
                      <a:pt x="397" y="153"/>
                    </a:lnTo>
                    <a:lnTo>
                      <a:pt x="398" y="153"/>
                    </a:lnTo>
                    <a:lnTo>
                      <a:pt x="398" y="151"/>
                    </a:lnTo>
                    <a:lnTo>
                      <a:pt x="398" y="151"/>
                    </a:lnTo>
                    <a:lnTo>
                      <a:pt x="399" y="151"/>
                    </a:lnTo>
                    <a:lnTo>
                      <a:pt x="399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4" y="148"/>
                    </a:lnTo>
                    <a:lnTo>
                      <a:pt x="404" y="148"/>
                    </a:lnTo>
                    <a:lnTo>
                      <a:pt x="404" y="147"/>
                    </a:lnTo>
                    <a:lnTo>
                      <a:pt x="405" y="147"/>
                    </a:lnTo>
                    <a:lnTo>
                      <a:pt x="405" y="147"/>
                    </a:lnTo>
                    <a:lnTo>
                      <a:pt x="405" y="147"/>
                    </a:lnTo>
                    <a:lnTo>
                      <a:pt x="405" y="145"/>
                    </a:lnTo>
                    <a:lnTo>
                      <a:pt x="407" y="145"/>
                    </a:lnTo>
                    <a:lnTo>
                      <a:pt x="407" y="145"/>
                    </a:lnTo>
                    <a:lnTo>
                      <a:pt x="408" y="145"/>
                    </a:lnTo>
                    <a:lnTo>
                      <a:pt x="408" y="144"/>
                    </a:lnTo>
                    <a:lnTo>
                      <a:pt x="408" y="144"/>
                    </a:lnTo>
                    <a:lnTo>
                      <a:pt x="410" y="144"/>
                    </a:lnTo>
                    <a:lnTo>
                      <a:pt x="410" y="142"/>
                    </a:lnTo>
                    <a:lnTo>
                      <a:pt x="410" y="142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3" y="141"/>
                    </a:lnTo>
                    <a:lnTo>
                      <a:pt x="413" y="141"/>
                    </a:lnTo>
                    <a:lnTo>
                      <a:pt x="413" y="141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6" y="140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7" y="138"/>
                    </a:lnTo>
                    <a:lnTo>
                      <a:pt x="417" y="138"/>
                    </a:lnTo>
                    <a:lnTo>
                      <a:pt x="417" y="137"/>
                    </a:lnTo>
                    <a:lnTo>
                      <a:pt x="417" y="137"/>
                    </a:lnTo>
                    <a:lnTo>
                      <a:pt x="419" y="137"/>
                    </a:lnTo>
                    <a:lnTo>
                      <a:pt x="419" y="137"/>
                    </a:lnTo>
                    <a:lnTo>
                      <a:pt x="419" y="137"/>
                    </a:lnTo>
                    <a:lnTo>
                      <a:pt x="419" y="135"/>
                    </a:lnTo>
                    <a:lnTo>
                      <a:pt x="420" y="135"/>
                    </a:lnTo>
                    <a:lnTo>
                      <a:pt x="420" y="135"/>
                    </a:lnTo>
                    <a:lnTo>
                      <a:pt x="420" y="135"/>
                    </a:lnTo>
                    <a:lnTo>
                      <a:pt x="422" y="135"/>
                    </a:lnTo>
                    <a:lnTo>
                      <a:pt x="422" y="134"/>
                    </a:lnTo>
                    <a:lnTo>
                      <a:pt x="422" y="134"/>
                    </a:lnTo>
                    <a:lnTo>
                      <a:pt x="423" y="134"/>
                    </a:lnTo>
                    <a:lnTo>
                      <a:pt x="423" y="134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6" y="131"/>
                    </a:lnTo>
                    <a:lnTo>
                      <a:pt x="426" y="131"/>
                    </a:lnTo>
                    <a:lnTo>
                      <a:pt x="426" y="131"/>
                    </a:lnTo>
                    <a:lnTo>
                      <a:pt x="428" y="131"/>
                    </a:lnTo>
                    <a:lnTo>
                      <a:pt x="429" y="129"/>
                    </a:lnTo>
                    <a:lnTo>
                      <a:pt x="429" y="129"/>
                    </a:lnTo>
                    <a:lnTo>
                      <a:pt x="429" y="129"/>
                    </a:lnTo>
                    <a:lnTo>
                      <a:pt x="431" y="128"/>
                    </a:lnTo>
                    <a:lnTo>
                      <a:pt x="431" y="128"/>
                    </a:lnTo>
                    <a:lnTo>
                      <a:pt x="432" y="128"/>
                    </a:lnTo>
                    <a:lnTo>
                      <a:pt x="432" y="126"/>
                    </a:lnTo>
                    <a:lnTo>
                      <a:pt x="432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5" y="125"/>
                    </a:lnTo>
                    <a:lnTo>
                      <a:pt x="435" y="125"/>
                    </a:lnTo>
                    <a:lnTo>
                      <a:pt x="435" y="125"/>
                    </a:lnTo>
                    <a:lnTo>
                      <a:pt x="436" y="125"/>
                    </a:lnTo>
                    <a:lnTo>
                      <a:pt x="436" y="123"/>
                    </a:lnTo>
                    <a:lnTo>
                      <a:pt x="436" y="123"/>
                    </a:lnTo>
                    <a:lnTo>
                      <a:pt x="436" y="123"/>
                    </a:lnTo>
                    <a:lnTo>
                      <a:pt x="438" y="122"/>
                    </a:lnTo>
                    <a:lnTo>
                      <a:pt x="438" y="122"/>
                    </a:lnTo>
                    <a:lnTo>
                      <a:pt x="438" y="122"/>
                    </a:lnTo>
                    <a:lnTo>
                      <a:pt x="439" y="120"/>
                    </a:lnTo>
                    <a:lnTo>
                      <a:pt x="439" y="120"/>
                    </a:lnTo>
                    <a:lnTo>
                      <a:pt x="439" y="120"/>
                    </a:lnTo>
                    <a:lnTo>
                      <a:pt x="441" y="119"/>
                    </a:lnTo>
                    <a:lnTo>
                      <a:pt x="441" y="119"/>
                    </a:lnTo>
                    <a:lnTo>
                      <a:pt x="442" y="117"/>
                    </a:lnTo>
                    <a:lnTo>
                      <a:pt x="442" y="117"/>
                    </a:lnTo>
                    <a:lnTo>
                      <a:pt x="444" y="116"/>
                    </a:lnTo>
                    <a:lnTo>
                      <a:pt x="444" y="116"/>
                    </a:lnTo>
                    <a:lnTo>
                      <a:pt x="445" y="114"/>
                    </a:lnTo>
                    <a:lnTo>
                      <a:pt x="445" y="114"/>
                    </a:lnTo>
                    <a:lnTo>
                      <a:pt x="445" y="113"/>
                    </a:lnTo>
                    <a:lnTo>
                      <a:pt x="447" y="113"/>
                    </a:lnTo>
                    <a:lnTo>
                      <a:pt x="448" y="111"/>
                    </a:lnTo>
                    <a:lnTo>
                      <a:pt x="448" y="111"/>
                    </a:lnTo>
                    <a:lnTo>
                      <a:pt x="448" y="110"/>
                    </a:lnTo>
                    <a:lnTo>
                      <a:pt x="450" y="110"/>
                    </a:lnTo>
                    <a:lnTo>
                      <a:pt x="450" y="108"/>
                    </a:lnTo>
                    <a:lnTo>
                      <a:pt x="451" y="108"/>
                    </a:lnTo>
                    <a:lnTo>
                      <a:pt x="451" y="108"/>
                    </a:lnTo>
                    <a:lnTo>
                      <a:pt x="451" y="107"/>
                    </a:lnTo>
                    <a:lnTo>
                      <a:pt x="453" y="107"/>
                    </a:lnTo>
                    <a:lnTo>
                      <a:pt x="453" y="105"/>
                    </a:lnTo>
                    <a:lnTo>
                      <a:pt x="453" y="105"/>
                    </a:lnTo>
                    <a:lnTo>
                      <a:pt x="454" y="105"/>
                    </a:lnTo>
                    <a:lnTo>
                      <a:pt x="454" y="104"/>
                    </a:lnTo>
                    <a:lnTo>
                      <a:pt x="454" y="104"/>
                    </a:lnTo>
                    <a:lnTo>
                      <a:pt x="456" y="104"/>
                    </a:lnTo>
                    <a:lnTo>
                      <a:pt x="456" y="103"/>
                    </a:lnTo>
                    <a:lnTo>
                      <a:pt x="456" y="103"/>
                    </a:lnTo>
                    <a:lnTo>
                      <a:pt x="457" y="101"/>
                    </a:lnTo>
                    <a:lnTo>
                      <a:pt x="457" y="101"/>
                    </a:lnTo>
                    <a:lnTo>
                      <a:pt x="459" y="101"/>
                    </a:lnTo>
                    <a:lnTo>
                      <a:pt x="459" y="100"/>
                    </a:lnTo>
                    <a:lnTo>
                      <a:pt x="459" y="100"/>
                    </a:lnTo>
                    <a:lnTo>
                      <a:pt x="460" y="98"/>
                    </a:lnTo>
                    <a:lnTo>
                      <a:pt x="460" y="98"/>
                    </a:lnTo>
                    <a:lnTo>
                      <a:pt x="462" y="97"/>
                    </a:lnTo>
                    <a:lnTo>
                      <a:pt x="462" y="95"/>
                    </a:lnTo>
                    <a:lnTo>
                      <a:pt x="463" y="95"/>
                    </a:lnTo>
                    <a:lnTo>
                      <a:pt x="463" y="94"/>
                    </a:lnTo>
                    <a:lnTo>
                      <a:pt x="465" y="92"/>
                    </a:lnTo>
                    <a:lnTo>
                      <a:pt x="466" y="91"/>
                    </a:lnTo>
                    <a:lnTo>
                      <a:pt x="466" y="91"/>
                    </a:lnTo>
                    <a:lnTo>
                      <a:pt x="466" y="89"/>
                    </a:lnTo>
                    <a:lnTo>
                      <a:pt x="468" y="89"/>
                    </a:lnTo>
                    <a:lnTo>
                      <a:pt x="469" y="88"/>
                    </a:lnTo>
                    <a:lnTo>
                      <a:pt x="469" y="86"/>
                    </a:lnTo>
                    <a:lnTo>
                      <a:pt x="471" y="86"/>
                    </a:lnTo>
                    <a:lnTo>
                      <a:pt x="471" y="85"/>
                    </a:lnTo>
                    <a:lnTo>
                      <a:pt x="472" y="83"/>
                    </a:lnTo>
                    <a:lnTo>
                      <a:pt x="472" y="83"/>
                    </a:lnTo>
                    <a:lnTo>
                      <a:pt x="474" y="82"/>
                    </a:lnTo>
                    <a:lnTo>
                      <a:pt x="474" y="82"/>
                    </a:lnTo>
                    <a:lnTo>
                      <a:pt x="474" y="80"/>
                    </a:lnTo>
                    <a:lnTo>
                      <a:pt x="475" y="80"/>
                    </a:lnTo>
                    <a:lnTo>
                      <a:pt x="475" y="79"/>
                    </a:lnTo>
                    <a:lnTo>
                      <a:pt x="476" y="79"/>
                    </a:lnTo>
                    <a:lnTo>
                      <a:pt x="476" y="79"/>
                    </a:lnTo>
                    <a:lnTo>
                      <a:pt x="476" y="77"/>
                    </a:lnTo>
                    <a:lnTo>
                      <a:pt x="478" y="77"/>
                    </a:lnTo>
                    <a:lnTo>
                      <a:pt x="478" y="76"/>
                    </a:lnTo>
                    <a:lnTo>
                      <a:pt x="478" y="76"/>
                    </a:lnTo>
                    <a:lnTo>
                      <a:pt x="479" y="74"/>
                    </a:lnTo>
                    <a:lnTo>
                      <a:pt x="479" y="74"/>
                    </a:lnTo>
                    <a:lnTo>
                      <a:pt x="479" y="73"/>
                    </a:lnTo>
                    <a:lnTo>
                      <a:pt x="481" y="73"/>
                    </a:lnTo>
                    <a:lnTo>
                      <a:pt x="481" y="71"/>
                    </a:lnTo>
                    <a:lnTo>
                      <a:pt x="482" y="70"/>
                    </a:lnTo>
                    <a:lnTo>
                      <a:pt x="482" y="70"/>
                    </a:lnTo>
                    <a:lnTo>
                      <a:pt x="484" y="68"/>
                    </a:lnTo>
                    <a:lnTo>
                      <a:pt x="484" y="67"/>
                    </a:lnTo>
                    <a:lnTo>
                      <a:pt x="485" y="67"/>
                    </a:lnTo>
                    <a:lnTo>
                      <a:pt x="485" y="66"/>
                    </a:lnTo>
                    <a:lnTo>
                      <a:pt x="487" y="64"/>
                    </a:lnTo>
                    <a:lnTo>
                      <a:pt x="488" y="63"/>
                    </a:lnTo>
                    <a:lnTo>
                      <a:pt x="488" y="63"/>
                    </a:lnTo>
                    <a:lnTo>
                      <a:pt x="488" y="61"/>
                    </a:lnTo>
                    <a:lnTo>
                      <a:pt x="490" y="60"/>
                    </a:lnTo>
                    <a:lnTo>
                      <a:pt x="491" y="58"/>
                    </a:lnTo>
                    <a:lnTo>
                      <a:pt x="491" y="57"/>
                    </a:lnTo>
                    <a:lnTo>
                      <a:pt x="493" y="57"/>
                    </a:lnTo>
                    <a:lnTo>
                      <a:pt x="493" y="55"/>
                    </a:lnTo>
                    <a:lnTo>
                      <a:pt x="494" y="54"/>
                    </a:lnTo>
                    <a:lnTo>
                      <a:pt x="494" y="54"/>
                    </a:lnTo>
                    <a:lnTo>
                      <a:pt x="496" y="52"/>
                    </a:lnTo>
                    <a:lnTo>
                      <a:pt x="496" y="51"/>
                    </a:lnTo>
                    <a:lnTo>
                      <a:pt x="496" y="51"/>
                    </a:lnTo>
                    <a:lnTo>
                      <a:pt x="497" y="49"/>
                    </a:lnTo>
                    <a:lnTo>
                      <a:pt x="497" y="49"/>
                    </a:lnTo>
                    <a:lnTo>
                      <a:pt x="499" y="48"/>
                    </a:lnTo>
                    <a:lnTo>
                      <a:pt x="499" y="48"/>
                    </a:lnTo>
                    <a:lnTo>
                      <a:pt x="499" y="46"/>
                    </a:lnTo>
                    <a:lnTo>
                      <a:pt x="500" y="46"/>
                    </a:lnTo>
                    <a:lnTo>
                      <a:pt x="500" y="45"/>
                    </a:lnTo>
                    <a:lnTo>
                      <a:pt x="500" y="45"/>
                    </a:lnTo>
                    <a:lnTo>
                      <a:pt x="502" y="43"/>
                    </a:lnTo>
                    <a:lnTo>
                      <a:pt x="502" y="43"/>
                    </a:lnTo>
                    <a:lnTo>
                      <a:pt x="503" y="42"/>
                    </a:lnTo>
                    <a:lnTo>
                      <a:pt x="503" y="42"/>
                    </a:lnTo>
                    <a:lnTo>
                      <a:pt x="503" y="40"/>
                    </a:lnTo>
                    <a:lnTo>
                      <a:pt x="505" y="39"/>
                    </a:lnTo>
                    <a:lnTo>
                      <a:pt x="505" y="39"/>
                    </a:lnTo>
                    <a:lnTo>
                      <a:pt x="506" y="37"/>
                    </a:lnTo>
                    <a:lnTo>
                      <a:pt x="508" y="36"/>
                    </a:lnTo>
                    <a:lnTo>
                      <a:pt x="508" y="34"/>
                    </a:lnTo>
                    <a:lnTo>
                      <a:pt x="509" y="33"/>
                    </a:lnTo>
                    <a:lnTo>
                      <a:pt x="509" y="31"/>
                    </a:lnTo>
                    <a:lnTo>
                      <a:pt x="511" y="30"/>
                    </a:lnTo>
                    <a:lnTo>
                      <a:pt x="511" y="30"/>
                    </a:lnTo>
                    <a:lnTo>
                      <a:pt x="512" y="28"/>
                    </a:lnTo>
                    <a:lnTo>
                      <a:pt x="513" y="28"/>
                    </a:lnTo>
                    <a:lnTo>
                      <a:pt x="513" y="27"/>
                    </a:lnTo>
                    <a:lnTo>
                      <a:pt x="515" y="26"/>
                    </a:lnTo>
                    <a:lnTo>
                      <a:pt x="515" y="24"/>
                    </a:lnTo>
                    <a:lnTo>
                      <a:pt x="516" y="23"/>
                    </a:lnTo>
                    <a:lnTo>
                      <a:pt x="516" y="23"/>
                    </a:lnTo>
                    <a:lnTo>
                      <a:pt x="518" y="21"/>
                    </a:lnTo>
                    <a:lnTo>
                      <a:pt x="518" y="20"/>
                    </a:lnTo>
                    <a:lnTo>
                      <a:pt x="519" y="20"/>
                    </a:lnTo>
                    <a:lnTo>
                      <a:pt x="519" y="18"/>
                    </a:lnTo>
                    <a:lnTo>
                      <a:pt x="519" y="18"/>
                    </a:lnTo>
                    <a:lnTo>
                      <a:pt x="521" y="17"/>
                    </a:lnTo>
                    <a:lnTo>
                      <a:pt x="521" y="17"/>
                    </a:lnTo>
                    <a:lnTo>
                      <a:pt x="521" y="15"/>
                    </a:lnTo>
                    <a:lnTo>
                      <a:pt x="522" y="15"/>
                    </a:lnTo>
                    <a:lnTo>
                      <a:pt x="522" y="14"/>
                    </a:lnTo>
                    <a:lnTo>
                      <a:pt x="522" y="14"/>
                    </a:lnTo>
                    <a:lnTo>
                      <a:pt x="524" y="12"/>
                    </a:lnTo>
                    <a:lnTo>
                      <a:pt x="524" y="12"/>
                    </a:lnTo>
                    <a:lnTo>
                      <a:pt x="524" y="11"/>
                    </a:lnTo>
                    <a:lnTo>
                      <a:pt x="525" y="11"/>
                    </a:lnTo>
                    <a:lnTo>
                      <a:pt x="525" y="9"/>
                    </a:lnTo>
                    <a:lnTo>
                      <a:pt x="525" y="9"/>
                    </a:lnTo>
                    <a:lnTo>
                      <a:pt x="525" y="8"/>
                    </a:lnTo>
                    <a:lnTo>
                      <a:pt x="527" y="8"/>
                    </a:lnTo>
                    <a:lnTo>
                      <a:pt x="527" y="6"/>
                    </a:lnTo>
                    <a:lnTo>
                      <a:pt x="528" y="5"/>
                    </a:lnTo>
                    <a:lnTo>
                      <a:pt x="528" y="5"/>
                    </a:lnTo>
                    <a:lnTo>
                      <a:pt x="528" y="3"/>
                    </a:lnTo>
                    <a:lnTo>
                      <a:pt x="530" y="2"/>
                    </a:lnTo>
                    <a:lnTo>
                      <a:pt x="530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0" name="Freeform 172"/>
              <p:cNvSpPr>
                <a:spLocks/>
              </p:cNvSpPr>
              <p:nvPr/>
            </p:nvSpPr>
            <p:spPr bwMode="auto">
              <a:xfrm>
                <a:off x="2669" y="2159"/>
                <a:ext cx="176" cy="70"/>
              </a:xfrm>
              <a:custGeom>
                <a:avLst/>
                <a:gdLst>
                  <a:gd name="T0" fmla="*/ 103 w 530"/>
                  <a:gd name="T1" fmla="*/ 0 h 211"/>
                  <a:gd name="T2" fmla="*/ 177 w 530"/>
                  <a:gd name="T3" fmla="*/ 0 h 211"/>
                  <a:gd name="T4" fmla="*/ 214 w 530"/>
                  <a:gd name="T5" fmla="*/ 0 h 211"/>
                  <a:gd name="T6" fmla="*/ 231 w 530"/>
                  <a:gd name="T7" fmla="*/ 1 h 211"/>
                  <a:gd name="T8" fmla="*/ 240 w 530"/>
                  <a:gd name="T9" fmla="*/ 1 h 211"/>
                  <a:gd name="T10" fmla="*/ 248 w 530"/>
                  <a:gd name="T11" fmla="*/ 3 h 211"/>
                  <a:gd name="T12" fmla="*/ 254 w 530"/>
                  <a:gd name="T13" fmla="*/ 3 h 211"/>
                  <a:gd name="T14" fmla="*/ 259 w 530"/>
                  <a:gd name="T15" fmla="*/ 3 h 211"/>
                  <a:gd name="T16" fmla="*/ 266 w 530"/>
                  <a:gd name="T17" fmla="*/ 4 h 211"/>
                  <a:gd name="T18" fmla="*/ 274 w 530"/>
                  <a:gd name="T19" fmla="*/ 6 h 211"/>
                  <a:gd name="T20" fmla="*/ 281 w 530"/>
                  <a:gd name="T21" fmla="*/ 6 h 211"/>
                  <a:gd name="T22" fmla="*/ 287 w 530"/>
                  <a:gd name="T23" fmla="*/ 7 h 211"/>
                  <a:gd name="T24" fmla="*/ 293 w 530"/>
                  <a:gd name="T25" fmla="*/ 9 h 211"/>
                  <a:gd name="T26" fmla="*/ 302 w 530"/>
                  <a:gd name="T27" fmla="*/ 11 h 211"/>
                  <a:gd name="T28" fmla="*/ 311 w 530"/>
                  <a:gd name="T29" fmla="*/ 14 h 211"/>
                  <a:gd name="T30" fmla="*/ 318 w 530"/>
                  <a:gd name="T31" fmla="*/ 17 h 211"/>
                  <a:gd name="T32" fmla="*/ 324 w 530"/>
                  <a:gd name="T33" fmla="*/ 19 h 211"/>
                  <a:gd name="T34" fmla="*/ 330 w 530"/>
                  <a:gd name="T35" fmla="*/ 22 h 211"/>
                  <a:gd name="T36" fmla="*/ 337 w 530"/>
                  <a:gd name="T37" fmla="*/ 25 h 211"/>
                  <a:gd name="T38" fmla="*/ 345 w 530"/>
                  <a:gd name="T39" fmla="*/ 29 h 211"/>
                  <a:gd name="T40" fmla="*/ 351 w 530"/>
                  <a:gd name="T41" fmla="*/ 32 h 211"/>
                  <a:gd name="T42" fmla="*/ 357 w 530"/>
                  <a:gd name="T43" fmla="*/ 35 h 211"/>
                  <a:gd name="T44" fmla="*/ 362 w 530"/>
                  <a:gd name="T45" fmla="*/ 38 h 211"/>
                  <a:gd name="T46" fmla="*/ 368 w 530"/>
                  <a:gd name="T47" fmla="*/ 43 h 211"/>
                  <a:gd name="T48" fmla="*/ 376 w 530"/>
                  <a:gd name="T49" fmla="*/ 46 h 211"/>
                  <a:gd name="T50" fmla="*/ 380 w 530"/>
                  <a:gd name="T51" fmla="*/ 49 h 211"/>
                  <a:gd name="T52" fmla="*/ 385 w 530"/>
                  <a:gd name="T53" fmla="*/ 51 h 211"/>
                  <a:gd name="T54" fmla="*/ 389 w 530"/>
                  <a:gd name="T55" fmla="*/ 54 h 211"/>
                  <a:gd name="T56" fmla="*/ 395 w 530"/>
                  <a:gd name="T57" fmla="*/ 59 h 211"/>
                  <a:gd name="T58" fmla="*/ 399 w 530"/>
                  <a:gd name="T59" fmla="*/ 62 h 211"/>
                  <a:gd name="T60" fmla="*/ 402 w 530"/>
                  <a:gd name="T61" fmla="*/ 63 h 211"/>
                  <a:gd name="T62" fmla="*/ 405 w 530"/>
                  <a:gd name="T63" fmla="*/ 66 h 211"/>
                  <a:gd name="T64" fmla="*/ 410 w 530"/>
                  <a:gd name="T65" fmla="*/ 69 h 211"/>
                  <a:gd name="T66" fmla="*/ 414 w 530"/>
                  <a:gd name="T67" fmla="*/ 72 h 211"/>
                  <a:gd name="T68" fmla="*/ 417 w 530"/>
                  <a:gd name="T69" fmla="*/ 75 h 211"/>
                  <a:gd name="T70" fmla="*/ 420 w 530"/>
                  <a:gd name="T71" fmla="*/ 77 h 211"/>
                  <a:gd name="T72" fmla="*/ 423 w 530"/>
                  <a:gd name="T73" fmla="*/ 80 h 211"/>
                  <a:gd name="T74" fmla="*/ 428 w 530"/>
                  <a:gd name="T75" fmla="*/ 83 h 211"/>
                  <a:gd name="T76" fmla="*/ 432 w 530"/>
                  <a:gd name="T77" fmla="*/ 86 h 211"/>
                  <a:gd name="T78" fmla="*/ 435 w 530"/>
                  <a:gd name="T79" fmla="*/ 88 h 211"/>
                  <a:gd name="T80" fmla="*/ 438 w 530"/>
                  <a:gd name="T81" fmla="*/ 91 h 211"/>
                  <a:gd name="T82" fmla="*/ 442 w 530"/>
                  <a:gd name="T83" fmla="*/ 96 h 211"/>
                  <a:gd name="T84" fmla="*/ 448 w 530"/>
                  <a:gd name="T85" fmla="*/ 100 h 211"/>
                  <a:gd name="T86" fmla="*/ 451 w 530"/>
                  <a:gd name="T87" fmla="*/ 105 h 211"/>
                  <a:gd name="T88" fmla="*/ 456 w 530"/>
                  <a:gd name="T89" fmla="*/ 109 h 211"/>
                  <a:gd name="T90" fmla="*/ 459 w 530"/>
                  <a:gd name="T91" fmla="*/ 114 h 211"/>
                  <a:gd name="T92" fmla="*/ 465 w 530"/>
                  <a:gd name="T93" fmla="*/ 120 h 211"/>
                  <a:gd name="T94" fmla="*/ 471 w 530"/>
                  <a:gd name="T95" fmla="*/ 127 h 211"/>
                  <a:gd name="T96" fmla="*/ 475 w 530"/>
                  <a:gd name="T97" fmla="*/ 131 h 211"/>
                  <a:gd name="T98" fmla="*/ 478 w 530"/>
                  <a:gd name="T99" fmla="*/ 137 h 211"/>
                  <a:gd name="T100" fmla="*/ 482 w 530"/>
                  <a:gd name="T101" fmla="*/ 143 h 211"/>
                  <a:gd name="T102" fmla="*/ 488 w 530"/>
                  <a:gd name="T103" fmla="*/ 149 h 211"/>
                  <a:gd name="T104" fmla="*/ 494 w 530"/>
                  <a:gd name="T105" fmla="*/ 158 h 211"/>
                  <a:gd name="T106" fmla="*/ 499 w 530"/>
                  <a:gd name="T107" fmla="*/ 164 h 211"/>
                  <a:gd name="T108" fmla="*/ 502 w 530"/>
                  <a:gd name="T109" fmla="*/ 170 h 211"/>
                  <a:gd name="T110" fmla="*/ 508 w 530"/>
                  <a:gd name="T111" fmla="*/ 176 h 211"/>
                  <a:gd name="T112" fmla="*/ 513 w 530"/>
                  <a:gd name="T113" fmla="*/ 185 h 211"/>
                  <a:gd name="T114" fmla="*/ 518 w 530"/>
                  <a:gd name="T115" fmla="*/ 192 h 211"/>
                  <a:gd name="T116" fmla="*/ 522 w 530"/>
                  <a:gd name="T117" fmla="*/ 198 h 211"/>
                  <a:gd name="T118" fmla="*/ 525 w 530"/>
                  <a:gd name="T119" fmla="*/ 202 h 211"/>
                  <a:gd name="T120" fmla="*/ 528 w 530"/>
                  <a:gd name="T121" fmla="*/ 208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1">
                    <a:moveTo>
                      <a:pt x="0" y="0"/>
                    </a:moveTo>
                    <a:lnTo>
                      <a:pt x="19" y="0"/>
                    </a:lnTo>
                    <a:lnTo>
                      <a:pt x="38" y="0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88" y="0"/>
                    </a:lnTo>
                    <a:lnTo>
                      <a:pt x="103" y="0"/>
                    </a:lnTo>
                    <a:lnTo>
                      <a:pt x="117" y="0"/>
                    </a:lnTo>
                    <a:lnTo>
                      <a:pt x="128" y="0"/>
                    </a:lnTo>
                    <a:lnTo>
                      <a:pt x="140" y="0"/>
                    </a:lnTo>
                    <a:lnTo>
                      <a:pt x="151" y="0"/>
                    </a:lnTo>
                    <a:lnTo>
                      <a:pt x="160" y="0"/>
                    </a:lnTo>
                    <a:lnTo>
                      <a:pt x="168" y="0"/>
                    </a:lnTo>
                    <a:lnTo>
                      <a:pt x="177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7" y="0"/>
                    </a:lnTo>
                    <a:lnTo>
                      <a:pt x="211" y="0"/>
                    </a:lnTo>
                    <a:lnTo>
                      <a:pt x="214" y="0"/>
                    </a:lnTo>
                    <a:lnTo>
                      <a:pt x="217" y="1"/>
                    </a:lnTo>
                    <a:lnTo>
                      <a:pt x="220" y="1"/>
                    </a:lnTo>
                    <a:lnTo>
                      <a:pt x="223" y="1"/>
                    </a:lnTo>
                    <a:lnTo>
                      <a:pt x="226" y="1"/>
                    </a:lnTo>
                    <a:lnTo>
                      <a:pt x="228" y="1"/>
                    </a:lnTo>
                    <a:lnTo>
                      <a:pt x="229" y="1"/>
                    </a:lnTo>
                    <a:lnTo>
                      <a:pt x="231" y="1"/>
                    </a:lnTo>
                    <a:lnTo>
                      <a:pt x="232" y="1"/>
                    </a:lnTo>
                    <a:lnTo>
                      <a:pt x="234" y="1"/>
                    </a:lnTo>
                    <a:lnTo>
                      <a:pt x="235" y="1"/>
                    </a:lnTo>
                    <a:lnTo>
                      <a:pt x="237" y="1"/>
                    </a:lnTo>
                    <a:lnTo>
                      <a:pt x="238" y="1"/>
                    </a:lnTo>
                    <a:lnTo>
                      <a:pt x="238" y="1"/>
                    </a:lnTo>
                    <a:lnTo>
                      <a:pt x="240" y="1"/>
                    </a:lnTo>
                    <a:lnTo>
                      <a:pt x="241" y="1"/>
                    </a:lnTo>
                    <a:lnTo>
                      <a:pt x="242" y="1"/>
                    </a:lnTo>
                    <a:lnTo>
                      <a:pt x="244" y="1"/>
                    </a:lnTo>
                    <a:lnTo>
                      <a:pt x="245" y="1"/>
                    </a:lnTo>
                    <a:lnTo>
                      <a:pt x="245" y="1"/>
                    </a:lnTo>
                    <a:lnTo>
                      <a:pt x="247" y="3"/>
                    </a:lnTo>
                    <a:lnTo>
                      <a:pt x="248" y="3"/>
                    </a:lnTo>
                    <a:lnTo>
                      <a:pt x="248" y="3"/>
                    </a:lnTo>
                    <a:lnTo>
                      <a:pt x="250" y="3"/>
                    </a:lnTo>
                    <a:lnTo>
                      <a:pt x="251" y="3"/>
                    </a:lnTo>
                    <a:lnTo>
                      <a:pt x="251" y="3"/>
                    </a:lnTo>
                    <a:lnTo>
                      <a:pt x="253" y="3"/>
                    </a:lnTo>
                    <a:lnTo>
                      <a:pt x="253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6" y="3"/>
                    </a:lnTo>
                    <a:lnTo>
                      <a:pt x="256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9" y="3"/>
                    </a:lnTo>
                    <a:lnTo>
                      <a:pt x="259" y="3"/>
                    </a:lnTo>
                    <a:lnTo>
                      <a:pt x="260" y="3"/>
                    </a:lnTo>
                    <a:lnTo>
                      <a:pt x="262" y="3"/>
                    </a:lnTo>
                    <a:lnTo>
                      <a:pt x="262" y="4"/>
                    </a:lnTo>
                    <a:lnTo>
                      <a:pt x="263" y="4"/>
                    </a:lnTo>
                    <a:lnTo>
                      <a:pt x="265" y="4"/>
                    </a:lnTo>
                    <a:lnTo>
                      <a:pt x="265" y="4"/>
                    </a:lnTo>
                    <a:lnTo>
                      <a:pt x="266" y="4"/>
                    </a:lnTo>
                    <a:lnTo>
                      <a:pt x="268" y="4"/>
                    </a:lnTo>
                    <a:lnTo>
                      <a:pt x="269" y="4"/>
                    </a:lnTo>
                    <a:lnTo>
                      <a:pt x="271" y="4"/>
                    </a:lnTo>
                    <a:lnTo>
                      <a:pt x="271" y="4"/>
                    </a:lnTo>
                    <a:lnTo>
                      <a:pt x="272" y="4"/>
                    </a:lnTo>
                    <a:lnTo>
                      <a:pt x="274" y="6"/>
                    </a:lnTo>
                    <a:lnTo>
                      <a:pt x="274" y="6"/>
                    </a:lnTo>
                    <a:lnTo>
                      <a:pt x="275" y="6"/>
                    </a:lnTo>
                    <a:lnTo>
                      <a:pt x="277" y="6"/>
                    </a:lnTo>
                    <a:lnTo>
                      <a:pt x="278" y="6"/>
                    </a:lnTo>
                    <a:lnTo>
                      <a:pt x="278" y="6"/>
                    </a:lnTo>
                    <a:lnTo>
                      <a:pt x="280" y="6"/>
                    </a:lnTo>
                    <a:lnTo>
                      <a:pt x="281" y="6"/>
                    </a:lnTo>
                    <a:lnTo>
                      <a:pt x="281" y="6"/>
                    </a:lnTo>
                    <a:lnTo>
                      <a:pt x="282" y="7"/>
                    </a:lnTo>
                    <a:lnTo>
                      <a:pt x="282" y="7"/>
                    </a:lnTo>
                    <a:lnTo>
                      <a:pt x="284" y="7"/>
                    </a:lnTo>
                    <a:lnTo>
                      <a:pt x="284" y="7"/>
                    </a:lnTo>
                    <a:lnTo>
                      <a:pt x="285" y="7"/>
                    </a:lnTo>
                    <a:lnTo>
                      <a:pt x="285" y="7"/>
                    </a:lnTo>
                    <a:lnTo>
                      <a:pt x="287" y="7"/>
                    </a:lnTo>
                    <a:lnTo>
                      <a:pt x="288" y="7"/>
                    </a:lnTo>
                    <a:lnTo>
                      <a:pt x="288" y="9"/>
                    </a:lnTo>
                    <a:lnTo>
                      <a:pt x="290" y="9"/>
                    </a:lnTo>
                    <a:lnTo>
                      <a:pt x="290" y="9"/>
                    </a:lnTo>
                    <a:lnTo>
                      <a:pt x="291" y="9"/>
                    </a:lnTo>
                    <a:lnTo>
                      <a:pt x="293" y="9"/>
                    </a:lnTo>
                    <a:lnTo>
                      <a:pt x="293" y="9"/>
                    </a:lnTo>
                    <a:lnTo>
                      <a:pt x="294" y="10"/>
                    </a:lnTo>
                    <a:lnTo>
                      <a:pt x="296" y="10"/>
                    </a:lnTo>
                    <a:lnTo>
                      <a:pt x="296" y="10"/>
                    </a:lnTo>
                    <a:lnTo>
                      <a:pt x="297" y="10"/>
                    </a:lnTo>
                    <a:lnTo>
                      <a:pt x="299" y="11"/>
                    </a:lnTo>
                    <a:lnTo>
                      <a:pt x="300" y="11"/>
                    </a:lnTo>
                    <a:lnTo>
                      <a:pt x="302" y="11"/>
                    </a:lnTo>
                    <a:lnTo>
                      <a:pt x="303" y="11"/>
                    </a:lnTo>
                    <a:lnTo>
                      <a:pt x="303" y="11"/>
                    </a:lnTo>
                    <a:lnTo>
                      <a:pt x="305" y="13"/>
                    </a:lnTo>
                    <a:lnTo>
                      <a:pt x="306" y="13"/>
                    </a:lnTo>
                    <a:lnTo>
                      <a:pt x="308" y="13"/>
                    </a:lnTo>
                    <a:lnTo>
                      <a:pt x="309" y="14"/>
                    </a:lnTo>
                    <a:lnTo>
                      <a:pt x="311" y="14"/>
                    </a:lnTo>
                    <a:lnTo>
                      <a:pt x="312" y="14"/>
                    </a:lnTo>
                    <a:lnTo>
                      <a:pt x="314" y="16"/>
                    </a:lnTo>
                    <a:lnTo>
                      <a:pt x="314" y="16"/>
                    </a:lnTo>
                    <a:lnTo>
                      <a:pt x="315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8" y="17"/>
                    </a:lnTo>
                    <a:lnTo>
                      <a:pt x="318" y="17"/>
                    </a:lnTo>
                    <a:lnTo>
                      <a:pt x="320" y="17"/>
                    </a:lnTo>
                    <a:lnTo>
                      <a:pt x="321" y="17"/>
                    </a:lnTo>
                    <a:lnTo>
                      <a:pt x="321" y="17"/>
                    </a:lnTo>
                    <a:lnTo>
                      <a:pt x="322" y="19"/>
                    </a:lnTo>
                    <a:lnTo>
                      <a:pt x="322" y="19"/>
                    </a:lnTo>
                    <a:lnTo>
                      <a:pt x="324" y="19"/>
                    </a:lnTo>
                    <a:lnTo>
                      <a:pt x="324" y="19"/>
                    </a:lnTo>
                    <a:lnTo>
                      <a:pt x="325" y="20"/>
                    </a:lnTo>
                    <a:lnTo>
                      <a:pt x="325" y="20"/>
                    </a:lnTo>
                    <a:lnTo>
                      <a:pt x="327" y="20"/>
                    </a:lnTo>
                    <a:lnTo>
                      <a:pt x="327" y="20"/>
                    </a:lnTo>
                    <a:lnTo>
                      <a:pt x="328" y="22"/>
                    </a:lnTo>
                    <a:lnTo>
                      <a:pt x="330" y="22"/>
                    </a:lnTo>
                    <a:lnTo>
                      <a:pt x="330" y="22"/>
                    </a:lnTo>
                    <a:lnTo>
                      <a:pt x="331" y="23"/>
                    </a:lnTo>
                    <a:lnTo>
                      <a:pt x="333" y="23"/>
                    </a:lnTo>
                    <a:lnTo>
                      <a:pt x="334" y="25"/>
                    </a:lnTo>
                    <a:lnTo>
                      <a:pt x="336" y="25"/>
                    </a:lnTo>
                    <a:lnTo>
                      <a:pt x="337" y="25"/>
                    </a:lnTo>
                    <a:lnTo>
                      <a:pt x="337" y="25"/>
                    </a:lnTo>
                    <a:lnTo>
                      <a:pt x="339" y="26"/>
                    </a:lnTo>
                    <a:lnTo>
                      <a:pt x="340" y="26"/>
                    </a:lnTo>
                    <a:lnTo>
                      <a:pt x="340" y="28"/>
                    </a:lnTo>
                    <a:lnTo>
                      <a:pt x="342" y="28"/>
                    </a:lnTo>
                    <a:lnTo>
                      <a:pt x="343" y="29"/>
                    </a:lnTo>
                    <a:lnTo>
                      <a:pt x="345" y="29"/>
                    </a:lnTo>
                    <a:lnTo>
                      <a:pt x="345" y="29"/>
                    </a:lnTo>
                    <a:lnTo>
                      <a:pt x="346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49" y="32"/>
                    </a:lnTo>
                    <a:lnTo>
                      <a:pt x="349" y="32"/>
                    </a:lnTo>
                    <a:lnTo>
                      <a:pt x="351" y="32"/>
                    </a:lnTo>
                    <a:lnTo>
                      <a:pt x="351" y="32"/>
                    </a:lnTo>
                    <a:lnTo>
                      <a:pt x="352" y="34"/>
                    </a:lnTo>
                    <a:lnTo>
                      <a:pt x="352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5" y="35"/>
                    </a:lnTo>
                    <a:lnTo>
                      <a:pt x="355" y="35"/>
                    </a:lnTo>
                    <a:lnTo>
                      <a:pt x="357" y="35"/>
                    </a:lnTo>
                    <a:lnTo>
                      <a:pt x="357" y="35"/>
                    </a:lnTo>
                    <a:lnTo>
                      <a:pt x="358" y="37"/>
                    </a:lnTo>
                    <a:lnTo>
                      <a:pt x="358" y="37"/>
                    </a:lnTo>
                    <a:lnTo>
                      <a:pt x="359" y="37"/>
                    </a:lnTo>
                    <a:lnTo>
                      <a:pt x="359" y="38"/>
                    </a:lnTo>
                    <a:lnTo>
                      <a:pt x="361" y="38"/>
                    </a:lnTo>
                    <a:lnTo>
                      <a:pt x="362" y="38"/>
                    </a:lnTo>
                    <a:lnTo>
                      <a:pt x="362" y="40"/>
                    </a:lnTo>
                    <a:lnTo>
                      <a:pt x="364" y="40"/>
                    </a:lnTo>
                    <a:lnTo>
                      <a:pt x="365" y="41"/>
                    </a:lnTo>
                    <a:lnTo>
                      <a:pt x="367" y="41"/>
                    </a:lnTo>
                    <a:lnTo>
                      <a:pt x="367" y="41"/>
                    </a:lnTo>
                    <a:lnTo>
                      <a:pt x="368" y="43"/>
                    </a:lnTo>
                    <a:lnTo>
                      <a:pt x="368" y="43"/>
                    </a:lnTo>
                    <a:lnTo>
                      <a:pt x="370" y="43"/>
                    </a:lnTo>
                    <a:lnTo>
                      <a:pt x="371" y="44"/>
                    </a:lnTo>
                    <a:lnTo>
                      <a:pt x="371" y="44"/>
                    </a:lnTo>
                    <a:lnTo>
                      <a:pt x="373" y="46"/>
                    </a:lnTo>
                    <a:lnTo>
                      <a:pt x="374" y="46"/>
                    </a:lnTo>
                    <a:lnTo>
                      <a:pt x="374" y="46"/>
                    </a:lnTo>
                    <a:lnTo>
                      <a:pt x="376" y="46"/>
                    </a:lnTo>
                    <a:lnTo>
                      <a:pt x="376" y="47"/>
                    </a:lnTo>
                    <a:lnTo>
                      <a:pt x="377" y="47"/>
                    </a:lnTo>
                    <a:lnTo>
                      <a:pt x="377" y="47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0" y="49"/>
                    </a:lnTo>
                    <a:lnTo>
                      <a:pt x="380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3" y="50"/>
                    </a:lnTo>
                    <a:lnTo>
                      <a:pt x="383" y="51"/>
                    </a:lnTo>
                    <a:lnTo>
                      <a:pt x="385" y="51"/>
                    </a:lnTo>
                    <a:lnTo>
                      <a:pt x="385" y="51"/>
                    </a:lnTo>
                    <a:lnTo>
                      <a:pt x="386" y="53"/>
                    </a:lnTo>
                    <a:lnTo>
                      <a:pt x="386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89" y="54"/>
                    </a:lnTo>
                    <a:lnTo>
                      <a:pt x="389" y="54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2" y="57"/>
                    </a:lnTo>
                    <a:lnTo>
                      <a:pt x="394" y="57"/>
                    </a:lnTo>
                    <a:lnTo>
                      <a:pt x="394" y="57"/>
                    </a:lnTo>
                    <a:lnTo>
                      <a:pt x="395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8" y="60"/>
                    </a:lnTo>
                    <a:lnTo>
                      <a:pt x="398" y="60"/>
                    </a:lnTo>
                    <a:lnTo>
                      <a:pt x="398" y="60"/>
                    </a:lnTo>
                    <a:lnTo>
                      <a:pt x="399" y="62"/>
                    </a:lnTo>
                    <a:lnTo>
                      <a:pt x="399" y="62"/>
                    </a:lnTo>
                    <a:lnTo>
                      <a:pt x="401" y="62"/>
                    </a:lnTo>
                    <a:lnTo>
                      <a:pt x="401" y="62"/>
                    </a:lnTo>
                    <a:lnTo>
                      <a:pt x="401" y="63"/>
                    </a:lnTo>
                    <a:lnTo>
                      <a:pt x="401" y="63"/>
                    </a:lnTo>
                    <a:lnTo>
                      <a:pt x="402" y="63"/>
                    </a:lnTo>
                    <a:lnTo>
                      <a:pt x="402" y="63"/>
                    </a:lnTo>
                    <a:lnTo>
                      <a:pt x="402" y="63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5" y="65"/>
                    </a:lnTo>
                    <a:lnTo>
                      <a:pt x="405" y="66"/>
                    </a:lnTo>
                    <a:lnTo>
                      <a:pt x="405" y="66"/>
                    </a:lnTo>
                    <a:lnTo>
                      <a:pt x="405" y="66"/>
                    </a:lnTo>
                    <a:lnTo>
                      <a:pt x="407" y="66"/>
                    </a:lnTo>
                    <a:lnTo>
                      <a:pt x="407" y="68"/>
                    </a:lnTo>
                    <a:lnTo>
                      <a:pt x="408" y="68"/>
                    </a:lnTo>
                    <a:lnTo>
                      <a:pt x="408" y="68"/>
                    </a:lnTo>
                    <a:lnTo>
                      <a:pt x="408" y="69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1" y="71"/>
                    </a:lnTo>
                    <a:lnTo>
                      <a:pt x="411" y="71"/>
                    </a:lnTo>
                    <a:lnTo>
                      <a:pt x="413" y="71"/>
                    </a:lnTo>
                    <a:lnTo>
                      <a:pt x="413" y="72"/>
                    </a:lnTo>
                    <a:lnTo>
                      <a:pt x="413" y="72"/>
                    </a:lnTo>
                    <a:lnTo>
                      <a:pt x="414" y="72"/>
                    </a:lnTo>
                    <a:lnTo>
                      <a:pt x="414" y="72"/>
                    </a:lnTo>
                    <a:lnTo>
                      <a:pt x="414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9" y="75"/>
                    </a:lnTo>
                    <a:lnTo>
                      <a:pt x="419" y="77"/>
                    </a:lnTo>
                    <a:lnTo>
                      <a:pt x="419" y="77"/>
                    </a:lnTo>
                    <a:lnTo>
                      <a:pt x="419" y="77"/>
                    </a:lnTo>
                    <a:lnTo>
                      <a:pt x="420" y="77"/>
                    </a:lnTo>
                    <a:lnTo>
                      <a:pt x="420" y="77"/>
                    </a:lnTo>
                    <a:lnTo>
                      <a:pt x="420" y="78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3" y="80"/>
                    </a:lnTo>
                    <a:lnTo>
                      <a:pt x="423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5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8" y="83"/>
                    </a:lnTo>
                    <a:lnTo>
                      <a:pt x="429" y="83"/>
                    </a:lnTo>
                    <a:lnTo>
                      <a:pt x="429" y="84"/>
                    </a:lnTo>
                    <a:lnTo>
                      <a:pt x="429" y="84"/>
                    </a:lnTo>
                    <a:lnTo>
                      <a:pt x="431" y="84"/>
                    </a:lnTo>
                    <a:lnTo>
                      <a:pt x="431" y="84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4" y="87"/>
                    </a:lnTo>
                    <a:lnTo>
                      <a:pt x="435" y="87"/>
                    </a:lnTo>
                    <a:lnTo>
                      <a:pt x="435" y="87"/>
                    </a:lnTo>
                    <a:lnTo>
                      <a:pt x="435" y="88"/>
                    </a:lnTo>
                    <a:lnTo>
                      <a:pt x="436" y="88"/>
                    </a:lnTo>
                    <a:lnTo>
                      <a:pt x="436" y="88"/>
                    </a:lnTo>
                    <a:lnTo>
                      <a:pt x="436" y="88"/>
                    </a:lnTo>
                    <a:lnTo>
                      <a:pt x="436" y="90"/>
                    </a:lnTo>
                    <a:lnTo>
                      <a:pt x="438" y="90"/>
                    </a:lnTo>
                    <a:lnTo>
                      <a:pt x="438" y="90"/>
                    </a:lnTo>
                    <a:lnTo>
                      <a:pt x="438" y="91"/>
                    </a:lnTo>
                    <a:lnTo>
                      <a:pt x="439" y="91"/>
                    </a:lnTo>
                    <a:lnTo>
                      <a:pt x="439" y="91"/>
                    </a:lnTo>
                    <a:lnTo>
                      <a:pt x="439" y="93"/>
                    </a:lnTo>
                    <a:lnTo>
                      <a:pt x="441" y="93"/>
                    </a:lnTo>
                    <a:lnTo>
                      <a:pt x="441" y="94"/>
                    </a:lnTo>
                    <a:lnTo>
                      <a:pt x="442" y="94"/>
                    </a:lnTo>
                    <a:lnTo>
                      <a:pt x="442" y="96"/>
                    </a:lnTo>
                    <a:lnTo>
                      <a:pt x="444" y="96"/>
                    </a:lnTo>
                    <a:lnTo>
                      <a:pt x="444" y="97"/>
                    </a:lnTo>
                    <a:lnTo>
                      <a:pt x="445" y="97"/>
                    </a:lnTo>
                    <a:lnTo>
                      <a:pt x="445" y="97"/>
                    </a:lnTo>
                    <a:lnTo>
                      <a:pt x="445" y="99"/>
                    </a:lnTo>
                    <a:lnTo>
                      <a:pt x="447" y="99"/>
                    </a:lnTo>
                    <a:lnTo>
                      <a:pt x="448" y="100"/>
                    </a:lnTo>
                    <a:lnTo>
                      <a:pt x="448" y="102"/>
                    </a:lnTo>
                    <a:lnTo>
                      <a:pt x="448" y="102"/>
                    </a:lnTo>
                    <a:lnTo>
                      <a:pt x="450" y="103"/>
                    </a:lnTo>
                    <a:lnTo>
                      <a:pt x="450" y="103"/>
                    </a:lnTo>
                    <a:lnTo>
                      <a:pt x="451" y="103"/>
                    </a:lnTo>
                    <a:lnTo>
                      <a:pt x="451" y="105"/>
                    </a:lnTo>
                    <a:lnTo>
                      <a:pt x="451" y="105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6" y="109"/>
                    </a:lnTo>
                    <a:lnTo>
                      <a:pt x="456" y="109"/>
                    </a:lnTo>
                    <a:lnTo>
                      <a:pt x="456" y="111"/>
                    </a:lnTo>
                    <a:lnTo>
                      <a:pt x="457" y="111"/>
                    </a:lnTo>
                    <a:lnTo>
                      <a:pt x="457" y="111"/>
                    </a:lnTo>
                    <a:lnTo>
                      <a:pt x="459" y="112"/>
                    </a:lnTo>
                    <a:lnTo>
                      <a:pt x="459" y="112"/>
                    </a:lnTo>
                    <a:lnTo>
                      <a:pt x="459" y="114"/>
                    </a:lnTo>
                    <a:lnTo>
                      <a:pt x="460" y="114"/>
                    </a:lnTo>
                    <a:lnTo>
                      <a:pt x="460" y="115"/>
                    </a:lnTo>
                    <a:lnTo>
                      <a:pt x="462" y="115"/>
                    </a:lnTo>
                    <a:lnTo>
                      <a:pt x="462" y="117"/>
                    </a:lnTo>
                    <a:lnTo>
                      <a:pt x="463" y="118"/>
                    </a:lnTo>
                    <a:lnTo>
                      <a:pt x="463" y="120"/>
                    </a:lnTo>
                    <a:lnTo>
                      <a:pt x="465" y="120"/>
                    </a:lnTo>
                    <a:lnTo>
                      <a:pt x="466" y="121"/>
                    </a:lnTo>
                    <a:lnTo>
                      <a:pt x="466" y="121"/>
                    </a:lnTo>
                    <a:lnTo>
                      <a:pt x="466" y="123"/>
                    </a:lnTo>
                    <a:lnTo>
                      <a:pt x="468" y="124"/>
                    </a:lnTo>
                    <a:lnTo>
                      <a:pt x="469" y="124"/>
                    </a:lnTo>
                    <a:lnTo>
                      <a:pt x="469" y="125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2" y="128"/>
                    </a:lnTo>
                    <a:lnTo>
                      <a:pt x="472" y="128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4" y="131"/>
                    </a:lnTo>
                    <a:lnTo>
                      <a:pt x="475" y="131"/>
                    </a:lnTo>
                    <a:lnTo>
                      <a:pt x="475" y="133"/>
                    </a:lnTo>
                    <a:lnTo>
                      <a:pt x="476" y="133"/>
                    </a:lnTo>
                    <a:lnTo>
                      <a:pt x="476" y="134"/>
                    </a:lnTo>
                    <a:lnTo>
                      <a:pt x="476" y="134"/>
                    </a:lnTo>
                    <a:lnTo>
                      <a:pt x="478" y="136"/>
                    </a:lnTo>
                    <a:lnTo>
                      <a:pt x="478" y="136"/>
                    </a:lnTo>
                    <a:lnTo>
                      <a:pt x="478" y="137"/>
                    </a:lnTo>
                    <a:lnTo>
                      <a:pt x="479" y="137"/>
                    </a:lnTo>
                    <a:lnTo>
                      <a:pt x="479" y="139"/>
                    </a:lnTo>
                    <a:lnTo>
                      <a:pt x="479" y="139"/>
                    </a:lnTo>
                    <a:lnTo>
                      <a:pt x="481" y="140"/>
                    </a:lnTo>
                    <a:lnTo>
                      <a:pt x="481" y="140"/>
                    </a:lnTo>
                    <a:lnTo>
                      <a:pt x="482" y="142"/>
                    </a:lnTo>
                    <a:lnTo>
                      <a:pt x="482" y="143"/>
                    </a:lnTo>
                    <a:lnTo>
                      <a:pt x="484" y="143"/>
                    </a:lnTo>
                    <a:lnTo>
                      <a:pt x="484" y="145"/>
                    </a:lnTo>
                    <a:lnTo>
                      <a:pt x="485" y="146"/>
                    </a:lnTo>
                    <a:lnTo>
                      <a:pt x="485" y="148"/>
                    </a:lnTo>
                    <a:lnTo>
                      <a:pt x="487" y="149"/>
                    </a:lnTo>
                    <a:lnTo>
                      <a:pt x="488" y="149"/>
                    </a:lnTo>
                    <a:lnTo>
                      <a:pt x="488" y="149"/>
                    </a:lnTo>
                    <a:lnTo>
                      <a:pt x="488" y="151"/>
                    </a:lnTo>
                    <a:lnTo>
                      <a:pt x="490" y="152"/>
                    </a:lnTo>
                    <a:lnTo>
                      <a:pt x="491" y="154"/>
                    </a:lnTo>
                    <a:lnTo>
                      <a:pt x="491" y="155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4" y="158"/>
                    </a:lnTo>
                    <a:lnTo>
                      <a:pt x="494" y="160"/>
                    </a:lnTo>
                    <a:lnTo>
                      <a:pt x="496" y="160"/>
                    </a:lnTo>
                    <a:lnTo>
                      <a:pt x="496" y="161"/>
                    </a:lnTo>
                    <a:lnTo>
                      <a:pt x="496" y="163"/>
                    </a:lnTo>
                    <a:lnTo>
                      <a:pt x="497" y="163"/>
                    </a:lnTo>
                    <a:lnTo>
                      <a:pt x="497" y="164"/>
                    </a:lnTo>
                    <a:lnTo>
                      <a:pt x="499" y="164"/>
                    </a:lnTo>
                    <a:lnTo>
                      <a:pt x="499" y="165"/>
                    </a:lnTo>
                    <a:lnTo>
                      <a:pt x="499" y="165"/>
                    </a:lnTo>
                    <a:lnTo>
                      <a:pt x="500" y="167"/>
                    </a:lnTo>
                    <a:lnTo>
                      <a:pt x="500" y="167"/>
                    </a:lnTo>
                    <a:lnTo>
                      <a:pt x="500" y="168"/>
                    </a:lnTo>
                    <a:lnTo>
                      <a:pt x="502" y="168"/>
                    </a:lnTo>
                    <a:lnTo>
                      <a:pt x="502" y="170"/>
                    </a:lnTo>
                    <a:lnTo>
                      <a:pt x="503" y="170"/>
                    </a:lnTo>
                    <a:lnTo>
                      <a:pt x="503" y="171"/>
                    </a:lnTo>
                    <a:lnTo>
                      <a:pt x="503" y="171"/>
                    </a:lnTo>
                    <a:lnTo>
                      <a:pt x="505" y="173"/>
                    </a:lnTo>
                    <a:lnTo>
                      <a:pt x="505" y="174"/>
                    </a:lnTo>
                    <a:lnTo>
                      <a:pt x="506" y="176"/>
                    </a:lnTo>
                    <a:lnTo>
                      <a:pt x="508" y="176"/>
                    </a:lnTo>
                    <a:lnTo>
                      <a:pt x="508" y="177"/>
                    </a:lnTo>
                    <a:lnTo>
                      <a:pt x="509" y="179"/>
                    </a:lnTo>
                    <a:lnTo>
                      <a:pt x="509" y="180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2" y="183"/>
                    </a:lnTo>
                    <a:lnTo>
                      <a:pt x="513" y="185"/>
                    </a:lnTo>
                    <a:lnTo>
                      <a:pt x="513" y="186"/>
                    </a:lnTo>
                    <a:lnTo>
                      <a:pt x="515" y="188"/>
                    </a:lnTo>
                    <a:lnTo>
                      <a:pt x="515" y="188"/>
                    </a:lnTo>
                    <a:lnTo>
                      <a:pt x="516" y="189"/>
                    </a:lnTo>
                    <a:lnTo>
                      <a:pt x="516" y="191"/>
                    </a:lnTo>
                    <a:lnTo>
                      <a:pt x="518" y="191"/>
                    </a:lnTo>
                    <a:lnTo>
                      <a:pt x="518" y="192"/>
                    </a:lnTo>
                    <a:lnTo>
                      <a:pt x="519" y="194"/>
                    </a:lnTo>
                    <a:lnTo>
                      <a:pt x="519" y="194"/>
                    </a:lnTo>
                    <a:lnTo>
                      <a:pt x="519" y="195"/>
                    </a:lnTo>
                    <a:lnTo>
                      <a:pt x="521" y="195"/>
                    </a:lnTo>
                    <a:lnTo>
                      <a:pt x="521" y="197"/>
                    </a:lnTo>
                    <a:lnTo>
                      <a:pt x="521" y="197"/>
                    </a:lnTo>
                    <a:lnTo>
                      <a:pt x="522" y="198"/>
                    </a:lnTo>
                    <a:lnTo>
                      <a:pt x="522" y="198"/>
                    </a:lnTo>
                    <a:lnTo>
                      <a:pt x="522" y="200"/>
                    </a:lnTo>
                    <a:lnTo>
                      <a:pt x="524" y="200"/>
                    </a:lnTo>
                    <a:lnTo>
                      <a:pt x="524" y="201"/>
                    </a:lnTo>
                    <a:lnTo>
                      <a:pt x="524" y="201"/>
                    </a:lnTo>
                    <a:lnTo>
                      <a:pt x="525" y="201"/>
                    </a:lnTo>
                    <a:lnTo>
                      <a:pt x="525" y="202"/>
                    </a:lnTo>
                    <a:lnTo>
                      <a:pt x="525" y="204"/>
                    </a:lnTo>
                    <a:lnTo>
                      <a:pt x="525" y="204"/>
                    </a:lnTo>
                    <a:lnTo>
                      <a:pt x="527" y="205"/>
                    </a:lnTo>
                    <a:lnTo>
                      <a:pt x="527" y="205"/>
                    </a:lnTo>
                    <a:lnTo>
                      <a:pt x="528" y="207"/>
                    </a:lnTo>
                    <a:lnTo>
                      <a:pt x="528" y="208"/>
                    </a:lnTo>
                    <a:lnTo>
                      <a:pt x="528" y="208"/>
                    </a:lnTo>
                    <a:lnTo>
                      <a:pt x="530" y="210"/>
                    </a:lnTo>
                    <a:lnTo>
                      <a:pt x="530" y="211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1" name="Freeform 173"/>
              <p:cNvSpPr>
                <a:spLocks/>
              </p:cNvSpPr>
              <p:nvPr/>
            </p:nvSpPr>
            <p:spPr bwMode="auto">
              <a:xfrm>
                <a:off x="2667" y="2229"/>
                <a:ext cx="21" cy="71"/>
              </a:xfrm>
              <a:custGeom>
                <a:avLst/>
                <a:gdLst>
                  <a:gd name="T0" fmla="*/ 4 w 63"/>
                  <a:gd name="T1" fmla="*/ 206 h 212"/>
                  <a:gd name="T2" fmla="*/ 7 w 63"/>
                  <a:gd name="T3" fmla="*/ 199 h 212"/>
                  <a:gd name="T4" fmla="*/ 10 w 63"/>
                  <a:gd name="T5" fmla="*/ 193 h 212"/>
                  <a:gd name="T6" fmla="*/ 13 w 63"/>
                  <a:gd name="T7" fmla="*/ 190 h 212"/>
                  <a:gd name="T8" fmla="*/ 15 w 63"/>
                  <a:gd name="T9" fmla="*/ 185 h 212"/>
                  <a:gd name="T10" fmla="*/ 16 w 63"/>
                  <a:gd name="T11" fmla="*/ 182 h 212"/>
                  <a:gd name="T12" fmla="*/ 17 w 63"/>
                  <a:gd name="T13" fmla="*/ 180 h 212"/>
                  <a:gd name="T14" fmla="*/ 19 w 63"/>
                  <a:gd name="T15" fmla="*/ 175 h 212"/>
                  <a:gd name="T16" fmla="*/ 20 w 63"/>
                  <a:gd name="T17" fmla="*/ 171 h 212"/>
                  <a:gd name="T18" fmla="*/ 22 w 63"/>
                  <a:gd name="T19" fmla="*/ 168 h 212"/>
                  <a:gd name="T20" fmla="*/ 23 w 63"/>
                  <a:gd name="T21" fmla="*/ 163 h 212"/>
                  <a:gd name="T22" fmla="*/ 25 w 63"/>
                  <a:gd name="T23" fmla="*/ 162 h 212"/>
                  <a:gd name="T24" fmla="*/ 26 w 63"/>
                  <a:gd name="T25" fmla="*/ 159 h 212"/>
                  <a:gd name="T26" fmla="*/ 28 w 63"/>
                  <a:gd name="T27" fmla="*/ 156 h 212"/>
                  <a:gd name="T28" fmla="*/ 29 w 63"/>
                  <a:gd name="T29" fmla="*/ 151 h 212"/>
                  <a:gd name="T30" fmla="*/ 31 w 63"/>
                  <a:gd name="T31" fmla="*/ 147 h 212"/>
                  <a:gd name="T32" fmla="*/ 32 w 63"/>
                  <a:gd name="T33" fmla="*/ 142 h 212"/>
                  <a:gd name="T34" fmla="*/ 34 w 63"/>
                  <a:gd name="T35" fmla="*/ 138 h 212"/>
                  <a:gd name="T36" fmla="*/ 35 w 63"/>
                  <a:gd name="T37" fmla="*/ 134 h 212"/>
                  <a:gd name="T38" fmla="*/ 37 w 63"/>
                  <a:gd name="T39" fmla="*/ 131 h 212"/>
                  <a:gd name="T40" fmla="*/ 38 w 63"/>
                  <a:gd name="T41" fmla="*/ 128 h 212"/>
                  <a:gd name="T42" fmla="*/ 38 w 63"/>
                  <a:gd name="T43" fmla="*/ 123 h 212"/>
                  <a:gd name="T44" fmla="*/ 40 w 63"/>
                  <a:gd name="T45" fmla="*/ 120 h 212"/>
                  <a:gd name="T46" fmla="*/ 41 w 63"/>
                  <a:gd name="T47" fmla="*/ 116 h 212"/>
                  <a:gd name="T48" fmla="*/ 43 w 63"/>
                  <a:gd name="T49" fmla="*/ 111 h 212"/>
                  <a:gd name="T50" fmla="*/ 44 w 63"/>
                  <a:gd name="T51" fmla="*/ 107 h 212"/>
                  <a:gd name="T52" fmla="*/ 46 w 63"/>
                  <a:gd name="T53" fmla="*/ 103 h 212"/>
                  <a:gd name="T54" fmla="*/ 47 w 63"/>
                  <a:gd name="T55" fmla="*/ 98 h 212"/>
                  <a:gd name="T56" fmla="*/ 47 w 63"/>
                  <a:gd name="T57" fmla="*/ 95 h 212"/>
                  <a:gd name="T58" fmla="*/ 49 w 63"/>
                  <a:gd name="T59" fmla="*/ 92 h 212"/>
                  <a:gd name="T60" fmla="*/ 50 w 63"/>
                  <a:gd name="T61" fmla="*/ 89 h 212"/>
                  <a:gd name="T62" fmla="*/ 52 w 63"/>
                  <a:gd name="T63" fmla="*/ 85 h 212"/>
                  <a:gd name="T64" fmla="*/ 53 w 63"/>
                  <a:gd name="T65" fmla="*/ 79 h 212"/>
                  <a:gd name="T66" fmla="*/ 55 w 63"/>
                  <a:gd name="T67" fmla="*/ 76 h 212"/>
                  <a:gd name="T68" fmla="*/ 55 w 63"/>
                  <a:gd name="T69" fmla="*/ 71 h 212"/>
                  <a:gd name="T70" fmla="*/ 56 w 63"/>
                  <a:gd name="T71" fmla="*/ 67 h 212"/>
                  <a:gd name="T72" fmla="*/ 57 w 63"/>
                  <a:gd name="T73" fmla="*/ 64 h 212"/>
                  <a:gd name="T74" fmla="*/ 57 w 63"/>
                  <a:gd name="T75" fmla="*/ 61 h 212"/>
                  <a:gd name="T76" fmla="*/ 57 w 63"/>
                  <a:gd name="T77" fmla="*/ 58 h 212"/>
                  <a:gd name="T78" fmla="*/ 57 w 63"/>
                  <a:gd name="T79" fmla="*/ 55 h 212"/>
                  <a:gd name="T80" fmla="*/ 59 w 63"/>
                  <a:gd name="T81" fmla="*/ 51 h 212"/>
                  <a:gd name="T82" fmla="*/ 59 w 63"/>
                  <a:gd name="T83" fmla="*/ 46 h 212"/>
                  <a:gd name="T84" fmla="*/ 59 w 63"/>
                  <a:gd name="T85" fmla="*/ 43 h 212"/>
                  <a:gd name="T86" fmla="*/ 59 w 63"/>
                  <a:gd name="T87" fmla="*/ 40 h 212"/>
                  <a:gd name="T88" fmla="*/ 59 w 63"/>
                  <a:gd name="T89" fmla="*/ 37 h 212"/>
                  <a:gd name="T90" fmla="*/ 60 w 63"/>
                  <a:gd name="T91" fmla="*/ 36 h 212"/>
                  <a:gd name="T92" fmla="*/ 60 w 63"/>
                  <a:gd name="T93" fmla="*/ 33 h 212"/>
                  <a:gd name="T94" fmla="*/ 60 w 63"/>
                  <a:gd name="T95" fmla="*/ 31 h 212"/>
                  <a:gd name="T96" fmla="*/ 60 w 63"/>
                  <a:gd name="T97" fmla="*/ 28 h 212"/>
                  <a:gd name="T98" fmla="*/ 62 w 63"/>
                  <a:gd name="T99" fmla="*/ 27 h 212"/>
                  <a:gd name="T100" fmla="*/ 62 w 63"/>
                  <a:gd name="T101" fmla="*/ 24 h 212"/>
                  <a:gd name="T102" fmla="*/ 62 w 63"/>
                  <a:gd name="T103" fmla="*/ 21 h 212"/>
                  <a:gd name="T104" fmla="*/ 62 w 63"/>
                  <a:gd name="T105" fmla="*/ 20 h 212"/>
                  <a:gd name="T106" fmla="*/ 63 w 63"/>
                  <a:gd name="T107" fmla="*/ 17 h 212"/>
                  <a:gd name="T108" fmla="*/ 62 w 63"/>
                  <a:gd name="T109" fmla="*/ 14 h 212"/>
                  <a:gd name="T110" fmla="*/ 62 w 63"/>
                  <a:gd name="T111" fmla="*/ 11 h 212"/>
                  <a:gd name="T112" fmla="*/ 62 w 63"/>
                  <a:gd name="T113" fmla="*/ 5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2">
                    <a:moveTo>
                      <a:pt x="0" y="212"/>
                    </a:moveTo>
                    <a:lnTo>
                      <a:pt x="1" y="211"/>
                    </a:lnTo>
                    <a:lnTo>
                      <a:pt x="3" y="208"/>
                    </a:lnTo>
                    <a:lnTo>
                      <a:pt x="4" y="206"/>
                    </a:lnTo>
                    <a:lnTo>
                      <a:pt x="4" y="203"/>
                    </a:lnTo>
                    <a:lnTo>
                      <a:pt x="6" y="202"/>
                    </a:lnTo>
                    <a:lnTo>
                      <a:pt x="7" y="200"/>
                    </a:lnTo>
                    <a:lnTo>
                      <a:pt x="7" y="199"/>
                    </a:lnTo>
                    <a:lnTo>
                      <a:pt x="9" y="197"/>
                    </a:lnTo>
                    <a:lnTo>
                      <a:pt x="9" y="196"/>
                    </a:lnTo>
                    <a:lnTo>
                      <a:pt x="10" y="194"/>
                    </a:lnTo>
                    <a:lnTo>
                      <a:pt x="10" y="193"/>
                    </a:lnTo>
                    <a:lnTo>
                      <a:pt x="12" y="193"/>
                    </a:lnTo>
                    <a:lnTo>
                      <a:pt x="12" y="191"/>
                    </a:lnTo>
                    <a:lnTo>
                      <a:pt x="12" y="190"/>
                    </a:lnTo>
                    <a:lnTo>
                      <a:pt x="13" y="190"/>
                    </a:lnTo>
                    <a:lnTo>
                      <a:pt x="13" y="188"/>
                    </a:lnTo>
                    <a:lnTo>
                      <a:pt x="13" y="187"/>
                    </a:lnTo>
                    <a:lnTo>
                      <a:pt x="15" y="187"/>
                    </a:lnTo>
                    <a:lnTo>
                      <a:pt x="15" y="185"/>
                    </a:lnTo>
                    <a:lnTo>
                      <a:pt x="15" y="185"/>
                    </a:lnTo>
                    <a:lnTo>
                      <a:pt x="15" y="184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1"/>
                    </a:lnTo>
                    <a:lnTo>
                      <a:pt x="16" y="181"/>
                    </a:lnTo>
                    <a:lnTo>
                      <a:pt x="17" y="180"/>
                    </a:lnTo>
                    <a:lnTo>
                      <a:pt x="17" y="180"/>
                    </a:lnTo>
                    <a:lnTo>
                      <a:pt x="17" y="178"/>
                    </a:lnTo>
                    <a:lnTo>
                      <a:pt x="19" y="177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19" y="174"/>
                    </a:lnTo>
                    <a:lnTo>
                      <a:pt x="19" y="174"/>
                    </a:lnTo>
                    <a:lnTo>
                      <a:pt x="20" y="172"/>
                    </a:lnTo>
                    <a:lnTo>
                      <a:pt x="20" y="171"/>
                    </a:lnTo>
                    <a:lnTo>
                      <a:pt x="20" y="171"/>
                    </a:lnTo>
                    <a:lnTo>
                      <a:pt x="22" y="169"/>
                    </a:lnTo>
                    <a:lnTo>
                      <a:pt x="22" y="168"/>
                    </a:lnTo>
                    <a:lnTo>
                      <a:pt x="22" y="168"/>
                    </a:lnTo>
                    <a:lnTo>
                      <a:pt x="23" y="166"/>
                    </a:lnTo>
                    <a:lnTo>
                      <a:pt x="23" y="166"/>
                    </a:lnTo>
                    <a:lnTo>
                      <a:pt x="23" y="165"/>
                    </a:lnTo>
                    <a:lnTo>
                      <a:pt x="23" y="163"/>
                    </a:lnTo>
                    <a:lnTo>
                      <a:pt x="23" y="163"/>
                    </a:lnTo>
                    <a:lnTo>
                      <a:pt x="25" y="163"/>
                    </a:lnTo>
                    <a:lnTo>
                      <a:pt x="25" y="162"/>
                    </a:lnTo>
                    <a:lnTo>
                      <a:pt x="25" y="162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6" y="159"/>
                    </a:lnTo>
                    <a:lnTo>
                      <a:pt x="26" y="159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6" y="156"/>
                    </a:lnTo>
                    <a:lnTo>
                      <a:pt x="28" y="156"/>
                    </a:lnTo>
                    <a:lnTo>
                      <a:pt x="28" y="154"/>
                    </a:lnTo>
                    <a:lnTo>
                      <a:pt x="28" y="153"/>
                    </a:lnTo>
                    <a:lnTo>
                      <a:pt x="28" y="153"/>
                    </a:lnTo>
                    <a:lnTo>
                      <a:pt x="29" y="151"/>
                    </a:lnTo>
                    <a:lnTo>
                      <a:pt x="29" y="150"/>
                    </a:lnTo>
                    <a:lnTo>
                      <a:pt x="29" y="150"/>
                    </a:lnTo>
                    <a:lnTo>
                      <a:pt x="29" y="148"/>
                    </a:lnTo>
                    <a:lnTo>
                      <a:pt x="31" y="147"/>
                    </a:lnTo>
                    <a:lnTo>
                      <a:pt x="31" y="145"/>
                    </a:lnTo>
                    <a:lnTo>
                      <a:pt x="31" y="144"/>
                    </a:lnTo>
                    <a:lnTo>
                      <a:pt x="31" y="144"/>
                    </a:lnTo>
                    <a:lnTo>
                      <a:pt x="32" y="142"/>
                    </a:lnTo>
                    <a:lnTo>
                      <a:pt x="32" y="141"/>
                    </a:lnTo>
                    <a:lnTo>
                      <a:pt x="34" y="140"/>
                    </a:lnTo>
                    <a:lnTo>
                      <a:pt x="34" y="138"/>
                    </a:lnTo>
                    <a:lnTo>
                      <a:pt x="34" y="138"/>
                    </a:lnTo>
                    <a:lnTo>
                      <a:pt x="34" y="137"/>
                    </a:lnTo>
                    <a:lnTo>
                      <a:pt x="35" y="135"/>
                    </a:lnTo>
                    <a:lnTo>
                      <a:pt x="35" y="134"/>
                    </a:lnTo>
                    <a:lnTo>
                      <a:pt x="35" y="134"/>
                    </a:lnTo>
                    <a:lnTo>
                      <a:pt x="35" y="132"/>
                    </a:lnTo>
                    <a:lnTo>
                      <a:pt x="37" y="132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8"/>
                    </a:lnTo>
                    <a:lnTo>
                      <a:pt x="38" y="128"/>
                    </a:lnTo>
                    <a:lnTo>
                      <a:pt x="38" y="126"/>
                    </a:lnTo>
                    <a:lnTo>
                      <a:pt x="38" y="126"/>
                    </a:lnTo>
                    <a:lnTo>
                      <a:pt x="38" y="125"/>
                    </a:lnTo>
                    <a:lnTo>
                      <a:pt x="38" y="123"/>
                    </a:lnTo>
                    <a:lnTo>
                      <a:pt x="38" y="123"/>
                    </a:lnTo>
                    <a:lnTo>
                      <a:pt x="40" y="122"/>
                    </a:lnTo>
                    <a:lnTo>
                      <a:pt x="40" y="122"/>
                    </a:lnTo>
                    <a:lnTo>
                      <a:pt x="40" y="120"/>
                    </a:lnTo>
                    <a:lnTo>
                      <a:pt x="40" y="119"/>
                    </a:lnTo>
                    <a:lnTo>
                      <a:pt x="41" y="119"/>
                    </a:lnTo>
                    <a:lnTo>
                      <a:pt x="41" y="117"/>
                    </a:lnTo>
                    <a:lnTo>
                      <a:pt x="41" y="116"/>
                    </a:lnTo>
                    <a:lnTo>
                      <a:pt x="41" y="114"/>
                    </a:lnTo>
                    <a:lnTo>
                      <a:pt x="43" y="113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10"/>
                    </a:lnTo>
                    <a:lnTo>
                      <a:pt x="43" y="108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4" y="105"/>
                    </a:lnTo>
                    <a:lnTo>
                      <a:pt x="44" y="104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1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7"/>
                    </a:lnTo>
                    <a:lnTo>
                      <a:pt x="47" y="97"/>
                    </a:lnTo>
                    <a:lnTo>
                      <a:pt x="47" y="95"/>
                    </a:lnTo>
                    <a:lnTo>
                      <a:pt x="47" y="95"/>
                    </a:lnTo>
                    <a:lnTo>
                      <a:pt x="49" y="94"/>
                    </a:lnTo>
                    <a:lnTo>
                      <a:pt x="49" y="94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1"/>
                    </a:lnTo>
                    <a:lnTo>
                      <a:pt x="49" y="91"/>
                    </a:lnTo>
                    <a:lnTo>
                      <a:pt x="50" y="89"/>
                    </a:lnTo>
                    <a:lnTo>
                      <a:pt x="50" y="88"/>
                    </a:lnTo>
                    <a:lnTo>
                      <a:pt x="50" y="88"/>
                    </a:lnTo>
                    <a:lnTo>
                      <a:pt x="50" y="86"/>
                    </a:lnTo>
                    <a:lnTo>
                      <a:pt x="52" y="85"/>
                    </a:lnTo>
                    <a:lnTo>
                      <a:pt x="52" y="83"/>
                    </a:lnTo>
                    <a:lnTo>
                      <a:pt x="52" y="82"/>
                    </a:lnTo>
                    <a:lnTo>
                      <a:pt x="52" y="80"/>
                    </a:lnTo>
                    <a:lnTo>
                      <a:pt x="53" y="79"/>
                    </a:lnTo>
                    <a:lnTo>
                      <a:pt x="53" y="79"/>
                    </a:lnTo>
                    <a:lnTo>
                      <a:pt x="53" y="77"/>
                    </a:lnTo>
                    <a:lnTo>
                      <a:pt x="53" y="77"/>
                    </a:lnTo>
                    <a:lnTo>
                      <a:pt x="55" y="76"/>
                    </a:lnTo>
                    <a:lnTo>
                      <a:pt x="55" y="74"/>
                    </a:lnTo>
                    <a:lnTo>
                      <a:pt x="55" y="73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6" y="70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6" y="66"/>
                    </a:lnTo>
                    <a:lnTo>
                      <a:pt x="57" y="66"/>
                    </a:lnTo>
                    <a:lnTo>
                      <a:pt x="57" y="64"/>
                    </a:lnTo>
                    <a:lnTo>
                      <a:pt x="57" y="64"/>
                    </a:lnTo>
                    <a:lnTo>
                      <a:pt x="57" y="63"/>
                    </a:lnTo>
                    <a:lnTo>
                      <a:pt x="57" y="63"/>
                    </a:lnTo>
                    <a:lnTo>
                      <a:pt x="57" y="61"/>
                    </a:lnTo>
                    <a:lnTo>
                      <a:pt x="57" y="61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7" y="58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9" y="54"/>
                    </a:lnTo>
                    <a:lnTo>
                      <a:pt x="59" y="52"/>
                    </a:lnTo>
                    <a:lnTo>
                      <a:pt x="59" y="51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5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2"/>
                    </a:lnTo>
                    <a:lnTo>
                      <a:pt x="59" y="42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59" y="39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60" y="36"/>
                    </a:lnTo>
                    <a:lnTo>
                      <a:pt x="60" y="36"/>
                    </a:lnTo>
                    <a:lnTo>
                      <a:pt x="60" y="36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3"/>
                    </a:lnTo>
                    <a:lnTo>
                      <a:pt x="60" y="33"/>
                    </a:lnTo>
                    <a:lnTo>
                      <a:pt x="60" y="33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28"/>
                    </a:lnTo>
                    <a:lnTo>
                      <a:pt x="62" y="28"/>
                    </a:lnTo>
                    <a:lnTo>
                      <a:pt x="62" y="27"/>
                    </a:lnTo>
                    <a:lnTo>
                      <a:pt x="62" y="27"/>
                    </a:lnTo>
                    <a:lnTo>
                      <a:pt x="62" y="27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3"/>
                    </a:lnTo>
                    <a:lnTo>
                      <a:pt x="62" y="23"/>
                    </a:lnTo>
                    <a:lnTo>
                      <a:pt x="62" y="23"/>
                    </a:lnTo>
                    <a:lnTo>
                      <a:pt x="62" y="21"/>
                    </a:lnTo>
                    <a:lnTo>
                      <a:pt x="62" y="21"/>
                    </a:lnTo>
                    <a:lnTo>
                      <a:pt x="62" y="21"/>
                    </a:lnTo>
                    <a:lnTo>
                      <a:pt x="62" y="20"/>
                    </a:lnTo>
                    <a:lnTo>
                      <a:pt x="62" y="20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3" y="17"/>
                    </a:lnTo>
                    <a:lnTo>
                      <a:pt x="63" y="17"/>
                    </a:lnTo>
                    <a:lnTo>
                      <a:pt x="63" y="15"/>
                    </a:lnTo>
                    <a:lnTo>
                      <a:pt x="62" y="15"/>
                    </a:lnTo>
                    <a:lnTo>
                      <a:pt x="62" y="14"/>
                    </a:lnTo>
                    <a:lnTo>
                      <a:pt x="62" y="14"/>
                    </a:lnTo>
                    <a:lnTo>
                      <a:pt x="62" y="12"/>
                    </a:lnTo>
                    <a:lnTo>
                      <a:pt x="62" y="11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2" y="8"/>
                    </a:lnTo>
                    <a:lnTo>
                      <a:pt x="62" y="6"/>
                    </a:lnTo>
                    <a:lnTo>
                      <a:pt x="62" y="5"/>
                    </a:lnTo>
                    <a:lnTo>
                      <a:pt x="62" y="3"/>
                    </a:lnTo>
                    <a:lnTo>
                      <a:pt x="62" y="2"/>
                    </a:lnTo>
                    <a:lnTo>
                      <a:pt x="6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2" name="Freeform 174"/>
              <p:cNvSpPr>
                <a:spLocks/>
              </p:cNvSpPr>
              <p:nvPr/>
            </p:nvSpPr>
            <p:spPr bwMode="auto">
              <a:xfrm>
                <a:off x="2667" y="2159"/>
                <a:ext cx="21" cy="70"/>
              </a:xfrm>
              <a:custGeom>
                <a:avLst/>
                <a:gdLst>
                  <a:gd name="T0" fmla="*/ 4 w 63"/>
                  <a:gd name="T1" fmla="*/ 7 h 211"/>
                  <a:gd name="T2" fmla="*/ 7 w 63"/>
                  <a:gd name="T3" fmla="*/ 13 h 211"/>
                  <a:gd name="T4" fmla="*/ 10 w 63"/>
                  <a:gd name="T5" fmla="*/ 19 h 211"/>
                  <a:gd name="T6" fmla="*/ 13 w 63"/>
                  <a:gd name="T7" fmla="*/ 23 h 211"/>
                  <a:gd name="T8" fmla="*/ 15 w 63"/>
                  <a:gd name="T9" fmla="*/ 26 h 211"/>
                  <a:gd name="T10" fmla="*/ 16 w 63"/>
                  <a:gd name="T11" fmla="*/ 29 h 211"/>
                  <a:gd name="T12" fmla="*/ 17 w 63"/>
                  <a:gd name="T13" fmla="*/ 34 h 211"/>
                  <a:gd name="T14" fmla="*/ 19 w 63"/>
                  <a:gd name="T15" fmla="*/ 38 h 211"/>
                  <a:gd name="T16" fmla="*/ 20 w 63"/>
                  <a:gd name="T17" fmla="*/ 41 h 211"/>
                  <a:gd name="T18" fmla="*/ 22 w 63"/>
                  <a:gd name="T19" fmla="*/ 46 h 211"/>
                  <a:gd name="T20" fmla="*/ 23 w 63"/>
                  <a:gd name="T21" fmla="*/ 49 h 211"/>
                  <a:gd name="T22" fmla="*/ 25 w 63"/>
                  <a:gd name="T23" fmla="*/ 51 h 211"/>
                  <a:gd name="T24" fmla="*/ 26 w 63"/>
                  <a:gd name="T25" fmla="*/ 54 h 211"/>
                  <a:gd name="T26" fmla="*/ 28 w 63"/>
                  <a:gd name="T27" fmla="*/ 57 h 211"/>
                  <a:gd name="T28" fmla="*/ 29 w 63"/>
                  <a:gd name="T29" fmla="*/ 60 h 211"/>
                  <a:gd name="T30" fmla="*/ 31 w 63"/>
                  <a:gd name="T31" fmla="*/ 66 h 211"/>
                  <a:gd name="T32" fmla="*/ 32 w 63"/>
                  <a:gd name="T33" fmla="*/ 69 h 211"/>
                  <a:gd name="T34" fmla="*/ 34 w 63"/>
                  <a:gd name="T35" fmla="*/ 75 h 211"/>
                  <a:gd name="T36" fmla="*/ 35 w 63"/>
                  <a:gd name="T37" fmla="*/ 80 h 211"/>
                  <a:gd name="T38" fmla="*/ 37 w 63"/>
                  <a:gd name="T39" fmla="*/ 83 h 211"/>
                  <a:gd name="T40" fmla="*/ 38 w 63"/>
                  <a:gd name="T41" fmla="*/ 86 h 211"/>
                  <a:gd name="T42" fmla="*/ 38 w 63"/>
                  <a:gd name="T43" fmla="*/ 88 h 211"/>
                  <a:gd name="T44" fmla="*/ 40 w 63"/>
                  <a:gd name="T45" fmla="*/ 91 h 211"/>
                  <a:gd name="T46" fmla="*/ 41 w 63"/>
                  <a:gd name="T47" fmla="*/ 96 h 211"/>
                  <a:gd name="T48" fmla="*/ 43 w 63"/>
                  <a:gd name="T49" fmla="*/ 100 h 211"/>
                  <a:gd name="T50" fmla="*/ 44 w 63"/>
                  <a:gd name="T51" fmla="*/ 106 h 211"/>
                  <a:gd name="T52" fmla="*/ 46 w 63"/>
                  <a:gd name="T53" fmla="*/ 111 h 211"/>
                  <a:gd name="T54" fmla="*/ 47 w 63"/>
                  <a:gd name="T55" fmla="*/ 114 h 211"/>
                  <a:gd name="T56" fmla="*/ 47 w 63"/>
                  <a:gd name="T57" fmla="*/ 117 h 211"/>
                  <a:gd name="T58" fmla="*/ 49 w 63"/>
                  <a:gd name="T59" fmla="*/ 120 h 211"/>
                  <a:gd name="T60" fmla="*/ 50 w 63"/>
                  <a:gd name="T61" fmla="*/ 123 h 211"/>
                  <a:gd name="T62" fmla="*/ 52 w 63"/>
                  <a:gd name="T63" fmla="*/ 127 h 211"/>
                  <a:gd name="T64" fmla="*/ 53 w 63"/>
                  <a:gd name="T65" fmla="*/ 133 h 211"/>
                  <a:gd name="T66" fmla="*/ 55 w 63"/>
                  <a:gd name="T67" fmla="*/ 137 h 211"/>
                  <a:gd name="T68" fmla="*/ 55 w 63"/>
                  <a:gd name="T69" fmla="*/ 142 h 211"/>
                  <a:gd name="T70" fmla="*/ 56 w 63"/>
                  <a:gd name="T71" fmla="*/ 145 h 211"/>
                  <a:gd name="T72" fmla="*/ 57 w 63"/>
                  <a:gd name="T73" fmla="*/ 148 h 211"/>
                  <a:gd name="T74" fmla="*/ 57 w 63"/>
                  <a:gd name="T75" fmla="*/ 151 h 211"/>
                  <a:gd name="T76" fmla="*/ 57 w 63"/>
                  <a:gd name="T77" fmla="*/ 154 h 211"/>
                  <a:gd name="T78" fmla="*/ 57 w 63"/>
                  <a:gd name="T79" fmla="*/ 157 h 211"/>
                  <a:gd name="T80" fmla="*/ 59 w 63"/>
                  <a:gd name="T81" fmla="*/ 161 h 211"/>
                  <a:gd name="T82" fmla="*/ 59 w 63"/>
                  <a:gd name="T83" fmla="*/ 165 h 211"/>
                  <a:gd name="T84" fmla="*/ 59 w 63"/>
                  <a:gd name="T85" fmla="*/ 170 h 211"/>
                  <a:gd name="T86" fmla="*/ 59 w 63"/>
                  <a:gd name="T87" fmla="*/ 173 h 211"/>
                  <a:gd name="T88" fmla="*/ 59 w 63"/>
                  <a:gd name="T89" fmla="*/ 174 h 211"/>
                  <a:gd name="T90" fmla="*/ 60 w 63"/>
                  <a:gd name="T91" fmla="*/ 177 h 211"/>
                  <a:gd name="T92" fmla="*/ 60 w 63"/>
                  <a:gd name="T93" fmla="*/ 179 h 211"/>
                  <a:gd name="T94" fmla="*/ 60 w 63"/>
                  <a:gd name="T95" fmla="*/ 180 h 211"/>
                  <a:gd name="T96" fmla="*/ 60 w 63"/>
                  <a:gd name="T97" fmla="*/ 183 h 211"/>
                  <a:gd name="T98" fmla="*/ 62 w 63"/>
                  <a:gd name="T99" fmla="*/ 186 h 211"/>
                  <a:gd name="T100" fmla="*/ 62 w 63"/>
                  <a:gd name="T101" fmla="*/ 188 h 211"/>
                  <a:gd name="T102" fmla="*/ 62 w 63"/>
                  <a:gd name="T103" fmla="*/ 191 h 211"/>
                  <a:gd name="T104" fmla="*/ 62 w 63"/>
                  <a:gd name="T105" fmla="*/ 194 h 211"/>
                  <a:gd name="T106" fmla="*/ 63 w 63"/>
                  <a:gd name="T107" fmla="*/ 195 h 211"/>
                  <a:gd name="T108" fmla="*/ 62 w 63"/>
                  <a:gd name="T109" fmla="*/ 198 h 211"/>
                  <a:gd name="T110" fmla="*/ 62 w 63"/>
                  <a:gd name="T111" fmla="*/ 202 h 211"/>
                  <a:gd name="T112" fmla="*/ 62 w 63"/>
                  <a:gd name="T113" fmla="*/ 207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1">
                    <a:moveTo>
                      <a:pt x="0" y="0"/>
                    </a:moveTo>
                    <a:lnTo>
                      <a:pt x="1" y="3"/>
                    </a:lnTo>
                    <a:lnTo>
                      <a:pt x="3" y="4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1"/>
                    </a:lnTo>
                    <a:lnTo>
                      <a:pt x="7" y="13"/>
                    </a:lnTo>
                    <a:lnTo>
                      <a:pt x="9" y="14"/>
                    </a:lnTo>
                    <a:lnTo>
                      <a:pt x="9" y="16"/>
                    </a:lnTo>
                    <a:lnTo>
                      <a:pt x="10" y="17"/>
                    </a:lnTo>
                    <a:lnTo>
                      <a:pt x="10" y="19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12" y="22"/>
                    </a:lnTo>
                    <a:lnTo>
                      <a:pt x="13" y="23"/>
                    </a:lnTo>
                    <a:lnTo>
                      <a:pt x="13" y="23"/>
                    </a:lnTo>
                    <a:lnTo>
                      <a:pt x="13" y="25"/>
                    </a:lnTo>
                    <a:lnTo>
                      <a:pt x="15" y="26"/>
                    </a:lnTo>
                    <a:lnTo>
                      <a:pt x="15" y="26"/>
                    </a:lnTo>
                    <a:lnTo>
                      <a:pt x="15" y="28"/>
                    </a:lnTo>
                    <a:lnTo>
                      <a:pt x="15" y="28"/>
                    </a:lnTo>
                    <a:lnTo>
                      <a:pt x="16" y="29"/>
                    </a:lnTo>
                    <a:lnTo>
                      <a:pt x="16" y="29"/>
                    </a:lnTo>
                    <a:lnTo>
                      <a:pt x="16" y="31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9" y="35"/>
                    </a:lnTo>
                    <a:lnTo>
                      <a:pt x="19" y="37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0" y="40"/>
                    </a:lnTo>
                    <a:lnTo>
                      <a:pt x="20" y="41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2" y="44"/>
                    </a:lnTo>
                    <a:lnTo>
                      <a:pt x="22" y="46"/>
                    </a:lnTo>
                    <a:lnTo>
                      <a:pt x="23" y="46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3" y="49"/>
                    </a:lnTo>
                    <a:lnTo>
                      <a:pt x="23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25" y="53"/>
                    </a:lnTo>
                    <a:lnTo>
                      <a:pt x="26" y="53"/>
                    </a:lnTo>
                    <a:lnTo>
                      <a:pt x="26" y="54"/>
                    </a:lnTo>
                    <a:lnTo>
                      <a:pt x="26" y="54"/>
                    </a:lnTo>
                    <a:lnTo>
                      <a:pt x="26" y="56"/>
                    </a:lnTo>
                    <a:lnTo>
                      <a:pt x="26" y="56"/>
                    </a:lnTo>
                    <a:lnTo>
                      <a:pt x="28" y="57"/>
                    </a:lnTo>
                    <a:lnTo>
                      <a:pt x="28" y="57"/>
                    </a:lnTo>
                    <a:lnTo>
                      <a:pt x="28" y="59"/>
                    </a:lnTo>
                    <a:lnTo>
                      <a:pt x="28" y="60"/>
                    </a:lnTo>
                    <a:lnTo>
                      <a:pt x="29" y="60"/>
                    </a:lnTo>
                    <a:lnTo>
                      <a:pt x="29" y="62"/>
                    </a:lnTo>
                    <a:lnTo>
                      <a:pt x="29" y="63"/>
                    </a:lnTo>
                    <a:lnTo>
                      <a:pt x="29" y="65"/>
                    </a:lnTo>
                    <a:lnTo>
                      <a:pt x="31" y="66"/>
                    </a:lnTo>
                    <a:lnTo>
                      <a:pt x="31" y="66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2" y="69"/>
                    </a:lnTo>
                    <a:lnTo>
                      <a:pt x="32" y="71"/>
                    </a:lnTo>
                    <a:lnTo>
                      <a:pt x="34" y="72"/>
                    </a:lnTo>
                    <a:lnTo>
                      <a:pt x="34" y="74"/>
                    </a:lnTo>
                    <a:lnTo>
                      <a:pt x="34" y="75"/>
                    </a:lnTo>
                    <a:lnTo>
                      <a:pt x="34" y="77"/>
                    </a:lnTo>
                    <a:lnTo>
                      <a:pt x="35" y="77"/>
                    </a:lnTo>
                    <a:lnTo>
                      <a:pt x="35" y="78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7" y="81"/>
                    </a:lnTo>
                    <a:lnTo>
                      <a:pt x="37" y="81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4"/>
                    </a:lnTo>
                    <a:lnTo>
                      <a:pt x="37" y="84"/>
                    </a:lnTo>
                    <a:lnTo>
                      <a:pt x="38" y="86"/>
                    </a:lnTo>
                    <a:lnTo>
                      <a:pt x="38" y="86"/>
                    </a:lnTo>
                    <a:lnTo>
                      <a:pt x="38" y="87"/>
                    </a:lnTo>
                    <a:lnTo>
                      <a:pt x="38" y="87"/>
                    </a:lnTo>
                    <a:lnTo>
                      <a:pt x="38" y="88"/>
                    </a:lnTo>
                    <a:lnTo>
                      <a:pt x="38" y="88"/>
                    </a:lnTo>
                    <a:lnTo>
                      <a:pt x="40" y="90"/>
                    </a:lnTo>
                    <a:lnTo>
                      <a:pt x="40" y="91"/>
                    </a:lnTo>
                    <a:lnTo>
                      <a:pt x="40" y="91"/>
                    </a:lnTo>
                    <a:lnTo>
                      <a:pt x="40" y="93"/>
                    </a:lnTo>
                    <a:lnTo>
                      <a:pt x="41" y="94"/>
                    </a:lnTo>
                    <a:lnTo>
                      <a:pt x="41" y="96"/>
                    </a:lnTo>
                    <a:lnTo>
                      <a:pt x="41" y="96"/>
                    </a:lnTo>
                    <a:lnTo>
                      <a:pt x="41" y="97"/>
                    </a:lnTo>
                    <a:lnTo>
                      <a:pt x="43" y="99"/>
                    </a:lnTo>
                    <a:lnTo>
                      <a:pt x="43" y="100"/>
                    </a:lnTo>
                    <a:lnTo>
                      <a:pt x="43" y="100"/>
                    </a:lnTo>
                    <a:lnTo>
                      <a:pt x="43" y="102"/>
                    </a:lnTo>
                    <a:lnTo>
                      <a:pt x="43" y="103"/>
                    </a:lnTo>
                    <a:lnTo>
                      <a:pt x="44" y="105"/>
                    </a:lnTo>
                    <a:lnTo>
                      <a:pt x="44" y="106"/>
                    </a:lnTo>
                    <a:lnTo>
                      <a:pt x="44" y="108"/>
                    </a:lnTo>
                    <a:lnTo>
                      <a:pt x="44" y="108"/>
                    </a:lnTo>
                    <a:lnTo>
                      <a:pt x="46" y="109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2"/>
                    </a:lnTo>
                    <a:lnTo>
                      <a:pt x="46" y="112"/>
                    </a:lnTo>
                    <a:lnTo>
                      <a:pt x="47" y="114"/>
                    </a:lnTo>
                    <a:lnTo>
                      <a:pt x="47" y="115"/>
                    </a:lnTo>
                    <a:lnTo>
                      <a:pt x="47" y="115"/>
                    </a:lnTo>
                    <a:lnTo>
                      <a:pt x="47" y="117"/>
                    </a:lnTo>
                    <a:lnTo>
                      <a:pt x="47" y="117"/>
                    </a:lnTo>
                    <a:lnTo>
                      <a:pt x="47" y="118"/>
                    </a:lnTo>
                    <a:lnTo>
                      <a:pt x="49" y="118"/>
                    </a:lnTo>
                    <a:lnTo>
                      <a:pt x="49" y="120"/>
                    </a:lnTo>
                    <a:lnTo>
                      <a:pt x="49" y="120"/>
                    </a:lnTo>
                    <a:lnTo>
                      <a:pt x="49" y="121"/>
                    </a:lnTo>
                    <a:lnTo>
                      <a:pt x="49" y="121"/>
                    </a:lnTo>
                    <a:lnTo>
                      <a:pt x="49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5"/>
                    </a:lnTo>
                    <a:lnTo>
                      <a:pt x="50" y="127"/>
                    </a:lnTo>
                    <a:lnTo>
                      <a:pt x="52" y="127"/>
                    </a:lnTo>
                    <a:lnTo>
                      <a:pt x="52" y="128"/>
                    </a:lnTo>
                    <a:lnTo>
                      <a:pt x="52" y="130"/>
                    </a:lnTo>
                    <a:lnTo>
                      <a:pt x="52" y="131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4"/>
                    </a:lnTo>
                    <a:lnTo>
                      <a:pt x="53" y="136"/>
                    </a:lnTo>
                    <a:lnTo>
                      <a:pt x="55" y="137"/>
                    </a:lnTo>
                    <a:lnTo>
                      <a:pt x="55" y="139"/>
                    </a:lnTo>
                    <a:lnTo>
                      <a:pt x="55" y="139"/>
                    </a:lnTo>
                    <a:lnTo>
                      <a:pt x="55" y="140"/>
                    </a:lnTo>
                    <a:lnTo>
                      <a:pt x="55" y="142"/>
                    </a:lnTo>
                    <a:lnTo>
                      <a:pt x="56" y="142"/>
                    </a:lnTo>
                    <a:lnTo>
                      <a:pt x="56" y="143"/>
                    </a:lnTo>
                    <a:lnTo>
                      <a:pt x="56" y="145"/>
                    </a:lnTo>
                    <a:lnTo>
                      <a:pt x="56" y="145"/>
                    </a:lnTo>
                    <a:lnTo>
                      <a:pt x="56" y="146"/>
                    </a:lnTo>
                    <a:lnTo>
                      <a:pt x="56" y="146"/>
                    </a:lnTo>
                    <a:lnTo>
                      <a:pt x="57" y="148"/>
                    </a:lnTo>
                    <a:lnTo>
                      <a:pt x="57" y="148"/>
                    </a:lnTo>
                    <a:lnTo>
                      <a:pt x="57" y="149"/>
                    </a:lnTo>
                    <a:lnTo>
                      <a:pt x="57" y="149"/>
                    </a:lnTo>
                    <a:lnTo>
                      <a:pt x="57" y="151"/>
                    </a:lnTo>
                    <a:lnTo>
                      <a:pt x="57" y="151"/>
                    </a:lnTo>
                    <a:lnTo>
                      <a:pt x="57" y="152"/>
                    </a:lnTo>
                    <a:lnTo>
                      <a:pt x="57" y="152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5"/>
                    </a:lnTo>
                    <a:lnTo>
                      <a:pt x="57" y="155"/>
                    </a:lnTo>
                    <a:lnTo>
                      <a:pt x="57" y="157"/>
                    </a:lnTo>
                    <a:lnTo>
                      <a:pt x="57" y="157"/>
                    </a:lnTo>
                    <a:lnTo>
                      <a:pt x="57" y="158"/>
                    </a:lnTo>
                    <a:lnTo>
                      <a:pt x="59" y="160"/>
                    </a:lnTo>
                    <a:lnTo>
                      <a:pt x="59" y="161"/>
                    </a:lnTo>
                    <a:lnTo>
                      <a:pt x="59" y="161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5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8"/>
                    </a:lnTo>
                    <a:lnTo>
                      <a:pt x="59" y="170"/>
                    </a:lnTo>
                    <a:lnTo>
                      <a:pt x="59" y="170"/>
                    </a:lnTo>
                    <a:lnTo>
                      <a:pt x="59" y="171"/>
                    </a:lnTo>
                    <a:lnTo>
                      <a:pt x="59" y="171"/>
                    </a:lnTo>
                    <a:lnTo>
                      <a:pt x="59" y="173"/>
                    </a:lnTo>
                    <a:lnTo>
                      <a:pt x="59" y="173"/>
                    </a:lnTo>
                    <a:lnTo>
                      <a:pt x="59" y="174"/>
                    </a:lnTo>
                    <a:lnTo>
                      <a:pt x="59" y="174"/>
                    </a:lnTo>
                    <a:lnTo>
                      <a:pt x="59" y="174"/>
                    </a:lnTo>
                    <a:lnTo>
                      <a:pt x="59" y="176"/>
                    </a:lnTo>
                    <a:lnTo>
                      <a:pt x="60" y="176"/>
                    </a:lnTo>
                    <a:lnTo>
                      <a:pt x="60" y="176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0"/>
                    </a:lnTo>
                    <a:lnTo>
                      <a:pt x="60" y="180"/>
                    </a:lnTo>
                    <a:lnTo>
                      <a:pt x="60" y="180"/>
                    </a:lnTo>
                    <a:lnTo>
                      <a:pt x="60" y="182"/>
                    </a:lnTo>
                    <a:lnTo>
                      <a:pt x="60" y="182"/>
                    </a:lnTo>
                    <a:lnTo>
                      <a:pt x="60" y="183"/>
                    </a:lnTo>
                    <a:lnTo>
                      <a:pt x="60" y="183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6"/>
                    </a:lnTo>
                    <a:lnTo>
                      <a:pt x="62" y="186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9"/>
                    </a:lnTo>
                    <a:lnTo>
                      <a:pt x="62" y="189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2"/>
                    </a:lnTo>
                    <a:lnTo>
                      <a:pt x="62" y="192"/>
                    </a:lnTo>
                    <a:lnTo>
                      <a:pt x="62" y="194"/>
                    </a:lnTo>
                    <a:lnTo>
                      <a:pt x="62" y="194"/>
                    </a:lnTo>
                    <a:lnTo>
                      <a:pt x="62" y="194"/>
                    </a:lnTo>
                    <a:lnTo>
                      <a:pt x="62" y="195"/>
                    </a:lnTo>
                    <a:lnTo>
                      <a:pt x="63" y="195"/>
                    </a:lnTo>
                    <a:lnTo>
                      <a:pt x="63" y="197"/>
                    </a:lnTo>
                    <a:lnTo>
                      <a:pt x="63" y="197"/>
                    </a:lnTo>
                    <a:lnTo>
                      <a:pt x="62" y="198"/>
                    </a:lnTo>
                    <a:lnTo>
                      <a:pt x="62" y="198"/>
                    </a:lnTo>
                    <a:lnTo>
                      <a:pt x="62" y="200"/>
                    </a:lnTo>
                    <a:lnTo>
                      <a:pt x="62" y="200"/>
                    </a:lnTo>
                    <a:lnTo>
                      <a:pt x="62" y="201"/>
                    </a:lnTo>
                    <a:lnTo>
                      <a:pt x="62" y="202"/>
                    </a:lnTo>
                    <a:lnTo>
                      <a:pt x="62" y="204"/>
                    </a:lnTo>
                    <a:lnTo>
                      <a:pt x="62" y="204"/>
                    </a:lnTo>
                    <a:lnTo>
                      <a:pt x="62" y="205"/>
                    </a:lnTo>
                    <a:lnTo>
                      <a:pt x="62" y="207"/>
                    </a:lnTo>
                    <a:lnTo>
                      <a:pt x="62" y="208"/>
                    </a:lnTo>
                    <a:lnTo>
                      <a:pt x="62" y="210"/>
                    </a:lnTo>
                    <a:lnTo>
                      <a:pt x="62" y="211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3" name="Freeform 175"/>
              <p:cNvSpPr>
                <a:spLocks/>
              </p:cNvSpPr>
              <p:nvPr/>
            </p:nvSpPr>
            <p:spPr bwMode="auto">
              <a:xfrm>
                <a:off x="1986" y="1874"/>
                <a:ext cx="20" cy="20"/>
              </a:xfrm>
              <a:custGeom>
                <a:avLst/>
                <a:gdLst>
                  <a:gd name="T0" fmla="*/ 2 w 59"/>
                  <a:gd name="T1" fmla="*/ 31 h 60"/>
                  <a:gd name="T2" fmla="*/ 2 w 59"/>
                  <a:gd name="T3" fmla="*/ 36 h 60"/>
                  <a:gd name="T4" fmla="*/ 3 w 59"/>
                  <a:gd name="T5" fmla="*/ 40 h 60"/>
                  <a:gd name="T6" fmla="*/ 5 w 59"/>
                  <a:gd name="T7" fmla="*/ 43 h 60"/>
                  <a:gd name="T8" fmla="*/ 6 w 59"/>
                  <a:gd name="T9" fmla="*/ 48 h 60"/>
                  <a:gd name="T10" fmla="*/ 9 w 59"/>
                  <a:gd name="T11" fmla="*/ 51 h 60"/>
                  <a:gd name="T12" fmla="*/ 13 w 59"/>
                  <a:gd name="T13" fmla="*/ 54 h 60"/>
                  <a:gd name="T14" fmla="*/ 16 w 59"/>
                  <a:gd name="T15" fmla="*/ 55 h 60"/>
                  <a:gd name="T16" fmla="*/ 21 w 59"/>
                  <a:gd name="T17" fmla="*/ 57 h 60"/>
                  <a:gd name="T18" fmla="*/ 24 w 59"/>
                  <a:gd name="T19" fmla="*/ 58 h 60"/>
                  <a:gd name="T20" fmla="*/ 28 w 59"/>
                  <a:gd name="T21" fmla="*/ 60 h 60"/>
                  <a:gd name="T22" fmla="*/ 33 w 59"/>
                  <a:gd name="T23" fmla="*/ 60 h 60"/>
                  <a:gd name="T24" fmla="*/ 37 w 59"/>
                  <a:gd name="T25" fmla="*/ 58 h 60"/>
                  <a:gd name="T26" fmla="*/ 40 w 59"/>
                  <a:gd name="T27" fmla="*/ 57 h 60"/>
                  <a:gd name="T28" fmla="*/ 45 w 59"/>
                  <a:gd name="T29" fmla="*/ 55 h 60"/>
                  <a:gd name="T30" fmla="*/ 48 w 59"/>
                  <a:gd name="T31" fmla="*/ 54 h 60"/>
                  <a:gd name="T32" fmla="*/ 52 w 59"/>
                  <a:gd name="T33" fmla="*/ 51 h 60"/>
                  <a:gd name="T34" fmla="*/ 55 w 59"/>
                  <a:gd name="T35" fmla="*/ 48 h 60"/>
                  <a:gd name="T36" fmla="*/ 56 w 59"/>
                  <a:gd name="T37" fmla="*/ 43 h 60"/>
                  <a:gd name="T38" fmla="*/ 58 w 59"/>
                  <a:gd name="T39" fmla="*/ 40 h 60"/>
                  <a:gd name="T40" fmla="*/ 59 w 59"/>
                  <a:gd name="T41" fmla="*/ 36 h 60"/>
                  <a:gd name="T42" fmla="*/ 59 w 59"/>
                  <a:gd name="T43" fmla="*/ 31 h 60"/>
                  <a:gd name="T44" fmla="*/ 59 w 59"/>
                  <a:gd name="T45" fmla="*/ 29 h 60"/>
                  <a:gd name="T46" fmla="*/ 59 w 59"/>
                  <a:gd name="T47" fmla="*/ 24 h 60"/>
                  <a:gd name="T48" fmla="*/ 58 w 59"/>
                  <a:gd name="T49" fmla="*/ 20 h 60"/>
                  <a:gd name="T50" fmla="*/ 56 w 59"/>
                  <a:gd name="T51" fmla="*/ 15 h 60"/>
                  <a:gd name="T52" fmla="*/ 55 w 59"/>
                  <a:gd name="T53" fmla="*/ 12 h 60"/>
                  <a:gd name="T54" fmla="*/ 52 w 59"/>
                  <a:gd name="T55" fmla="*/ 9 h 60"/>
                  <a:gd name="T56" fmla="*/ 48 w 59"/>
                  <a:gd name="T57" fmla="*/ 6 h 60"/>
                  <a:gd name="T58" fmla="*/ 45 w 59"/>
                  <a:gd name="T59" fmla="*/ 3 h 60"/>
                  <a:gd name="T60" fmla="*/ 40 w 59"/>
                  <a:gd name="T61" fmla="*/ 2 h 60"/>
                  <a:gd name="T62" fmla="*/ 37 w 59"/>
                  <a:gd name="T63" fmla="*/ 0 h 60"/>
                  <a:gd name="T64" fmla="*/ 33 w 59"/>
                  <a:gd name="T65" fmla="*/ 0 h 60"/>
                  <a:gd name="T66" fmla="*/ 28 w 59"/>
                  <a:gd name="T67" fmla="*/ 0 h 60"/>
                  <a:gd name="T68" fmla="*/ 24 w 59"/>
                  <a:gd name="T69" fmla="*/ 0 h 60"/>
                  <a:gd name="T70" fmla="*/ 21 w 59"/>
                  <a:gd name="T71" fmla="*/ 2 h 60"/>
                  <a:gd name="T72" fmla="*/ 16 w 59"/>
                  <a:gd name="T73" fmla="*/ 3 h 60"/>
                  <a:gd name="T74" fmla="*/ 13 w 59"/>
                  <a:gd name="T75" fmla="*/ 6 h 60"/>
                  <a:gd name="T76" fmla="*/ 9 w 59"/>
                  <a:gd name="T77" fmla="*/ 9 h 60"/>
                  <a:gd name="T78" fmla="*/ 6 w 59"/>
                  <a:gd name="T79" fmla="*/ 12 h 60"/>
                  <a:gd name="T80" fmla="*/ 5 w 59"/>
                  <a:gd name="T81" fmla="*/ 15 h 60"/>
                  <a:gd name="T82" fmla="*/ 3 w 59"/>
                  <a:gd name="T83" fmla="*/ 20 h 60"/>
                  <a:gd name="T84" fmla="*/ 2 w 59"/>
                  <a:gd name="T85" fmla="*/ 24 h 60"/>
                  <a:gd name="T86" fmla="*/ 2 w 59"/>
                  <a:gd name="T87" fmla="*/ 29 h 60"/>
                  <a:gd name="T88" fmla="*/ 30 w 59"/>
                  <a:gd name="T89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60">
                    <a:moveTo>
                      <a:pt x="30" y="30"/>
                    </a:moveTo>
                    <a:lnTo>
                      <a:pt x="0" y="30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5" y="43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8" y="48"/>
                    </a:lnTo>
                    <a:lnTo>
                      <a:pt x="9" y="49"/>
                    </a:lnTo>
                    <a:lnTo>
                      <a:pt x="9" y="51"/>
                    </a:lnTo>
                    <a:lnTo>
                      <a:pt x="11" y="51"/>
                    </a:lnTo>
                    <a:lnTo>
                      <a:pt x="12" y="52"/>
                    </a:lnTo>
                    <a:lnTo>
                      <a:pt x="13" y="54"/>
                    </a:lnTo>
                    <a:lnTo>
                      <a:pt x="13" y="54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7"/>
                    </a:lnTo>
                    <a:lnTo>
                      <a:pt x="19" y="57"/>
                    </a:lnTo>
                    <a:lnTo>
                      <a:pt x="21" y="57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60"/>
                    </a:lnTo>
                    <a:lnTo>
                      <a:pt x="28" y="60"/>
                    </a:lnTo>
                    <a:lnTo>
                      <a:pt x="30" y="60"/>
                    </a:lnTo>
                    <a:lnTo>
                      <a:pt x="30" y="60"/>
                    </a:lnTo>
                    <a:lnTo>
                      <a:pt x="33" y="60"/>
                    </a:lnTo>
                    <a:lnTo>
                      <a:pt x="34" y="60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7"/>
                    </a:lnTo>
                    <a:lnTo>
                      <a:pt x="42" y="57"/>
                    </a:lnTo>
                    <a:lnTo>
                      <a:pt x="43" y="57"/>
                    </a:lnTo>
                    <a:lnTo>
                      <a:pt x="45" y="55"/>
                    </a:lnTo>
                    <a:lnTo>
                      <a:pt x="46" y="55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9" y="52"/>
                    </a:lnTo>
                    <a:lnTo>
                      <a:pt x="51" y="51"/>
                    </a:lnTo>
                    <a:lnTo>
                      <a:pt x="52" y="51"/>
                    </a:lnTo>
                    <a:lnTo>
                      <a:pt x="52" y="49"/>
                    </a:lnTo>
                    <a:lnTo>
                      <a:pt x="53" y="48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9"/>
                    </a:lnTo>
                    <a:lnTo>
                      <a:pt x="59" y="27"/>
                    </a:lnTo>
                    <a:lnTo>
                      <a:pt x="59" y="26"/>
                    </a:lnTo>
                    <a:lnTo>
                      <a:pt x="59" y="24"/>
                    </a:lnTo>
                    <a:lnTo>
                      <a:pt x="59" y="23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8"/>
                    </a:lnTo>
                    <a:lnTo>
                      <a:pt x="58" y="17"/>
                    </a:lnTo>
                    <a:lnTo>
                      <a:pt x="56" y="15"/>
                    </a:lnTo>
                    <a:lnTo>
                      <a:pt x="56" y="14"/>
                    </a:lnTo>
                    <a:lnTo>
                      <a:pt x="55" y="14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1" y="8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6" y="5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6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4" name="Freeform 176"/>
              <p:cNvSpPr>
                <a:spLocks/>
              </p:cNvSpPr>
              <p:nvPr/>
            </p:nvSpPr>
            <p:spPr bwMode="auto">
              <a:xfrm>
                <a:off x="1980" y="1868"/>
                <a:ext cx="25" cy="24"/>
              </a:xfrm>
              <a:custGeom>
                <a:avLst/>
                <a:gdLst>
                  <a:gd name="T0" fmla="*/ 0 w 73"/>
                  <a:gd name="T1" fmla="*/ 40 h 73"/>
                  <a:gd name="T2" fmla="*/ 2 w 73"/>
                  <a:gd name="T3" fmla="*/ 46 h 73"/>
                  <a:gd name="T4" fmla="*/ 3 w 73"/>
                  <a:gd name="T5" fmla="*/ 50 h 73"/>
                  <a:gd name="T6" fmla="*/ 6 w 73"/>
                  <a:gd name="T7" fmla="*/ 56 h 73"/>
                  <a:gd name="T8" fmla="*/ 9 w 73"/>
                  <a:gd name="T9" fmla="*/ 59 h 73"/>
                  <a:gd name="T10" fmla="*/ 12 w 73"/>
                  <a:gd name="T11" fmla="*/ 64 h 73"/>
                  <a:gd name="T12" fmla="*/ 17 w 73"/>
                  <a:gd name="T13" fmla="*/ 67 h 73"/>
                  <a:gd name="T14" fmla="*/ 21 w 73"/>
                  <a:gd name="T15" fmla="*/ 70 h 73"/>
                  <a:gd name="T16" fmla="*/ 26 w 73"/>
                  <a:gd name="T17" fmla="*/ 71 h 73"/>
                  <a:gd name="T18" fmla="*/ 31 w 73"/>
                  <a:gd name="T19" fmla="*/ 73 h 73"/>
                  <a:gd name="T20" fmla="*/ 37 w 73"/>
                  <a:gd name="T21" fmla="*/ 73 h 73"/>
                  <a:gd name="T22" fmla="*/ 40 w 73"/>
                  <a:gd name="T23" fmla="*/ 73 h 73"/>
                  <a:gd name="T24" fmla="*/ 46 w 73"/>
                  <a:gd name="T25" fmla="*/ 73 h 73"/>
                  <a:gd name="T26" fmla="*/ 51 w 73"/>
                  <a:gd name="T27" fmla="*/ 70 h 73"/>
                  <a:gd name="T28" fmla="*/ 55 w 73"/>
                  <a:gd name="T29" fmla="*/ 68 h 73"/>
                  <a:gd name="T30" fmla="*/ 60 w 73"/>
                  <a:gd name="T31" fmla="*/ 65 h 73"/>
                  <a:gd name="T32" fmla="*/ 64 w 73"/>
                  <a:gd name="T33" fmla="*/ 61 h 73"/>
                  <a:gd name="T34" fmla="*/ 67 w 73"/>
                  <a:gd name="T35" fmla="*/ 58 h 73"/>
                  <a:gd name="T36" fmla="*/ 70 w 73"/>
                  <a:gd name="T37" fmla="*/ 52 h 73"/>
                  <a:gd name="T38" fmla="*/ 71 w 73"/>
                  <a:gd name="T39" fmla="*/ 48 h 73"/>
                  <a:gd name="T40" fmla="*/ 73 w 73"/>
                  <a:gd name="T41" fmla="*/ 43 h 73"/>
                  <a:gd name="T42" fmla="*/ 73 w 73"/>
                  <a:gd name="T43" fmla="*/ 37 h 73"/>
                  <a:gd name="T44" fmla="*/ 73 w 73"/>
                  <a:gd name="T45" fmla="*/ 33 h 73"/>
                  <a:gd name="T46" fmla="*/ 71 w 73"/>
                  <a:gd name="T47" fmla="*/ 28 h 73"/>
                  <a:gd name="T48" fmla="*/ 70 w 73"/>
                  <a:gd name="T49" fmla="*/ 22 h 73"/>
                  <a:gd name="T50" fmla="*/ 69 w 73"/>
                  <a:gd name="T51" fmla="*/ 18 h 73"/>
                  <a:gd name="T52" fmla="*/ 66 w 73"/>
                  <a:gd name="T53" fmla="*/ 13 h 73"/>
                  <a:gd name="T54" fmla="*/ 61 w 73"/>
                  <a:gd name="T55" fmla="*/ 11 h 73"/>
                  <a:gd name="T56" fmla="*/ 57 w 73"/>
                  <a:gd name="T57" fmla="*/ 8 h 73"/>
                  <a:gd name="T58" fmla="*/ 52 w 73"/>
                  <a:gd name="T59" fmla="*/ 5 h 73"/>
                  <a:gd name="T60" fmla="*/ 48 w 73"/>
                  <a:gd name="T61" fmla="*/ 3 h 73"/>
                  <a:gd name="T62" fmla="*/ 42 w 73"/>
                  <a:gd name="T63" fmla="*/ 2 h 73"/>
                  <a:gd name="T64" fmla="*/ 37 w 73"/>
                  <a:gd name="T65" fmla="*/ 0 h 73"/>
                  <a:gd name="T66" fmla="*/ 33 w 73"/>
                  <a:gd name="T67" fmla="*/ 2 h 73"/>
                  <a:gd name="T68" fmla="*/ 29 w 73"/>
                  <a:gd name="T69" fmla="*/ 2 h 73"/>
                  <a:gd name="T70" fmla="*/ 23 w 73"/>
                  <a:gd name="T71" fmla="*/ 3 h 73"/>
                  <a:gd name="T72" fmla="*/ 18 w 73"/>
                  <a:gd name="T73" fmla="*/ 6 h 73"/>
                  <a:gd name="T74" fmla="*/ 14 w 73"/>
                  <a:gd name="T75" fmla="*/ 9 h 73"/>
                  <a:gd name="T76" fmla="*/ 11 w 73"/>
                  <a:gd name="T77" fmla="*/ 12 h 73"/>
                  <a:gd name="T78" fmla="*/ 6 w 73"/>
                  <a:gd name="T79" fmla="*/ 16 h 73"/>
                  <a:gd name="T80" fmla="*/ 5 w 73"/>
                  <a:gd name="T81" fmla="*/ 21 h 73"/>
                  <a:gd name="T82" fmla="*/ 2 w 73"/>
                  <a:gd name="T83" fmla="*/ 27 h 73"/>
                  <a:gd name="T84" fmla="*/ 2 w 73"/>
                  <a:gd name="T85" fmla="*/ 31 h 73"/>
                  <a:gd name="T86" fmla="*/ 0 w 73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3">
                    <a:moveTo>
                      <a:pt x="0" y="37"/>
                    </a:moveTo>
                    <a:lnTo>
                      <a:pt x="0" y="39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5" y="52"/>
                    </a:lnTo>
                    <a:lnTo>
                      <a:pt x="5" y="55"/>
                    </a:lnTo>
                    <a:lnTo>
                      <a:pt x="6" y="56"/>
                    </a:lnTo>
                    <a:lnTo>
                      <a:pt x="6" y="58"/>
                    </a:lnTo>
                    <a:lnTo>
                      <a:pt x="8" y="58"/>
                    </a:lnTo>
                    <a:lnTo>
                      <a:pt x="9" y="59"/>
                    </a:lnTo>
                    <a:lnTo>
                      <a:pt x="11" y="61"/>
                    </a:lnTo>
                    <a:lnTo>
                      <a:pt x="11" y="62"/>
                    </a:lnTo>
                    <a:lnTo>
                      <a:pt x="12" y="64"/>
                    </a:lnTo>
                    <a:lnTo>
                      <a:pt x="14" y="65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8" y="68"/>
                    </a:lnTo>
                    <a:lnTo>
                      <a:pt x="20" y="68"/>
                    </a:lnTo>
                    <a:lnTo>
                      <a:pt x="21" y="70"/>
                    </a:lnTo>
                    <a:lnTo>
                      <a:pt x="23" y="70"/>
                    </a:lnTo>
                    <a:lnTo>
                      <a:pt x="24" y="71"/>
                    </a:lnTo>
                    <a:lnTo>
                      <a:pt x="26" y="71"/>
                    </a:lnTo>
                    <a:lnTo>
                      <a:pt x="29" y="73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3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2" y="73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8" y="71"/>
                    </a:lnTo>
                    <a:lnTo>
                      <a:pt x="49" y="71"/>
                    </a:lnTo>
                    <a:lnTo>
                      <a:pt x="51" y="70"/>
                    </a:lnTo>
                    <a:lnTo>
                      <a:pt x="52" y="70"/>
                    </a:lnTo>
                    <a:lnTo>
                      <a:pt x="54" y="68"/>
                    </a:lnTo>
                    <a:lnTo>
                      <a:pt x="55" y="68"/>
                    </a:lnTo>
                    <a:lnTo>
                      <a:pt x="57" y="67"/>
                    </a:lnTo>
                    <a:lnTo>
                      <a:pt x="58" y="65"/>
                    </a:lnTo>
                    <a:lnTo>
                      <a:pt x="60" y="65"/>
                    </a:lnTo>
                    <a:lnTo>
                      <a:pt x="61" y="64"/>
                    </a:lnTo>
                    <a:lnTo>
                      <a:pt x="63" y="62"/>
                    </a:lnTo>
                    <a:lnTo>
                      <a:pt x="64" y="61"/>
                    </a:lnTo>
                    <a:lnTo>
                      <a:pt x="66" y="59"/>
                    </a:lnTo>
                    <a:lnTo>
                      <a:pt x="66" y="58"/>
                    </a:lnTo>
                    <a:lnTo>
                      <a:pt x="67" y="58"/>
                    </a:lnTo>
                    <a:lnTo>
                      <a:pt x="69" y="56"/>
                    </a:lnTo>
                    <a:lnTo>
                      <a:pt x="69" y="55"/>
                    </a:lnTo>
                    <a:lnTo>
                      <a:pt x="70" y="52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3" y="45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9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6"/>
                    </a:lnTo>
                    <a:lnTo>
                      <a:pt x="73" y="33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1"/>
                    </a:lnTo>
                    <a:lnTo>
                      <a:pt x="69" y="19"/>
                    </a:lnTo>
                    <a:lnTo>
                      <a:pt x="69" y="18"/>
                    </a:lnTo>
                    <a:lnTo>
                      <a:pt x="67" y="16"/>
                    </a:lnTo>
                    <a:lnTo>
                      <a:pt x="66" y="15"/>
                    </a:lnTo>
                    <a:lnTo>
                      <a:pt x="66" y="13"/>
                    </a:lnTo>
                    <a:lnTo>
                      <a:pt x="64" y="12"/>
                    </a:lnTo>
                    <a:lnTo>
                      <a:pt x="63" y="12"/>
                    </a:lnTo>
                    <a:lnTo>
                      <a:pt x="61" y="11"/>
                    </a:lnTo>
                    <a:lnTo>
                      <a:pt x="60" y="9"/>
                    </a:lnTo>
                    <a:lnTo>
                      <a:pt x="58" y="8"/>
                    </a:lnTo>
                    <a:lnTo>
                      <a:pt x="57" y="8"/>
                    </a:lnTo>
                    <a:lnTo>
                      <a:pt x="55" y="6"/>
                    </a:lnTo>
                    <a:lnTo>
                      <a:pt x="54" y="5"/>
                    </a:lnTo>
                    <a:lnTo>
                      <a:pt x="52" y="5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8" y="3"/>
                    </a:lnTo>
                    <a:lnTo>
                      <a:pt x="46" y="2"/>
                    </a:lnTo>
                    <a:lnTo>
                      <a:pt x="45" y="2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9" y="2"/>
                    </a:lnTo>
                    <a:lnTo>
                      <a:pt x="26" y="3"/>
                    </a:lnTo>
                    <a:lnTo>
                      <a:pt x="24" y="3"/>
                    </a:lnTo>
                    <a:lnTo>
                      <a:pt x="23" y="3"/>
                    </a:lnTo>
                    <a:lnTo>
                      <a:pt x="21" y="5"/>
                    </a:lnTo>
                    <a:lnTo>
                      <a:pt x="20" y="5"/>
                    </a:lnTo>
                    <a:lnTo>
                      <a:pt x="18" y="6"/>
                    </a:lnTo>
                    <a:lnTo>
                      <a:pt x="17" y="8"/>
                    </a:lnTo>
                    <a:lnTo>
                      <a:pt x="15" y="8"/>
                    </a:lnTo>
                    <a:lnTo>
                      <a:pt x="14" y="9"/>
                    </a:lnTo>
                    <a:lnTo>
                      <a:pt x="12" y="11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3"/>
                    </a:lnTo>
                    <a:lnTo>
                      <a:pt x="8" y="15"/>
                    </a:lnTo>
                    <a:lnTo>
                      <a:pt x="6" y="16"/>
                    </a:lnTo>
                    <a:lnTo>
                      <a:pt x="6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5" name="Freeform 177"/>
              <p:cNvSpPr>
                <a:spLocks/>
              </p:cNvSpPr>
              <p:nvPr/>
            </p:nvSpPr>
            <p:spPr bwMode="auto">
              <a:xfrm>
                <a:off x="2046" y="1874"/>
                <a:ext cx="19" cy="20"/>
              </a:xfrm>
              <a:custGeom>
                <a:avLst/>
                <a:gdLst>
                  <a:gd name="T0" fmla="*/ 1 w 59"/>
                  <a:gd name="T1" fmla="*/ 31 h 60"/>
                  <a:gd name="T2" fmla="*/ 1 w 59"/>
                  <a:gd name="T3" fmla="*/ 36 h 60"/>
                  <a:gd name="T4" fmla="*/ 3 w 59"/>
                  <a:gd name="T5" fmla="*/ 40 h 60"/>
                  <a:gd name="T6" fmla="*/ 4 w 59"/>
                  <a:gd name="T7" fmla="*/ 43 h 60"/>
                  <a:gd name="T8" fmla="*/ 6 w 59"/>
                  <a:gd name="T9" fmla="*/ 48 h 60"/>
                  <a:gd name="T10" fmla="*/ 9 w 59"/>
                  <a:gd name="T11" fmla="*/ 51 h 60"/>
                  <a:gd name="T12" fmla="*/ 13 w 59"/>
                  <a:gd name="T13" fmla="*/ 54 h 60"/>
                  <a:gd name="T14" fmla="*/ 16 w 59"/>
                  <a:gd name="T15" fmla="*/ 55 h 60"/>
                  <a:gd name="T16" fmla="*/ 21 w 59"/>
                  <a:gd name="T17" fmla="*/ 57 h 60"/>
                  <a:gd name="T18" fmla="*/ 24 w 59"/>
                  <a:gd name="T19" fmla="*/ 58 h 60"/>
                  <a:gd name="T20" fmla="*/ 28 w 59"/>
                  <a:gd name="T21" fmla="*/ 60 h 60"/>
                  <a:gd name="T22" fmla="*/ 32 w 59"/>
                  <a:gd name="T23" fmla="*/ 60 h 60"/>
                  <a:gd name="T24" fmla="*/ 37 w 59"/>
                  <a:gd name="T25" fmla="*/ 58 h 60"/>
                  <a:gd name="T26" fmla="*/ 40 w 59"/>
                  <a:gd name="T27" fmla="*/ 57 h 60"/>
                  <a:gd name="T28" fmla="*/ 44 w 59"/>
                  <a:gd name="T29" fmla="*/ 55 h 60"/>
                  <a:gd name="T30" fmla="*/ 47 w 59"/>
                  <a:gd name="T31" fmla="*/ 54 h 60"/>
                  <a:gd name="T32" fmla="*/ 52 w 59"/>
                  <a:gd name="T33" fmla="*/ 51 h 60"/>
                  <a:gd name="T34" fmla="*/ 55 w 59"/>
                  <a:gd name="T35" fmla="*/ 48 h 60"/>
                  <a:gd name="T36" fmla="*/ 56 w 59"/>
                  <a:gd name="T37" fmla="*/ 43 h 60"/>
                  <a:gd name="T38" fmla="*/ 58 w 59"/>
                  <a:gd name="T39" fmla="*/ 40 h 60"/>
                  <a:gd name="T40" fmla="*/ 59 w 59"/>
                  <a:gd name="T41" fmla="*/ 36 h 60"/>
                  <a:gd name="T42" fmla="*/ 59 w 59"/>
                  <a:gd name="T43" fmla="*/ 31 h 60"/>
                  <a:gd name="T44" fmla="*/ 59 w 59"/>
                  <a:gd name="T45" fmla="*/ 29 h 60"/>
                  <a:gd name="T46" fmla="*/ 59 w 59"/>
                  <a:gd name="T47" fmla="*/ 24 h 60"/>
                  <a:gd name="T48" fmla="*/ 58 w 59"/>
                  <a:gd name="T49" fmla="*/ 20 h 60"/>
                  <a:gd name="T50" fmla="*/ 56 w 59"/>
                  <a:gd name="T51" fmla="*/ 15 h 60"/>
                  <a:gd name="T52" fmla="*/ 55 w 59"/>
                  <a:gd name="T53" fmla="*/ 12 h 60"/>
                  <a:gd name="T54" fmla="*/ 52 w 59"/>
                  <a:gd name="T55" fmla="*/ 9 h 60"/>
                  <a:gd name="T56" fmla="*/ 47 w 59"/>
                  <a:gd name="T57" fmla="*/ 6 h 60"/>
                  <a:gd name="T58" fmla="*/ 44 w 59"/>
                  <a:gd name="T59" fmla="*/ 3 h 60"/>
                  <a:gd name="T60" fmla="*/ 40 w 59"/>
                  <a:gd name="T61" fmla="*/ 2 h 60"/>
                  <a:gd name="T62" fmla="*/ 37 w 59"/>
                  <a:gd name="T63" fmla="*/ 0 h 60"/>
                  <a:gd name="T64" fmla="*/ 32 w 59"/>
                  <a:gd name="T65" fmla="*/ 0 h 60"/>
                  <a:gd name="T66" fmla="*/ 28 w 59"/>
                  <a:gd name="T67" fmla="*/ 0 h 60"/>
                  <a:gd name="T68" fmla="*/ 24 w 59"/>
                  <a:gd name="T69" fmla="*/ 0 h 60"/>
                  <a:gd name="T70" fmla="*/ 21 w 59"/>
                  <a:gd name="T71" fmla="*/ 2 h 60"/>
                  <a:gd name="T72" fmla="*/ 16 w 59"/>
                  <a:gd name="T73" fmla="*/ 3 h 60"/>
                  <a:gd name="T74" fmla="*/ 13 w 59"/>
                  <a:gd name="T75" fmla="*/ 6 h 60"/>
                  <a:gd name="T76" fmla="*/ 9 w 59"/>
                  <a:gd name="T77" fmla="*/ 9 h 60"/>
                  <a:gd name="T78" fmla="*/ 6 w 59"/>
                  <a:gd name="T79" fmla="*/ 12 h 60"/>
                  <a:gd name="T80" fmla="*/ 4 w 59"/>
                  <a:gd name="T81" fmla="*/ 15 h 60"/>
                  <a:gd name="T82" fmla="*/ 3 w 59"/>
                  <a:gd name="T83" fmla="*/ 20 h 60"/>
                  <a:gd name="T84" fmla="*/ 1 w 59"/>
                  <a:gd name="T85" fmla="*/ 24 h 60"/>
                  <a:gd name="T86" fmla="*/ 1 w 59"/>
                  <a:gd name="T87" fmla="*/ 29 h 60"/>
                  <a:gd name="T88" fmla="*/ 29 w 59"/>
                  <a:gd name="T89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60">
                    <a:moveTo>
                      <a:pt x="29" y="30"/>
                    </a:moveTo>
                    <a:lnTo>
                      <a:pt x="0" y="30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6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7" y="48"/>
                    </a:lnTo>
                    <a:lnTo>
                      <a:pt x="9" y="49"/>
                    </a:lnTo>
                    <a:lnTo>
                      <a:pt x="9" y="51"/>
                    </a:lnTo>
                    <a:lnTo>
                      <a:pt x="10" y="51"/>
                    </a:lnTo>
                    <a:lnTo>
                      <a:pt x="12" y="52"/>
                    </a:lnTo>
                    <a:lnTo>
                      <a:pt x="13" y="54"/>
                    </a:lnTo>
                    <a:lnTo>
                      <a:pt x="13" y="54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7"/>
                    </a:lnTo>
                    <a:lnTo>
                      <a:pt x="19" y="57"/>
                    </a:lnTo>
                    <a:lnTo>
                      <a:pt x="21" y="57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60"/>
                    </a:lnTo>
                    <a:lnTo>
                      <a:pt x="28" y="60"/>
                    </a:lnTo>
                    <a:lnTo>
                      <a:pt x="29" y="60"/>
                    </a:lnTo>
                    <a:lnTo>
                      <a:pt x="29" y="60"/>
                    </a:lnTo>
                    <a:lnTo>
                      <a:pt x="32" y="60"/>
                    </a:lnTo>
                    <a:lnTo>
                      <a:pt x="34" y="60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7"/>
                    </a:lnTo>
                    <a:lnTo>
                      <a:pt x="41" y="57"/>
                    </a:lnTo>
                    <a:lnTo>
                      <a:pt x="43" y="57"/>
                    </a:lnTo>
                    <a:lnTo>
                      <a:pt x="44" y="55"/>
                    </a:lnTo>
                    <a:lnTo>
                      <a:pt x="46" y="55"/>
                    </a:lnTo>
                    <a:lnTo>
                      <a:pt x="47" y="54"/>
                    </a:lnTo>
                    <a:lnTo>
                      <a:pt x="47" y="54"/>
                    </a:lnTo>
                    <a:lnTo>
                      <a:pt x="49" y="52"/>
                    </a:lnTo>
                    <a:lnTo>
                      <a:pt x="50" y="51"/>
                    </a:lnTo>
                    <a:lnTo>
                      <a:pt x="52" y="51"/>
                    </a:lnTo>
                    <a:lnTo>
                      <a:pt x="52" y="49"/>
                    </a:lnTo>
                    <a:lnTo>
                      <a:pt x="53" y="48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9"/>
                    </a:lnTo>
                    <a:lnTo>
                      <a:pt x="59" y="27"/>
                    </a:lnTo>
                    <a:lnTo>
                      <a:pt x="59" y="26"/>
                    </a:lnTo>
                    <a:lnTo>
                      <a:pt x="59" y="24"/>
                    </a:lnTo>
                    <a:lnTo>
                      <a:pt x="59" y="23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8"/>
                    </a:lnTo>
                    <a:lnTo>
                      <a:pt x="58" y="17"/>
                    </a:lnTo>
                    <a:lnTo>
                      <a:pt x="56" y="15"/>
                    </a:lnTo>
                    <a:lnTo>
                      <a:pt x="56" y="14"/>
                    </a:lnTo>
                    <a:lnTo>
                      <a:pt x="55" y="14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8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7" y="5"/>
                    </a:lnTo>
                    <a:lnTo>
                      <a:pt x="46" y="5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7" y="11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1" y="21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29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6" name="Freeform 178"/>
              <p:cNvSpPr>
                <a:spLocks/>
              </p:cNvSpPr>
              <p:nvPr/>
            </p:nvSpPr>
            <p:spPr bwMode="auto">
              <a:xfrm>
                <a:off x="2050" y="1868"/>
                <a:ext cx="24" cy="24"/>
              </a:xfrm>
              <a:custGeom>
                <a:avLst/>
                <a:gdLst>
                  <a:gd name="T0" fmla="*/ 0 w 72"/>
                  <a:gd name="T1" fmla="*/ 40 h 73"/>
                  <a:gd name="T2" fmla="*/ 1 w 72"/>
                  <a:gd name="T3" fmla="*/ 46 h 73"/>
                  <a:gd name="T4" fmla="*/ 3 w 72"/>
                  <a:gd name="T5" fmla="*/ 50 h 73"/>
                  <a:gd name="T6" fmla="*/ 6 w 72"/>
                  <a:gd name="T7" fmla="*/ 56 h 73"/>
                  <a:gd name="T8" fmla="*/ 9 w 72"/>
                  <a:gd name="T9" fmla="*/ 59 h 73"/>
                  <a:gd name="T10" fmla="*/ 12 w 72"/>
                  <a:gd name="T11" fmla="*/ 64 h 73"/>
                  <a:gd name="T12" fmla="*/ 16 w 72"/>
                  <a:gd name="T13" fmla="*/ 67 h 73"/>
                  <a:gd name="T14" fmla="*/ 20 w 72"/>
                  <a:gd name="T15" fmla="*/ 70 h 73"/>
                  <a:gd name="T16" fmla="*/ 25 w 72"/>
                  <a:gd name="T17" fmla="*/ 71 h 73"/>
                  <a:gd name="T18" fmla="*/ 31 w 72"/>
                  <a:gd name="T19" fmla="*/ 73 h 73"/>
                  <a:gd name="T20" fmla="*/ 37 w 72"/>
                  <a:gd name="T21" fmla="*/ 73 h 73"/>
                  <a:gd name="T22" fmla="*/ 40 w 72"/>
                  <a:gd name="T23" fmla="*/ 73 h 73"/>
                  <a:gd name="T24" fmla="*/ 46 w 72"/>
                  <a:gd name="T25" fmla="*/ 73 h 73"/>
                  <a:gd name="T26" fmla="*/ 50 w 72"/>
                  <a:gd name="T27" fmla="*/ 70 h 73"/>
                  <a:gd name="T28" fmla="*/ 54 w 72"/>
                  <a:gd name="T29" fmla="*/ 68 h 73"/>
                  <a:gd name="T30" fmla="*/ 59 w 72"/>
                  <a:gd name="T31" fmla="*/ 65 h 73"/>
                  <a:gd name="T32" fmla="*/ 63 w 72"/>
                  <a:gd name="T33" fmla="*/ 61 h 73"/>
                  <a:gd name="T34" fmla="*/ 66 w 72"/>
                  <a:gd name="T35" fmla="*/ 58 h 73"/>
                  <a:gd name="T36" fmla="*/ 69 w 72"/>
                  <a:gd name="T37" fmla="*/ 52 h 73"/>
                  <a:gd name="T38" fmla="*/ 71 w 72"/>
                  <a:gd name="T39" fmla="*/ 48 h 73"/>
                  <a:gd name="T40" fmla="*/ 72 w 72"/>
                  <a:gd name="T41" fmla="*/ 43 h 73"/>
                  <a:gd name="T42" fmla="*/ 72 w 72"/>
                  <a:gd name="T43" fmla="*/ 37 h 73"/>
                  <a:gd name="T44" fmla="*/ 72 w 72"/>
                  <a:gd name="T45" fmla="*/ 33 h 73"/>
                  <a:gd name="T46" fmla="*/ 71 w 72"/>
                  <a:gd name="T47" fmla="*/ 28 h 73"/>
                  <a:gd name="T48" fmla="*/ 69 w 72"/>
                  <a:gd name="T49" fmla="*/ 22 h 73"/>
                  <a:gd name="T50" fmla="*/ 68 w 72"/>
                  <a:gd name="T51" fmla="*/ 18 h 73"/>
                  <a:gd name="T52" fmla="*/ 65 w 72"/>
                  <a:gd name="T53" fmla="*/ 13 h 73"/>
                  <a:gd name="T54" fmla="*/ 60 w 72"/>
                  <a:gd name="T55" fmla="*/ 11 h 73"/>
                  <a:gd name="T56" fmla="*/ 56 w 72"/>
                  <a:gd name="T57" fmla="*/ 8 h 73"/>
                  <a:gd name="T58" fmla="*/ 52 w 72"/>
                  <a:gd name="T59" fmla="*/ 5 h 73"/>
                  <a:gd name="T60" fmla="*/ 47 w 72"/>
                  <a:gd name="T61" fmla="*/ 3 h 73"/>
                  <a:gd name="T62" fmla="*/ 41 w 72"/>
                  <a:gd name="T63" fmla="*/ 2 h 73"/>
                  <a:gd name="T64" fmla="*/ 37 w 72"/>
                  <a:gd name="T65" fmla="*/ 0 h 73"/>
                  <a:gd name="T66" fmla="*/ 32 w 72"/>
                  <a:gd name="T67" fmla="*/ 2 h 73"/>
                  <a:gd name="T68" fmla="*/ 28 w 72"/>
                  <a:gd name="T69" fmla="*/ 2 h 73"/>
                  <a:gd name="T70" fmla="*/ 22 w 72"/>
                  <a:gd name="T71" fmla="*/ 3 h 73"/>
                  <a:gd name="T72" fmla="*/ 17 w 72"/>
                  <a:gd name="T73" fmla="*/ 6 h 73"/>
                  <a:gd name="T74" fmla="*/ 13 w 72"/>
                  <a:gd name="T75" fmla="*/ 9 h 73"/>
                  <a:gd name="T76" fmla="*/ 10 w 72"/>
                  <a:gd name="T77" fmla="*/ 12 h 73"/>
                  <a:gd name="T78" fmla="*/ 6 w 72"/>
                  <a:gd name="T79" fmla="*/ 16 h 73"/>
                  <a:gd name="T80" fmla="*/ 4 w 72"/>
                  <a:gd name="T81" fmla="*/ 21 h 73"/>
                  <a:gd name="T82" fmla="*/ 1 w 72"/>
                  <a:gd name="T83" fmla="*/ 27 h 73"/>
                  <a:gd name="T84" fmla="*/ 1 w 72"/>
                  <a:gd name="T85" fmla="*/ 31 h 73"/>
                  <a:gd name="T86" fmla="*/ 0 w 72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73">
                    <a:moveTo>
                      <a:pt x="0" y="37"/>
                    </a:moveTo>
                    <a:lnTo>
                      <a:pt x="0" y="39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5"/>
                    </a:lnTo>
                    <a:lnTo>
                      <a:pt x="1" y="46"/>
                    </a:lnTo>
                    <a:lnTo>
                      <a:pt x="1" y="48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6" y="56"/>
                    </a:lnTo>
                    <a:lnTo>
                      <a:pt x="6" y="58"/>
                    </a:lnTo>
                    <a:lnTo>
                      <a:pt x="7" y="58"/>
                    </a:lnTo>
                    <a:lnTo>
                      <a:pt x="9" y="59"/>
                    </a:lnTo>
                    <a:lnTo>
                      <a:pt x="10" y="61"/>
                    </a:lnTo>
                    <a:lnTo>
                      <a:pt x="10" y="62"/>
                    </a:lnTo>
                    <a:lnTo>
                      <a:pt x="12" y="64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7"/>
                    </a:lnTo>
                    <a:lnTo>
                      <a:pt x="17" y="68"/>
                    </a:lnTo>
                    <a:lnTo>
                      <a:pt x="19" y="68"/>
                    </a:lnTo>
                    <a:lnTo>
                      <a:pt x="20" y="70"/>
                    </a:lnTo>
                    <a:lnTo>
                      <a:pt x="22" y="70"/>
                    </a:lnTo>
                    <a:lnTo>
                      <a:pt x="23" y="71"/>
                    </a:lnTo>
                    <a:lnTo>
                      <a:pt x="25" y="71"/>
                    </a:lnTo>
                    <a:lnTo>
                      <a:pt x="28" y="73"/>
                    </a:lnTo>
                    <a:lnTo>
                      <a:pt x="29" y="73"/>
                    </a:lnTo>
                    <a:lnTo>
                      <a:pt x="31" y="73"/>
                    </a:lnTo>
                    <a:lnTo>
                      <a:pt x="32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0" y="73"/>
                    </a:lnTo>
                    <a:lnTo>
                      <a:pt x="41" y="73"/>
                    </a:lnTo>
                    <a:lnTo>
                      <a:pt x="44" y="73"/>
                    </a:lnTo>
                    <a:lnTo>
                      <a:pt x="46" y="73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3" y="68"/>
                    </a:lnTo>
                    <a:lnTo>
                      <a:pt x="54" y="68"/>
                    </a:lnTo>
                    <a:lnTo>
                      <a:pt x="56" y="67"/>
                    </a:lnTo>
                    <a:lnTo>
                      <a:pt x="57" y="65"/>
                    </a:lnTo>
                    <a:lnTo>
                      <a:pt x="59" y="65"/>
                    </a:lnTo>
                    <a:lnTo>
                      <a:pt x="60" y="64"/>
                    </a:lnTo>
                    <a:lnTo>
                      <a:pt x="62" y="62"/>
                    </a:lnTo>
                    <a:lnTo>
                      <a:pt x="63" y="61"/>
                    </a:lnTo>
                    <a:lnTo>
                      <a:pt x="65" y="59"/>
                    </a:lnTo>
                    <a:lnTo>
                      <a:pt x="65" y="58"/>
                    </a:lnTo>
                    <a:lnTo>
                      <a:pt x="66" y="58"/>
                    </a:lnTo>
                    <a:lnTo>
                      <a:pt x="68" y="56"/>
                    </a:lnTo>
                    <a:lnTo>
                      <a:pt x="68" y="55"/>
                    </a:lnTo>
                    <a:lnTo>
                      <a:pt x="69" y="52"/>
                    </a:lnTo>
                    <a:lnTo>
                      <a:pt x="69" y="50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2" y="40"/>
                    </a:lnTo>
                    <a:lnTo>
                      <a:pt x="72" y="39"/>
                    </a:lnTo>
                    <a:lnTo>
                      <a:pt x="72" y="37"/>
                    </a:lnTo>
                    <a:lnTo>
                      <a:pt x="72" y="37"/>
                    </a:lnTo>
                    <a:lnTo>
                      <a:pt x="72" y="36"/>
                    </a:lnTo>
                    <a:lnTo>
                      <a:pt x="72" y="33"/>
                    </a:lnTo>
                    <a:lnTo>
                      <a:pt x="72" y="31"/>
                    </a:lnTo>
                    <a:lnTo>
                      <a:pt x="72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69" y="22"/>
                    </a:lnTo>
                    <a:lnTo>
                      <a:pt x="69" y="21"/>
                    </a:lnTo>
                    <a:lnTo>
                      <a:pt x="68" y="19"/>
                    </a:lnTo>
                    <a:lnTo>
                      <a:pt x="68" y="18"/>
                    </a:lnTo>
                    <a:lnTo>
                      <a:pt x="66" y="16"/>
                    </a:lnTo>
                    <a:lnTo>
                      <a:pt x="65" y="15"/>
                    </a:lnTo>
                    <a:lnTo>
                      <a:pt x="65" y="13"/>
                    </a:lnTo>
                    <a:lnTo>
                      <a:pt x="63" y="12"/>
                    </a:lnTo>
                    <a:lnTo>
                      <a:pt x="62" y="12"/>
                    </a:lnTo>
                    <a:lnTo>
                      <a:pt x="60" y="11"/>
                    </a:lnTo>
                    <a:lnTo>
                      <a:pt x="59" y="9"/>
                    </a:lnTo>
                    <a:lnTo>
                      <a:pt x="57" y="8"/>
                    </a:lnTo>
                    <a:lnTo>
                      <a:pt x="56" y="8"/>
                    </a:lnTo>
                    <a:lnTo>
                      <a:pt x="54" y="6"/>
                    </a:lnTo>
                    <a:lnTo>
                      <a:pt x="53" y="5"/>
                    </a:lnTo>
                    <a:lnTo>
                      <a:pt x="52" y="5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2"/>
                    </a:lnTo>
                    <a:lnTo>
                      <a:pt x="44" y="2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2" y="2"/>
                    </a:lnTo>
                    <a:lnTo>
                      <a:pt x="31" y="2"/>
                    </a:lnTo>
                    <a:lnTo>
                      <a:pt x="29" y="2"/>
                    </a:lnTo>
                    <a:lnTo>
                      <a:pt x="28" y="2"/>
                    </a:lnTo>
                    <a:lnTo>
                      <a:pt x="25" y="3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20" y="5"/>
                    </a:lnTo>
                    <a:lnTo>
                      <a:pt x="19" y="5"/>
                    </a:lnTo>
                    <a:lnTo>
                      <a:pt x="17" y="6"/>
                    </a:lnTo>
                    <a:lnTo>
                      <a:pt x="16" y="8"/>
                    </a:lnTo>
                    <a:lnTo>
                      <a:pt x="15" y="8"/>
                    </a:lnTo>
                    <a:lnTo>
                      <a:pt x="13" y="9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3"/>
                    </a:lnTo>
                    <a:lnTo>
                      <a:pt x="7" y="15"/>
                    </a:lnTo>
                    <a:lnTo>
                      <a:pt x="6" y="16"/>
                    </a:lnTo>
                    <a:lnTo>
                      <a:pt x="6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7" name="Freeform 179"/>
              <p:cNvSpPr>
                <a:spLocks/>
              </p:cNvSpPr>
              <p:nvPr/>
            </p:nvSpPr>
            <p:spPr bwMode="auto">
              <a:xfrm>
                <a:off x="2105" y="1874"/>
                <a:ext cx="20" cy="20"/>
              </a:xfrm>
              <a:custGeom>
                <a:avLst/>
                <a:gdLst>
                  <a:gd name="T0" fmla="*/ 1 w 59"/>
                  <a:gd name="T1" fmla="*/ 31 h 60"/>
                  <a:gd name="T2" fmla="*/ 1 w 59"/>
                  <a:gd name="T3" fmla="*/ 36 h 60"/>
                  <a:gd name="T4" fmla="*/ 3 w 59"/>
                  <a:gd name="T5" fmla="*/ 40 h 60"/>
                  <a:gd name="T6" fmla="*/ 4 w 59"/>
                  <a:gd name="T7" fmla="*/ 43 h 60"/>
                  <a:gd name="T8" fmla="*/ 5 w 59"/>
                  <a:gd name="T9" fmla="*/ 48 h 60"/>
                  <a:gd name="T10" fmla="*/ 8 w 59"/>
                  <a:gd name="T11" fmla="*/ 51 h 60"/>
                  <a:gd name="T12" fmla="*/ 13 w 59"/>
                  <a:gd name="T13" fmla="*/ 54 h 60"/>
                  <a:gd name="T14" fmla="*/ 16 w 59"/>
                  <a:gd name="T15" fmla="*/ 55 h 60"/>
                  <a:gd name="T16" fmla="*/ 20 w 59"/>
                  <a:gd name="T17" fmla="*/ 57 h 60"/>
                  <a:gd name="T18" fmla="*/ 23 w 59"/>
                  <a:gd name="T19" fmla="*/ 58 h 60"/>
                  <a:gd name="T20" fmla="*/ 28 w 59"/>
                  <a:gd name="T21" fmla="*/ 60 h 60"/>
                  <a:gd name="T22" fmla="*/ 32 w 59"/>
                  <a:gd name="T23" fmla="*/ 60 h 60"/>
                  <a:gd name="T24" fmla="*/ 37 w 59"/>
                  <a:gd name="T25" fmla="*/ 58 h 60"/>
                  <a:gd name="T26" fmla="*/ 40 w 59"/>
                  <a:gd name="T27" fmla="*/ 57 h 60"/>
                  <a:gd name="T28" fmla="*/ 44 w 59"/>
                  <a:gd name="T29" fmla="*/ 55 h 60"/>
                  <a:gd name="T30" fmla="*/ 47 w 59"/>
                  <a:gd name="T31" fmla="*/ 54 h 60"/>
                  <a:gd name="T32" fmla="*/ 51 w 59"/>
                  <a:gd name="T33" fmla="*/ 51 h 60"/>
                  <a:gd name="T34" fmla="*/ 54 w 59"/>
                  <a:gd name="T35" fmla="*/ 48 h 60"/>
                  <a:gd name="T36" fmla="*/ 56 w 59"/>
                  <a:gd name="T37" fmla="*/ 43 h 60"/>
                  <a:gd name="T38" fmla="*/ 57 w 59"/>
                  <a:gd name="T39" fmla="*/ 40 h 60"/>
                  <a:gd name="T40" fmla="*/ 59 w 59"/>
                  <a:gd name="T41" fmla="*/ 36 h 60"/>
                  <a:gd name="T42" fmla="*/ 59 w 59"/>
                  <a:gd name="T43" fmla="*/ 31 h 60"/>
                  <a:gd name="T44" fmla="*/ 59 w 59"/>
                  <a:gd name="T45" fmla="*/ 29 h 60"/>
                  <a:gd name="T46" fmla="*/ 59 w 59"/>
                  <a:gd name="T47" fmla="*/ 24 h 60"/>
                  <a:gd name="T48" fmla="*/ 57 w 59"/>
                  <a:gd name="T49" fmla="*/ 20 h 60"/>
                  <a:gd name="T50" fmla="*/ 56 w 59"/>
                  <a:gd name="T51" fmla="*/ 15 h 60"/>
                  <a:gd name="T52" fmla="*/ 54 w 59"/>
                  <a:gd name="T53" fmla="*/ 12 h 60"/>
                  <a:gd name="T54" fmla="*/ 51 w 59"/>
                  <a:gd name="T55" fmla="*/ 9 h 60"/>
                  <a:gd name="T56" fmla="*/ 47 w 59"/>
                  <a:gd name="T57" fmla="*/ 6 h 60"/>
                  <a:gd name="T58" fmla="*/ 44 w 59"/>
                  <a:gd name="T59" fmla="*/ 3 h 60"/>
                  <a:gd name="T60" fmla="*/ 40 w 59"/>
                  <a:gd name="T61" fmla="*/ 2 h 60"/>
                  <a:gd name="T62" fmla="*/ 37 w 59"/>
                  <a:gd name="T63" fmla="*/ 0 h 60"/>
                  <a:gd name="T64" fmla="*/ 32 w 59"/>
                  <a:gd name="T65" fmla="*/ 0 h 60"/>
                  <a:gd name="T66" fmla="*/ 28 w 59"/>
                  <a:gd name="T67" fmla="*/ 0 h 60"/>
                  <a:gd name="T68" fmla="*/ 23 w 59"/>
                  <a:gd name="T69" fmla="*/ 0 h 60"/>
                  <a:gd name="T70" fmla="*/ 20 w 59"/>
                  <a:gd name="T71" fmla="*/ 2 h 60"/>
                  <a:gd name="T72" fmla="*/ 16 w 59"/>
                  <a:gd name="T73" fmla="*/ 3 h 60"/>
                  <a:gd name="T74" fmla="*/ 13 w 59"/>
                  <a:gd name="T75" fmla="*/ 6 h 60"/>
                  <a:gd name="T76" fmla="*/ 8 w 59"/>
                  <a:gd name="T77" fmla="*/ 9 h 60"/>
                  <a:gd name="T78" fmla="*/ 5 w 59"/>
                  <a:gd name="T79" fmla="*/ 12 h 60"/>
                  <a:gd name="T80" fmla="*/ 4 w 59"/>
                  <a:gd name="T81" fmla="*/ 15 h 60"/>
                  <a:gd name="T82" fmla="*/ 3 w 59"/>
                  <a:gd name="T83" fmla="*/ 20 h 60"/>
                  <a:gd name="T84" fmla="*/ 1 w 59"/>
                  <a:gd name="T85" fmla="*/ 24 h 60"/>
                  <a:gd name="T86" fmla="*/ 1 w 59"/>
                  <a:gd name="T87" fmla="*/ 29 h 60"/>
                  <a:gd name="T88" fmla="*/ 29 w 59"/>
                  <a:gd name="T89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60">
                    <a:moveTo>
                      <a:pt x="29" y="30"/>
                    </a:moveTo>
                    <a:lnTo>
                      <a:pt x="0" y="30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6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5" y="46"/>
                    </a:lnTo>
                    <a:lnTo>
                      <a:pt x="5" y="48"/>
                    </a:lnTo>
                    <a:lnTo>
                      <a:pt x="7" y="48"/>
                    </a:lnTo>
                    <a:lnTo>
                      <a:pt x="8" y="49"/>
                    </a:lnTo>
                    <a:lnTo>
                      <a:pt x="8" y="51"/>
                    </a:lnTo>
                    <a:lnTo>
                      <a:pt x="10" y="51"/>
                    </a:lnTo>
                    <a:lnTo>
                      <a:pt x="11" y="52"/>
                    </a:lnTo>
                    <a:lnTo>
                      <a:pt x="13" y="54"/>
                    </a:lnTo>
                    <a:lnTo>
                      <a:pt x="13" y="54"/>
                    </a:lnTo>
                    <a:lnTo>
                      <a:pt x="14" y="55"/>
                    </a:lnTo>
                    <a:lnTo>
                      <a:pt x="16" y="55"/>
                    </a:lnTo>
                    <a:lnTo>
                      <a:pt x="17" y="57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3" y="58"/>
                    </a:lnTo>
                    <a:lnTo>
                      <a:pt x="25" y="58"/>
                    </a:lnTo>
                    <a:lnTo>
                      <a:pt x="26" y="60"/>
                    </a:lnTo>
                    <a:lnTo>
                      <a:pt x="28" y="60"/>
                    </a:lnTo>
                    <a:lnTo>
                      <a:pt x="29" y="60"/>
                    </a:lnTo>
                    <a:lnTo>
                      <a:pt x="29" y="60"/>
                    </a:lnTo>
                    <a:lnTo>
                      <a:pt x="32" y="60"/>
                    </a:lnTo>
                    <a:lnTo>
                      <a:pt x="34" y="60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7"/>
                    </a:lnTo>
                    <a:lnTo>
                      <a:pt x="41" y="57"/>
                    </a:lnTo>
                    <a:lnTo>
                      <a:pt x="42" y="57"/>
                    </a:lnTo>
                    <a:lnTo>
                      <a:pt x="44" y="55"/>
                    </a:lnTo>
                    <a:lnTo>
                      <a:pt x="45" y="55"/>
                    </a:lnTo>
                    <a:lnTo>
                      <a:pt x="47" y="54"/>
                    </a:lnTo>
                    <a:lnTo>
                      <a:pt x="47" y="54"/>
                    </a:lnTo>
                    <a:lnTo>
                      <a:pt x="48" y="52"/>
                    </a:lnTo>
                    <a:lnTo>
                      <a:pt x="50" y="51"/>
                    </a:lnTo>
                    <a:lnTo>
                      <a:pt x="51" y="51"/>
                    </a:lnTo>
                    <a:lnTo>
                      <a:pt x="51" y="49"/>
                    </a:lnTo>
                    <a:lnTo>
                      <a:pt x="53" y="48"/>
                    </a:lnTo>
                    <a:lnTo>
                      <a:pt x="54" y="48"/>
                    </a:lnTo>
                    <a:lnTo>
                      <a:pt x="54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7" y="42"/>
                    </a:lnTo>
                    <a:lnTo>
                      <a:pt x="57" y="40"/>
                    </a:lnTo>
                    <a:lnTo>
                      <a:pt x="57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9"/>
                    </a:lnTo>
                    <a:lnTo>
                      <a:pt x="59" y="27"/>
                    </a:lnTo>
                    <a:lnTo>
                      <a:pt x="59" y="26"/>
                    </a:lnTo>
                    <a:lnTo>
                      <a:pt x="59" y="24"/>
                    </a:lnTo>
                    <a:lnTo>
                      <a:pt x="59" y="23"/>
                    </a:lnTo>
                    <a:lnTo>
                      <a:pt x="59" y="21"/>
                    </a:lnTo>
                    <a:lnTo>
                      <a:pt x="57" y="20"/>
                    </a:lnTo>
                    <a:lnTo>
                      <a:pt x="57" y="18"/>
                    </a:lnTo>
                    <a:lnTo>
                      <a:pt x="57" y="17"/>
                    </a:lnTo>
                    <a:lnTo>
                      <a:pt x="56" y="15"/>
                    </a:lnTo>
                    <a:lnTo>
                      <a:pt x="56" y="14"/>
                    </a:lnTo>
                    <a:lnTo>
                      <a:pt x="54" y="14"/>
                    </a:lnTo>
                    <a:lnTo>
                      <a:pt x="54" y="12"/>
                    </a:lnTo>
                    <a:lnTo>
                      <a:pt x="53" y="11"/>
                    </a:lnTo>
                    <a:lnTo>
                      <a:pt x="51" y="9"/>
                    </a:lnTo>
                    <a:lnTo>
                      <a:pt x="51" y="9"/>
                    </a:lnTo>
                    <a:lnTo>
                      <a:pt x="50" y="8"/>
                    </a:lnTo>
                    <a:lnTo>
                      <a:pt x="48" y="6"/>
                    </a:lnTo>
                    <a:lnTo>
                      <a:pt x="47" y="6"/>
                    </a:lnTo>
                    <a:lnTo>
                      <a:pt x="47" y="5"/>
                    </a:lnTo>
                    <a:lnTo>
                      <a:pt x="45" y="5"/>
                    </a:lnTo>
                    <a:lnTo>
                      <a:pt x="44" y="3"/>
                    </a:lnTo>
                    <a:lnTo>
                      <a:pt x="42" y="3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28" y="0"/>
                    </a:lnTo>
                    <a:lnTo>
                      <a:pt x="26" y="0"/>
                    </a:lnTo>
                    <a:lnTo>
                      <a:pt x="25" y="0"/>
                    </a:lnTo>
                    <a:lnTo>
                      <a:pt x="23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7" y="3"/>
                    </a:lnTo>
                    <a:lnTo>
                      <a:pt x="16" y="3"/>
                    </a:lnTo>
                    <a:lnTo>
                      <a:pt x="14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1" y="6"/>
                    </a:lnTo>
                    <a:lnTo>
                      <a:pt x="10" y="8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7" y="11"/>
                    </a:lnTo>
                    <a:lnTo>
                      <a:pt x="5" y="12"/>
                    </a:lnTo>
                    <a:lnTo>
                      <a:pt x="5" y="14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1" y="21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1" y="27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29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8" name="Freeform 180"/>
              <p:cNvSpPr>
                <a:spLocks/>
              </p:cNvSpPr>
              <p:nvPr/>
            </p:nvSpPr>
            <p:spPr bwMode="auto">
              <a:xfrm>
                <a:off x="2109" y="1868"/>
                <a:ext cx="24" cy="24"/>
              </a:xfrm>
              <a:custGeom>
                <a:avLst/>
                <a:gdLst>
                  <a:gd name="T0" fmla="*/ 0 w 73"/>
                  <a:gd name="T1" fmla="*/ 40 h 73"/>
                  <a:gd name="T2" fmla="*/ 2 w 73"/>
                  <a:gd name="T3" fmla="*/ 46 h 73"/>
                  <a:gd name="T4" fmla="*/ 3 w 73"/>
                  <a:gd name="T5" fmla="*/ 50 h 73"/>
                  <a:gd name="T6" fmla="*/ 6 w 73"/>
                  <a:gd name="T7" fmla="*/ 56 h 73"/>
                  <a:gd name="T8" fmla="*/ 9 w 73"/>
                  <a:gd name="T9" fmla="*/ 59 h 73"/>
                  <a:gd name="T10" fmla="*/ 12 w 73"/>
                  <a:gd name="T11" fmla="*/ 64 h 73"/>
                  <a:gd name="T12" fmla="*/ 17 w 73"/>
                  <a:gd name="T13" fmla="*/ 67 h 73"/>
                  <a:gd name="T14" fmla="*/ 21 w 73"/>
                  <a:gd name="T15" fmla="*/ 70 h 73"/>
                  <a:gd name="T16" fmla="*/ 26 w 73"/>
                  <a:gd name="T17" fmla="*/ 71 h 73"/>
                  <a:gd name="T18" fmla="*/ 31 w 73"/>
                  <a:gd name="T19" fmla="*/ 73 h 73"/>
                  <a:gd name="T20" fmla="*/ 37 w 73"/>
                  <a:gd name="T21" fmla="*/ 73 h 73"/>
                  <a:gd name="T22" fmla="*/ 40 w 73"/>
                  <a:gd name="T23" fmla="*/ 73 h 73"/>
                  <a:gd name="T24" fmla="*/ 46 w 73"/>
                  <a:gd name="T25" fmla="*/ 73 h 73"/>
                  <a:gd name="T26" fmla="*/ 51 w 73"/>
                  <a:gd name="T27" fmla="*/ 70 h 73"/>
                  <a:gd name="T28" fmla="*/ 55 w 73"/>
                  <a:gd name="T29" fmla="*/ 68 h 73"/>
                  <a:gd name="T30" fmla="*/ 60 w 73"/>
                  <a:gd name="T31" fmla="*/ 65 h 73"/>
                  <a:gd name="T32" fmla="*/ 64 w 73"/>
                  <a:gd name="T33" fmla="*/ 61 h 73"/>
                  <a:gd name="T34" fmla="*/ 67 w 73"/>
                  <a:gd name="T35" fmla="*/ 58 h 73"/>
                  <a:gd name="T36" fmla="*/ 70 w 73"/>
                  <a:gd name="T37" fmla="*/ 52 h 73"/>
                  <a:gd name="T38" fmla="*/ 71 w 73"/>
                  <a:gd name="T39" fmla="*/ 48 h 73"/>
                  <a:gd name="T40" fmla="*/ 73 w 73"/>
                  <a:gd name="T41" fmla="*/ 43 h 73"/>
                  <a:gd name="T42" fmla="*/ 73 w 73"/>
                  <a:gd name="T43" fmla="*/ 37 h 73"/>
                  <a:gd name="T44" fmla="*/ 73 w 73"/>
                  <a:gd name="T45" fmla="*/ 33 h 73"/>
                  <a:gd name="T46" fmla="*/ 71 w 73"/>
                  <a:gd name="T47" fmla="*/ 28 h 73"/>
                  <a:gd name="T48" fmla="*/ 70 w 73"/>
                  <a:gd name="T49" fmla="*/ 22 h 73"/>
                  <a:gd name="T50" fmla="*/ 69 w 73"/>
                  <a:gd name="T51" fmla="*/ 18 h 73"/>
                  <a:gd name="T52" fmla="*/ 66 w 73"/>
                  <a:gd name="T53" fmla="*/ 13 h 73"/>
                  <a:gd name="T54" fmla="*/ 61 w 73"/>
                  <a:gd name="T55" fmla="*/ 11 h 73"/>
                  <a:gd name="T56" fmla="*/ 57 w 73"/>
                  <a:gd name="T57" fmla="*/ 8 h 73"/>
                  <a:gd name="T58" fmla="*/ 52 w 73"/>
                  <a:gd name="T59" fmla="*/ 5 h 73"/>
                  <a:gd name="T60" fmla="*/ 48 w 73"/>
                  <a:gd name="T61" fmla="*/ 3 h 73"/>
                  <a:gd name="T62" fmla="*/ 42 w 73"/>
                  <a:gd name="T63" fmla="*/ 2 h 73"/>
                  <a:gd name="T64" fmla="*/ 37 w 73"/>
                  <a:gd name="T65" fmla="*/ 0 h 73"/>
                  <a:gd name="T66" fmla="*/ 33 w 73"/>
                  <a:gd name="T67" fmla="*/ 2 h 73"/>
                  <a:gd name="T68" fmla="*/ 29 w 73"/>
                  <a:gd name="T69" fmla="*/ 2 h 73"/>
                  <a:gd name="T70" fmla="*/ 23 w 73"/>
                  <a:gd name="T71" fmla="*/ 3 h 73"/>
                  <a:gd name="T72" fmla="*/ 18 w 73"/>
                  <a:gd name="T73" fmla="*/ 6 h 73"/>
                  <a:gd name="T74" fmla="*/ 14 w 73"/>
                  <a:gd name="T75" fmla="*/ 9 h 73"/>
                  <a:gd name="T76" fmla="*/ 11 w 73"/>
                  <a:gd name="T77" fmla="*/ 12 h 73"/>
                  <a:gd name="T78" fmla="*/ 6 w 73"/>
                  <a:gd name="T79" fmla="*/ 16 h 73"/>
                  <a:gd name="T80" fmla="*/ 5 w 73"/>
                  <a:gd name="T81" fmla="*/ 21 h 73"/>
                  <a:gd name="T82" fmla="*/ 2 w 73"/>
                  <a:gd name="T83" fmla="*/ 27 h 73"/>
                  <a:gd name="T84" fmla="*/ 2 w 73"/>
                  <a:gd name="T85" fmla="*/ 31 h 73"/>
                  <a:gd name="T86" fmla="*/ 0 w 73"/>
                  <a:gd name="T87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3">
                    <a:moveTo>
                      <a:pt x="0" y="37"/>
                    </a:moveTo>
                    <a:lnTo>
                      <a:pt x="0" y="39"/>
                    </a:lnTo>
                    <a:lnTo>
                      <a:pt x="0" y="40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5" y="52"/>
                    </a:lnTo>
                    <a:lnTo>
                      <a:pt x="5" y="55"/>
                    </a:lnTo>
                    <a:lnTo>
                      <a:pt x="6" y="56"/>
                    </a:lnTo>
                    <a:lnTo>
                      <a:pt x="6" y="58"/>
                    </a:lnTo>
                    <a:lnTo>
                      <a:pt x="8" y="58"/>
                    </a:lnTo>
                    <a:lnTo>
                      <a:pt x="9" y="59"/>
                    </a:lnTo>
                    <a:lnTo>
                      <a:pt x="11" y="61"/>
                    </a:lnTo>
                    <a:lnTo>
                      <a:pt x="11" y="62"/>
                    </a:lnTo>
                    <a:lnTo>
                      <a:pt x="12" y="64"/>
                    </a:lnTo>
                    <a:lnTo>
                      <a:pt x="14" y="65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8" y="68"/>
                    </a:lnTo>
                    <a:lnTo>
                      <a:pt x="20" y="68"/>
                    </a:lnTo>
                    <a:lnTo>
                      <a:pt x="21" y="70"/>
                    </a:lnTo>
                    <a:lnTo>
                      <a:pt x="23" y="70"/>
                    </a:lnTo>
                    <a:lnTo>
                      <a:pt x="24" y="71"/>
                    </a:lnTo>
                    <a:lnTo>
                      <a:pt x="26" y="71"/>
                    </a:lnTo>
                    <a:lnTo>
                      <a:pt x="29" y="73"/>
                    </a:lnTo>
                    <a:lnTo>
                      <a:pt x="30" y="73"/>
                    </a:lnTo>
                    <a:lnTo>
                      <a:pt x="31" y="73"/>
                    </a:lnTo>
                    <a:lnTo>
                      <a:pt x="33" y="73"/>
                    </a:lnTo>
                    <a:lnTo>
                      <a:pt x="34" y="73"/>
                    </a:lnTo>
                    <a:lnTo>
                      <a:pt x="37" y="73"/>
                    </a:lnTo>
                    <a:lnTo>
                      <a:pt x="37" y="73"/>
                    </a:lnTo>
                    <a:lnTo>
                      <a:pt x="39" y="73"/>
                    </a:lnTo>
                    <a:lnTo>
                      <a:pt x="40" y="73"/>
                    </a:lnTo>
                    <a:lnTo>
                      <a:pt x="42" y="73"/>
                    </a:lnTo>
                    <a:lnTo>
                      <a:pt x="45" y="73"/>
                    </a:lnTo>
                    <a:lnTo>
                      <a:pt x="46" y="73"/>
                    </a:lnTo>
                    <a:lnTo>
                      <a:pt x="48" y="71"/>
                    </a:lnTo>
                    <a:lnTo>
                      <a:pt x="49" y="71"/>
                    </a:lnTo>
                    <a:lnTo>
                      <a:pt x="51" y="70"/>
                    </a:lnTo>
                    <a:lnTo>
                      <a:pt x="52" y="70"/>
                    </a:lnTo>
                    <a:lnTo>
                      <a:pt x="54" y="68"/>
                    </a:lnTo>
                    <a:lnTo>
                      <a:pt x="55" y="68"/>
                    </a:lnTo>
                    <a:lnTo>
                      <a:pt x="57" y="67"/>
                    </a:lnTo>
                    <a:lnTo>
                      <a:pt x="58" y="65"/>
                    </a:lnTo>
                    <a:lnTo>
                      <a:pt x="60" y="65"/>
                    </a:lnTo>
                    <a:lnTo>
                      <a:pt x="61" y="64"/>
                    </a:lnTo>
                    <a:lnTo>
                      <a:pt x="63" y="62"/>
                    </a:lnTo>
                    <a:lnTo>
                      <a:pt x="64" y="61"/>
                    </a:lnTo>
                    <a:lnTo>
                      <a:pt x="66" y="59"/>
                    </a:lnTo>
                    <a:lnTo>
                      <a:pt x="66" y="58"/>
                    </a:lnTo>
                    <a:lnTo>
                      <a:pt x="67" y="58"/>
                    </a:lnTo>
                    <a:lnTo>
                      <a:pt x="69" y="56"/>
                    </a:lnTo>
                    <a:lnTo>
                      <a:pt x="69" y="55"/>
                    </a:lnTo>
                    <a:lnTo>
                      <a:pt x="70" y="52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8"/>
                    </a:lnTo>
                    <a:lnTo>
                      <a:pt x="71" y="46"/>
                    </a:lnTo>
                    <a:lnTo>
                      <a:pt x="73" y="45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9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6"/>
                    </a:lnTo>
                    <a:lnTo>
                      <a:pt x="73" y="33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1"/>
                    </a:lnTo>
                    <a:lnTo>
                      <a:pt x="69" y="19"/>
                    </a:lnTo>
                    <a:lnTo>
                      <a:pt x="69" y="18"/>
                    </a:lnTo>
                    <a:lnTo>
                      <a:pt x="67" y="16"/>
                    </a:lnTo>
                    <a:lnTo>
                      <a:pt x="66" y="15"/>
                    </a:lnTo>
                    <a:lnTo>
                      <a:pt x="66" y="13"/>
                    </a:lnTo>
                    <a:lnTo>
                      <a:pt x="64" y="12"/>
                    </a:lnTo>
                    <a:lnTo>
                      <a:pt x="63" y="12"/>
                    </a:lnTo>
                    <a:lnTo>
                      <a:pt x="61" y="11"/>
                    </a:lnTo>
                    <a:lnTo>
                      <a:pt x="60" y="9"/>
                    </a:lnTo>
                    <a:lnTo>
                      <a:pt x="58" y="8"/>
                    </a:lnTo>
                    <a:lnTo>
                      <a:pt x="57" y="8"/>
                    </a:lnTo>
                    <a:lnTo>
                      <a:pt x="55" y="6"/>
                    </a:lnTo>
                    <a:lnTo>
                      <a:pt x="54" y="5"/>
                    </a:lnTo>
                    <a:lnTo>
                      <a:pt x="52" y="5"/>
                    </a:lnTo>
                    <a:lnTo>
                      <a:pt x="51" y="3"/>
                    </a:lnTo>
                    <a:lnTo>
                      <a:pt x="49" y="3"/>
                    </a:lnTo>
                    <a:lnTo>
                      <a:pt x="48" y="3"/>
                    </a:lnTo>
                    <a:lnTo>
                      <a:pt x="46" y="2"/>
                    </a:lnTo>
                    <a:lnTo>
                      <a:pt x="45" y="2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4" y="2"/>
                    </a:lnTo>
                    <a:lnTo>
                      <a:pt x="33" y="2"/>
                    </a:lnTo>
                    <a:lnTo>
                      <a:pt x="31" y="2"/>
                    </a:lnTo>
                    <a:lnTo>
                      <a:pt x="30" y="2"/>
                    </a:lnTo>
                    <a:lnTo>
                      <a:pt x="29" y="2"/>
                    </a:lnTo>
                    <a:lnTo>
                      <a:pt x="26" y="3"/>
                    </a:lnTo>
                    <a:lnTo>
                      <a:pt x="24" y="3"/>
                    </a:lnTo>
                    <a:lnTo>
                      <a:pt x="23" y="3"/>
                    </a:lnTo>
                    <a:lnTo>
                      <a:pt x="21" y="5"/>
                    </a:lnTo>
                    <a:lnTo>
                      <a:pt x="20" y="5"/>
                    </a:lnTo>
                    <a:lnTo>
                      <a:pt x="18" y="6"/>
                    </a:lnTo>
                    <a:lnTo>
                      <a:pt x="17" y="8"/>
                    </a:lnTo>
                    <a:lnTo>
                      <a:pt x="15" y="8"/>
                    </a:lnTo>
                    <a:lnTo>
                      <a:pt x="14" y="9"/>
                    </a:lnTo>
                    <a:lnTo>
                      <a:pt x="12" y="11"/>
                    </a:lnTo>
                    <a:lnTo>
                      <a:pt x="11" y="12"/>
                    </a:lnTo>
                    <a:lnTo>
                      <a:pt x="11" y="12"/>
                    </a:lnTo>
                    <a:lnTo>
                      <a:pt x="9" y="13"/>
                    </a:lnTo>
                    <a:lnTo>
                      <a:pt x="8" y="15"/>
                    </a:lnTo>
                    <a:lnTo>
                      <a:pt x="6" y="16"/>
                    </a:lnTo>
                    <a:lnTo>
                      <a:pt x="6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1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7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59" name="Freeform 181"/>
              <p:cNvSpPr>
                <a:spLocks/>
              </p:cNvSpPr>
              <p:nvPr/>
            </p:nvSpPr>
            <p:spPr bwMode="auto">
              <a:xfrm>
                <a:off x="2401" y="1963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29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8 h 296"/>
                  <a:gd name="T20" fmla="*/ 2 w 296"/>
                  <a:gd name="T21" fmla="*/ 141 h 296"/>
                  <a:gd name="T22" fmla="*/ 2 w 296"/>
                  <a:gd name="T23" fmla="*/ 155 h 296"/>
                  <a:gd name="T24" fmla="*/ 4 w 296"/>
                  <a:gd name="T25" fmla="*/ 178 h 296"/>
                  <a:gd name="T26" fmla="*/ 10 w 296"/>
                  <a:gd name="T27" fmla="*/ 198 h 296"/>
                  <a:gd name="T28" fmla="*/ 19 w 296"/>
                  <a:gd name="T29" fmla="*/ 218 h 296"/>
                  <a:gd name="T30" fmla="*/ 30 w 296"/>
                  <a:gd name="T31" fmla="*/ 237 h 296"/>
                  <a:gd name="T32" fmla="*/ 44 w 296"/>
                  <a:gd name="T33" fmla="*/ 252 h 296"/>
                  <a:gd name="T34" fmla="*/ 61 w 296"/>
                  <a:gd name="T35" fmla="*/ 266 h 296"/>
                  <a:gd name="T36" fmla="*/ 79 w 296"/>
                  <a:gd name="T37" fmla="*/ 278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8 h 296"/>
                  <a:gd name="T52" fmla="*/ 237 w 296"/>
                  <a:gd name="T53" fmla="*/ 266 h 296"/>
                  <a:gd name="T54" fmla="*/ 253 w 296"/>
                  <a:gd name="T55" fmla="*/ 252 h 296"/>
                  <a:gd name="T56" fmla="*/ 268 w 296"/>
                  <a:gd name="T57" fmla="*/ 237 h 296"/>
                  <a:gd name="T58" fmla="*/ 278 w 296"/>
                  <a:gd name="T59" fmla="*/ 218 h 296"/>
                  <a:gd name="T60" fmla="*/ 287 w 296"/>
                  <a:gd name="T61" fmla="*/ 198 h 296"/>
                  <a:gd name="T62" fmla="*/ 293 w 296"/>
                  <a:gd name="T63" fmla="*/ 178 h 296"/>
                  <a:gd name="T64" fmla="*/ 296 w 296"/>
                  <a:gd name="T65" fmla="*/ 155 h 296"/>
                  <a:gd name="T66" fmla="*/ 296 w 296"/>
                  <a:gd name="T67" fmla="*/ 141 h 296"/>
                  <a:gd name="T68" fmla="*/ 293 w 296"/>
                  <a:gd name="T69" fmla="*/ 118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29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1"/>
                    </a:lnTo>
                    <a:lnTo>
                      <a:pt x="119" y="3"/>
                    </a:lnTo>
                    <a:lnTo>
                      <a:pt x="113" y="4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5"/>
                    </a:lnTo>
                    <a:lnTo>
                      <a:pt x="61" y="29"/>
                    </a:lnTo>
                    <a:lnTo>
                      <a:pt x="55" y="34"/>
                    </a:lnTo>
                    <a:lnTo>
                      <a:pt x="49" y="38"/>
                    </a:lnTo>
                    <a:lnTo>
                      <a:pt x="44" y="43"/>
                    </a:lnTo>
                    <a:lnTo>
                      <a:pt x="39" y="47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0"/>
                    </a:lnTo>
                    <a:lnTo>
                      <a:pt x="10" y="96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8"/>
                    </a:lnTo>
                    <a:lnTo>
                      <a:pt x="3" y="124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5"/>
                    </a:lnTo>
                    <a:lnTo>
                      <a:pt x="2" y="163"/>
                    </a:lnTo>
                    <a:lnTo>
                      <a:pt x="3" y="170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8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1"/>
                    </a:lnTo>
                    <a:lnTo>
                      <a:pt x="39" y="247"/>
                    </a:lnTo>
                    <a:lnTo>
                      <a:pt x="44" y="252"/>
                    </a:lnTo>
                    <a:lnTo>
                      <a:pt x="49" y="257"/>
                    </a:lnTo>
                    <a:lnTo>
                      <a:pt x="55" y="262"/>
                    </a:lnTo>
                    <a:lnTo>
                      <a:pt x="61" y="266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8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3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3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8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6"/>
                    </a:lnTo>
                    <a:lnTo>
                      <a:pt x="243" y="262"/>
                    </a:lnTo>
                    <a:lnTo>
                      <a:pt x="249" y="257"/>
                    </a:lnTo>
                    <a:lnTo>
                      <a:pt x="253" y="252"/>
                    </a:lnTo>
                    <a:lnTo>
                      <a:pt x="259" y="247"/>
                    </a:lnTo>
                    <a:lnTo>
                      <a:pt x="264" y="241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8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0"/>
                    </a:lnTo>
                    <a:lnTo>
                      <a:pt x="296" y="163"/>
                    </a:lnTo>
                    <a:lnTo>
                      <a:pt x="296" y="155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4"/>
                    </a:lnTo>
                    <a:lnTo>
                      <a:pt x="293" y="118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6"/>
                    </a:lnTo>
                    <a:lnTo>
                      <a:pt x="286" y="90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7"/>
                    </a:lnTo>
                    <a:lnTo>
                      <a:pt x="253" y="43"/>
                    </a:lnTo>
                    <a:lnTo>
                      <a:pt x="249" y="38"/>
                    </a:lnTo>
                    <a:lnTo>
                      <a:pt x="243" y="34"/>
                    </a:lnTo>
                    <a:lnTo>
                      <a:pt x="237" y="29"/>
                    </a:lnTo>
                    <a:lnTo>
                      <a:pt x="231" y="25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4"/>
                    </a:lnTo>
                    <a:lnTo>
                      <a:pt x="179" y="3"/>
                    </a:lnTo>
                    <a:lnTo>
                      <a:pt x="172" y="1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0" name="Freeform 182"/>
              <p:cNvSpPr>
                <a:spLocks/>
              </p:cNvSpPr>
              <p:nvPr/>
            </p:nvSpPr>
            <p:spPr bwMode="auto">
              <a:xfrm>
                <a:off x="2396" y="1958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1 h 302"/>
                  <a:gd name="T6" fmla="*/ 74 w 303"/>
                  <a:gd name="T7" fmla="*/ 20 h 302"/>
                  <a:gd name="T8" fmla="*/ 56 w 303"/>
                  <a:gd name="T9" fmla="*/ 34 h 302"/>
                  <a:gd name="T10" fmla="*/ 40 w 303"/>
                  <a:gd name="T11" fmla="*/ 48 h 302"/>
                  <a:gd name="T12" fmla="*/ 26 w 303"/>
                  <a:gd name="T13" fmla="*/ 66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5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6 h 302"/>
                  <a:gd name="T36" fmla="*/ 86 w 303"/>
                  <a:gd name="T37" fmla="*/ 287 h 302"/>
                  <a:gd name="T38" fmla="*/ 106 w 303"/>
                  <a:gd name="T39" fmla="*/ 294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79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4 h 302"/>
                  <a:gd name="T68" fmla="*/ 299 w 303"/>
                  <a:gd name="T69" fmla="*/ 112 h 302"/>
                  <a:gd name="T70" fmla="*/ 291 w 303"/>
                  <a:gd name="T71" fmla="*/ 91 h 302"/>
                  <a:gd name="T72" fmla="*/ 281 w 303"/>
                  <a:gd name="T73" fmla="*/ 72 h 302"/>
                  <a:gd name="T74" fmla="*/ 268 w 303"/>
                  <a:gd name="T75" fmla="*/ 54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4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8"/>
                    </a:lnTo>
                    <a:lnTo>
                      <a:pt x="93" y="11"/>
                    </a:lnTo>
                    <a:lnTo>
                      <a:pt x="86" y="14"/>
                    </a:lnTo>
                    <a:lnTo>
                      <a:pt x="80" y="17"/>
                    </a:lnTo>
                    <a:lnTo>
                      <a:pt x="74" y="20"/>
                    </a:lnTo>
                    <a:lnTo>
                      <a:pt x="66" y="25"/>
                    </a:lnTo>
                    <a:lnTo>
                      <a:pt x="60" y="29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8"/>
                    </a:lnTo>
                    <a:lnTo>
                      <a:pt x="35" y="54"/>
                    </a:lnTo>
                    <a:lnTo>
                      <a:pt x="31" y="60"/>
                    </a:lnTo>
                    <a:lnTo>
                      <a:pt x="26" y="66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1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4"/>
                    </a:lnTo>
                    <a:lnTo>
                      <a:pt x="1" y="143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5"/>
                    </a:lnTo>
                    <a:lnTo>
                      <a:pt x="3" y="173"/>
                    </a:lnTo>
                    <a:lnTo>
                      <a:pt x="3" y="180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2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7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6"/>
                    </a:lnTo>
                    <a:lnTo>
                      <a:pt x="74" y="279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4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4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79"/>
                    </a:lnTo>
                    <a:lnTo>
                      <a:pt x="237" y="276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7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2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0"/>
                    </a:lnTo>
                    <a:lnTo>
                      <a:pt x="302" y="173"/>
                    </a:lnTo>
                    <a:lnTo>
                      <a:pt x="302" y="165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3"/>
                    </a:lnTo>
                    <a:lnTo>
                      <a:pt x="302" y="134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1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6"/>
                    </a:lnTo>
                    <a:lnTo>
                      <a:pt x="272" y="60"/>
                    </a:lnTo>
                    <a:lnTo>
                      <a:pt x="268" y="54"/>
                    </a:lnTo>
                    <a:lnTo>
                      <a:pt x="263" y="48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29"/>
                    </a:lnTo>
                    <a:lnTo>
                      <a:pt x="237" y="25"/>
                    </a:lnTo>
                    <a:lnTo>
                      <a:pt x="231" y="20"/>
                    </a:lnTo>
                    <a:lnTo>
                      <a:pt x="223" y="17"/>
                    </a:lnTo>
                    <a:lnTo>
                      <a:pt x="217" y="14"/>
                    </a:lnTo>
                    <a:lnTo>
                      <a:pt x="210" y="11"/>
                    </a:lnTo>
                    <a:lnTo>
                      <a:pt x="204" y="8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1" name="Rectangle 183"/>
              <p:cNvSpPr>
                <a:spLocks noChangeArrowheads="1"/>
              </p:cNvSpPr>
              <p:nvPr/>
            </p:nvSpPr>
            <p:spPr bwMode="auto">
              <a:xfrm>
                <a:off x="2381" y="1953"/>
                <a:ext cx="69" cy="1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2" name="Freeform 184"/>
              <p:cNvSpPr>
                <a:spLocks/>
              </p:cNvSpPr>
              <p:nvPr/>
            </p:nvSpPr>
            <p:spPr bwMode="auto">
              <a:xfrm>
                <a:off x="2381" y="1953"/>
                <a:ext cx="69" cy="109"/>
              </a:xfrm>
              <a:custGeom>
                <a:avLst/>
                <a:gdLst>
                  <a:gd name="T0" fmla="*/ 207 w 207"/>
                  <a:gd name="T1" fmla="*/ 326 h 326"/>
                  <a:gd name="T2" fmla="*/ 0 w 207"/>
                  <a:gd name="T3" fmla="*/ 326 h 326"/>
                  <a:gd name="T4" fmla="*/ 0 w 207"/>
                  <a:gd name="T5" fmla="*/ 0 h 326"/>
                  <a:gd name="T6" fmla="*/ 207 w 207"/>
                  <a:gd name="T7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326">
                    <a:moveTo>
                      <a:pt x="207" y="326"/>
                    </a:moveTo>
                    <a:lnTo>
                      <a:pt x="0" y="326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3" name="Freeform 185"/>
              <p:cNvSpPr>
                <a:spLocks/>
              </p:cNvSpPr>
              <p:nvPr/>
            </p:nvSpPr>
            <p:spPr bwMode="auto">
              <a:xfrm>
                <a:off x="2401" y="2111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30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8 h 296"/>
                  <a:gd name="T20" fmla="*/ 2 w 296"/>
                  <a:gd name="T21" fmla="*/ 141 h 296"/>
                  <a:gd name="T22" fmla="*/ 2 w 296"/>
                  <a:gd name="T23" fmla="*/ 155 h 296"/>
                  <a:gd name="T24" fmla="*/ 4 w 296"/>
                  <a:gd name="T25" fmla="*/ 178 h 296"/>
                  <a:gd name="T26" fmla="*/ 10 w 296"/>
                  <a:gd name="T27" fmla="*/ 198 h 296"/>
                  <a:gd name="T28" fmla="*/ 19 w 296"/>
                  <a:gd name="T29" fmla="*/ 218 h 296"/>
                  <a:gd name="T30" fmla="*/ 30 w 296"/>
                  <a:gd name="T31" fmla="*/ 237 h 296"/>
                  <a:gd name="T32" fmla="*/ 44 w 296"/>
                  <a:gd name="T33" fmla="*/ 252 h 296"/>
                  <a:gd name="T34" fmla="*/ 61 w 296"/>
                  <a:gd name="T35" fmla="*/ 267 h 296"/>
                  <a:gd name="T36" fmla="*/ 79 w 296"/>
                  <a:gd name="T37" fmla="*/ 278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8 h 296"/>
                  <a:gd name="T52" fmla="*/ 237 w 296"/>
                  <a:gd name="T53" fmla="*/ 267 h 296"/>
                  <a:gd name="T54" fmla="*/ 253 w 296"/>
                  <a:gd name="T55" fmla="*/ 252 h 296"/>
                  <a:gd name="T56" fmla="*/ 268 w 296"/>
                  <a:gd name="T57" fmla="*/ 237 h 296"/>
                  <a:gd name="T58" fmla="*/ 278 w 296"/>
                  <a:gd name="T59" fmla="*/ 218 h 296"/>
                  <a:gd name="T60" fmla="*/ 287 w 296"/>
                  <a:gd name="T61" fmla="*/ 198 h 296"/>
                  <a:gd name="T62" fmla="*/ 293 w 296"/>
                  <a:gd name="T63" fmla="*/ 178 h 296"/>
                  <a:gd name="T64" fmla="*/ 296 w 296"/>
                  <a:gd name="T65" fmla="*/ 155 h 296"/>
                  <a:gd name="T66" fmla="*/ 296 w 296"/>
                  <a:gd name="T67" fmla="*/ 141 h 296"/>
                  <a:gd name="T68" fmla="*/ 293 w 296"/>
                  <a:gd name="T69" fmla="*/ 118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30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2"/>
                    </a:lnTo>
                    <a:lnTo>
                      <a:pt x="119" y="3"/>
                    </a:lnTo>
                    <a:lnTo>
                      <a:pt x="113" y="4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5"/>
                    </a:lnTo>
                    <a:lnTo>
                      <a:pt x="61" y="30"/>
                    </a:lnTo>
                    <a:lnTo>
                      <a:pt x="55" y="34"/>
                    </a:lnTo>
                    <a:lnTo>
                      <a:pt x="49" y="39"/>
                    </a:lnTo>
                    <a:lnTo>
                      <a:pt x="44" y="43"/>
                    </a:lnTo>
                    <a:lnTo>
                      <a:pt x="39" y="47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0"/>
                    </a:lnTo>
                    <a:lnTo>
                      <a:pt x="10" y="96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8"/>
                    </a:lnTo>
                    <a:lnTo>
                      <a:pt x="3" y="124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5"/>
                    </a:lnTo>
                    <a:lnTo>
                      <a:pt x="2" y="163"/>
                    </a:lnTo>
                    <a:lnTo>
                      <a:pt x="3" y="170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8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1"/>
                    </a:lnTo>
                    <a:lnTo>
                      <a:pt x="39" y="247"/>
                    </a:lnTo>
                    <a:lnTo>
                      <a:pt x="44" y="252"/>
                    </a:lnTo>
                    <a:lnTo>
                      <a:pt x="49" y="258"/>
                    </a:lnTo>
                    <a:lnTo>
                      <a:pt x="55" y="262"/>
                    </a:lnTo>
                    <a:lnTo>
                      <a:pt x="61" y="267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8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3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3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8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7"/>
                    </a:lnTo>
                    <a:lnTo>
                      <a:pt x="243" y="262"/>
                    </a:lnTo>
                    <a:lnTo>
                      <a:pt x="249" y="258"/>
                    </a:lnTo>
                    <a:lnTo>
                      <a:pt x="253" y="252"/>
                    </a:lnTo>
                    <a:lnTo>
                      <a:pt x="259" y="247"/>
                    </a:lnTo>
                    <a:lnTo>
                      <a:pt x="264" y="241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8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0"/>
                    </a:lnTo>
                    <a:lnTo>
                      <a:pt x="296" y="163"/>
                    </a:lnTo>
                    <a:lnTo>
                      <a:pt x="296" y="155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4"/>
                    </a:lnTo>
                    <a:lnTo>
                      <a:pt x="293" y="118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6"/>
                    </a:lnTo>
                    <a:lnTo>
                      <a:pt x="286" y="90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7"/>
                    </a:lnTo>
                    <a:lnTo>
                      <a:pt x="253" y="43"/>
                    </a:lnTo>
                    <a:lnTo>
                      <a:pt x="249" y="39"/>
                    </a:lnTo>
                    <a:lnTo>
                      <a:pt x="243" y="34"/>
                    </a:lnTo>
                    <a:lnTo>
                      <a:pt x="237" y="30"/>
                    </a:lnTo>
                    <a:lnTo>
                      <a:pt x="231" y="25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4"/>
                    </a:lnTo>
                    <a:lnTo>
                      <a:pt x="179" y="3"/>
                    </a:lnTo>
                    <a:lnTo>
                      <a:pt x="172" y="2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4" name="Freeform 186"/>
              <p:cNvSpPr>
                <a:spLocks/>
              </p:cNvSpPr>
              <p:nvPr/>
            </p:nvSpPr>
            <p:spPr bwMode="auto">
              <a:xfrm>
                <a:off x="2396" y="2106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2 h 302"/>
                  <a:gd name="T6" fmla="*/ 74 w 303"/>
                  <a:gd name="T7" fmla="*/ 20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6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7 h 302"/>
                  <a:gd name="T38" fmla="*/ 106 w 303"/>
                  <a:gd name="T39" fmla="*/ 294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4 h 302"/>
                  <a:gd name="T68" fmla="*/ 299 w 303"/>
                  <a:gd name="T69" fmla="*/ 112 h 302"/>
                  <a:gd name="T70" fmla="*/ 291 w 303"/>
                  <a:gd name="T71" fmla="*/ 92 h 302"/>
                  <a:gd name="T72" fmla="*/ 281 w 303"/>
                  <a:gd name="T73" fmla="*/ 72 h 302"/>
                  <a:gd name="T74" fmla="*/ 268 w 303"/>
                  <a:gd name="T75" fmla="*/ 55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0"/>
                    </a:lnTo>
                    <a:lnTo>
                      <a:pt x="66" y="25"/>
                    </a:lnTo>
                    <a:lnTo>
                      <a:pt x="60" y="29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0"/>
                    </a:lnTo>
                    <a:lnTo>
                      <a:pt x="26" y="66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4"/>
                    </a:lnTo>
                    <a:lnTo>
                      <a:pt x="1" y="143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6"/>
                    </a:lnTo>
                    <a:lnTo>
                      <a:pt x="3" y="173"/>
                    </a:lnTo>
                    <a:lnTo>
                      <a:pt x="3" y="180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3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7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4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4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7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3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0"/>
                    </a:lnTo>
                    <a:lnTo>
                      <a:pt x="302" y="173"/>
                    </a:lnTo>
                    <a:lnTo>
                      <a:pt x="302" y="166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3"/>
                    </a:lnTo>
                    <a:lnTo>
                      <a:pt x="302" y="134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6"/>
                    </a:lnTo>
                    <a:lnTo>
                      <a:pt x="272" y="60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29"/>
                    </a:lnTo>
                    <a:lnTo>
                      <a:pt x="237" y="25"/>
                    </a:lnTo>
                    <a:lnTo>
                      <a:pt x="231" y="20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5" name="Rectangle 187"/>
              <p:cNvSpPr>
                <a:spLocks noChangeArrowheads="1"/>
              </p:cNvSpPr>
              <p:nvPr/>
            </p:nvSpPr>
            <p:spPr bwMode="auto">
              <a:xfrm>
                <a:off x="2381" y="2101"/>
                <a:ext cx="69" cy="1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6" name="Freeform 188"/>
              <p:cNvSpPr>
                <a:spLocks/>
              </p:cNvSpPr>
              <p:nvPr/>
            </p:nvSpPr>
            <p:spPr bwMode="auto">
              <a:xfrm>
                <a:off x="2381" y="2101"/>
                <a:ext cx="69" cy="109"/>
              </a:xfrm>
              <a:custGeom>
                <a:avLst/>
                <a:gdLst>
                  <a:gd name="T0" fmla="*/ 207 w 207"/>
                  <a:gd name="T1" fmla="*/ 326 h 326"/>
                  <a:gd name="T2" fmla="*/ 0 w 207"/>
                  <a:gd name="T3" fmla="*/ 326 h 326"/>
                  <a:gd name="T4" fmla="*/ 0 w 207"/>
                  <a:gd name="T5" fmla="*/ 0 h 326"/>
                  <a:gd name="T6" fmla="*/ 207 w 207"/>
                  <a:gd name="T7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326">
                    <a:moveTo>
                      <a:pt x="207" y="326"/>
                    </a:moveTo>
                    <a:lnTo>
                      <a:pt x="0" y="326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7" name="Freeform 189"/>
              <p:cNvSpPr>
                <a:spLocks/>
              </p:cNvSpPr>
              <p:nvPr/>
            </p:nvSpPr>
            <p:spPr bwMode="auto">
              <a:xfrm>
                <a:off x="2401" y="2259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30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9 h 296"/>
                  <a:gd name="T20" fmla="*/ 2 w 296"/>
                  <a:gd name="T21" fmla="*/ 141 h 296"/>
                  <a:gd name="T22" fmla="*/ 2 w 296"/>
                  <a:gd name="T23" fmla="*/ 156 h 296"/>
                  <a:gd name="T24" fmla="*/ 4 w 296"/>
                  <a:gd name="T25" fmla="*/ 178 h 296"/>
                  <a:gd name="T26" fmla="*/ 10 w 296"/>
                  <a:gd name="T27" fmla="*/ 199 h 296"/>
                  <a:gd name="T28" fmla="*/ 19 w 296"/>
                  <a:gd name="T29" fmla="*/ 218 h 296"/>
                  <a:gd name="T30" fmla="*/ 30 w 296"/>
                  <a:gd name="T31" fmla="*/ 237 h 296"/>
                  <a:gd name="T32" fmla="*/ 44 w 296"/>
                  <a:gd name="T33" fmla="*/ 252 h 296"/>
                  <a:gd name="T34" fmla="*/ 61 w 296"/>
                  <a:gd name="T35" fmla="*/ 267 h 296"/>
                  <a:gd name="T36" fmla="*/ 79 w 296"/>
                  <a:gd name="T37" fmla="*/ 279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9 h 296"/>
                  <a:gd name="T52" fmla="*/ 237 w 296"/>
                  <a:gd name="T53" fmla="*/ 267 h 296"/>
                  <a:gd name="T54" fmla="*/ 253 w 296"/>
                  <a:gd name="T55" fmla="*/ 252 h 296"/>
                  <a:gd name="T56" fmla="*/ 268 w 296"/>
                  <a:gd name="T57" fmla="*/ 237 h 296"/>
                  <a:gd name="T58" fmla="*/ 278 w 296"/>
                  <a:gd name="T59" fmla="*/ 218 h 296"/>
                  <a:gd name="T60" fmla="*/ 287 w 296"/>
                  <a:gd name="T61" fmla="*/ 199 h 296"/>
                  <a:gd name="T62" fmla="*/ 293 w 296"/>
                  <a:gd name="T63" fmla="*/ 178 h 296"/>
                  <a:gd name="T64" fmla="*/ 296 w 296"/>
                  <a:gd name="T65" fmla="*/ 156 h 296"/>
                  <a:gd name="T66" fmla="*/ 296 w 296"/>
                  <a:gd name="T67" fmla="*/ 141 h 296"/>
                  <a:gd name="T68" fmla="*/ 293 w 296"/>
                  <a:gd name="T69" fmla="*/ 119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30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2"/>
                    </a:lnTo>
                    <a:lnTo>
                      <a:pt x="119" y="3"/>
                    </a:lnTo>
                    <a:lnTo>
                      <a:pt x="113" y="5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5"/>
                    </a:lnTo>
                    <a:lnTo>
                      <a:pt x="61" y="30"/>
                    </a:lnTo>
                    <a:lnTo>
                      <a:pt x="55" y="34"/>
                    </a:lnTo>
                    <a:lnTo>
                      <a:pt x="49" y="39"/>
                    </a:lnTo>
                    <a:lnTo>
                      <a:pt x="44" y="43"/>
                    </a:lnTo>
                    <a:lnTo>
                      <a:pt x="39" y="48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1"/>
                    </a:lnTo>
                    <a:lnTo>
                      <a:pt x="10" y="96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9"/>
                    </a:lnTo>
                    <a:lnTo>
                      <a:pt x="3" y="125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6"/>
                    </a:lnTo>
                    <a:lnTo>
                      <a:pt x="2" y="163"/>
                    </a:lnTo>
                    <a:lnTo>
                      <a:pt x="3" y="170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9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2"/>
                    </a:lnTo>
                    <a:lnTo>
                      <a:pt x="39" y="247"/>
                    </a:lnTo>
                    <a:lnTo>
                      <a:pt x="44" y="252"/>
                    </a:lnTo>
                    <a:lnTo>
                      <a:pt x="49" y="258"/>
                    </a:lnTo>
                    <a:lnTo>
                      <a:pt x="55" y="262"/>
                    </a:lnTo>
                    <a:lnTo>
                      <a:pt x="61" y="267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9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3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3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9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7"/>
                    </a:lnTo>
                    <a:lnTo>
                      <a:pt x="243" y="262"/>
                    </a:lnTo>
                    <a:lnTo>
                      <a:pt x="249" y="258"/>
                    </a:lnTo>
                    <a:lnTo>
                      <a:pt x="253" y="252"/>
                    </a:lnTo>
                    <a:lnTo>
                      <a:pt x="259" y="247"/>
                    </a:lnTo>
                    <a:lnTo>
                      <a:pt x="264" y="242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9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0"/>
                    </a:lnTo>
                    <a:lnTo>
                      <a:pt x="296" y="163"/>
                    </a:lnTo>
                    <a:lnTo>
                      <a:pt x="296" y="156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5"/>
                    </a:lnTo>
                    <a:lnTo>
                      <a:pt x="293" y="119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6"/>
                    </a:lnTo>
                    <a:lnTo>
                      <a:pt x="286" y="91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8"/>
                    </a:lnTo>
                    <a:lnTo>
                      <a:pt x="253" y="43"/>
                    </a:lnTo>
                    <a:lnTo>
                      <a:pt x="249" y="39"/>
                    </a:lnTo>
                    <a:lnTo>
                      <a:pt x="243" y="34"/>
                    </a:lnTo>
                    <a:lnTo>
                      <a:pt x="237" y="30"/>
                    </a:lnTo>
                    <a:lnTo>
                      <a:pt x="231" y="25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5"/>
                    </a:lnTo>
                    <a:lnTo>
                      <a:pt x="179" y="3"/>
                    </a:lnTo>
                    <a:lnTo>
                      <a:pt x="172" y="2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8" name="Freeform 190"/>
              <p:cNvSpPr>
                <a:spLocks/>
              </p:cNvSpPr>
              <p:nvPr/>
            </p:nvSpPr>
            <p:spPr bwMode="auto">
              <a:xfrm>
                <a:off x="2396" y="2254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2 h 302"/>
                  <a:gd name="T6" fmla="*/ 74 w 303"/>
                  <a:gd name="T7" fmla="*/ 21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7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7 h 302"/>
                  <a:gd name="T38" fmla="*/ 106 w 303"/>
                  <a:gd name="T39" fmla="*/ 295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5 h 302"/>
                  <a:gd name="T68" fmla="*/ 299 w 303"/>
                  <a:gd name="T69" fmla="*/ 112 h 302"/>
                  <a:gd name="T70" fmla="*/ 291 w 303"/>
                  <a:gd name="T71" fmla="*/ 92 h 302"/>
                  <a:gd name="T72" fmla="*/ 281 w 303"/>
                  <a:gd name="T73" fmla="*/ 72 h 302"/>
                  <a:gd name="T74" fmla="*/ 268 w 303"/>
                  <a:gd name="T75" fmla="*/ 55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1"/>
                    </a:lnTo>
                    <a:lnTo>
                      <a:pt x="66" y="25"/>
                    </a:lnTo>
                    <a:lnTo>
                      <a:pt x="60" y="30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1"/>
                    </a:lnTo>
                    <a:lnTo>
                      <a:pt x="26" y="67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5"/>
                    </a:lnTo>
                    <a:lnTo>
                      <a:pt x="1" y="144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6"/>
                    </a:lnTo>
                    <a:lnTo>
                      <a:pt x="3" y="173"/>
                    </a:lnTo>
                    <a:lnTo>
                      <a:pt x="3" y="181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3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8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5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5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8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3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1"/>
                    </a:lnTo>
                    <a:lnTo>
                      <a:pt x="302" y="173"/>
                    </a:lnTo>
                    <a:lnTo>
                      <a:pt x="302" y="166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4"/>
                    </a:lnTo>
                    <a:lnTo>
                      <a:pt x="302" y="135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7"/>
                    </a:lnTo>
                    <a:lnTo>
                      <a:pt x="272" y="61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30"/>
                    </a:lnTo>
                    <a:lnTo>
                      <a:pt x="237" y="25"/>
                    </a:lnTo>
                    <a:lnTo>
                      <a:pt x="231" y="21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69" name="Rectangle 191"/>
              <p:cNvSpPr>
                <a:spLocks noChangeArrowheads="1"/>
              </p:cNvSpPr>
              <p:nvPr/>
            </p:nvSpPr>
            <p:spPr bwMode="auto">
              <a:xfrm>
                <a:off x="2381" y="2249"/>
                <a:ext cx="69" cy="1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0" name="Freeform 192"/>
              <p:cNvSpPr>
                <a:spLocks/>
              </p:cNvSpPr>
              <p:nvPr/>
            </p:nvSpPr>
            <p:spPr bwMode="auto">
              <a:xfrm>
                <a:off x="2381" y="2249"/>
                <a:ext cx="69" cy="109"/>
              </a:xfrm>
              <a:custGeom>
                <a:avLst/>
                <a:gdLst>
                  <a:gd name="T0" fmla="*/ 207 w 207"/>
                  <a:gd name="T1" fmla="*/ 325 h 325"/>
                  <a:gd name="T2" fmla="*/ 0 w 207"/>
                  <a:gd name="T3" fmla="*/ 325 h 325"/>
                  <a:gd name="T4" fmla="*/ 0 w 207"/>
                  <a:gd name="T5" fmla="*/ 0 h 325"/>
                  <a:gd name="T6" fmla="*/ 207 w 207"/>
                  <a:gd name="T7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325">
                    <a:moveTo>
                      <a:pt x="207" y="325"/>
                    </a:moveTo>
                    <a:lnTo>
                      <a:pt x="0" y="325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1" name="Line 193"/>
              <p:cNvSpPr>
                <a:spLocks noChangeShapeType="1"/>
              </p:cNvSpPr>
              <p:nvPr/>
            </p:nvSpPr>
            <p:spPr bwMode="auto">
              <a:xfrm>
                <a:off x="1572" y="2447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2" name="Line 194"/>
              <p:cNvSpPr>
                <a:spLocks noChangeShapeType="1"/>
              </p:cNvSpPr>
              <p:nvPr/>
            </p:nvSpPr>
            <p:spPr bwMode="auto">
              <a:xfrm flipH="1">
                <a:off x="1917" y="2427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3" name="Line 195"/>
              <p:cNvSpPr>
                <a:spLocks noChangeShapeType="1"/>
              </p:cNvSpPr>
              <p:nvPr/>
            </p:nvSpPr>
            <p:spPr bwMode="auto">
              <a:xfrm flipH="1" flipV="1">
                <a:off x="1917" y="2427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4" name="Line 196"/>
              <p:cNvSpPr>
                <a:spLocks noChangeShapeType="1"/>
              </p:cNvSpPr>
              <p:nvPr/>
            </p:nvSpPr>
            <p:spPr bwMode="auto">
              <a:xfrm flipH="1">
                <a:off x="1710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5" name="Line 197"/>
              <p:cNvSpPr>
                <a:spLocks noChangeShapeType="1"/>
              </p:cNvSpPr>
              <p:nvPr/>
            </p:nvSpPr>
            <p:spPr bwMode="auto">
              <a:xfrm flipH="1" flipV="1">
                <a:off x="1710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6" name="Line 198"/>
              <p:cNvSpPr>
                <a:spLocks noChangeShapeType="1"/>
              </p:cNvSpPr>
              <p:nvPr/>
            </p:nvSpPr>
            <p:spPr bwMode="auto">
              <a:xfrm flipH="1">
                <a:off x="2144" y="2427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7" name="Line 199"/>
              <p:cNvSpPr>
                <a:spLocks noChangeShapeType="1"/>
              </p:cNvSpPr>
              <p:nvPr/>
            </p:nvSpPr>
            <p:spPr bwMode="auto">
              <a:xfrm flipH="1" flipV="1">
                <a:off x="2144" y="2427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8" name="Line 200"/>
              <p:cNvSpPr>
                <a:spLocks noChangeShapeType="1"/>
              </p:cNvSpPr>
              <p:nvPr/>
            </p:nvSpPr>
            <p:spPr bwMode="auto">
              <a:xfrm flipH="1">
                <a:off x="1611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79" name="Line 201"/>
              <p:cNvSpPr>
                <a:spLocks noChangeShapeType="1"/>
              </p:cNvSpPr>
              <p:nvPr/>
            </p:nvSpPr>
            <p:spPr bwMode="auto">
              <a:xfrm flipH="1" flipV="1">
                <a:off x="1611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80" name="Line 202"/>
              <p:cNvSpPr>
                <a:spLocks noChangeShapeType="1"/>
              </p:cNvSpPr>
              <p:nvPr/>
            </p:nvSpPr>
            <p:spPr bwMode="auto">
              <a:xfrm flipH="1">
                <a:off x="1809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81" name="Line 203"/>
              <p:cNvSpPr>
                <a:spLocks noChangeShapeType="1"/>
              </p:cNvSpPr>
              <p:nvPr/>
            </p:nvSpPr>
            <p:spPr bwMode="auto">
              <a:xfrm flipH="1" flipV="1">
                <a:off x="1809" y="242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82" name="Line 204"/>
              <p:cNvSpPr>
                <a:spLocks noChangeShapeType="1"/>
              </p:cNvSpPr>
              <p:nvPr/>
            </p:nvSpPr>
            <p:spPr bwMode="auto">
              <a:xfrm flipH="1">
                <a:off x="2253" y="2427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5" name="Group 406"/>
            <p:cNvGrpSpPr>
              <a:grpSpLocks/>
            </p:cNvGrpSpPr>
            <p:nvPr/>
          </p:nvGrpSpPr>
          <p:grpSpPr bwMode="auto">
            <a:xfrm>
              <a:off x="1572" y="1687"/>
              <a:ext cx="2280" cy="1865"/>
              <a:chOff x="1572" y="1687"/>
              <a:chExt cx="2280" cy="1865"/>
            </a:xfrm>
          </p:grpSpPr>
          <p:sp>
            <p:nvSpPr>
              <p:cNvPr id="34883" name="Line 206"/>
              <p:cNvSpPr>
                <a:spLocks noChangeShapeType="1"/>
              </p:cNvSpPr>
              <p:nvPr/>
            </p:nvSpPr>
            <p:spPr bwMode="auto">
              <a:xfrm flipH="1" flipV="1">
                <a:off x="2253" y="2427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4" name="Freeform 207"/>
              <p:cNvSpPr>
                <a:spLocks/>
              </p:cNvSpPr>
              <p:nvPr/>
            </p:nvSpPr>
            <p:spPr bwMode="auto">
              <a:xfrm>
                <a:off x="2401" y="2397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29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8 h 296"/>
                  <a:gd name="T20" fmla="*/ 2 w 296"/>
                  <a:gd name="T21" fmla="*/ 140 h 296"/>
                  <a:gd name="T22" fmla="*/ 2 w 296"/>
                  <a:gd name="T23" fmla="*/ 155 h 296"/>
                  <a:gd name="T24" fmla="*/ 4 w 296"/>
                  <a:gd name="T25" fmla="*/ 177 h 296"/>
                  <a:gd name="T26" fmla="*/ 10 w 296"/>
                  <a:gd name="T27" fmla="*/ 198 h 296"/>
                  <a:gd name="T28" fmla="*/ 19 w 296"/>
                  <a:gd name="T29" fmla="*/ 217 h 296"/>
                  <a:gd name="T30" fmla="*/ 30 w 296"/>
                  <a:gd name="T31" fmla="*/ 237 h 296"/>
                  <a:gd name="T32" fmla="*/ 44 w 296"/>
                  <a:gd name="T33" fmla="*/ 251 h 296"/>
                  <a:gd name="T34" fmla="*/ 61 w 296"/>
                  <a:gd name="T35" fmla="*/ 266 h 296"/>
                  <a:gd name="T36" fmla="*/ 79 w 296"/>
                  <a:gd name="T37" fmla="*/ 278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8 h 296"/>
                  <a:gd name="T52" fmla="*/ 237 w 296"/>
                  <a:gd name="T53" fmla="*/ 266 h 296"/>
                  <a:gd name="T54" fmla="*/ 253 w 296"/>
                  <a:gd name="T55" fmla="*/ 251 h 296"/>
                  <a:gd name="T56" fmla="*/ 268 w 296"/>
                  <a:gd name="T57" fmla="*/ 237 h 296"/>
                  <a:gd name="T58" fmla="*/ 278 w 296"/>
                  <a:gd name="T59" fmla="*/ 217 h 296"/>
                  <a:gd name="T60" fmla="*/ 287 w 296"/>
                  <a:gd name="T61" fmla="*/ 198 h 296"/>
                  <a:gd name="T62" fmla="*/ 293 w 296"/>
                  <a:gd name="T63" fmla="*/ 177 h 296"/>
                  <a:gd name="T64" fmla="*/ 296 w 296"/>
                  <a:gd name="T65" fmla="*/ 155 h 296"/>
                  <a:gd name="T66" fmla="*/ 296 w 296"/>
                  <a:gd name="T67" fmla="*/ 140 h 296"/>
                  <a:gd name="T68" fmla="*/ 293 w 296"/>
                  <a:gd name="T69" fmla="*/ 118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29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1"/>
                    </a:lnTo>
                    <a:lnTo>
                      <a:pt x="119" y="3"/>
                    </a:lnTo>
                    <a:lnTo>
                      <a:pt x="113" y="4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0"/>
                    </a:lnTo>
                    <a:lnTo>
                      <a:pt x="67" y="25"/>
                    </a:lnTo>
                    <a:lnTo>
                      <a:pt x="61" y="29"/>
                    </a:lnTo>
                    <a:lnTo>
                      <a:pt x="55" y="34"/>
                    </a:lnTo>
                    <a:lnTo>
                      <a:pt x="49" y="38"/>
                    </a:lnTo>
                    <a:lnTo>
                      <a:pt x="44" y="43"/>
                    </a:lnTo>
                    <a:lnTo>
                      <a:pt x="39" y="47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0"/>
                    </a:lnTo>
                    <a:lnTo>
                      <a:pt x="10" y="96"/>
                    </a:lnTo>
                    <a:lnTo>
                      <a:pt x="7" y="103"/>
                    </a:lnTo>
                    <a:lnTo>
                      <a:pt x="6" y="111"/>
                    </a:lnTo>
                    <a:lnTo>
                      <a:pt x="4" y="118"/>
                    </a:lnTo>
                    <a:lnTo>
                      <a:pt x="3" y="124"/>
                    </a:lnTo>
                    <a:lnTo>
                      <a:pt x="2" y="132"/>
                    </a:lnTo>
                    <a:lnTo>
                      <a:pt x="2" y="140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5"/>
                    </a:lnTo>
                    <a:lnTo>
                      <a:pt x="2" y="163"/>
                    </a:lnTo>
                    <a:lnTo>
                      <a:pt x="3" y="170"/>
                    </a:lnTo>
                    <a:lnTo>
                      <a:pt x="4" y="177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8"/>
                    </a:lnTo>
                    <a:lnTo>
                      <a:pt x="12" y="206"/>
                    </a:lnTo>
                    <a:lnTo>
                      <a:pt x="15" y="211"/>
                    </a:lnTo>
                    <a:lnTo>
                      <a:pt x="19" y="217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1"/>
                    </a:lnTo>
                    <a:lnTo>
                      <a:pt x="39" y="247"/>
                    </a:lnTo>
                    <a:lnTo>
                      <a:pt x="44" y="251"/>
                    </a:lnTo>
                    <a:lnTo>
                      <a:pt x="49" y="257"/>
                    </a:lnTo>
                    <a:lnTo>
                      <a:pt x="55" y="262"/>
                    </a:lnTo>
                    <a:lnTo>
                      <a:pt x="61" y="266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8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8"/>
                    </a:lnTo>
                    <a:lnTo>
                      <a:pt x="113" y="291"/>
                    </a:lnTo>
                    <a:lnTo>
                      <a:pt x="119" y="293"/>
                    </a:lnTo>
                    <a:lnTo>
                      <a:pt x="126" y="294"/>
                    </a:lnTo>
                    <a:lnTo>
                      <a:pt x="133" y="294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4"/>
                    </a:lnTo>
                    <a:lnTo>
                      <a:pt x="172" y="294"/>
                    </a:lnTo>
                    <a:lnTo>
                      <a:pt x="179" y="293"/>
                    </a:lnTo>
                    <a:lnTo>
                      <a:pt x="185" y="291"/>
                    </a:lnTo>
                    <a:lnTo>
                      <a:pt x="193" y="288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8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6"/>
                    </a:lnTo>
                    <a:lnTo>
                      <a:pt x="243" y="262"/>
                    </a:lnTo>
                    <a:lnTo>
                      <a:pt x="249" y="257"/>
                    </a:lnTo>
                    <a:lnTo>
                      <a:pt x="253" y="251"/>
                    </a:lnTo>
                    <a:lnTo>
                      <a:pt x="259" y="247"/>
                    </a:lnTo>
                    <a:lnTo>
                      <a:pt x="264" y="241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7"/>
                    </a:lnTo>
                    <a:lnTo>
                      <a:pt x="283" y="211"/>
                    </a:lnTo>
                    <a:lnTo>
                      <a:pt x="286" y="206"/>
                    </a:lnTo>
                    <a:lnTo>
                      <a:pt x="287" y="198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7"/>
                    </a:lnTo>
                    <a:lnTo>
                      <a:pt x="295" y="170"/>
                    </a:lnTo>
                    <a:lnTo>
                      <a:pt x="296" y="163"/>
                    </a:lnTo>
                    <a:lnTo>
                      <a:pt x="296" y="155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0"/>
                    </a:lnTo>
                    <a:lnTo>
                      <a:pt x="296" y="132"/>
                    </a:lnTo>
                    <a:lnTo>
                      <a:pt x="295" y="124"/>
                    </a:lnTo>
                    <a:lnTo>
                      <a:pt x="293" y="118"/>
                    </a:lnTo>
                    <a:lnTo>
                      <a:pt x="292" y="111"/>
                    </a:lnTo>
                    <a:lnTo>
                      <a:pt x="290" y="103"/>
                    </a:lnTo>
                    <a:lnTo>
                      <a:pt x="287" y="96"/>
                    </a:lnTo>
                    <a:lnTo>
                      <a:pt x="286" y="90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7"/>
                    </a:lnTo>
                    <a:lnTo>
                      <a:pt x="253" y="43"/>
                    </a:lnTo>
                    <a:lnTo>
                      <a:pt x="249" y="38"/>
                    </a:lnTo>
                    <a:lnTo>
                      <a:pt x="243" y="34"/>
                    </a:lnTo>
                    <a:lnTo>
                      <a:pt x="237" y="29"/>
                    </a:lnTo>
                    <a:lnTo>
                      <a:pt x="231" y="25"/>
                    </a:lnTo>
                    <a:lnTo>
                      <a:pt x="225" y="20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4"/>
                    </a:lnTo>
                    <a:lnTo>
                      <a:pt x="179" y="3"/>
                    </a:lnTo>
                    <a:lnTo>
                      <a:pt x="172" y="1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5" name="Freeform 208"/>
              <p:cNvSpPr>
                <a:spLocks/>
              </p:cNvSpPr>
              <p:nvPr/>
            </p:nvSpPr>
            <p:spPr bwMode="auto">
              <a:xfrm>
                <a:off x="2396" y="2402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5 h 302"/>
                  <a:gd name="T4" fmla="*/ 93 w 303"/>
                  <a:gd name="T5" fmla="*/ 12 h 302"/>
                  <a:gd name="T6" fmla="*/ 74 w 303"/>
                  <a:gd name="T7" fmla="*/ 21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7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30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7 h 302"/>
                  <a:gd name="T38" fmla="*/ 106 w 303"/>
                  <a:gd name="T39" fmla="*/ 295 h 302"/>
                  <a:gd name="T40" fmla="*/ 129 w 303"/>
                  <a:gd name="T41" fmla="*/ 301 h 302"/>
                  <a:gd name="T42" fmla="*/ 152 w 303"/>
                  <a:gd name="T43" fmla="*/ 302 h 302"/>
                  <a:gd name="T44" fmla="*/ 167 w 303"/>
                  <a:gd name="T45" fmla="*/ 301 h 302"/>
                  <a:gd name="T46" fmla="*/ 189 w 303"/>
                  <a:gd name="T47" fmla="*/ 298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5 h 302"/>
                  <a:gd name="T68" fmla="*/ 299 w 303"/>
                  <a:gd name="T69" fmla="*/ 113 h 302"/>
                  <a:gd name="T70" fmla="*/ 291 w 303"/>
                  <a:gd name="T71" fmla="*/ 92 h 302"/>
                  <a:gd name="T72" fmla="*/ 281 w 303"/>
                  <a:gd name="T73" fmla="*/ 73 h 302"/>
                  <a:gd name="T74" fmla="*/ 268 w 303"/>
                  <a:gd name="T75" fmla="*/ 55 h 302"/>
                  <a:gd name="T76" fmla="*/ 253 w 303"/>
                  <a:gd name="T77" fmla="*/ 39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2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2"/>
                    </a:lnTo>
                    <a:lnTo>
                      <a:pt x="121" y="3"/>
                    </a:lnTo>
                    <a:lnTo>
                      <a:pt x="114" y="5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1"/>
                    </a:lnTo>
                    <a:lnTo>
                      <a:pt x="66" y="25"/>
                    </a:lnTo>
                    <a:lnTo>
                      <a:pt x="60" y="30"/>
                    </a:lnTo>
                    <a:lnTo>
                      <a:pt x="56" y="34"/>
                    </a:lnTo>
                    <a:lnTo>
                      <a:pt x="50" y="39"/>
                    </a:lnTo>
                    <a:lnTo>
                      <a:pt x="44" y="44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1"/>
                    </a:lnTo>
                    <a:lnTo>
                      <a:pt x="26" y="67"/>
                    </a:lnTo>
                    <a:lnTo>
                      <a:pt x="22" y="73"/>
                    </a:lnTo>
                    <a:lnTo>
                      <a:pt x="19" y="79"/>
                    </a:lnTo>
                    <a:lnTo>
                      <a:pt x="15" y="84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3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5"/>
                    </a:lnTo>
                    <a:lnTo>
                      <a:pt x="1" y="144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6"/>
                    </a:lnTo>
                    <a:lnTo>
                      <a:pt x="3" y="173"/>
                    </a:lnTo>
                    <a:lnTo>
                      <a:pt x="3" y="181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3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4"/>
                    </a:lnTo>
                    <a:lnTo>
                      <a:pt x="22" y="230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8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5"/>
                    </a:lnTo>
                    <a:lnTo>
                      <a:pt x="114" y="298"/>
                    </a:lnTo>
                    <a:lnTo>
                      <a:pt x="121" y="299"/>
                    </a:lnTo>
                    <a:lnTo>
                      <a:pt x="129" y="301"/>
                    </a:lnTo>
                    <a:lnTo>
                      <a:pt x="136" y="301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1"/>
                    </a:lnTo>
                    <a:lnTo>
                      <a:pt x="174" y="301"/>
                    </a:lnTo>
                    <a:lnTo>
                      <a:pt x="182" y="299"/>
                    </a:lnTo>
                    <a:lnTo>
                      <a:pt x="189" y="298"/>
                    </a:lnTo>
                    <a:lnTo>
                      <a:pt x="197" y="295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8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30"/>
                    </a:lnTo>
                    <a:lnTo>
                      <a:pt x="284" y="224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3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1"/>
                    </a:lnTo>
                    <a:lnTo>
                      <a:pt x="302" y="173"/>
                    </a:lnTo>
                    <a:lnTo>
                      <a:pt x="302" y="166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4"/>
                    </a:lnTo>
                    <a:lnTo>
                      <a:pt x="302" y="135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3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4"/>
                    </a:lnTo>
                    <a:lnTo>
                      <a:pt x="284" y="79"/>
                    </a:lnTo>
                    <a:lnTo>
                      <a:pt x="281" y="73"/>
                    </a:lnTo>
                    <a:lnTo>
                      <a:pt x="277" y="67"/>
                    </a:lnTo>
                    <a:lnTo>
                      <a:pt x="272" y="61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4"/>
                    </a:lnTo>
                    <a:lnTo>
                      <a:pt x="253" y="39"/>
                    </a:lnTo>
                    <a:lnTo>
                      <a:pt x="249" y="34"/>
                    </a:lnTo>
                    <a:lnTo>
                      <a:pt x="243" y="30"/>
                    </a:lnTo>
                    <a:lnTo>
                      <a:pt x="237" y="25"/>
                    </a:lnTo>
                    <a:lnTo>
                      <a:pt x="231" y="21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5"/>
                    </a:lnTo>
                    <a:lnTo>
                      <a:pt x="182" y="3"/>
                    </a:lnTo>
                    <a:lnTo>
                      <a:pt x="174" y="2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6" name="Rectangle 209"/>
              <p:cNvSpPr>
                <a:spLocks noChangeArrowheads="1"/>
              </p:cNvSpPr>
              <p:nvPr/>
            </p:nvSpPr>
            <p:spPr bwMode="auto">
              <a:xfrm>
                <a:off x="2381" y="2397"/>
                <a:ext cx="69" cy="1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7" name="Freeform 210"/>
              <p:cNvSpPr>
                <a:spLocks/>
              </p:cNvSpPr>
              <p:nvPr/>
            </p:nvSpPr>
            <p:spPr bwMode="auto">
              <a:xfrm>
                <a:off x="2381" y="2397"/>
                <a:ext cx="69" cy="109"/>
              </a:xfrm>
              <a:custGeom>
                <a:avLst/>
                <a:gdLst>
                  <a:gd name="T0" fmla="*/ 207 w 207"/>
                  <a:gd name="T1" fmla="*/ 325 h 325"/>
                  <a:gd name="T2" fmla="*/ 0 w 207"/>
                  <a:gd name="T3" fmla="*/ 325 h 325"/>
                  <a:gd name="T4" fmla="*/ 0 w 207"/>
                  <a:gd name="T5" fmla="*/ 0 h 325"/>
                  <a:gd name="T6" fmla="*/ 207 w 207"/>
                  <a:gd name="T7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325">
                    <a:moveTo>
                      <a:pt x="207" y="325"/>
                    </a:moveTo>
                    <a:lnTo>
                      <a:pt x="0" y="325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8" name="Freeform 211"/>
              <p:cNvSpPr>
                <a:spLocks/>
              </p:cNvSpPr>
              <p:nvPr/>
            </p:nvSpPr>
            <p:spPr bwMode="auto">
              <a:xfrm>
                <a:off x="2500" y="2160"/>
                <a:ext cx="187" cy="50"/>
              </a:xfrm>
              <a:custGeom>
                <a:avLst/>
                <a:gdLst>
                  <a:gd name="T0" fmla="*/ 0 w 563"/>
                  <a:gd name="T1" fmla="*/ 0 h 148"/>
                  <a:gd name="T2" fmla="*/ 148 w 563"/>
                  <a:gd name="T3" fmla="*/ 0 h 148"/>
                  <a:gd name="T4" fmla="*/ 148 w 563"/>
                  <a:gd name="T5" fmla="*/ 148 h 148"/>
                  <a:gd name="T6" fmla="*/ 563 w 563"/>
                  <a:gd name="T7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3" h="148">
                    <a:moveTo>
                      <a:pt x="0" y="0"/>
                    </a:moveTo>
                    <a:lnTo>
                      <a:pt x="148" y="0"/>
                    </a:lnTo>
                    <a:lnTo>
                      <a:pt x="148" y="148"/>
                    </a:lnTo>
                    <a:lnTo>
                      <a:pt x="563" y="148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89" name="Freeform 212"/>
              <p:cNvSpPr>
                <a:spLocks/>
              </p:cNvSpPr>
              <p:nvPr/>
            </p:nvSpPr>
            <p:spPr bwMode="auto">
              <a:xfrm>
                <a:off x="2500" y="2249"/>
                <a:ext cx="187" cy="59"/>
              </a:xfrm>
              <a:custGeom>
                <a:avLst/>
                <a:gdLst>
                  <a:gd name="T0" fmla="*/ 0 w 563"/>
                  <a:gd name="T1" fmla="*/ 177 h 177"/>
                  <a:gd name="T2" fmla="*/ 148 w 563"/>
                  <a:gd name="T3" fmla="*/ 177 h 177"/>
                  <a:gd name="T4" fmla="*/ 148 w 563"/>
                  <a:gd name="T5" fmla="*/ 0 h 177"/>
                  <a:gd name="T6" fmla="*/ 563 w 563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3" h="177">
                    <a:moveTo>
                      <a:pt x="0" y="177"/>
                    </a:moveTo>
                    <a:lnTo>
                      <a:pt x="148" y="177"/>
                    </a:lnTo>
                    <a:lnTo>
                      <a:pt x="148" y="0"/>
                    </a:lnTo>
                    <a:lnTo>
                      <a:pt x="56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0" name="Freeform 213"/>
              <p:cNvSpPr>
                <a:spLocks/>
              </p:cNvSpPr>
              <p:nvPr/>
            </p:nvSpPr>
            <p:spPr bwMode="auto">
              <a:xfrm>
                <a:off x="2500" y="2012"/>
                <a:ext cx="177" cy="168"/>
              </a:xfrm>
              <a:custGeom>
                <a:avLst/>
                <a:gdLst>
                  <a:gd name="T0" fmla="*/ 0 w 533"/>
                  <a:gd name="T1" fmla="*/ 0 h 503"/>
                  <a:gd name="T2" fmla="*/ 296 w 533"/>
                  <a:gd name="T3" fmla="*/ 0 h 503"/>
                  <a:gd name="T4" fmla="*/ 296 w 533"/>
                  <a:gd name="T5" fmla="*/ 503 h 503"/>
                  <a:gd name="T6" fmla="*/ 533 w 533"/>
                  <a:gd name="T7" fmla="*/ 503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3" h="503">
                    <a:moveTo>
                      <a:pt x="0" y="0"/>
                    </a:moveTo>
                    <a:lnTo>
                      <a:pt x="296" y="0"/>
                    </a:lnTo>
                    <a:lnTo>
                      <a:pt x="296" y="503"/>
                    </a:lnTo>
                    <a:lnTo>
                      <a:pt x="533" y="503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1" name="Freeform 214"/>
              <p:cNvSpPr>
                <a:spLocks/>
              </p:cNvSpPr>
              <p:nvPr/>
            </p:nvSpPr>
            <p:spPr bwMode="auto">
              <a:xfrm>
                <a:off x="2500" y="2279"/>
                <a:ext cx="177" cy="168"/>
              </a:xfrm>
              <a:custGeom>
                <a:avLst/>
                <a:gdLst>
                  <a:gd name="T0" fmla="*/ 0 w 533"/>
                  <a:gd name="T1" fmla="*/ 504 h 504"/>
                  <a:gd name="T2" fmla="*/ 296 w 533"/>
                  <a:gd name="T3" fmla="*/ 504 h 504"/>
                  <a:gd name="T4" fmla="*/ 296 w 533"/>
                  <a:gd name="T5" fmla="*/ 0 h 504"/>
                  <a:gd name="T6" fmla="*/ 533 w 533"/>
                  <a:gd name="T7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3" h="504">
                    <a:moveTo>
                      <a:pt x="0" y="504"/>
                    </a:moveTo>
                    <a:lnTo>
                      <a:pt x="296" y="504"/>
                    </a:lnTo>
                    <a:lnTo>
                      <a:pt x="296" y="0"/>
                    </a:lnTo>
                    <a:lnTo>
                      <a:pt x="53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2" name="Freeform 215"/>
              <p:cNvSpPr>
                <a:spLocks/>
              </p:cNvSpPr>
              <p:nvPr/>
            </p:nvSpPr>
            <p:spPr bwMode="auto">
              <a:xfrm>
                <a:off x="1690" y="1687"/>
                <a:ext cx="99" cy="108"/>
              </a:xfrm>
              <a:custGeom>
                <a:avLst/>
                <a:gdLst>
                  <a:gd name="T0" fmla="*/ 148 w 296"/>
                  <a:gd name="T1" fmla="*/ 326 h 326"/>
                  <a:gd name="T2" fmla="*/ 0 w 296"/>
                  <a:gd name="T3" fmla="*/ 0 h 326"/>
                  <a:gd name="T4" fmla="*/ 296 w 296"/>
                  <a:gd name="T5" fmla="*/ 0 h 326"/>
                  <a:gd name="T6" fmla="*/ 148 w 296"/>
                  <a:gd name="T7" fmla="*/ 32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6" h="326">
                    <a:moveTo>
                      <a:pt x="148" y="326"/>
                    </a:moveTo>
                    <a:lnTo>
                      <a:pt x="0" y="0"/>
                    </a:lnTo>
                    <a:lnTo>
                      <a:pt x="296" y="0"/>
                    </a:lnTo>
                    <a:lnTo>
                      <a:pt x="148" y="326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3" name="Freeform 216"/>
              <p:cNvSpPr>
                <a:spLocks/>
              </p:cNvSpPr>
              <p:nvPr/>
            </p:nvSpPr>
            <p:spPr bwMode="auto">
              <a:xfrm>
                <a:off x="1720" y="1795"/>
                <a:ext cx="39" cy="40"/>
              </a:xfrm>
              <a:custGeom>
                <a:avLst/>
                <a:gdLst>
                  <a:gd name="T0" fmla="*/ 118 w 118"/>
                  <a:gd name="T1" fmla="*/ 56 h 118"/>
                  <a:gd name="T2" fmla="*/ 118 w 118"/>
                  <a:gd name="T3" fmla="*/ 47 h 118"/>
                  <a:gd name="T4" fmla="*/ 115 w 118"/>
                  <a:gd name="T5" fmla="*/ 38 h 118"/>
                  <a:gd name="T6" fmla="*/ 112 w 118"/>
                  <a:gd name="T7" fmla="*/ 31 h 118"/>
                  <a:gd name="T8" fmla="*/ 108 w 118"/>
                  <a:gd name="T9" fmla="*/ 23 h 118"/>
                  <a:gd name="T10" fmla="*/ 102 w 118"/>
                  <a:gd name="T11" fmla="*/ 16 h 118"/>
                  <a:gd name="T12" fmla="*/ 94 w 118"/>
                  <a:gd name="T13" fmla="*/ 11 h 118"/>
                  <a:gd name="T14" fmla="*/ 88 w 118"/>
                  <a:gd name="T15" fmla="*/ 7 h 118"/>
                  <a:gd name="T16" fmla="*/ 79 w 118"/>
                  <a:gd name="T17" fmla="*/ 2 h 118"/>
                  <a:gd name="T18" fmla="*/ 72 w 118"/>
                  <a:gd name="T19" fmla="*/ 1 h 118"/>
                  <a:gd name="T20" fmla="*/ 63 w 118"/>
                  <a:gd name="T21" fmla="*/ 0 h 118"/>
                  <a:gd name="T22" fmla="*/ 56 w 118"/>
                  <a:gd name="T23" fmla="*/ 0 h 118"/>
                  <a:gd name="T24" fmla="*/ 47 w 118"/>
                  <a:gd name="T25" fmla="*/ 1 h 118"/>
                  <a:gd name="T26" fmla="*/ 39 w 118"/>
                  <a:gd name="T27" fmla="*/ 2 h 118"/>
                  <a:gd name="T28" fmla="*/ 31 w 118"/>
                  <a:gd name="T29" fmla="*/ 7 h 118"/>
                  <a:gd name="T30" fmla="*/ 25 w 118"/>
                  <a:gd name="T31" fmla="*/ 11 h 118"/>
                  <a:gd name="T32" fmla="*/ 17 w 118"/>
                  <a:gd name="T33" fmla="*/ 16 h 118"/>
                  <a:gd name="T34" fmla="*/ 11 w 118"/>
                  <a:gd name="T35" fmla="*/ 23 h 118"/>
                  <a:gd name="T36" fmla="*/ 7 w 118"/>
                  <a:gd name="T37" fmla="*/ 31 h 118"/>
                  <a:gd name="T38" fmla="*/ 4 w 118"/>
                  <a:gd name="T39" fmla="*/ 38 h 118"/>
                  <a:gd name="T40" fmla="*/ 1 w 118"/>
                  <a:gd name="T41" fmla="*/ 47 h 118"/>
                  <a:gd name="T42" fmla="*/ 1 w 118"/>
                  <a:gd name="T43" fmla="*/ 56 h 118"/>
                  <a:gd name="T44" fmla="*/ 1 w 118"/>
                  <a:gd name="T45" fmla="*/ 62 h 118"/>
                  <a:gd name="T46" fmla="*/ 1 w 118"/>
                  <a:gd name="T47" fmla="*/ 71 h 118"/>
                  <a:gd name="T48" fmla="*/ 4 w 118"/>
                  <a:gd name="T49" fmla="*/ 78 h 118"/>
                  <a:gd name="T50" fmla="*/ 7 w 118"/>
                  <a:gd name="T51" fmla="*/ 87 h 118"/>
                  <a:gd name="T52" fmla="*/ 11 w 118"/>
                  <a:gd name="T53" fmla="*/ 94 h 118"/>
                  <a:gd name="T54" fmla="*/ 17 w 118"/>
                  <a:gd name="T55" fmla="*/ 100 h 118"/>
                  <a:gd name="T56" fmla="*/ 25 w 118"/>
                  <a:gd name="T57" fmla="*/ 106 h 118"/>
                  <a:gd name="T58" fmla="*/ 31 w 118"/>
                  <a:gd name="T59" fmla="*/ 111 h 118"/>
                  <a:gd name="T60" fmla="*/ 39 w 118"/>
                  <a:gd name="T61" fmla="*/ 114 h 118"/>
                  <a:gd name="T62" fmla="*/ 47 w 118"/>
                  <a:gd name="T63" fmla="*/ 116 h 118"/>
                  <a:gd name="T64" fmla="*/ 56 w 118"/>
                  <a:gd name="T65" fmla="*/ 118 h 118"/>
                  <a:gd name="T66" fmla="*/ 63 w 118"/>
                  <a:gd name="T67" fmla="*/ 118 h 118"/>
                  <a:gd name="T68" fmla="*/ 72 w 118"/>
                  <a:gd name="T69" fmla="*/ 116 h 118"/>
                  <a:gd name="T70" fmla="*/ 79 w 118"/>
                  <a:gd name="T71" fmla="*/ 114 h 118"/>
                  <a:gd name="T72" fmla="*/ 88 w 118"/>
                  <a:gd name="T73" fmla="*/ 111 h 118"/>
                  <a:gd name="T74" fmla="*/ 94 w 118"/>
                  <a:gd name="T75" fmla="*/ 106 h 118"/>
                  <a:gd name="T76" fmla="*/ 102 w 118"/>
                  <a:gd name="T77" fmla="*/ 100 h 118"/>
                  <a:gd name="T78" fmla="*/ 108 w 118"/>
                  <a:gd name="T79" fmla="*/ 94 h 118"/>
                  <a:gd name="T80" fmla="*/ 112 w 118"/>
                  <a:gd name="T81" fmla="*/ 87 h 118"/>
                  <a:gd name="T82" fmla="*/ 115 w 118"/>
                  <a:gd name="T83" fmla="*/ 78 h 118"/>
                  <a:gd name="T84" fmla="*/ 118 w 118"/>
                  <a:gd name="T85" fmla="*/ 71 h 118"/>
                  <a:gd name="T86" fmla="*/ 118 w 118"/>
                  <a:gd name="T87" fmla="*/ 62 h 118"/>
                  <a:gd name="T88" fmla="*/ 59 w 118"/>
                  <a:gd name="T89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8" h="118">
                    <a:moveTo>
                      <a:pt x="59" y="59"/>
                    </a:moveTo>
                    <a:lnTo>
                      <a:pt x="118" y="59"/>
                    </a:lnTo>
                    <a:lnTo>
                      <a:pt x="118" y="56"/>
                    </a:lnTo>
                    <a:lnTo>
                      <a:pt x="118" y="53"/>
                    </a:lnTo>
                    <a:lnTo>
                      <a:pt x="118" y="50"/>
                    </a:lnTo>
                    <a:lnTo>
                      <a:pt x="118" y="47"/>
                    </a:lnTo>
                    <a:lnTo>
                      <a:pt x="116" y="44"/>
                    </a:lnTo>
                    <a:lnTo>
                      <a:pt x="116" y="41"/>
                    </a:lnTo>
                    <a:lnTo>
                      <a:pt x="115" y="38"/>
                    </a:lnTo>
                    <a:lnTo>
                      <a:pt x="114" y="35"/>
                    </a:lnTo>
                    <a:lnTo>
                      <a:pt x="114" y="32"/>
                    </a:lnTo>
                    <a:lnTo>
                      <a:pt x="112" y="31"/>
                    </a:lnTo>
                    <a:lnTo>
                      <a:pt x="111" y="28"/>
                    </a:lnTo>
                    <a:lnTo>
                      <a:pt x="109" y="25"/>
                    </a:lnTo>
                    <a:lnTo>
                      <a:pt x="108" y="23"/>
                    </a:lnTo>
                    <a:lnTo>
                      <a:pt x="105" y="20"/>
                    </a:lnTo>
                    <a:lnTo>
                      <a:pt x="103" y="19"/>
                    </a:lnTo>
                    <a:lnTo>
                      <a:pt x="102" y="16"/>
                    </a:lnTo>
                    <a:lnTo>
                      <a:pt x="99" y="14"/>
                    </a:lnTo>
                    <a:lnTo>
                      <a:pt x="97" y="13"/>
                    </a:lnTo>
                    <a:lnTo>
                      <a:pt x="94" y="11"/>
                    </a:lnTo>
                    <a:lnTo>
                      <a:pt x="93" y="10"/>
                    </a:lnTo>
                    <a:lnTo>
                      <a:pt x="90" y="7"/>
                    </a:lnTo>
                    <a:lnTo>
                      <a:pt x="88" y="7"/>
                    </a:lnTo>
                    <a:lnTo>
                      <a:pt x="85" y="5"/>
                    </a:lnTo>
                    <a:lnTo>
                      <a:pt x="82" y="4"/>
                    </a:lnTo>
                    <a:lnTo>
                      <a:pt x="79" y="2"/>
                    </a:lnTo>
                    <a:lnTo>
                      <a:pt x="77" y="1"/>
                    </a:lnTo>
                    <a:lnTo>
                      <a:pt x="74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6" y="0"/>
                    </a:lnTo>
                    <a:lnTo>
                      <a:pt x="63" y="0"/>
                    </a:lnTo>
                    <a:lnTo>
                      <a:pt x="59" y="0"/>
                    </a:lnTo>
                    <a:lnTo>
                      <a:pt x="59" y="0"/>
                    </a:lnTo>
                    <a:lnTo>
                      <a:pt x="56" y="0"/>
                    </a:lnTo>
                    <a:lnTo>
                      <a:pt x="53" y="0"/>
                    </a:lnTo>
                    <a:lnTo>
                      <a:pt x="50" y="0"/>
                    </a:lnTo>
                    <a:lnTo>
                      <a:pt x="47" y="1"/>
                    </a:lnTo>
                    <a:lnTo>
                      <a:pt x="45" y="1"/>
                    </a:lnTo>
                    <a:lnTo>
                      <a:pt x="42" y="1"/>
                    </a:lnTo>
                    <a:lnTo>
                      <a:pt x="39" y="2"/>
                    </a:lnTo>
                    <a:lnTo>
                      <a:pt x="37" y="4"/>
                    </a:lnTo>
                    <a:lnTo>
                      <a:pt x="34" y="5"/>
                    </a:lnTo>
                    <a:lnTo>
                      <a:pt x="31" y="7"/>
                    </a:lnTo>
                    <a:lnTo>
                      <a:pt x="29" y="7"/>
                    </a:lnTo>
                    <a:lnTo>
                      <a:pt x="26" y="10"/>
                    </a:lnTo>
                    <a:lnTo>
                      <a:pt x="25" y="11"/>
                    </a:lnTo>
                    <a:lnTo>
                      <a:pt x="22" y="13"/>
                    </a:lnTo>
                    <a:lnTo>
                      <a:pt x="20" y="14"/>
                    </a:lnTo>
                    <a:lnTo>
                      <a:pt x="17" y="16"/>
                    </a:lnTo>
                    <a:lnTo>
                      <a:pt x="16" y="19"/>
                    </a:lnTo>
                    <a:lnTo>
                      <a:pt x="14" y="20"/>
                    </a:lnTo>
                    <a:lnTo>
                      <a:pt x="11" y="23"/>
                    </a:lnTo>
                    <a:lnTo>
                      <a:pt x="10" y="25"/>
                    </a:lnTo>
                    <a:lnTo>
                      <a:pt x="8" y="28"/>
                    </a:lnTo>
                    <a:lnTo>
                      <a:pt x="7" y="31"/>
                    </a:lnTo>
                    <a:lnTo>
                      <a:pt x="5" y="32"/>
                    </a:lnTo>
                    <a:lnTo>
                      <a:pt x="5" y="35"/>
                    </a:lnTo>
                    <a:lnTo>
                      <a:pt x="4" y="38"/>
                    </a:lnTo>
                    <a:lnTo>
                      <a:pt x="2" y="41"/>
                    </a:lnTo>
                    <a:lnTo>
                      <a:pt x="2" y="44"/>
                    </a:lnTo>
                    <a:lnTo>
                      <a:pt x="1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1" y="56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1" y="62"/>
                    </a:lnTo>
                    <a:lnTo>
                      <a:pt x="1" y="65"/>
                    </a:lnTo>
                    <a:lnTo>
                      <a:pt x="1" y="68"/>
                    </a:lnTo>
                    <a:lnTo>
                      <a:pt x="1" y="71"/>
                    </a:lnTo>
                    <a:lnTo>
                      <a:pt x="2" y="74"/>
                    </a:lnTo>
                    <a:lnTo>
                      <a:pt x="2" y="76"/>
                    </a:lnTo>
                    <a:lnTo>
                      <a:pt x="4" y="78"/>
                    </a:lnTo>
                    <a:lnTo>
                      <a:pt x="5" y="81"/>
                    </a:lnTo>
                    <a:lnTo>
                      <a:pt x="5" y="84"/>
                    </a:lnTo>
                    <a:lnTo>
                      <a:pt x="7" y="87"/>
                    </a:lnTo>
                    <a:lnTo>
                      <a:pt x="8" y="88"/>
                    </a:lnTo>
                    <a:lnTo>
                      <a:pt x="10" y="91"/>
                    </a:lnTo>
                    <a:lnTo>
                      <a:pt x="11" y="94"/>
                    </a:lnTo>
                    <a:lnTo>
                      <a:pt x="14" y="96"/>
                    </a:lnTo>
                    <a:lnTo>
                      <a:pt x="16" y="99"/>
                    </a:lnTo>
                    <a:lnTo>
                      <a:pt x="17" y="100"/>
                    </a:lnTo>
                    <a:lnTo>
                      <a:pt x="20" y="102"/>
                    </a:lnTo>
                    <a:lnTo>
                      <a:pt x="22" y="105"/>
                    </a:lnTo>
                    <a:lnTo>
                      <a:pt x="25" y="106"/>
                    </a:lnTo>
                    <a:lnTo>
                      <a:pt x="26" y="108"/>
                    </a:lnTo>
                    <a:lnTo>
                      <a:pt x="29" y="109"/>
                    </a:lnTo>
                    <a:lnTo>
                      <a:pt x="31" y="111"/>
                    </a:lnTo>
                    <a:lnTo>
                      <a:pt x="34" y="112"/>
                    </a:lnTo>
                    <a:lnTo>
                      <a:pt x="37" y="114"/>
                    </a:lnTo>
                    <a:lnTo>
                      <a:pt x="39" y="114"/>
                    </a:lnTo>
                    <a:lnTo>
                      <a:pt x="42" y="115"/>
                    </a:lnTo>
                    <a:lnTo>
                      <a:pt x="45" y="115"/>
                    </a:lnTo>
                    <a:lnTo>
                      <a:pt x="47" y="116"/>
                    </a:lnTo>
                    <a:lnTo>
                      <a:pt x="50" y="116"/>
                    </a:lnTo>
                    <a:lnTo>
                      <a:pt x="53" y="116"/>
                    </a:lnTo>
                    <a:lnTo>
                      <a:pt x="56" y="118"/>
                    </a:lnTo>
                    <a:lnTo>
                      <a:pt x="59" y="118"/>
                    </a:lnTo>
                    <a:lnTo>
                      <a:pt x="59" y="118"/>
                    </a:lnTo>
                    <a:lnTo>
                      <a:pt x="63" y="118"/>
                    </a:lnTo>
                    <a:lnTo>
                      <a:pt x="66" y="116"/>
                    </a:lnTo>
                    <a:lnTo>
                      <a:pt x="69" y="116"/>
                    </a:lnTo>
                    <a:lnTo>
                      <a:pt x="72" y="116"/>
                    </a:lnTo>
                    <a:lnTo>
                      <a:pt x="74" y="115"/>
                    </a:lnTo>
                    <a:lnTo>
                      <a:pt x="77" y="115"/>
                    </a:lnTo>
                    <a:lnTo>
                      <a:pt x="79" y="114"/>
                    </a:lnTo>
                    <a:lnTo>
                      <a:pt x="82" y="114"/>
                    </a:lnTo>
                    <a:lnTo>
                      <a:pt x="85" y="112"/>
                    </a:lnTo>
                    <a:lnTo>
                      <a:pt x="88" y="111"/>
                    </a:lnTo>
                    <a:lnTo>
                      <a:pt x="90" y="109"/>
                    </a:lnTo>
                    <a:lnTo>
                      <a:pt x="93" y="108"/>
                    </a:lnTo>
                    <a:lnTo>
                      <a:pt x="94" y="106"/>
                    </a:lnTo>
                    <a:lnTo>
                      <a:pt x="97" y="105"/>
                    </a:lnTo>
                    <a:lnTo>
                      <a:pt x="99" y="102"/>
                    </a:lnTo>
                    <a:lnTo>
                      <a:pt x="102" y="100"/>
                    </a:lnTo>
                    <a:lnTo>
                      <a:pt x="103" y="99"/>
                    </a:lnTo>
                    <a:lnTo>
                      <a:pt x="105" y="96"/>
                    </a:lnTo>
                    <a:lnTo>
                      <a:pt x="108" y="94"/>
                    </a:lnTo>
                    <a:lnTo>
                      <a:pt x="109" y="91"/>
                    </a:lnTo>
                    <a:lnTo>
                      <a:pt x="111" y="88"/>
                    </a:lnTo>
                    <a:lnTo>
                      <a:pt x="112" y="87"/>
                    </a:lnTo>
                    <a:lnTo>
                      <a:pt x="114" y="84"/>
                    </a:lnTo>
                    <a:lnTo>
                      <a:pt x="114" y="81"/>
                    </a:lnTo>
                    <a:lnTo>
                      <a:pt x="115" y="78"/>
                    </a:lnTo>
                    <a:lnTo>
                      <a:pt x="116" y="76"/>
                    </a:lnTo>
                    <a:lnTo>
                      <a:pt x="116" y="74"/>
                    </a:lnTo>
                    <a:lnTo>
                      <a:pt x="118" y="71"/>
                    </a:lnTo>
                    <a:lnTo>
                      <a:pt x="118" y="68"/>
                    </a:lnTo>
                    <a:lnTo>
                      <a:pt x="118" y="65"/>
                    </a:lnTo>
                    <a:lnTo>
                      <a:pt x="118" y="62"/>
                    </a:lnTo>
                    <a:lnTo>
                      <a:pt x="118" y="59"/>
                    </a:lnTo>
                    <a:lnTo>
                      <a:pt x="118" y="59"/>
                    </a:lnTo>
                    <a:lnTo>
                      <a:pt x="59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4" name="Freeform 217"/>
              <p:cNvSpPr>
                <a:spLocks/>
              </p:cNvSpPr>
              <p:nvPr/>
            </p:nvSpPr>
            <p:spPr bwMode="auto">
              <a:xfrm>
                <a:off x="1721" y="1806"/>
                <a:ext cx="35" cy="35"/>
              </a:xfrm>
              <a:custGeom>
                <a:avLst/>
                <a:gdLst>
                  <a:gd name="T0" fmla="*/ 105 w 105"/>
                  <a:gd name="T1" fmla="*/ 47 h 105"/>
                  <a:gd name="T2" fmla="*/ 104 w 105"/>
                  <a:gd name="T3" fmla="*/ 40 h 105"/>
                  <a:gd name="T4" fmla="*/ 101 w 105"/>
                  <a:gd name="T5" fmla="*/ 33 h 105"/>
                  <a:gd name="T6" fmla="*/ 98 w 105"/>
                  <a:gd name="T7" fmla="*/ 25 h 105"/>
                  <a:gd name="T8" fmla="*/ 93 w 105"/>
                  <a:gd name="T9" fmla="*/ 19 h 105"/>
                  <a:gd name="T10" fmla="*/ 87 w 105"/>
                  <a:gd name="T11" fmla="*/ 13 h 105"/>
                  <a:gd name="T12" fmla="*/ 81 w 105"/>
                  <a:gd name="T13" fmla="*/ 9 h 105"/>
                  <a:gd name="T14" fmla="*/ 75 w 105"/>
                  <a:gd name="T15" fmla="*/ 5 h 105"/>
                  <a:gd name="T16" fmla="*/ 68 w 105"/>
                  <a:gd name="T17" fmla="*/ 2 h 105"/>
                  <a:gd name="T18" fmla="*/ 61 w 105"/>
                  <a:gd name="T19" fmla="*/ 0 h 105"/>
                  <a:gd name="T20" fmla="*/ 52 w 105"/>
                  <a:gd name="T21" fmla="*/ 0 h 105"/>
                  <a:gd name="T22" fmla="*/ 47 w 105"/>
                  <a:gd name="T23" fmla="*/ 0 h 105"/>
                  <a:gd name="T24" fmla="*/ 38 w 105"/>
                  <a:gd name="T25" fmla="*/ 2 h 105"/>
                  <a:gd name="T26" fmla="*/ 31 w 105"/>
                  <a:gd name="T27" fmla="*/ 5 h 105"/>
                  <a:gd name="T28" fmla="*/ 25 w 105"/>
                  <a:gd name="T29" fmla="*/ 7 h 105"/>
                  <a:gd name="T30" fmla="*/ 19 w 105"/>
                  <a:gd name="T31" fmla="*/ 12 h 105"/>
                  <a:gd name="T32" fmla="*/ 13 w 105"/>
                  <a:gd name="T33" fmla="*/ 18 h 105"/>
                  <a:gd name="T34" fmla="*/ 9 w 105"/>
                  <a:gd name="T35" fmla="*/ 24 h 105"/>
                  <a:gd name="T36" fmla="*/ 4 w 105"/>
                  <a:gd name="T37" fmla="*/ 30 h 105"/>
                  <a:gd name="T38" fmla="*/ 1 w 105"/>
                  <a:gd name="T39" fmla="*/ 37 h 105"/>
                  <a:gd name="T40" fmla="*/ 0 w 105"/>
                  <a:gd name="T41" fmla="*/ 44 h 105"/>
                  <a:gd name="T42" fmla="*/ 0 w 105"/>
                  <a:gd name="T43" fmla="*/ 52 h 105"/>
                  <a:gd name="T44" fmla="*/ 0 w 105"/>
                  <a:gd name="T45" fmla="*/ 58 h 105"/>
                  <a:gd name="T46" fmla="*/ 1 w 105"/>
                  <a:gd name="T47" fmla="*/ 65 h 105"/>
                  <a:gd name="T48" fmla="*/ 3 w 105"/>
                  <a:gd name="T49" fmla="*/ 73 h 105"/>
                  <a:gd name="T50" fmla="*/ 7 w 105"/>
                  <a:gd name="T51" fmla="*/ 80 h 105"/>
                  <a:gd name="T52" fmla="*/ 12 w 105"/>
                  <a:gd name="T53" fmla="*/ 86 h 105"/>
                  <a:gd name="T54" fmla="*/ 16 w 105"/>
                  <a:gd name="T55" fmla="*/ 92 h 105"/>
                  <a:gd name="T56" fmla="*/ 22 w 105"/>
                  <a:gd name="T57" fmla="*/ 96 h 105"/>
                  <a:gd name="T58" fmla="*/ 30 w 105"/>
                  <a:gd name="T59" fmla="*/ 101 h 105"/>
                  <a:gd name="T60" fmla="*/ 37 w 105"/>
                  <a:gd name="T61" fmla="*/ 102 h 105"/>
                  <a:gd name="T62" fmla="*/ 44 w 105"/>
                  <a:gd name="T63" fmla="*/ 105 h 105"/>
                  <a:gd name="T64" fmla="*/ 52 w 105"/>
                  <a:gd name="T65" fmla="*/ 105 h 105"/>
                  <a:gd name="T66" fmla="*/ 58 w 105"/>
                  <a:gd name="T67" fmla="*/ 105 h 105"/>
                  <a:gd name="T68" fmla="*/ 65 w 105"/>
                  <a:gd name="T69" fmla="*/ 104 h 105"/>
                  <a:gd name="T70" fmla="*/ 73 w 105"/>
                  <a:gd name="T71" fmla="*/ 101 h 105"/>
                  <a:gd name="T72" fmla="*/ 80 w 105"/>
                  <a:gd name="T73" fmla="*/ 98 h 105"/>
                  <a:gd name="T74" fmla="*/ 86 w 105"/>
                  <a:gd name="T75" fmla="*/ 93 h 105"/>
                  <a:gd name="T76" fmla="*/ 92 w 105"/>
                  <a:gd name="T77" fmla="*/ 87 h 105"/>
                  <a:gd name="T78" fmla="*/ 96 w 105"/>
                  <a:gd name="T79" fmla="*/ 82 h 105"/>
                  <a:gd name="T80" fmla="*/ 99 w 105"/>
                  <a:gd name="T81" fmla="*/ 76 h 105"/>
                  <a:gd name="T82" fmla="*/ 102 w 105"/>
                  <a:gd name="T83" fmla="*/ 68 h 105"/>
                  <a:gd name="T84" fmla="*/ 104 w 105"/>
                  <a:gd name="T85" fmla="*/ 61 h 105"/>
                  <a:gd name="T86" fmla="*/ 105 w 105"/>
                  <a:gd name="T87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5" h="105">
                    <a:moveTo>
                      <a:pt x="105" y="52"/>
                    </a:moveTo>
                    <a:lnTo>
                      <a:pt x="105" y="50"/>
                    </a:lnTo>
                    <a:lnTo>
                      <a:pt x="105" y="47"/>
                    </a:lnTo>
                    <a:lnTo>
                      <a:pt x="104" y="44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2" y="37"/>
                    </a:lnTo>
                    <a:lnTo>
                      <a:pt x="102" y="34"/>
                    </a:lnTo>
                    <a:lnTo>
                      <a:pt x="101" y="33"/>
                    </a:lnTo>
                    <a:lnTo>
                      <a:pt x="99" y="30"/>
                    </a:lnTo>
                    <a:lnTo>
                      <a:pt x="99" y="28"/>
                    </a:lnTo>
                    <a:lnTo>
                      <a:pt x="98" y="25"/>
                    </a:lnTo>
                    <a:lnTo>
                      <a:pt x="96" y="24"/>
                    </a:lnTo>
                    <a:lnTo>
                      <a:pt x="95" y="21"/>
                    </a:lnTo>
                    <a:lnTo>
                      <a:pt x="93" y="19"/>
                    </a:lnTo>
                    <a:lnTo>
                      <a:pt x="92" y="18"/>
                    </a:lnTo>
                    <a:lnTo>
                      <a:pt x="89" y="15"/>
                    </a:lnTo>
                    <a:lnTo>
                      <a:pt x="87" y="13"/>
                    </a:lnTo>
                    <a:lnTo>
                      <a:pt x="86" y="12"/>
                    </a:lnTo>
                    <a:lnTo>
                      <a:pt x="84" y="10"/>
                    </a:lnTo>
                    <a:lnTo>
                      <a:pt x="81" y="9"/>
                    </a:lnTo>
                    <a:lnTo>
                      <a:pt x="80" y="7"/>
                    </a:lnTo>
                    <a:lnTo>
                      <a:pt x="77" y="6"/>
                    </a:lnTo>
                    <a:lnTo>
                      <a:pt x="75" y="5"/>
                    </a:lnTo>
                    <a:lnTo>
                      <a:pt x="73" y="5"/>
                    </a:lnTo>
                    <a:lnTo>
                      <a:pt x="71" y="3"/>
                    </a:lnTo>
                    <a:lnTo>
                      <a:pt x="68" y="2"/>
                    </a:lnTo>
                    <a:lnTo>
                      <a:pt x="65" y="2"/>
                    </a:lnTo>
                    <a:lnTo>
                      <a:pt x="62" y="2"/>
                    </a:lnTo>
                    <a:lnTo>
                      <a:pt x="61" y="0"/>
                    </a:lnTo>
                    <a:lnTo>
                      <a:pt x="58" y="0"/>
                    </a:lnTo>
                    <a:lnTo>
                      <a:pt x="55" y="0"/>
                    </a:lnTo>
                    <a:lnTo>
                      <a:pt x="52" y="0"/>
                    </a:lnTo>
                    <a:lnTo>
                      <a:pt x="52" y="0"/>
                    </a:lnTo>
                    <a:lnTo>
                      <a:pt x="49" y="0"/>
                    </a:lnTo>
                    <a:lnTo>
                      <a:pt x="47" y="0"/>
                    </a:lnTo>
                    <a:lnTo>
                      <a:pt x="44" y="0"/>
                    </a:lnTo>
                    <a:lnTo>
                      <a:pt x="41" y="2"/>
                    </a:lnTo>
                    <a:lnTo>
                      <a:pt x="38" y="2"/>
                    </a:lnTo>
                    <a:lnTo>
                      <a:pt x="37" y="2"/>
                    </a:lnTo>
                    <a:lnTo>
                      <a:pt x="34" y="3"/>
                    </a:lnTo>
                    <a:lnTo>
                      <a:pt x="31" y="5"/>
                    </a:lnTo>
                    <a:lnTo>
                      <a:pt x="30" y="5"/>
                    </a:lnTo>
                    <a:lnTo>
                      <a:pt x="27" y="6"/>
                    </a:lnTo>
                    <a:lnTo>
                      <a:pt x="25" y="7"/>
                    </a:lnTo>
                    <a:lnTo>
                      <a:pt x="22" y="9"/>
                    </a:lnTo>
                    <a:lnTo>
                      <a:pt x="21" y="10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5" y="15"/>
                    </a:lnTo>
                    <a:lnTo>
                      <a:pt x="13" y="18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9" y="24"/>
                    </a:lnTo>
                    <a:lnTo>
                      <a:pt x="7" y="25"/>
                    </a:lnTo>
                    <a:lnTo>
                      <a:pt x="6" y="28"/>
                    </a:lnTo>
                    <a:lnTo>
                      <a:pt x="4" y="30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1" y="37"/>
                    </a:lnTo>
                    <a:lnTo>
                      <a:pt x="1" y="40"/>
                    </a:lnTo>
                    <a:lnTo>
                      <a:pt x="0" y="42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0" y="58"/>
                    </a:lnTo>
                    <a:lnTo>
                      <a:pt x="0" y="61"/>
                    </a:lnTo>
                    <a:lnTo>
                      <a:pt x="0" y="64"/>
                    </a:lnTo>
                    <a:lnTo>
                      <a:pt x="1" y="65"/>
                    </a:lnTo>
                    <a:lnTo>
                      <a:pt x="1" y="68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4" y="76"/>
                    </a:lnTo>
                    <a:lnTo>
                      <a:pt x="6" y="77"/>
                    </a:lnTo>
                    <a:lnTo>
                      <a:pt x="7" y="80"/>
                    </a:lnTo>
                    <a:lnTo>
                      <a:pt x="9" y="82"/>
                    </a:lnTo>
                    <a:lnTo>
                      <a:pt x="10" y="84"/>
                    </a:lnTo>
                    <a:lnTo>
                      <a:pt x="12" y="86"/>
                    </a:lnTo>
                    <a:lnTo>
                      <a:pt x="13" y="87"/>
                    </a:lnTo>
                    <a:lnTo>
                      <a:pt x="15" y="90"/>
                    </a:lnTo>
                    <a:lnTo>
                      <a:pt x="16" y="92"/>
                    </a:lnTo>
                    <a:lnTo>
                      <a:pt x="19" y="93"/>
                    </a:lnTo>
                    <a:lnTo>
                      <a:pt x="21" y="95"/>
                    </a:lnTo>
                    <a:lnTo>
                      <a:pt x="22" y="96"/>
                    </a:lnTo>
                    <a:lnTo>
                      <a:pt x="25" y="98"/>
                    </a:lnTo>
                    <a:lnTo>
                      <a:pt x="27" y="99"/>
                    </a:lnTo>
                    <a:lnTo>
                      <a:pt x="30" y="101"/>
                    </a:lnTo>
                    <a:lnTo>
                      <a:pt x="31" y="101"/>
                    </a:lnTo>
                    <a:lnTo>
                      <a:pt x="34" y="102"/>
                    </a:lnTo>
                    <a:lnTo>
                      <a:pt x="37" y="102"/>
                    </a:lnTo>
                    <a:lnTo>
                      <a:pt x="38" y="104"/>
                    </a:lnTo>
                    <a:lnTo>
                      <a:pt x="41" y="104"/>
                    </a:lnTo>
                    <a:lnTo>
                      <a:pt x="44" y="105"/>
                    </a:lnTo>
                    <a:lnTo>
                      <a:pt x="47" y="105"/>
                    </a:lnTo>
                    <a:lnTo>
                      <a:pt x="49" y="105"/>
                    </a:lnTo>
                    <a:lnTo>
                      <a:pt x="52" y="105"/>
                    </a:lnTo>
                    <a:lnTo>
                      <a:pt x="52" y="105"/>
                    </a:lnTo>
                    <a:lnTo>
                      <a:pt x="55" y="105"/>
                    </a:lnTo>
                    <a:lnTo>
                      <a:pt x="58" y="105"/>
                    </a:lnTo>
                    <a:lnTo>
                      <a:pt x="61" y="105"/>
                    </a:lnTo>
                    <a:lnTo>
                      <a:pt x="62" y="104"/>
                    </a:lnTo>
                    <a:lnTo>
                      <a:pt x="65" y="104"/>
                    </a:lnTo>
                    <a:lnTo>
                      <a:pt x="68" y="102"/>
                    </a:lnTo>
                    <a:lnTo>
                      <a:pt x="71" y="102"/>
                    </a:lnTo>
                    <a:lnTo>
                      <a:pt x="73" y="101"/>
                    </a:lnTo>
                    <a:lnTo>
                      <a:pt x="75" y="101"/>
                    </a:lnTo>
                    <a:lnTo>
                      <a:pt x="77" y="99"/>
                    </a:lnTo>
                    <a:lnTo>
                      <a:pt x="80" y="98"/>
                    </a:lnTo>
                    <a:lnTo>
                      <a:pt x="81" y="96"/>
                    </a:lnTo>
                    <a:lnTo>
                      <a:pt x="84" y="95"/>
                    </a:lnTo>
                    <a:lnTo>
                      <a:pt x="86" y="93"/>
                    </a:lnTo>
                    <a:lnTo>
                      <a:pt x="87" y="92"/>
                    </a:lnTo>
                    <a:lnTo>
                      <a:pt x="89" y="90"/>
                    </a:lnTo>
                    <a:lnTo>
                      <a:pt x="92" y="87"/>
                    </a:lnTo>
                    <a:lnTo>
                      <a:pt x="93" y="86"/>
                    </a:lnTo>
                    <a:lnTo>
                      <a:pt x="95" y="84"/>
                    </a:lnTo>
                    <a:lnTo>
                      <a:pt x="96" y="82"/>
                    </a:lnTo>
                    <a:lnTo>
                      <a:pt x="98" y="80"/>
                    </a:lnTo>
                    <a:lnTo>
                      <a:pt x="99" y="77"/>
                    </a:lnTo>
                    <a:lnTo>
                      <a:pt x="99" y="76"/>
                    </a:lnTo>
                    <a:lnTo>
                      <a:pt x="101" y="73"/>
                    </a:lnTo>
                    <a:lnTo>
                      <a:pt x="102" y="71"/>
                    </a:lnTo>
                    <a:lnTo>
                      <a:pt x="102" y="68"/>
                    </a:lnTo>
                    <a:lnTo>
                      <a:pt x="104" y="65"/>
                    </a:lnTo>
                    <a:lnTo>
                      <a:pt x="104" y="64"/>
                    </a:lnTo>
                    <a:lnTo>
                      <a:pt x="104" y="61"/>
                    </a:lnTo>
                    <a:lnTo>
                      <a:pt x="105" y="58"/>
                    </a:lnTo>
                    <a:lnTo>
                      <a:pt x="105" y="55"/>
                    </a:lnTo>
                    <a:lnTo>
                      <a:pt x="105" y="5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5" name="Freeform 218"/>
              <p:cNvSpPr>
                <a:spLocks/>
              </p:cNvSpPr>
              <p:nvPr/>
            </p:nvSpPr>
            <p:spPr bwMode="auto">
              <a:xfrm>
                <a:off x="1888" y="1687"/>
                <a:ext cx="108" cy="108"/>
              </a:xfrm>
              <a:custGeom>
                <a:avLst/>
                <a:gdLst>
                  <a:gd name="T0" fmla="*/ 148 w 326"/>
                  <a:gd name="T1" fmla="*/ 326 h 326"/>
                  <a:gd name="T2" fmla="*/ 0 w 326"/>
                  <a:gd name="T3" fmla="*/ 0 h 326"/>
                  <a:gd name="T4" fmla="*/ 326 w 326"/>
                  <a:gd name="T5" fmla="*/ 0 h 326"/>
                  <a:gd name="T6" fmla="*/ 148 w 326"/>
                  <a:gd name="T7" fmla="*/ 32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6" h="326">
                    <a:moveTo>
                      <a:pt x="148" y="326"/>
                    </a:moveTo>
                    <a:lnTo>
                      <a:pt x="0" y="0"/>
                    </a:lnTo>
                    <a:lnTo>
                      <a:pt x="326" y="0"/>
                    </a:lnTo>
                    <a:lnTo>
                      <a:pt x="148" y="326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6" name="Freeform 219"/>
              <p:cNvSpPr>
                <a:spLocks/>
              </p:cNvSpPr>
              <p:nvPr/>
            </p:nvSpPr>
            <p:spPr bwMode="auto">
              <a:xfrm>
                <a:off x="1917" y="1795"/>
                <a:ext cx="40" cy="40"/>
              </a:xfrm>
              <a:custGeom>
                <a:avLst/>
                <a:gdLst>
                  <a:gd name="T0" fmla="*/ 118 w 118"/>
                  <a:gd name="T1" fmla="*/ 56 h 118"/>
                  <a:gd name="T2" fmla="*/ 118 w 118"/>
                  <a:gd name="T3" fmla="*/ 47 h 118"/>
                  <a:gd name="T4" fmla="*/ 115 w 118"/>
                  <a:gd name="T5" fmla="*/ 38 h 118"/>
                  <a:gd name="T6" fmla="*/ 112 w 118"/>
                  <a:gd name="T7" fmla="*/ 31 h 118"/>
                  <a:gd name="T8" fmla="*/ 108 w 118"/>
                  <a:gd name="T9" fmla="*/ 23 h 118"/>
                  <a:gd name="T10" fmla="*/ 102 w 118"/>
                  <a:gd name="T11" fmla="*/ 16 h 118"/>
                  <a:gd name="T12" fmla="*/ 95 w 118"/>
                  <a:gd name="T13" fmla="*/ 11 h 118"/>
                  <a:gd name="T14" fmla="*/ 89 w 118"/>
                  <a:gd name="T15" fmla="*/ 7 h 118"/>
                  <a:gd name="T16" fmla="*/ 80 w 118"/>
                  <a:gd name="T17" fmla="*/ 2 h 118"/>
                  <a:gd name="T18" fmla="*/ 72 w 118"/>
                  <a:gd name="T19" fmla="*/ 1 h 118"/>
                  <a:gd name="T20" fmla="*/ 64 w 118"/>
                  <a:gd name="T21" fmla="*/ 0 h 118"/>
                  <a:gd name="T22" fmla="*/ 56 w 118"/>
                  <a:gd name="T23" fmla="*/ 0 h 118"/>
                  <a:gd name="T24" fmla="*/ 47 w 118"/>
                  <a:gd name="T25" fmla="*/ 1 h 118"/>
                  <a:gd name="T26" fmla="*/ 40 w 118"/>
                  <a:gd name="T27" fmla="*/ 2 h 118"/>
                  <a:gd name="T28" fmla="*/ 31 w 118"/>
                  <a:gd name="T29" fmla="*/ 7 h 118"/>
                  <a:gd name="T30" fmla="*/ 25 w 118"/>
                  <a:gd name="T31" fmla="*/ 11 h 118"/>
                  <a:gd name="T32" fmla="*/ 18 w 118"/>
                  <a:gd name="T33" fmla="*/ 16 h 118"/>
                  <a:gd name="T34" fmla="*/ 12 w 118"/>
                  <a:gd name="T35" fmla="*/ 23 h 118"/>
                  <a:gd name="T36" fmla="*/ 7 w 118"/>
                  <a:gd name="T37" fmla="*/ 31 h 118"/>
                  <a:gd name="T38" fmla="*/ 4 w 118"/>
                  <a:gd name="T39" fmla="*/ 38 h 118"/>
                  <a:gd name="T40" fmla="*/ 1 w 118"/>
                  <a:gd name="T41" fmla="*/ 47 h 118"/>
                  <a:gd name="T42" fmla="*/ 1 w 118"/>
                  <a:gd name="T43" fmla="*/ 56 h 118"/>
                  <a:gd name="T44" fmla="*/ 1 w 118"/>
                  <a:gd name="T45" fmla="*/ 62 h 118"/>
                  <a:gd name="T46" fmla="*/ 1 w 118"/>
                  <a:gd name="T47" fmla="*/ 71 h 118"/>
                  <a:gd name="T48" fmla="*/ 4 w 118"/>
                  <a:gd name="T49" fmla="*/ 78 h 118"/>
                  <a:gd name="T50" fmla="*/ 7 w 118"/>
                  <a:gd name="T51" fmla="*/ 87 h 118"/>
                  <a:gd name="T52" fmla="*/ 12 w 118"/>
                  <a:gd name="T53" fmla="*/ 94 h 118"/>
                  <a:gd name="T54" fmla="*/ 18 w 118"/>
                  <a:gd name="T55" fmla="*/ 100 h 118"/>
                  <a:gd name="T56" fmla="*/ 25 w 118"/>
                  <a:gd name="T57" fmla="*/ 106 h 118"/>
                  <a:gd name="T58" fmla="*/ 31 w 118"/>
                  <a:gd name="T59" fmla="*/ 111 h 118"/>
                  <a:gd name="T60" fmla="*/ 40 w 118"/>
                  <a:gd name="T61" fmla="*/ 114 h 118"/>
                  <a:gd name="T62" fmla="*/ 47 w 118"/>
                  <a:gd name="T63" fmla="*/ 116 h 118"/>
                  <a:gd name="T64" fmla="*/ 56 w 118"/>
                  <a:gd name="T65" fmla="*/ 118 h 118"/>
                  <a:gd name="T66" fmla="*/ 64 w 118"/>
                  <a:gd name="T67" fmla="*/ 118 h 118"/>
                  <a:gd name="T68" fmla="*/ 72 w 118"/>
                  <a:gd name="T69" fmla="*/ 116 h 118"/>
                  <a:gd name="T70" fmla="*/ 80 w 118"/>
                  <a:gd name="T71" fmla="*/ 114 h 118"/>
                  <a:gd name="T72" fmla="*/ 89 w 118"/>
                  <a:gd name="T73" fmla="*/ 111 h 118"/>
                  <a:gd name="T74" fmla="*/ 95 w 118"/>
                  <a:gd name="T75" fmla="*/ 106 h 118"/>
                  <a:gd name="T76" fmla="*/ 102 w 118"/>
                  <a:gd name="T77" fmla="*/ 100 h 118"/>
                  <a:gd name="T78" fmla="*/ 108 w 118"/>
                  <a:gd name="T79" fmla="*/ 94 h 118"/>
                  <a:gd name="T80" fmla="*/ 112 w 118"/>
                  <a:gd name="T81" fmla="*/ 87 h 118"/>
                  <a:gd name="T82" fmla="*/ 115 w 118"/>
                  <a:gd name="T83" fmla="*/ 78 h 118"/>
                  <a:gd name="T84" fmla="*/ 118 w 118"/>
                  <a:gd name="T85" fmla="*/ 71 h 118"/>
                  <a:gd name="T86" fmla="*/ 118 w 118"/>
                  <a:gd name="T87" fmla="*/ 62 h 118"/>
                  <a:gd name="T88" fmla="*/ 59 w 118"/>
                  <a:gd name="T89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8" h="118">
                    <a:moveTo>
                      <a:pt x="59" y="59"/>
                    </a:moveTo>
                    <a:lnTo>
                      <a:pt x="118" y="59"/>
                    </a:lnTo>
                    <a:lnTo>
                      <a:pt x="118" y="56"/>
                    </a:lnTo>
                    <a:lnTo>
                      <a:pt x="118" y="53"/>
                    </a:lnTo>
                    <a:lnTo>
                      <a:pt x="118" y="50"/>
                    </a:lnTo>
                    <a:lnTo>
                      <a:pt x="118" y="47"/>
                    </a:lnTo>
                    <a:lnTo>
                      <a:pt x="117" y="44"/>
                    </a:lnTo>
                    <a:lnTo>
                      <a:pt x="117" y="41"/>
                    </a:lnTo>
                    <a:lnTo>
                      <a:pt x="115" y="38"/>
                    </a:lnTo>
                    <a:lnTo>
                      <a:pt x="114" y="35"/>
                    </a:lnTo>
                    <a:lnTo>
                      <a:pt x="114" y="32"/>
                    </a:lnTo>
                    <a:lnTo>
                      <a:pt x="112" y="31"/>
                    </a:lnTo>
                    <a:lnTo>
                      <a:pt x="111" y="28"/>
                    </a:lnTo>
                    <a:lnTo>
                      <a:pt x="109" y="25"/>
                    </a:lnTo>
                    <a:lnTo>
                      <a:pt x="108" y="23"/>
                    </a:lnTo>
                    <a:lnTo>
                      <a:pt x="105" y="20"/>
                    </a:lnTo>
                    <a:lnTo>
                      <a:pt x="103" y="19"/>
                    </a:lnTo>
                    <a:lnTo>
                      <a:pt x="102" y="16"/>
                    </a:lnTo>
                    <a:lnTo>
                      <a:pt x="99" y="14"/>
                    </a:lnTo>
                    <a:lnTo>
                      <a:pt x="98" y="13"/>
                    </a:lnTo>
                    <a:lnTo>
                      <a:pt x="95" y="11"/>
                    </a:lnTo>
                    <a:lnTo>
                      <a:pt x="93" y="10"/>
                    </a:lnTo>
                    <a:lnTo>
                      <a:pt x="90" y="7"/>
                    </a:lnTo>
                    <a:lnTo>
                      <a:pt x="89" y="7"/>
                    </a:lnTo>
                    <a:lnTo>
                      <a:pt x="86" y="5"/>
                    </a:lnTo>
                    <a:lnTo>
                      <a:pt x="83" y="4"/>
                    </a:lnTo>
                    <a:lnTo>
                      <a:pt x="80" y="2"/>
                    </a:lnTo>
                    <a:lnTo>
                      <a:pt x="77" y="1"/>
                    </a:lnTo>
                    <a:lnTo>
                      <a:pt x="74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6" y="0"/>
                    </a:lnTo>
                    <a:lnTo>
                      <a:pt x="64" y="0"/>
                    </a:lnTo>
                    <a:lnTo>
                      <a:pt x="59" y="0"/>
                    </a:lnTo>
                    <a:lnTo>
                      <a:pt x="59" y="0"/>
                    </a:lnTo>
                    <a:lnTo>
                      <a:pt x="56" y="0"/>
                    </a:lnTo>
                    <a:lnTo>
                      <a:pt x="53" y="0"/>
                    </a:lnTo>
                    <a:lnTo>
                      <a:pt x="50" y="0"/>
                    </a:lnTo>
                    <a:lnTo>
                      <a:pt x="47" y="1"/>
                    </a:lnTo>
                    <a:lnTo>
                      <a:pt x="46" y="1"/>
                    </a:lnTo>
                    <a:lnTo>
                      <a:pt x="43" y="1"/>
                    </a:lnTo>
                    <a:lnTo>
                      <a:pt x="40" y="2"/>
                    </a:lnTo>
                    <a:lnTo>
                      <a:pt x="37" y="4"/>
                    </a:lnTo>
                    <a:lnTo>
                      <a:pt x="34" y="5"/>
                    </a:lnTo>
                    <a:lnTo>
                      <a:pt x="31" y="7"/>
                    </a:lnTo>
                    <a:lnTo>
                      <a:pt x="29" y="7"/>
                    </a:lnTo>
                    <a:lnTo>
                      <a:pt x="26" y="10"/>
                    </a:lnTo>
                    <a:lnTo>
                      <a:pt x="25" y="11"/>
                    </a:lnTo>
                    <a:lnTo>
                      <a:pt x="22" y="13"/>
                    </a:lnTo>
                    <a:lnTo>
                      <a:pt x="21" y="14"/>
                    </a:lnTo>
                    <a:lnTo>
                      <a:pt x="18" y="16"/>
                    </a:lnTo>
                    <a:lnTo>
                      <a:pt x="16" y="19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0" y="25"/>
                    </a:lnTo>
                    <a:lnTo>
                      <a:pt x="9" y="28"/>
                    </a:lnTo>
                    <a:lnTo>
                      <a:pt x="7" y="31"/>
                    </a:lnTo>
                    <a:lnTo>
                      <a:pt x="6" y="32"/>
                    </a:lnTo>
                    <a:lnTo>
                      <a:pt x="6" y="35"/>
                    </a:lnTo>
                    <a:lnTo>
                      <a:pt x="4" y="38"/>
                    </a:lnTo>
                    <a:lnTo>
                      <a:pt x="3" y="41"/>
                    </a:lnTo>
                    <a:lnTo>
                      <a:pt x="3" y="44"/>
                    </a:lnTo>
                    <a:lnTo>
                      <a:pt x="1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1" y="56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1" y="62"/>
                    </a:lnTo>
                    <a:lnTo>
                      <a:pt x="1" y="65"/>
                    </a:lnTo>
                    <a:lnTo>
                      <a:pt x="1" y="68"/>
                    </a:lnTo>
                    <a:lnTo>
                      <a:pt x="1" y="71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4" y="78"/>
                    </a:lnTo>
                    <a:lnTo>
                      <a:pt x="6" y="81"/>
                    </a:lnTo>
                    <a:lnTo>
                      <a:pt x="6" y="84"/>
                    </a:lnTo>
                    <a:lnTo>
                      <a:pt x="7" y="87"/>
                    </a:lnTo>
                    <a:lnTo>
                      <a:pt x="9" y="88"/>
                    </a:lnTo>
                    <a:lnTo>
                      <a:pt x="10" y="91"/>
                    </a:lnTo>
                    <a:lnTo>
                      <a:pt x="12" y="94"/>
                    </a:lnTo>
                    <a:lnTo>
                      <a:pt x="15" y="96"/>
                    </a:lnTo>
                    <a:lnTo>
                      <a:pt x="16" y="99"/>
                    </a:lnTo>
                    <a:lnTo>
                      <a:pt x="18" y="100"/>
                    </a:lnTo>
                    <a:lnTo>
                      <a:pt x="21" y="102"/>
                    </a:lnTo>
                    <a:lnTo>
                      <a:pt x="22" y="105"/>
                    </a:lnTo>
                    <a:lnTo>
                      <a:pt x="25" y="106"/>
                    </a:lnTo>
                    <a:lnTo>
                      <a:pt x="26" y="108"/>
                    </a:lnTo>
                    <a:lnTo>
                      <a:pt x="29" y="109"/>
                    </a:lnTo>
                    <a:lnTo>
                      <a:pt x="31" y="111"/>
                    </a:lnTo>
                    <a:lnTo>
                      <a:pt x="34" y="112"/>
                    </a:lnTo>
                    <a:lnTo>
                      <a:pt x="37" y="114"/>
                    </a:lnTo>
                    <a:lnTo>
                      <a:pt x="40" y="114"/>
                    </a:lnTo>
                    <a:lnTo>
                      <a:pt x="43" y="115"/>
                    </a:lnTo>
                    <a:lnTo>
                      <a:pt x="46" y="115"/>
                    </a:lnTo>
                    <a:lnTo>
                      <a:pt x="47" y="116"/>
                    </a:lnTo>
                    <a:lnTo>
                      <a:pt x="50" y="116"/>
                    </a:lnTo>
                    <a:lnTo>
                      <a:pt x="53" y="116"/>
                    </a:lnTo>
                    <a:lnTo>
                      <a:pt x="56" y="118"/>
                    </a:lnTo>
                    <a:lnTo>
                      <a:pt x="59" y="118"/>
                    </a:lnTo>
                    <a:lnTo>
                      <a:pt x="59" y="118"/>
                    </a:lnTo>
                    <a:lnTo>
                      <a:pt x="64" y="118"/>
                    </a:lnTo>
                    <a:lnTo>
                      <a:pt x="66" y="116"/>
                    </a:lnTo>
                    <a:lnTo>
                      <a:pt x="69" y="116"/>
                    </a:lnTo>
                    <a:lnTo>
                      <a:pt x="72" y="116"/>
                    </a:lnTo>
                    <a:lnTo>
                      <a:pt x="74" y="115"/>
                    </a:lnTo>
                    <a:lnTo>
                      <a:pt x="77" y="115"/>
                    </a:lnTo>
                    <a:lnTo>
                      <a:pt x="80" y="114"/>
                    </a:lnTo>
                    <a:lnTo>
                      <a:pt x="83" y="114"/>
                    </a:lnTo>
                    <a:lnTo>
                      <a:pt x="86" y="112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3" y="108"/>
                    </a:lnTo>
                    <a:lnTo>
                      <a:pt x="95" y="106"/>
                    </a:lnTo>
                    <a:lnTo>
                      <a:pt x="98" y="105"/>
                    </a:lnTo>
                    <a:lnTo>
                      <a:pt x="99" y="102"/>
                    </a:lnTo>
                    <a:lnTo>
                      <a:pt x="102" y="100"/>
                    </a:lnTo>
                    <a:lnTo>
                      <a:pt x="103" y="99"/>
                    </a:lnTo>
                    <a:lnTo>
                      <a:pt x="105" y="96"/>
                    </a:lnTo>
                    <a:lnTo>
                      <a:pt x="108" y="94"/>
                    </a:lnTo>
                    <a:lnTo>
                      <a:pt x="109" y="91"/>
                    </a:lnTo>
                    <a:lnTo>
                      <a:pt x="111" y="88"/>
                    </a:lnTo>
                    <a:lnTo>
                      <a:pt x="112" y="87"/>
                    </a:lnTo>
                    <a:lnTo>
                      <a:pt x="114" y="84"/>
                    </a:lnTo>
                    <a:lnTo>
                      <a:pt x="114" y="81"/>
                    </a:lnTo>
                    <a:lnTo>
                      <a:pt x="115" y="78"/>
                    </a:lnTo>
                    <a:lnTo>
                      <a:pt x="117" y="76"/>
                    </a:lnTo>
                    <a:lnTo>
                      <a:pt x="117" y="74"/>
                    </a:lnTo>
                    <a:lnTo>
                      <a:pt x="118" y="71"/>
                    </a:lnTo>
                    <a:lnTo>
                      <a:pt x="118" y="68"/>
                    </a:lnTo>
                    <a:lnTo>
                      <a:pt x="118" y="65"/>
                    </a:lnTo>
                    <a:lnTo>
                      <a:pt x="118" y="62"/>
                    </a:lnTo>
                    <a:lnTo>
                      <a:pt x="118" y="59"/>
                    </a:lnTo>
                    <a:lnTo>
                      <a:pt x="118" y="59"/>
                    </a:lnTo>
                    <a:lnTo>
                      <a:pt x="59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7" name="Freeform 220"/>
              <p:cNvSpPr>
                <a:spLocks/>
              </p:cNvSpPr>
              <p:nvPr/>
            </p:nvSpPr>
            <p:spPr bwMode="auto">
              <a:xfrm>
                <a:off x="1919" y="1806"/>
                <a:ext cx="35" cy="35"/>
              </a:xfrm>
              <a:custGeom>
                <a:avLst/>
                <a:gdLst>
                  <a:gd name="T0" fmla="*/ 105 w 105"/>
                  <a:gd name="T1" fmla="*/ 47 h 105"/>
                  <a:gd name="T2" fmla="*/ 104 w 105"/>
                  <a:gd name="T3" fmla="*/ 40 h 105"/>
                  <a:gd name="T4" fmla="*/ 101 w 105"/>
                  <a:gd name="T5" fmla="*/ 33 h 105"/>
                  <a:gd name="T6" fmla="*/ 98 w 105"/>
                  <a:gd name="T7" fmla="*/ 25 h 105"/>
                  <a:gd name="T8" fmla="*/ 94 w 105"/>
                  <a:gd name="T9" fmla="*/ 19 h 105"/>
                  <a:gd name="T10" fmla="*/ 88 w 105"/>
                  <a:gd name="T11" fmla="*/ 13 h 105"/>
                  <a:gd name="T12" fmla="*/ 82 w 105"/>
                  <a:gd name="T13" fmla="*/ 9 h 105"/>
                  <a:gd name="T14" fmla="*/ 76 w 105"/>
                  <a:gd name="T15" fmla="*/ 5 h 105"/>
                  <a:gd name="T16" fmla="*/ 68 w 105"/>
                  <a:gd name="T17" fmla="*/ 2 h 105"/>
                  <a:gd name="T18" fmla="*/ 61 w 105"/>
                  <a:gd name="T19" fmla="*/ 0 h 105"/>
                  <a:gd name="T20" fmla="*/ 52 w 105"/>
                  <a:gd name="T21" fmla="*/ 0 h 105"/>
                  <a:gd name="T22" fmla="*/ 48 w 105"/>
                  <a:gd name="T23" fmla="*/ 0 h 105"/>
                  <a:gd name="T24" fmla="*/ 39 w 105"/>
                  <a:gd name="T25" fmla="*/ 2 h 105"/>
                  <a:gd name="T26" fmla="*/ 31 w 105"/>
                  <a:gd name="T27" fmla="*/ 5 h 105"/>
                  <a:gd name="T28" fmla="*/ 25 w 105"/>
                  <a:gd name="T29" fmla="*/ 7 h 105"/>
                  <a:gd name="T30" fmla="*/ 20 w 105"/>
                  <a:gd name="T31" fmla="*/ 12 h 105"/>
                  <a:gd name="T32" fmla="*/ 14 w 105"/>
                  <a:gd name="T33" fmla="*/ 18 h 105"/>
                  <a:gd name="T34" fmla="*/ 9 w 105"/>
                  <a:gd name="T35" fmla="*/ 24 h 105"/>
                  <a:gd name="T36" fmla="*/ 5 w 105"/>
                  <a:gd name="T37" fmla="*/ 30 h 105"/>
                  <a:gd name="T38" fmla="*/ 2 w 105"/>
                  <a:gd name="T39" fmla="*/ 37 h 105"/>
                  <a:gd name="T40" fmla="*/ 0 w 105"/>
                  <a:gd name="T41" fmla="*/ 44 h 105"/>
                  <a:gd name="T42" fmla="*/ 0 w 105"/>
                  <a:gd name="T43" fmla="*/ 52 h 105"/>
                  <a:gd name="T44" fmla="*/ 0 w 105"/>
                  <a:gd name="T45" fmla="*/ 58 h 105"/>
                  <a:gd name="T46" fmla="*/ 2 w 105"/>
                  <a:gd name="T47" fmla="*/ 65 h 105"/>
                  <a:gd name="T48" fmla="*/ 3 w 105"/>
                  <a:gd name="T49" fmla="*/ 73 h 105"/>
                  <a:gd name="T50" fmla="*/ 8 w 105"/>
                  <a:gd name="T51" fmla="*/ 80 h 105"/>
                  <a:gd name="T52" fmla="*/ 12 w 105"/>
                  <a:gd name="T53" fmla="*/ 86 h 105"/>
                  <a:gd name="T54" fmla="*/ 17 w 105"/>
                  <a:gd name="T55" fmla="*/ 92 h 105"/>
                  <a:gd name="T56" fmla="*/ 22 w 105"/>
                  <a:gd name="T57" fmla="*/ 96 h 105"/>
                  <a:gd name="T58" fmla="*/ 30 w 105"/>
                  <a:gd name="T59" fmla="*/ 101 h 105"/>
                  <a:gd name="T60" fmla="*/ 37 w 105"/>
                  <a:gd name="T61" fmla="*/ 102 h 105"/>
                  <a:gd name="T62" fmla="*/ 45 w 105"/>
                  <a:gd name="T63" fmla="*/ 105 h 105"/>
                  <a:gd name="T64" fmla="*/ 52 w 105"/>
                  <a:gd name="T65" fmla="*/ 105 h 105"/>
                  <a:gd name="T66" fmla="*/ 58 w 105"/>
                  <a:gd name="T67" fmla="*/ 105 h 105"/>
                  <a:gd name="T68" fmla="*/ 65 w 105"/>
                  <a:gd name="T69" fmla="*/ 104 h 105"/>
                  <a:gd name="T70" fmla="*/ 73 w 105"/>
                  <a:gd name="T71" fmla="*/ 101 h 105"/>
                  <a:gd name="T72" fmla="*/ 80 w 105"/>
                  <a:gd name="T73" fmla="*/ 98 h 105"/>
                  <a:gd name="T74" fmla="*/ 86 w 105"/>
                  <a:gd name="T75" fmla="*/ 93 h 105"/>
                  <a:gd name="T76" fmla="*/ 92 w 105"/>
                  <a:gd name="T77" fmla="*/ 87 h 105"/>
                  <a:gd name="T78" fmla="*/ 97 w 105"/>
                  <a:gd name="T79" fmla="*/ 82 h 105"/>
                  <a:gd name="T80" fmla="*/ 99 w 105"/>
                  <a:gd name="T81" fmla="*/ 76 h 105"/>
                  <a:gd name="T82" fmla="*/ 102 w 105"/>
                  <a:gd name="T83" fmla="*/ 68 h 105"/>
                  <a:gd name="T84" fmla="*/ 104 w 105"/>
                  <a:gd name="T85" fmla="*/ 61 h 105"/>
                  <a:gd name="T86" fmla="*/ 105 w 105"/>
                  <a:gd name="T87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5" h="105">
                    <a:moveTo>
                      <a:pt x="105" y="52"/>
                    </a:moveTo>
                    <a:lnTo>
                      <a:pt x="105" y="50"/>
                    </a:lnTo>
                    <a:lnTo>
                      <a:pt x="105" y="47"/>
                    </a:lnTo>
                    <a:lnTo>
                      <a:pt x="104" y="44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2" y="37"/>
                    </a:lnTo>
                    <a:lnTo>
                      <a:pt x="102" y="34"/>
                    </a:lnTo>
                    <a:lnTo>
                      <a:pt x="101" y="33"/>
                    </a:lnTo>
                    <a:lnTo>
                      <a:pt x="99" y="30"/>
                    </a:lnTo>
                    <a:lnTo>
                      <a:pt x="99" y="28"/>
                    </a:lnTo>
                    <a:lnTo>
                      <a:pt x="98" y="25"/>
                    </a:lnTo>
                    <a:lnTo>
                      <a:pt x="97" y="24"/>
                    </a:lnTo>
                    <a:lnTo>
                      <a:pt x="95" y="21"/>
                    </a:lnTo>
                    <a:lnTo>
                      <a:pt x="94" y="19"/>
                    </a:lnTo>
                    <a:lnTo>
                      <a:pt x="92" y="18"/>
                    </a:lnTo>
                    <a:lnTo>
                      <a:pt x="89" y="15"/>
                    </a:lnTo>
                    <a:lnTo>
                      <a:pt x="88" y="13"/>
                    </a:lnTo>
                    <a:lnTo>
                      <a:pt x="86" y="12"/>
                    </a:lnTo>
                    <a:lnTo>
                      <a:pt x="85" y="10"/>
                    </a:lnTo>
                    <a:lnTo>
                      <a:pt x="82" y="9"/>
                    </a:lnTo>
                    <a:lnTo>
                      <a:pt x="80" y="7"/>
                    </a:lnTo>
                    <a:lnTo>
                      <a:pt x="77" y="6"/>
                    </a:lnTo>
                    <a:lnTo>
                      <a:pt x="76" y="5"/>
                    </a:lnTo>
                    <a:lnTo>
                      <a:pt x="73" y="5"/>
                    </a:lnTo>
                    <a:lnTo>
                      <a:pt x="71" y="3"/>
                    </a:lnTo>
                    <a:lnTo>
                      <a:pt x="68" y="2"/>
                    </a:lnTo>
                    <a:lnTo>
                      <a:pt x="65" y="2"/>
                    </a:lnTo>
                    <a:lnTo>
                      <a:pt x="62" y="2"/>
                    </a:lnTo>
                    <a:lnTo>
                      <a:pt x="61" y="0"/>
                    </a:lnTo>
                    <a:lnTo>
                      <a:pt x="58" y="0"/>
                    </a:lnTo>
                    <a:lnTo>
                      <a:pt x="55" y="0"/>
                    </a:lnTo>
                    <a:lnTo>
                      <a:pt x="52" y="0"/>
                    </a:lnTo>
                    <a:lnTo>
                      <a:pt x="52" y="0"/>
                    </a:lnTo>
                    <a:lnTo>
                      <a:pt x="49" y="0"/>
                    </a:lnTo>
                    <a:lnTo>
                      <a:pt x="48" y="0"/>
                    </a:lnTo>
                    <a:lnTo>
                      <a:pt x="45" y="0"/>
                    </a:lnTo>
                    <a:lnTo>
                      <a:pt x="42" y="2"/>
                    </a:lnTo>
                    <a:lnTo>
                      <a:pt x="39" y="2"/>
                    </a:lnTo>
                    <a:lnTo>
                      <a:pt x="37" y="2"/>
                    </a:lnTo>
                    <a:lnTo>
                      <a:pt x="34" y="3"/>
                    </a:lnTo>
                    <a:lnTo>
                      <a:pt x="31" y="5"/>
                    </a:lnTo>
                    <a:lnTo>
                      <a:pt x="30" y="5"/>
                    </a:lnTo>
                    <a:lnTo>
                      <a:pt x="27" y="6"/>
                    </a:lnTo>
                    <a:lnTo>
                      <a:pt x="25" y="7"/>
                    </a:lnTo>
                    <a:lnTo>
                      <a:pt x="22" y="9"/>
                    </a:lnTo>
                    <a:lnTo>
                      <a:pt x="21" y="10"/>
                    </a:lnTo>
                    <a:lnTo>
                      <a:pt x="20" y="12"/>
                    </a:lnTo>
                    <a:lnTo>
                      <a:pt x="17" y="13"/>
                    </a:lnTo>
                    <a:lnTo>
                      <a:pt x="15" y="15"/>
                    </a:lnTo>
                    <a:lnTo>
                      <a:pt x="14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9" y="24"/>
                    </a:lnTo>
                    <a:lnTo>
                      <a:pt x="8" y="25"/>
                    </a:lnTo>
                    <a:lnTo>
                      <a:pt x="6" y="28"/>
                    </a:lnTo>
                    <a:lnTo>
                      <a:pt x="5" y="30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2" y="37"/>
                    </a:lnTo>
                    <a:lnTo>
                      <a:pt x="2" y="40"/>
                    </a:lnTo>
                    <a:lnTo>
                      <a:pt x="0" y="42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0" y="58"/>
                    </a:lnTo>
                    <a:lnTo>
                      <a:pt x="0" y="61"/>
                    </a:lnTo>
                    <a:lnTo>
                      <a:pt x="0" y="64"/>
                    </a:lnTo>
                    <a:lnTo>
                      <a:pt x="2" y="65"/>
                    </a:lnTo>
                    <a:lnTo>
                      <a:pt x="2" y="68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5" y="76"/>
                    </a:lnTo>
                    <a:lnTo>
                      <a:pt x="6" y="77"/>
                    </a:lnTo>
                    <a:lnTo>
                      <a:pt x="8" y="80"/>
                    </a:lnTo>
                    <a:lnTo>
                      <a:pt x="9" y="82"/>
                    </a:lnTo>
                    <a:lnTo>
                      <a:pt x="11" y="84"/>
                    </a:lnTo>
                    <a:lnTo>
                      <a:pt x="12" y="86"/>
                    </a:lnTo>
                    <a:lnTo>
                      <a:pt x="14" y="87"/>
                    </a:lnTo>
                    <a:lnTo>
                      <a:pt x="15" y="90"/>
                    </a:lnTo>
                    <a:lnTo>
                      <a:pt x="17" y="92"/>
                    </a:lnTo>
                    <a:lnTo>
                      <a:pt x="20" y="93"/>
                    </a:lnTo>
                    <a:lnTo>
                      <a:pt x="21" y="95"/>
                    </a:lnTo>
                    <a:lnTo>
                      <a:pt x="22" y="96"/>
                    </a:lnTo>
                    <a:lnTo>
                      <a:pt x="25" y="98"/>
                    </a:lnTo>
                    <a:lnTo>
                      <a:pt x="27" y="99"/>
                    </a:lnTo>
                    <a:lnTo>
                      <a:pt x="30" y="101"/>
                    </a:lnTo>
                    <a:lnTo>
                      <a:pt x="31" y="101"/>
                    </a:lnTo>
                    <a:lnTo>
                      <a:pt x="34" y="102"/>
                    </a:lnTo>
                    <a:lnTo>
                      <a:pt x="37" y="102"/>
                    </a:lnTo>
                    <a:lnTo>
                      <a:pt x="39" y="104"/>
                    </a:lnTo>
                    <a:lnTo>
                      <a:pt x="42" y="104"/>
                    </a:lnTo>
                    <a:lnTo>
                      <a:pt x="45" y="105"/>
                    </a:lnTo>
                    <a:lnTo>
                      <a:pt x="48" y="105"/>
                    </a:lnTo>
                    <a:lnTo>
                      <a:pt x="49" y="105"/>
                    </a:lnTo>
                    <a:lnTo>
                      <a:pt x="52" y="105"/>
                    </a:lnTo>
                    <a:lnTo>
                      <a:pt x="52" y="105"/>
                    </a:lnTo>
                    <a:lnTo>
                      <a:pt x="55" y="105"/>
                    </a:lnTo>
                    <a:lnTo>
                      <a:pt x="58" y="105"/>
                    </a:lnTo>
                    <a:lnTo>
                      <a:pt x="61" y="105"/>
                    </a:lnTo>
                    <a:lnTo>
                      <a:pt x="62" y="104"/>
                    </a:lnTo>
                    <a:lnTo>
                      <a:pt x="65" y="104"/>
                    </a:lnTo>
                    <a:lnTo>
                      <a:pt x="68" y="102"/>
                    </a:lnTo>
                    <a:lnTo>
                      <a:pt x="71" y="102"/>
                    </a:lnTo>
                    <a:lnTo>
                      <a:pt x="73" y="101"/>
                    </a:lnTo>
                    <a:lnTo>
                      <a:pt x="76" y="101"/>
                    </a:lnTo>
                    <a:lnTo>
                      <a:pt x="77" y="99"/>
                    </a:lnTo>
                    <a:lnTo>
                      <a:pt x="80" y="98"/>
                    </a:lnTo>
                    <a:lnTo>
                      <a:pt x="82" y="96"/>
                    </a:lnTo>
                    <a:lnTo>
                      <a:pt x="85" y="95"/>
                    </a:lnTo>
                    <a:lnTo>
                      <a:pt x="86" y="93"/>
                    </a:lnTo>
                    <a:lnTo>
                      <a:pt x="88" y="92"/>
                    </a:lnTo>
                    <a:lnTo>
                      <a:pt x="89" y="90"/>
                    </a:lnTo>
                    <a:lnTo>
                      <a:pt x="92" y="87"/>
                    </a:lnTo>
                    <a:lnTo>
                      <a:pt x="94" y="86"/>
                    </a:lnTo>
                    <a:lnTo>
                      <a:pt x="95" y="84"/>
                    </a:lnTo>
                    <a:lnTo>
                      <a:pt x="97" y="82"/>
                    </a:lnTo>
                    <a:lnTo>
                      <a:pt x="98" y="80"/>
                    </a:lnTo>
                    <a:lnTo>
                      <a:pt x="99" y="77"/>
                    </a:lnTo>
                    <a:lnTo>
                      <a:pt x="99" y="76"/>
                    </a:lnTo>
                    <a:lnTo>
                      <a:pt x="101" y="73"/>
                    </a:lnTo>
                    <a:lnTo>
                      <a:pt x="102" y="71"/>
                    </a:lnTo>
                    <a:lnTo>
                      <a:pt x="102" y="68"/>
                    </a:lnTo>
                    <a:lnTo>
                      <a:pt x="104" y="65"/>
                    </a:lnTo>
                    <a:lnTo>
                      <a:pt x="104" y="64"/>
                    </a:lnTo>
                    <a:lnTo>
                      <a:pt x="104" y="61"/>
                    </a:lnTo>
                    <a:lnTo>
                      <a:pt x="105" y="58"/>
                    </a:lnTo>
                    <a:lnTo>
                      <a:pt x="105" y="55"/>
                    </a:lnTo>
                    <a:lnTo>
                      <a:pt x="105" y="5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8" name="Freeform 221"/>
              <p:cNvSpPr>
                <a:spLocks/>
              </p:cNvSpPr>
              <p:nvPr/>
            </p:nvSpPr>
            <p:spPr bwMode="auto">
              <a:xfrm>
                <a:off x="2223" y="1687"/>
                <a:ext cx="109" cy="108"/>
              </a:xfrm>
              <a:custGeom>
                <a:avLst/>
                <a:gdLst>
                  <a:gd name="T0" fmla="*/ 148 w 326"/>
                  <a:gd name="T1" fmla="*/ 326 h 326"/>
                  <a:gd name="T2" fmla="*/ 0 w 326"/>
                  <a:gd name="T3" fmla="*/ 0 h 326"/>
                  <a:gd name="T4" fmla="*/ 326 w 326"/>
                  <a:gd name="T5" fmla="*/ 0 h 326"/>
                  <a:gd name="T6" fmla="*/ 148 w 326"/>
                  <a:gd name="T7" fmla="*/ 32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6" h="326">
                    <a:moveTo>
                      <a:pt x="148" y="326"/>
                    </a:moveTo>
                    <a:lnTo>
                      <a:pt x="0" y="0"/>
                    </a:lnTo>
                    <a:lnTo>
                      <a:pt x="326" y="0"/>
                    </a:lnTo>
                    <a:lnTo>
                      <a:pt x="148" y="326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99" name="Freeform 222"/>
              <p:cNvSpPr>
                <a:spLocks/>
              </p:cNvSpPr>
              <p:nvPr/>
            </p:nvSpPr>
            <p:spPr bwMode="auto">
              <a:xfrm>
                <a:off x="2253" y="1795"/>
                <a:ext cx="39" cy="40"/>
              </a:xfrm>
              <a:custGeom>
                <a:avLst/>
                <a:gdLst>
                  <a:gd name="T0" fmla="*/ 118 w 118"/>
                  <a:gd name="T1" fmla="*/ 56 h 118"/>
                  <a:gd name="T2" fmla="*/ 118 w 118"/>
                  <a:gd name="T3" fmla="*/ 47 h 118"/>
                  <a:gd name="T4" fmla="*/ 115 w 118"/>
                  <a:gd name="T5" fmla="*/ 38 h 118"/>
                  <a:gd name="T6" fmla="*/ 112 w 118"/>
                  <a:gd name="T7" fmla="*/ 31 h 118"/>
                  <a:gd name="T8" fmla="*/ 108 w 118"/>
                  <a:gd name="T9" fmla="*/ 23 h 118"/>
                  <a:gd name="T10" fmla="*/ 102 w 118"/>
                  <a:gd name="T11" fmla="*/ 16 h 118"/>
                  <a:gd name="T12" fmla="*/ 95 w 118"/>
                  <a:gd name="T13" fmla="*/ 11 h 118"/>
                  <a:gd name="T14" fmla="*/ 89 w 118"/>
                  <a:gd name="T15" fmla="*/ 7 h 118"/>
                  <a:gd name="T16" fmla="*/ 80 w 118"/>
                  <a:gd name="T17" fmla="*/ 2 h 118"/>
                  <a:gd name="T18" fmla="*/ 72 w 118"/>
                  <a:gd name="T19" fmla="*/ 1 h 118"/>
                  <a:gd name="T20" fmla="*/ 63 w 118"/>
                  <a:gd name="T21" fmla="*/ 0 h 118"/>
                  <a:gd name="T22" fmla="*/ 56 w 118"/>
                  <a:gd name="T23" fmla="*/ 0 h 118"/>
                  <a:gd name="T24" fmla="*/ 47 w 118"/>
                  <a:gd name="T25" fmla="*/ 1 h 118"/>
                  <a:gd name="T26" fmla="*/ 40 w 118"/>
                  <a:gd name="T27" fmla="*/ 2 h 118"/>
                  <a:gd name="T28" fmla="*/ 31 w 118"/>
                  <a:gd name="T29" fmla="*/ 7 h 118"/>
                  <a:gd name="T30" fmla="*/ 25 w 118"/>
                  <a:gd name="T31" fmla="*/ 11 h 118"/>
                  <a:gd name="T32" fmla="*/ 18 w 118"/>
                  <a:gd name="T33" fmla="*/ 16 h 118"/>
                  <a:gd name="T34" fmla="*/ 12 w 118"/>
                  <a:gd name="T35" fmla="*/ 23 h 118"/>
                  <a:gd name="T36" fmla="*/ 7 w 118"/>
                  <a:gd name="T37" fmla="*/ 31 h 118"/>
                  <a:gd name="T38" fmla="*/ 4 w 118"/>
                  <a:gd name="T39" fmla="*/ 38 h 118"/>
                  <a:gd name="T40" fmla="*/ 1 w 118"/>
                  <a:gd name="T41" fmla="*/ 47 h 118"/>
                  <a:gd name="T42" fmla="*/ 1 w 118"/>
                  <a:gd name="T43" fmla="*/ 56 h 118"/>
                  <a:gd name="T44" fmla="*/ 1 w 118"/>
                  <a:gd name="T45" fmla="*/ 62 h 118"/>
                  <a:gd name="T46" fmla="*/ 1 w 118"/>
                  <a:gd name="T47" fmla="*/ 71 h 118"/>
                  <a:gd name="T48" fmla="*/ 4 w 118"/>
                  <a:gd name="T49" fmla="*/ 78 h 118"/>
                  <a:gd name="T50" fmla="*/ 7 w 118"/>
                  <a:gd name="T51" fmla="*/ 87 h 118"/>
                  <a:gd name="T52" fmla="*/ 12 w 118"/>
                  <a:gd name="T53" fmla="*/ 94 h 118"/>
                  <a:gd name="T54" fmla="*/ 18 w 118"/>
                  <a:gd name="T55" fmla="*/ 100 h 118"/>
                  <a:gd name="T56" fmla="*/ 25 w 118"/>
                  <a:gd name="T57" fmla="*/ 106 h 118"/>
                  <a:gd name="T58" fmla="*/ 31 w 118"/>
                  <a:gd name="T59" fmla="*/ 111 h 118"/>
                  <a:gd name="T60" fmla="*/ 40 w 118"/>
                  <a:gd name="T61" fmla="*/ 114 h 118"/>
                  <a:gd name="T62" fmla="*/ 47 w 118"/>
                  <a:gd name="T63" fmla="*/ 116 h 118"/>
                  <a:gd name="T64" fmla="*/ 56 w 118"/>
                  <a:gd name="T65" fmla="*/ 118 h 118"/>
                  <a:gd name="T66" fmla="*/ 63 w 118"/>
                  <a:gd name="T67" fmla="*/ 118 h 118"/>
                  <a:gd name="T68" fmla="*/ 72 w 118"/>
                  <a:gd name="T69" fmla="*/ 116 h 118"/>
                  <a:gd name="T70" fmla="*/ 80 w 118"/>
                  <a:gd name="T71" fmla="*/ 114 h 118"/>
                  <a:gd name="T72" fmla="*/ 89 w 118"/>
                  <a:gd name="T73" fmla="*/ 111 h 118"/>
                  <a:gd name="T74" fmla="*/ 95 w 118"/>
                  <a:gd name="T75" fmla="*/ 106 h 118"/>
                  <a:gd name="T76" fmla="*/ 102 w 118"/>
                  <a:gd name="T77" fmla="*/ 100 h 118"/>
                  <a:gd name="T78" fmla="*/ 108 w 118"/>
                  <a:gd name="T79" fmla="*/ 94 h 118"/>
                  <a:gd name="T80" fmla="*/ 112 w 118"/>
                  <a:gd name="T81" fmla="*/ 87 h 118"/>
                  <a:gd name="T82" fmla="*/ 115 w 118"/>
                  <a:gd name="T83" fmla="*/ 78 h 118"/>
                  <a:gd name="T84" fmla="*/ 118 w 118"/>
                  <a:gd name="T85" fmla="*/ 71 h 118"/>
                  <a:gd name="T86" fmla="*/ 118 w 118"/>
                  <a:gd name="T87" fmla="*/ 62 h 118"/>
                  <a:gd name="T88" fmla="*/ 59 w 118"/>
                  <a:gd name="T89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8" h="118">
                    <a:moveTo>
                      <a:pt x="59" y="59"/>
                    </a:moveTo>
                    <a:lnTo>
                      <a:pt x="118" y="59"/>
                    </a:lnTo>
                    <a:lnTo>
                      <a:pt x="118" y="56"/>
                    </a:lnTo>
                    <a:lnTo>
                      <a:pt x="118" y="53"/>
                    </a:lnTo>
                    <a:lnTo>
                      <a:pt x="118" y="50"/>
                    </a:lnTo>
                    <a:lnTo>
                      <a:pt x="118" y="47"/>
                    </a:lnTo>
                    <a:lnTo>
                      <a:pt x="117" y="44"/>
                    </a:lnTo>
                    <a:lnTo>
                      <a:pt x="117" y="41"/>
                    </a:lnTo>
                    <a:lnTo>
                      <a:pt x="115" y="38"/>
                    </a:lnTo>
                    <a:lnTo>
                      <a:pt x="114" y="35"/>
                    </a:lnTo>
                    <a:lnTo>
                      <a:pt x="114" y="32"/>
                    </a:lnTo>
                    <a:lnTo>
                      <a:pt x="112" y="31"/>
                    </a:lnTo>
                    <a:lnTo>
                      <a:pt x="111" y="28"/>
                    </a:lnTo>
                    <a:lnTo>
                      <a:pt x="109" y="25"/>
                    </a:lnTo>
                    <a:lnTo>
                      <a:pt x="108" y="23"/>
                    </a:lnTo>
                    <a:lnTo>
                      <a:pt x="105" y="20"/>
                    </a:lnTo>
                    <a:lnTo>
                      <a:pt x="103" y="19"/>
                    </a:lnTo>
                    <a:lnTo>
                      <a:pt x="102" y="16"/>
                    </a:lnTo>
                    <a:lnTo>
                      <a:pt x="99" y="14"/>
                    </a:lnTo>
                    <a:lnTo>
                      <a:pt x="98" y="13"/>
                    </a:lnTo>
                    <a:lnTo>
                      <a:pt x="95" y="11"/>
                    </a:lnTo>
                    <a:lnTo>
                      <a:pt x="93" y="10"/>
                    </a:lnTo>
                    <a:lnTo>
                      <a:pt x="90" y="7"/>
                    </a:lnTo>
                    <a:lnTo>
                      <a:pt x="89" y="7"/>
                    </a:lnTo>
                    <a:lnTo>
                      <a:pt x="86" y="5"/>
                    </a:lnTo>
                    <a:lnTo>
                      <a:pt x="83" y="4"/>
                    </a:lnTo>
                    <a:lnTo>
                      <a:pt x="80" y="2"/>
                    </a:lnTo>
                    <a:lnTo>
                      <a:pt x="77" y="1"/>
                    </a:lnTo>
                    <a:lnTo>
                      <a:pt x="74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6" y="0"/>
                    </a:lnTo>
                    <a:lnTo>
                      <a:pt x="63" y="0"/>
                    </a:lnTo>
                    <a:lnTo>
                      <a:pt x="59" y="0"/>
                    </a:lnTo>
                    <a:lnTo>
                      <a:pt x="59" y="0"/>
                    </a:lnTo>
                    <a:lnTo>
                      <a:pt x="56" y="0"/>
                    </a:lnTo>
                    <a:lnTo>
                      <a:pt x="53" y="0"/>
                    </a:lnTo>
                    <a:lnTo>
                      <a:pt x="50" y="0"/>
                    </a:lnTo>
                    <a:lnTo>
                      <a:pt x="47" y="1"/>
                    </a:lnTo>
                    <a:lnTo>
                      <a:pt x="46" y="1"/>
                    </a:lnTo>
                    <a:lnTo>
                      <a:pt x="43" y="1"/>
                    </a:lnTo>
                    <a:lnTo>
                      <a:pt x="40" y="2"/>
                    </a:lnTo>
                    <a:lnTo>
                      <a:pt x="37" y="4"/>
                    </a:lnTo>
                    <a:lnTo>
                      <a:pt x="34" y="5"/>
                    </a:lnTo>
                    <a:lnTo>
                      <a:pt x="31" y="7"/>
                    </a:lnTo>
                    <a:lnTo>
                      <a:pt x="29" y="7"/>
                    </a:lnTo>
                    <a:lnTo>
                      <a:pt x="26" y="10"/>
                    </a:lnTo>
                    <a:lnTo>
                      <a:pt x="25" y="11"/>
                    </a:lnTo>
                    <a:lnTo>
                      <a:pt x="22" y="13"/>
                    </a:lnTo>
                    <a:lnTo>
                      <a:pt x="21" y="14"/>
                    </a:lnTo>
                    <a:lnTo>
                      <a:pt x="18" y="16"/>
                    </a:lnTo>
                    <a:lnTo>
                      <a:pt x="16" y="19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0" y="25"/>
                    </a:lnTo>
                    <a:lnTo>
                      <a:pt x="9" y="28"/>
                    </a:lnTo>
                    <a:lnTo>
                      <a:pt x="7" y="31"/>
                    </a:lnTo>
                    <a:lnTo>
                      <a:pt x="6" y="32"/>
                    </a:lnTo>
                    <a:lnTo>
                      <a:pt x="6" y="35"/>
                    </a:lnTo>
                    <a:lnTo>
                      <a:pt x="4" y="38"/>
                    </a:lnTo>
                    <a:lnTo>
                      <a:pt x="3" y="41"/>
                    </a:lnTo>
                    <a:lnTo>
                      <a:pt x="3" y="44"/>
                    </a:lnTo>
                    <a:lnTo>
                      <a:pt x="1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1" y="56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1" y="62"/>
                    </a:lnTo>
                    <a:lnTo>
                      <a:pt x="1" y="65"/>
                    </a:lnTo>
                    <a:lnTo>
                      <a:pt x="1" y="68"/>
                    </a:lnTo>
                    <a:lnTo>
                      <a:pt x="1" y="71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4" y="78"/>
                    </a:lnTo>
                    <a:lnTo>
                      <a:pt x="6" y="81"/>
                    </a:lnTo>
                    <a:lnTo>
                      <a:pt x="6" y="84"/>
                    </a:lnTo>
                    <a:lnTo>
                      <a:pt x="7" y="87"/>
                    </a:lnTo>
                    <a:lnTo>
                      <a:pt x="9" y="88"/>
                    </a:lnTo>
                    <a:lnTo>
                      <a:pt x="10" y="91"/>
                    </a:lnTo>
                    <a:lnTo>
                      <a:pt x="12" y="94"/>
                    </a:lnTo>
                    <a:lnTo>
                      <a:pt x="15" y="96"/>
                    </a:lnTo>
                    <a:lnTo>
                      <a:pt x="16" y="99"/>
                    </a:lnTo>
                    <a:lnTo>
                      <a:pt x="18" y="100"/>
                    </a:lnTo>
                    <a:lnTo>
                      <a:pt x="21" y="102"/>
                    </a:lnTo>
                    <a:lnTo>
                      <a:pt x="22" y="105"/>
                    </a:lnTo>
                    <a:lnTo>
                      <a:pt x="25" y="106"/>
                    </a:lnTo>
                    <a:lnTo>
                      <a:pt x="26" y="108"/>
                    </a:lnTo>
                    <a:lnTo>
                      <a:pt x="29" y="109"/>
                    </a:lnTo>
                    <a:lnTo>
                      <a:pt x="31" y="111"/>
                    </a:lnTo>
                    <a:lnTo>
                      <a:pt x="34" y="112"/>
                    </a:lnTo>
                    <a:lnTo>
                      <a:pt x="37" y="114"/>
                    </a:lnTo>
                    <a:lnTo>
                      <a:pt x="40" y="114"/>
                    </a:lnTo>
                    <a:lnTo>
                      <a:pt x="43" y="115"/>
                    </a:lnTo>
                    <a:lnTo>
                      <a:pt x="46" y="115"/>
                    </a:lnTo>
                    <a:lnTo>
                      <a:pt x="47" y="116"/>
                    </a:lnTo>
                    <a:lnTo>
                      <a:pt x="50" y="116"/>
                    </a:lnTo>
                    <a:lnTo>
                      <a:pt x="53" y="116"/>
                    </a:lnTo>
                    <a:lnTo>
                      <a:pt x="56" y="118"/>
                    </a:lnTo>
                    <a:lnTo>
                      <a:pt x="59" y="118"/>
                    </a:lnTo>
                    <a:lnTo>
                      <a:pt x="59" y="118"/>
                    </a:lnTo>
                    <a:lnTo>
                      <a:pt x="63" y="118"/>
                    </a:lnTo>
                    <a:lnTo>
                      <a:pt x="66" y="116"/>
                    </a:lnTo>
                    <a:lnTo>
                      <a:pt x="69" y="116"/>
                    </a:lnTo>
                    <a:lnTo>
                      <a:pt x="72" y="116"/>
                    </a:lnTo>
                    <a:lnTo>
                      <a:pt x="74" y="115"/>
                    </a:lnTo>
                    <a:lnTo>
                      <a:pt x="77" y="115"/>
                    </a:lnTo>
                    <a:lnTo>
                      <a:pt x="80" y="114"/>
                    </a:lnTo>
                    <a:lnTo>
                      <a:pt x="83" y="114"/>
                    </a:lnTo>
                    <a:lnTo>
                      <a:pt x="86" y="112"/>
                    </a:lnTo>
                    <a:lnTo>
                      <a:pt x="89" y="111"/>
                    </a:lnTo>
                    <a:lnTo>
                      <a:pt x="90" y="109"/>
                    </a:lnTo>
                    <a:lnTo>
                      <a:pt x="93" y="108"/>
                    </a:lnTo>
                    <a:lnTo>
                      <a:pt x="95" y="106"/>
                    </a:lnTo>
                    <a:lnTo>
                      <a:pt x="98" y="105"/>
                    </a:lnTo>
                    <a:lnTo>
                      <a:pt x="99" y="102"/>
                    </a:lnTo>
                    <a:lnTo>
                      <a:pt x="102" y="100"/>
                    </a:lnTo>
                    <a:lnTo>
                      <a:pt x="103" y="99"/>
                    </a:lnTo>
                    <a:lnTo>
                      <a:pt x="105" y="96"/>
                    </a:lnTo>
                    <a:lnTo>
                      <a:pt x="108" y="94"/>
                    </a:lnTo>
                    <a:lnTo>
                      <a:pt x="109" y="91"/>
                    </a:lnTo>
                    <a:lnTo>
                      <a:pt x="111" y="88"/>
                    </a:lnTo>
                    <a:lnTo>
                      <a:pt x="112" y="87"/>
                    </a:lnTo>
                    <a:lnTo>
                      <a:pt x="114" y="84"/>
                    </a:lnTo>
                    <a:lnTo>
                      <a:pt x="114" y="81"/>
                    </a:lnTo>
                    <a:lnTo>
                      <a:pt x="115" y="78"/>
                    </a:lnTo>
                    <a:lnTo>
                      <a:pt x="117" y="76"/>
                    </a:lnTo>
                    <a:lnTo>
                      <a:pt x="117" y="74"/>
                    </a:lnTo>
                    <a:lnTo>
                      <a:pt x="118" y="71"/>
                    </a:lnTo>
                    <a:lnTo>
                      <a:pt x="118" y="68"/>
                    </a:lnTo>
                    <a:lnTo>
                      <a:pt x="118" y="65"/>
                    </a:lnTo>
                    <a:lnTo>
                      <a:pt x="118" y="62"/>
                    </a:lnTo>
                    <a:lnTo>
                      <a:pt x="118" y="59"/>
                    </a:lnTo>
                    <a:lnTo>
                      <a:pt x="118" y="59"/>
                    </a:lnTo>
                    <a:lnTo>
                      <a:pt x="59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0" name="Freeform 223"/>
              <p:cNvSpPr>
                <a:spLocks/>
              </p:cNvSpPr>
              <p:nvPr/>
            </p:nvSpPr>
            <p:spPr bwMode="auto">
              <a:xfrm>
                <a:off x="2264" y="1806"/>
                <a:ext cx="35" cy="35"/>
              </a:xfrm>
              <a:custGeom>
                <a:avLst/>
                <a:gdLst>
                  <a:gd name="T0" fmla="*/ 105 w 105"/>
                  <a:gd name="T1" fmla="*/ 47 h 105"/>
                  <a:gd name="T2" fmla="*/ 104 w 105"/>
                  <a:gd name="T3" fmla="*/ 40 h 105"/>
                  <a:gd name="T4" fmla="*/ 101 w 105"/>
                  <a:gd name="T5" fmla="*/ 33 h 105"/>
                  <a:gd name="T6" fmla="*/ 98 w 105"/>
                  <a:gd name="T7" fmla="*/ 25 h 105"/>
                  <a:gd name="T8" fmla="*/ 93 w 105"/>
                  <a:gd name="T9" fmla="*/ 19 h 105"/>
                  <a:gd name="T10" fmla="*/ 87 w 105"/>
                  <a:gd name="T11" fmla="*/ 13 h 105"/>
                  <a:gd name="T12" fmla="*/ 81 w 105"/>
                  <a:gd name="T13" fmla="*/ 9 h 105"/>
                  <a:gd name="T14" fmla="*/ 75 w 105"/>
                  <a:gd name="T15" fmla="*/ 5 h 105"/>
                  <a:gd name="T16" fmla="*/ 68 w 105"/>
                  <a:gd name="T17" fmla="*/ 2 h 105"/>
                  <a:gd name="T18" fmla="*/ 61 w 105"/>
                  <a:gd name="T19" fmla="*/ 0 h 105"/>
                  <a:gd name="T20" fmla="*/ 52 w 105"/>
                  <a:gd name="T21" fmla="*/ 0 h 105"/>
                  <a:gd name="T22" fmla="*/ 47 w 105"/>
                  <a:gd name="T23" fmla="*/ 0 h 105"/>
                  <a:gd name="T24" fmla="*/ 38 w 105"/>
                  <a:gd name="T25" fmla="*/ 2 h 105"/>
                  <a:gd name="T26" fmla="*/ 31 w 105"/>
                  <a:gd name="T27" fmla="*/ 5 h 105"/>
                  <a:gd name="T28" fmla="*/ 25 w 105"/>
                  <a:gd name="T29" fmla="*/ 7 h 105"/>
                  <a:gd name="T30" fmla="*/ 19 w 105"/>
                  <a:gd name="T31" fmla="*/ 12 h 105"/>
                  <a:gd name="T32" fmla="*/ 13 w 105"/>
                  <a:gd name="T33" fmla="*/ 18 h 105"/>
                  <a:gd name="T34" fmla="*/ 9 w 105"/>
                  <a:gd name="T35" fmla="*/ 24 h 105"/>
                  <a:gd name="T36" fmla="*/ 4 w 105"/>
                  <a:gd name="T37" fmla="*/ 30 h 105"/>
                  <a:gd name="T38" fmla="*/ 1 w 105"/>
                  <a:gd name="T39" fmla="*/ 37 h 105"/>
                  <a:gd name="T40" fmla="*/ 0 w 105"/>
                  <a:gd name="T41" fmla="*/ 44 h 105"/>
                  <a:gd name="T42" fmla="*/ 0 w 105"/>
                  <a:gd name="T43" fmla="*/ 52 h 105"/>
                  <a:gd name="T44" fmla="*/ 0 w 105"/>
                  <a:gd name="T45" fmla="*/ 58 h 105"/>
                  <a:gd name="T46" fmla="*/ 1 w 105"/>
                  <a:gd name="T47" fmla="*/ 65 h 105"/>
                  <a:gd name="T48" fmla="*/ 3 w 105"/>
                  <a:gd name="T49" fmla="*/ 73 h 105"/>
                  <a:gd name="T50" fmla="*/ 7 w 105"/>
                  <a:gd name="T51" fmla="*/ 80 h 105"/>
                  <a:gd name="T52" fmla="*/ 12 w 105"/>
                  <a:gd name="T53" fmla="*/ 86 h 105"/>
                  <a:gd name="T54" fmla="*/ 16 w 105"/>
                  <a:gd name="T55" fmla="*/ 92 h 105"/>
                  <a:gd name="T56" fmla="*/ 22 w 105"/>
                  <a:gd name="T57" fmla="*/ 96 h 105"/>
                  <a:gd name="T58" fmla="*/ 29 w 105"/>
                  <a:gd name="T59" fmla="*/ 101 h 105"/>
                  <a:gd name="T60" fmla="*/ 37 w 105"/>
                  <a:gd name="T61" fmla="*/ 102 h 105"/>
                  <a:gd name="T62" fmla="*/ 44 w 105"/>
                  <a:gd name="T63" fmla="*/ 105 h 105"/>
                  <a:gd name="T64" fmla="*/ 52 w 105"/>
                  <a:gd name="T65" fmla="*/ 105 h 105"/>
                  <a:gd name="T66" fmla="*/ 58 w 105"/>
                  <a:gd name="T67" fmla="*/ 105 h 105"/>
                  <a:gd name="T68" fmla="*/ 65 w 105"/>
                  <a:gd name="T69" fmla="*/ 104 h 105"/>
                  <a:gd name="T70" fmla="*/ 72 w 105"/>
                  <a:gd name="T71" fmla="*/ 101 h 105"/>
                  <a:gd name="T72" fmla="*/ 80 w 105"/>
                  <a:gd name="T73" fmla="*/ 98 h 105"/>
                  <a:gd name="T74" fmla="*/ 86 w 105"/>
                  <a:gd name="T75" fmla="*/ 93 h 105"/>
                  <a:gd name="T76" fmla="*/ 92 w 105"/>
                  <a:gd name="T77" fmla="*/ 87 h 105"/>
                  <a:gd name="T78" fmla="*/ 96 w 105"/>
                  <a:gd name="T79" fmla="*/ 82 h 105"/>
                  <a:gd name="T80" fmla="*/ 99 w 105"/>
                  <a:gd name="T81" fmla="*/ 76 h 105"/>
                  <a:gd name="T82" fmla="*/ 102 w 105"/>
                  <a:gd name="T83" fmla="*/ 68 h 105"/>
                  <a:gd name="T84" fmla="*/ 104 w 105"/>
                  <a:gd name="T85" fmla="*/ 61 h 105"/>
                  <a:gd name="T86" fmla="*/ 105 w 105"/>
                  <a:gd name="T87" fmla="*/ 5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5" h="105">
                    <a:moveTo>
                      <a:pt x="105" y="52"/>
                    </a:moveTo>
                    <a:lnTo>
                      <a:pt x="105" y="50"/>
                    </a:lnTo>
                    <a:lnTo>
                      <a:pt x="105" y="47"/>
                    </a:lnTo>
                    <a:lnTo>
                      <a:pt x="104" y="44"/>
                    </a:lnTo>
                    <a:lnTo>
                      <a:pt x="104" y="42"/>
                    </a:lnTo>
                    <a:lnTo>
                      <a:pt x="104" y="40"/>
                    </a:lnTo>
                    <a:lnTo>
                      <a:pt x="102" y="37"/>
                    </a:lnTo>
                    <a:lnTo>
                      <a:pt x="102" y="34"/>
                    </a:lnTo>
                    <a:lnTo>
                      <a:pt x="101" y="33"/>
                    </a:lnTo>
                    <a:lnTo>
                      <a:pt x="99" y="30"/>
                    </a:lnTo>
                    <a:lnTo>
                      <a:pt x="99" y="28"/>
                    </a:lnTo>
                    <a:lnTo>
                      <a:pt x="98" y="25"/>
                    </a:lnTo>
                    <a:lnTo>
                      <a:pt x="96" y="24"/>
                    </a:lnTo>
                    <a:lnTo>
                      <a:pt x="95" y="21"/>
                    </a:lnTo>
                    <a:lnTo>
                      <a:pt x="93" y="19"/>
                    </a:lnTo>
                    <a:lnTo>
                      <a:pt x="92" y="18"/>
                    </a:lnTo>
                    <a:lnTo>
                      <a:pt x="89" y="15"/>
                    </a:lnTo>
                    <a:lnTo>
                      <a:pt x="87" y="13"/>
                    </a:lnTo>
                    <a:lnTo>
                      <a:pt x="86" y="12"/>
                    </a:lnTo>
                    <a:lnTo>
                      <a:pt x="84" y="10"/>
                    </a:lnTo>
                    <a:lnTo>
                      <a:pt x="81" y="9"/>
                    </a:lnTo>
                    <a:lnTo>
                      <a:pt x="80" y="7"/>
                    </a:lnTo>
                    <a:lnTo>
                      <a:pt x="77" y="6"/>
                    </a:lnTo>
                    <a:lnTo>
                      <a:pt x="75" y="5"/>
                    </a:lnTo>
                    <a:lnTo>
                      <a:pt x="72" y="5"/>
                    </a:lnTo>
                    <a:lnTo>
                      <a:pt x="71" y="3"/>
                    </a:lnTo>
                    <a:lnTo>
                      <a:pt x="68" y="2"/>
                    </a:lnTo>
                    <a:lnTo>
                      <a:pt x="65" y="2"/>
                    </a:lnTo>
                    <a:lnTo>
                      <a:pt x="62" y="2"/>
                    </a:lnTo>
                    <a:lnTo>
                      <a:pt x="61" y="0"/>
                    </a:lnTo>
                    <a:lnTo>
                      <a:pt x="58" y="0"/>
                    </a:lnTo>
                    <a:lnTo>
                      <a:pt x="55" y="0"/>
                    </a:lnTo>
                    <a:lnTo>
                      <a:pt x="52" y="0"/>
                    </a:lnTo>
                    <a:lnTo>
                      <a:pt x="52" y="0"/>
                    </a:lnTo>
                    <a:lnTo>
                      <a:pt x="49" y="0"/>
                    </a:lnTo>
                    <a:lnTo>
                      <a:pt x="47" y="0"/>
                    </a:lnTo>
                    <a:lnTo>
                      <a:pt x="44" y="0"/>
                    </a:lnTo>
                    <a:lnTo>
                      <a:pt x="41" y="2"/>
                    </a:lnTo>
                    <a:lnTo>
                      <a:pt x="38" y="2"/>
                    </a:lnTo>
                    <a:lnTo>
                      <a:pt x="37" y="2"/>
                    </a:lnTo>
                    <a:lnTo>
                      <a:pt x="34" y="3"/>
                    </a:lnTo>
                    <a:lnTo>
                      <a:pt x="31" y="5"/>
                    </a:lnTo>
                    <a:lnTo>
                      <a:pt x="29" y="5"/>
                    </a:lnTo>
                    <a:lnTo>
                      <a:pt x="27" y="6"/>
                    </a:lnTo>
                    <a:lnTo>
                      <a:pt x="25" y="7"/>
                    </a:lnTo>
                    <a:lnTo>
                      <a:pt x="22" y="9"/>
                    </a:lnTo>
                    <a:lnTo>
                      <a:pt x="21" y="10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5" y="15"/>
                    </a:lnTo>
                    <a:lnTo>
                      <a:pt x="13" y="18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9" y="24"/>
                    </a:lnTo>
                    <a:lnTo>
                      <a:pt x="7" y="25"/>
                    </a:lnTo>
                    <a:lnTo>
                      <a:pt x="6" y="28"/>
                    </a:lnTo>
                    <a:lnTo>
                      <a:pt x="4" y="30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1" y="37"/>
                    </a:lnTo>
                    <a:lnTo>
                      <a:pt x="1" y="40"/>
                    </a:lnTo>
                    <a:lnTo>
                      <a:pt x="0" y="42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0" y="55"/>
                    </a:lnTo>
                    <a:lnTo>
                      <a:pt x="0" y="58"/>
                    </a:lnTo>
                    <a:lnTo>
                      <a:pt x="0" y="61"/>
                    </a:lnTo>
                    <a:lnTo>
                      <a:pt x="0" y="64"/>
                    </a:lnTo>
                    <a:lnTo>
                      <a:pt x="1" y="65"/>
                    </a:lnTo>
                    <a:lnTo>
                      <a:pt x="1" y="68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4" y="76"/>
                    </a:lnTo>
                    <a:lnTo>
                      <a:pt x="6" y="77"/>
                    </a:lnTo>
                    <a:lnTo>
                      <a:pt x="7" y="80"/>
                    </a:lnTo>
                    <a:lnTo>
                      <a:pt x="9" y="82"/>
                    </a:lnTo>
                    <a:lnTo>
                      <a:pt x="10" y="84"/>
                    </a:lnTo>
                    <a:lnTo>
                      <a:pt x="12" y="86"/>
                    </a:lnTo>
                    <a:lnTo>
                      <a:pt x="13" y="87"/>
                    </a:lnTo>
                    <a:lnTo>
                      <a:pt x="15" y="90"/>
                    </a:lnTo>
                    <a:lnTo>
                      <a:pt x="16" y="92"/>
                    </a:lnTo>
                    <a:lnTo>
                      <a:pt x="19" y="93"/>
                    </a:lnTo>
                    <a:lnTo>
                      <a:pt x="21" y="95"/>
                    </a:lnTo>
                    <a:lnTo>
                      <a:pt x="22" y="96"/>
                    </a:lnTo>
                    <a:lnTo>
                      <a:pt x="25" y="98"/>
                    </a:lnTo>
                    <a:lnTo>
                      <a:pt x="27" y="99"/>
                    </a:lnTo>
                    <a:lnTo>
                      <a:pt x="29" y="101"/>
                    </a:lnTo>
                    <a:lnTo>
                      <a:pt x="31" y="101"/>
                    </a:lnTo>
                    <a:lnTo>
                      <a:pt x="34" y="102"/>
                    </a:lnTo>
                    <a:lnTo>
                      <a:pt x="37" y="102"/>
                    </a:lnTo>
                    <a:lnTo>
                      <a:pt x="38" y="104"/>
                    </a:lnTo>
                    <a:lnTo>
                      <a:pt x="41" y="104"/>
                    </a:lnTo>
                    <a:lnTo>
                      <a:pt x="44" y="105"/>
                    </a:lnTo>
                    <a:lnTo>
                      <a:pt x="47" y="105"/>
                    </a:lnTo>
                    <a:lnTo>
                      <a:pt x="49" y="105"/>
                    </a:lnTo>
                    <a:lnTo>
                      <a:pt x="52" y="105"/>
                    </a:lnTo>
                    <a:lnTo>
                      <a:pt x="52" y="105"/>
                    </a:lnTo>
                    <a:lnTo>
                      <a:pt x="55" y="105"/>
                    </a:lnTo>
                    <a:lnTo>
                      <a:pt x="58" y="105"/>
                    </a:lnTo>
                    <a:lnTo>
                      <a:pt x="61" y="105"/>
                    </a:lnTo>
                    <a:lnTo>
                      <a:pt x="62" y="104"/>
                    </a:lnTo>
                    <a:lnTo>
                      <a:pt x="65" y="104"/>
                    </a:lnTo>
                    <a:lnTo>
                      <a:pt x="68" y="102"/>
                    </a:lnTo>
                    <a:lnTo>
                      <a:pt x="71" y="102"/>
                    </a:lnTo>
                    <a:lnTo>
                      <a:pt x="72" y="101"/>
                    </a:lnTo>
                    <a:lnTo>
                      <a:pt x="75" y="101"/>
                    </a:lnTo>
                    <a:lnTo>
                      <a:pt x="77" y="99"/>
                    </a:lnTo>
                    <a:lnTo>
                      <a:pt x="80" y="98"/>
                    </a:lnTo>
                    <a:lnTo>
                      <a:pt x="81" y="96"/>
                    </a:lnTo>
                    <a:lnTo>
                      <a:pt x="84" y="95"/>
                    </a:lnTo>
                    <a:lnTo>
                      <a:pt x="86" y="93"/>
                    </a:lnTo>
                    <a:lnTo>
                      <a:pt x="87" y="92"/>
                    </a:lnTo>
                    <a:lnTo>
                      <a:pt x="89" y="90"/>
                    </a:lnTo>
                    <a:lnTo>
                      <a:pt x="92" y="87"/>
                    </a:lnTo>
                    <a:lnTo>
                      <a:pt x="93" y="86"/>
                    </a:lnTo>
                    <a:lnTo>
                      <a:pt x="95" y="84"/>
                    </a:lnTo>
                    <a:lnTo>
                      <a:pt x="96" y="82"/>
                    </a:lnTo>
                    <a:lnTo>
                      <a:pt x="98" y="80"/>
                    </a:lnTo>
                    <a:lnTo>
                      <a:pt x="99" y="77"/>
                    </a:lnTo>
                    <a:lnTo>
                      <a:pt x="99" y="76"/>
                    </a:lnTo>
                    <a:lnTo>
                      <a:pt x="101" y="73"/>
                    </a:lnTo>
                    <a:lnTo>
                      <a:pt x="102" y="71"/>
                    </a:lnTo>
                    <a:lnTo>
                      <a:pt x="102" y="68"/>
                    </a:lnTo>
                    <a:lnTo>
                      <a:pt x="104" y="65"/>
                    </a:lnTo>
                    <a:lnTo>
                      <a:pt x="104" y="64"/>
                    </a:lnTo>
                    <a:lnTo>
                      <a:pt x="104" y="61"/>
                    </a:lnTo>
                    <a:lnTo>
                      <a:pt x="105" y="58"/>
                    </a:lnTo>
                    <a:lnTo>
                      <a:pt x="105" y="55"/>
                    </a:lnTo>
                    <a:lnTo>
                      <a:pt x="105" y="5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1" name="Freeform 224"/>
              <p:cNvSpPr>
                <a:spLocks/>
              </p:cNvSpPr>
              <p:nvPr/>
            </p:nvSpPr>
            <p:spPr bwMode="auto">
              <a:xfrm>
                <a:off x="3240" y="2338"/>
                <a:ext cx="50" cy="40"/>
              </a:xfrm>
              <a:custGeom>
                <a:avLst/>
                <a:gdLst>
                  <a:gd name="T0" fmla="*/ 0 w 149"/>
                  <a:gd name="T1" fmla="*/ 119 h 119"/>
                  <a:gd name="T2" fmla="*/ 149 w 149"/>
                  <a:gd name="T3" fmla="*/ 59 h 119"/>
                  <a:gd name="T4" fmla="*/ 0 w 149"/>
                  <a:gd name="T5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" h="119">
                    <a:moveTo>
                      <a:pt x="0" y="119"/>
                    </a:moveTo>
                    <a:lnTo>
                      <a:pt x="149" y="59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2" name="Freeform 225"/>
              <p:cNvSpPr>
                <a:spLocks/>
              </p:cNvSpPr>
              <p:nvPr/>
            </p:nvSpPr>
            <p:spPr bwMode="auto">
              <a:xfrm>
                <a:off x="3457" y="2091"/>
                <a:ext cx="109" cy="99"/>
              </a:xfrm>
              <a:custGeom>
                <a:avLst/>
                <a:gdLst>
                  <a:gd name="T0" fmla="*/ 326 w 326"/>
                  <a:gd name="T1" fmla="*/ 0 h 296"/>
                  <a:gd name="T2" fmla="*/ 178 w 326"/>
                  <a:gd name="T3" fmla="*/ 0 h 296"/>
                  <a:gd name="T4" fmla="*/ 178 w 326"/>
                  <a:gd name="T5" fmla="*/ 296 h 296"/>
                  <a:gd name="T6" fmla="*/ 0 w 326"/>
                  <a:gd name="T7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6" h="296">
                    <a:moveTo>
                      <a:pt x="326" y="0"/>
                    </a:moveTo>
                    <a:lnTo>
                      <a:pt x="178" y="0"/>
                    </a:lnTo>
                    <a:lnTo>
                      <a:pt x="178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3" name="Freeform 226"/>
              <p:cNvSpPr>
                <a:spLocks/>
              </p:cNvSpPr>
              <p:nvPr/>
            </p:nvSpPr>
            <p:spPr bwMode="auto">
              <a:xfrm>
                <a:off x="3181" y="2002"/>
                <a:ext cx="395" cy="188"/>
              </a:xfrm>
              <a:custGeom>
                <a:avLst/>
                <a:gdLst>
                  <a:gd name="T0" fmla="*/ 0 w 1184"/>
                  <a:gd name="T1" fmla="*/ 563 h 563"/>
                  <a:gd name="T2" fmla="*/ 0 w 1184"/>
                  <a:gd name="T3" fmla="*/ 0 h 563"/>
                  <a:gd name="T4" fmla="*/ 1184 w 1184"/>
                  <a:gd name="T5" fmla="*/ 0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84" h="563">
                    <a:moveTo>
                      <a:pt x="0" y="563"/>
                    </a:moveTo>
                    <a:lnTo>
                      <a:pt x="0" y="0"/>
                    </a:lnTo>
                    <a:lnTo>
                      <a:pt x="1184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4" name="Freeform 227"/>
              <p:cNvSpPr>
                <a:spLocks/>
              </p:cNvSpPr>
              <p:nvPr/>
            </p:nvSpPr>
            <p:spPr bwMode="auto">
              <a:xfrm>
                <a:off x="3171" y="2180"/>
                <a:ext cx="20" cy="20"/>
              </a:xfrm>
              <a:custGeom>
                <a:avLst/>
                <a:gdLst>
                  <a:gd name="T0" fmla="*/ 28 w 59"/>
                  <a:gd name="T1" fmla="*/ 0 h 60"/>
                  <a:gd name="T2" fmla="*/ 24 w 59"/>
                  <a:gd name="T3" fmla="*/ 0 h 60"/>
                  <a:gd name="T4" fmla="*/ 21 w 59"/>
                  <a:gd name="T5" fmla="*/ 2 h 60"/>
                  <a:gd name="T6" fmla="*/ 16 w 59"/>
                  <a:gd name="T7" fmla="*/ 3 h 60"/>
                  <a:gd name="T8" fmla="*/ 13 w 59"/>
                  <a:gd name="T9" fmla="*/ 6 h 60"/>
                  <a:gd name="T10" fmla="*/ 9 w 59"/>
                  <a:gd name="T11" fmla="*/ 9 h 60"/>
                  <a:gd name="T12" fmla="*/ 6 w 59"/>
                  <a:gd name="T13" fmla="*/ 12 h 60"/>
                  <a:gd name="T14" fmla="*/ 5 w 59"/>
                  <a:gd name="T15" fmla="*/ 15 h 60"/>
                  <a:gd name="T16" fmla="*/ 3 w 59"/>
                  <a:gd name="T17" fmla="*/ 20 h 60"/>
                  <a:gd name="T18" fmla="*/ 2 w 59"/>
                  <a:gd name="T19" fmla="*/ 24 h 60"/>
                  <a:gd name="T20" fmla="*/ 2 w 59"/>
                  <a:gd name="T21" fmla="*/ 28 h 60"/>
                  <a:gd name="T22" fmla="*/ 2 w 59"/>
                  <a:gd name="T23" fmla="*/ 31 h 60"/>
                  <a:gd name="T24" fmla="*/ 2 w 59"/>
                  <a:gd name="T25" fmla="*/ 36 h 60"/>
                  <a:gd name="T26" fmla="*/ 3 w 59"/>
                  <a:gd name="T27" fmla="*/ 40 h 60"/>
                  <a:gd name="T28" fmla="*/ 5 w 59"/>
                  <a:gd name="T29" fmla="*/ 43 h 60"/>
                  <a:gd name="T30" fmla="*/ 6 w 59"/>
                  <a:gd name="T31" fmla="*/ 48 h 60"/>
                  <a:gd name="T32" fmla="*/ 9 w 59"/>
                  <a:gd name="T33" fmla="*/ 51 h 60"/>
                  <a:gd name="T34" fmla="*/ 13 w 59"/>
                  <a:gd name="T35" fmla="*/ 54 h 60"/>
                  <a:gd name="T36" fmla="*/ 16 w 59"/>
                  <a:gd name="T37" fmla="*/ 55 h 60"/>
                  <a:gd name="T38" fmla="*/ 21 w 59"/>
                  <a:gd name="T39" fmla="*/ 57 h 60"/>
                  <a:gd name="T40" fmla="*/ 24 w 59"/>
                  <a:gd name="T41" fmla="*/ 58 h 60"/>
                  <a:gd name="T42" fmla="*/ 28 w 59"/>
                  <a:gd name="T43" fmla="*/ 60 h 60"/>
                  <a:gd name="T44" fmla="*/ 33 w 59"/>
                  <a:gd name="T45" fmla="*/ 60 h 60"/>
                  <a:gd name="T46" fmla="*/ 37 w 59"/>
                  <a:gd name="T47" fmla="*/ 58 h 60"/>
                  <a:gd name="T48" fmla="*/ 40 w 59"/>
                  <a:gd name="T49" fmla="*/ 57 h 60"/>
                  <a:gd name="T50" fmla="*/ 45 w 59"/>
                  <a:gd name="T51" fmla="*/ 55 h 60"/>
                  <a:gd name="T52" fmla="*/ 48 w 59"/>
                  <a:gd name="T53" fmla="*/ 54 h 60"/>
                  <a:gd name="T54" fmla="*/ 52 w 59"/>
                  <a:gd name="T55" fmla="*/ 51 h 60"/>
                  <a:gd name="T56" fmla="*/ 55 w 59"/>
                  <a:gd name="T57" fmla="*/ 48 h 60"/>
                  <a:gd name="T58" fmla="*/ 56 w 59"/>
                  <a:gd name="T59" fmla="*/ 43 h 60"/>
                  <a:gd name="T60" fmla="*/ 58 w 59"/>
                  <a:gd name="T61" fmla="*/ 40 h 60"/>
                  <a:gd name="T62" fmla="*/ 59 w 59"/>
                  <a:gd name="T63" fmla="*/ 36 h 60"/>
                  <a:gd name="T64" fmla="*/ 59 w 59"/>
                  <a:gd name="T65" fmla="*/ 31 h 60"/>
                  <a:gd name="T66" fmla="*/ 59 w 59"/>
                  <a:gd name="T67" fmla="*/ 28 h 60"/>
                  <a:gd name="T68" fmla="*/ 59 w 59"/>
                  <a:gd name="T69" fmla="*/ 24 h 60"/>
                  <a:gd name="T70" fmla="*/ 58 w 59"/>
                  <a:gd name="T71" fmla="*/ 20 h 60"/>
                  <a:gd name="T72" fmla="*/ 56 w 59"/>
                  <a:gd name="T73" fmla="*/ 15 h 60"/>
                  <a:gd name="T74" fmla="*/ 55 w 59"/>
                  <a:gd name="T75" fmla="*/ 12 h 60"/>
                  <a:gd name="T76" fmla="*/ 52 w 59"/>
                  <a:gd name="T77" fmla="*/ 9 h 60"/>
                  <a:gd name="T78" fmla="*/ 48 w 59"/>
                  <a:gd name="T79" fmla="*/ 6 h 60"/>
                  <a:gd name="T80" fmla="*/ 45 w 59"/>
                  <a:gd name="T81" fmla="*/ 3 h 60"/>
                  <a:gd name="T82" fmla="*/ 40 w 59"/>
                  <a:gd name="T83" fmla="*/ 2 h 60"/>
                  <a:gd name="T84" fmla="*/ 37 w 59"/>
                  <a:gd name="T85" fmla="*/ 0 h 60"/>
                  <a:gd name="T86" fmla="*/ 33 w 59"/>
                  <a:gd name="T87" fmla="*/ 0 h 60"/>
                  <a:gd name="T88" fmla="*/ 30 w 59"/>
                  <a:gd name="T89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60">
                    <a:moveTo>
                      <a:pt x="30" y="30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5" y="43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8" y="48"/>
                    </a:lnTo>
                    <a:lnTo>
                      <a:pt x="9" y="49"/>
                    </a:lnTo>
                    <a:lnTo>
                      <a:pt x="9" y="51"/>
                    </a:lnTo>
                    <a:lnTo>
                      <a:pt x="10" y="51"/>
                    </a:lnTo>
                    <a:lnTo>
                      <a:pt x="12" y="52"/>
                    </a:lnTo>
                    <a:lnTo>
                      <a:pt x="13" y="54"/>
                    </a:lnTo>
                    <a:lnTo>
                      <a:pt x="13" y="54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7"/>
                    </a:lnTo>
                    <a:lnTo>
                      <a:pt x="19" y="57"/>
                    </a:lnTo>
                    <a:lnTo>
                      <a:pt x="21" y="57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60"/>
                    </a:lnTo>
                    <a:lnTo>
                      <a:pt x="28" y="60"/>
                    </a:lnTo>
                    <a:lnTo>
                      <a:pt x="30" y="60"/>
                    </a:lnTo>
                    <a:lnTo>
                      <a:pt x="30" y="60"/>
                    </a:lnTo>
                    <a:lnTo>
                      <a:pt x="33" y="60"/>
                    </a:lnTo>
                    <a:lnTo>
                      <a:pt x="34" y="60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7"/>
                    </a:lnTo>
                    <a:lnTo>
                      <a:pt x="42" y="57"/>
                    </a:lnTo>
                    <a:lnTo>
                      <a:pt x="43" y="57"/>
                    </a:lnTo>
                    <a:lnTo>
                      <a:pt x="45" y="55"/>
                    </a:lnTo>
                    <a:lnTo>
                      <a:pt x="46" y="55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9" y="52"/>
                    </a:lnTo>
                    <a:lnTo>
                      <a:pt x="50" y="51"/>
                    </a:lnTo>
                    <a:lnTo>
                      <a:pt x="52" y="51"/>
                    </a:lnTo>
                    <a:lnTo>
                      <a:pt x="52" y="49"/>
                    </a:lnTo>
                    <a:lnTo>
                      <a:pt x="53" y="48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3"/>
                    </a:lnTo>
                    <a:lnTo>
                      <a:pt x="59" y="21"/>
                    </a:lnTo>
                    <a:lnTo>
                      <a:pt x="58" y="20"/>
                    </a:lnTo>
                    <a:lnTo>
                      <a:pt x="58" y="18"/>
                    </a:lnTo>
                    <a:lnTo>
                      <a:pt x="58" y="17"/>
                    </a:lnTo>
                    <a:lnTo>
                      <a:pt x="56" y="15"/>
                    </a:lnTo>
                    <a:lnTo>
                      <a:pt x="56" y="14"/>
                    </a:lnTo>
                    <a:lnTo>
                      <a:pt x="55" y="14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8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6" y="5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5" name="Freeform 228"/>
              <p:cNvSpPr>
                <a:spLocks/>
              </p:cNvSpPr>
              <p:nvPr/>
            </p:nvSpPr>
            <p:spPr bwMode="auto">
              <a:xfrm>
                <a:off x="3175" y="2184"/>
                <a:ext cx="24" cy="24"/>
              </a:xfrm>
              <a:custGeom>
                <a:avLst/>
                <a:gdLst>
                  <a:gd name="T0" fmla="*/ 33 w 73"/>
                  <a:gd name="T1" fmla="*/ 1 h 72"/>
                  <a:gd name="T2" fmla="*/ 28 w 73"/>
                  <a:gd name="T3" fmla="*/ 1 h 72"/>
                  <a:gd name="T4" fmla="*/ 22 w 73"/>
                  <a:gd name="T5" fmla="*/ 3 h 72"/>
                  <a:gd name="T6" fmla="*/ 18 w 73"/>
                  <a:gd name="T7" fmla="*/ 6 h 72"/>
                  <a:gd name="T8" fmla="*/ 13 w 73"/>
                  <a:gd name="T9" fmla="*/ 9 h 72"/>
                  <a:gd name="T10" fmla="*/ 10 w 73"/>
                  <a:gd name="T11" fmla="*/ 12 h 72"/>
                  <a:gd name="T12" fmla="*/ 6 w 73"/>
                  <a:gd name="T13" fmla="*/ 16 h 72"/>
                  <a:gd name="T14" fmla="*/ 4 w 73"/>
                  <a:gd name="T15" fmla="*/ 20 h 72"/>
                  <a:gd name="T16" fmla="*/ 1 w 73"/>
                  <a:gd name="T17" fmla="*/ 26 h 72"/>
                  <a:gd name="T18" fmla="*/ 1 w 73"/>
                  <a:gd name="T19" fmla="*/ 31 h 72"/>
                  <a:gd name="T20" fmla="*/ 0 w 73"/>
                  <a:gd name="T21" fmla="*/ 37 h 72"/>
                  <a:gd name="T22" fmla="*/ 0 w 73"/>
                  <a:gd name="T23" fmla="*/ 40 h 72"/>
                  <a:gd name="T24" fmla="*/ 1 w 73"/>
                  <a:gd name="T25" fmla="*/ 46 h 72"/>
                  <a:gd name="T26" fmla="*/ 3 w 73"/>
                  <a:gd name="T27" fmla="*/ 50 h 72"/>
                  <a:gd name="T28" fmla="*/ 6 w 73"/>
                  <a:gd name="T29" fmla="*/ 56 h 72"/>
                  <a:gd name="T30" fmla="*/ 9 w 73"/>
                  <a:gd name="T31" fmla="*/ 59 h 72"/>
                  <a:gd name="T32" fmla="*/ 12 w 73"/>
                  <a:gd name="T33" fmla="*/ 63 h 72"/>
                  <a:gd name="T34" fmla="*/ 16 w 73"/>
                  <a:gd name="T35" fmla="*/ 66 h 72"/>
                  <a:gd name="T36" fmla="*/ 21 w 73"/>
                  <a:gd name="T37" fmla="*/ 69 h 72"/>
                  <a:gd name="T38" fmla="*/ 25 w 73"/>
                  <a:gd name="T39" fmla="*/ 71 h 72"/>
                  <a:gd name="T40" fmla="*/ 31 w 73"/>
                  <a:gd name="T41" fmla="*/ 72 h 72"/>
                  <a:gd name="T42" fmla="*/ 37 w 73"/>
                  <a:gd name="T43" fmla="*/ 72 h 72"/>
                  <a:gd name="T44" fmla="*/ 40 w 73"/>
                  <a:gd name="T45" fmla="*/ 72 h 72"/>
                  <a:gd name="T46" fmla="*/ 46 w 73"/>
                  <a:gd name="T47" fmla="*/ 72 h 72"/>
                  <a:gd name="T48" fmla="*/ 50 w 73"/>
                  <a:gd name="T49" fmla="*/ 69 h 72"/>
                  <a:gd name="T50" fmla="*/ 55 w 73"/>
                  <a:gd name="T51" fmla="*/ 68 h 72"/>
                  <a:gd name="T52" fmla="*/ 59 w 73"/>
                  <a:gd name="T53" fmla="*/ 65 h 72"/>
                  <a:gd name="T54" fmla="*/ 64 w 73"/>
                  <a:gd name="T55" fmla="*/ 60 h 72"/>
                  <a:gd name="T56" fmla="*/ 67 w 73"/>
                  <a:gd name="T57" fmla="*/ 57 h 72"/>
                  <a:gd name="T58" fmla="*/ 70 w 73"/>
                  <a:gd name="T59" fmla="*/ 51 h 72"/>
                  <a:gd name="T60" fmla="*/ 71 w 73"/>
                  <a:gd name="T61" fmla="*/ 47 h 72"/>
                  <a:gd name="T62" fmla="*/ 73 w 73"/>
                  <a:gd name="T63" fmla="*/ 43 h 72"/>
                  <a:gd name="T64" fmla="*/ 73 w 73"/>
                  <a:gd name="T65" fmla="*/ 37 h 72"/>
                  <a:gd name="T66" fmla="*/ 73 w 73"/>
                  <a:gd name="T67" fmla="*/ 32 h 72"/>
                  <a:gd name="T68" fmla="*/ 71 w 73"/>
                  <a:gd name="T69" fmla="*/ 28 h 72"/>
                  <a:gd name="T70" fmla="*/ 70 w 73"/>
                  <a:gd name="T71" fmla="*/ 22 h 72"/>
                  <a:gd name="T72" fmla="*/ 68 w 73"/>
                  <a:gd name="T73" fmla="*/ 17 h 72"/>
                  <a:gd name="T74" fmla="*/ 65 w 73"/>
                  <a:gd name="T75" fmla="*/ 13 h 72"/>
                  <a:gd name="T76" fmla="*/ 61 w 73"/>
                  <a:gd name="T77" fmla="*/ 10 h 72"/>
                  <a:gd name="T78" fmla="*/ 56 w 73"/>
                  <a:gd name="T79" fmla="*/ 7 h 72"/>
                  <a:gd name="T80" fmla="*/ 52 w 73"/>
                  <a:gd name="T81" fmla="*/ 4 h 72"/>
                  <a:gd name="T82" fmla="*/ 47 w 73"/>
                  <a:gd name="T83" fmla="*/ 3 h 72"/>
                  <a:gd name="T84" fmla="*/ 41 w 73"/>
                  <a:gd name="T85" fmla="*/ 1 h 72"/>
                  <a:gd name="T86" fmla="*/ 37 w 73"/>
                  <a:gd name="T8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2">
                    <a:moveTo>
                      <a:pt x="37" y="0"/>
                    </a:moveTo>
                    <a:lnTo>
                      <a:pt x="34" y="1"/>
                    </a:lnTo>
                    <a:lnTo>
                      <a:pt x="33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8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3"/>
                    </a:lnTo>
                    <a:lnTo>
                      <a:pt x="7" y="14"/>
                    </a:lnTo>
                    <a:lnTo>
                      <a:pt x="6" y="16"/>
                    </a:lnTo>
                    <a:lnTo>
                      <a:pt x="6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7" y="57"/>
                    </a:lnTo>
                    <a:lnTo>
                      <a:pt x="9" y="59"/>
                    </a:lnTo>
                    <a:lnTo>
                      <a:pt x="10" y="60"/>
                    </a:lnTo>
                    <a:lnTo>
                      <a:pt x="10" y="62"/>
                    </a:lnTo>
                    <a:lnTo>
                      <a:pt x="12" y="63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6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69"/>
                    </a:lnTo>
                    <a:lnTo>
                      <a:pt x="22" y="69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2"/>
                    </a:lnTo>
                    <a:lnTo>
                      <a:pt x="30" y="72"/>
                    </a:lnTo>
                    <a:lnTo>
                      <a:pt x="31" y="72"/>
                    </a:lnTo>
                    <a:lnTo>
                      <a:pt x="33" y="72"/>
                    </a:lnTo>
                    <a:lnTo>
                      <a:pt x="34" y="72"/>
                    </a:lnTo>
                    <a:lnTo>
                      <a:pt x="37" y="72"/>
                    </a:lnTo>
                    <a:lnTo>
                      <a:pt x="37" y="72"/>
                    </a:lnTo>
                    <a:lnTo>
                      <a:pt x="38" y="72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4" y="72"/>
                    </a:lnTo>
                    <a:lnTo>
                      <a:pt x="46" y="72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69"/>
                    </a:lnTo>
                    <a:lnTo>
                      <a:pt x="52" y="69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1" y="63"/>
                    </a:lnTo>
                    <a:lnTo>
                      <a:pt x="62" y="62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5" y="57"/>
                    </a:lnTo>
                    <a:lnTo>
                      <a:pt x="67" y="57"/>
                    </a:lnTo>
                    <a:lnTo>
                      <a:pt x="68" y="56"/>
                    </a:lnTo>
                    <a:lnTo>
                      <a:pt x="68" y="54"/>
                    </a:lnTo>
                    <a:lnTo>
                      <a:pt x="70" y="51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3" y="44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8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3" y="32"/>
                    </a:lnTo>
                    <a:lnTo>
                      <a:pt x="73" y="31"/>
                    </a:lnTo>
                    <a:lnTo>
                      <a:pt x="73" y="29"/>
                    </a:lnTo>
                    <a:lnTo>
                      <a:pt x="71" y="28"/>
                    </a:lnTo>
                    <a:lnTo>
                      <a:pt x="71" y="26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0"/>
                    </a:lnTo>
                    <a:lnTo>
                      <a:pt x="68" y="19"/>
                    </a:lnTo>
                    <a:lnTo>
                      <a:pt x="68" y="17"/>
                    </a:lnTo>
                    <a:lnTo>
                      <a:pt x="67" y="16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2"/>
                    </a:lnTo>
                    <a:lnTo>
                      <a:pt x="62" y="12"/>
                    </a:lnTo>
                    <a:lnTo>
                      <a:pt x="61" y="10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6" name="Rectangle 229"/>
              <p:cNvSpPr>
                <a:spLocks noChangeArrowheads="1"/>
              </p:cNvSpPr>
              <p:nvPr/>
            </p:nvSpPr>
            <p:spPr bwMode="auto">
              <a:xfrm>
                <a:off x="3264" y="2145"/>
                <a:ext cx="9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900">
                    <a:solidFill>
                      <a:srgbClr val="000000"/>
                    </a:solidFill>
                    <a:latin typeface="Times-Roman" charset="0"/>
                  </a:rPr>
                  <a:t>D</a:t>
                </a: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-Roman" charset="0"/>
                    <a:cs typeface="Arial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4907" name="Line 230"/>
              <p:cNvSpPr>
                <a:spLocks noChangeShapeType="1"/>
              </p:cNvSpPr>
              <p:nvPr/>
            </p:nvSpPr>
            <p:spPr bwMode="auto">
              <a:xfrm>
                <a:off x="3141" y="2358"/>
                <a:ext cx="9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8" name="Line 231"/>
              <p:cNvSpPr>
                <a:spLocks noChangeShapeType="1"/>
              </p:cNvSpPr>
              <p:nvPr/>
            </p:nvSpPr>
            <p:spPr bwMode="auto">
              <a:xfrm>
                <a:off x="3615" y="1884"/>
                <a:ext cx="0" cy="7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09" name="Line 232"/>
              <p:cNvSpPr>
                <a:spLocks noChangeShapeType="1"/>
              </p:cNvSpPr>
              <p:nvPr/>
            </p:nvSpPr>
            <p:spPr bwMode="auto">
              <a:xfrm flipH="1">
                <a:off x="3655" y="2052"/>
                <a:ext cx="6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0" name="Line 233"/>
              <p:cNvSpPr>
                <a:spLocks noChangeShapeType="1"/>
              </p:cNvSpPr>
              <p:nvPr/>
            </p:nvSpPr>
            <p:spPr bwMode="auto">
              <a:xfrm>
                <a:off x="3783" y="1923"/>
                <a:ext cx="0" cy="8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1" name="Rectangle 234"/>
              <p:cNvSpPr>
                <a:spLocks noChangeArrowheads="1"/>
              </p:cNvSpPr>
              <p:nvPr/>
            </p:nvSpPr>
            <p:spPr bwMode="auto">
              <a:xfrm>
                <a:off x="3240" y="2101"/>
                <a:ext cx="217" cy="336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2" name="Freeform 235"/>
              <p:cNvSpPr>
                <a:spLocks/>
              </p:cNvSpPr>
              <p:nvPr/>
            </p:nvSpPr>
            <p:spPr bwMode="auto">
              <a:xfrm>
                <a:off x="3576" y="1943"/>
                <a:ext cx="79" cy="207"/>
              </a:xfrm>
              <a:custGeom>
                <a:avLst/>
                <a:gdLst>
                  <a:gd name="T0" fmla="*/ 237 w 237"/>
                  <a:gd name="T1" fmla="*/ 503 h 621"/>
                  <a:gd name="T2" fmla="*/ 237 w 237"/>
                  <a:gd name="T3" fmla="*/ 118 h 621"/>
                  <a:gd name="T4" fmla="*/ 0 w 237"/>
                  <a:gd name="T5" fmla="*/ 0 h 621"/>
                  <a:gd name="T6" fmla="*/ 0 w 237"/>
                  <a:gd name="T7" fmla="*/ 621 h 621"/>
                  <a:gd name="T8" fmla="*/ 237 w 237"/>
                  <a:gd name="T9" fmla="*/ 503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621">
                    <a:moveTo>
                      <a:pt x="237" y="503"/>
                    </a:moveTo>
                    <a:lnTo>
                      <a:pt x="237" y="118"/>
                    </a:lnTo>
                    <a:lnTo>
                      <a:pt x="0" y="0"/>
                    </a:lnTo>
                    <a:lnTo>
                      <a:pt x="0" y="621"/>
                    </a:lnTo>
                    <a:lnTo>
                      <a:pt x="237" y="503"/>
                    </a:lnTo>
                    <a:close/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3" name="Freeform 236"/>
              <p:cNvSpPr>
                <a:spLocks/>
              </p:cNvSpPr>
              <p:nvPr/>
            </p:nvSpPr>
            <p:spPr bwMode="auto">
              <a:xfrm>
                <a:off x="3724" y="1983"/>
                <a:ext cx="128" cy="128"/>
              </a:xfrm>
              <a:custGeom>
                <a:avLst/>
                <a:gdLst>
                  <a:gd name="T0" fmla="*/ 385 w 385"/>
                  <a:gd name="T1" fmla="*/ 207 h 385"/>
                  <a:gd name="T2" fmla="*/ 0 w 385"/>
                  <a:gd name="T3" fmla="*/ 385 h 385"/>
                  <a:gd name="T4" fmla="*/ 0 w 385"/>
                  <a:gd name="T5" fmla="*/ 0 h 385"/>
                  <a:gd name="T6" fmla="*/ 385 w 385"/>
                  <a:gd name="T7" fmla="*/ 207 h 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5" h="385">
                    <a:moveTo>
                      <a:pt x="385" y="207"/>
                    </a:moveTo>
                    <a:lnTo>
                      <a:pt x="0" y="385"/>
                    </a:lnTo>
                    <a:lnTo>
                      <a:pt x="0" y="0"/>
                    </a:lnTo>
                    <a:lnTo>
                      <a:pt x="385" y="207"/>
                    </a:lnTo>
                    <a:close/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4" name="Line 237"/>
              <p:cNvSpPr>
                <a:spLocks noChangeShapeType="1"/>
              </p:cNvSpPr>
              <p:nvPr/>
            </p:nvSpPr>
            <p:spPr bwMode="auto">
              <a:xfrm>
                <a:off x="2865" y="2150"/>
                <a:ext cx="5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5" name="Line 238"/>
              <p:cNvSpPr>
                <a:spLocks noChangeShapeType="1"/>
              </p:cNvSpPr>
              <p:nvPr/>
            </p:nvSpPr>
            <p:spPr bwMode="auto">
              <a:xfrm flipH="1">
                <a:off x="3122" y="2190"/>
                <a:ext cx="118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6" name="Freeform 239"/>
              <p:cNvSpPr>
                <a:spLocks/>
              </p:cNvSpPr>
              <p:nvPr/>
            </p:nvSpPr>
            <p:spPr bwMode="auto">
              <a:xfrm>
                <a:off x="2945" y="2121"/>
                <a:ext cx="177" cy="71"/>
              </a:xfrm>
              <a:custGeom>
                <a:avLst/>
                <a:gdLst>
                  <a:gd name="T0" fmla="*/ 104 w 531"/>
                  <a:gd name="T1" fmla="*/ 0 h 212"/>
                  <a:gd name="T2" fmla="*/ 178 w 531"/>
                  <a:gd name="T3" fmla="*/ 0 h 212"/>
                  <a:gd name="T4" fmla="*/ 215 w 531"/>
                  <a:gd name="T5" fmla="*/ 0 h 212"/>
                  <a:gd name="T6" fmla="*/ 233 w 531"/>
                  <a:gd name="T7" fmla="*/ 2 h 212"/>
                  <a:gd name="T8" fmla="*/ 240 w 531"/>
                  <a:gd name="T9" fmla="*/ 2 h 212"/>
                  <a:gd name="T10" fmla="*/ 249 w 531"/>
                  <a:gd name="T11" fmla="*/ 2 h 212"/>
                  <a:gd name="T12" fmla="*/ 255 w 531"/>
                  <a:gd name="T13" fmla="*/ 3 h 212"/>
                  <a:gd name="T14" fmla="*/ 260 w 531"/>
                  <a:gd name="T15" fmla="*/ 3 h 212"/>
                  <a:gd name="T16" fmla="*/ 267 w 531"/>
                  <a:gd name="T17" fmla="*/ 5 h 212"/>
                  <a:gd name="T18" fmla="*/ 276 w 531"/>
                  <a:gd name="T19" fmla="*/ 6 h 212"/>
                  <a:gd name="T20" fmla="*/ 282 w 531"/>
                  <a:gd name="T21" fmla="*/ 6 h 212"/>
                  <a:gd name="T22" fmla="*/ 288 w 531"/>
                  <a:gd name="T23" fmla="*/ 8 h 212"/>
                  <a:gd name="T24" fmla="*/ 294 w 531"/>
                  <a:gd name="T25" fmla="*/ 9 h 212"/>
                  <a:gd name="T26" fmla="*/ 302 w 531"/>
                  <a:gd name="T27" fmla="*/ 12 h 212"/>
                  <a:gd name="T28" fmla="*/ 311 w 531"/>
                  <a:gd name="T29" fmla="*/ 15 h 212"/>
                  <a:gd name="T30" fmla="*/ 319 w 531"/>
                  <a:gd name="T31" fmla="*/ 18 h 212"/>
                  <a:gd name="T32" fmla="*/ 325 w 531"/>
                  <a:gd name="T33" fmla="*/ 19 h 212"/>
                  <a:gd name="T34" fmla="*/ 331 w 531"/>
                  <a:gd name="T35" fmla="*/ 22 h 212"/>
                  <a:gd name="T36" fmla="*/ 338 w 531"/>
                  <a:gd name="T37" fmla="*/ 25 h 212"/>
                  <a:gd name="T38" fmla="*/ 347 w 531"/>
                  <a:gd name="T39" fmla="*/ 30 h 212"/>
                  <a:gd name="T40" fmla="*/ 351 w 531"/>
                  <a:gd name="T41" fmla="*/ 33 h 212"/>
                  <a:gd name="T42" fmla="*/ 357 w 531"/>
                  <a:gd name="T43" fmla="*/ 36 h 212"/>
                  <a:gd name="T44" fmla="*/ 363 w 531"/>
                  <a:gd name="T45" fmla="*/ 39 h 212"/>
                  <a:gd name="T46" fmla="*/ 369 w 531"/>
                  <a:gd name="T47" fmla="*/ 43 h 212"/>
                  <a:gd name="T48" fmla="*/ 377 w 531"/>
                  <a:gd name="T49" fmla="*/ 46 h 212"/>
                  <a:gd name="T50" fmla="*/ 381 w 531"/>
                  <a:gd name="T51" fmla="*/ 49 h 212"/>
                  <a:gd name="T52" fmla="*/ 385 w 531"/>
                  <a:gd name="T53" fmla="*/ 52 h 212"/>
                  <a:gd name="T54" fmla="*/ 390 w 531"/>
                  <a:gd name="T55" fmla="*/ 55 h 212"/>
                  <a:gd name="T56" fmla="*/ 396 w 531"/>
                  <a:gd name="T57" fmla="*/ 59 h 212"/>
                  <a:gd name="T58" fmla="*/ 400 w 531"/>
                  <a:gd name="T59" fmla="*/ 62 h 212"/>
                  <a:gd name="T60" fmla="*/ 403 w 531"/>
                  <a:gd name="T61" fmla="*/ 64 h 212"/>
                  <a:gd name="T62" fmla="*/ 406 w 531"/>
                  <a:gd name="T63" fmla="*/ 67 h 212"/>
                  <a:gd name="T64" fmla="*/ 411 w 531"/>
                  <a:gd name="T65" fmla="*/ 70 h 212"/>
                  <a:gd name="T66" fmla="*/ 415 w 531"/>
                  <a:gd name="T67" fmla="*/ 73 h 212"/>
                  <a:gd name="T68" fmla="*/ 418 w 531"/>
                  <a:gd name="T69" fmla="*/ 76 h 212"/>
                  <a:gd name="T70" fmla="*/ 421 w 531"/>
                  <a:gd name="T71" fmla="*/ 77 h 212"/>
                  <a:gd name="T72" fmla="*/ 424 w 531"/>
                  <a:gd name="T73" fmla="*/ 80 h 212"/>
                  <a:gd name="T74" fmla="*/ 428 w 531"/>
                  <a:gd name="T75" fmla="*/ 83 h 212"/>
                  <a:gd name="T76" fmla="*/ 433 w 531"/>
                  <a:gd name="T77" fmla="*/ 86 h 212"/>
                  <a:gd name="T78" fmla="*/ 436 w 531"/>
                  <a:gd name="T79" fmla="*/ 89 h 212"/>
                  <a:gd name="T80" fmla="*/ 440 w 531"/>
                  <a:gd name="T81" fmla="*/ 92 h 212"/>
                  <a:gd name="T82" fmla="*/ 443 w 531"/>
                  <a:gd name="T83" fmla="*/ 96 h 212"/>
                  <a:gd name="T84" fmla="*/ 449 w 531"/>
                  <a:gd name="T85" fmla="*/ 101 h 212"/>
                  <a:gd name="T86" fmla="*/ 454 w 531"/>
                  <a:gd name="T87" fmla="*/ 105 h 212"/>
                  <a:gd name="T88" fmla="*/ 456 w 531"/>
                  <a:gd name="T89" fmla="*/ 110 h 212"/>
                  <a:gd name="T90" fmla="*/ 459 w 531"/>
                  <a:gd name="T91" fmla="*/ 114 h 212"/>
                  <a:gd name="T92" fmla="*/ 465 w 531"/>
                  <a:gd name="T93" fmla="*/ 120 h 212"/>
                  <a:gd name="T94" fmla="*/ 471 w 531"/>
                  <a:gd name="T95" fmla="*/ 127 h 212"/>
                  <a:gd name="T96" fmla="*/ 476 w 531"/>
                  <a:gd name="T97" fmla="*/ 132 h 212"/>
                  <a:gd name="T98" fmla="*/ 479 w 531"/>
                  <a:gd name="T99" fmla="*/ 138 h 212"/>
                  <a:gd name="T100" fmla="*/ 483 w 531"/>
                  <a:gd name="T101" fmla="*/ 144 h 212"/>
                  <a:gd name="T102" fmla="*/ 489 w 531"/>
                  <a:gd name="T103" fmla="*/ 150 h 212"/>
                  <a:gd name="T104" fmla="*/ 495 w 531"/>
                  <a:gd name="T105" fmla="*/ 159 h 212"/>
                  <a:gd name="T106" fmla="*/ 499 w 531"/>
                  <a:gd name="T107" fmla="*/ 164 h 212"/>
                  <a:gd name="T108" fmla="*/ 502 w 531"/>
                  <a:gd name="T109" fmla="*/ 170 h 212"/>
                  <a:gd name="T110" fmla="*/ 508 w 531"/>
                  <a:gd name="T111" fmla="*/ 176 h 212"/>
                  <a:gd name="T112" fmla="*/ 514 w 531"/>
                  <a:gd name="T113" fmla="*/ 185 h 212"/>
                  <a:gd name="T114" fmla="*/ 519 w 531"/>
                  <a:gd name="T115" fmla="*/ 193 h 212"/>
                  <a:gd name="T116" fmla="*/ 523 w 531"/>
                  <a:gd name="T117" fmla="*/ 197 h 212"/>
                  <a:gd name="T118" fmla="*/ 526 w 531"/>
                  <a:gd name="T119" fmla="*/ 203 h 212"/>
                  <a:gd name="T120" fmla="*/ 531 w 531"/>
                  <a:gd name="T121" fmla="*/ 20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0"/>
                    </a:moveTo>
                    <a:lnTo>
                      <a:pt x="21" y="0"/>
                    </a:lnTo>
                    <a:lnTo>
                      <a:pt x="39" y="0"/>
                    </a:lnTo>
                    <a:lnTo>
                      <a:pt x="57" y="0"/>
                    </a:lnTo>
                    <a:lnTo>
                      <a:pt x="74" y="0"/>
                    </a:lnTo>
                    <a:lnTo>
                      <a:pt x="89" y="0"/>
                    </a:lnTo>
                    <a:lnTo>
                      <a:pt x="104" y="0"/>
                    </a:lnTo>
                    <a:lnTo>
                      <a:pt x="117" y="0"/>
                    </a:lnTo>
                    <a:lnTo>
                      <a:pt x="129" y="0"/>
                    </a:lnTo>
                    <a:lnTo>
                      <a:pt x="141" y="0"/>
                    </a:lnTo>
                    <a:lnTo>
                      <a:pt x="151" y="0"/>
                    </a:lnTo>
                    <a:lnTo>
                      <a:pt x="162" y="0"/>
                    </a:lnTo>
                    <a:lnTo>
                      <a:pt x="169" y="0"/>
                    </a:lnTo>
                    <a:lnTo>
                      <a:pt x="178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8" y="0"/>
                    </a:lnTo>
                    <a:lnTo>
                      <a:pt x="212" y="0"/>
                    </a:lnTo>
                    <a:lnTo>
                      <a:pt x="215" y="0"/>
                    </a:lnTo>
                    <a:lnTo>
                      <a:pt x="220" y="0"/>
                    </a:lnTo>
                    <a:lnTo>
                      <a:pt x="223" y="0"/>
                    </a:lnTo>
                    <a:lnTo>
                      <a:pt x="224" y="2"/>
                    </a:lnTo>
                    <a:lnTo>
                      <a:pt x="227" y="2"/>
                    </a:lnTo>
                    <a:lnTo>
                      <a:pt x="228" y="2"/>
                    </a:lnTo>
                    <a:lnTo>
                      <a:pt x="230" y="2"/>
                    </a:lnTo>
                    <a:lnTo>
                      <a:pt x="233" y="2"/>
                    </a:lnTo>
                    <a:lnTo>
                      <a:pt x="234" y="2"/>
                    </a:lnTo>
                    <a:lnTo>
                      <a:pt x="236" y="2"/>
                    </a:lnTo>
                    <a:lnTo>
                      <a:pt x="237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40" y="2"/>
                    </a:lnTo>
                    <a:lnTo>
                      <a:pt x="242" y="2"/>
                    </a:lnTo>
                    <a:lnTo>
                      <a:pt x="243" y="2"/>
                    </a:lnTo>
                    <a:lnTo>
                      <a:pt x="245" y="2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248" y="2"/>
                    </a:lnTo>
                    <a:lnTo>
                      <a:pt x="249" y="2"/>
                    </a:lnTo>
                    <a:lnTo>
                      <a:pt x="251" y="2"/>
                    </a:lnTo>
                    <a:lnTo>
                      <a:pt x="251" y="2"/>
                    </a:lnTo>
                    <a:lnTo>
                      <a:pt x="252" y="3"/>
                    </a:lnTo>
                    <a:lnTo>
                      <a:pt x="252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5" y="3"/>
                    </a:lnTo>
                    <a:lnTo>
                      <a:pt x="255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8" y="3"/>
                    </a:lnTo>
                    <a:lnTo>
                      <a:pt x="258" y="3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4" y="5"/>
                    </a:lnTo>
                    <a:lnTo>
                      <a:pt x="265" y="5"/>
                    </a:lnTo>
                    <a:lnTo>
                      <a:pt x="265" y="5"/>
                    </a:lnTo>
                    <a:lnTo>
                      <a:pt x="267" y="5"/>
                    </a:lnTo>
                    <a:lnTo>
                      <a:pt x="268" y="5"/>
                    </a:lnTo>
                    <a:lnTo>
                      <a:pt x="270" y="5"/>
                    </a:lnTo>
                    <a:lnTo>
                      <a:pt x="271" y="5"/>
                    </a:lnTo>
                    <a:lnTo>
                      <a:pt x="271" y="5"/>
                    </a:lnTo>
                    <a:lnTo>
                      <a:pt x="273" y="5"/>
                    </a:lnTo>
                    <a:lnTo>
                      <a:pt x="274" y="6"/>
                    </a:lnTo>
                    <a:lnTo>
                      <a:pt x="276" y="6"/>
                    </a:lnTo>
                    <a:lnTo>
                      <a:pt x="276" y="6"/>
                    </a:lnTo>
                    <a:lnTo>
                      <a:pt x="277" y="6"/>
                    </a:lnTo>
                    <a:lnTo>
                      <a:pt x="279" y="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6"/>
                    </a:lnTo>
                    <a:lnTo>
                      <a:pt x="282" y="6"/>
                    </a:lnTo>
                    <a:lnTo>
                      <a:pt x="283" y="6"/>
                    </a:lnTo>
                    <a:lnTo>
                      <a:pt x="285" y="8"/>
                    </a:lnTo>
                    <a:lnTo>
                      <a:pt x="285" y="8"/>
                    </a:lnTo>
                    <a:lnTo>
                      <a:pt x="286" y="8"/>
                    </a:lnTo>
                    <a:lnTo>
                      <a:pt x="286" y="8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89" y="8"/>
                    </a:lnTo>
                    <a:lnTo>
                      <a:pt x="289" y="8"/>
                    </a:lnTo>
                    <a:lnTo>
                      <a:pt x="291" y="9"/>
                    </a:lnTo>
                    <a:lnTo>
                      <a:pt x="291" y="9"/>
                    </a:lnTo>
                    <a:lnTo>
                      <a:pt x="292" y="9"/>
                    </a:lnTo>
                    <a:lnTo>
                      <a:pt x="294" y="9"/>
                    </a:lnTo>
                    <a:lnTo>
                      <a:pt x="294" y="9"/>
                    </a:lnTo>
                    <a:lnTo>
                      <a:pt x="295" y="9"/>
                    </a:lnTo>
                    <a:lnTo>
                      <a:pt x="297" y="10"/>
                    </a:lnTo>
                    <a:lnTo>
                      <a:pt x="298" y="10"/>
                    </a:lnTo>
                    <a:lnTo>
                      <a:pt x="298" y="10"/>
                    </a:lnTo>
                    <a:lnTo>
                      <a:pt x="300" y="12"/>
                    </a:lnTo>
                    <a:lnTo>
                      <a:pt x="301" y="12"/>
                    </a:lnTo>
                    <a:lnTo>
                      <a:pt x="302" y="12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5" y="13"/>
                    </a:lnTo>
                    <a:lnTo>
                      <a:pt x="307" y="13"/>
                    </a:lnTo>
                    <a:lnTo>
                      <a:pt x="308" y="13"/>
                    </a:lnTo>
                    <a:lnTo>
                      <a:pt x="310" y="15"/>
                    </a:lnTo>
                    <a:lnTo>
                      <a:pt x="311" y="15"/>
                    </a:lnTo>
                    <a:lnTo>
                      <a:pt x="313" y="15"/>
                    </a:lnTo>
                    <a:lnTo>
                      <a:pt x="314" y="16"/>
                    </a:lnTo>
                    <a:lnTo>
                      <a:pt x="314" y="16"/>
                    </a:lnTo>
                    <a:lnTo>
                      <a:pt x="316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9" y="18"/>
                    </a:lnTo>
                    <a:lnTo>
                      <a:pt x="319" y="18"/>
                    </a:lnTo>
                    <a:lnTo>
                      <a:pt x="320" y="18"/>
                    </a:lnTo>
                    <a:lnTo>
                      <a:pt x="322" y="18"/>
                    </a:lnTo>
                    <a:lnTo>
                      <a:pt x="322" y="18"/>
                    </a:lnTo>
                    <a:lnTo>
                      <a:pt x="323" y="19"/>
                    </a:lnTo>
                    <a:lnTo>
                      <a:pt x="323" y="19"/>
                    </a:lnTo>
                    <a:lnTo>
                      <a:pt x="325" y="19"/>
                    </a:lnTo>
                    <a:lnTo>
                      <a:pt x="325" y="19"/>
                    </a:lnTo>
                    <a:lnTo>
                      <a:pt x="326" y="21"/>
                    </a:lnTo>
                    <a:lnTo>
                      <a:pt x="326" y="21"/>
                    </a:lnTo>
                    <a:lnTo>
                      <a:pt x="328" y="21"/>
                    </a:lnTo>
                    <a:lnTo>
                      <a:pt x="329" y="21"/>
                    </a:lnTo>
                    <a:lnTo>
                      <a:pt x="329" y="22"/>
                    </a:lnTo>
                    <a:lnTo>
                      <a:pt x="331" y="22"/>
                    </a:lnTo>
                    <a:lnTo>
                      <a:pt x="332" y="22"/>
                    </a:lnTo>
                    <a:lnTo>
                      <a:pt x="332" y="24"/>
                    </a:lnTo>
                    <a:lnTo>
                      <a:pt x="334" y="24"/>
                    </a:lnTo>
                    <a:lnTo>
                      <a:pt x="335" y="25"/>
                    </a:lnTo>
                    <a:lnTo>
                      <a:pt x="337" y="25"/>
                    </a:lnTo>
                    <a:lnTo>
                      <a:pt x="338" y="25"/>
                    </a:lnTo>
                    <a:lnTo>
                      <a:pt x="338" y="25"/>
                    </a:lnTo>
                    <a:lnTo>
                      <a:pt x="339" y="27"/>
                    </a:lnTo>
                    <a:lnTo>
                      <a:pt x="341" y="27"/>
                    </a:lnTo>
                    <a:lnTo>
                      <a:pt x="342" y="28"/>
                    </a:lnTo>
                    <a:lnTo>
                      <a:pt x="342" y="28"/>
                    </a:lnTo>
                    <a:lnTo>
                      <a:pt x="344" y="30"/>
                    </a:lnTo>
                    <a:lnTo>
                      <a:pt x="345" y="30"/>
                    </a:lnTo>
                    <a:lnTo>
                      <a:pt x="347" y="30"/>
                    </a:lnTo>
                    <a:lnTo>
                      <a:pt x="347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50" y="31"/>
                    </a:lnTo>
                    <a:lnTo>
                      <a:pt x="350" y="33"/>
                    </a:lnTo>
                    <a:lnTo>
                      <a:pt x="351" y="33"/>
                    </a:lnTo>
                    <a:lnTo>
                      <a:pt x="351" y="33"/>
                    </a:lnTo>
                    <a:lnTo>
                      <a:pt x="353" y="33"/>
                    </a:lnTo>
                    <a:lnTo>
                      <a:pt x="353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6" y="34"/>
                    </a:lnTo>
                    <a:lnTo>
                      <a:pt x="356" y="36"/>
                    </a:lnTo>
                    <a:lnTo>
                      <a:pt x="357" y="36"/>
                    </a:lnTo>
                    <a:lnTo>
                      <a:pt x="357" y="36"/>
                    </a:lnTo>
                    <a:lnTo>
                      <a:pt x="359" y="37"/>
                    </a:lnTo>
                    <a:lnTo>
                      <a:pt x="359" y="37"/>
                    </a:lnTo>
                    <a:lnTo>
                      <a:pt x="360" y="37"/>
                    </a:lnTo>
                    <a:lnTo>
                      <a:pt x="360" y="37"/>
                    </a:lnTo>
                    <a:lnTo>
                      <a:pt x="362" y="39"/>
                    </a:lnTo>
                    <a:lnTo>
                      <a:pt x="363" y="39"/>
                    </a:lnTo>
                    <a:lnTo>
                      <a:pt x="363" y="40"/>
                    </a:lnTo>
                    <a:lnTo>
                      <a:pt x="365" y="40"/>
                    </a:lnTo>
                    <a:lnTo>
                      <a:pt x="366" y="40"/>
                    </a:lnTo>
                    <a:lnTo>
                      <a:pt x="368" y="42"/>
                    </a:lnTo>
                    <a:lnTo>
                      <a:pt x="368" y="42"/>
                    </a:lnTo>
                    <a:lnTo>
                      <a:pt x="369" y="42"/>
                    </a:lnTo>
                    <a:lnTo>
                      <a:pt x="369" y="43"/>
                    </a:lnTo>
                    <a:lnTo>
                      <a:pt x="371" y="43"/>
                    </a:lnTo>
                    <a:lnTo>
                      <a:pt x="372" y="45"/>
                    </a:lnTo>
                    <a:lnTo>
                      <a:pt x="372" y="45"/>
                    </a:lnTo>
                    <a:lnTo>
                      <a:pt x="374" y="45"/>
                    </a:lnTo>
                    <a:lnTo>
                      <a:pt x="375" y="46"/>
                    </a:lnTo>
                    <a:lnTo>
                      <a:pt x="375" y="46"/>
                    </a:lnTo>
                    <a:lnTo>
                      <a:pt x="377" y="46"/>
                    </a:lnTo>
                    <a:lnTo>
                      <a:pt x="377" y="48"/>
                    </a:lnTo>
                    <a:lnTo>
                      <a:pt x="378" y="48"/>
                    </a:lnTo>
                    <a:lnTo>
                      <a:pt x="378" y="48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1" y="49"/>
                    </a:lnTo>
                    <a:lnTo>
                      <a:pt x="381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4" y="50"/>
                    </a:lnTo>
                    <a:lnTo>
                      <a:pt x="384" y="52"/>
                    </a:lnTo>
                    <a:lnTo>
                      <a:pt x="385" y="52"/>
                    </a:lnTo>
                    <a:lnTo>
                      <a:pt x="385" y="52"/>
                    </a:lnTo>
                    <a:lnTo>
                      <a:pt x="387" y="53"/>
                    </a:lnTo>
                    <a:lnTo>
                      <a:pt x="387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90" y="55"/>
                    </a:lnTo>
                    <a:lnTo>
                      <a:pt x="390" y="55"/>
                    </a:lnTo>
                    <a:lnTo>
                      <a:pt x="391" y="56"/>
                    </a:lnTo>
                    <a:lnTo>
                      <a:pt x="393" y="56"/>
                    </a:lnTo>
                    <a:lnTo>
                      <a:pt x="393" y="56"/>
                    </a:lnTo>
                    <a:lnTo>
                      <a:pt x="393" y="58"/>
                    </a:lnTo>
                    <a:lnTo>
                      <a:pt x="394" y="58"/>
                    </a:lnTo>
                    <a:lnTo>
                      <a:pt x="396" y="58"/>
                    </a:lnTo>
                    <a:lnTo>
                      <a:pt x="396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400" y="61"/>
                    </a:lnTo>
                    <a:lnTo>
                      <a:pt x="400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5" y="64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6" y="65"/>
                    </a:lnTo>
                    <a:lnTo>
                      <a:pt x="406" y="65"/>
                    </a:lnTo>
                    <a:lnTo>
                      <a:pt x="406" y="67"/>
                    </a:lnTo>
                    <a:lnTo>
                      <a:pt x="406" y="67"/>
                    </a:lnTo>
                    <a:lnTo>
                      <a:pt x="408" y="67"/>
                    </a:lnTo>
                    <a:lnTo>
                      <a:pt x="408" y="67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2" y="70"/>
                    </a:lnTo>
                    <a:lnTo>
                      <a:pt x="412" y="71"/>
                    </a:lnTo>
                    <a:lnTo>
                      <a:pt x="414" y="71"/>
                    </a:lnTo>
                    <a:lnTo>
                      <a:pt x="414" y="71"/>
                    </a:lnTo>
                    <a:lnTo>
                      <a:pt x="414" y="73"/>
                    </a:lnTo>
                    <a:lnTo>
                      <a:pt x="415" y="73"/>
                    </a:lnTo>
                    <a:lnTo>
                      <a:pt x="415" y="73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8" y="74"/>
                    </a:lnTo>
                    <a:lnTo>
                      <a:pt x="418" y="76"/>
                    </a:lnTo>
                    <a:lnTo>
                      <a:pt x="418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4" y="79"/>
                    </a:lnTo>
                    <a:lnTo>
                      <a:pt x="424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7" y="82"/>
                    </a:lnTo>
                    <a:lnTo>
                      <a:pt x="427" y="82"/>
                    </a:lnTo>
                    <a:lnTo>
                      <a:pt x="428" y="82"/>
                    </a:lnTo>
                    <a:lnTo>
                      <a:pt x="428" y="82"/>
                    </a:lnTo>
                    <a:lnTo>
                      <a:pt x="428" y="83"/>
                    </a:lnTo>
                    <a:lnTo>
                      <a:pt x="430" y="83"/>
                    </a:lnTo>
                    <a:lnTo>
                      <a:pt x="430" y="83"/>
                    </a:lnTo>
                    <a:lnTo>
                      <a:pt x="431" y="85"/>
                    </a:lnTo>
                    <a:lnTo>
                      <a:pt x="431" y="85"/>
                    </a:lnTo>
                    <a:lnTo>
                      <a:pt x="433" y="85"/>
                    </a:lnTo>
                    <a:lnTo>
                      <a:pt x="433" y="86"/>
                    </a:lnTo>
                    <a:lnTo>
                      <a:pt x="433" y="86"/>
                    </a:lnTo>
                    <a:lnTo>
                      <a:pt x="434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2" y="93"/>
                    </a:lnTo>
                    <a:lnTo>
                      <a:pt x="442" y="93"/>
                    </a:lnTo>
                    <a:lnTo>
                      <a:pt x="443" y="95"/>
                    </a:lnTo>
                    <a:lnTo>
                      <a:pt x="443" y="95"/>
                    </a:lnTo>
                    <a:lnTo>
                      <a:pt x="443" y="96"/>
                    </a:lnTo>
                    <a:lnTo>
                      <a:pt x="445" y="96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8" y="99"/>
                    </a:lnTo>
                    <a:lnTo>
                      <a:pt x="448" y="99"/>
                    </a:lnTo>
                    <a:lnTo>
                      <a:pt x="449" y="101"/>
                    </a:lnTo>
                    <a:lnTo>
                      <a:pt x="449" y="101"/>
                    </a:lnTo>
                    <a:lnTo>
                      <a:pt x="451" y="102"/>
                    </a:lnTo>
                    <a:lnTo>
                      <a:pt x="451" y="102"/>
                    </a:lnTo>
                    <a:lnTo>
                      <a:pt x="451" y="104"/>
                    </a:lnTo>
                    <a:lnTo>
                      <a:pt x="452" y="104"/>
                    </a:lnTo>
                    <a:lnTo>
                      <a:pt x="452" y="105"/>
                    </a:lnTo>
                    <a:lnTo>
                      <a:pt x="454" y="105"/>
                    </a:lnTo>
                    <a:lnTo>
                      <a:pt x="454" y="105"/>
                    </a:lnTo>
                    <a:lnTo>
                      <a:pt x="454" y="107"/>
                    </a:lnTo>
                    <a:lnTo>
                      <a:pt x="455" y="107"/>
                    </a:lnTo>
                    <a:lnTo>
                      <a:pt x="455" y="107"/>
                    </a:lnTo>
                    <a:lnTo>
                      <a:pt x="455" y="108"/>
                    </a:lnTo>
                    <a:lnTo>
                      <a:pt x="455" y="108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8" y="111"/>
                    </a:lnTo>
                    <a:lnTo>
                      <a:pt x="458" y="111"/>
                    </a:lnTo>
                    <a:lnTo>
                      <a:pt x="459" y="113"/>
                    </a:lnTo>
                    <a:lnTo>
                      <a:pt x="459" y="113"/>
                    </a:lnTo>
                    <a:lnTo>
                      <a:pt x="459" y="114"/>
                    </a:lnTo>
                    <a:lnTo>
                      <a:pt x="461" y="114"/>
                    </a:lnTo>
                    <a:lnTo>
                      <a:pt x="461" y="116"/>
                    </a:lnTo>
                    <a:lnTo>
                      <a:pt x="462" y="116"/>
                    </a:lnTo>
                    <a:lnTo>
                      <a:pt x="462" y="117"/>
                    </a:lnTo>
                    <a:lnTo>
                      <a:pt x="464" y="119"/>
                    </a:lnTo>
                    <a:lnTo>
                      <a:pt x="465" y="119"/>
                    </a:lnTo>
                    <a:lnTo>
                      <a:pt x="465" y="120"/>
                    </a:lnTo>
                    <a:lnTo>
                      <a:pt x="467" y="122"/>
                    </a:lnTo>
                    <a:lnTo>
                      <a:pt x="467" y="122"/>
                    </a:lnTo>
                    <a:lnTo>
                      <a:pt x="468" y="123"/>
                    </a:lnTo>
                    <a:lnTo>
                      <a:pt x="468" y="123"/>
                    </a:lnTo>
                    <a:lnTo>
                      <a:pt x="470" y="124"/>
                    </a:lnTo>
                    <a:lnTo>
                      <a:pt x="470" y="126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3" y="129"/>
                    </a:lnTo>
                    <a:lnTo>
                      <a:pt x="473" y="129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6" y="132"/>
                    </a:lnTo>
                    <a:lnTo>
                      <a:pt x="476" y="132"/>
                    </a:lnTo>
                    <a:lnTo>
                      <a:pt x="476" y="133"/>
                    </a:lnTo>
                    <a:lnTo>
                      <a:pt x="477" y="133"/>
                    </a:lnTo>
                    <a:lnTo>
                      <a:pt x="477" y="135"/>
                    </a:lnTo>
                    <a:lnTo>
                      <a:pt x="477" y="135"/>
                    </a:lnTo>
                    <a:lnTo>
                      <a:pt x="479" y="136"/>
                    </a:lnTo>
                    <a:lnTo>
                      <a:pt x="479" y="136"/>
                    </a:lnTo>
                    <a:lnTo>
                      <a:pt x="479" y="138"/>
                    </a:lnTo>
                    <a:lnTo>
                      <a:pt x="480" y="138"/>
                    </a:lnTo>
                    <a:lnTo>
                      <a:pt x="480" y="139"/>
                    </a:lnTo>
                    <a:lnTo>
                      <a:pt x="482" y="139"/>
                    </a:lnTo>
                    <a:lnTo>
                      <a:pt x="482" y="141"/>
                    </a:lnTo>
                    <a:lnTo>
                      <a:pt x="482" y="141"/>
                    </a:lnTo>
                    <a:lnTo>
                      <a:pt x="483" y="142"/>
                    </a:lnTo>
                    <a:lnTo>
                      <a:pt x="483" y="144"/>
                    </a:lnTo>
                    <a:lnTo>
                      <a:pt x="485" y="144"/>
                    </a:lnTo>
                    <a:lnTo>
                      <a:pt x="485" y="145"/>
                    </a:lnTo>
                    <a:lnTo>
                      <a:pt x="486" y="147"/>
                    </a:lnTo>
                    <a:lnTo>
                      <a:pt x="488" y="148"/>
                    </a:lnTo>
                    <a:lnTo>
                      <a:pt x="488" y="150"/>
                    </a:lnTo>
                    <a:lnTo>
                      <a:pt x="489" y="150"/>
                    </a:lnTo>
                    <a:lnTo>
                      <a:pt x="489" y="150"/>
                    </a:lnTo>
                    <a:lnTo>
                      <a:pt x="491" y="151"/>
                    </a:lnTo>
                    <a:lnTo>
                      <a:pt x="491" y="153"/>
                    </a:lnTo>
                    <a:lnTo>
                      <a:pt x="492" y="154"/>
                    </a:lnTo>
                    <a:lnTo>
                      <a:pt x="492" y="156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5" y="159"/>
                    </a:lnTo>
                    <a:lnTo>
                      <a:pt x="495" y="160"/>
                    </a:lnTo>
                    <a:lnTo>
                      <a:pt x="496" y="160"/>
                    </a:lnTo>
                    <a:lnTo>
                      <a:pt x="496" y="162"/>
                    </a:lnTo>
                    <a:lnTo>
                      <a:pt x="498" y="162"/>
                    </a:lnTo>
                    <a:lnTo>
                      <a:pt x="498" y="163"/>
                    </a:lnTo>
                    <a:lnTo>
                      <a:pt x="498" y="163"/>
                    </a:lnTo>
                    <a:lnTo>
                      <a:pt x="499" y="164"/>
                    </a:lnTo>
                    <a:lnTo>
                      <a:pt x="499" y="164"/>
                    </a:lnTo>
                    <a:lnTo>
                      <a:pt x="499" y="166"/>
                    </a:lnTo>
                    <a:lnTo>
                      <a:pt x="501" y="166"/>
                    </a:lnTo>
                    <a:lnTo>
                      <a:pt x="501" y="167"/>
                    </a:lnTo>
                    <a:lnTo>
                      <a:pt x="501" y="167"/>
                    </a:lnTo>
                    <a:lnTo>
                      <a:pt x="502" y="169"/>
                    </a:lnTo>
                    <a:lnTo>
                      <a:pt x="502" y="170"/>
                    </a:lnTo>
                    <a:lnTo>
                      <a:pt x="504" y="170"/>
                    </a:lnTo>
                    <a:lnTo>
                      <a:pt x="504" y="172"/>
                    </a:lnTo>
                    <a:lnTo>
                      <a:pt x="505" y="172"/>
                    </a:lnTo>
                    <a:lnTo>
                      <a:pt x="505" y="173"/>
                    </a:lnTo>
                    <a:lnTo>
                      <a:pt x="507" y="175"/>
                    </a:lnTo>
                    <a:lnTo>
                      <a:pt x="507" y="175"/>
                    </a:lnTo>
                    <a:lnTo>
                      <a:pt x="508" y="176"/>
                    </a:lnTo>
                    <a:lnTo>
                      <a:pt x="508" y="178"/>
                    </a:lnTo>
                    <a:lnTo>
                      <a:pt x="510" y="179"/>
                    </a:lnTo>
                    <a:lnTo>
                      <a:pt x="511" y="181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3" y="184"/>
                    </a:lnTo>
                    <a:lnTo>
                      <a:pt x="514" y="185"/>
                    </a:lnTo>
                    <a:lnTo>
                      <a:pt x="514" y="187"/>
                    </a:lnTo>
                    <a:lnTo>
                      <a:pt x="516" y="187"/>
                    </a:lnTo>
                    <a:lnTo>
                      <a:pt x="516" y="188"/>
                    </a:lnTo>
                    <a:lnTo>
                      <a:pt x="517" y="190"/>
                    </a:lnTo>
                    <a:lnTo>
                      <a:pt x="517" y="191"/>
                    </a:lnTo>
                    <a:lnTo>
                      <a:pt x="519" y="191"/>
                    </a:lnTo>
                    <a:lnTo>
                      <a:pt x="519" y="193"/>
                    </a:lnTo>
                    <a:lnTo>
                      <a:pt x="520" y="193"/>
                    </a:lnTo>
                    <a:lnTo>
                      <a:pt x="520" y="194"/>
                    </a:lnTo>
                    <a:lnTo>
                      <a:pt x="520" y="196"/>
                    </a:lnTo>
                    <a:lnTo>
                      <a:pt x="522" y="196"/>
                    </a:lnTo>
                    <a:lnTo>
                      <a:pt x="522" y="197"/>
                    </a:lnTo>
                    <a:lnTo>
                      <a:pt x="522" y="197"/>
                    </a:lnTo>
                    <a:lnTo>
                      <a:pt x="523" y="197"/>
                    </a:lnTo>
                    <a:lnTo>
                      <a:pt x="523" y="199"/>
                    </a:lnTo>
                    <a:lnTo>
                      <a:pt x="523" y="199"/>
                    </a:lnTo>
                    <a:lnTo>
                      <a:pt x="525" y="200"/>
                    </a:lnTo>
                    <a:lnTo>
                      <a:pt x="525" y="200"/>
                    </a:lnTo>
                    <a:lnTo>
                      <a:pt x="525" y="201"/>
                    </a:lnTo>
                    <a:lnTo>
                      <a:pt x="526" y="201"/>
                    </a:lnTo>
                    <a:lnTo>
                      <a:pt x="526" y="203"/>
                    </a:lnTo>
                    <a:lnTo>
                      <a:pt x="526" y="203"/>
                    </a:lnTo>
                    <a:lnTo>
                      <a:pt x="528" y="204"/>
                    </a:lnTo>
                    <a:lnTo>
                      <a:pt x="528" y="204"/>
                    </a:lnTo>
                    <a:lnTo>
                      <a:pt x="528" y="206"/>
                    </a:lnTo>
                    <a:lnTo>
                      <a:pt x="529" y="207"/>
                    </a:lnTo>
                    <a:lnTo>
                      <a:pt x="529" y="207"/>
                    </a:lnTo>
                    <a:lnTo>
                      <a:pt x="531" y="209"/>
                    </a:lnTo>
                    <a:lnTo>
                      <a:pt x="531" y="210"/>
                    </a:lnTo>
                    <a:lnTo>
                      <a:pt x="531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7" name="Freeform 240"/>
              <p:cNvSpPr>
                <a:spLocks/>
              </p:cNvSpPr>
              <p:nvPr/>
            </p:nvSpPr>
            <p:spPr bwMode="auto">
              <a:xfrm>
                <a:off x="2945" y="2121"/>
                <a:ext cx="177" cy="71"/>
              </a:xfrm>
              <a:custGeom>
                <a:avLst/>
                <a:gdLst>
                  <a:gd name="T0" fmla="*/ 104 w 531"/>
                  <a:gd name="T1" fmla="*/ 0 h 212"/>
                  <a:gd name="T2" fmla="*/ 178 w 531"/>
                  <a:gd name="T3" fmla="*/ 0 h 212"/>
                  <a:gd name="T4" fmla="*/ 215 w 531"/>
                  <a:gd name="T5" fmla="*/ 0 h 212"/>
                  <a:gd name="T6" fmla="*/ 233 w 531"/>
                  <a:gd name="T7" fmla="*/ 2 h 212"/>
                  <a:gd name="T8" fmla="*/ 240 w 531"/>
                  <a:gd name="T9" fmla="*/ 2 h 212"/>
                  <a:gd name="T10" fmla="*/ 249 w 531"/>
                  <a:gd name="T11" fmla="*/ 2 h 212"/>
                  <a:gd name="T12" fmla="*/ 255 w 531"/>
                  <a:gd name="T13" fmla="*/ 3 h 212"/>
                  <a:gd name="T14" fmla="*/ 260 w 531"/>
                  <a:gd name="T15" fmla="*/ 3 h 212"/>
                  <a:gd name="T16" fmla="*/ 267 w 531"/>
                  <a:gd name="T17" fmla="*/ 5 h 212"/>
                  <a:gd name="T18" fmla="*/ 276 w 531"/>
                  <a:gd name="T19" fmla="*/ 6 h 212"/>
                  <a:gd name="T20" fmla="*/ 282 w 531"/>
                  <a:gd name="T21" fmla="*/ 6 h 212"/>
                  <a:gd name="T22" fmla="*/ 288 w 531"/>
                  <a:gd name="T23" fmla="*/ 8 h 212"/>
                  <a:gd name="T24" fmla="*/ 294 w 531"/>
                  <a:gd name="T25" fmla="*/ 9 h 212"/>
                  <a:gd name="T26" fmla="*/ 302 w 531"/>
                  <a:gd name="T27" fmla="*/ 12 h 212"/>
                  <a:gd name="T28" fmla="*/ 311 w 531"/>
                  <a:gd name="T29" fmla="*/ 15 h 212"/>
                  <a:gd name="T30" fmla="*/ 319 w 531"/>
                  <a:gd name="T31" fmla="*/ 18 h 212"/>
                  <a:gd name="T32" fmla="*/ 325 w 531"/>
                  <a:gd name="T33" fmla="*/ 19 h 212"/>
                  <a:gd name="T34" fmla="*/ 331 w 531"/>
                  <a:gd name="T35" fmla="*/ 22 h 212"/>
                  <a:gd name="T36" fmla="*/ 338 w 531"/>
                  <a:gd name="T37" fmla="*/ 25 h 212"/>
                  <a:gd name="T38" fmla="*/ 347 w 531"/>
                  <a:gd name="T39" fmla="*/ 30 h 212"/>
                  <a:gd name="T40" fmla="*/ 351 w 531"/>
                  <a:gd name="T41" fmla="*/ 33 h 212"/>
                  <a:gd name="T42" fmla="*/ 357 w 531"/>
                  <a:gd name="T43" fmla="*/ 36 h 212"/>
                  <a:gd name="T44" fmla="*/ 363 w 531"/>
                  <a:gd name="T45" fmla="*/ 39 h 212"/>
                  <a:gd name="T46" fmla="*/ 369 w 531"/>
                  <a:gd name="T47" fmla="*/ 43 h 212"/>
                  <a:gd name="T48" fmla="*/ 377 w 531"/>
                  <a:gd name="T49" fmla="*/ 46 h 212"/>
                  <a:gd name="T50" fmla="*/ 381 w 531"/>
                  <a:gd name="T51" fmla="*/ 49 h 212"/>
                  <a:gd name="T52" fmla="*/ 385 w 531"/>
                  <a:gd name="T53" fmla="*/ 52 h 212"/>
                  <a:gd name="T54" fmla="*/ 390 w 531"/>
                  <a:gd name="T55" fmla="*/ 55 h 212"/>
                  <a:gd name="T56" fmla="*/ 396 w 531"/>
                  <a:gd name="T57" fmla="*/ 59 h 212"/>
                  <a:gd name="T58" fmla="*/ 400 w 531"/>
                  <a:gd name="T59" fmla="*/ 62 h 212"/>
                  <a:gd name="T60" fmla="*/ 403 w 531"/>
                  <a:gd name="T61" fmla="*/ 64 h 212"/>
                  <a:gd name="T62" fmla="*/ 406 w 531"/>
                  <a:gd name="T63" fmla="*/ 67 h 212"/>
                  <a:gd name="T64" fmla="*/ 411 w 531"/>
                  <a:gd name="T65" fmla="*/ 70 h 212"/>
                  <a:gd name="T66" fmla="*/ 415 w 531"/>
                  <a:gd name="T67" fmla="*/ 73 h 212"/>
                  <a:gd name="T68" fmla="*/ 418 w 531"/>
                  <a:gd name="T69" fmla="*/ 76 h 212"/>
                  <a:gd name="T70" fmla="*/ 421 w 531"/>
                  <a:gd name="T71" fmla="*/ 77 h 212"/>
                  <a:gd name="T72" fmla="*/ 424 w 531"/>
                  <a:gd name="T73" fmla="*/ 80 h 212"/>
                  <a:gd name="T74" fmla="*/ 428 w 531"/>
                  <a:gd name="T75" fmla="*/ 83 h 212"/>
                  <a:gd name="T76" fmla="*/ 433 w 531"/>
                  <a:gd name="T77" fmla="*/ 86 h 212"/>
                  <a:gd name="T78" fmla="*/ 436 w 531"/>
                  <a:gd name="T79" fmla="*/ 89 h 212"/>
                  <a:gd name="T80" fmla="*/ 440 w 531"/>
                  <a:gd name="T81" fmla="*/ 92 h 212"/>
                  <a:gd name="T82" fmla="*/ 443 w 531"/>
                  <a:gd name="T83" fmla="*/ 96 h 212"/>
                  <a:gd name="T84" fmla="*/ 449 w 531"/>
                  <a:gd name="T85" fmla="*/ 101 h 212"/>
                  <a:gd name="T86" fmla="*/ 454 w 531"/>
                  <a:gd name="T87" fmla="*/ 105 h 212"/>
                  <a:gd name="T88" fmla="*/ 456 w 531"/>
                  <a:gd name="T89" fmla="*/ 110 h 212"/>
                  <a:gd name="T90" fmla="*/ 459 w 531"/>
                  <a:gd name="T91" fmla="*/ 114 h 212"/>
                  <a:gd name="T92" fmla="*/ 465 w 531"/>
                  <a:gd name="T93" fmla="*/ 120 h 212"/>
                  <a:gd name="T94" fmla="*/ 471 w 531"/>
                  <a:gd name="T95" fmla="*/ 127 h 212"/>
                  <a:gd name="T96" fmla="*/ 476 w 531"/>
                  <a:gd name="T97" fmla="*/ 132 h 212"/>
                  <a:gd name="T98" fmla="*/ 479 w 531"/>
                  <a:gd name="T99" fmla="*/ 138 h 212"/>
                  <a:gd name="T100" fmla="*/ 483 w 531"/>
                  <a:gd name="T101" fmla="*/ 144 h 212"/>
                  <a:gd name="T102" fmla="*/ 489 w 531"/>
                  <a:gd name="T103" fmla="*/ 150 h 212"/>
                  <a:gd name="T104" fmla="*/ 495 w 531"/>
                  <a:gd name="T105" fmla="*/ 159 h 212"/>
                  <a:gd name="T106" fmla="*/ 499 w 531"/>
                  <a:gd name="T107" fmla="*/ 164 h 212"/>
                  <a:gd name="T108" fmla="*/ 502 w 531"/>
                  <a:gd name="T109" fmla="*/ 170 h 212"/>
                  <a:gd name="T110" fmla="*/ 508 w 531"/>
                  <a:gd name="T111" fmla="*/ 176 h 212"/>
                  <a:gd name="T112" fmla="*/ 514 w 531"/>
                  <a:gd name="T113" fmla="*/ 185 h 212"/>
                  <a:gd name="T114" fmla="*/ 519 w 531"/>
                  <a:gd name="T115" fmla="*/ 193 h 212"/>
                  <a:gd name="T116" fmla="*/ 523 w 531"/>
                  <a:gd name="T117" fmla="*/ 197 h 212"/>
                  <a:gd name="T118" fmla="*/ 526 w 531"/>
                  <a:gd name="T119" fmla="*/ 203 h 212"/>
                  <a:gd name="T120" fmla="*/ 531 w 531"/>
                  <a:gd name="T121" fmla="*/ 20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0"/>
                    </a:moveTo>
                    <a:lnTo>
                      <a:pt x="21" y="0"/>
                    </a:lnTo>
                    <a:lnTo>
                      <a:pt x="39" y="0"/>
                    </a:lnTo>
                    <a:lnTo>
                      <a:pt x="57" y="0"/>
                    </a:lnTo>
                    <a:lnTo>
                      <a:pt x="74" y="0"/>
                    </a:lnTo>
                    <a:lnTo>
                      <a:pt x="89" y="0"/>
                    </a:lnTo>
                    <a:lnTo>
                      <a:pt x="104" y="0"/>
                    </a:lnTo>
                    <a:lnTo>
                      <a:pt x="117" y="0"/>
                    </a:lnTo>
                    <a:lnTo>
                      <a:pt x="129" y="0"/>
                    </a:lnTo>
                    <a:lnTo>
                      <a:pt x="141" y="0"/>
                    </a:lnTo>
                    <a:lnTo>
                      <a:pt x="151" y="0"/>
                    </a:lnTo>
                    <a:lnTo>
                      <a:pt x="162" y="0"/>
                    </a:lnTo>
                    <a:lnTo>
                      <a:pt x="169" y="0"/>
                    </a:lnTo>
                    <a:lnTo>
                      <a:pt x="178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8" y="0"/>
                    </a:lnTo>
                    <a:lnTo>
                      <a:pt x="212" y="0"/>
                    </a:lnTo>
                    <a:lnTo>
                      <a:pt x="215" y="0"/>
                    </a:lnTo>
                    <a:lnTo>
                      <a:pt x="220" y="0"/>
                    </a:lnTo>
                    <a:lnTo>
                      <a:pt x="223" y="0"/>
                    </a:lnTo>
                    <a:lnTo>
                      <a:pt x="224" y="2"/>
                    </a:lnTo>
                    <a:lnTo>
                      <a:pt x="227" y="2"/>
                    </a:lnTo>
                    <a:lnTo>
                      <a:pt x="228" y="2"/>
                    </a:lnTo>
                    <a:lnTo>
                      <a:pt x="230" y="2"/>
                    </a:lnTo>
                    <a:lnTo>
                      <a:pt x="233" y="2"/>
                    </a:lnTo>
                    <a:lnTo>
                      <a:pt x="234" y="2"/>
                    </a:lnTo>
                    <a:lnTo>
                      <a:pt x="236" y="2"/>
                    </a:lnTo>
                    <a:lnTo>
                      <a:pt x="237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40" y="2"/>
                    </a:lnTo>
                    <a:lnTo>
                      <a:pt x="242" y="2"/>
                    </a:lnTo>
                    <a:lnTo>
                      <a:pt x="243" y="2"/>
                    </a:lnTo>
                    <a:lnTo>
                      <a:pt x="245" y="2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248" y="2"/>
                    </a:lnTo>
                    <a:lnTo>
                      <a:pt x="249" y="2"/>
                    </a:lnTo>
                    <a:lnTo>
                      <a:pt x="251" y="2"/>
                    </a:lnTo>
                    <a:lnTo>
                      <a:pt x="251" y="2"/>
                    </a:lnTo>
                    <a:lnTo>
                      <a:pt x="252" y="3"/>
                    </a:lnTo>
                    <a:lnTo>
                      <a:pt x="252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5" y="3"/>
                    </a:lnTo>
                    <a:lnTo>
                      <a:pt x="255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8" y="3"/>
                    </a:lnTo>
                    <a:lnTo>
                      <a:pt x="258" y="3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4" y="5"/>
                    </a:lnTo>
                    <a:lnTo>
                      <a:pt x="265" y="5"/>
                    </a:lnTo>
                    <a:lnTo>
                      <a:pt x="265" y="5"/>
                    </a:lnTo>
                    <a:lnTo>
                      <a:pt x="267" y="5"/>
                    </a:lnTo>
                    <a:lnTo>
                      <a:pt x="268" y="5"/>
                    </a:lnTo>
                    <a:lnTo>
                      <a:pt x="270" y="5"/>
                    </a:lnTo>
                    <a:lnTo>
                      <a:pt x="271" y="5"/>
                    </a:lnTo>
                    <a:lnTo>
                      <a:pt x="271" y="5"/>
                    </a:lnTo>
                    <a:lnTo>
                      <a:pt x="273" y="5"/>
                    </a:lnTo>
                    <a:lnTo>
                      <a:pt x="274" y="6"/>
                    </a:lnTo>
                    <a:lnTo>
                      <a:pt x="276" y="6"/>
                    </a:lnTo>
                    <a:lnTo>
                      <a:pt x="276" y="6"/>
                    </a:lnTo>
                    <a:lnTo>
                      <a:pt x="277" y="6"/>
                    </a:lnTo>
                    <a:lnTo>
                      <a:pt x="279" y="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6"/>
                    </a:lnTo>
                    <a:lnTo>
                      <a:pt x="282" y="6"/>
                    </a:lnTo>
                    <a:lnTo>
                      <a:pt x="283" y="6"/>
                    </a:lnTo>
                    <a:lnTo>
                      <a:pt x="285" y="8"/>
                    </a:lnTo>
                    <a:lnTo>
                      <a:pt x="285" y="8"/>
                    </a:lnTo>
                    <a:lnTo>
                      <a:pt x="286" y="8"/>
                    </a:lnTo>
                    <a:lnTo>
                      <a:pt x="286" y="8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89" y="8"/>
                    </a:lnTo>
                    <a:lnTo>
                      <a:pt x="289" y="8"/>
                    </a:lnTo>
                    <a:lnTo>
                      <a:pt x="291" y="9"/>
                    </a:lnTo>
                    <a:lnTo>
                      <a:pt x="291" y="9"/>
                    </a:lnTo>
                    <a:lnTo>
                      <a:pt x="292" y="9"/>
                    </a:lnTo>
                    <a:lnTo>
                      <a:pt x="294" y="9"/>
                    </a:lnTo>
                    <a:lnTo>
                      <a:pt x="294" y="9"/>
                    </a:lnTo>
                    <a:lnTo>
                      <a:pt x="295" y="9"/>
                    </a:lnTo>
                    <a:lnTo>
                      <a:pt x="297" y="10"/>
                    </a:lnTo>
                    <a:lnTo>
                      <a:pt x="298" y="10"/>
                    </a:lnTo>
                    <a:lnTo>
                      <a:pt x="298" y="10"/>
                    </a:lnTo>
                    <a:lnTo>
                      <a:pt x="300" y="12"/>
                    </a:lnTo>
                    <a:lnTo>
                      <a:pt x="301" y="12"/>
                    </a:lnTo>
                    <a:lnTo>
                      <a:pt x="302" y="12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5" y="13"/>
                    </a:lnTo>
                    <a:lnTo>
                      <a:pt x="307" y="13"/>
                    </a:lnTo>
                    <a:lnTo>
                      <a:pt x="308" y="13"/>
                    </a:lnTo>
                    <a:lnTo>
                      <a:pt x="310" y="15"/>
                    </a:lnTo>
                    <a:lnTo>
                      <a:pt x="311" y="15"/>
                    </a:lnTo>
                    <a:lnTo>
                      <a:pt x="313" y="15"/>
                    </a:lnTo>
                    <a:lnTo>
                      <a:pt x="314" y="16"/>
                    </a:lnTo>
                    <a:lnTo>
                      <a:pt x="314" y="16"/>
                    </a:lnTo>
                    <a:lnTo>
                      <a:pt x="316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9" y="18"/>
                    </a:lnTo>
                    <a:lnTo>
                      <a:pt x="319" y="18"/>
                    </a:lnTo>
                    <a:lnTo>
                      <a:pt x="320" y="18"/>
                    </a:lnTo>
                    <a:lnTo>
                      <a:pt x="322" y="18"/>
                    </a:lnTo>
                    <a:lnTo>
                      <a:pt x="322" y="18"/>
                    </a:lnTo>
                    <a:lnTo>
                      <a:pt x="323" y="19"/>
                    </a:lnTo>
                    <a:lnTo>
                      <a:pt x="323" y="19"/>
                    </a:lnTo>
                    <a:lnTo>
                      <a:pt x="325" y="19"/>
                    </a:lnTo>
                    <a:lnTo>
                      <a:pt x="325" y="19"/>
                    </a:lnTo>
                    <a:lnTo>
                      <a:pt x="326" y="21"/>
                    </a:lnTo>
                    <a:lnTo>
                      <a:pt x="326" y="21"/>
                    </a:lnTo>
                    <a:lnTo>
                      <a:pt x="328" y="21"/>
                    </a:lnTo>
                    <a:lnTo>
                      <a:pt x="329" y="21"/>
                    </a:lnTo>
                    <a:lnTo>
                      <a:pt x="329" y="22"/>
                    </a:lnTo>
                    <a:lnTo>
                      <a:pt x="331" y="22"/>
                    </a:lnTo>
                    <a:lnTo>
                      <a:pt x="332" y="22"/>
                    </a:lnTo>
                    <a:lnTo>
                      <a:pt x="332" y="24"/>
                    </a:lnTo>
                    <a:lnTo>
                      <a:pt x="334" y="24"/>
                    </a:lnTo>
                    <a:lnTo>
                      <a:pt x="335" y="25"/>
                    </a:lnTo>
                    <a:lnTo>
                      <a:pt x="337" y="25"/>
                    </a:lnTo>
                    <a:lnTo>
                      <a:pt x="338" y="25"/>
                    </a:lnTo>
                    <a:lnTo>
                      <a:pt x="338" y="25"/>
                    </a:lnTo>
                    <a:lnTo>
                      <a:pt x="339" y="27"/>
                    </a:lnTo>
                    <a:lnTo>
                      <a:pt x="341" y="27"/>
                    </a:lnTo>
                    <a:lnTo>
                      <a:pt x="342" y="28"/>
                    </a:lnTo>
                    <a:lnTo>
                      <a:pt x="342" y="28"/>
                    </a:lnTo>
                    <a:lnTo>
                      <a:pt x="344" y="30"/>
                    </a:lnTo>
                    <a:lnTo>
                      <a:pt x="345" y="30"/>
                    </a:lnTo>
                    <a:lnTo>
                      <a:pt x="347" y="30"/>
                    </a:lnTo>
                    <a:lnTo>
                      <a:pt x="347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50" y="31"/>
                    </a:lnTo>
                    <a:lnTo>
                      <a:pt x="350" y="33"/>
                    </a:lnTo>
                    <a:lnTo>
                      <a:pt x="351" y="33"/>
                    </a:lnTo>
                    <a:lnTo>
                      <a:pt x="351" y="33"/>
                    </a:lnTo>
                    <a:lnTo>
                      <a:pt x="353" y="33"/>
                    </a:lnTo>
                    <a:lnTo>
                      <a:pt x="353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6" y="34"/>
                    </a:lnTo>
                    <a:lnTo>
                      <a:pt x="356" y="36"/>
                    </a:lnTo>
                    <a:lnTo>
                      <a:pt x="357" y="36"/>
                    </a:lnTo>
                    <a:lnTo>
                      <a:pt x="357" y="36"/>
                    </a:lnTo>
                    <a:lnTo>
                      <a:pt x="359" y="37"/>
                    </a:lnTo>
                    <a:lnTo>
                      <a:pt x="359" y="37"/>
                    </a:lnTo>
                    <a:lnTo>
                      <a:pt x="360" y="37"/>
                    </a:lnTo>
                    <a:lnTo>
                      <a:pt x="360" y="37"/>
                    </a:lnTo>
                    <a:lnTo>
                      <a:pt x="362" y="39"/>
                    </a:lnTo>
                    <a:lnTo>
                      <a:pt x="363" y="39"/>
                    </a:lnTo>
                    <a:lnTo>
                      <a:pt x="363" y="40"/>
                    </a:lnTo>
                    <a:lnTo>
                      <a:pt x="365" y="40"/>
                    </a:lnTo>
                    <a:lnTo>
                      <a:pt x="366" y="40"/>
                    </a:lnTo>
                    <a:lnTo>
                      <a:pt x="368" y="42"/>
                    </a:lnTo>
                    <a:lnTo>
                      <a:pt x="368" y="42"/>
                    </a:lnTo>
                    <a:lnTo>
                      <a:pt x="369" y="42"/>
                    </a:lnTo>
                    <a:lnTo>
                      <a:pt x="369" y="43"/>
                    </a:lnTo>
                    <a:lnTo>
                      <a:pt x="371" y="43"/>
                    </a:lnTo>
                    <a:lnTo>
                      <a:pt x="372" y="45"/>
                    </a:lnTo>
                    <a:lnTo>
                      <a:pt x="372" y="45"/>
                    </a:lnTo>
                    <a:lnTo>
                      <a:pt x="374" y="45"/>
                    </a:lnTo>
                    <a:lnTo>
                      <a:pt x="375" y="46"/>
                    </a:lnTo>
                    <a:lnTo>
                      <a:pt x="375" y="46"/>
                    </a:lnTo>
                    <a:lnTo>
                      <a:pt x="377" y="46"/>
                    </a:lnTo>
                    <a:lnTo>
                      <a:pt x="377" y="48"/>
                    </a:lnTo>
                    <a:lnTo>
                      <a:pt x="378" y="48"/>
                    </a:lnTo>
                    <a:lnTo>
                      <a:pt x="378" y="48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1" y="49"/>
                    </a:lnTo>
                    <a:lnTo>
                      <a:pt x="381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4" y="50"/>
                    </a:lnTo>
                    <a:lnTo>
                      <a:pt x="384" y="52"/>
                    </a:lnTo>
                    <a:lnTo>
                      <a:pt x="385" y="52"/>
                    </a:lnTo>
                    <a:lnTo>
                      <a:pt x="385" y="52"/>
                    </a:lnTo>
                    <a:lnTo>
                      <a:pt x="387" y="53"/>
                    </a:lnTo>
                    <a:lnTo>
                      <a:pt x="387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90" y="55"/>
                    </a:lnTo>
                    <a:lnTo>
                      <a:pt x="390" y="55"/>
                    </a:lnTo>
                    <a:lnTo>
                      <a:pt x="391" y="56"/>
                    </a:lnTo>
                    <a:lnTo>
                      <a:pt x="393" y="56"/>
                    </a:lnTo>
                    <a:lnTo>
                      <a:pt x="393" y="56"/>
                    </a:lnTo>
                    <a:lnTo>
                      <a:pt x="393" y="58"/>
                    </a:lnTo>
                    <a:lnTo>
                      <a:pt x="394" y="58"/>
                    </a:lnTo>
                    <a:lnTo>
                      <a:pt x="396" y="58"/>
                    </a:lnTo>
                    <a:lnTo>
                      <a:pt x="396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400" y="61"/>
                    </a:lnTo>
                    <a:lnTo>
                      <a:pt x="400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5" y="64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6" y="65"/>
                    </a:lnTo>
                    <a:lnTo>
                      <a:pt x="406" y="65"/>
                    </a:lnTo>
                    <a:lnTo>
                      <a:pt x="406" y="67"/>
                    </a:lnTo>
                    <a:lnTo>
                      <a:pt x="406" y="67"/>
                    </a:lnTo>
                    <a:lnTo>
                      <a:pt x="408" y="67"/>
                    </a:lnTo>
                    <a:lnTo>
                      <a:pt x="408" y="67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2" y="70"/>
                    </a:lnTo>
                    <a:lnTo>
                      <a:pt x="412" y="71"/>
                    </a:lnTo>
                    <a:lnTo>
                      <a:pt x="414" y="71"/>
                    </a:lnTo>
                    <a:lnTo>
                      <a:pt x="414" y="71"/>
                    </a:lnTo>
                    <a:lnTo>
                      <a:pt x="414" y="73"/>
                    </a:lnTo>
                    <a:lnTo>
                      <a:pt x="415" y="73"/>
                    </a:lnTo>
                    <a:lnTo>
                      <a:pt x="415" y="73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8" y="74"/>
                    </a:lnTo>
                    <a:lnTo>
                      <a:pt x="418" y="76"/>
                    </a:lnTo>
                    <a:lnTo>
                      <a:pt x="418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4" y="79"/>
                    </a:lnTo>
                    <a:lnTo>
                      <a:pt x="424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7" y="82"/>
                    </a:lnTo>
                    <a:lnTo>
                      <a:pt x="427" y="82"/>
                    </a:lnTo>
                    <a:lnTo>
                      <a:pt x="428" y="82"/>
                    </a:lnTo>
                    <a:lnTo>
                      <a:pt x="428" y="82"/>
                    </a:lnTo>
                    <a:lnTo>
                      <a:pt x="428" y="83"/>
                    </a:lnTo>
                    <a:lnTo>
                      <a:pt x="430" y="83"/>
                    </a:lnTo>
                    <a:lnTo>
                      <a:pt x="430" y="83"/>
                    </a:lnTo>
                    <a:lnTo>
                      <a:pt x="431" y="85"/>
                    </a:lnTo>
                    <a:lnTo>
                      <a:pt x="431" y="85"/>
                    </a:lnTo>
                    <a:lnTo>
                      <a:pt x="433" y="85"/>
                    </a:lnTo>
                    <a:lnTo>
                      <a:pt x="433" y="86"/>
                    </a:lnTo>
                    <a:lnTo>
                      <a:pt x="433" y="86"/>
                    </a:lnTo>
                    <a:lnTo>
                      <a:pt x="434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2" y="93"/>
                    </a:lnTo>
                    <a:lnTo>
                      <a:pt x="442" y="93"/>
                    </a:lnTo>
                    <a:lnTo>
                      <a:pt x="443" y="95"/>
                    </a:lnTo>
                    <a:lnTo>
                      <a:pt x="443" y="95"/>
                    </a:lnTo>
                    <a:lnTo>
                      <a:pt x="443" y="96"/>
                    </a:lnTo>
                    <a:lnTo>
                      <a:pt x="445" y="96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8" y="99"/>
                    </a:lnTo>
                    <a:lnTo>
                      <a:pt x="448" y="99"/>
                    </a:lnTo>
                    <a:lnTo>
                      <a:pt x="449" y="101"/>
                    </a:lnTo>
                    <a:lnTo>
                      <a:pt x="449" y="101"/>
                    </a:lnTo>
                    <a:lnTo>
                      <a:pt x="451" y="102"/>
                    </a:lnTo>
                    <a:lnTo>
                      <a:pt x="451" y="102"/>
                    </a:lnTo>
                    <a:lnTo>
                      <a:pt x="451" y="104"/>
                    </a:lnTo>
                    <a:lnTo>
                      <a:pt x="452" y="104"/>
                    </a:lnTo>
                    <a:lnTo>
                      <a:pt x="452" y="105"/>
                    </a:lnTo>
                    <a:lnTo>
                      <a:pt x="454" y="105"/>
                    </a:lnTo>
                    <a:lnTo>
                      <a:pt x="454" y="105"/>
                    </a:lnTo>
                    <a:lnTo>
                      <a:pt x="454" y="107"/>
                    </a:lnTo>
                    <a:lnTo>
                      <a:pt x="455" y="107"/>
                    </a:lnTo>
                    <a:lnTo>
                      <a:pt x="455" y="107"/>
                    </a:lnTo>
                    <a:lnTo>
                      <a:pt x="455" y="108"/>
                    </a:lnTo>
                    <a:lnTo>
                      <a:pt x="455" y="108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8" y="111"/>
                    </a:lnTo>
                    <a:lnTo>
                      <a:pt x="458" y="111"/>
                    </a:lnTo>
                    <a:lnTo>
                      <a:pt x="459" y="113"/>
                    </a:lnTo>
                    <a:lnTo>
                      <a:pt x="459" y="113"/>
                    </a:lnTo>
                    <a:lnTo>
                      <a:pt x="459" y="114"/>
                    </a:lnTo>
                    <a:lnTo>
                      <a:pt x="461" y="114"/>
                    </a:lnTo>
                    <a:lnTo>
                      <a:pt x="461" y="116"/>
                    </a:lnTo>
                    <a:lnTo>
                      <a:pt x="462" y="116"/>
                    </a:lnTo>
                    <a:lnTo>
                      <a:pt x="462" y="117"/>
                    </a:lnTo>
                    <a:lnTo>
                      <a:pt x="464" y="119"/>
                    </a:lnTo>
                    <a:lnTo>
                      <a:pt x="465" y="119"/>
                    </a:lnTo>
                    <a:lnTo>
                      <a:pt x="465" y="120"/>
                    </a:lnTo>
                    <a:lnTo>
                      <a:pt x="467" y="122"/>
                    </a:lnTo>
                    <a:lnTo>
                      <a:pt x="467" y="122"/>
                    </a:lnTo>
                    <a:lnTo>
                      <a:pt x="468" y="123"/>
                    </a:lnTo>
                    <a:lnTo>
                      <a:pt x="468" y="123"/>
                    </a:lnTo>
                    <a:lnTo>
                      <a:pt x="470" y="124"/>
                    </a:lnTo>
                    <a:lnTo>
                      <a:pt x="470" y="126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3" y="129"/>
                    </a:lnTo>
                    <a:lnTo>
                      <a:pt x="473" y="129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6" y="132"/>
                    </a:lnTo>
                    <a:lnTo>
                      <a:pt x="476" y="132"/>
                    </a:lnTo>
                    <a:lnTo>
                      <a:pt x="476" y="133"/>
                    </a:lnTo>
                    <a:lnTo>
                      <a:pt x="477" y="133"/>
                    </a:lnTo>
                    <a:lnTo>
                      <a:pt x="477" y="135"/>
                    </a:lnTo>
                    <a:lnTo>
                      <a:pt x="477" y="135"/>
                    </a:lnTo>
                    <a:lnTo>
                      <a:pt x="479" y="136"/>
                    </a:lnTo>
                    <a:lnTo>
                      <a:pt x="479" y="136"/>
                    </a:lnTo>
                    <a:lnTo>
                      <a:pt x="479" y="138"/>
                    </a:lnTo>
                    <a:lnTo>
                      <a:pt x="480" y="138"/>
                    </a:lnTo>
                    <a:lnTo>
                      <a:pt x="480" y="139"/>
                    </a:lnTo>
                    <a:lnTo>
                      <a:pt x="482" y="139"/>
                    </a:lnTo>
                    <a:lnTo>
                      <a:pt x="482" y="141"/>
                    </a:lnTo>
                    <a:lnTo>
                      <a:pt x="482" y="141"/>
                    </a:lnTo>
                    <a:lnTo>
                      <a:pt x="483" y="142"/>
                    </a:lnTo>
                    <a:lnTo>
                      <a:pt x="483" y="144"/>
                    </a:lnTo>
                    <a:lnTo>
                      <a:pt x="485" y="144"/>
                    </a:lnTo>
                    <a:lnTo>
                      <a:pt x="485" y="145"/>
                    </a:lnTo>
                    <a:lnTo>
                      <a:pt x="486" y="147"/>
                    </a:lnTo>
                    <a:lnTo>
                      <a:pt x="488" y="148"/>
                    </a:lnTo>
                    <a:lnTo>
                      <a:pt x="488" y="150"/>
                    </a:lnTo>
                    <a:lnTo>
                      <a:pt x="489" y="150"/>
                    </a:lnTo>
                    <a:lnTo>
                      <a:pt x="489" y="150"/>
                    </a:lnTo>
                    <a:lnTo>
                      <a:pt x="491" y="151"/>
                    </a:lnTo>
                    <a:lnTo>
                      <a:pt x="491" y="153"/>
                    </a:lnTo>
                    <a:lnTo>
                      <a:pt x="492" y="154"/>
                    </a:lnTo>
                    <a:lnTo>
                      <a:pt x="492" y="156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5" y="159"/>
                    </a:lnTo>
                    <a:lnTo>
                      <a:pt x="495" y="160"/>
                    </a:lnTo>
                    <a:lnTo>
                      <a:pt x="496" y="160"/>
                    </a:lnTo>
                    <a:lnTo>
                      <a:pt x="496" y="162"/>
                    </a:lnTo>
                    <a:lnTo>
                      <a:pt x="498" y="162"/>
                    </a:lnTo>
                    <a:lnTo>
                      <a:pt x="498" y="163"/>
                    </a:lnTo>
                    <a:lnTo>
                      <a:pt x="498" y="163"/>
                    </a:lnTo>
                    <a:lnTo>
                      <a:pt x="499" y="164"/>
                    </a:lnTo>
                    <a:lnTo>
                      <a:pt x="499" y="164"/>
                    </a:lnTo>
                    <a:lnTo>
                      <a:pt x="499" y="166"/>
                    </a:lnTo>
                    <a:lnTo>
                      <a:pt x="501" y="166"/>
                    </a:lnTo>
                    <a:lnTo>
                      <a:pt x="501" y="167"/>
                    </a:lnTo>
                    <a:lnTo>
                      <a:pt x="501" y="167"/>
                    </a:lnTo>
                    <a:lnTo>
                      <a:pt x="502" y="169"/>
                    </a:lnTo>
                    <a:lnTo>
                      <a:pt x="502" y="170"/>
                    </a:lnTo>
                    <a:lnTo>
                      <a:pt x="504" y="170"/>
                    </a:lnTo>
                    <a:lnTo>
                      <a:pt x="504" y="172"/>
                    </a:lnTo>
                    <a:lnTo>
                      <a:pt x="505" y="172"/>
                    </a:lnTo>
                    <a:lnTo>
                      <a:pt x="505" y="173"/>
                    </a:lnTo>
                    <a:lnTo>
                      <a:pt x="507" y="175"/>
                    </a:lnTo>
                    <a:lnTo>
                      <a:pt x="507" y="175"/>
                    </a:lnTo>
                    <a:lnTo>
                      <a:pt x="508" y="176"/>
                    </a:lnTo>
                    <a:lnTo>
                      <a:pt x="508" y="178"/>
                    </a:lnTo>
                    <a:lnTo>
                      <a:pt x="510" y="179"/>
                    </a:lnTo>
                    <a:lnTo>
                      <a:pt x="511" y="181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3" y="184"/>
                    </a:lnTo>
                    <a:lnTo>
                      <a:pt x="514" y="185"/>
                    </a:lnTo>
                    <a:lnTo>
                      <a:pt x="514" y="187"/>
                    </a:lnTo>
                    <a:lnTo>
                      <a:pt x="516" y="187"/>
                    </a:lnTo>
                    <a:lnTo>
                      <a:pt x="516" y="188"/>
                    </a:lnTo>
                    <a:lnTo>
                      <a:pt x="517" y="190"/>
                    </a:lnTo>
                    <a:lnTo>
                      <a:pt x="517" y="191"/>
                    </a:lnTo>
                    <a:lnTo>
                      <a:pt x="519" y="191"/>
                    </a:lnTo>
                    <a:lnTo>
                      <a:pt x="519" y="193"/>
                    </a:lnTo>
                    <a:lnTo>
                      <a:pt x="520" y="193"/>
                    </a:lnTo>
                    <a:lnTo>
                      <a:pt x="520" y="194"/>
                    </a:lnTo>
                    <a:lnTo>
                      <a:pt x="520" y="196"/>
                    </a:lnTo>
                    <a:lnTo>
                      <a:pt x="522" y="196"/>
                    </a:lnTo>
                    <a:lnTo>
                      <a:pt x="522" y="197"/>
                    </a:lnTo>
                    <a:lnTo>
                      <a:pt x="522" y="197"/>
                    </a:lnTo>
                    <a:lnTo>
                      <a:pt x="523" y="197"/>
                    </a:lnTo>
                    <a:lnTo>
                      <a:pt x="523" y="199"/>
                    </a:lnTo>
                    <a:lnTo>
                      <a:pt x="523" y="199"/>
                    </a:lnTo>
                    <a:lnTo>
                      <a:pt x="525" y="200"/>
                    </a:lnTo>
                    <a:lnTo>
                      <a:pt x="525" y="200"/>
                    </a:lnTo>
                    <a:lnTo>
                      <a:pt x="525" y="201"/>
                    </a:lnTo>
                    <a:lnTo>
                      <a:pt x="526" y="201"/>
                    </a:lnTo>
                    <a:lnTo>
                      <a:pt x="526" y="203"/>
                    </a:lnTo>
                    <a:lnTo>
                      <a:pt x="526" y="203"/>
                    </a:lnTo>
                    <a:lnTo>
                      <a:pt x="528" y="204"/>
                    </a:lnTo>
                    <a:lnTo>
                      <a:pt x="528" y="204"/>
                    </a:lnTo>
                    <a:lnTo>
                      <a:pt x="528" y="206"/>
                    </a:lnTo>
                    <a:lnTo>
                      <a:pt x="529" y="207"/>
                    </a:lnTo>
                    <a:lnTo>
                      <a:pt x="529" y="207"/>
                    </a:lnTo>
                    <a:lnTo>
                      <a:pt x="531" y="209"/>
                    </a:lnTo>
                    <a:lnTo>
                      <a:pt x="531" y="210"/>
                    </a:lnTo>
                    <a:lnTo>
                      <a:pt x="531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8" name="Freeform 241"/>
              <p:cNvSpPr>
                <a:spLocks/>
              </p:cNvSpPr>
              <p:nvPr/>
            </p:nvSpPr>
            <p:spPr bwMode="auto">
              <a:xfrm>
                <a:off x="2945" y="2192"/>
                <a:ext cx="177" cy="71"/>
              </a:xfrm>
              <a:custGeom>
                <a:avLst/>
                <a:gdLst>
                  <a:gd name="T0" fmla="*/ 104 w 531"/>
                  <a:gd name="T1" fmla="*/ 212 h 212"/>
                  <a:gd name="T2" fmla="*/ 178 w 531"/>
                  <a:gd name="T3" fmla="*/ 212 h 212"/>
                  <a:gd name="T4" fmla="*/ 215 w 531"/>
                  <a:gd name="T5" fmla="*/ 212 h 212"/>
                  <a:gd name="T6" fmla="*/ 233 w 531"/>
                  <a:gd name="T7" fmla="*/ 212 h 212"/>
                  <a:gd name="T8" fmla="*/ 240 w 531"/>
                  <a:gd name="T9" fmla="*/ 210 h 212"/>
                  <a:gd name="T10" fmla="*/ 249 w 531"/>
                  <a:gd name="T11" fmla="*/ 210 h 212"/>
                  <a:gd name="T12" fmla="*/ 255 w 531"/>
                  <a:gd name="T13" fmla="*/ 209 h 212"/>
                  <a:gd name="T14" fmla="*/ 260 w 531"/>
                  <a:gd name="T15" fmla="*/ 209 h 212"/>
                  <a:gd name="T16" fmla="*/ 267 w 531"/>
                  <a:gd name="T17" fmla="*/ 207 h 212"/>
                  <a:gd name="T18" fmla="*/ 276 w 531"/>
                  <a:gd name="T19" fmla="*/ 207 h 212"/>
                  <a:gd name="T20" fmla="*/ 282 w 531"/>
                  <a:gd name="T21" fmla="*/ 206 h 212"/>
                  <a:gd name="T22" fmla="*/ 288 w 531"/>
                  <a:gd name="T23" fmla="*/ 204 h 212"/>
                  <a:gd name="T24" fmla="*/ 294 w 531"/>
                  <a:gd name="T25" fmla="*/ 203 h 212"/>
                  <a:gd name="T26" fmla="*/ 302 w 531"/>
                  <a:gd name="T27" fmla="*/ 200 h 212"/>
                  <a:gd name="T28" fmla="*/ 311 w 531"/>
                  <a:gd name="T29" fmla="*/ 197 h 212"/>
                  <a:gd name="T30" fmla="*/ 319 w 531"/>
                  <a:gd name="T31" fmla="*/ 195 h 212"/>
                  <a:gd name="T32" fmla="*/ 325 w 531"/>
                  <a:gd name="T33" fmla="*/ 192 h 212"/>
                  <a:gd name="T34" fmla="*/ 331 w 531"/>
                  <a:gd name="T35" fmla="*/ 189 h 212"/>
                  <a:gd name="T36" fmla="*/ 338 w 531"/>
                  <a:gd name="T37" fmla="*/ 186 h 212"/>
                  <a:gd name="T38" fmla="*/ 347 w 531"/>
                  <a:gd name="T39" fmla="*/ 182 h 212"/>
                  <a:gd name="T40" fmla="*/ 351 w 531"/>
                  <a:gd name="T41" fmla="*/ 179 h 212"/>
                  <a:gd name="T42" fmla="*/ 357 w 531"/>
                  <a:gd name="T43" fmla="*/ 176 h 212"/>
                  <a:gd name="T44" fmla="*/ 363 w 531"/>
                  <a:gd name="T45" fmla="*/ 173 h 212"/>
                  <a:gd name="T46" fmla="*/ 369 w 531"/>
                  <a:gd name="T47" fmla="*/ 169 h 212"/>
                  <a:gd name="T48" fmla="*/ 377 w 531"/>
                  <a:gd name="T49" fmla="*/ 166 h 212"/>
                  <a:gd name="T50" fmla="*/ 381 w 531"/>
                  <a:gd name="T51" fmla="*/ 163 h 212"/>
                  <a:gd name="T52" fmla="*/ 385 w 531"/>
                  <a:gd name="T53" fmla="*/ 160 h 212"/>
                  <a:gd name="T54" fmla="*/ 390 w 531"/>
                  <a:gd name="T55" fmla="*/ 157 h 212"/>
                  <a:gd name="T56" fmla="*/ 396 w 531"/>
                  <a:gd name="T57" fmla="*/ 154 h 212"/>
                  <a:gd name="T58" fmla="*/ 400 w 531"/>
                  <a:gd name="T59" fmla="*/ 149 h 212"/>
                  <a:gd name="T60" fmla="*/ 403 w 531"/>
                  <a:gd name="T61" fmla="*/ 148 h 212"/>
                  <a:gd name="T62" fmla="*/ 406 w 531"/>
                  <a:gd name="T63" fmla="*/ 145 h 212"/>
                  <a:gd name="T64" fmla="*/ 411 w 531"/>
                  <a:gd name="T65" fmla="*/ 142 h 212"/>
                  <a:gd name="T66" fmla="*/ 415 w 531"/>
                  <a:gd name="T67" fmla="*/ 139 h 212"/>
                  <a:gd name="T68" fmla="*/ 418 w 531"/>
                  <a:gd name="T69" fmla="*/ 138 h 212"/>
                  <a:gd name="T70" fmla="*/ 421 w 531"/>
                  <a:gd name="T71" fmla="*/ 135 h 212"/>
                  <a:gd name="T72" fmla="*/ 424 w 531"/>
                  <a:gd name="T73" fmla="*/ 133 h 212"/>
                  <a:gd name="T74" fmla="*/ 428 w 531"/>
                  <a:gd name="T75" fmla="*/ 130 h 212"/>
                  <a:gd name="T76" fmla="*/ 433 w 531"/>
                  <a:gd name="T77" fmla="*/ 126 h 212"/>
                  <a:gd name="T78" fmla="*/ 436 w 531"/>
                  <a:gd name="T79" fmla="*/ 124 h 212"/>
                  <a:gd name="T80" fmla="*/ 440 w 531"/>
                  <a:gd name="T81" fmla="*/ 121 h 212"/>
                  <a:gd name="T82" fmla="*/ 443 w 531"/>
                  <a:gd name="T83" fmla="*/ 117 h 212"/>
                  <a:gd name="T84" fmla="*/ 449 w 531"/>
                  <a:gd name="T85" fmla="*/ 111 h 212"/>
                  <a:gd name="T86" fmla="*/ 454 w 531"/>
                  <a:gd name="T87" fmla="*/ 106 h 212"/>
                  <a:gd name="T88" fmla="*/ 456 w 531"/>
                  <a:gd name="T89" fmla="*/ 103 h 212"/>
                  <a:gd name="T90" fmla="*/ 459 w 531"/>
                  <a:gd name="T91" fmla="*/ 99 h 212"/>
                  <a:gd name="T92" fmla="*/ 465 w 531"/>
                  <a:gd name="T93" fmla="*/ 92 h 212"/>
                  <a:gd name="T94" fmla="*/ 471 w 531"/>
                  <a:gd name="T95" fmla="*/ 86 h 212"/>
                  <a:gd name="T96" fmla="*/ 476 w 531"/>
                  <a:gd name="T97" fmla="*/ 80 h 212"/>
                  <a:gd name="T98" fmla="*/ 479 w 531"/>
                  <a:gd name="T99" fmla="*/ 75 h 212"/>
                  <a:gd name="T100" fmla="*/ 483 w 531"/>
                  <a:gd name="T101" fmla="*/ 69 h 212"/>
                  <a:gd name="T102" fmla="*/ 489 w 531"/>
                  <a:gd name="T103" fmla="*/ 62 h 212"/>
                  <a:gd name="T104" fmla="*/ 495 w 531"/>
                  <a:gd name="T105" fmla="*/ 53 h 212"/>
                  <a:gd name="T106" fmla="*/ 499 w 531"/>
                  <a:gd name="T107" fmla="*/ 47 h 212"/>
                  <a:gd name="T108" fmla="*/ 502 w 531"/>
                  <a:gd name="T109" fmla="*/ 43 h 212"/>
                  <a:gd name="T110" fmla="*/ 508 w 531"/>
                  <a:gd name="T111" fmla="*/ 35 h 212"/>
                  <a:gd name="T112" fmla="*/ 514 w 531"/>
                  <a:gd name="T113" fmla="*/ 26 h 212"/>
                  <a:gd name="T114" fmla="*/ 519 w 531"/>
                  <a:gd name="T115" fmla="*/ 19 h 212"/>
                  <a:gd name="T116" fmla="*/ 523 w 531"/>
                  <a:gd name="T117" fmla="*/ 15 h 212"/>
                  <a:gd name="T118" fmla="*/ 526 w 531"/>
                  <a:gd name="T119" fmla="*/ 9 h 212"/>
                  <a:gd name="T120" fmla="*/ 531 w 531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212"/>
                    </a:moveTo>
                    <a:lnTo>
                      <a:pt x="21" y="212"/>
                    </a:lnTo>
                    <a:lnTo>
                      <a:pt x="39" y="212"/>
                    </a:lnTo>
                    <a:lnTo>
                      <a:pt x="57" y="212"/>
                    </a:lnTo>
                    <a:lnTo>
                      <a:pt x="74" y="212"/>
                    </a:lnTo>
                    <a:lnTo>
                      <a:pt x="89" y="212"/>
                    </a:lnTo>
                    <a:lnTo>
                      <a:pt x="104" y="212"/>
                    </a:lnTo>
                    <a:lnTo>
                      <a:pt x="117" y="212"/>
                    </a:lnTo>
                    <a:lnTo>
                      <a:pt x="129" y="212"/>
                    </a:lnTo>
                    <a:lnTo>
                      <a:pt x="141" y="212"/>
                    </a:lnTo>
                    <a:lnTo>
                      <a:pt x="151" y="212"/>
                    </a:lnTo>
                    <a:lnTo>
                      <a:pt x="162" y="212"/>
                    </a:lnTo>
                    <a:lnTo>
                      <a:pt x="169" y="212"/>
                    </a:lnTo>
                    <a:lnTo>
                      <a:pt x="178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8" y="212"/>
                    </a:lnTo>
                    <a:lnTo>
                      <a:pt x="212" y="212"/>
                    </a:lnTo>
                    <a:lnTo>
                      <a:pt x="215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4" y="212"/>
                    </a:lnTo>
                    <a:lnTo>
                      <a:pt x="227" y="212"/>
                    </a:lnTo>
                    <a:lnTo>
                      <a:pt x="228" y="212"/>
                    </a:lnTo>
                    <a:lnTo>
                      <a:pt x="230" y="212"/>
                    </a:lnTo>
                    <a:lnTo>
                      <a:pt x="233" y="212"/>
                    </a:lnTo>
                    <a:lnTo>
                      <a:pt x="234" y="210"/>
                    </a:lnTo>
                    <a:lnTo>
                      <a:pt x="236" y="210"/>
                    </a:lnTo>
                    <a:lnTo>
                      <a:pt x="237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40" y="210"/>
                    </a:lnTo>
                    <a:lnTo>
                      <a:pt x="242" y="210"/>
                    </a:lnTo>
                    <a:lnTo>
                      <a:pt x="243" y="210"/>
                    </a:lnTo>
                    <a:lnTo>
                      <a:pt x="245" y="210"/>
                    </a:lnTo>
                    <a:lnTo>
                      <a:pt x="246" y="210"/>
                    </a:lnTo>
                    <a:lnTo>
                      <a:pt x="248" y="210"/>
                    </a:lnTo>
                    <a:lnTo>
                      <a:pt x="248" y="210"/>
                    </a:lnTo>
                    <a:lnTo>
                      <a:pt x="249" y="210"/>
                    </a:lnTo>
                    <a:lnTo>
                      <a:pt x="251" y="210"/>
                    </a:lnTo>
                    <a:lnTo>
                      <a:pt x="251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4" y="210"/>
                    </a:lnTo>
                    <a:lnTo>
                      <a:pt x="254" y="210"/>
                    </a:lnTo>
                    <a:lnTo>
                      <a:pt x="255" y="209"/>
                    </a:lnTo>
                    <a:lnTo>
                      <a:pt x="255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8" y="209"/>
                    </a:lnTo>
                    <a:lnTo>
                      <a:pt x="258" y="209"/>
                    </a:lnTo>
                    <a:lnTo>
                      <a:pt x="260" y="209"/>
                    </a:lnTo>
                    <a:lnTo>
                      <a:pt x="260" y="209"/>
                    </a:lnTo>
                    <a:lnTo>
                      <a:pt x="261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4" y="209"/>
                    </a:lnTo>
                    <a:lnTo>
                      <a:pt x="265" y="209"/>
                    </a:lnTo>
                    <a:lnTo>
                      <a:pt x="265" y="207"/>
                    </a:lnTo>
                    <a:lnTo>
                      <a:pt x="267" y="207"/>
                    </a:lnTo>
                    <a:lnTo>
                      <a:pt x="268" y="207"/>
                    </a:lnTo>
                    <a:lnTo>
                      <a:pt x="270" y="207"/>
                    </a:lnTo>
                    <a:lnTo>
                      <a:pt x="271" y="207"/>
                    </a:lnTo>
                    <a:lnTo>
                      <a:pt x="271" y="207"/>
                    </a:lnTo>
                    <a:lnTo>
                      <a:pt x="273" y="207"/>
                    </a:lnTo>
                    <a:lnTo>
                      <a:pt x="274" y="207"/>
                    </a:lnTo>
                    <a:lnTo>
                      <a:pt x="276" y="207"/>
                    </a:lnTo>
                    <a:lnTo>
                      <a:pt x="276" y="206"/>
                    </a:lnTo>
                    <a:lnTo>
                      <a:pt x="277" y="206"/>
                    </a:lnTo>
                    <a:lnTo>
                      <a:pt x="279" y="206"/>
                    </a:lnTo>
                    <a:lnTo>
                      <a:pt x="280" y="206"/>
                    </a:lnTo>
                    <a:lnTo>
                      <a:pt x="280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3" y="206"/>
                    </a:lnTo>
                    <a:lnTo>
                      <a:pt x="285" y="206"/>
                    </a:lnTo>
                    <a:lnTo>
                      <a:pt x="285" y="206"/>
                    </a:lnTo>
                    <a:lnTo>
                      <a:pt x="286" y="204"/>
                    </a:lnTo>
                    <a:lnTo>
                      <a:pt x="286" y="204"/>
                    </a:lnTo>
                    <a:lnTo>
                      <a:pt x="288" y="204"/>
                    </a:lnTo>
                    <a:lnTo>
                      <a:pt x="288" y="204"/>
                    </a:lnTo>
                    <a:lnTo>
                      <a:pt x="289" y="204"/>
                    </a:lnTo>
                    <a:lnTo>
                      <a:pt x="289" y="204"/>
                    </a:lnTo>
                    <a:lnTo>
                      <a:pt x="291" y="204"/>
                    </a:lnTo>
                    <a:lnTo>
                      <a:pt x="291" y="203"/>
                    </a:lnTo>
                    <a:lnTo>
                      <a:pt x="292" y="203"/>
                    </a:lnTo>
                    <a:lnTo>
                      <a:pt x="294" y="203"/>
                    </a:lnTo>
                    <a:lnTo>
                      <a:pt x="294" y="203"/>
                    </a:lnTo>
                    <a:lnTo>
                      <a:pt x="295" y="203"/>
                    </a:lnTo>
                    <a:lnTo>
                      <a:pt x="297" y="201"/>
                    </a:lnTo>
                    <a:lnTo>
                      <a:pt x="298" y="201"/>
                    </a:lnTo>
                    <a:lnTo>
                      <a:pt x="298" y="201"/>
                    </a:lnTo>
                    <a:lnTo>
                      <a:pt x="300" y="201"/>
                    </a:lnTo>
                    <a:lnTo>
                      <a:pt x="301" y="200"/>
                    </a:lnTo>
                    <a:lnTo>
                      <a:pt x="302" y="200"/>
                    </a:lnTo>
                    <a:lnTo>
                      <a:pt x="304" y="200"/>
                    </a:lnTo>
                    <a:lnTo>
                      <a:pt x="304" y="200"/>
                    </a:lnTo>
                    <a:lnTo>
                      <a:pt x="305" y="198"/>
                    </a:lnTo>
                    <a:lnTo>
                      <a:pt x="307" y="198"/>
                    </a:lnTo>
                    <a:lnTo>
                      <a:pt x="308" y="198"/>
                    </a:lnTo>
                    <a:lnTo>
                      <a:pt x="310" y="197"/>
                    </a:lnTo>
                    <a:lnTo>
                      <a:pt x="311" y="197"/>
                    </a:lnTo>
                    <a:lnTo>
                      <a:pt x="313" y="197"/>
                    </a:lnTo>
                    <a:lnTo>
                      <a:pt x="314" y="197"/>
                    </a:lnTo>
                    <a:lnTo>
                      <a:pt x="314" y="195"/>
                    </a:lnTo>
                    <a:lnTo>
                      <a:pt x="316" y="195"/>
                    </a:lnTo>
                    <a:lnTo>
                      <a:pt x="317" y="195"/>
                    </a:lnTo>
                    <a:lnTo>
                      <a:pt x="317" y="195"/>
                    </a:lnTo>
                    <a:lnTo>
                      <a:pt x="319" y="195"/>
                    </a:lnTo>
                    <a:lnTo>
                      <a:pt x="319" y="194"/>
                    </a:lnTo>
                    <a:lnTo>
                      <a:pt x="320" y="194"/>
                    </a:lnTo>
                    <a:lnTo>
                      <a:pt x="322" y="194"/>
                    </a:lnTo>
                    <a:lnTo>
                      <a:pt x="322" y="194"/>
                    </a:lnTo>
                    <a:lnTo>
                      <a:pt x="323" y="194"/>
                    </a:lnTo>
                    <a:lnTo>
                      <a:pt x="323" y="192"/>
                    </a:lnTo>
                    <a:lnTo>
                      <a:pt x="325" y="192"/>
                    </a:lnTo>
                    <a:lnTo>
                      <a:pt x="325" y="192"/>
                    </a:lnTo>
                    <a:lnTo>
                      <a:pt x="326" y="192"/>
                    </a:lnTo>
                    <a:lnTo>
                      <a:pt x="326" y="191"/>
                    </a:lnTo>
                    <a:lnTo>
                      <a:pt x="328" y="191"/>
                    </a:lnTo>
                    <a:lnTo>
                      <a:pt x="329" y="191"/>
                    </a:lnTo>
                    <a:lnTo>
                      <a:pt x="329" y="189"/>
                    </a:lnTo>
                    <a:lnTo>
                      <a:pt x="331" y="189"/>
                    </a:lnTo>
                    <a:lnTo>
                      <a:pt x="332" y="189"/>
                    </a:lnTo>
                    <a:lnTo>
                      <a:pt x="332" y="188"/>
                    </a:lnTo>
                    <a:lnTo>
                      <a:pt x="334" y="188"/>
                    </a:lnTo>
                    <a:lnTo>
                      <a:pt x="335" y="188"/>
                    </a:lnTo>
                    <a:lnTo>
                      <a:pt x="337" y="186"/>
                    </a:lnTo>
                    <a:lnTo>
                      <a:pt x="338" y="186"/>
                    </a:lnTo>
                    <a:lnTo>
                      <a:pt x="338" y="186"/>
                    </a:lnTo>
                    <a:lnTo>
                      <a:pt x="339" y="185"/>
                    </a:lnTo>
                    <a:lnTo>
                      <a:pt x="341" y="185"/>
                    </a:lnTo>
                    <a:lnTo>
                      <a:pt x="342" y="183"/>
                    </a:lnTo>
                    <a:lnTo>
                      <a:pt x="342" y="183"/>
                    </a:lnTo>
                    <a:lnTo>
                      <a:pt x="344" y="183"/>
                    </a:lnTo>
                    <a:lnTo>
                      <a:pt x="345" y="182"/>
                    </a:lnTo>
                    <a:lnTo>
                      <a:pt x="347" y="182"/>
                    </a:lnTo>
                    <a:lnTo>
                      <a:pt x="347" y="182"/>
                    </a:lnTo>
                    <a:lnTo>
                      <a:pt x="348" y="180"/>
                    </a:lnTo>
                    <a:lnTo>
                      <a:pt x="348" y="180"/>
                    </a:lnTo>
                    <a:lnTo>
                      <a:pt x="350" y="180"/>
                    </a:lnTo>
                    <a:lnTo>
                      <a:pt x="350" y="179"/>
                    </a:lnTo>
                    <a:lnTo>
                      <a:pt x="351" y="179"/>
                    </a:lnTo>
                    <a:lnTo>
                      <a:pt x="351" y="179"/>
                    </a:lnTo>
                    <a:lnTo>
                      <a:pt x="353" y="179"/>
                    </a:lnTo>
                    <a:lnTo>
                      <a:pt x="353" y="178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6" y="178"/>
                    </a:lnTo>
                    <a:lnTo>
                      <a:pt x="356" y="176"/>
                    </a:lnTo>
                    <a:lnTo>
                      <a:pt x="357" y="176"/>
                    </a:lnTo>
                    <a:lnTo>
                      <a:pt x="357" y="176"/>
                    </a:lnTo>
                    <a:lnTo>
                      <a:pt x="359" y="176"/>
                    </a:lnTo>
                    <a:lnTo>
                      <a:pt x="359" y="175"/>
                    </a:lnTo>
                    <a:lnTo>
                      <a:pt x="360" y="175"/>
                    </a:lnTo>
                    <a:lnTo>
                      <a:pt x="360" y="175"/>
                    </a:lnTo>
                    <a:lnTo>
                      <a:pt x="362" y="173"/>
                    </a:lnTo>
                    <a:lnTo>
                      <a:pt x="363" y="173"/>
                    </a:lnTo>
                    <a:lnTo>
                      <a:pt x="363" y="173"/>
                    </a:lnTo>
                    <a:lnTo>
                      <a:pt x="365" y="172"/>
                    </a:lnTo>
                    <a:lnTo>
                      <a:pt x="366" y="172"/>
                    </a:lnTo>
                    <a:lnTo>
                      <a:pt x="368" y="170"/>
                    </a:lnTo>
                    <a:lnTo>
                      <a:pt x="368" y="170"/>
                    </a:lnTo>
                    <a:lnTo>
                      <a:pt x="369" y="170"/>
                    </a:lnTo>
                    <a:lnTo>
                      <a:pt x="369" y="169"/>
                    </a:lnTo>
                    <a:lnTo>
                      <a:pt x="371" y="169"/>
                    </a:lnTo>
                    <a:lnTo>
                      <a:pt x="372" y="169"/>
                    </a:lnTo>
                    <a:lnTo>
                      <a:pt x="372" y="167"/>
                    </a:lnTo>
                    <a:lnTo>
                      <a:pt x="374" y="167"/>
                    </a:lnTo>
                    <a:lnTo>
                      <a:pt x="375" y="166"/>
                    </a:lnTo>
                    <a:lnTo>
                      <a:pt x="375" y="166"/>
                    </a:lnTo>
                    <a:lnTo>
                      <a:pt x="377" y="166"/>
                    </a:lnTo>
                    <a:lnTo>
                      <a:pt x="377" y="166"/>
                    </a:lnTo>
                    <a:lnTo>
                      <a:pt x="378" y="164"/>
                    </a:lnTo>
                    <a:lnTo>
                      <a:pt x="378" y="164"/>
                    </a:lnTo>
                    <a:lnTo>
                      <a:pt x="379" y="164"/>
                    </a:lnTo>
                    <a:lnTo>
                      <a:pt x="379" y="163"/>
                    </a:lnTo>
                    <a:lnTo>
                      <a:pt x="379" y="163"/>
                    </a:lnTo>
                    <a:lnTo>
                      <a:pt x="381" y="163"/>
                    </a:lnTo>
                    <a:lnTo>
                      <a:pt x="381" y="163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4" y="161"/>
                    </a:lnTo>
                    <a:lnTo>
                      <a:pt x="384" y="160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7" y="160"/>
                    </a:lnTo>
                    <a:lnTo>
                      <a:pt x="387" y="158"/>
                    </a:lnTo>
                    <a:lnTo>
                      <a:pt x="388" y="158"/>
                    </a:lnTo>
                    <a:lnTo>
                      <a:pt x="388" y="158"/>
                    </a:lnTo>
                    <a:lnTo>
                      <a:pt x="390" y="157"/>
                    </a:lnTo>
                    <a:lnTo>
                      <a:pt x="390" y="157"/>
                    </a:lnTo>
                    <a:lnTo>
                      <a:pt x="391" y="157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4" y="154"/>
                    </a:lnTo>
                    <a:lnTo>
                      <a:pt x="396" y="154"/>
                    </a:lnTo>
                    <a:lnTo>
                      <a:pt x="396" y="154"/>
                    </a:lnTo>
                    <a:lnTo>
                      <a:pt x="397" y="152"/>
                    </a:lnTo>
                    <a:lnTo>
                      <a:pt x="397" y="152"/>
                    </a:lnTo>
                    <a:lnTo>
                      <a:pt x="399" y="152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400" y="151"/>
                    </a:lnTo>
                    <a:lnTo>
                      <a:pt x="400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3" y="149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5" y="148"/>
                    </a:lnTo>
                    <a:lnTo>
                      <a:pt x="405" y="148"/>
                    </a:lnTo>
                    <a:lnTo>
                      <a:pt x="405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5"/>
                    </a:lnTo>
                    <a:lnTo>
                      <a:pt x="408" y="145"/>
                    </a:lnTo>
                    <a:lnTo>
                      <a:pt x="408" y="145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2" y="142"/>
                    </a:lnTo>
                    <a:lnTo>
                      <a:pt x="412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39"/>
                    </a:lnTo>
                    <a:lnTo>
                      <a:pt x="415" y="139"/>
                    </a:lnTo>
                    <a:lnTo>
                      <a:pt x="415" y="139"/>
                    </a:lnTo>
                    <a:lnTo>
                      <a:pt x="416" y="139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8" y="138"/>
                    </a:lnTo>
                    <a:lnTo>
                      <a:pt x="418" y="138"/>
                    </a:lnTo>
                    <a:lnTo>
                      <a:pt x="418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2" y="135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4" y="133"/>
                    </a:lnTo>
                    <a:lnTo>
                      <a:pt x="424" y="133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7" y="132"/>
                    </a:lnTo>
                    <a:lnTo>
                      <a:pt x="427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30" y="129"/>
                    </a:lnTo>
                    <a:lnTo>
                      <a:pt x="430" y="129"/>
                    </a:lnTo>
                    <a:lnTo>
                      <a:pt x="431" y="127"/>
                    </a:lnTo>
                    <a:lnTo>
                      <a:pt x="431" y="127"/>
                    </a:lnTo>
                    <a:lnTo>
                      <a:pt x="433" y="127"/>
                    </a:lnTo>
                    <a:lnTo>
                      <a:pt x="433" y="127"/>
                    </a:lnTo>
                    <a:lnTo>
                      <a:pt x="433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9" y="123"/>
                    </a:lnTo>
                    <a:lnTo>
                      <a:pt x="439" y="121"/>
                    </a:lnTo>
                    <a:lnTo>
                      <a:pt x="439" y="121"/>
                    </a:lnTo>
                    <a:lnTo>
                      <a:pt x="440" y="121"/>
                    </a:lnTo>
                    <a:lnTo>
                      <a:pt x="440" y="120"/>
                    </a:lnTo>
                    <a:lnTo>
                      <a:pt x="440" y="120"/>
                    </a:lnTo>
                    <a:lnTo>
                      <a:pt x="442" y="118"/>
                    </a:lnTo>
                    <a:lnTo>
                      <a:pt x="442" y="118"/>
                    </a:lnTo>
                    <a:lnTo>
                      <a:pt x="443" y="118"/>
                    </a:lnTo>
                    <a:lnTo>
                      <a:pt x="443" y="117"/>
                    </a:lnTo>
                    <a:lnTo>
                      <a:pt x="443" y="117"/>
                    </a:lnTo>
                    <a:lnTo>
                      <a:pt x="445" y="115"/>
                    </a:lnTo>
                    <a:lnTo>
                      <a:pt x="446" y="115"/>
                    </a:lnTo>
                    <a:lnTo>
                      <a:pt x="446" y="114"/>
                    </a:lnTo>
                    <a:lnTo>
                      <a:pt x="446" y="114"/>
                    </a:lnTo>
                    <a:lnTo>
                      <a:pt x="448" y="112"/>
                    </a:lnTo>
                    <a:lnTo>
                      <a:pt x="448" y="112"/>
                    </a:lnTo>
                    <a:lnTo>
                      <a:pt x="449" y="111"/>
                    </a:lnTo>
                    <a:lnTo>
                      <a:pt x="449" y="111"/>
                    </a:lnTo>
                    <a:lnTo>
                      <a:pt x="451" y="109"/>
                    </a:lnTo>
                    <a:lnTo>
                      <a:pt x="451" y="109"/>
                    </a:lnTo>
                    <a:lnTo>
                      <a:pt x="451" y="108"/>
                    </a:lnTo>
                    <a:lnTo>
                      <a:pt x="452" y="108"/>
                    </a:lnTo>
                    <a:lnTo>
                      <a:pt x="452" y="108"/>
                    </a:lnTo>
                    <a:lnTo>
                      <a:pt x="454" y="106"/>
                    </a:lnTo>
                    <a:lnTo>
                      <a:pt x="454" y="106"/>
                    </a:lnTo>
                    <a:lnTo>
                      <a:pt x="454" y="105"/>
                    </a:lnTo>
                    <a:lnTo>
                      <a:pt x="455" y="105"/>
                    </a:lnTo>
                    <a:lnTo>
                      <a:pt x="455" y="105"/>
                    </a:lnTo>
                    <a:lnTo>
                      <a:pt x="455" y="103"/>
                    </a:lnTo>
                    <a:lnTo>
                      <a:pt x="455" y="103"/>
                    </a:lnTo>
                    <a:lnTo>
                      <a:pt x="456" y="103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8" y="101"/>
                    </a:lnTo>
                    <a:lnTo>
                      <a:pt x="458" y="101"/>
                    </a:lnTo>
                    <a:lnTo>
                      <a:pt x="459" y="101"/>
                    </a:lnTo>
                    <a:lnTo>
                      <a:pt x="459" y="99"/>
                    </a:lnTo>
                    <a:lnTo>
                      <a:pt x="459" y="99"/>
                    </a:lnTo>
                    <a:lnTo>
                      <a:pt x="461" y="98"/>
                    </a:lnTo>
                    <a:lnTo>
                      <a:pt x="461" y="98"/>
                    </a:lnTo>
                    <a:lnTo>
                      <a:pt x="462" y="96"/>
                    </a:lnTo>
                    <a:lnTo>
                      <a:pt x="462" y="95"/>
                    </a:lnTo>
                    <a:lnTo>
                      <a:pt x="464" y="95"/>
                    </a:lnTo>
                    <a:lnTo>
                      <a:pt x="465" y="93"/>
                    </a:lnTo>
                    <a:lnTo>
                      <a:pt x="465" y="92"/>
                    </a:lnTo>
                    <a:lnTo>
                      <a:pt x="467" y="90"/>
                    </a:lnTo>
                    <a:lnTo>
                      <a:pt x="467" y="90"/>
                    </a:lnTo>
                    <a:lnTo>
                      <a:pt x="468" y="89"/>
                    </a:lnTo>
                    <a:lnTo>
                      <a:pt x="468" y="89"/>
                    </a:lnTo>
                    <a:lnTo>
                      <a:pt x="470" y="87"/>
                    </a:lnTo>
                    <a:lnTo>
                      <a:pt x="470" y="86"/>
                    </a:lnTo>
                    <a:lnTo>
                      <a:pt x="471" y="86"/>
                    </a:lnTo>
                    <a:lnTo>
                      <a:pt x="471" y="84"/>
                    </a:lnTo>
                    <a:lnTo>
                      <a:pt x="473" y="83"/>
                    </a:lnTo>
                    <a:lnTo>
                      <a:pt x="473" y="83"/>
                    </a:lnTo>
                    <a:lnTo>
                      <a:pt x="474" y="81"/>
                    </a:lnTo>
                    <a:lnTo>
                      <a:pt x="474" y="81"/>
                    </a:lnTo>
                    <a:lnTo>
                      <a:pt x="476" y="80"/>
                    </a:lnTo>
                    <a:lnTo>
                      <a:pt x="476" y="80"/>
                    </a:lnTo>
                    <a:lnTo>
                      <a:pt x="476" y="78"/>
                    </a:lnTo>
                    <a:lnTo>
                      <a:pt x="477" y="78"/>
                    </a:lnTo>
                    <a:lnTo>
                      <a:pt x="477" y="78"/>
                    </a:lnTo>
                    <a:lnTo>
                      <a:pt x="477" y="77"/>
                    </a:lnTo>
                    <a:lnTo>
                      <a:pt x="479" y="77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80" y="74"/>
                    </a:lnTo>
                    <a:lnTo>
                      <a:pt x="480" y="74"/>
                    </a:lnTo>
                    <a:lnTo>
                      <a:pt x="482" y="72"/>
                    </a:lnTo>
                    <a:lnTo>
                      <a:pt x="482" y="72"/>
                    </a:lnTo>
                    <a:lnTo>
                      <a:pt x="482" y="71"/>
                    </a:lnTo>
                    <a:lnTo>
                      <a:pt x="483" y="69"/>
                    </a:lnTo>
                    <a:lnTo>
                      <a:pt x="483" y="69"/>
                    </a:lnTo>
                    <a:lnTo>
                      <a:pt x="485" y="68"/>
                    </a:lnTo>
                    <a:lnTo>
                      <a:pt x="485" y="66"/>
                    </a:lnTo>
                    <a:lnTo>
                      <a:pt x="486" y="65"/>
                    </a:lnTo>
                    <a:lnTo>
                      <a:pt x="488" y="65"/>
                    </a:lnTo>
                    <a:lnTo>
                      <a:pt x="488" y="64"/>
                    </a:lnTo>
                    <a:lnTo>
                      <a:pt x="489" y="62"/>
                    </a:lnTo>
                    <a:lnTo>
                      <a:pt x="489" y="62"/>
                    </a:lnTo>
                    <a:lnTo>
                      <a:pt x="491" y="61"/>
                    </a:lnTo>
                    <a:lnTo>
                      <a:pt x="491" y="59"/>
                    </a:lnTo>
                    <a:lnTo>
                      <a:pt x="492" y="58"/>
                    </a:lnTo>
                    <a:lnTo>
                      <a:pt x="492" y="56"/>
                    </a:lnTo>
                    <a:lnTo>
                      <a:pt x="493" y="55"/>
                    </a:lnTo>
                    <a:lnTo>
                      <a:pt x="493" y="55"/>
                    </a:lnTo>
                    <a:lnTo>
                      <a:pt x="495" y="53"/>
                    </a:lnTo>
                    <a:lnTo>
                      <a:pt x="495" y="53"/>
                    </a:lnTo>
                    <a:lnTo>
                      <a:pt x="496" y="52"/>
                    </a:lnTo>
                    <a:lnTo>
                      <a:pt x="496" y="50"/>
                    </a:lnTo>
                    <a:lnTo>
                      <a:pt x="498" y="50"/>
                    </a:lnTo>
                    <a:lnTo>
                      <a:pt x="498" y="49"/>
                    </a:lnTo>
                    <a:lnTo>
                      <a:pt x="498" y="49"/>
                    </a:lnTo>
                    <a:lnTo>
                      <a:pt x="499" y="47"/>
                    </a:lnTo>
                    <a:lnTo>
                      <a:pt x="499" y="47"/>
                    </a:lnTo>
                    <a:lnTo>
                      <a:pt x="499" y="46"/>
                    </a:lnTo>
                    <a:lnTo>
                      <a:pt x="501" y="46"/>
                    </a:lnTo>
                    <a:lnTo>
                      <a:pt x="501" y="44"/>
                    </a:lnTo>
                    <a:lnTo>
                      <a:pt x="501" y="44"/>
                    </a:lnTo>
                    <a:lnTo>
                      <a:pt x="502" y="43"/>
                    </a:lnTo>
                    <a:lnTo>
                      <a:pt x="502" y="43"/>
                    </a:lnTo>
                    <a:lnTo>
                      <a:pt x="504" y="41"/>
                    </a:lnTo>
                    <a:lnTo>
                      <a:pt x="504" y="40"/>
                    </a:lnTo>
                    <a:lnTo>
                      <a:pt x="505" y="40"/>
                    </a:lnTo>
                    <a:lnTo>
                      <a:pt x="505" y="38"/>
                    </a:lnTo>
                    <a:lnTo>
                      <a:pt x="507" y="37"/>
                    </a:lnTo>
                    <a:lnTo>
                      <a:pt x="507" y="37"/>
                    </a:lnTo>
                    <a:lnTo>
                      <a:pt x="508" y="35"/>
                    </a:lnTo>
                    <a:lnTo>
                      <a:pt x="508" y="34"/>
                    </a:lnTo>
                    <a:lnTo>
                      <a:pt x="510" y="32"/>
                    </a:lnTo>
                    <a:lnTo>
                      <a:pt x="511" y="31"/>
                    </a:lnTo>
                    <a:lnTo>
                      <a:pt x="511" y="29"/>
                    </a:lnTo>
                    <a:lnTo>
                      <a:pt x="511" y="29"/>
                    </a:lnTo>
                    <a:lnTo>
                      <a:pt x="513" y="28"/>
                    </a:lnTo>
                    <a:lnTo>
                      <a:pt x="514" y="26"/>
                    </a:lnTo>
                    <a:lnTo>
                      <a:pt x="514" y="26"/>
                    </a:lnTo>
                    <a:lnTo>
                      <a:pt x="516" y="25"/>
                    </a:lnTo>
                    <a:lnTo>
                      <a:pt x="516" y="24"/>
                    </a:lnTo>
                    <a:lnTo>
                      <a:pt x="517" y="22"/>
                    </a:lnTo>
                    <a:lnTo>
                      <a:pt x="517" y="22"/>
                    </a:lnTo>
                    <a:lnTo>
                      <a:pt x="519" y="21"/>
                    </a:lnTo>
                    <a:lnTo>
                      <a:pt x="519" y="19"/>
                    </a:lnTo>
                    <a:lnTo>
                      <a:pt x="520" y="19"/>
                    </a:lnTo>
                    <a:lnTo>
                      <a:pt x="520" y="18"/>
                    </a:lnTo>
                    <a:lnTo>
                      <a:pt x="520" y="18"/>
                    </a:lnTo>
                    <a:lnTo>
                      <a:pt x="522" y="16"/>
                    </a:lnTo>
                    <a:lnTo>
                      <a:pt x="522" y="16"/>
                    </a:lnTo>
                    <a:lnTo>
                      <a:pt x="522" y="15"/>
                    </a:lnTo>
                    <a:lnTo>
                      <a:pt x="523" y="15"/>
                    </a:lnTo>
                    <a:lnTo>
                      <a:pt x="523" y="13"/>
                    </a:lnTo>
                    <a:lnTo>
                      <a:pt x="523" y="13"/>
                    </a:lnTo>
                    <a:lnTo>
                      <a:pt x="525" y="12"/>
                    </a:lnTo>
                    <a:lnTo>
                      <a:pt x="525" y="12"/>
                    </a:lnTo>
                    <a:lnTo>
                      <a:pt x="525" y="10"/>
                    </a:lnTo>
                    <a:lnTo>
                      <a:pt x="526" y="10"/>
                    </a:lnTo>
                    <a:lnTo>
                      <a:pt x="526" y="9"/>
                    </a:lnTo>
                    <a:lnTo>
                      <a:pt x="526" y="9"/>
                    </a:lnTo>
                    <a:lnTo>
                      <a:pt x="528" y="7"/>
                    </a:lnTo>
                    <a:lnTo>
                      <a:pt x="528" y="7"/>
                    </a:lnTo>
                    <a:lnTo>
                      <a:pt x="528" y="6"/>
                    </a:lnTo>
                    <a:lnTo>
                      <a:pt x="529" y="4"/>
                    </a:lnTo>
                    <a:lnTo>
                      <a:pt x="529" y="4"/>
                    </a:lnTo>
                    <a:lnTo>
                      <a:pt x="531" y="3"/>
                    </a:lnTo>
                    <a:lnTo>
                      <a:pt x="531" y="1"/>
                    </a:lnTo>
                    <a:lnTo>
                      <a:pt x="531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19" name="Freeform 242"/>
              <p:cNvSpPr>
                <a:spLocks/>
              </p:cNvSpPr>
              <p:nvPr/>
            </p:nvSpPr>
            <p:spPr bwMode="auto">
              <a:xfrm>
                <a:off x="2945" y="2192"/>
                <a:ext cx="177" cy="71"/>
              </a:xfrm>
              <a:custGeom>
                <a:avLst/>
                <a:gdLst>
                  <a:gd name="T0" fmla="*/ 104 w 531"/>
                  <a:gd name="T1" fmla="*/ 212 h 212"/>
                  <a:gd name="T2" fmla="*/ 178 w 531"/>
                  <a:gd name="T3" fmla="*/ 212 h 212"/>
                  <a:gd name="T4" fmla="*/ 215 w 531"/>
                  <a:gd name="T5" fmla="*/ 212 h 212"/>
                  <a:gd name="T6" fmla="*/ 233 w 531"/>
                  <a:gd name="T7" fmla="*/ 212 h 212"/>
                  <a:gd name="T8" fmla="*/ 240 w 531"/>
                  <a:gd name="T9" fmla="*/ 210 h 212"/>
                  <a:gd name="T10" fmla="*/ 249 w 531"/>
                  <a:gd name="T11" fmla="*/ 210 h 212"/>
                  <a:gd name="T12" fmla="*/ 255 w 531"/>
                  <a:gd name="T13" fmla="*/ 209 h 212"/>
                  <a:gd name="T14" fmla="*/ 260 w 531"/>
                  <a:gd name="T15" fmla="*/ 209 h 212"/>
                  <a:gd name="T16" fmla="*/ 267 w 531"/>
                  <a:gd name="T17" fmla="*/ 207 h 212"/>
                  <a:gd name="T18" fmla="*/ 276 w 531"/>
                  <a:gd name="T19" fmla="*/ 207 h 212"/>
                  <a:gd name="T20" fmla="*/ 282 w 531"/>
                  <a:gd name="T21" fmla="*/ 206 h 212"/>
                  <a:gd name="T22" fmla="*/ 288 w 531"/>
                  <a:gd name="T23" fmla="*/ 204 h 212"/>
                  <a:gd name="T24" fmla="*/ 294 w 531"/>
                  <a:gd name="T25" fmla="*/ 203 h 212"/>
                  <a:gd name="T26" fmla="*/ 302 w 531"/>
                  <a:gd name="T27" fmla="*/ 200 h 212"/>
                  <a:gd name="T28" fmla="*/ 311 w 531"/>
                  <a:gd name="T29" fmla="*/ 197 h 212"/>
                  <a:gd name="T30" fmla="*/ 319 w 531"/>
                  <a:gd name="T31" fmla="*/ 195 h 212"/>
                  <a:gd name="T32" fmla="*/ 325 w 531"/>
                  <a:gd name="T33" fmla="*/ 192 h 212"/>
                  <a:gd name="T34" fmla="*/ 331 w 531"/>
                  <a:gd name="T35" fmla="*/ 189 h 212"/>
                  <a:gd name="T36" fmla="*/ 338 w 531"/>
                  <a:gd name="T37" fmla="*/ 186 h 212"/>
                  <a:gd name="T38" fmla="*/ 347 w 531"/>
                  <a:gd name="T39" fmla="*/ 182 h 212"/>
                  <a:gd name="T40" fmla="*/ 351 w 531"/>
                  <a:gd name="T41" fmla="*/ 179 h 212"/>
                  <a:gd name="T42" fmla="*/ 357 w 531"/>
                  <a:gd name="T43" fmla="*/ 176 h 212"/>
                  <a:gd name="T44" fmla="*/ 363 w 531"/>
                  <a:gd name="T45" fmla="*/ 173 h 212"/>
                  <a:gd name="T46" fmla="*/ 369 w 531"/>
                  <a:gd name="T47" fmla="*/ 169 h 212"/>
                  <a:gd name="T48" fmla="*/ 377 w 531"/>
                  <a:gd name="T49" fmla="*/ 166 h 212"/>
                  <a:gd name="T50" fmla="*/ 381 w 531"/>
                  <a:gd name="T51" fmla="*/ 163 h 212"/>
                  <a:gd name="T52" fmla="*/ 385 w 531"/>
                  <a:gd name="T53" fmla="*/ 160 h 212"/>
                  <a:gd name="T54" fmla="*/ 390 w 531"/>
                  <a:gd name="T55" fmla="*/ 157 h 212"/>
                  <a:gd name="T56" fmla="*/ 396 w 531"/>
                  <a:gd name="T57" fmla="*/ 154 h 212"/>
                  <a:gd name="T58" fmla="*/ 400 w 531"/>
                  <a:gd name="T59" fmla="*/ 149 h 212"/>
                  <a:gd name="T60" fmla="*/ 403 w 531"/>
                  <a:gd name="T61" fmla="*/ 148 h 212"/>
                  <a:gd name="T62" fmla="*/ 406 w 531"/>
                  <a:gd name="T63" fmla="*/ 145 h 212"/>
                  <a:gd name="T64" fmla="*/ 411 w 531"/>
                  <a:gd name="T65" fmla="*/ 142 h 212"/>
                  <a:gd name="T66" fmla="*/ 415 w 531"/>
                  <a:gd name="T67" fmla="*/ 139 h 212"/>
                  <a:gd name="T68" fmla="*/ 418 w 531"/>
                  <a:gd name="T69" fmla="*/ 138 h 212"/>
                  <a:gd name="T70" fmla="*/ 421 w 531"/>
                  <a:gd name="T71" fmla="*/ 135 h 212"/>
                  <a:gd name="T72" fmla="*/ 424 w 531"/>
                  <a:gd name="T73" fmla="*/ 133 h 212"/>
                  <a:gd name="T74" fmla="*/ 428 w 531"/>
                  <a:gd name="T75" fmla="*/ 130 h 212"/>
                  <a:gd name="T76" fmla="*/ 433 w 531"/>
                  <a:gd name="T77" fmla="*/ 126 h 212"/>
                  <a:gd name="T78" fmla="*/ 436 w 531"/>
                  <a:gd name="T79" fmla="*/ 124 h 212"/>
                  <a:gd name="T80" fmla="*/ 440 w 531"/>
                  <a:gd name="T81" fmla="*/ 121 h 212"/>
                  <a:gd name="T82" fmla="*/ 443 w 531"/>
                  <a:gd name="T83" fmla="*/ 117 h 212"/>
                  <a:gd name="T84" fmla="*/ 449 w 531"/>
                  <a:gd name="T85" fmla="*/ 111 h 212"/>
                  <a:gd name="T86" fmla="*/ 454 w 531"/>
                  <a:gd name="T87" fmla="*/ 106 h 212"/>
                  <a:gd name="T88" fmla="*/ 456 w 531"/>
                  <a:gd name="T89" fmla="*/ 103 h 212"/>
                  <a:gd name="T90" fmla="*/ 459 w 531"/>
                  <a:gd name="T91" fmla="*/ 99 h 212"/>
                  <a:gd name="T92" fmla="*/ 465 w 531"/>
                  <a:gd name="T93" fmla="*/ 92 h 212"/>
                  <a:gd name="T94" fmla="*/ 471 w 531"/>
                  <a:gd name="T95" fmla="*/ 86 h 212"/>
                  <a:gd name="T96" fmla="*/ 476 w 531"/>
                  <a:gd name="T97" fmla="*/ 80 h 212"/>
                  <a:gd name="T98" fmla="*/ 479 w 531"/>
                  <a:gd name="T99" fmla="*/ 75 h 212"/>
                  <a:gd name="T100" fmla="*/ 483 w 531"/>
                  <a:gd name="T101" fmla="*/ 69 h 212"/>
                  <a:gd name="T102" fmla="*/ 489 w 531"/>
                  <a:gd name="T103" fmla="*/ 62 h 212"/>
                  <a:gd name="T104" fmla="*/ 495 w 531"/>
                  <a:gd name="T105" fmla="*/ 53 h 212"/>
                  <a:gd name="T106" fmla="*/ 499 w 531"/>
                  <a:gd name="T107" fmla="*/ 47 h 212"/>
                  <a:gd name="T108" fmla="*/ 502 w 531"/>
                  <a:gd name="T109" fmla="*/ 43 h 212"/>
                  <a:gd name="T110" fmla="*/ 508 w 531"/>
                  <a:gd name="T111" fmla="*/ 35 h 212"/>
                  <a:gd name="T112" fmla="*/ 514 w 531"/>
                  <a:gd name="T113" fmla="*/ 26 h 212"/>
                  <a:gd name="T114" fmla="*/ 519 w 531"/>
                  <a:gd name="T115" fmla="*/ 19 h 212"/>
                  <a:gd name="T116" fmla="*/ 523 w 531"/>
                  <a:gd name="T117" fmla="*/ 15 h 212"/>
                  <a:gd name="T118" fmla="*/ 526 w 531"/>
                  <a:gd name="T119" fmla="*/ 9 h 212"/>
                  <a:gd name="T120" fmla="*/ 531 w 531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212"/>
                    </a:moveTo>
                    <a:lnTo>
                      <a:pt x="21" y="212"/>
                    </a:lnTo>
                    <a:lnTo>
                      <a:pt x="39" y="212"/>
                    </a:lnTo>
                    <a:lnTo>
                      <a:pt x="57" y="212"/>
                    </a:lnTo>
                    <a:lnTo>
                      <a:pt x="74" y="212"/>
                    </a:lnTo>
                    <a:lnTo>
                      <a:pt x="89" y="212"/>
                    </a:lnTo>
                    <a:lnTo>
                      <a:pt x="104" y="212"/>
                    </a:lnTo>
                    <a:lnTo>
                      <a:pt x="117" y="212"/>
                    </a:lnTo>
                    <a:lnTo>
                      <a:pt x="129" y="212"/>
                    </a:lnTo>
                    <a:lnTo>
                      <a:pt x="141" y="212"/>
                    </a:lnTo>
                    <a:lnTo>
                      <a:pt x="151" y="212"/>
                    </a:lnTo>
                    <a:lnTo>
                      <a:pt x="162" y="212"/>
                    </a:lnTo>
                    <a:lnTo>
                      <a:pt x="169" y="212"/>
                    </a:lnTo>
                    <a:lnTo>
                      <a:pt x="178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8" y="212"/>
                    </a:lnTo>
                    <a:lnTo>
                      <a:pt x="212" y="212"/>
                    </a:lnTo>
                    <a:lnTo>
                      <a:pt x="215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4" y="212"/>
                    </a:lnTo>
                    <a:lnTo>
                      <a:pt x="227" y="212"/>
                    </a:lnTo>
                    <a:lnTo>
                      <a:pt x="228" y="212"/>
                    </a:lnTo>
                    <a:lnTo>
                      <a:pt x="230" y="212"/>
                    </a:lnTo>
                    <a:lnTo>
                      <a:pt x="233" y="212"/>
                    </a:lnTo>
                    <a:lnTo>
                      <a:pt x="234" y="210"/>
                    </a:lnTo>
                    <a:lnTo>
                      <a:pt x="236" y="210"/>
                    </a:lnTo>
                    <a:lnTo>
                      <a:pt x="237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40" y="210"/>
                    </a:lnTo>
                    <a:lnTo>
                      <a:pt x="242" y="210"/>
                    </a:lnTo>
                    <a:lnTo>
                      <a:pt x="243" y="210"/>
                    </a:lnTo>
                    <a:lnTo>
                      <a:pt x="245" y="210"/>
                    </a:lnTo>
                    <a:lnTo>
                      <a:pt x="246" y="210"/>
                    </a:lnTo>
                    <a:lnTo>
                      <a:pt x="248" y="210"/>
                    </a:lnTo>
                    <a:lnTo>
                      <a:pt x="248" y="210"/>
                    </a:lnTo>
                    <a:lnTo>
                      <a:pt x="249" y="210"/>
                    </a:lnTo>
                    <a:lnTo>
                      <a:pt x="251" y="210"/>
                    </a:lnTo>
                    <a:lnTo>
                      <a:pt x="251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4" y="210"/>
                    </a:lnTo>
                    <a:lnTo>
                      <a:pt x="254" y="210"/>
                    </a:lnTo>
                    <a:lnTo>
                      <a:pt x="255" y="209"/>
                    </a:lnTo>
                    <a:lnTo>
                      <a:pt x="255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8" y="209"/>
                    </a:lnTo>
                    <a:lnTo>
                      <a:pt x="258" y="209"/>
                    </a:lnTo>
                    <a:lnTo>
                      <a:pt x="260" y="209"/>
                    </a:lnTo>
                    <a:lnTo>
                      <a:pt x="260" y="209"/>
                    </a:lnTo>
                    <a:lnTo>
                      <a:pt x="261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4" y="209"/>
                    </a:lnTo>
                    <a:lnTo>
                      <a:pt x="265" y="209"/>
                    </a:lnTo>
                    <a:lnTo>
                      <a:pt x="265" y="207"/>
                    </a:lnTo>
                    <a:lnTo>
                      <a:pt x="267" y="207"/>
                    </a:lnTo>
                    <a:lnTo>
                      <a:pt x="268" y="207"/>
                    </a:lnTo>
                    <a:lnTo>
                      <a:pt x="270" y="207"/>
                    </a:lnTo>
                    <a:lnTo>
                      <a:pt x="271" y="207"/>
                    </a:lnTo>
                    <a:lnTo>
                      <a:pt x="271" y="207"/>
                    </a:lnTo>
                    <a:lnTo>
                      <a:pt x="273" y="207"/>
                    </a:lnTo>
                    <a:lnTo>
                      <a:pt x="274" y="207"/>
                    </a:lnTo>
                    <a:lnTo>
                      <a:pt x="276" y="207"/>
                    </a:lnTo>
                    <a:lnTo>
                      <a:pt x="276" y="206"/>
                    </a:lnTo>
                    <a:lnTo>
                      <a:pt x="277" y="206"/>
                    </a:lnTo>
                    <a:lnTo>
                      <a:pt x="279" y="206"/>
                    </a:lnTo>
                    <a:lnTo>
                      <a:pt x="280" y="206"/>
                    </a:lnTo>
                    <a:lnTo>
                      <a:pt x="280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3" y="206"/>
                    </a:lnTo>
                    <a:lnTo>
                      <a:pt x="285" y="206"/>
                    </a:lnTo>
                    <a:lnTo>
                      <a:pt x="285" y="206"/>
                    </a:lnTo>
                    <a:lnTo>
                      <a:pt x="286" y="204"/>
                    </a:lnTo>
                    <a:lnTo>
                      <a:pt x="286" y="204"/>
                    </a:lnTo>
                    <a:lnTo>
                      <a:pt x="288" y="204"/>
                    </a:lnTo>
                    <a:lnTo>
                      <a:pt x="288" y="204"/>
                    </a:lnTo>
                    <a:lnTo>
                      <a:pt x="289" y="204"/>
                    </a:lnTo>
                    <a:lnTo>
                      <a:pt x="289" y="204"/>
                    </a:lnTo>
                    <a:lnTo>
                      <a:pt x="291" y="204"/>
                    </a:lnTo>
                    <a:lnTo>
                      <a:pt x="291" y="203"/>
                    </a:lnTo>
                    <a:lnTo>
                      <a:pt x="292" y="203"/>
                    </a:lnTo>
                    <a:lnTo>
                      <a:pt x="294" y="203"/>
                    </a:lnTo>
                    <a:lnTo>
                      <a:pt x="294" y="203"/>
                    </a:lnTo>
                    <a:lnTo>
                      <a:pt x="295" y="203"/>
                    </a:lnTo>
                    <a:lnTo>
                      <a:pt x="297" y="201"/>
                    </a:lnTo>
                    <a:lnTo>
                      <a:pt x="298" y="201"/>
                    </a:lnTo>
                    <a:lnTo>
                      <a:pt x="298" y="201"/>
                    </a:lnTo>
                    <a:lnTo>
                      <a:pt x="300" y="201"/>
                    </a:lnTo>
                    <a:lnTo>
                      <a:pt x="301" y="200"/>
                    </a:lnTo>
                    <a:lnTo>
                      <a:pt x="302" y="200"/>
                    </a:lnTo>
                    <a:lnTo>
                      <a:pt x="304" y="200"/>
                    </a:lnTo>
                    <a:lnTo>
                      <a:pt x="304" y="200"/>
                    </a:lnTo>
                    <a:lnTo>
                      <a:pt x="305" y="198"/>
                    </a:lnTo>
                    <a:lnTo>
                      <a:pt x="307" y="198"/>
                    </a:lnTo>
                    <a:lnTo>
                      <a:pt x="308" y="198"/>
                    </a:lnTo>
                    <a:lnTo>
                      <a:pt x="310" y="197"/>
                    </a:lnTo>
                    <a:lnTo>
                      <a:pt x="311" y="197"/>
                    </a:lnTo>
                    <a:lnTo>
                      <a:pt x="313" y="197"/>
                    </a:lnTo>
                    <a:lnTo>
                      <a:pt x="314" y="197"/>
                    </a:lnTo>
                    <a:lnTo>
                      <a:pt x="314" y="195"/>
                    </a:lnTo>
                    <a:lnTo>
                      <a:pt x="316" y="195"/>
                    </a:lnTo>
                    <a:lnTo>
                      <a:pt x="317" y="195"/>
                    </a:lnTo>
                    <a:lnTo>
                      <a:pt x="317" y="195"/>
                    </a:lnTo>
                    <a:lnTo>
                      <a:pt x="319" y="195"/>
                    </a:lnTo>
                    <a:lnTo>
                      <a:pt x="319" y="194"/>
                    </a:lnTo>
                    <a:lnTo>
                      <a:pt x="320" y="194"/>
                    </a:lnTo>
                    <a:lnTo>
                      <a:pt x="322" y="194"/>
                    </a:lnTo>
                    <a:lnTo>
                      <a:pt x="322" y="194"/>
                    </a:lnTo>
                    <a:lnTo>
                      <a:pt x="323" y="194"/>
                    </a:lnTo>
                    <a:lnTo>
                      <a:pt x="323" y="192"/>
                    </a:lnTo>
                    <a:lnTo>
                      <a:pt x="325" y="192"/>
                    </a:lnTo>
                    <a:lnTo>
                      <a:pt x="325" y="192"/>
                    </a:lnTo>
                    <a:lnTo>
                      <a:pt x="326" y="192"/>
                    </a:lnTo>
                    <a:lnTo>
                      <a:pt x="326" y="191"/>
                    </a:lnTo>
                    <a:lnTo>
                      <a:pt x="328" y="191"/>
                    </a:lnTo>
                    <a:lnTo>
                      <a:pt x="329" y="191"/>
                    </a:lnTo>
                    <a:lnTo>
                      <a:pt x="329" y="189"/>
                    </a:lnTo>
                    <a:lnTo>
                      <a:pt x="331" y="189"/>
                    </a:lnTo>
                    <a:lnTo>
                      <a:pt x="332" y="189"/>
                    </a:lnTo>
                    <a:lnTo>
                      <a:pt x="332" y="188"/>
                    </a:lnTo>
                    <a:lnTo>
                      <a:pt x="334" y="188"/>
                    </a:lnTo>
                    <a:lnTo>
                      <a:pt x="335" y="188"/>
                    </a:lnTo>
                    <a:lnTo>
                      <a:pt x="337" y="186"/>
                    </a:lnTo>
                    <a:lnTo>
                      <a:pt x="338" y="186"/>
                    </a:lnTo>
                    <a:lnTo>
                      <a:pt x="338" y="186"/>
                    </a:lnTo>
                    <a:lnTo>
                      <a:pt x="339" y="185"/>
                    </a:lnTo>
                    <a:lnTo>
                      <a:pt x="341" y="185"/>
                    </a:lnTo>
                    <a:lnTo>
                      <a:pt x="342" y="183"/>
                    </a:lnTo>
                    <a:lnTo>
                      <a:pt x="342" y="183"/>
                    </a:lnTo>
                    <a:lnTo>
                      <a:pt x="344" y="183"/>
                    </a:lnTo>
                    <a:lnTo>
                      <a:pt x="345" y="182"/>
                    </a:lnTo>
                    <a:lnTo>
                      <a:pt x="347" y="182"/>
                    </a:lnTo>
                    <a:lnTo>
                      <a:pt x="347" y="182"/>
                    </a:lnTo>
                    <a:lnTo>
                      <a:pt x="348" y="180"/>
                    </a:lnTo>
                    <a:lnTo>
                      <a:pt x="348" y="180"/>
                    </a:lnTo>
                    <a:lnTo>
                      <a:pt x="350" y="180"/>
                    </a:lnTo>
                    <a:lnTo>
                      <a:pt x="350" y="179"/>
                    </a:lnTo>
                    <a:lnTo>
                      <a:pt x="351" y="179"/>
                    </a:lnTo>
                    <a:lnTo>
                      <a:pt x="351" y="179"/>
                    </a:lnTo>
                    <a:lnTo>
                      <a:pt x="353" y="179"/>
                    </a:lnTo>
                    <a:lnTo>
                      <a:pt x="353" y="178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6" y="178"/>
                    </a:lnTo>
                    <a:lnTo>
                      <a:pt x="356" y="176"/>
                    </a:lnTo>
                    <a:lnTo>
                      <a:pt x="357" y="176"/>
                    </a:lnTo>
                    <a:lnTo>
                      <a:pt x="357" y="176"/>
                    </a:lnTo>
                    <a:lnTo>
                      <a:pt x="359" y="176"/>
                    </a:lnTo>
                    <a:lnTo>
                      <a:pt x="359" y="175"/>
                    </a:lnTo>
                    <a:lnTo>
                      <a:pt x="360" y="175"/>
                    </a:lnTo>
                    <a:lnTo>
                      <a:pt x="360" y="175"/>
                    </a:lnTo>
                    <a:lnTo>
                      <a:pt x="362" y="173"/>
                    </a:lnTo>
                    <a:lnTo>
                      <a:pt x="363" y="173"/>
                    </a:lnTo>
                    <a:lnTo>
                      <a:pt x="363" y="173"/>
                    </a:lnTo>
                    <a:lnTo>
                      <a:pt x="365" y="172"/>
                    </a:lnTo>
                    <a:lnTo>
                      <a:pt x="366" y="172"/>
                    </a:lnTo>
                    <a:lnTo>
                      <a:pt x="368" y="170"/>
                    </a:lnTo>
                    <a:lnTo>
                      <a:pt x="368" y="170"/>
                    </a:lnTo>
                    <a:lnTo>
                      <a:pt x="369" y="170"/>
                    </a:lnTo>
                    <a:lnTo>
                      <a:pt x="369" y="169"/>
                    </a:lnTo>
                    <a:lnTo>
                      <a:pt x="371" y="169"/>
                    </a:lnTo>
                    <a:lnTo>
                      <a:pt x="372" y="169"/>
                    </a:lnTo>
                    <a:lnTo>
                      <a:pt x="372" y="167"/>
                    </a:lnTo>
                    <a:lnTo>
                      <a:pt x="374" y="167"/>
                    </a:lnTo>
                    <a:lnTo>
                      <a:pt x="375" y="166"/>
                    </a:lnTo>
                    <a:lnTo>
                      <a:pt x="375" y="166"/>
                    </a:lnTo>
                    <a:lnTo>
                      <a:pt x="377" y="166"/>
                    </a:lnTo>
                    <a:lnTo>
                      <a:pt x="377" y="166"/>
                    </a:lnTo>
                    <a:lnTo>
                      <a:pt x="378" y="164"/>
                    </a:lnTo>
                    <a:lnTo>
                      <a:pt x="378" y="164"/>
                    </a:lnTo>
                    <a:lnTo>
                      <a:pt x="379" y="164"/>
                    </a:lnTo>
                    <a:lnTo>
                      <a:pt x="379" y="163"/>
                    </a:lnTo>
                    <a:lnTo>
                      <a:pt x="379" y="163"/>
                    </a:lnTo>
                    <a:lnTo>
                      <a:pt x="381" y="163"/>
                    </a:lnTo>
                    <a:lnTo>
                      <a:pt x="381" y="163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4" y="161"/>
                    </a:lnTo>
                    <a:lnTo>
                      <a:pt x="384" y="160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7" y="160"/>
                    </a:lnTo>
                    <a:lnTo>
                      <a:pt x="387" y="158"/>
                    </a:lnTo>
                    <a:lnTo>
                      <a:pt x="388" y="158"/>
                    </a:lnTo>
                    <a:lnTo>
                      <a:pt x="388" y="158"/>
                    </a:lnTo>
                    <a:lnTo>
                      <a:pt x="390" y="157"/>
                    </a:lnTo>
                    <a:lnTo>
                      <a:pt x="390" y="157"/>
                    </a:lnTo>
                    <a:lnTo>
                      <a:pt x="391" y="157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4" y="154"/>
                    </a:lnTo>
                    <a:lnTo>
                      <a:pt x="396" y="154"/>
                    </a:lnTo>
                    <a:lnTo>
                      <a:pt x="396" y="154"/>
                    </a:lnTo>
                    <a:lnTo>
                      <a:pt x="397" y="152"/>
                    </a:lnTo>
                    <a:lnTo>
                      <a:pt x="397" y="152"/>
                    </a:lnTo>
                    <a:lnTo>
                      <a:pt x="399" y="152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400" y="151"/>
                    </a:lnTo>
                    <a:lnTo>
                      <a:pt x="400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3" y="149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5" y="148"/>
                    </a:lnTo>
                    <a:lnTo>
                      <a:pt x="405" y="148"/>
                    </a:lnTo>
                    <a:lnTo>
                      <a:pt x="405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5"/>
                    </a:lnTo>
                    <a:lnTo>
                      <a:pt x="408" y="145"/>
                    </a:lnTo>
                    <a:lnTo>
                      <a:pt x="408" y="145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2" y="142"/>
                    </a:lnTo>
                    <a:lnTo>
                      <a:pt x="412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39"/>
                    </a:lnTo>
                    <a:lnTo>
                      <a:pt x="415" y="139"/>
                    </a:lnTo>
                    <a:lnTo>
                      <a:pt x="415" y="139"/>
                    </a:lnTo>
                    <a:lnTo>
                      <a:pt x="416" y="139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8" y="138"/>
                    </a:lnTo>
                    <a:lnTo>
                      <a:pt x="418" y="138"/>
                    </a:lnTo>
                    <a:lnTo>
                      <a:pt x="418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2" y="135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4" y="133"/>
                    </a:lnTo>
                    <a:lnTo>
                      <a:pt x="424" y="133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7" y="132"/>
                    </a:lnTo>
                    <a:lnTo>
                      <a:pt x="427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30" y="129"/>
                    </a:lnTo>
                    <a:lnTo>
                      <a:pt x="430" y="129"/>
                    </a:lnTo>
                    <a:lnTo>
                      <a:pt x="431" y="127"/>
                    </a:lnTo>
                    <a:lnTo>
                      <a:pt x="431" y="127"/>
                    </a:lnTo>
                    <a:lnTo>
                      <a:pt x="433" y="127"/>
                    </a:lnTo>
                    <a:lnTo>
                      <a:pt x="433" y="127"/>
                    </a:lnTo>
                    <a:lnTo>
                      <a:pt x="433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9" y="123"/>
                    </a:lnTo>
                    <a:lnTo>
                      <a:pt x="439" y="121"/>
                    </a:lnTo>
                    <a:lnTo>
                      <a:pt x="439" y="121"/>
                    </a:lnTo>
                    <a:lnTo>
                      <a:pt x="440" y="121"/>
                    </a:lnTo>
                    <a:lnTo>
                      <a:pt x="440" y="120"/>
                    </a:lnTo>
                    <a:lnTo>
                      <a:pt x="440" y="120"/>
                    </a:lnTo>
                    <a:lnTo>
                      <a:pt x="442" y="118"/>
                    </a:lnTo>
                    <a:lnTo>
                      <a:pt x="442" y="118"/>
                    </a:lnTo>
                    <a:lnTo>
                      <a:pt x="443" y="118"/>
                    </a:lnTo>
                    <a:lnTo>
                      <a:pt x="443" y="117"/>
                    </a:lnTo>
                    <a:lnTo>
                      <a:pt x="443" y="117"/>
                    </a:lnTo>
                    <a:lnTo>
                      <a:pt x="445" y="115"/>
                    </a:lnTo>
                    <a:lnTo>
                      <a:pt x="446" y="115"/>
                    </a:lnTo>
                    <a:lnTo>
                      <a:pt x="446" y="114"/>
                    </a:lnTo>
                    <a:lnTo>
                      <a:pt x="446" y="114"/>
                    </a:lnTo>
                    <a:lnTo>
                      <a:pt x="448" y="112"/>
                    </a:lnTo>
                    <a:lnTo>
                      <a:pt x="448" y="112"/>
                    </a:lnTo>
                    <a:lnTo>
                      <a:pt x="449" y="111"/>
                    </a:lnTo>
                    <a:lnTo>
                      <a:pt x="449" y="111"/>
                    </a:lnTo>
                    <a:lnTo>
                      <a:pt x="451" y="109"/>
                    </a:lnTo>
                    <a:lnTo>
                      <a:pt x="451" y="109"/>
                    </a:lnTo>
                    <a:lnTo>
                      <a:pt x="451" y="108"/>
                    </a:lnTo>
                    <a:lnTo>
                      <a:pt x="452" y="108"/>
                    </a:lnTo>
                    <a:lnTo>
                      <a:pt x="452" y="108"/>
                    </a:lnTo>
                    <a:lnTo>
                      <a:pt x="454" y="106"/>
                    </a:lnTo>
                    <a:lnTo>
                      <a:pt x="454" y="106"/>
                    </a:lnTo>
                    <a:lnTo>
                      <a:pt x="454" y="105"/>
                    </a:lnTo>
                    <a:lnTo>
                      <a:pt x="455" y="105"/>
                    </a:lnTo>
                    <a:lnTo>
                      <a:pt x="455" y="105"/>
                    </a:lnTo>
                    <a:lnTo>
                      <a:pt x="455" y="103"/>
                    </a:lnTo>
                    <a:lnTo>
                      <a:pt x="455" y="103"/>
                    </a:lnTo>
                    <a:lnTo>
                      <a:pt x="456" y="103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8" y="101"/>
                    </a:lnTo>
                    <a:lnTo>
                      <a:pt x="458" y="101"/>
                    </a:lnTo>
                    <a:lnTo>
                      <a:pt x="459" y="101"/>
                    </a:lnTo>
                    <a:lnTo>
                      <a:pt x="459" y="99"/>
                    </a:lnTo>
                    <a:lnTo>
                      <a:pt x="459" y="99"/>
                    </a:lnTo>
                    <a:lnTo>
                      <a:pt x="461" y="98"/>
                    </a:lnTo>
                    <a:lnTo>
                      <a:pt x="461" y="98"/>
                    </a:lnTo>
                    <a:lnTo>
                      <a:pt x="462" y="96"/>
                    </a:lnTo>
                    <a:lnTo>
                      <a:pt x="462" y="95"/>
                    </a:lnTo>
                    <a:lnTo>
                      <a:pt x="464" y="95"/>
                    </a:lnTo>
                    <a:lnTo>
                      <a:pt x="465" y="93"/>
                    </a:lnTo>
                    <a:lnTo>
                      <a:pt x="465" y="92"/>
                    </a:lnTo>
                    <a:lnTo>
                      <a:pt x="467" y="90"/>
                    </a:lnTo>
                    <a:lnTo>
                      <a:pt x="467" y="90"/>
                    </a:lnTo>
                    <a:lnTo>
                      <a:pt x="468" y="89"/>
                    </a:lnTo>
                    <a:lnTo>
                      <a:pt x="468" y="89"/>
                    </a:lnTo>
                    <a:lnTo>
                      <a:pt x="470" y="87"/>
                    </a:lnTo>
                    <a:lnTo>
                      <a:pt x="470" y="86"/>
                    </a:lnTo>
                    <a:lnTo>
                      <a:pt x="471" y="86"/>
                    </a:lnTo>
                    <a:lnTo>
                      <a:pt x="471" y="84"/>
                    </a:lnTo>
                    <a:lnTo>
                      <a:pt x="473" y="83"/>
                    </a:lnTo>
                    <a:lnTo>
                      <a:pt x="473" y="83"/>
                    </a:lnTo>
                    <a:lnTo>
                      <a:pt x="474" y="81"/>
                    </a:lnTo>
                    <a:lnTo>
                      <a:pt x="474" y="81"/>
                    </a:lnTo>
                    <a:lnTo>
                      <a:pt x="476" y="80"/>
                    </a:lnTo>
                    <a:lnTo>
                      <a:pt x="476" y="80"/>
                    </a:lnTo>
                    <a:lnTo>
                      <a:pt x="476" y="78"/>
                    </a:lnTo>
                    <a:lnTo>
                      <a:pt x="477" y="78"/>
                    </a:lnTo>
                    <a:lnTo>
                      <a:pt x="477" y="78"/>
                    </a:lnTo>
                    <a:lnTo>
                      <a:pt x="477" y="77"/>
                    </a:lnTo>
                    <a:lnTo>
                      <a:pt x="479" y="77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80" y="74"/>
                    </a:lnTo>
                    <a:lnTo>
                      <a:pt x="480" y="74"/>
                    </a:lnTo>
                    <a:lnTo>
                      <a:pt x="482" y="72"/>
                    </a:lnTo>
                    <a:lnTo>
                      <a:pt x="482" y="72"/>
                    </a:lnTo>
                    <a:lnTo>
                      <a:pt x="482" y="71"/>
                    </a:lnTo>
                    <a:lnTo>
                      <a:pt x="483" y="69"/>
                    </a:lnTo>
                    <a:lnTo>
                      <a:pt x="483" y="69"/>
                    </a:lnTo>
                    <a:lnTo>
                      <a:pt x="485" y="68"/>
                    </a:lnTo>
                    <a:lnTo>
                      <a:pt x="485" y="66"/>
                    </a:lnTo>
                    <a:lnTo>
                      <a:pt x="486" y="65"/>
                    </a:lnTo>
                    <a:lnTo>
                      <a:pt x="488" y="65"/>
                    </a:lnTo>
                    <a:lnTo>
                      <a:pt x="488" y="64"/>
                    </a:lnTo>
                    <a:lnTo>
                      <a:pt x="489" y="62"/>
                    </a:lnTo>
                    <a:lnTo>
                      <a:pt x="489" y="62"/>
                    </a:lnTo>
                    <a:lnTo>
                      <a:pt x="491" y="61"/>
                    </a:lnTo>
                    <a:lnTo>
                      <a:pt x="491" y="59"/>
                    </a:lnTo>
                    <a:lnTo>
                      <a:pt x="492" y="58"/>
                    </a:lnTo>
                    <a:lnTo>
                      <a:pt x="492" y="56"/>
                    </a:lnTo>
                    <a:lnTo>
                      <a:pt x="493" y="55"/>
                    </a:lnTo>
                    <a:lnTo>
                      <a:pt x="493" y="55"/>
                    </a:lnTo>
                    <a:lnTo>
                      <a:pt x="495" y="53"/>
                    </a:lnTo>
                    <a:lnTo>
                      <a:pt x="495" y="53"/>
                    </a:lnTo>
                    <a:lnTo>
                      <a:pt x="496" y="52"/>
                    </a:lnTo>
                    <a:lnTo>
                      <a:pt x="496" y="50"/>
                    </a:lnTo>
                    <a:lnTo>
                      <a:pt x="498" y="50"/>
                    </a:lnTo>
                    <a:lnTo>
                      <a:pt x="498" y="49"/>
                    </a:lnTo>
                    <a:lnTo>
                      <a:pt x="498" y="49"/>
                    </a:lnTo>
                    <a:lnTo>
                      <a:pt x="499" y="47"/>
                    </a:lnTo>
                    <a:lnTo>
                      <a:pt x="499" y="47"/>
                    </a:lnTo>
                    <a:lnTo>
                      <a:pt x="499" y="46"/>
                    </a:lnTo>
                    <a:lnTo>
                      <a:pt x="501" y="46"/>
                    </a:lnTo>
                    <a:lnTo>
                      <a:pt x="501" y="44"/>
                    </a:lnTo>
                    <a:lnTo>
                      <a:pt x="501" y="44"/>
                    </a:lnTo>
                    <a:lnTo>
                      <a:pt x="502" y="43"/>
                    </a:lnTo>
                    <a:lnTo>
                      <a:pt x="502" y="43"/>
                    </a:lnTo>
                    <a:lnTo>
                      <a:pt x="504" y="41"/>
                    </a:lnTo>
                    <a:lnTo>
                      <a:pt x="504" y="40"/>
                    </a:lnTo>
                    <a:lnTo>
                      <a:pt x="505" y="40"/>
                    </a:lnTo>
                    <a:lnTo>
                      <a:pt x="505" y="38"/>
                    </a:lnTo>
                    <a:lnTo>
                      <a:pt x="507" y="37"/>
                    </a:lnTo>
                    <a:lnTo>
                      <a:pt x="507" y="37"/>
                    </a:lnTo>
                    <a:lnTo>
                      <a:pt x="508" y="35"/>
                    </a:lnTo>
                    <a:lnTo>
                      <a:pt x="508" y="34"/>
                    </a:lnTo>
                    <a:lnTo>
                      <a:pt x="510" y="32"/>
                    </a:lnTo>
                    <a:lnTo>
                      <a:pt x="511" y="31"/>
                    </a:lnTo>
                    <a:lnTo>
                      <a:pt x="511" y="29"/>
                    </a:lnTo>
                    <a:lnTo>
                      <a:pt x="511" y="29"/>
                    </a:lnTo>
                    <a:lnTo>
                      <a:pt x="513" y="28"/>
                    </a:lnTo>
                    <a:lnTo>
                      <a:pt x="514" y="26"/>
                    </a:lnTo>
                    <a:lnTo>
                      <a:pt x="514" y="26"/>
                    </a:lnTo>
                    <a:lnTo>
                      <a:pt x="516" y="25"/>
                    </a:lnTo>
                    <a:lnTo>
                      <a:pt x="516" y="24"/>
                    </a:lnTo>
                    <a:lnTo>
                      <a:pt x="517" y="22"/>
                    </a:lnTo>
                    <a:lnTo>
                      <a:pt x="517" y="22"/>
                    </a:lnTo>
                    <a:lnTo>
                      <a:pt x="519" y="21"/>
                    </a:lnTo>
                    <a:lnTo>
                      <a:pt x="519" y="19"/>
                    </a:lnTo>
                    <a:lnTo>
                      <a:pt x="520" y="19"/>
                    </a:lnTo>
                    <a:lnTo>
                      <a:pt x="520" y="18"/>
                    </a:lnTo>
                    <a:lnTo>
                      <a:pt x="520" y="18"/>
                    </a:lnTo>
                    <a:lnTo>
                      <a:pt x="522" y="16"/>
                    </a:lnTo>
                    <a:lnTo>
                      <a:pt x="522" y="16"/>
                    </a:lnTo>
                    <a:lnTo>
                      <a:pt x="522" y="15"/>
                    </a:lnTo>
                    <a:lnTo>
                      <a:pt x="523" y="15"/>
                    </a:lnTo>
                    <a:lnTo>
                      <a:pt x="523" y="13"/>
                    </a:lnTo>
                    <a:lnTo>
                      <a:pt x="523" y="13"/>
                    </a:lnTo>
                    <a:lnTo>
                      <a:pt x="525" y="12"/>
                    </a:lnTo>
                    <a:lnTo>
                      <a:pt x="525" y="12"/>
                    </a:lnTo>
                    <a:lnTo>
                      <a:pt x="525" y="10"/>
                    </a:lnTo>
                    <a:lnTo>
                      <a:pt x="526" y="10"/>
                    </a:lnTo>
                    <a:lnTo>
                      <a:pt x="526" y="9"/>
                    </a:lnTo>
                    <a:lnTo>
                      <a:pt x="526" y="9"/>
                    </a:lnTo>
                    <a:lnTo>
                      <a:pt x="528" y="7"/>
                    </a:lnTo>
                    <a:lnTo>
                      <a:pt x="528" y="7"/>
                    </a:lnTo>
                    <a:lnTo>
                      <a:pt x="528" y="6"/>
                    </a:lnTo>
                    <a:lnTo>
                      <a:pt x="529" y="4"/>
                    </a:lnTo>
                    <a:lnTo>
                      <a:pt x="529" y="4"/>
                    </a:lnTo>
                    <a:lnTo>
                      <a:pt x="531" y="3"/>
                    </a:lnTo>
                    <a:lnTo>
                      <a:pt x="531" y="1"/>
                    </a:lnTo>
                    <a:lnTo>
                      <a:pt x="531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0" name="Freeform 243"/>
              <p:cNvSpPr>
                <a:spLocks/>
              </p:cNvSpPr>
              <p:nvPr/>
            </p:nvSpPr>
            <p:spPr bwMode="auto">
              <a:xfrm>
                <a:off x="2943" y="2121"/>
                <a:ext cx="22" cy="71"/>
              </a:xfrm>
              <a:custGeom>
                <a:avLst/>
                <a:gdLst>
                  <a:gd name="T0" fmla="*/ 5 w 64"/>
                  <a:gd name="T1" fmla="*/ 8 h 212"/>
                  <a:gd name="T2" fmla="*/ 8 w 64"/>
                  <a:gd name="T3" fmla="*/ 13 h 212"/>
                  <a:gd name="T4" fmla="*/ 11 w 64"/>
                  <a:gd name="T5" fmla="*/ 19 h 212"/>
                  <a:gd name="T6" fmla="*/ 14 w 64"/>
                  <a:gd name="T7" fmla="*/ 24 h 212"/>
                  <a:gd name="T8" fmla="*/ 15 w 64"/>
                  <a:gd name="T9" fmla="*/ 27 h 212"/>
                  <a:gd name="T10" fmla="*/ 17 w 64"/>
                  <a:gd name="T11" fmla="*/ 30 h 212"/>
                  <a:gd name="T12" fmla="*/ 18 w 64"/>
                  <a:gd name="T13" fmla="*/ 34 h 212"/>
                  <a:gd name="T14" fmla="*/ 20 w 64"/>
                  <a:gd name="T15" fmla="*/ 39 h 212"/>
                  <a:gd name="T16" fmla="*/ 21 w 64"/>
                  <a:gd name="T17" fmla="*/ 42 h 212"/>
                  <a:gd name="T18" fmla="*/ 23 w 64"/>
                  <a:gd name="T19" fmla="*/ 46 h 212"/>
                  <a:gd name="T20" fmla="*/ 24 w 64"/>
                  <a:gd name="T21" fmla="*/ 49 h 212"/>
                  <a:gd name="T22" fmla="*/ 26 w 64"/>
                  <a:gd name="T23" fmla="*/ 52 h 212"/>
                  <a:gd name="T24" fmla="*/ 27 w 64"/>
                  <a:gd name="T25" fmla="*/ 55 h 212"/>
                  <a:gd name="T26" fmla="*/ 29 w 64"/>
                  <a:gd name="T27" fmla="*/ 58 h 212"/>
                  <a:gd name="T28" fmla="*/ 30 w 64"/>
                  <a:gd name="T29" fmla="*/ 61 h 212"/>
                  <a:gd name="T30" fmla="*/ 32 w 64"/>
                  <a:gd name="T31" fmla="*/ 65 h 212"/>
                  <a:gd name="T32" fmla="*/ 33 w 64"/>
                  <a:gd name="T33" fmla="*/ 70 h 212"/>
                  <a:gd name="T34" fmla="*/ 35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5 w 64"/>
                  <a:gd name="T51" fmla="*/ 107 h 212"/>
                  <a:gd name="T52" fmla="*/ 46 w 64"/>
                  <a:gd name="T53" fmla="*/ 111 h 212"/>
                  <a:gd name="T54" fmla="*/ 48 w 64"/>
                  <a:gd name="T55" fmla="*/ 114 h 212"/>
                  <a:gd name="T56" fmla="*/ 48 w 64"/>
                  <a:gd name="T57" fmla="*/ 117 h 212"/>
                  <a:gd name="T58" fmla="*/ 49 w 64"/>
                  <a:gd name="T59" fmla="*/ 120 h 212"/>
                  <a:gd name="T60" fmla="*/ 51 w 64"/>
                  <a:gd name="T61" fmla="*/ 123 h 212"/>
                  <a:gd name="T62" fmla="*/ 52 w 64"/>
                  <a:gd name="T63" fmla="*/ 127 h 212"/>
                  <a:gd name="T64" fmla="*/ 54 w 64"/>
                  <a:gd name="T65" fmla="*/ 133 h 212"/>
                  <a:gd name="T66" fmla="*/ 55 w 64"/>
                  <a:gd name="T67" fmla="*/ 138 h 212"/>
                  <a:gd name="T68" fmla="*/ 55 w 64"/>
                  <a:gd name="T69" fmla="*/ 142 h 212"/>
                  <a:gd name="T70" fmla="*/ 57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60 w 64"/>
                  <a:gd name="T79" fmla="*/ 157 h 212"/>
                  <a:gd name="T80" fmla="*/ 60 w 64"/>
                  <a:gd name="T81" fmla="*/ 162 h 212"/>
                  <a:gd name="T82" fmla="*/ 60 w 64"/>
                  <a:gd name="T83" fmla="*/ 166 h 212"/>
                  <a:gd name="T84" fmla="*/ 60 w 64"/>
                  <a:gd name="T85" fmla="*/ 169 h 212"/>
                  <a:gd name="T86" fmla="*/ 60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3 w 64"/>
                  <a:gd name="T97" fmla="*/ 184 h 212"/>
                  <a:gd name="T98" fmla="*/ 63 w 64"/>
                  <a:gd name="T99" fmla="*/ 187 h 212"/>
                  <a:gd name="T100" fmla="*/ 63 w 64"/>
                  <a:gd name="T101" fmla="*/ 188 h 212"/>
                  <a:gd name="T102" fmla="*/ 63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3 w 64"/>
                  <a:gd name="T113" fmla="*/ 207 h 212"/>
                  <a:gd name="T114" fmla="*/ 0 w 64"/>
                  <a:gd name="T115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10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7" y="28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17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0" y="37"/>
                    </a:lnTo>
                    <a:lnTo>
                      <a:pt x="20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3" y="45"/>
                    </a:lnTo>
                    <a:lnTo>
                      <a:pt x="23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6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9" y="58"/>
                    </a:lnTo>
                    <a:lnTo>
                      <a:pt x="29" y="58"/>
                    </a:lnTo>
                    <a:lnTo>
                      <a:pt x="29" y="59"/>
                    </a:lnTo>
                    <a:lnTo>
                      <a:pt x="29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2" y="65"/>
                    </a:lnTo>
                    <a:lnTo>
                      <a:pt x="32" y="67"/>
                    </a:lnTo>
                    <a:lnTo>
                      <a:pt x="32" y="68"/>
                    </a:lnTo>
                    <a:lnTo>
                      <a:pt x="32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5" y="73"/>
                    </a:lnTo>
                    <a:lnTo>
                      <a:pt x="35" y="74"/>
                    </a:lnTo>
                    <a:lnTo>
                      <a:pt x="35" y="76"/>
                    </a:lnTo>
                    <a:lnTo>
                      <a:pt x="35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2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5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8" y="113"/>
                    </a:lnTo>
                    <a:lnTo>
                      <a:pt x="48" y="114"/>
                    </a:lnTo>
                    <a:lnTo>
                      <a:pt x="48" y="114"/>
                    </a:lnTo>
                    <a:lnTo>
                      <a:pt x="48" y="116"/>
                    </a:lnTo>
                    <a:lnTo>
                      <a:pt x="48" y="116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1" y="123"/>
                    </a:lnTo>
                    <a:lnTo>
                      <a:pt x="51" y="123"/>
                    </a:lnTo>
                    <a:lnTo>
                      <a:pt x="51" y="124"/>
                    </a:lnTo>
                    <a:lnTo>
                      <a:pt x="51" y="126"/>
                    </a:lnTo>
                    <a:lnTo>
                      <a:pt x="51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2" y="132"/>
                    </a:lnTo>
                    <a:lnTo>
                      <a:pt x="54" y="133"/>
                    </a:lnTo>
                    <a:lnTo>
                      <a:pt x="54" y="133"/>
                    </a:lnTo>
                    <a:lnTo>
                      <a:pt x="54" y="135"/>
                    </a:lnTo>
                    <a:lnTo>
                      <a:pt x="54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7" y="142"/>
                    </a:lnTo>
                    <a:lnTo>
                      <a:pt x="57" y="144"/>
                    </a:lnTo>
                    <a:lnTo>
                      <a:pt x="57" y="144"/>
                    </a:lnTo>
                    <a:lnTo>
                      <a:pt x="57" y="145"/>
                    </a:lnTo>
                    <a:lnTo>
                      <a:pt x="57" y="147"/>
                    </a:lnTo>
                    <a:lnTo>
                      <a:pt x="57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8" y="156"/>
                    </a:lnTo>
                    <a:lnTo>
                      <a:pt x="60" y="157"/>
                    </a:lnTo>
                    <a:lnTo>
                      <a:pt x="60" y="157"/>
                    </a:lnTo>
                    <a:lnTo>
                      <a:pt x="60" y="159"/>
                    </a:lnTo>
                    <a:lnTo>
                      <a:pt x="60" y="160"/>
                    </a:lnTo>
                    <a:lnTo>
                      <a:pt x="60" y="160"/>
                    </a:lnTo>
                    <a:lnTo>
                      <a:pt x="60" y="162"/>
                    </a:lnTo>
                    <a:lnTo>
                      <a:pt x="60" y="163"/>
                    </a:lnTo>
                    <a:lnTo>
                      <a:pt x="60" y="163"/>
                    </a:lnTo>
                    <a:lnTo>
                      <a:pt x="60" y="164"/>
                    </a:lnTo>
                    <a:lnTo>
                      <a:pt x="60" y="166"/>
                    </a:lnTo>
                    <a:lnTo>
                      <a:pt x="60" y="167"/>
                    </a:lnTo>
                    <a:lnTo>
                      <a:pt x="60" y="167"/>
                    </a:lnTo>
                    <a:lnTo>
                      <a:pt x="60" y="169"/>
                    </a:lnTo>
                    <a:lnTo>
                      <a:pt x="60" y="169"/>
                    </a:lnTo>
                    <a:lnTo>
                      <a:pt x="60" y="170"/>
                    </a:lnTo>
                    <a:lnTo>
                      <a:pt x="60" y="172"/>
                    </a:lnTo>
                    <a:lnTo>
                      <a:pt x="60" y="172"/>
                    </a:lnTo>
                    <a:lnTo>
                      <a:pt x="60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1" y="184"/>
                    </a:lnTo>
                    <a:lnTo>
                      <a:pt x="63" y="184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7"/>
                    </a:lnTo>
                    <a:lnTo>
                      <a:pt x="63" y="187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90"/>
                    </a:lnTo>
                    <a:lnTo>
                      <a:pt x="63" y="190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3" y="204"/>
                    </a:lnTo>
                    <a:lnTo>
                      <a:pt x="63" y="204"/>
                    </a:lnTo>
                    <a:lnTo>
                      <a:pt x="63" y="206"/>
                    </a:lnTo>
                    <a:lnTo>
                      <a:pt x="63" y="207"/>
                    </a:lnTo>
                    <a:lnTo>
                      <a:pt x="63" y="209"/>
                    </a:lnTo>
                    <a:lnTo>
                      <a:pt x="63" y="210"/>
                    </a:lnTo>
                    <a:lnTo>
                      <a:pt x="63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1" name="Freeform 244"/>
              <p:cNvSpPr>
                <a:spLocks/>
              </p:cNvSpPr>
              <p:nvPr/>
            </p:nvSpPr>
            <p:spPr bwMode="auto">
              <a:xfrm>
                <a:off x="2943" y="2121"/>
                <a:ext cx="22" cy="71"/>
              </a:xfrm>
              <a:custGeom>
                <a:avLst/>
                <a:gdLst>
                  <a:gd name="T0" fmla="*/ 5 w 64"/>
                  <a:gd name="T1" fmla="*/ 8 h 212"/>
                  <a:gd name="T2" fmla="*/ 8 w 64"/>
                  <a:gd name="T3" fmla="*/ 13 h 212"/>
                  <a:gd name="T4" fmla="*/ 11 w 64"/>
                  <a:gd name="T5" fmla="*/ 19 h 212"/>
                  <a:gd name="T6" fmla="*/ 14 w 64"/>
                  <a:gd name="T7" fmla="*/ 24 h 212"/>
                  <a:gd name="T8" fmla="*/ 15 w 64"/>
                  <a:gd name="T9" fmla="*/ 27 h 212"/>
                  <a:gd name="T10" fmla="*/ 17 w 64"/>
                  <a:gd name="T11" fmla="*/ 30 h 212"/>
                  <a:gd name="T12" fmla="*/ 18 w 64"/>
                  <a:gd name="T13" fmla="*/ 34 h 212"/>
                  <a:gd name="T14" fmla="*/ 20 w 64"/>
                  <a:gd name="T15" fmla="*/ 39 h 212"/>
                  <a:gd name="T16" fmla="*/ 21 w 64"/>
                  <a:gd name="T17" fmla="*/ 42 h 212"/>
                  <a:gd name="T18" fmla="*/ 23 w 64"/>
                  <a:gd name="T19" fmla="*/ 46 h 212"/>
                  <a:gd name="T20" fmla="*/ 24 w 64"/>
                  <a:gd name="T21" fmla="*/ 49 h 212"/>
                  <a:gd name="T22" fmla="*/ 26 w 64"/>
                  <a:gd name="T23" fmla="*/ 52 h 212"/>
                  <a:gd name="T24" fmla="*/ 27 w 64"/>
                  <a:gd name="T25" fmla="*/ 55 h 212"/>
                  <a:gd name="T26" fmla="*/ 29 w 64"/>
                  <a:gd name="T27" fmla="*/ 58 h 212"/>
                  <a:gd name="T28" fmla="*/ 30 w 64"/>
                  <a:gd name="T29" fmla="*/ 61 h 212"/>
                  <a:gd name="T30" fmla="*/ 32 w 64"/>
                  <a:gd name="T31" fmla="*/ 65 h 212"/>
                  <a:gd name="T32" fmla="*/ 33 w 64"/>
                  <a:gd name="T33" fmla="*/ 70 h 212"/>
                  <a:gd name="T34" fmla="*/ 35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5 w 64"/>
                  <a:gd name="T51" fmla="*/ 107 h 212"/>
                  <a:gd name="T52" fmla="*/ 46 w 64"/>
                  <a:gd name="T53" fmla="*/ 111 h 212"/>
                  <a:gd name="T54" fmla="*/ 48 w 64"/>
                  <a:gd name="T55" fmla="*/ 114 h 212"/>
                  <a:gd name="T56" fmla="*/ 48 w 64"/>
                  <a:gd name="T57" fmla="*/ 117 h 212"/>
                  <a:gd name="T58" fmla="*/ 49 w 64"/>
                  <a:gd name="T59" fmla="*/ 120 h 212"/>
                  <a:gd name="T60" fmla="*/ 51 w 64"/>
                  <a:gd name="T61" fmla="*/ 123 h 212"/>
                  <a:gd name="T62" fmla="*/ 52 w 64"/>
                  <a:gd name="T63" fmla="*/ 127 h 212"/>
                  <a:gd name="T64" fmla="*/ 54 w 64"/>
                  <a:gd name="T65" fmla="*/ 133 h 212"/>
                  <a:gd name="T66" fmla="*/ 55 w 64"/>
                  <a:gd name="T67" fmla="*/ 138 h 212"/>
                  <a:gd name="T68" fmla="*/ 55 w 64"/>
                  <a:gd name="T69" fmla="*/ 142 h 212"/>
                  <a:gd name="T70" fmla="*/ 57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60 w 64"/>
                  <a:gd name="T79" fmla="*/ 157 h 212"/>
                  <a:gd name="T80" fmla="*/ 60 w 64"/>
                  <a:gd name="T81" fmla="*/ 162 h 212"/>
                  <a:gd name="T82" fmla="*/ 60 w 64"/>
                  <a:gd name="T83" fmla="*/ 166 h 212"/>
                  <a:gd name="T84" fmla="*/ 60 w 64"/>
                  <a:gd name="T85" fmla="*/ 169 h 212"/>
                  <a:gd name="T86" fmla="*/ 60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3 w 64"/>
                  <a:gd name="T97" fmla="*/ 184 h 212"/>
                  <a:gd name="T98" fmla="*/ 63 w 64"/>
                  <a:gd name="T99" fmla="*/ 187 h 212"/>
                  <a:gd name="T100" fmla="*/ 63 w 64"/>
                  <a:gd name="T101" fmla="*/ 188 h 212"/>
                  <a:gd name="T102" fmla="*/ 63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3 w 64"/>
                  <a:gd name="T113" fmla="*/ 20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10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7" y="28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17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0" y="37"/>
                    </a:lnTo>
                    <a:lnTo>
                      <a:pt x="20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3" y="45"/>
                    </a:lnTo>
                    <a:lnTo>
                      <a:pt x="23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6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9" y="58"/>
                    </a:lnTo>
                    <a:lnTo>
                      <a:pt x="29" y="58"/>
                    </a:lnTo>
                    <a:lnTo>
                      <a:pt x="29" y="59"/>
                    </a:lnTo>
                    <a:lnTo>
                      <a:pt x="29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2" y="65"/>
                    </a:lnTo>
                    <a:lnTo>
                      <a:pt x="32" y="67"/>
                    </a:lnTo>
                    <a:lnTo>
                      <a:pt x="32" y="68"/>
                    </a:lnTo>
                    <a:lnTo>
                      <a:pt x="32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5" y="73"/>
                    </a:lnTo>
                    <a:lnTo>
                      <a:pt x="35" y="74"/>
                    </a:lnTo>
                    <a:lnTo>
                      <a:pt x="35" y="76"/>
                    </a:lnTo>
                    <a:lnTo>
                      <a:pt x="35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2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5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8" y="113"/>
                    </a:lnTo>
                    <a:lnTo>
                      <a:pt x="48" y="114"/>
                    </a:lnTo>
                    <a:lnTo>
                      <a:pt x="48" y="114"/>
                    </a:lnTo>
                    <a:lnTo>
                      <a:pt x="48" y="116"/>
                    </a:lnTo>
                    <a:lnTo>
                      <a:pt x="48" y="116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1" y="123"/>
                    </a:lnTo>
                    <a:lnTo>
                      <a:pt x="51" y="123"/>
                    </a:lnTo>
                    <a:lnTo>
                      <a:pt x="51" y="124"/>
                    </a:lnTo>
                    <a:lnTo>
                      <a:pt x="51" y="126"/>
                    </a:lnTo>
                    <a:lnTo>
                      <a:pt x="51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2" y="132"/>
                    </a:lnTo>
                    <a:lnTo>
                      <a:pt x="54" y="133"/>
                    </a:lnTo>
                    <a:lnTo>
                      <a:pt x="54" y="133"/>
                    </a:lnTo>
                    <a:lnTo>
                      <a:pt x="54" y="135"/>
                    </a:lnTo>
                    <a:lnTo>
                      <a:pt x="54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7" y="142"/>
                    </a:lnTo>
                    <a:lnTo>
                      <a:pt x="57" y="144"/>
                    </a:lnTo>
                    <a:lnTo>
                      <a:pt x="57" y="144"/>
                    </a:lnTo>
                    <a:lnTo>
                      <a:pt x="57" y="145"/>
                    </a:lnTo>
                    <a:lnTo>
                      <a:pt x="57" y="147"/>
                    </a:lnTo>
                    <a:lnTo>
                      <a:pt x="57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8" y="156"/>
                    </a:lnTo>
                    <a:lnTo>
                      <a:pt x="60" y="157"/>
                    </a:lnTo>
                    <a:lnTo>
                      <a:pt x="60" y="157"/>
                    </a:lnTo>
                    <a:lnTo>
                      <a:pt x="60" y="159"/>
                    </a:lnTo>
                    <a:lnTo>
                      <a:pt x="60" y="160"/>
                    </a:lnTo>
                    <a:lnTo>
                      <a:pt x="60" y="160"/>
                    </a:lnTo>
                    <a:lnTo>
                      <a:pt x="60" y="162"/>
                    </a:lnTo>
                    <a:lnTo>
                      <a:pt x="60" y="163"/>
                    </a:lnTo>
                    <a:lnTo>
                      <a:pt x="60" y="163"/>
                    </a:lnTo>
                    <a:lnTo>
                      <a:pt x="60" y="164"/>
                    </a:lnTo>
                    <a:lnTo>
                      <a:pt x="60" y="166"/>
                    </a:lnTo>
                    <a:lnTo>
                      <a:pt x="60" y="167"/>
                    </a:lnTo>
                    <a:lnTo>
                      <a:pt x="60" y="167"/>
                    </a:lnTo>
                    <a:lnTo>
                      <a:pt x="60" y="169"/>
                    </a:lnTo>
                    <a:lnTo>
                      <a:pt x="60" y="169"/>
                    </a:lnTo>
                    <a:lnTo>
                      <a:pt x="60" y="170"/>
                    </a:lnTo>
                    <a:lnTo>
                      <a:pt x="60" y="172"/>
                    </a:lnTo>
                    <a:lnTo>
                      <a:pt x="60" y="172"/>
                    </a:lnTo>
                    <a:lnTo>
                      <a:pt x="60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1" y="184"/>
                    </a:lnTo>
                    <a:lnTo>
                      <a:pt x="63" y="184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7"/>
                    </a:lnTo>
                    <a:lnTo>
                      <a:pt x="63" y="187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90"/>
                    </a:lnTo>
                    <a:lnTo>
                      <a:pt x="63" y="190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3" y="204"/>
                    </a:lnTo>
                    <a:lnTo>
                      <a:pt x="63" y="204"/>
                    </a:lnTo>
                    <a:lnTo>
                      <a:pt x="63" y="206"/>
                    </a:lnTo>
                    <a:lnTo>
                      <a:pt x="63" y="207"/>
                    </a:lnTo>
                    <a:lnTo>
                      <a:pt x="63" y="209"/>
                    </a:lnTo>
                    <a:lnTo>
                      <a:pt x="63" y="210"/>
                    </a:lnTo>
                    <a:lnTo>
                      <a:pt x="63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2" name="Freeform 245"/>
              <p:cNvSpPr>
                <a:spLocks/>
              </p:cNvSpPr>
              <p:nvPr/>
            </p:nvSpPr>
            <p:spPr bwMode="auto">
              <a:xfrm>
                <a:off x="2943" y="2192"/>
                <a:ext cx="22" cy="71"/>
              </a:xfrm>
              <a:custGeom>
                <a:avLst/>
                <a:gdLst>
                  <a:gd name="T0" fmla="*/ 5 w 64"/>
                  <a:gd name="T1" fmla="*/ 204 h 212"/>
                  <a:gd name="T2" fmla="*/ 8 w 64"/>
                  <a:gd name="T3" fmla="*/ 198 h 212"/>
                  <a:gd name="T4" fmla="*/ 11 w 64"/>
                  <a:gd name="T5" fmla="*/ 192 h 212"/>
                  <a:gd name="T6" fmla="*/ 14 w 64"/>
                  <a:gd name="T7" fmla="*/ 188 h 212"/>
                  <a:gd name="T8" fmla="*/ 15 w 64"/>
                  <a:gd name="T9" fmla="*/ 185 h 212"/>
                  <a:gd name="T10" fmla="*/ 17 w 64"/>
                  <a:gd name="T11" fmla="*/ 182 h 212"/>
                  <a:gd name="T12" fmla="*/ 18 w 64"/>
                  <a:gd name="T13" fmla="*/ 178 h 212"/>
                  <a:gd name="T14" fmla="*/ 20 w 64"/>
                  <a:gd name="T15" fmla="*/ 175 h 212"/>
                  <a:gd name="T16" fmla="*/ 21 w 64"/>
                  <a:gd name="T17" fmla="*/ 170 h 212"/>
                  <a:gd name="T18" fmla="*/ 23 w 64"/>
                  <a:gd name="T19" fmla="*/ 166 h 212"/>
                  <a:gd name="T20" fmla="*/ 24 w 64"/>
                  <a:gd name="T21" fmla="*/ 163 h 212"/>
                  <a:gd name="T22" fmla="*/ 26 w 64"/>
                  <a:gd name="T23" fmla="*/ 160 h 212"/>
                  <a:gd name="T24" fmla="*/ 27 w 64"/>
                  <a:gd name="T25" fmla="*/ 158 h 212"/>
                  <a:gd name="T26" fmla="*/ 29 w 64"/>
                  <a:gd name="T27" fmla="*/ 154 h 212"/>
                  <a:gd name="T28" fmla="*/ 30 w 64"/>
                  <a:gd name="T29" fmla="*/ 151 h 212"/>
                  <a:gd name="T30" fmla="*/ 32 w 64"/>
                  <a:gd name="T31" fmla="*/ 146 h 212"/>
                  <a:gd name="T32" fmla="*/ 33 w 64"/>
                  <a:gd name="T33" fmla="*/ 142 h 212"/>
                  <a:gd name="T34" fmla="*/ 35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5 w 64"/>
                  <a:gd name="T51" fmla="*/ 106 h 212"/>
                  <a:gd name="T52" fmla="*/ 46 w 64"/>
                  <a:gd name="T53" fmla="*/ 102 h 212"/>
                  <a:gd name="T54" fmla="*/ 48 w 64"/>
                  <a:gd name="T55" fmla="*/ 98 h 212"/>
                  <a:gd name="T56" fmla="*/ 48 w 64"/>
                  <a:gd name="T57" fmla="*/ 95 h 212"/>
                  <a:gd name="T58" fmla="*/ 49 w 64"/>
                  <a:gd name="T59" fmla="*/ 92 h 212"/>
                  <a:gd name="T60" fmla="*/ 51 w 64"/>
                  <a:gd name="T61" fmla="*/ 89 h 212"/>
                  <a:gd name="T62" fmla="*/ 52 w 64"/>
                  <a:gd name="T63" fmla="*/ 84 h 212"/>
                  <a:gd name="T64" fmla="*/ 54 w 64"/>
                  <a:gd name="T65" fmla="*/ 78 h 212"/>
                  <a:gd name="T66" fmla="*/ 55 w 64"/>
                  <a:gd name="T67" fmla="*/ 75 h 212"/>
                  <a:gd name="T68" fmla="*/ 55 w 64"/>
                  <a:gd name="T69" fmla="*/ 71 h 212"/>
                  <a:gd name="T70" fmla="*/ 57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60 w 64"/>
                  <a:gd name="T79" fmla="*/ 55 h 212"/>
                  <a:gd name="T80" fmla="*/ 60 w 64"/>
                  <a:gd name="T81" fmla="*/ 50 h 212"/>
                  <a:gd name="T82" fmla="*/ 60 w 64"/>
                  <a:gd name="T83" fmla="*/ 46 h 212"/>
                  <a:gd name="T84" fmla="*/ 60 w 64"/>
                  <a:gd name="T85" fmla="*/ 43 h 212"/>
                  <a:gd name="T86" fmla="*/ 60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3 w 64"/>
                  <a:gd name="T97" fmla="*/ 28 h 212"/>
                  <a:gd name="T98" fmla="*/ 63 w 64"/>
                  <a:gd name="T99" fmla="*/ 26 h 212"/>
                  <a:gd name="T100" fmla="*/ 63 w 64"/>
                  <a:gd name="T101" fmla="*/ 24 h 212"/>
                  <a:gd name="T102" fmla="*/ 63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3 w 64"/>
                  <a:gd name="T113" fmla="*/ 4 h 212"/>
                  <a:gd name="T114" fmla="*/ 0 w 64"/>
                  <a:gd name="T115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5" y="204"/>
                    </a:lnTo>
                    <a:lnTo>
                      <a:pt x="5" y="203"/>
                    </a:lnTo>
                    <a:lnTo>
                      <a:pt x="6" y="201"/>
                    </a:lnTo>
                    <a:lnTo>
                      <a:pt x="8" y="200"/>
                    </a:lnTo>
                    <a:lnTo>
                      <a:pt x="8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1" y="194"/>
                    </a:lnTo>
                    <a:lnTo>
                      <a:pt x="11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89"/>
                    </a:lnTo>
                    <a:lnTo>
                      <a:pt x="14" y="188"/>
                    </a:lnTo>
                    <a:lnTo>
                      <a:pt x="14" y="188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7" y="182"/>
                    </a:lnTo>
                    <a:lnTo>
                      <a:pt x="17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20" y="176"/>
                    </a:lnTo>
                    <a:lnTo>
                      <a:pt x="20" y="175"/>
                    </a:lnTo>
                    <a:lnTo>
                      <a:pt x="20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3" y="169"/>
                    </a:lnTo>
                    <a:lnTo>
                      <a:pt x="23" y="169"/>
                    </a:lnTo>
                    <a:lnTo>
                      <a:pt x="23" y="167"/>
                    </a:lnTo>
                    <a:lnTo>
                      <a:pt x="23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6" y="163"/>
                    </a:lnTo>
                    <a:lnTo>
                      <a:pt x="26" y="161"/>
                    </a:lnTo>
                    <a:lnTo>
                      <a:pt x="26" y="161"/>
                    </a:lnTo>
                    <a:lnTo>
                      <a:pt x="26" y="160"/>
                    </a:lnTo>
                    <a:lnTo>
                      <a:pt x="26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9" y="154"/>
                    </a:lnTo>
                    <a:lnTo>
                      <a:pt x="29" y="154"/>
                    </a:lnTo>
                    <a:lnTo>
                      <a:pt x="29" y="152"/>
                    </a:lnTo>
                    <a:lnTo>
                      <a:pt x="29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2" y="146"/>
                    </a:lnTo>
                    <a:lnTo>
                      <a:pt x="32" y="145"/>
                    </a:lnTo>
                    <a:lnTo>
                      <a:pt x="32" y="143"/>
                    </a:lnTo>
                    <a:lnTo>
                      <a:pt x="32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5" y="139"/>
                    </a:lnTo>
                    <a:lnTo>
                      <a:pt x="35" y="138"/>
                    </a:lnTo>
                    <a:lnTo>
                      <a:pt x="35" y="136"/>
                    </a:lnTo>
                    <a:lnTo>
                      <a:pt x="35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5" y="108"/>
                    </a:lnTo>
                    <a:lnTo>
                      <a:pt x="45" y="106"/>
                    </a:lnTo>
                    <a:lnTo>
                      <a:pt x="45" y="106"/>
                    </a:lnTo>
                    <a:lnTo>
                      <a:pt x="45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8" y="98"/>
                    </a:lnTo>
                    <a:lnTo>
                      <a:pt x="48" y="9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51" y="89"/>
                    </a:lnTo>
                    <a:lnTo>
                      <a:pt x="51" y="89"/>
                    </a:lnTo>
                    <a:lnTo>
                      <a:pt x="51" y="87"/>
                    </a:lnTo>
                    <a:lnTo>
                      <a:pt x="51" y="86"/>
                    </a:lnTo>
                    <a:lnTo>
                      <a:pt x="51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2" y="80"/>
                    </a:lnTo>
                    <a:lnTo>
                      <a:pt x="54" y="78"/>
                    </a:lnTo>
                    <a:lnTo>
                      <a:pt x="54" y="78"/>
                    </a:lnTo>
                    <a:lnTo>
                      <a:pt x="54" y="77"/>
                    </a:lnTo>
                    <a:lnTo>
                      <a:pt x="54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7" y="69"/>
                    </a:lnTo>
                    <a:lnTo>
                      <a:pt x="57" y="68"/>
                    </a:lnTo>
                    <a:lnTo>
                      <a:pt x="57" y="68"/>
                    </a:lnTo>
                    <a:lnTo>
                      <a:pt x="57" y="66"/>
                    </a:lnTo>
                    <a:lnTo>
                      <a:pt x="57" y="66"/>
                    </a:lnTo>
                    <a:lnTo>
                      <a:pt x="57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8" y="56"/>
                    </a:lnTo>
                    <a:lnTo>
                      <a:pt x="60" y="56"/>
                    </a:lnTo>
                    <a:lnTo>
                      <a:pt x="60" y="55"/>
                    </a:lnTo>
                    <a:lnTo>
                      <a:pt x="60" y="53"/>
                    </a:lnTo>
                    <a:lnTo>
                      <a:pt x="60" y="53"/>
                    </a:lnTo>
                    <a:lnTo>
                      <a:pt x="60" y="52"/>
                    </a:lnTo>
                    <a:lnTo>
                      <a:pt x="60" y="50"/>
                    </a:lnTo>
                    <a:lnTo>
                      <a:pt x="60" y="49"/>
                    </a:lnTo>
                    <a:lnTo>
                      <a:pt x="60" y="49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0" y="46"/>
                    </a:lnTo>
                    <a:lnTo>
                      <a:pt x="60" y="44"/>
                    </a:lnTo>
                    <a:lnTo>
                      <a:pt x="60" y="43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60" y="41"/>
                    </a:lnTo>
                    <a:lnTo>
                      <a:pt x="60" y="40"/>
                    </a:lnTo>
                    <a:lnTo>
                      <a:pt x="60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5"/>
                    </a:lnTo>
                    <a:lnTo>
                      <a:pt x="63" y="25"/>
                    </a:lnTo>
                    <a:lnTo>
                      <a:pt x="63" y="24"/>
                    </a:lnTo>
                    <a:lnTo>
                      <a:pt x="63" y="24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1"/>
                    </a:lnTo>
                    <a:lnTo>
                      <a:pt x="63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3" y="1"/>
                    </a:lnTo>
                    <a:lnTo>
                      <a:pt x="63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3" name="Freeform 246"/>
              <p:cNvSpPr>
                <a:spLocks/>
              </p:cNvSpPr>
              <p:nvPr/>
            </p:nvSpPr>
            <p:spPr bwMode="auto">
              <a:xfrm>
                <a:off x="2943" y="2192"/>
                <a:ext cx="22" cy="71"/>
              </a:xfrm>
              <a:custGeom>
                <a:avLst/>
                <a:gdLst>
                  <a:gd name="T0" fmla="*/ 5 w 64"/>
                  <a:gd name="T1" fmla="*/ 204 h 212"/>
                  <a:gd name="T2" fmla="*/ 8 w 64"/>
                  <a:gd name="T3" fmla="*/ 198 h 212"/>
                  <a:gd name="T4" fmla="*/ 11 w 64"/>
                  <a:gd name="T5" fmla="*/ 192 h 212"/>
                  <a:gd name="T6" fmla="*/ 14 w 64"/>
                  <a:gd name="T7" fmla="*/ 188 h 212"/>
                  <a:gd name="T8" fmla="*/ 15 w 64"/>
                  <a:gd name="T9" fmla="*/ 185 h 212"/>
                  <a:gd name="T10" fmla="*/ 17 w 64"/>
                  <a:gd name="T11" fmla="*/ 182 h 212"/>
                  <a:gd name="T12" fmla="*/ 18 w 64"/>
                  <a:gd name="T13" fmla="*/ 178 h 212"/>
                  <a:gd name="T14" fmla="*/ 20 w 64"/>
                  <a:gd name="T15" fmla="*/ 175 h 212"/>
                  <a:gd name="T16" fmla="*/ 21 w 64"/>
                  <a:gd name="T17" fmla="*/ 170 h 212"/>
                  <a:gd name="T18" fmla="*/ 23 w 64"/>
                  <a:gd name="T19" fmla="*/ 166 h 212"/>
                  <a:gd name="T20" fmla="*/ 24 w 64"/>
                  <a:gd name="T21" fmla="*/ 163 h 212"/>
                  <a:gd name="T22" fmla="*/ 26 w 64"/>
                  <a:gd name="T23" fmla="*/ 160 h 212"/>
                  <a:gd name="T24" fmla="*/ 27 w 64"/>
                  <a:gd name="T25" fmla="*/ 158 h 212"/>
                  <a:gd name="T26" fmla="*/ 29 w 64"/>
                  <a:gd name="T27" fmla="*/ 154 h 212"/>
                  <a:gd name="T28" fmla="*/ 30 w 64"/>
                  <a:gd name="T29" fmla="*/ 151 h 212"/>
                  <a:gd name="T30" fmla="*/ 32 w 64"/>
                  <a:gd name="T31" fmla="*/ 146 h 212"/>
                  <a:gd name="T32" fmla="*/ 33 w 64"/>
                  <a:gd name="T33" fmla="*/ 142 h 212"/>
                  <a:gd name="T34" fmla="*/ 35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5 w 64"/>
                  <a:gd name="T51" fmla="*/ 106 h 212"/>
                  <a:gd name="T52" fmla="*/ 46 w 64"/>
                  <a:gd name="T53" fmla="*/ 102 h 212"/>
                  <a:gd name="T54" fmla="*/ 48 w 64"/>
                  <a:gd name="T55" fmla="*/ 98 h 212"/>
                  <a:gd name="T56" fmla="*/ 48 w 64"/>
                  <a:gd name="T57" fmla="*/ 95 h 212"/>
                  <a:gd name="T58" fmla="*/ 49 w 64"/>
                  <a:gd name="T59" fmla="*/ 92 h 212"/>
                  <a:gd name="T60" fmla="*/ 51 w 64"/>
                  <a:gd name="T61" fmla="*/ 89 h 212"/>
                  <a:gd name="T62" fmla="*/ 52 w 64"/>
                  <a:gd name="T63" fmla="*/ 84 h 212"/>
                  <a:gd name="T64" fmla="*/ 54 w 64"/>
                  <a:gd name="T65" fmla="*/ 78 h 212"/>
                  <a:gd name="T66" fmla="*/ 55 w 64"/>
                  <a:gd name="T67" fmla="*/ 75 h 212"/>
                  <a:gd name="T68" fmla="*/ 55 w 64"/>
                  <a:gd name="T69" fmla="*/ 71 h 212"/>
                  <a:gd name="T70" fmla="*/ 57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60 w 64"/>
                  <a:gd name="T79" fmla="*/ 55 h 212"/>
                  <a:gd name="T80" fmla="*/ 60 w 64"/>
                  <a:gd name="T81" fmla="*/ 50 h 212"/>
                  <a:gd name="T82" fmla="*/ 60 w 64"/>
                  <a:gd name="T83" fmla="*/ 46 h 212"/>
                  <a:gd name="T84" fmla="*/ 60 w 64"/>
                  <a:gd name="T85" fmla="*/ 43 h 212"/>
                  <a:gd name="T86" fmla="*/ 60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3 w 64"/>
                  <a:gd name="T97" fmla="*/ 28 h 212"/>
                  <a:gd name="T98" fmla="*/ 63 w 64"/>
                  <a:gd name="T99" fmla="*/ 26 h 212"/>
                  <a:gd name="T100" fmla="*/ 63 w 64"/>
                  <a:gd name="T101" fmla="*/ 24 h 212"/>
                  <a:gd name="T102" fmla="*/ 63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3 w 64"/>
                  <a:gd name="T113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5" y="204"/>
                    </a:lnTo>
                    <a:lnTo>
                      <a:pt x="5" y="203"/>
                    </a:lnTo>
                    <a:lnTo>
                      <a:pt x="6" y="201"/>
                    </a:lnTo>
                    <a:lnTo>
                      <a:pt x="8" y="200"/>
                    </a:lnTo>
                    <a:lnTo>
                      <a:pt x="8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1" y="194"/>
                    </a:lnTo>
                    <a:lnTo>
                      <a:pt x="11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89"/>
                    </a:lnTo>
                    <a:lnTo>
                      <a:pt x="14" y="188"/>
                    </a:lnTo>
                    <a:lnTo>
                      <a:pt x="14" y="188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7" y="182"/>
                    </a:lnTo>
                    <a:lnTo>
                      <a:pt x="17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20" y="176"/>
                    </a:lnTo>
                    <a:lnTo>
                      <a:pt x="20" y="175"/>
                    </a:lnTo>
                    <a:lnTo>
                      <a:pt x="20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3" y="169"/>
                    </a:lnTo>
                    <a:lnTo>
                      <a:pt x="23" y="169"/>
                    </a:lnTo>
                    <a:lnTo>
                      <a:pt x="23" y="167"/>
                    </a:lnTo>
                    <a:lnTo>
                      <a:pt x="23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6" y="163"/>
                    </a:lnTo>
                    <a:lnTo>
                      <a:pt x="26" y="161"/>
                    </a:lnTo>
                    <a:lnTo>
                      <a:pt x="26" y="161"/>
                    </a:lnTo>
                    <a:lnTo>
                      <a:pt x="26" y="160"/>
                    </a:lnTo>
                    <a:lnTo>
                      <a:pt x="26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9" y="154"/>
                    </a:lnTo>
                    <a:lnTo>
                      <a:pt x="29" y="154"/>
                    </a:lnTo>
                    <a:lnTo>
                      <a:pt x="29" y="152"/>
                    </a:lnTo>
                    <a:lnTo>
                      <a:pt x="29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2" y="146"/>
                    </a:lnTo>
                    <a:lnTo>
                      <a:pt x="32" y="145"/>
                    </a:lnTo>
                    <a:lnTo>
                      <a:pt x="32" y="143"/>
                    </a:lnTo>
                    <a:lnTo>
                      <a:pt x="32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5" y="139"/>
                    </a:lnTo>
                    <a:lnTo>
                      <a:pt x="35" y="138"/>
                    </a:lnTo>
                    <a:lnTo>
                      <a:pt x="35" y="136"/>
                    </a:lnTo>
                    <a:lnTo>
                      <a:pt x="35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5" y="108"/>
                    </a:lnTo>
                    <a:lnTo>
                      <a:pt x="45" y="106"/>
                    </a:lnTo>
                    <a:lnTo>
                      <a:pt x="45" y="106"/>
                    </a:lnTo>
                    <a:lnTo>
                      <a:pt x="45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8" y="98"/>
                    </a:lnTo>
                    <a:lnTo>
                      <a:pt x="48" y="9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51" y="89"/>
                    </a:lnTo>
                    <a:lnTo>
                      <a:pt x="51" y="89"/>
                    </a:lnTo>
                    <a:lnTo>
                      <a:pt x="51" y="87"/>
                    </a:lnTo>
                    <a:lnTo>
                      <a:pt x="51" y="86"/>
                    </a:lnTo>
                    <a:lnTo>
                      <a:pt x="51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2" y="80"/>
                    </a:lnTo>
                    <a:lnTo>
                      <a:pt x="54" y="78"/>
                    </a:lnTo>
                    <a:lnTo>
                      <a:pt x="54" y="78"/>
                    </a:lnTo>
                    <a:lnTo>
                      <a:pt x="54" y="77"/>
                    </a:lnTo>
                    <a:lnTo>
                      <a:pt x="54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7" y="69"/>
                    </a:lnTo>
                    <a:lnTo>
                      <a:pt x="57" y="68"/>
                    </a:lnTo>
                    <a:lnTo>
                      <a:pt x="57" y="68"/>
                    </a:lnTo>
                    <a:lnTo>
                      <a:pt x="57" y="66"/>
                    </a:lnTo>
                    <a:lnTo>
                      <a:pt x="57" y="66"/>
                    </a:lnTo>
                    <a:lnTo>
                      <a:pt x="57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8" y="56"/>
                    </a:lnTo>
                    <a:lnTo>
                      <a:pt x="60" y="56"/>
                    </a:lnTo>
                    <a:lnTo>
                      <a:pt x="60" y="55"/>
                    </a:lnTo>
                    <a:lnTo>
                      <a:pt x="60" y="53"/>
                    </a:lnTo>
                    <a:lnTo>
                      <a:pt x="60" y="53"/>
                    </a:lnTo>
                    <a:lnTo>
                      <a:pt x="60" y="52"/>
                    </a:lnTo>
                    <a:lnTo>
                      <a:pt x="60" y="50"/>
                    </a:lnTo>
                    <a:lnTo>
                      <a:pt x="60" y="49"/>
                    </a:lnTo>
                    <a:lnTo>
                      <a:pt x="60" y="49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0" y="46"/>
                    </a:lnTo>
                    <a:lnTo>
                      <a:pt x="60" y="44"/>
                    </a:lnTo>
                    <a:lnTo>
                      <a:pt x="60" y="43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60" y="41"/>
                    </a:lnTo>
                    <a:lnTo>
                      <a:pt x="60" y="40"/>
                    </a:lnTo>
                    <a:lnTo>
                      <a:pt x="60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5"/>
                    </a:lnTo>
                    <a:lnTo>
                      <a:pt x="63" y="25"/>
                    </a:lnTo>
                    <a:lnTo>
                      <a:pt x="63" y="24"/>
                    </a:lnTo>
                    <a:lnTo>
                      <a:pt x="63" y="24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1"/>
                    </a:lnTo>
                    <a:lnTo>
                      <a:pt x="63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3" y="1"/>
                    </a:lnTo>
                    <a:lnTo>
                      <a:pt x="6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4" name="Freeform 247"/>
              <p:cNvSpPr>
                <a:spLocks/>
              </p:cNvSpPr>
              <p:nvPr/>
            </p:nvSpPr>
            <p:spPr bwMode="auto">
              <a:xfrm>
                <a:off x="2915" y="2121"/>
                <a:ext cx="22" cy="71"/>
              </a:xfrm>
              <a:custGeom>
                <a:avLst/>
                <a:gdLst>
                  <a:gd name="T0" fmla="*/ 4 w 64"/>
                  <a:gd name="T1" fmla="*/ 8 h 212"/>
                  <a:gd name="T2" fmla="*/ 7 w 64"/>
                  <a:gd name="T3" fmla="*/ 13 h 212"/>
                  <a:gd name="T4" fmla="*/ 10 w 64"/>
                  <a:gd name="T5" fmla="*/ 19 h 212"/>
                  <a:gd name="T6" fmla="*/ 13 w 64"/>
                  <a:gd name="T7" fmla="*/ 24 h 212"/>
                  <a:gd name="T8" fmla="*/ 15 w 64"/>
                  <a:gd name="T9" fmla="*/ 27 h 212"/>
                  <a:gd name="T10" fmla="*/ 16 w 64"/>
                  <a:gd name="T11" fmla="*/ 30 h 212"/>
                  <a:gd name="T12" fmla="*/ 18 w 64"/>
                  <a:gd name="T13" fmla="*/ 34 h 212"/>
                  <a:gd name="T14" fmla="*/ 19 w 64"/>
                  <a:gd name="T15" fmla="*/ 39 h 212"/>
                  <a:gd name="T16" fmla="*/ 21 w 64"/>
                  <a:gd name="T17" fmla="*/ 42 h 212"/>
                  <a:gd name="T18" fmla="*/ 22 w 64"/>
                  <a:gd name="T19" fmla="*/ 46 h 212"/>
                  <a:gd name="T20" fmla="*/ 24 w 64"/>
                  <a:gd name="T21" fmla="*/ 49 h 212"/>
                  <a:gd name="T22" fmla="*/ 25 w 64"/>
                  <a:gd name="T23" fmla="*/ 52 h 212"/>
                  <a:gd name="T24" fmla="*/ 27 w 64"/>
                  <a:gd name="T25" fmla="*/ 55 h 212"/>
                  <a:gd name="T26" fmla="*/ 28 w 64"/>
                  <a:gd name="T27" fmla="*/ 58 h 212"/>
                  <a:gd name="T28" fmla="*/ 30 w 64"/>
                  <a:gd name="T29" fmla="*/ 61 h 212"/>
                  <a:gd name="T30" fmla="*/ 31 w 64"/>
                  <a:gd name="T31" fmla="*/ 65 h 212"/>
                  <a:gd name="T32" fmla="*/ 33 w 64"/>
                  <a:gd name="T33" fmla="*/ 70 h 212"/>
                  <a:gd name="T34" fmla="*/ 34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4 w 64"/>
                  <a:gd name="T51" fmla="*/ 107 h 212"/>
                  <a:gd name="T52" fmla="*/ 46 w 64"/>
                  <a:gd name="T53" fmla="*/ 111 h 212"/>
                  <a:gd name="T54" fmla="*/ 47 w 64"/>
                  <a:gd name="T55" fmla="*/ 114 h 212"/>
                  <a:gd name="T56" fmla="*/ 47 w 64"/>
                  <a:gd name="T57" fmla="*/ 117 h 212"/>
                  <a:gd name="T58" fmla="*/ 49 w 64"/>
                  <a:gd name="T59" fmla="*/ 120 h 212"/>
                  <a:gd name="T60" fmla="*/ 50 w 64"/>
                  <a:gd name="T61" fmla="*/ 123 h 212"/>
                  <a:gd name="T62" fmla="*/ 52 w 64"/>
                  <a:gd name="T63" fmla="*/ 127 h 212"/>
                  <a:gd name="T64" fmla="*/ 53 w 64"/>
                  <a:gd name="T65" fmla="*/ 133 h 212"/>
                  <a:gd name="T66" fmla="*/ 55 w 64"/>
                  <a:gd name="T67" fmla="*/ 138 h 212"/>
                  <a:gd name="T68" fmla="*/ 56 w 64"/>
                  <a:gd name="T69" fmla="*/ 142 h 212"/>
                  <a:gd name="T70" fmla="*/ 56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59 w 64"/>
                  <a:gd name="T79" fmla="*/ 157 h 212"/>
                  <a:gd name="T80" fmla="*/ 59 w 64"/>
                  <a:gd name="T81" fmla="*/ 162 h 212"/>
                  <a:gd name="T82" fmla="*/ 59 w 64"/>
                  <a:gd name="T83" fmla="*/ 166 h 212"/>
                  <a:gd name="T84" fmla="*/ 59 w 64"/>
                  <a:gd name="T85" fmla="*/ 169 h 212"/>
                  <a:gd name="T86" fmla="*/ 59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2 w 64"/>
                  <a:gd name="T97" fmla="*/ 184 h 212"/>
                  <a:gd name="T98" fmla="*/ 62 w 64"/>
                  <a:gd name="T99" fmla="*/ 187 h 212"/>
                  <a:gd name="T100" fmla="*/ 62 w 64"/>
                  <a:gd name="T101" fmla="*/ 188 h 212"/>
                  <a:gd name="T102" fmla="*/ 64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2 w 64"/>
                  <a:gd name="T113" fmla="*/ 207 h 212"/>
                  <a:gd name="T114" fmla="*/ 0 w 64"/>
                  <a:gd name="T115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2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0" y="18"/>
                    </a:lnTo>
                    <a:lnTo>
                      <a:pt x="10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3" y="24"/>
                    </a:lnTo>
                    <a:lnTo>
                      <a:pt x="13" y="24"/>
                    </a:lnTo>
                    <a:lnTo>
                      <a:pt x="13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6" y="2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19" y="36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2" y="43"/>
                    </a:lnTo>
                    <a:lnTo>
                      <a:pt x="22" y="43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5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2"/>
                    </a:lnTo>
                    <a:lnTo>
                      <a:pt x="25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8" y="58"/>
                    </a:lnTo>
                    <a:lnTo>
                      <a:pt x="28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1" y="65"/>
                    </a:lnTo>
                    <a:lnTo>
                      <a:pt x="31" y="67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4" y="73"/>
                    </a:lnTo>
                    <a:lnTo>
                      <a:pt x="34" y="74"/>
                    </a:lnTo>
                    <a:lnTo>
                      <a:pt x="34" y="76"/>
                    </a:lnTo>
                    <a:lnTo>
                      <a:pt x="34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2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4" y="104"/>
                    </a:lnTo>
                    <a:lnTo>
                      <a:pt x="44" y="105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7" y="113"/>
                    </a:lnTo>
                    <a:lnTo>
                      <a:pt x="47" y="114"/>
                    </a:lnTo>
                    <a:lnTo>
                      <a:pt x="47" y="114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0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6"/>
                    </a:lnTo>
                    <a:lnTo>
                      <a:pt x="52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3" y="132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5"/>
                    </a:lnTo>
                    <a:lnTo>
                      <a:pt x="53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6" y="142"/>
                    </a:lnTo>
                    <a:lnTo>
                      <a:pt x="56" y="142"/>
                    </a:lnTo>
                    <a:lnTo>
                      <a:pt x="56" y="144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6" y="147"/>
                    </a:lnTo>
                    <a:lnTo>
                      <a:pt x="58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9" y="156"/>
                    </a:lnTo>
                    <a:lnTo>
                      <a:pt x="59" y="157"/>
                    </a:lnTo>
                    <a:lnTo>
                      <a:pt x="59" y="157"/>
                    </a:lnTo>
                    <a:lnTo>
                      <a:pt x="59" y="159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2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6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9"/>
                    </a:lnTo>
                    <a:lnTo>
                      <a:pt x="59" y="169"/>
                    </a:lnTo>
                    <a:lnTo>
                      <a:pt x="59" y="170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2" y="184"/>
                    </a:lnTo>
                    <a:lnTo>
                      <a:pt x="62" y="184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7"/>
                    </a:lnTo>
                    <a:lnTo>
                      <a:pt x="62" y="187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90"/>
                    </a:lnTo>
                    <a:lnTo>
                      <a:pt x="62" y="190"/>
                    </a:lnTo>
                    <a:lnTo>
                      <a:pt x="62" y="191"/>
                    </a:lnTo>
                    <a:lnTo>
                      <a:pt x="64" y="191"/>
                    </a:lnTo>
                    <a:lnTo>
                      <a:pt x="64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4" y="204"/>
                    </a:lnTo>
                    <a:lnTo>
                      <a:pt x="64" y="204"/>
                    </a:lnTo>
                    <a:lnTo>
                      <a:pt x="62" y="206"/>
                    </a:lnTo>
                    <a:lnTo>
                      <a:pt x="62" y="207"/>
                    </a:lnTo>
                    <a:lnTo>
                      <a:pt x="62" y="209"/>
                    </a:lnTo>
                    <a:lnTo>
                      <a:pt x="62" y="210"/>
                    </a:lnTo>
                    <a:lnTo>
                      <a:pt x="62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5" name="Freeform 248"/>
              <p:cNvSpPr>
                <a:spLocks/>
              </p:cNvSpPr>
              <p:nvPr/>
            </p:nvSpPr>
            <p:spPr bwMode="auto">
              <a:xfrm>
                <a:off x="2915" y="2121"/>
                <a:ext cx="22" cy="71"/>
              </a:xfrm>
              <a:custGeom>
                <a:avLst/>
                <a:gdLst>
                  <a:gd name="T0" fmla="*/ 4 w 64"/>
                  <a:gd name="T1" fmla="*/ 8 h 212"/>
                  <a:gd name="T2" fmla="*/ 7 w 64"/>
                  <a:gd name="T3" fmla="*/ 13 h 212"/>
                  <a:gd name="T4" fmla="*/ 10 w 64"/>
                  <a:gd name="T5" fmla="*/ 19 h 212"/>
                  <a:gd name="T6" fmla="*/ 13 w 64"/>
                  <a:gd name="T7" fmla="*/ 24 h 212"/>
                  <a:gd name="T8" fmla="*/ 15 w 64"/>
                  <a:gd name="T9" fmla="*/ 27 h 212"/>
                  <a:gd name="T10" fmla="*/ 16 w 64"/>
                  <a:gd name="T11" fmla="*/ 30 h 212"/>
                  <a:gd name="T12" fmla="*/ 18 w 64"/>
                  <a:gd name="T13" fmla="*/ 34 h 212"/>
                  <a:gd name="T14" fmla="*/ 19 w 64"/>
                  <a:gd name="T15" fmla="*/ 39 h 212"/>
                  <a:gd name="T16" fmla="*/ 21 w 64"/>
                  <a:gd name="T17" fmla="*/ 42 h 212"/>
                  <a:gd name="T18" fmla="*/ 22 w 64"/>
                  <a:gd name="T19" fmla="*/ 46 h 212"/>
                  <a:gd name="T20" fmla="*/ 24 w 64"/>
                  <a:gd name="T21" fmla="*/ 49 h 212"/>
                  <a:gd name="T22" fmla="*/ 25 w 64"/>
                  <a:gd name="T23" fmla="*/ 52 h 212"/>
                  <a:gd name="T24" fmla="*/ 27 w 64"/>
                  <a:gd name="T25" fmla="*/ 55 h 212"/>
                  <a:gd name="T26" fmla="*/ 28 w 64"/>
                  <a:gd name="T27" fmla="*/ 58 h 212"/>
                  <a:gd name="T28" fmla="*/ 30 w 64"/>
                  <a:gd name="T29" fmla="*/ 61 h 212"/>
                  <a:gd name="T30" fmla="*/ 31 w 64"/>
                  <a:gd name="T31" fmla="*/ 65 h 212"/>
                  <a:gd name="T32" fmla="*/ 33 w 64"/>
                  <a:gd name="T33" fmla="*/ 70 h 212"/>
                  <a:gd name="T34" fmla="*/ 34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4 w 64"/>
                  <a:gd name="T51" fmla="*/ 107 h 212"/>
                  <a:gd name="T52" fmla="*/ 46 w 64"/>
                  <a:gd name="T53" fmla="*/ 111 h 212"/>
                  <a:gd name="T54" fmla="*/ 47 w 64"/>
                  <a:gd name="T55" fmla="*/ 114 h 212"/>
                  <a:gd name="T56" fmla="*/ 47 w 64"/>
                  <a:gd name="T57" fmla="*/ 117 h 212"/>
                  <a:gd name="T58" fmla="*/ 49 w 64"/>
                  <a:gd name="T59" fmla="*/ 120 h 212"/>
                  <a:gd name="T60" fmla="*/ 50 w 64"/>
                  <a:gd name="T61" fmla="*/ 123 h 212"/>
                  <a:gd name="T62" fmla="*/ 52 w 64"/>
                  <a:gd name="T63" fmla="*/ 127 h 212"/>
                  <a:gd name="T64" fmla="*/ 53 w 64"/>
                  <a:gd name="T65" fmla="*/ 133 h 212"/>
                  <a:gd name="T66" fmla="*/ 55 w 64"/>
                  <a:gd name="T67" fmla="*/ 138 h 212"/>
                  <a:gd name="T68" fmla="*/ 56 w 64"/>
                  <a:gd name="T69" fmla="*/ 142 h 212"/>
                  <a:gd name="T70" fmla="*/ 56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59 w 64"/>
                  <a:gd name="T79" fmla="*/ 157 h 212"/>
                  <a:gd name="T80" fmla="*/ 59 w 64"/>
                  <a:gd name="T81" fmla="*/ 162 h 212"/>
                  <a:gd name="T82" fmla="*/ 59 w 64"/>
                  <a:gd name="T83" fmla="*/ 166 h 212"/>
                  <a:gd name="T84" fmla="*/ 59 w 64"/>
                  <a:gd name="T85" fmla="*/ 169 h 212"/>
                  <a:gd name="T86" fmla="*/ 59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2 w 64"/>
                  <a:gd name="T97" fmla="*/ 184 h 212"/>
                  <a:gd name="T98" fmla="*/ 62 w 64"/>
                  <a:gd name="T99" fmla="*/ 187 h 212"/>
                  <a:gd name="T100" fmla="*/ 62 w 64"/>
                  <a:gd name="T101" fmla="*/ 188 h 212"/>
                  <a:gd name="T102" fmla="*/ 64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2 w 64"/>
                  <a:gd name="T113" fmla="*/ 20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2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0" y="18"/>
                    </a:lnTo>
                    <a:lnTo>
                      <a:pt x="10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3" y="24"/>
                    </a:lnTo>
                    <a:lnTo>
                      <a:pt x="13" y="24"/>
                    </a:lnTo>
                    <a:lnTo>
                      <a:pt x="13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6" y="2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19" y="36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2" y="43"/>
                    </a:lnTo>
                    <a:lnTo>
                      <a:pt x="22" y="43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5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2"/>
                    </a:lnTo>
                    <a:lnTo>
                      <a:pt x="25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8" y="58"/>
                    </a:lnTo>
                    <a:lnTo>
                      <a:pt x="28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1" y="65"/>
                    </a:lnTo>
                    <a:lnTo>
                      <a:pt x="31" y="67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4" y="73"/>
                    </a:lnTo>
                    <a:lnTo>
                      <a:pt x="34" y="74"/>
                    </a:lnTo>
                    <a:lnTo>
                      <a:pt x="34" y="76"/>
                    </a:lnTo>
                    <a:lnTo>
                      <a:pt x="34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2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4" y="104"/>
                    </a:lnTo>
                    <a:lnTo>
                      <a:pt x="44" y="105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7" y="113"/>
                    </a:lnTo>
                    <a:lnTo>
                      <a:pt x="47" y="114"/>
                    </a:lnTo>
                    <a:lnTo>
                      <a:pt x="47" y="114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0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6"/>
                    </a:lnTo>
                    <a:lnTo>
                      <a:pt x="52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3" y="132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5"/>
                    </a:lnTo>
                    <a:lnTo>
                      <a:pt x="53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6" y="142"/>
                    </a:lnTo>
                    <a:lnTo>
                      <a:pt x="56" y="142"/>
                    </a:lnTo>
                    <a:lnTo>
                      <a:pt x="56" y="144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6" y="147"/>
                    </a:lnTo>
                    <a:lnTo>
                      <a:pt x="58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9" y="156"/>
                    </a:lnTo>
                    <a:lnTo>
                      <a:pt x="59" y="157"/>
                    </a:lnTo>
                    <a:lnTo>
                      <a:pt x="59" y="157"/>
                    </a:lnTo>
                    <a:lnTo>
                      <a:pt x="59" y="159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2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6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9"/>
                    </a:lnTo>
                    <a:lnTo>
                      <a:pt x="59" y="169"/>
                    </a:lnTo>
                    <a:lnTo>
                      <a:pt x="59" y="170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2" y="184"/>
                    </a:lnTo>
                    <a:lnTo>
                      <a:pt x="62" y="184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7"/>
                    </a:lnTo>
                    <a:lnTo>
                      <a:pt x="62" y="187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90"/>
                    </a:lnTo>
                    <a:lnTo>
                      <a:pt x="62" y="190"/>
                    </a:lnTo>
                    <a:lnTo>
                      <a:pt x="62" y="191"/>
                    </a:lnTo>
                    <a:lnTo>
                      <a:pt x="64" y="191"/>
                    </a:lnTo>
                    <a:lnTo>
                      <a:pt x="64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4" y="204"/>
                    </a:lnTo>
                    <a:lnTo>
                      <a:pt x="64" y="204"/>
                    </a:lnTo>
                    <a:lnTo>
                      <a:pt x="62" y="206"/>
                    </a:lnTo>
                    <a:lnTo>
                      <a:pt x="62" y="207"/>
                    </a:lnTo>
                    <a:lnTo>
                      <a:pt x="62" y="209"/>
                    </a:lnTo>
                    <a:lnTo>
                      <a:pt x="62" y="210"/>
                    </a:lnTo>
                    <a:lnTo>
                      <a:pt x="62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6" name="Freeform 249"/>
              <p:cNvSpPr>
                <a:spLocks/>
              </p:cNvSpPr>
              <p:nvPr/>
            </p:nvSpPr>
            <p:spPr bwMode="auto">
              <a:xfrm>
                <a:off x="2915" y="2192"/>
                <a:ext cx="22" cy="71"/>
              </a:xfrm>
              <a:custGeom>
                <a:avLst/>
                <a:gdLst>
                  <a:gd name="T0" fmla="*/ 4 w 64"/>
                  <a:gd name="T1" fmla="*/ 204 h 212"/>
                  <a:gd name="T2" fmla="*/ 7 w 64"/>
                  <a:gd name="T3" fmla="*/ 198 h 212"/>
                  <a:gd name="T4" fmla="*/ 10 w 64"/>
                  <a:gd name="T5" fmla="*/ 192 h 212"/>
                  <a:gd name="T6" fmla="*/ 13 w 64"/>
                  <a:gd name="T7" fmla="*/ 188 h 212"/>
                  <a:gd name="T8" fmla="*/ 15 w 64"/>
                  <a:gd name="T9" fmla="*/ 185 h 212"/>
                  <a:gd name="T10" fmla="*/ 16 w 64"/>
                  <a:gd name="T11" fmla="*/ 182 h 212"/>
                  <a:gd name="T12" fmla="*/ 18 w 64"/>
                  <a:gd name="T13" fmla="*/ 178 h 212"/>
                  <a:gd name="T14" fmla="*/ 19 w 64"/>
                  <a:gd name="T15" fmla="*/ 175 h 212"/>
                  <a:gd name="T16" fmla="*/ 21 w 64"/>
                  <a:gd name="T17" fmla="*/ 170 h 212"/>
                  <a:gd name="T18" fmla="*/ 22 w 64"/>
                  <a:gd name="T19" fmla="*/ 166 h 212"/>
                  <a:gd name="T20" fmla="*/ 24 w 64"/>
                  <a:gd name="T21" fmla="*/ 163 h 212"/>
                  <a:gd name="T22" fmla="*/ 25 w 64"/>
                  <a:gd name="T23" fmla="*/ 160 h 212"/>
                  <a:gd name="T24" fmla="*/ 27 w 64"/>
                  <a:gd name="T25" fmla="*/ 158 h 212"/>
                  <a:gd name="T26" fmla="*/ 28 w 64"/>
                  <a:gd name="T27" fmla="*/ 154 h 212"/>
                  <a:gd name="T28" fmla="*/ 30 w 64"/>
                  <a:gd name="T29" fmla="*/ 151 h 212"/>
                  <a:gd name="T30" fmla="*/ 31 w 64"/>
                  <a:gd name="T31" fmla="*/ 146 h 212"/>
                  <a:gd name="T32" fmla="*/ 33 w 64"/>
                  <a:gd name="T33" fmla="*/ 142 h 212"/>
                  <a:gd name="T34" fmla="*/ 34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4 w 64"/>
                  <a:gd name="T51" fmla="*/ 106 h 212"/>
                  <a:gd name="T52" fmla="*/ 46 w 64"/>
                  <a:gd name="T53" fmla="*/ 102 h 212"/>
                  <a:gd name="T54" fmla="*/ 47 w 64"/>
                  <a:gd name="T55" fmla="*/ 98 h 212"/>
                  <a:gd name="T56" fmla="*/ 47 w 64"/>
                  <a:gd name="T57" fmla="*/ 95 h 212"/>
                  <a:gd name="T58" fmla="*/ 49 w 64"/>
                  <a:gd name="T59" fmla="*/ 92 h 212"/>
                  <a:gd name="T60" fmla="*/ 50 w 64"/>
                  <a:gd name="T61" fmla="*/ 89 h 212"/>
                  <a:gd name="T62" fmla="*/ 52 w 64"/>
                  <a:gd name="T63" fmla="*/ 84 h 212"/>
                  <a:gd name="T64" fmla="*/ 53 w 64"/>
                  <a:gd name="T65" fmla="*/ 78 h 212"/>
                  <a:gd name="T66" fmla="*/ 55 w 64"/>
                  <a:gd name="T67" fmla="*/ 75 h 212"/>
                  <a:gd name="T68" fmla="*/ 56 w 64"/>
                  <a:gd name="T69" fmla="*/ 71 h 212"/>
                  <a:gd name="T70" fmla="*/ 56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59 w 64"/>
                  <a:gd name="T79" fmla="*/ 55 h 212"/>
                  <a:gd name="T80" fmla="*/ 59 w 64"/>
                  <a:gd name="T81" fmla="*/ 50 h 212"/>
                  <a:gd name="T82" fmla="*/ 59 w 64"/>
                  <a:gd name="T83" fmla="*/ 46 h 212"/>
                  <a:gd name="T84" fmla="*/ 59 w 64"/>
                  <a:gd name="T85" fmla="*/ 43 h 212"/>
                  <a:gd name="T86" fmla="*/ 59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2 w 64"/>
                  <a:gd name="T97" fmla="*/ 28 h 212"/>
                  <a:gd name="T98" fmla="*/ 62 w 64"/>
                  <a:gd name="T99" fmla="*/ 26 h 212"/>
                  <a:gd name="T100" fmla="*/ 62 w 64"/>
                  <a:gd name="T101" fmla="*/ 24 h 212"/>
                  <a:gd name="T102" fmla="*/ 64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2 w 64"/>
                  <a:gd name="T113" fmla="*/ 4 h 212"/>
                  <a:gd name="T114" fmla="*/ 0 w 64"/>
                  <a:gd name="T115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4" y="204"/>
                    </a:lnTo>
                    <a:lnTo>
                      <a:pt x="4" y="203"/>
                    </a:lnTo>
                    <a:lnTo>
                      <a:pt x="6" y="201"/>
                    </a:lnTo>
                    <a:lnTo>
                      <a:pt x="7" y="200"/>
                    </a:lnTo>
                    <a:lnTo>
                      <a:pt x="7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0" y="194"/>
                    </a:lnTo>
                    <a:lnTo>
                      <a:pt x="10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3" y="189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6" y="183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19" y="176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2" y="169"/>
                    </a:lnTo>
                    <a:lnTo>
                      <a:pt x="22" y="169"/>
                    </a:lnTo>
                    <a:lnTo>
                      <a:pt x="22" y="167"/>
                    </a:lnTo>
                    <a:lnTo>
                      <a:pt x="22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5" y="163"/>
                    </a:lnTo>
                    <a:lnTo>
                      <a:pt x="25" y="161"/>
                    </a:lnTo>
                    <a:lnTo>
                      <a:pt x="25" y="161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1" y="146"/>
                    </a:lnTo>
                    <a:lnTo>
                      <a:pt x="31" y="145"/>
                    </a:lnTo>
                    <a:lnTo>
                      <a:pt x="31" y="143"/>
                    </a:lnTo>
                    <a:lnTo>
                      <a:pt x="31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4" y="139"/>
                    </a:lnTo>
                    <a:lnTo>
                      <a:pt x="34" y="138"/>
                    </a:lnTo>
                    <a:lnTo>
                      <a:pt x="34" y="136"/>
                    </a:lnTo>
                    <a:lnTo>
                      <a:pt x="34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4" y="108"/>
                    </a:lnTo>
                    <a:lnTo>
                      <a:pt x="44" y="106"/>
                    </a:lnTo>
                    <a:lnTo>
                      <a:pt x="44" y="106"/>
                    </a:lnTo>
                    <a:lnTo>
                      <a:pt x="44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7" y="99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6"/>
                    </a:lnTo>
                    <a:lnTo>
                      <a:pt x="47" y="96"/>
                    </a:lnTo>
                    <a:lnTo>
                      <a:pt x="47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50" y="89"/>
                    </a:lnTo>
                    <a:lnTo>
                      <a:pt x="50" y="89"/>
                    </a:lnTo>
                    <a:lnTo>
                      <a:pt x="50" y="87"/>
                    </a:lnTo>
                    <a:lnTo>
                      <a:pt x="50" y="86"/>
                    </a:lnTo>
                    <a:lnTo>
                      <a:pt x="52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3" y="80"/>
                    </a:lnTo>
                    <a:lnTo>
                      <a:pt x="53" y="78"/>
                    </a:lnTo>
                    <a:lnTo>
                      <a:pt x="53" y="78"/>
                    </a:lnTo>
                    <a:lnTo>
                      <a:pt x="53" y="77"/>
                    </a:lnTo>
                    <a:lnTo>
                      <a:pt x="53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6" y="71"/>
                    </a:lnTo>
                    <a:lnTo>
                      <a:pt x="56" y="69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6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9" y="56"/>
                    </a:lnTo>
                    <a:lnTo>
                      <a:pt x="59" y="56"/>
                    </a:lnTo>
                    <a:lnTo>
                      <a:pt x="59" y="55"/>
                    </a:lnTo>
                    <a:lnTo>
                      <a:pt x="59" y="53"/>
                    </a:lnTo>
                    <a:lnTo>
                      <a:pt x="59" y="53"/>
                    </a:lnTo>
                    <a:lnTo>
                      <a:pt x="59" y="52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7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4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1"/>
                    </a:lnTo>
                    <a:lnTo>
                      <a:pt x="59" y="41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5"/>
                    </a:lnTo>
                    <a:lnTo>
                      <a:pt x="62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3"/>
                    </a:lnTo>
                    <a:lnTo>
                      <a:pt x="62" y="1"/>
                    </a:lnTo>
                    <a:lnTo>
                      <a:pt x="62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7" name="Freeform 250"/>
              <p:cNvSpPr>
                <a:spLocks/>
              </p:cNvSpPr>
              <p:nvPr/>
            </p:nvSpPr>
            <p:spPr bwMode="auto">
              <a:xfrm>
                <a:off x="2915" y="2192"/>
                <a:ext cx="22" cy="71"/>
              </a:xfrm>
              <a:custGeom>
                <a:avLst/>
                <a:gdLst>
                  <a:gd name="T0" fmla="*/ 4 w 64"/>
                  <a:gd name="T1" fmla="*/ 204 h 212"/>
                  <a:gd name="T2" fmla="*/ 7 w 64"/>
                  <a:gd name="T3" fmla="*/ 198 h 212"/>
                  <a:gd name="T4" fmla="*/ 10 w 64"/>
                  <a:gd name="T5" fmla="*/ 192 h 212"/>
                  <a:gd name="T6" fmla="*/ 13 w 64"/>
                  <a:gd name="T7" fmla="*/ 188 h 212"/>
                  <a:gd name="T8" fmla="*/ 15 w 64"/>
                  <a:gd name="T9" fmla="*/ 185 h 212"/>
                  <a:gd name="T10" fmla="*/ 16 w 64"/>
                  <a:gd name="T11" fmla="*/ 182 h 212"/>
                  <a:gd name="T12" fmla="*/ 18 w 64"/>
                  <a:gd name="T13" fmla="*/ 178 h 212"/>
                  <a:gd name="T14" fmla="*/ 19 w 64"/>
                  <a:gd name="T15" fmla="*/ 175 h 212"/>
                  <a:gd name="T16" fmla="*/ 21 w 64"/>
                  <a:gd name="T17" fmla="*/ 170 h 212"/>
                  <a:gd name="T18" fmla="*/ 22 w 64"/>
                  <a:gd name="T19" fmla="*/ 166 h 212"/>
                  <a:gd name="T20" fmla="*/ 24 w 64"/>
                  <a:gd name="T21" fmla="*/ 163 h 212"/>
                  <a:gd name="T22" fmla="*/ 25 w 64"/>
                  <a:gd name="T23" fmla="*/ 160 h 212"/>
                  <a:gd name="T24" fmla="*/ 27 w 64"/>
                  <a:gd name="T25" fmla="*/ 158 h 212"/>
                  <a:gd name="T26" fmla="*/ 28 w 64"/>
                  <a:gd name="T27" fmla="*/ 154 h 212"/>
                  <a:gd name="T28" fmla="*/ 30 w 64"/>
                  <a:gd name="T29" fmla="*/ 151 h 212"/>
                  <a:gd name="T30" fmla="*/ 31 w 64"/>
                  <a:gd name="T31" fmla="*/ 146 h 212"/>
                  <a:gd name="T32" fmla="*/ 33 w 64"/>
                  <a:gd name="T33" fmla="*/ 142 h 212"/>
                  <a:gd name="T34" fmla="*/ 34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4 w 64"/>
                  <a:gd name="T51" fmla="*/ 106 h 212"/>
                  <a:gd name="T52" fmla="*/ 46 w 64"/>
                  <a:gd name="T53" fmla="*/ 102 h 212"/>
                  <a:gd name="T54" fmla="*/ 47 w 64"/>
                  <a:gd name="T55" fmla="*/ 98 h 212"/>
                  <a:gd name="T56" fmla="*/ 47 w 64"/>
                  <a:gd name="T57" fmla="*/ 95 h 212"/>
                  <a:gd name="T58" fmla="*/ 49 w 64"/>
                  <a:gd name="T59" fmla="*/ 92 h 212"/>
                  <a:gd name="T60" fmla="*/ 50 w 64"/>
                  <a:gd name="T61" fmla="*/ 89 h 212"/>
                  <a:gd name="T62" fmla="*/ 52 w 64"/>
                  <a:gd name="T63" fmla="*/ 84 h 212"/>
                  <a:gd name="T64" fmla="*/ 53 w 64"/>
                  <a:gd name="T65" fmla="*/ 78 h 212"/>
                  <a:gd name="T66" fmla="*/ 55 w 64"/>
                  <a:gd name="T67" fmla="*/ 75 h 212"/>
                  <a:gd name="T68" fmla="*/ 56 w 64"/>
                  <a:gd name="T69" fmla="*/ 71 h 212"/>
                  <a:gd name="T70" fmla="*/ 56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59 w 64"/>
                  <a:gd name="T79" fmla="*/ 55 h 212"/>
                  <a:gd name="T80" fmla="*/ 59 w 64"/>
                  <a:gd name="T81" fmla="*/ 50 h 212"/>
                  <a:gd name="T82" fmla="*/ 59 w 64"/>
                  <a:gd name="T83" fmla="*/ 46 h 212"/>
                  <a:gd name="T84" fmla="*/ 59 w 64"/>
                  <a:gd name="T85" fmla="*/ 43 h 212"/>
                  <a:gd name="T86" fmla="*/ 59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2 w 64"/>
                  <a:gd name="T97" fmla="*/ 28 h 212"/>
                  <a:gd name="T98" fmla="*/ 62 w 64"/>
                  <a:gd name="T99" fmla="*/ 26 h 212"/>
                  <a:gd name="T100" fmla="*/ 62 w 64"/>
                  <a:gd name="T101" fmla="*/ 24 h 212"/>
                  <a:gd name="T102" fmla="*/ 64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2 w 64"/>
                  <a:gd name="T113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4" y="204"/>
                    </a:lnTo>
                    <a:lnTo>
                      <a:pt x="4" y="203"/>
                    </a:lnTo>
                    <a:lnTo>
                      <a:pt x="6" y="201"/>
                    </a:lnTo>
                    <a:lnTo>
                      <a:pt x="7" y="200"/>
                    </a:lnTo>
                    <a:lnTo>
                      <a:pt x="7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0" y="194"/>
                    </a:lnTo>
                    <a:lnTo>
                      <a:pt x="10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3" y="189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6" y="183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19" y="176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2" y="169"/>
                    </a:lnTo>
                    <a:lnTo>
                      <a:pt x="22" y="169"/>
                    </a:lnTo>
                    <a:lnTo>
                      <a:pt x="22" y="167"/>
                    </a:lnTo>
                    <a:lnTo>
                      <a:pt x="22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5" y="163"/>
                    </a:lnTo>
                    <a:lnTo>
                      <a:pt x="25" y="161"/>
                    </a:lnTo>
                    <a:lnTo>
                      <a:pt x="25" y="161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1" y="146"/>
                    </a:lnTo>
                    <a:lnTo>
                      <a:pt x="31" y="145"/>
                    </a:lnTo>
                    <a:lnTo>
                      <a:pt x="31" y="143"/>
                    </a:lnTo>
                    <a:lnTo>
                      <a:pt x="31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4" y="139"/>
                    </a:lnTo>
                    <a:lnTo>
                      <a:pt x="34" y="138"/>
                    </a:lnTo>
                    <a:lnTo>
                      <a:pt x="34" y="136"/>
                    </a:lnTo>
                    <a:lnTo>
                      <a:pt x="34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4" y="108"/>
                    </a:lnTo>
                    <a:lnTo>
                      <a:pt x="44" y="106"/>
                    </a:lnTo>
                    <a:lnTo>
                      <a:pt x="44" y="106"/>
                    </a:lnTo>
                    <a:lnTo>
                      <a:pt x="44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7" y="99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6"/>
                    </a:lnTo>
                    <a:lnTo>
                      <a:pt x="47" y="96"/>
                    </a:lnTo>
                    <a:lnTo>
                      <a:pt x="47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50" y="89"/>
                    </a:lnTo>
                    <a:lnTo>
                      <a:pt x="50" y="89"/>
                    </a:lnTo>
                    <a:lnTo>
                      <a:pt x="50" y="87"/>
                    </a:lnTo>
                    <a:lnTo>
                      <a:pt x="50" y="86"/>
                    </a:lnTo>
                    <a:lnTo>
                      <a:pt x="52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3" y="80"/>
                    </a:lnTo>
                    <a:lnTo>
                      <a:pt x="53" y="78"/>
                    </a:lnTo>
                    <a:lnTo>
                      <a:pt x="53" y="78"/>
                    </a:lnTo>
                    <a:lnTo>
                      <a:pt x="53" y="77"/>
                    </a:lnTo>
                    <a:lnTo>
                      <a:pt x="53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6" y="71"/>
                    </a:lnTo>
                    <a:lnTo>
                      <a:pt x="56" y="69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6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9" y="56"/>
                    </a:lnTo>
                    <a:lnTo>
                      <a:pt x="59" y="56"/>
                    </a:lnTo>
                    <a:lnTo>
                      <a:pt x="59" y="55"/>
                    </a:lnTo>
                    <a:lnTo>
                      <a:pt x="59" y="53"/>
                    </a:lnTo>
                    <a:lnTo>
                      <a:pt x="59" y="53"/>
                    </a:lnTo>
                    <a:lnTo>
                      <a:pt x="59" y="52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7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4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1"/>
                    </a:lnTo>
                    <a:lnTo>
                      <a:pt x="59" y="41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5"/>
                    </a:lnTo>
                    <a:lnTo>
                      <a:pt x="62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3"/>
                    </a:lnTo>
                    <a:lnTo>
                      <a:pt x="62" y="1"/>
                    </a:lnTo>
                    <a:lnTo>
                      <a:pt x="6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8" name="Line 251"/>
              <p:cNvSpPr>
                <a:spLocks noChangeShapeType="1"/>
              </p:cNvSpPr>
              <p:nvPr/>
            </p:nvSpPr>
            <p:spPr bwMode="auto">
              <a:xfrm flipH="1">
                <a:off x="2845" y="2229"/>
                <a:ext cx="8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29" name="Line 252"/>
              <p:cNvSpPr>
                <a:spLocks noChangeShapeType="1"/>
              </p:cNvSpPr>
              <p:nvPr/>
            </p:nvSpPr>
            <p:spPr bwMode="auto">
              <a:xfrm>
                <a:off x="2865" y="2012"/>
                <a:ext cx="0" cy="138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0" name="Line 253"/>
              <p:cNvSpPr>
                <a:spLocks noChangeShapeType="1"/>
              </p:cNvSpPr>
              <p:nvPr/>
            </p:nvSpPr>
            <p:spPr bwMode="auto">
              <a:xfrm>
                <a:off x="1572" y="2910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1" name="Line 254"/>
              <p:cNvSpPr>
                <a:spLocks noChangeShapeType="1"/>
              </p:cNvSpPr>
              <p:nvPr/>
            </p:nvSpPr>
            <p:spPr bwMode="auto">
              <a:xfrm>
                <a:off x="1572" y="2762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2" name="Line 255"/>
              <p:cNvSpPr>
                <a:spLocks noChangeShapeType="1"/>
              </p:cNvSpPr>
              <p:nvPr/>
            </p:nvSpPr>
            <p:spPr bwMode="auto">
              <a:xfrm>
                <a:off x="1572" y="2614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3" name="Line 256"/>
              <p:cNvSpPr>
                <a:spLocks noChangeShapeType="1"/>
              </p:cNvSpPr>
              <p:nvPr/>
            </p:nvSpPr>
            <p:spPr bwMode="auto">
              <a:xfrm flipH="1">
                <a:off x="1809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4" name="Line 257"/>
              <p:cNvSpPr>
                <a:spLocks noChangeShapeType="1"/>
              </p:cNvSpPr>
              <p:nvPr/>
            </p:nvSpPr>
            <p:spPr bwMode="auto">
              <a:xfrm flipH="1" flipV="1">
                <a:off x="1809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5" name="Line 258"/>
              <p:cNvSpPr>
                <a:spLocks noChangeShapeType="1"/>
              </p:cNvSpPr>
              <p:nvPr/>
            </p:nvSpPr>
            <p:spPr bwMode="auto">
              <a:xfrm flipH="1">
                <a:off x="1611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6" name="Line 259"/>
              <p:cNvSpPr>
                <a:spLocks noChangeShapeType="1"/>
              </p:cNvSpPr>
              <p:nvPr/>
            </p:nvSpPr>
            <p:spPr bwMode="auto">
              <a:xfrm flipH="1" flipV="1">
                <a:off x="1611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7" name="Line 260"/>
              <p:cNvSpPr>
                <a:spLocks noChangeShapeType="1"/>
              </p:cNvSpPr>
              <p:nvPr/>
            </p:nvSpPr>
            <p:spPr bwMode="auto">
              <a:xfrm flipH="1">
                <a:off x="1917" y="2881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8" name="Line 261"/>
              <p:cNvSpPr>
                <a:spLocks noChangeShapeType="1"/>
              </p:cNvSpPr>
              <p:nvPr/>
            </p:nvSpPr>
            <p:spPr bwMode="auto">
              <a:xfrm flipH="1" flipV="1">
                <a:off x="1917" y="2881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39" name="Line 262"/>
              <p:cNvSpPr>
                <a:spLocks noChangeShapeType="1"/>
              </p:cNvSpPr>
              <p:nvPr/>
            </p:nvSpPr>
            <p:spPr bwMode="auto">
              <a:xfrm flipH="1">
                <a:off x="1710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0" name="Line 263"/>
              <p:cNvSpPr>
                <a:spLocks noChangeShapeType="1"/>
              </p:cNvSpPr>
              <p:nvPr/>
            </p:nvSpPr>
            <p:spPr bwMode="auto">
              <a:xfrm flipH="1" flipV="1">
                <a:off x="1710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1" name="Line 264"/>
              <p:cNvSpPr>
                <a:spLocks noChangeShapeType="1"/>
              </p:cNvSpPr>
              <p:nvPr/>
            </p:nvSpPr>
            <p:spPr bwMode="auto">
              <a:xfrm flipH="1">
                <a:off x="1611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2" name="Line 265"/>
              <p:cNvSpPr>
                <a:spLocks noChangeShapeType="1"/>
              </p:cNvSpPr>
              <p:nvPr/>
            </p:nvSpPr>
            <p:spPr bwMode="auto">
              <a:xfrm flipH="1" flipV="1">
                <a:off x="1611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3" name="Line 266"/>
              <p:cNvSpPr>
                <a:spLocks noChangeShapeType="1"/>
              </p:cNvSpPr>
              <p:nvPr/>
            </p:nvSpPr>
            <p:spPr bwMode="auto">
              <a:xfrm flipH="1">
                <a:off x="2253" y="2733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4" name="Line 267"/>
              <p:cNvSpPr>
                <a:spLocks noChangeShapeType="1"/>
              </p:cNvSpPr>
              <p:nvPr/>
            </p:nvSpPr>
            <p:spPr bwMode="auto">
              <a:xfrm flipH="1" flipV="1">
                <a:off x="2253" y="2733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5" name="Line 268"/>
              <p:cNvSpPr>
                <a:spLocks noChangeShapeType="1"/>
              </p:cNvSpPr>
              <p:nvPr/>
            </p:nvSpPr>
            <p:spPr bwMode="auto">
              <a:xfrm flipH="1">
                <a:off x="2144" y="2881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6" name="Line 269"/>
              <p:cNvSpPr>
                <a:spLocks noChangeShapeType="1"/>
              </p:cNvSpPr>
              <p:nvPr/>
            </p:nvSpPr>
            <p:spPr bwMode="auto">
              <a:xfrm flipH="1" flipV="1">
                <a:off x="2144" y="2881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7" name="Line 270"/>
              <p:cNvSpPr>
                <a:spLocks noChangeShapeType="1"/>
              </p:cNvSpPr>
              <p:nvPr/>
            </p:nvSpPr>
            <p:spPr bwMode="auto">
              <a:xfrm flipH="1">
                <a:off x="1611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8" name="Line 271"/>
              <p:cNvSpPr>
                <a:spLocks noChangeShapeType="1"/>
              </p:cNvSpPr>
              <p:nvPr/>
            </p:nvSpPr>
            <p:spPr bwMode="auto">
              <a:xfrm flipH="1" flipV="1">
                <a:off x="1611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49" name="Line 272"/>
              <p:cNvSpPr>
                <a:spLocks noChangeShapeType="1"/>
              </p:cNvSpPr>
              <p:nvPr/>
            </p:nvSpPr>
            <p:spPr bwMode="auto">
              <a:xfrm flipH="1">
                <a:off x="1809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0" name="Line 273"/>
              <p:cNvSpPr>
                <a:spLocks noChangeShapeType="1"/>
              </p:cNvSpPr>
              <p:nvPr/>
            </p:nvSpPr>
            <p:spPr bwMode="auto">
              <a:xfrm flipH="1" flipV="1">
                <a:off x="1809" y="2881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1" name="Line 274"/>
              <p:cNvSpPr>
                <a:spLocks noChangeShapeType="1"/>
              </p:cNvSpPr>
              <p:nvPr/>
            </p:nvSpPr>
            <p:spPr bwMode="auto">
              <a:xfrm flipH="1">
                <a:off x="2253" y="2881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2" name="Line 275"/>
              <p:cNvSpPr>
                <a:spLocks noChangeShapeType="1"/>
              </p:cNvSpPr>
              <p:nvPr/>
            </p:nvSpPr>
            <p:spPr bwMode="auto">
              <a:xfrm flipH="1" flipV="1">
                <a:off x="2253" y="2881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3" name="Line 276"/>
              <p:cNvSpPr>
                <a:spLocks noChangeShapeType="1"/>
              </p:cNvSpPr>
              <p:nvPr/>
            </p:nvSpPr>
            <p:spPr bwMode="auto">
              <a:xfrm flipH="1">
                <a:off x="1710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4" name="Line 277"/>
              <p:cNvSpPr>
                <a:spLocks noChangeShapeType="1"/>
              </p:cNvSpPr>
              <p:nvPr/>
            </p:nvSpPr>
            <p:spPr bwMode="auto">
              <a:xfrm flipH="1" flipV="1">
                <a:off x="1710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5" name="Line 278"/>
              <p:cNvSpPr>
                <a:spLocks noChangeShapeType="1"/>
              </p:cNvSpPr>
              <p:nvPr/>
            </p:nvSpPr>
            <p:spPr bwMode="auto">
              <a:xfrm flipH="1">
                <a:off x="1809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6" name="Line 279"/>
              <p:cNvSpPr>
                <a:spLocks noChangeShapeType="1"/>
              </p:cNvSpPr>
              <p:nvPr/>
            </p:nvSpPr>
            <p:spPr bwMode="auto">
              <a:xfrm flipH="1" flipV="1">
                <a:off x="1809" y="2733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7" name="Line 280"/>
              <p:cNvSpPr>
                <a:spLocks noChangeShapeType="1"/>
              </p:cNvSpPr>
              <p:nvPr/>
            </p:nvSpPr>
            <p:spPr bwMode="auto">
              <a:xfrm flipH="1">
                <a:off x="1917" y="2733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8" name="Line 281"/>
              <p:cNvSpPr>
                <a:spLocks noChangeShapeType="1"/>
              </p:cNvSpPr>
              <p:nvPr/>
            </p:nvSpPr>
            <p:spPr bwMode="auto">
              <a:xfrm flipH="1" flipV="1">
                <a:off x="1917" y="2733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59" name="Line 282"/>
              <p:cNvSpPr>
                <a:spLocks noChangeShapeType="1"/>
              </p:cNvSpPr>
              <p:nvPr/>
            </p:nvSpPr>
            <p:spPr bwMode="auto">
              <a:xfrm flipH="1">
                <a:off x="2144" y="2733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0" name="Line 283"/>
              <p:cNvSpPr>
                <a:spLocks noChangeShapeType="1"/>
              </p:cNvSpPr>
              <p:nvPr/>
            </p:nvSpPr>
            <p:spPr bwMode="auto">
              <a:xfrm flipH="1" flipV="1">
                <a:off x="2144" y="2733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1" name="Line 284"/>
              <p:cNvSpPr>
                <a:spLocks noChangeShapeType="1"/>
              </p:cNvSpPr>
              <p:nvPr/>
            </p:nvSpPr>
            <p:spPr bwMode="auto">
              <a:xfrm flipH="1">
                <a:off x="2144" y="2585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2" name="Line 285"/>
              <p:cNvSpPr>
                <a:spLocks noChangeShapeType="1"/>
              </p:cNvSpPr>
              <p:nvPr/>
            </p:nvSpPr>
            <p:spPr bwMode="auto">
              <a:xfrm flipH="1" flipV="1">
                <a:off x="2144" y="2585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3" name="Line 286"/>
              <p:cNvSpPr>
                <a:spLocks noChangeShapeType="1"/>
              </p:cNvSpPr>
              <p:nvPr/>
            </p:nvSpPr>
            <p:spPr bwMode="auto">
              <a:xfrm flipH="1">
                <a:off x="2253" y="2585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4" name="Line 287"/>
              <p:cNvSpPr>
                <a:spLocks noChangeShapeType="1"/>
              </p:cNvSpPr>
              <p:nvPr/>
            </p:nvSpPr>
            <p:spPr bwMode="auto">
              <a:xfrm flipH="1" flipV="1">
                <a:off x="2253" y="2585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5" name="Line 288"/>
              <p:cNvSpPr>
                <a:spLocks noChangeShapeType="1"/>
              </p:cNvSpPr>
              <p:nvPr/>
            </p:nvSpPr>
            <p:spPr bwMode="auto">
              <a:xfrm flipH="1">
                <a:off x="1917" y="2585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6" name="Line 289"/>
              <p:cNvSpPr>
                <a:spLocks noChangeShapeType="1"/>
              </p:cNvSpPr>
              <p:nvPr/>
            </p:nvSpPr>
            <p:spPr bwMode="auto">
              <a:xfrm flipH="1" flipV="1">
                <a:off x="1917" y="2585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7" name="Line 290"/>
              <p:cNvSpPr>
                <a:spLocks noChangeShapeType="1"/>
              </p:cNvSpPr>
              <p:nvPr/>
            </p:nvSpPr>
            <p:spPr bwMode="auto">
              <a:xfrm flipH="1">
                <a:off x="1710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8" name="Line 291"/>
              <p:cNvSpPr>
                <a:spLocks noChangeShapeType="1"/>
              </p:cNvSpPr>
              <p:nvPr/>
            </p:nvSpPr>
            <p:spPr bwMode="auto">
              <a:xfrm flipH="1" flipV="1">
                <a:off x="1710" y="2585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69" name="Freeform 292"/>
              <p:cNvSpPr>
                <a:spLocks/>
              </p:cNvSpPr>
              <p:nvPr/>
            </p:nvSpPr>
            <p:spPr bwMode="auto">
              <a:xfrm>
                <a:off x="2668" y="2762"/>
                <a:ext cx="177" cy="148"/>
              </a:xfrm>
              <a:custGeom>
                <a:avLst/>
                <a:gdLst>
                  <a:gd name="T0" fmla="*/ 0 w 533"/>
                  <a:gd name="T1" fmla="*/ 415 h 444"/>
                  <a:gd name="T2" fmla="*/ 29 w 533"/>
                  <a:gd name="T3" fmla="*/ 385 h 444"/>
                  <a:gd name="T4" fmla="*/ 29 w 533"/>
                  <a:gd name="T5" fmla="*/ 356 h 444"/>
                  <a:gd name="T6" fmla="*/ 29 w 533"/>
                  <a:gd name="T7" fmla="*/ 326 h 444"/>
                  <a:gd name="T8" fmla="*/ 59 w 533"/>
                  <a:gd name="T9" fmla="*/ 296 h 444"/>
                  <a:gd name="T10" fmla="*/ 59 w 533"/>
                  <a:gd name="T11" fmla="*/ 267 h 444"/>
                  <a:gd name="T12" fmla="*/ 59 w 533"/>
                  <a:gd name="T13" fmla="*/ 267 h 444"/>
                  <a:gd name="T14" fmla="*/ 59 w 533"/>
                  <a:gd name="T15" fmla="*/ 237 h 444"/>
                  <a:gd name="T16" fmla="*/ 59 w 533"/>
                  <a:gd name="T17" fmla="*/ 208 h 444"/>
                  <a:gd name="T18" fmla="*/ 59 w 533"/>
                  <a:gd name="T19" fmla="*/ 178 h 444"/>
                  <a:gd name="T20" fmla="*/ 59 w 533"/>
                  <a:gd name="T21" fmla="*/ 119 h 444"/>
                  <a:gd name="T22" fmla="*/ 29 w 533"/>
                  <a:gd name="T23" fmla="*/ 89 h 444"/>
                  <a:gd name="T24" fmla="*/ 29 w 533"/>
                  <a:gd name="T25" fmla="*/ 60 h 444"/>
                  <a:gd name="T26" fmla="*/ 0 w 533"/>
                  <a:gd name="T27" fmla="*/ 30 h 444"/>
                  <a:gd name="T28" fmla="*/ 0 w 533"/>
                  <a:gd name="T29" fmla="*/ 0 h 444"/>
                  <a:gd name="T30" fmla="*/ 237 w 533"/>
                  <a:gd name="T31" fmla="*/ 0 h 444"/>
                  <a:gd name="T32" fmla="*/ 237 w 533"/>
                  <a:gd name="T33" fmla="*/ 0 h 444"/>
                  <a:gd name="T34" fmla="*/ 266 w 533"/>
                  <a:gd name="T35" fmla="*/ 30 h 444"/>
                  <a:gd name="T36" fmla="*/ 296 w 533"/>
                  <a:gd name="T37" fmla="*/ 30 h 444"/>
                  <a:gd name="T38" fmla="*/ 325 w 533"/>
                  <a:gd name="T39" fmla="*/ 30 h 444"/>
                  <a:gd name="T40" fmla="*/ 355 w 533"/>
                  <a:gd name="T41" fmla="*/ 60 h 444"/>
                  <a:gd name="T42" fmla="*/ 385 w 533"/>
                  <a:gd name="T43" fmla="*/ 60 h 444"/>
                  <a:gd name="T44" fmla="*/ 414 w 533"/>
                  <a:gd name="T45" fmla="*/ 89 h 444"/>
                  <a:gd name="T46" fmla="*/ 444 w 533"/>
                  <a:gd name="T47" fmla="*/ 89 h 444"/>
                  <a:gd name="T48" fmla="*/ 444 w 533"/>
                  <a:gd name="T49" fmla="*/ 119 h 444"/>
                  <a:gd name="T50" fmla="*/ 474 w 533"/>
                  <a:gd name="T51" fmla="*/ 148 h 444"/>
                  <a:gd name="T52" fmla="*/ 503 w 533"/>
                  <a:gd name="T53" fmla="*/ 178 h 444"/>
                  <a:gd name="T54" fmla="*/ 503 w 533"/>
                  <a:gd name="T55" fmla="*/ 178 h 444"/>
                  <a:gd name="T56" fmla="*/ 503 w 533"/>
                  <a:gd name="T57" fmla="*/ 208 h 444"/>
                  <a:gd name="T58" fmla="*/ 533 w 533"/>
                  <a:gd name="T59" fmla="*/ 237 h 444"/>
                  <a:gd name="T60" fmla="*/ 503 w 533"/>
                  <a:gd name="T61" fmla="*/ 267 h 444"/>
                  <a:gd name="T62" fmla="*/ 503 w 533"/>
                  <a:gd name="T63" fmla="*/ 267 h 444"/>
                  <a:gd name="T64" fmla="*/ 474 w 533"/>
                  <a:gd name="T65" fmla="*/ 296 h 444"/>
                  <a:gd name="T66" fmla="*/ 474 w 533"/>
                  <a:gd name="T67" fmla="*/ 326 h 444"/>
                  <a:gd name="T68" fmla="*/ 444 w 533"/>
                  <a:gd name="T69" fmla="*/ 356 h 444"/>
                  <a:gd name="T70" fmla="*/ 414 w 533"/>
                  <a:gd name="T71" fmla="*/ 356 h 444"/>
                  <a:gd name="T72" fmla="*/ 385 w 533"/>
                  <a:gd name="T73" fmla="*/ 385 h 444"/>
                  <a:gd name="T74" fmla="*/ 355 w 533"/>
                  <a:gd name="T75" fmla="*/ 415 h 444"/>
                  <a:gd name="T76" fmla="*/ 325 w 533"/>
                  <a:gd name="T77" fmla="*/ 415 h 444"/>
                  <a:gd name="T78" fmla="*/ 296 w 533"/>
                  <a:gd name="T79" fmla="*/ 444 h 444"/>
                  <a:gd name="T80" fmla="*/ 266 w 533"/>
                  <a:gd name="T81" fmla="*/ 444 h 444"/>
                  <a:gd name="T82" fmla="*/ 237 w 533"/>
                  <a:gd name="T83" fmla="*/ 444 h 444"/>
                  <a:gd name="T84" fmla="*/ 0 w 533"/>
                  <a:gd name="T85" fmla="*/ 444 h 444"/>
                  <a:gd name="T86" fmla="*/ 0 w 533"/>
                  <a:gd name="T87" fmla="*/ 415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33" h="444">
                    <a:moveTo>
                      <a:pt x="0" y="415"/>
                    </a:moveTo>
                    <a:lnTo>
                      <a:pt x="29" y="385"/>
                    </a:lnTo>
                    <a:lnTo>
                      <a:pt x="29" y="356"/>
                    </a:lnTo>
                    <a:lnTo>
                      <a:pt x="29" y="326"/>
                    </a:lnTo>
                    <a:lnTo>
                      <a:pt x="59" y="296"/>
                    </a:lnTo>
                    <a:lnTo>
                      <a:pt x="59" y="267"/>
                    </a:lnTo>
                    <a:lnTo>
                      <a:pt x="59" y="267"/>
                    </a:lnTo>
                    <a:lnTo>
                      <a:pt x="59" y="237"/>
                    </a:lnTo>
                    <a:lnTo>
                      <a:pt x="59" y="208"/>
                    </a:lnTo>
                    <a:lnTo>
                      <a:pt x="59" y="178"/>
                    </a:lnTo>
                    <a:lnTo>
                      <a:pt x="59" y="119"/>
                    </a:lnTo>
                    <a:lnTo>
                      <a:pt x="29" y="89"/>
                    </a:lnTo>
                    <a:lnTo>
                      <a:pt x="29" y="60"/>
                    </a:lnTo>
                    <a:lnTo>
                      <a:pt x="0" y="30"/>
                    </a:lnTo>
                    <a:lnTo>
                      <a:pt x="0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66" y="30"/>
                    </a:lnTo>
                    <a:lnTo>
                      <a:pt x="296" y="30"/>
                    </a:lnTo>
                    <a:lnTo>
                      <a:pt x="325" y="30"/>
                    </a:lnTo>
                    <a:lnTo>
                      <a:pt x="355" y="60"/>
                    </a:lnTo>
                    <a:lnTo>
                      <a:pt x="385" y="60"/>
                    </a:lnTo>
                    <a:lnTo>
                      <a:pt x="414" y="89"/>
                    </a:lnTo>
                    <a:lnTo>
                      <a:pt x="444" y="89"/>
                    </a:lnTo>
                    <a:lnTo>
                      <a:pt x="444" y="119"/>
                    </a:lnTo>
                    <a:lnTo>
                      <a:pt x="474" y="148"/>
                    </a:lnTo>
                    <a:lnTo>
                      <a:pt x="503" y="178"/>
                    </a:lnTo>
                    <a:lnTo>
                      <a:pt x="503" y="178"/>
                    </a:lnTo>
                    <a:lnTo>
                      <a:pt x="503" y="208"/>
                    </a:lnTo>
                    <a:lnTo>
                      <a:pt x="533" y="237"/>
                    </a:lnTo>
                    <a:lnTo>
                      <a:pt x="503" y="267"/>
                    </a:lnTo>
                    <a:lnTo>
                      <a:pt x="503" y="267"/>
                    </a:lnTo>
                    <a:lnTo>
                      <a:pt x="474" y="296"/>
                    </a:lnTo>
                    <a:lnTo>
                      <a:pt x="474" y="326"/>
                    </a:lnTo>
                    <a:lnTo>
                      <a:pt x="444" y="356"/>
                    </a:lnTo>
                    <a:lnTo>
                      <a:pt x="414" y="356"/>
                    </a:lnTo>
                    <a:lnTo>
                      <a:pt x="385" y="385"/>
                    </a:lnTo>
                    <a:lnTo>
                      <a:pt x="355" y="415"/>
                    </a:lnTo>
                    <a:lnTo>
                      <a:pt x="325" y="415"/>
                    </a:lnTo>
                    <a:lnTo>
                      <a:pt x="296" y="444"/>
                    </a:lnTo>
                    <a:lnTo>
                      <a:pt x="266" y="444"/>
                    </a:lnTo>
                    <a:lnTo>
                      <a:pt x="237" y="444"/>
                    </a:lnTo>
                    <a:lnTo>
                      <a:pt x="0" y="444"/>
                    </a:lnTo>
                    <a:lnTo>
                      <a:pt x="0" y="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0" name="Freeform 293"/>
              <p:cNvSpPr>
                <a:spLocks/>
              </p:cNvSpPr>
              <p:nvPr/>
            </p:nvSpPr>
            <p:spPr bwMode="auto">
              <a:xfrm>
                <a:off x="2669" y="2837"/>
                <a:ext cx="176" cy="71"/>
              </a:xfrm>
              <a:custGeom>
                <a:avLst/>
                <a:gdLst>
                  <a:gd name="T0" fmla="*/ 103 w 530"/>
                  <a:gd name="T1" fmla="*/ 212 h 212"/>
                  <a:gd name="T2" fmla="*/ 177 w 530"/>
                  <a:gd name="T3" fmla="*/ 212 h 212"/>
                  <a:gd name="T4" fmla="*/ 214 w 530"/>
                  <a:gd name="T5" fmla="*/ 212 h 212"/>
                  <a:gd name="T6" fmla="*/ 231 w 530"/>
                  <a:gd name="T7" fmla="*/ 212 h 212"/>
                  <a:gd name="T8" fmla="*/ 240 w 530"/>
                  <a:gd name="T9" fmla="*/ 211 h 212"/>
                  <a:gd name="T10" fmla="*/ 248 w 530"/>
                  <a:gd name="T11" fmla="*/ 211 h 212"/>
                  <a:gd name="T12" fmla="*/ 254 w 530"/>
                  <a:gd name="T13" fmla="*/ 209 h 212"/>
                  <a:gd name="T14" fmla="*/ 259 w 530"/>
                  <a:gd name="T15" fmla="*/ 209 h 212"/>
                  <a:gd name="T16" fmla="*/ 266 w 530"/>
                  <a:gd name="T17" fmla="*/ 208 h 212"/>
                  <a:gd name="T18" fmla="*/ 274 w 530"/>
                  <a:gd name="T19" fmla="*/ 208 h 212"/>
                  <a:gd name="T20" fmla="*/ 281 w 530"/>
                  <a:gd name="T21" fmla="*/ 206 h 212"/>
                  <a:gd name="T22" fmla="*/ 287 w 530"/>
                  <a:gd name="T23" fmla="*/ 205 h 212"/>
                  <a:gd name="T24" fmla="*/ 293 w 530"/>
                  <a:gd name="T25" fmla="*/ 203 h 212"/>
                  <a:gd name="T26" fmla="*/ 302 w 530"/>
                  <a:gd name="T27" fmla="*/ 200 h 212"/>
                  <a:gd name="T28" fmla="*/ 311 w 530"/>
                  <a:gd name="T29" fmla="*/ 197 h 212"/>
                  <a:gd name="T30" fmla="*/ 318 w 530"/>
                  <a:gd name="T31" fmla="*/ 196 h 212"/>
                  <a:gd name="T32" fmla="*/ 324 w 530"/>
                  <a:gd name="T33" fmla="*/ 193 h 212"/>
                  <a:gd name="T34" fmla="*/ 330 w 530"/>
                  <a:gd name="T35" fmla="*/ 190 h 212"/>
                  <a:gd name="T36" fmla="*/ 337 w 530"/>
                  <a:gd name="T37" fmla="*/ 187 h 212"/>
                  <a:gd name="T38" fmla="*/ 345 w 530"/>
                  <a:gd name="T39" fmla="*/ 182 h 212"/>
                  <a:gd name="T40" fmla="*/ 351 w 530"/>
                  <a:gd name="T41" fmla="*/ 180 h 212"/>
                  <a:gd name="T42" fmla="*/ 357 w 530"/>
                  <a:gd name="T43" fmla="*/ 177 h 212"/>
                  <a:gd name="T44" fmla="*/ 362 w 530"/>
                  <a:gd name="T45" fmla="*/ 174 h 212"/>
                  <a:gd name="T46" fmla="*/ 368 w 530"/>
                  <a:gd name="T47" fmla="*/ 169 h 212"/>
                  <a:gd name="T48" fmla="*/ 376 w 530"/>
                  <a:gd name="T49" fmla="*/ 166 h 212"/>
                  <a:gd name="T50" fmla="*/ 380 w 530"/>
                  <a:gd name="T51" fmla="*/ 163 h 212"/>
                  <a:gd name="T52" fmla="*/ 385 w 530"/>
                  <a:gd name="T53" fmla="*/ 160 h 212"/>
                  <a:gd name="T54" fmla="*/ 389 w 530"/>
                  <a:gd name="T55" fmla="*/ 157 h 212"/>
                  <a:gd name="T56" fmla="*/ 395 w 530"/>
                  <a:gd name="T57" fmla="*/ 153 h 212"/>
                  <a:gd name="T58" fmla="*/ 399 w 530"/>
                  <a:gd name="T59" fmla="*/ 150 h 212"/>
                  <a:gd name="T60" fmla="*/ 402 w 530"/>
                  <a:gd name="T61" fmla="*/ 148 h 212"/>
                  <a:gd name="T62" fmla="*/ 405 w 530"/>
                  <a:gd name="T63" fmla="*/ 145 h 212"/>
                  <a:gd name="T64" fmla="*/ 410 w 530"/>
                  <a:gd name="T65" fmla="*/ 142 h 212"/>
                  <a:gd name="T66" fmla="*/ 414 w 530"/>
                  <a:gd name="T67" fmla="*/ 140 h 212"/>
                  <a:gd name="T68" fmla="*/ 417 w 530"/>
                  <a:gd name="T69" fmla="*/ 138 h 212"/>
                  <a:gd name="T70" fmla="*/ 420 w 530"/>
                  <a:gd name="T71" fmla="*/ 135 h 212"/>
                  <a:gd name="T72" fmla="*/ 423 w 530"/>
                  <a:gd name="T73" fmla="*/ 134 h 212"/>
                  <a:gd name="T74" fmla="*/ 428 w 530"/>
                  <a:gd name="T75" fmla="*/ 131 h 212"/>
                  <a:gd name="T76" fmla="*/ 432 w 530"/>
                  <a:gd name="T77" fmla="*/ 126 h 212"/>
                  <a:gd name="T78" fmla="*/ 435 w 530"/>
                  <a:gd name="T79" fmla="*/ 125 h 212"/>
                  <a:gd name="T80" fmla="*/ 438 w 530"/>
                  <a:gd name="T81" fmla="*/ 122 h 212"/>
                  <a:gd name="T82" fmla="*/ 442 w 530"/>
                  <a:gd name="T83" fmla="*/ 117 h 212"/>
                  <a:gd name="T84" fmla="*/ 448 w 530"/>
                  <a:gd name="T85" fmla="*/ 111 h 212"/>
                  <a:gd name="T86" fmla="*/ 451 w 530"/>
                  <a:gd name="T87" fmla="*/ 107 h 212"/>
                  <a:gd name="T88" fmla="*/ 456 w 530"/>
                  <a:gd name="T89" fmla="*/ 104 h 212"/>
                  <a:gd name="T90" fmla="*/ 459 w 530"/>
                  <a:gd name="T91" fmla="*/ 100 h 212"/>
                  <a:gd name="T92" fmla="*/ 465 w 530"/>
                  <a:gd name="T93" fmla="*/ 92 h 212"/>
                  <a:gd name="T94" fmla="*/ 471 w 530"/>
                  <a:gd name="T95" fmla="*/ 86 h 212"/>
                  <a:gd name="T96" fmla="*/ 475 w 530"/>
                  <a:gd name="T97" fmla="*/ 80 h 212"/>
                  <a:gd name="T98" fmla="*/ 478 w 530"/>
                  <a:gd name="T99" fmla="*/ 76 h 212"/>
                  <a:gd name="T100" fmla="*/ 482 w 530"/>
                  <a:gd name="T101" fmla="*/ 70 h 212"/>
                  <a:gd name="T102" fmla="*/ 488 w 530"/>
                  <a:gd name="T103" fmla="*/ 63 h 212"/>
                  <a:gd name="T104" fmla="*/ 494 w 530"/>
                  <a:gd name="T105" fmla="*/ 54 h 212"/>
                  <a:gd name="T106" fmla="*/ 499 w 530"/>
                  <a:gd name="T107" fmla="*/ 48 h 212"/>
                  <a:gd name="T108" fmla="*/ 502 w 530"/>
                  <a:gd name="T109" fmla="*/ 43 h 212"/>
                  <a:gd name="T110" fmla="*/ 508 w 530"/>
                  <a:gd name="T111" fmla="*/ 36 h 212"/>
                  <a:gd name="T112" fmla="*/ 513 w 530"/>
                  <a:gd name="T113" fmla="*/ 28 h 212"/>
                  <a:gd name="T114" fmla="*/ 518 w 530"/>
                  <a:gd name="T115" fmla="*/ 20 h 212"/>
                  <a:gd name="T116" fmla="*/ 522 w 530"/>
                  <a:gd name="T117" fmla="*/ 15 h 212"/>
                  <a:gd name="T118" fmla="*/ 525 w 530"/>
                  <a:gd name="T119" fmla="*/ 9 h 212"/>
                  <a:gd name="T120" fmla="*/ 528 w 530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2">
                    <a:moveTo>
                      <a:pt x="0" y="212"/>
                    </a:moveTo>
                    <a:lnTo>
                      <a:pt x="19" y="212"/>
                    </a:lnTo>
                    <a:lnTo>
                      <a:pt x="38" y="212"/>
                    </a:lnTo>
                    <a:lnTo>
                      <a:pt x="56" y="212"/>
                    </a:lnTo>
                    <a:lnTo>
                      <a:pt x="72" y="212"/>
                    </a:lnTo>
                    <a:lnTo>
                      <a:pt x="88" y="212"/>
                    </a:lnTo>
                    <a:lnTo>
                      <a:pt x="103" y="212"/>
                    </a:lnTo>
                    <a:lnTo>
                      <a:pt x="117" y="212"/>
                    </a:lnTo>
                    <a:lnTo>
                      <a:pt x="128" y="212"/>
                    </a:lnTo>
                    <a:lnTo>
                      <a:pt x="140" y="212"/>
                    </a:lnTo>
                    <a:lnTo>
                      <a:pt x="151" y="212"/>
                    </a:lnTo>
                    <a:lnTo>
                      <a:pt x="160" y="212"/>
                    </a:lnTo>
                    <a:lnTo>
                      <a:pt x="168" y="212"/>
                    </a:lnTo>
                    <a:lnTo>
                      <a:pt x="177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7" y="212"/>
                    </a:lnTo>
                    <a:lnTo>
                      <a:pt x="211" y="212"/>
                    </a:lnTo>
                    <a:lnTo>
                      <a:pt x="214" y="212"/>
                    </a:lnTo>
                    <a:lnTo>
                      <a:pt x="217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6" y="212"/>
                    </a:lnTo>
                    <a:lnTo>
                      <a:pt x="228" y="212"/>
                    </a:lnTo>
                    <a:lnTo>
                      <a:pt x="229" y="212"/>
                    </a:lnTo>
                    <a:lnTo>
                      <a:pt x="231" y="212"/>
                    </a:lnTo>
                    <a:lnTo>
                      <a:pt x="232" y="212"/>
                    </a:lnTo>
                    <a:lnTo>
                      <a:pt x="234" y="211"/>
                    </a:lnTo>
                    <a:lnTo>
                      <a:pt x="235" y="211"/>
                    </a:lnTo>
                    <a:lnTo>
                      <a:pt x="237" y="211"/>
                    </a:lnTo>
                    <a:lnTo>
                      <a:pt x="238" y="211"/>
                    </a:lnTo>
                    <a:lnTo>
                      <a:pt x="238" y="211"/>
                    </a:lnTo>
                    <a:lnTo>
                      <a:pt x="240" y="211"/>
                    </a:lnTo>
                    <a:lnTo>
                      <a:pt x="241" y="211"/>
                    </a:lnTo>
                    <a:lnTo>
                      <a:pt x="242" y="211"/>
                    </a:lnTo>
                    <a:lnTo>
                      <a:pt x="244" y="211"/>
                    </a:lnTo>
                    <a:lnTo>
                      <a:pt x="245" y="211"/>
                    </a:lnTo>
                    <a:lnTo>
                      <a:pt x="245" y="211"/>
                    </a:lnTo>
                    <a:lnTo>
                      <a:pt x="247" y="211"/>
                    </a:lnTo>
                    <a:lnTo>
                      <a:pt x="248" y="211"/>
                    </a:lnTo>
                    <a:lnTo>
                      <a:pt x="248" y="211"/>
                    </a:lnTo>
                    <a:lnTo>
                      <a:pt x="250" y="211"/>
                    </a:lnTo>
                    <a:lnTo>
                      <a:pt x="251" y="211"/>
                    </a:lnTo>
                    <a:lnTo>
                      <a:pt x="251" y="211"/>
                    </a:lnTo>
                    <a:lnTo>
                      <a:pt x="253" y="211"/>
                    </a:lnTo>
                    <a:lnTo>
                      <a:pt x="253" y="211"/>
                    </a:lnTo>
                    <a:lnTo>
                      <a:pt x="254" y="209"/>
                    </a:lnTo>
                    <a:lnTo>
                      <a:pt x="254" y="209"/>
                    </a:lnTo>
                    <a:lnTo>
                      <a:pt x="256" y="209"/>
                    </a:lnTo>
                    <a:lnTo>
                      <a:pt x="256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9" y="209"/>
                    </a:lnTo>
                    <a:lnTo>
                      <a:pt x="259" y="209"/>
                    </a:lnTo>
                    <a:lnTo>
                      <a:pt x="260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3" y="209"/>
                    </a:lnTo>
                    <a:lnTo>
                      <a:pt x="265" y="209"/>
                    </a:lnTo>
                    <a:lnTo>
                      <a:pt x="265" y="209"/>
                    </a:lnTo>
                    <a:lnTo>
                      <a:pt x="266" y="208"/>
                    </a:lnTo>
                    <a:lnTo>
                      <a:pt x="268" y="208"/>
                    </a:lnTo>
                    <a:lnTo>
                      <a:pt x="269" y="208"/>
                    </a:lnTo>
                    <a:lnTo>
                      <a:pt x="271" y="208"/>
                    </a:lnTo>
                    <a:lnTo>
                      <a:pt x="271" y="208"/>
                    </a:lnTo>
                    <a:lnTo>
                      <a:pt x="272" y="208"/>
                    </a:lnTo>
                    <a:lnTo>
                      <a:pt x="274" y="208"/>
                    </a:lnTo>
                    <a:lnTo>
                      <a:pt x="274" y="208"/>
                    </a:lnTo>
                    <a:lnTo>
                      <a:pt x="275" y="208"/>
                    </a:lnTo>
                    <a:lnTo>
                      <a:pt x="277" y="206"/>
                    </a:lnTo>
                    <a:lnTo>
                      <a:pt x="278" y="206"/>
                    </a:lnTo>
                    <a:lnTo>
                      <a:pt x="278" y="206"/>
                    </a:lnTo>
                    <a:lnTo>
                      <a:pt x="280" y="206"/>
                    </a:lnTo>
                    <a:lnTo>
                      <a:pt x="281" y="206"/>
                    </a:lnTo>
                    <a:lnTo>
                      <a:pt x="281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4" y="206"/>
                    </a:lnTo>
                    <a:lnTo>
                      <a:pt x="284" y="205"/>
                    </a:lnTo>
                    <a:lnTo>
                      <a:pt x="285" y="205"/>
                    </a:lnTo>
                    <a:lnTo>
                      <a:pt x="285" y="205"/>
                    </a:lnTo>
                    <a:lnTo>
                      <a:pt x="287" y="205"/>
                    </a:lnTo>
                    <a:lnTo>
                      <a:pt x="288" y="205"/>
                    </a:lnTo>
                    <a:lnTo>
                      <a:pt x="288" y="205"/>
                    </a:lnTo>
                    <a:lnTo>
                      <a:pt x="290" y="205"/>
                    </a:lnTo>
                    <a:lnTo>
                      <a:pt x="290" y="203"/>
                    </a:lnTo>
                    <a:lnTo>
                      <a:pt x="291" y="203"/>
                    </a:lnTo>
                    <a:lnTo>
                      <a:pt x="293" y="203"/>
                    </a:lnTo>
                    <a:lnTo>
                      <a:pt x="293" y="203"/>
                    </a:lnTo>
                    <a:lnTo>
                      <a:pt x="294" y="203"/>
                    </a:lnTo>
                    <a:lnTo>
                      <a:pt x="296" y="202"/>
                    </a:lnTo>
                    <a:lnTo>
                      <a:pt x="296" y="202"/>
                    </a:lnTo>
                    <a:lnTo>
                      <a:pt x="297" y="202"/>
                    </a:lnTo>
                    <a:lnTo>
                      <a:pt x="299" y="202"/>
                    </a:lnTo>
                    <a:lnTo>
                      <a:pt x="300" y="200"/>
                    </a:lnTo>
                    <a:lnTo>
                      <a:pt x="302" y="200"/>
                    </a:lnTo>
                    <a:lnTo>
                      <a:pt x="303" y="200"/>
                    </a:lnTo>
                    <a:lnTo>
                      <a:pt x="303" y="200"/>
                    </a:lnTo>
                    <a:lnTo>
                      <a:pt x="305" y="199"/>
                    </a:lnTo>
                    <a:lnTo>
                      <a:pt x="306" y="199"/>
                    </a:lnTo>
                    <a:lnTo>
                      <a:pt x="308" y="199"/>
                    </a:lnTo>
                    <a:lnTo>
                      <a:pt x="309" y="197"/>
                    </a:lnTo>
                    <a:lnTo>
                      <a:pt x="311" y="197"/>
                    </a:lnTo>
                    <a:lnTo>
                      <a:pt x="312" y="197"/>
                    </a:lnTo>
                    <a:lnTo>
                      <a:pt x="314" y="197"/>
                    </a:lnTo>
                    <a:lnTo>
                      <a:pt x="314" y="197"/>
                    </a:lnTo>
                    <a:lnTo>
                      <a:pt x="315" y="196"/>
                    </a:lnTo>
                    <a:lnTo>
                      <a:pt x="317" y="196"/>
                    </a:lnTo>
                    <a:lnTo>
                      <a:pt x="317" y="196"/>
                    </a:lnTo>
                    <a:lnTo>
                      <a:pt x="318" y="196"/>
                    </a:lnTo>
                    <a:lnTo>
                      <a:pt x="318" y="194"/>
                    </a:lnTo>
                    <a:lnTo>
                      <a:pt x="320" y="194"/>
                    </a:lnTo>
                    <a:lnTo>
                      <a:pt x="321" y="194"/>
                    </a:lnTo>
                    <a:lnTo>
                      <a:pt x="321" y="194"/>
                    </a:lnTo>
                    <a:lnTo>
                      <a:pt x="322" y="194"/>
                    </a:lnTo>
                    <a:lnTo>
                      <a:pt x="322" y="193"/>
                    </a:lnTo>
                    <a:lnTo>
                      <a:pt x="324" y="193"/>
                    </a:lnTo>
                    <a:lnTo>
                      <a:pt x="324" y="193"/>
                    </a:lnTo>
                    <a:lnTo>
                      <a:pt x="325" y="193"/>
                    </a:lnTo>
                    <a:lnTo>
                      <a:pt x="325" y="191"/>
                    </a:lnTo>
                    <a:lnTo>
                      <a:pt x="327" y="191"/>
                    </a:lnTo>
                    <a:lnTo>
                      <a:pt x="327" y="191"/>
                    </a:lnTo>
                    <a:lnTo>
                      <a:pt x="328" y="191"/>
                    </a:lnTo>
                    <a:lnTo>
                      <a:pt x="330" y="190"/>
                    </a:lnTo>
                    <a:lnTo>
                      <a:pt x="330" y="190"/>
                    </a:lnTo>
                    <a:lnTo>
                      <a:pt x="331" y="188"/>
                    </a:lnTo>
                    <a:lnTo>
                      <a:pt x="333" y="188"/>
                    </a:lnTo>
                    <a:lnTo>
                      <a:pt x="334" y="188"/>
                    </a:lnTo>
                    <a:lnTo>
                      <a:pt x="336" y="187"/>
                    </a:lnTo>
                    <a:lnTo>
                      <a:pt x="337" y="187"/>
                    </a:lnTo>
                    <a:lnTo>
                      <a:pt x="337" y="187"/>
                    </a:lnTo>
                    <a:lnTo>
                      <a:pt x="339" y="185"/>
                    </a:lnTo>
                    <a:lnTo>
                      <a:pt x="340" y="185"/>
                    </a:lnTo>
                    <a:lnTo>
                      <a:pt x="340" y="184"/>
                    </a:lnTo>
                    <a:lnTo>
                      <a:pt x="342" y="184"/>
                    </a:lnTo>
                    <a:lnTo>
                      <a:pt x="343" y="184"/>
                    </a:lnTo>
                    <a:lnTo>
                      <a:pt x="345" y="182"/>
                    </a:lnTo>
                    <a:lnTo>
                      <a:pt x="345" y="182"/>
                    </a:lnTo>
                    <a:lnTo>
                      <a:pt x="346" y="182"/>
                    </a:lnTo>
                    <a:lnTo>
                      <a:pt x="348" y="181"/>
                    </a:lnTo>
                    <a:lnTo>
                      <a:pt x="348" y="181"/>
                    </a:lnTo>
                    <a:lnTo>
                      <a:pt x="349" y="181"/>
                    </a:lnTo>
                    <a:lnTo>
                      <a:pt x="349" y="180"/>
                    </a:lnTo>
                    <a:lnTo>
                      <a:pt x="351" y="180"/>
                    </a:lnTo>
                    <a:lnTo>
                      <a:pt x="351" y="180"/>
                    </a:lnTo>
                    <a:lnTo>
                      <a:pt x="352" y="180"/>
                    </a:lnTo>
                    <a:lnTo>
                      <a:pt x="352" y="178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5" y="178"/>
                    </a:lnTo>
                    <a:lnTo>
                      <a:pt x="355" y="177"/>
                    </a:lnTo>
                    <a:lnTo>
                      <a:pt x="357" y="177"/>
                    </a:lnTo>
                    <a:lnTo>
                      <a:pt x="357" y="177"/>
                    </a:lnTo>
                    <a:lnTo>
                      <a:pt x="358" y="177"/>
                    </a:lnTo>
                    <a:lnTo>
                      <a:pt x="358" y="175"/>
                    </a:lnTo>
                    <a:lnTo>
                      <a:pt x="359" y="175"/>
                    </a:lnTo>
                    <a:lnTo>
                      <a:pt x="359" y="175"/>
                    </a:lnTo>
                    <a:lnTo>
                      <a:pt x="361" y="174"/>
                    </a:lnTo>
                    <a:lnTo>
                      <a:pt x="362" y="174"/>
                    </a:lnTo>
                    <a:lnTo>
                      <a:pt x="362" y="174"/>
                    </a:lnTo>
                    <a:lnTo>
                      <a:pt x="364" y="172"/>
                    </a:lnTo>
                    <a:lnTo>
                      <a:pt x="365" y="172"/>
                    </a:lnTo>
                    <a:lnTo>
                      <a:pt x="367" y="171"/>
                    </a:lnTo>
                    <a:lnTo>
                      <a:pt x="367" y="171"/>
                    </a:lnTo>
                    <a:lnTo>
                      <a:pt x="368" y="171"/>
                    </a:lnTo>
                    <a:lnTo>
                      <a:pt x="368" y="169"/>
                    </a:lnTo>
                    <a:lnTo>
                      <a:pt x="370" y="169"/>
                    </a:lnTo>
                    <a:lnTo>
                      <a:pt x="371" y="169"/>
                    </a:lnTo>
                    <a:lnTo>
                      <a:pt x="371" y="168"/>
                    </a:lnTo>
                    <a:lnTo>
                      <a:pt x="373" y="168"/>
                    </a:lnTo>
                    <a:lnTo>
                      <a:pt x="374" y="168"/>
                    </a:lnTo>
                    <a:lnTo>
                      <a:pt x="374" y="166"/>
                    </a:lnTo>
                    <a:lnTo>
                      <a:pt x="376" y="166"/>
                    </a:lnTo>
                    <a:lnTo>
                      <a:pt x="376" y="166"/>
                    </a:lnTo>
                    <a:lnTo>
                      <a:pt x="377" y="165"/>
                    </a:lnTo>
                    <a:lnTo>
                      <a:pt x="377" y="165"/>
                    </a:lnTo>
                    <a:lnTo>
                      <a:pt x="379" y="165"/>
                    </a:lnTo>
                    <a:lnTo>
                      <a:pt x="379" y="165"/>
                    </a:lnTo>
                    <a:lnTo>
                      <a:pt x="379" y="163"/>
                    </a:lnTo>
                    <a:lnTo>
                      <a:pt x="380" y="163"/>
                    </a:lnTo>
                    <a:lnTo>
                      <a:pt x="380" y="163"/>
                    </a:lnTo>
                    <a:lnTo>
                      <a:pt x="382" y="163"/>
                    </a:lnTo>
                    <a:lnTo>
                      <a:pt x="382" y="162"/>
                    </a:lnTo>
                    <a:lnTo>
                      <a:pt x="382" y="162"/>
                    </a:lnTo>
                    <a:lnTo>
                      <a:pt x="383" y="162"/>
                    </a:lnTo>
                    <a:lnTo>
                      <a:pt x="383" y="162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6" y="160"/>
                    </a:lnTo>
                    <a:lnTo>
                      <a:pt x="386" y="159"/>
                    </a:lnTo>
                    <a:lnTo>
                      <a:pt x="388" y="159"/>
                    </a:lnTo>
                    <a:lnTo>
                      <a:pt x="388" y="159"/>
                    </a:lnTo>
                    <a:lnTo>
                      <a:pt x="389" y="157"/>
                    </a:lnTo>
                    <a:lnTo>
                      <a:pt x="389" y="157"/>
                    </a:lnTo>
                    <a:lnTo>
                      <a:pt x="391" y="157"/>
                    </a:lnTo>
                    <a:lnTo>
                      <a:pt x="391" y="156"/>
                    </a:lnTo>
                    <a:lnTo>
                      <a:pt x="391" y="156"/>
                    </a:lnTo>
                    <a:lnTo>
                      <a:pt x="392" y="156"/>
                    </a:lnTo>
                    <a:lnTo>
                      <a:pt x="394" y="154"/>
                    </a:lnTo>
                    <a:lnTo>
                      <a:pt x="394" y="154"/>
                    </a:lnTo>
                    <a:lnTo>
                      <a:pt x="395" y="153"/>
                    </a:lnTo>
                    <a:lnTo>
                      <a:pt x="397" y="153"/>
                    </a:lnTo>
                    <a:lnTo>
                      <a:pt x="397" y="153"/>
                    </a:lnTo>
                    <a:lnTo>
                      <a:pt x="398" y="153"/>
                    </a:lnTo>
                    <a:lnTo>
                      <a:pt x="398" y="151"/>
                    </a:lnTo>
                    <a:lnTo>
                      <a:pt x="398" y="151"/>
                    </a:lnTo>
                    <a:lnTo>
                      <a:pt x="399" y="151"/>
                    </a:lnTo>
                    <a:lnTo>
                      <a:pt x="399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1" y="150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4" y="148"/>
                    </a:lnTo>
                    <a:lnTo>
                      <a:pt x="404" y="148"/>
                    </a:lnTo>
                    <a:lnTo>
                      <a:pt x="404" y="147"/>
                    </a:lnTo>
                    <a:lnTo>
                      <a:pt x="405" y="147"/>
                    </a:lnTo>
                    <a:lnTo>
                      <a:pt x="405" y="147"/>
                    </a:lnTo>
                    <a:lnTo>
                      <a:pt x="405" y="147"/>
                    </a:lnTo>
                    <a:lnTo>
                      <a:pt x="405" y="145"/>
                    </a:lnTo>
                    <a:lnTo>
                      <a:pt x="407" y="145"/>
                    </a:lnTo>
                    <a:lnTo>
                      <a:pt x="407" y="145"/>
                    </a:lnTo>
                    <a:lnTo>
                      <a:pt x="408" y="144"/>
                    </a:lnTo>
                    <a:lnTo>
                      <a:pt x="408" y="144"/>
                    </a:lnTo>
                    <a:lnTo>
                      <a:pt x="408" y="144"/>
                    </a:lnTo>
                    <a:lnTo>
                      <a:pt x="410" y="142"/>
                    </a:lnTo>
                    <a:lnTo>
                      <a:pt x="410" y="142"/>
                    </a:lnTo>
                    <a:lnTo>
                      <a:pt x="410" y="142"/>
                    </a:lnTo>
                    <a:lnTo>
                      <a:pt x="411" y="142"/>
                    </a:lnTo>
                    <a:lnTo>
                      <a:pt x="411" y="141"/>
                    </a:lnTo>
                    <a:lnTo>
                      <a:pt x="413" y="141"/>
                    </a:lnTo>
                    <a:lnTo>
                      <a:pt x="413" y="141"/>
                    </a:lnTo>
                    <a:lnTo>
                      <a:pt x="413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7" y="138"/>
                    </a:lnTo>
                    <a:lnTo>
                      <a:pt x="417" y="138"/>
                    </a:lnTo>
                    <a:lnTo>
                      <a:pt x="417" y="137"/>
                    </a:lnTo>
                    <a:lnTo>
                      <a:pt x="417" y="137"/>
                    </a:lnTo>
                    <a:lnTo>
                      <a:pt x="419" y="137"/>
                    </a:lnTo>
                    <a:lnTo>
                      <a:pt x="419" y="137"/>
                    </a:lnTo>
                    <a:lnTo>
                      <a:pt x="419" y="137"/>
                    </a:lnTo>
                    <a:lnTo>
                      <a:pt x="419" y="135"/>
                    </a:lnTo>
                    <a:lnTo>
                      <a:pt x="420" y="135"/>
                    </a:lnTo>
                    <a:lnTo>
                      <a:pt x="420" y="135"/>
                    </a:lnTo>
                    <a:lnTo>
                      <a:pt x="420" y="135"/>
                    </a:lnTo>
                    <a:lnTo>
                      <a:pt x="422" y="135"/>
                    </a:lnTo>
                    <a:lnTo>
                      <a:pt x="422" y="134"/>
                    </a:lnTo>
                    <a:lnTo>
                      <a:pt x="422" y="134"/>
                    </a:lnTo>
                    <a:lnTo>
                      <a:pt x="423" y="134"/>
                    </a:lnTo>
                    <a:lnTo>
                      <a:pt x="423" y="134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6" y="131"/>
                    </a:lnTo>
                    <a:lnTo>
                      <a:pt x="426" y="131"/>
                    </a:lnTo>
                    <a:lnTo>
                      <a:pt x="426" y="131"/>
                    </a:lnTo>
                    <a:lnTo>
                      <a:pt x="428" y="131"/>
                    </a:lnTo>
                    <a:lnTo>
                      <a:pt x="429" y="129"/>
                    </a:lnTo>
                    <a:lnTo>
                      <a:pt x="429" y="129"/>
                    </a:lnTo>
                    <a:lnTo>
                      <a:pt x="429" y="128"/>
                    </a:lnTo>
                    <a:lnTo>
                      <a:pt x="431" y="128"/>
                    </a:lnTo>
                    <a:lnTo>
                      <a:pt x="431" y="128"/>
                    </a:lnTo>
                    <a:lnTo>
                      <a:pt x="432" y="128"/>
                    </a:lnTo>
                    <a:lnTo>
                      <a:pt x="432" y="126"/>
                    </a:lnTo>
                    <a:lnTo>
                      <a:pt x="432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5"/>
                    </a:lnTo>
                    <a:lnTo>
                      <a:pt x="435" y="125"/>
                    </a:lnTo>
                    <a:lnTo>
                      <a:pt x="435" y="125"/>
                    </a:lnTo>
                    <a:lnTo>
                      <a:pt x="435" y="125"/>
                    </a:lnTo>
                    <a:lnTo>
                      <a:pt x="436" y="123"/>
                    </a:lnTo>
                    <a:lnTo>
                      <a:pt x="436" y="123"/>
                    </a:lnTo>
                    <a:lnTo>
                      <a:pt x="436" y="123"/>
                    </a:lnTo>
                    <a:lnTo>
                      <a:pt x="436" y="123"/>
                    </a:lnTo>
                    <a:lnTo>
                      <a:pt x="438" y="122"/>
                    </a:lnTo>
                    <a:lnTo>
                      <a:pt x="438" y="122"/>
                    </a:lnTo>
                    <a:lnTo>
                      <a:pt x="438" y="122"/>
                    </a:lnTo>
                    <a:lnTo>
                      <a:pt x="439" y="120"/>
                    </a:lnTo>
                    <a:lnTo>
                      <a:pt x="439" y="120"/>
                    </a:lnTo>
                    <a:lnTo>
                      <a:pt x="439" y="120"/>
                    </a:lnTo>
                    <a:lnTo>
                      <a:pt x="441" y="119"/>
                    </a:lnTo>
                    <a:lnTo>
                      <a:pt x="441" y="119"/>
                    </a:lnTo>
                    <a:lnTo>
                      <a:pt x="442" y="117"/>
                    </a:lnTo>
                    <a:lnTo>
                      <a:pt x="442" y="117"/>
                    </a:lnTo>
                    <a:lnTo>
                      <a:pt x="444" y="116"/>
                    </a:lnTo>
                    <a:lnTo>
                      <a:pt x="444" y="116"/>
                    </a:lnTo>
                    <a:lnTo>
                      <a:pt x="445" y="114"/>
                    </a:lnTo>
                    <a:lnTo>
                      <a:pt x="445" y="114"/>
                    </a:lnTo>
                    <a:lnTo>
                      <a:pt x="445" y="113"/>
                    </a:lnTo>
                    <a:lnTo>
                      <a:pt x="447" y="113"/>
                    </a:lnTo>
                    <a:lnTo>
                      <a:pt x="448" y="111"/>
                    </a:lnTo>
                    <a:lnTo>
                      <a:pt x="448" y="111"/>
                    </a:lnTo>
                    <a:lnTo>
                      <a:pt x="448" y="110"/>
                    </a:lnTo>
                    <a:lnTo>
                      <a:pt x="450" y="110"/>
                    </a:lnTo>
                    <a:lnTo>
                      <a:pt x="450" y="108"/>
                    </a:lnTo>
                    <a:lnTo>
                      <a:pt x="451" y="108"/>
                    </a:lnTo>
                    <a:lnTo>
                      <a:pt x="451" y="108"/>
                    </a:lnTo>
                    <a:lnTo>
                      <a:pt x="451" y="107"/>
                    </a:lnTo>
                    <a:lnTo>
                      <a:pt x="453" y="107"/>
                    </a:lnTo>
                    <a:lnTo>
                      <a:pt x="453" y="105"/>
                    </a:lnTo>
                    <a:lnTo>
                      <a:pt x="453" y="105"/>
                    </a:lnTo>
                    <a:lnTo>
                      <a:pt x="454" y="105"/>
                    </a:lnTo>
                    <a:lnTo>
                      <a:pt x="454" y="104"/>
                    </a:lnTo>
                    <a:lnTo>
                      <a:pt x="454" y="104"/>
                    </a:lnTo>
                    <a:lnTo>
                      <a:pt x="456" y="104"/>
                    </a:lnTo>
                    <a:lnTo>
                      <a:pt x="456" y="103"/>
                    </a:lnTo>
                    <a:lnTo>
                      <a:pt x="456" y="103"/>
                    </a:lnTo>
                    <a:lnTo>
                      <a:pt x="457" y="101"/>
                    </a:lnTo>
                    <a:lnTo>
                      <a:pt x="457" y="101"/>
                    </a:lnTo>
                    <a:lnTo>
                      <a:pt x="459" y="101"/>
                    </a:lnTo>
                    <a:lnTo>
                      <a:pt x="459" y="100"/>
                    </a:lnTo>
                    <a:lnTo>
                      <a:pt x="459" y="100"/>
                    </a:lnTo>
                    <a:lnTo>
                      <a:pt x="460" y="98"/>
                    </a:lnTo>
                    <a:lnTo>
                      <a:pt x="460" y="98"/>
                    </a:lnTo>
                    <a:lnTo>
                      <a:pt x="462" y="97"/>
                    </a:lnTo>
                    <a:lnTo>
                      <a:pt x="462" y="95"/>
                    </a:lnTo>
                    <a:lnTo>
                      <a:pt x="463" y="95"/>
                    </a:lnTo>
                    <a:lnTo>
                      <a:pt x="463" y="94"/>
                    </a:lnTo>
                    <a:lnTo>
                      <a:pt x="465" y="92"/>
                    </a:lnTo>
                    <a:lnTo>
                      <a:pt x="466" y="91"/>
                    </a:lnTo>
                    <a:lnTo>
                      <a:pt x="466" y="91"/>
                    </a:lnTo>
                    <a:lnTo>
                      <a:pt x="466" y="89"/>
                    </a:lnTo>
                    <a:lnTo>
                      <a:pt x="468" y="89"/>
                    </a:lnTo>
                    <a:lnTo>
                      <a:pt x="469" y="88"/>
                    </a:lnTo>
                    <a:lnTo>
                      <a:pt x="469" y="86"/>
                    </a:lnTo>
                    <a:lnTo>
                      <a:pt x="471" y="86"/>
                    </a:lnTo>
                    <a:lnTo>
                      <a:pt x="471" y="85"/>
                    </a:lnTo>
                    <a:lnTo>
                      <a:pt x="472" y="83"/>
                    </a:lnTo>
                    <a:lnTo>
                      <a:pt x="472" y="83"/>
                    </a:lnTo>
                    <a:lnTo>
                      <a:pt x="474" y="82"/>
                    </a:lnTo>
                    <a:lnTo>
                      <a:pt x="474" y="82"/>
                    </a:lnTo>
                    <a:lnTo>
                      <a:pt x="474" y="80"/>
                    </a:lnTo>
                    <a:lnTo>
                      <a:pt x="475" y="80"/>
                    </a:lnTo>
                    <a:lnTo>
                      <a:pt x="475" y="79"/>
                    </a:lnTo>
                    <a:lnTo>
                      <a:pt x="476" y="79"/>
                    </a:lnTo>
                    <a:lnTo>
                      <a:pt x="476" y="79"/>
                    </a:lnTo>
                    <a:lnTo>
                      <a:pt x="476" y="77"/>
                    </a:lnTo>
                    <a:lnTo>
                      <a:pt x="478" y="77"/>
                    </a:lnTo>
                    <a:lnTo>
                      <a:pt x="478" y="76"/>
                    </a:lnTo>
                    <a:lnTo>
                      <a:pt x="478" y="76"/>
                    </a:lnTo>
                    <a:lnTo>
                      <a:pt x="479" y="74"/>
                    </a:lnTo>
                    <a:lnTo>
                      <a:pt x="479" y="74"/>
                    </a:lnTo>
                    <a:lnTo>
                      <a:pt x="479" y="73"/>
                    </a:lnTo>
                    <a:lnTo>
                      <a:pt x="481" y="73"/>
                    </a:lnTo>
                    <a:lnTo>
                      <a:pt x="481" y="71"/>
                    </a:lnTo>
                    <a:lnTo>
                      <a:pt x="482" y="70"/>
                    </a:lnTo>
                    <a:lnTo>
                      <a:pt x="482" y="70"/>
                    </a:lnTo>
                    <a:lnTo>
                      <a:pt x="484" y="68"/>
                    </a:lnTo>
                    <a:lnTo>
                      <a:pt x="484" y="67"/>
                    </a:lnTo>
                    <a:lnTo>
                      <a:pt x="485" y="66"/>
                    </a:lnTo>
                    <a:lnTo>
                      <a:pt x="485" y="66"/>
                    </a:lnTo>
                    <a:lnTo>
                      <a:pt x="487" y="64"/>
                    </a:lnTo>
                    <a:lnTo>
                      <a:pt x="488" y="63"/>
                    </a:lnTo>
                    <a:lnTo>
                      <a:pt x="488" y="63"/>
                    </a:lnTo>
                    <a:lnTo>
                      <a:pt x="488" y="61"/>
                    </a:lnTo>
                    <a:lnTo>
                      <a:pt x="490" y="60"/>
                    </a:lnTo>
                    <a:lnTo>
                      <a:pt x="491" y="58"/>
                    </a:lnTo>
                    <a:lnTo>
                      <a:pt x="491" y="57"/>
                    </a:lnTo>
                    <a:lnTo>
                      <a:pt x="493" y="55"/>
                    </a:lnTo>
                    <a:lnTo>
                      <a:pt x="493" y="55"/>
                    </a:lnTo>
                    <a:lnTo>
                      <a:pt x="494" y="54"/>
                    </a:lnTo>
                    <a:lnTo>
                      <a:pt x="494" y="54"/>
                    </a:lnTo>
                    <a:lnTo>
                      <a:pt x="496" y="52"/>
                    </a:lnTo>
                    <a:lnTo>
                      <a:pt x="496" y="51"/>
                    </a:lnTo>
                    <a:lnTo>
                      <a:pt x="496" y="51"/>
                    </a:lnTo>
                    <a:lnTo>
                      <a:pt x="497" y="49"/>
                    </a:lnTo>
                    <a:lnTo>
                      <a:pt x="497" y="49"/>
                    </a:lnTo>
                    <a:lnTo>
                      <a:pt x="499" y="48"/>
                    </a:lnTo>
                    <a:lnTo>
                      <a:pt x="499" y="48"/>
                    </a:lnTo>
                    <a:lnTo>
                      <a:pt x="499" y="46"/>
                    </a:lnTo>
                    <a:lnTo>
                      <a:pt x="500" y="46"/>
                    </a:lnTo>
                    <a:lnTo>
                      <a:pt x="500" y="45"/>
                    </a:lnTo>
                    <a:lnTo>
                      <a:pt x="500" y="45"/>
                    </a:lnTo>
                    <a:lnTo>
                      <a:pt x="502" y="43"/>
                    </a:lnTo>
                    <a:lnTo>
                      <a:pt x="502" y="43"/>
                    </a:lnTo>
                    <a:lnTo>
                      <a:pt x="503" y="42"/>
                    </a:lnTo>
                    <a:lnTo>
                      <a:pt x="503" y="42"/>
                    </a:lnTo>
                    <a:lnTo>
                      <a:pt x="503" y="40"/>
                    </a:lnTo>
                    <a:lnTo>
                      <a:pt x="505" y="39"/>
                    </a:lnTo>
                    <a:lnTo>
                      <a:pt x="505" y="39"/>
                    </a:lnTo>
                    <a:lnTo>
                      <a:pt x="506" y="37"/>
                    </a:lnTo>
                    <a:lnTo>
                      <a:pt x="508" y="36"/>
                    </a:lnTo>
                    <a:lnTo>
                      <a:pt x="508" y="34"/>
                    </a:lnTo>
                    <a:lnTo>
                      <a:pt x="509" y="33"/>
                    </a:lnTo>
                    <a:lnTo>
                      <a:pt x="509" y="31"/>
                    </a:lnTo>
                    <a:lnTo>
                      <a:pt x="511" y="30"/>
                    </a:lnTo>
                    <a:lnTo>
                      <a:pt x="511" y="30"/>
                    </a:lnTo>
                    <a:lnTo>
                      <a:pt x="512" y="28"/>
                    </a:lnTo>
                    <a:lnTo>
                      <a:pt x="513" y="28"/>
                    </a:lnTo>
                    <a:lnTo>
                      <a:pt x="513" y="27"/>
                    </a:lnTo>
                    <a:lnTo>
                      <a:pt x="515" y="26"/>
                    </a:lnTo>
                    <a:lnTo>
                      <a:pt x="515" y="24"/>
                    </a:lnTo>
                    <a:lnTo>
                      <a:pt x="516" y="23"/>
                    </a:lnTo>
                    <a:lnTo>
                      <a:pt x="516" y="23"/>
                    </a:lnTo>
                    <a:lnTo>
                      <a:pt x="518" y="21"/>
                    </a:lnTo>
                    <a:lnTo>
                      <a:pt x="518" y="20"/>
                    </a:lnTo>
                    <a:lnTo>
                      <a:pt x="519" y="20"/>
                    </a:lnTo>
                    <a:lnTo>
                      <a:pt x="519" y="18"/>
                    </a:lnTo>
                    <a:lnTo>
                      <a:pt x="519" y="18"/>
                    </a:lnTo>
                    <a:lnTo>
                      <a:pt x="521" y="17"/>
                    </a:lnTo>
                    <a:lnTo>
                      <a:pt x="521" y="17"/>
                    </a:lnTo>
                    <a:lnTo>
                      <a:pt x="521" y="15"/>
                    </a:lnTo>
                    <a:lnTo>
                      <a:pt x="522" y="15"/>
                    </a:lnTo>
                    <a:lnTo>
                      <a:pt x="522" y="14"/>
                    </a:lnTo>
                    <a:lnTo>
                      <a:pt x="522" y="14"/>
                    </a:lnTo>
                    <a:lnTo>
                      <a:pt x="524" y="12"/>
                    </a:lnTo>
                    <a:lnTo>
                      <a:pt x="524" y="12"/>
                    </a:lnTo>
                    <a:lnTo>
                      <a:pt x="524" y="11"/>
                    </a:lnTo>
                    <a:lnTo>
                      <a:pt x="525" y="11"/>
                    </a:lnTo>
                    <a:lnTo>
                      <a:pt x="525" y="9"/>
                    </a:lnTo>
                    <a:lnTo>
                      <a:pt x="525" y="9"/>
                    </a:lnTo>
                    <a:lnTo>
                      <a:pt x="525" y="8"/>
                    </a:lnTo>
                    <a:lnTo>
                      <a:pt x="527" y="8"/>
                    </a:lnTo>
                    <a:lnTo>
                      <a:pt x="527" y="6"/>
                    </a:lnTo>
                    <a:lnTo>
                      <a:pt x="528" y="5"/>
                    </a:lnTo>
                    <a:lnTo>
                      <a:pt x="528" y="5"/>
                    </a:lnTo>
                    <a:lnTo>
                      <a:pt x="528" y="3"/>
                    </a:lnTo>
                    <a:lnTo>
                      <a:pt x="530" y="2"/>
                    </a:lnTo>
                    <a:lnTo>
                      <a:pt x="530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1" name="Freeform 294"/>
              <p:cNvSpPr>
                <a:spLocks/>
              </p:cNvSpPr>
              <p:nvPr/>
            </p:nvSpPr>
            <p:spPr bwMode="auto">
              <a:xfrm>
                <a:off x="2669" y="2767"/>
                <a:ext cx="176" cy="70"/>
              </a:xfrm>
              <a:custGeom>
                <a:avLst/>
                <a:gdLst>
                  <a:gd name="T0" fmla="*/ 103 w 530"/>
                  <a:gd name="T1" fmla="*/ 0 h 211"/>
                  <a:gd name="T2" fmla="*/ 177 w 530"/>
                  <a:gd name="T3" fmla="*/ 0 h 211"/>
                  <a:gd name="T4" fmla="*/ 214 w 530"/>
                  <a:gd name="T5" fmla="*/ 0 h 211"/>
                  <a:gd name="T6" fmla="*/ 231 w 530"/>
                  <a:gd name="T7" fmla="*/ 1 h 211"/>
                  <a:gd name="T8" fmla="*/ 240 w 530"/>
                  <a:gd name="T9" fmla="*/ 1 h 211"/>
                  <a:gd name="T10" fmla="*/ 248 w 530"/>
                  <a:gd name="T11" fmla="*/ 1 h 211"/>
                  <a:gd name="T12" fmla="*/ 254 w 530"/>
                  <a:gd name="T13" fmla="*/ 3 h 211"/>
                  <a:gd name="T14" fmla="*/ 259 w 530"/>
                  <a:gd name="T15" fmla="*/ 3 h 211"/>
                  <a:gd name="T16" fmla="*/ 266 w 530"/>
                  <a:gd name="T17" fmla="*/ 4 h 211"/>
                  <a:gd name="T18" fmla="*/ 274 w 530"/>
                  <a:gd name="T19" fmla="*/ 6 h 211"/>
                  <a:gd name="T20" fmla="*/ 281 w 530"/>
                  <a:gd name="T21" fmla="*/ 6 h 211"/>
                  <a:gd name="T22" fmla="*/ 287 w 530"/>
                  <a:gd name="T23" fmla="*/ 7 h 211"/>
                  <a:gd name="T24" fmla="*/ 293 w 530"/>
                  <a:gd name="T25" fmla="*/ 9 h 211"/>
                  <a:gd name="T26" fmla="*/ 302 w 530"/>
                  <a:gd name="T27" fmla="*/ 11 h 211"/>
                  <a:gd name="T28" fmla="*/ 311 w 530"/>
                  <a:gd name="T29" fmla="*/ 14 h 211"/>
                  <a:gd name="T30" fmla="*/ 318 w 530"/>
                  <a:gd name="T31" fmla="*/ 17 h 211"/>
                  <a:gd name="T32" fmla="*/ 324 w 530"/>
                  <a:gd name="T33" fmla="*/ 19 h 211"/>
                  <a:gd name="T34" fmla="*/ 330 w 530"/>
                  <a:gd name="T35" fmla="*/ 22 h 211"/>
                  <a:gd name="T36" fmla="*/ 337 w 530"/>
                  <a:gd name="T37" fmla="*/ 25 h 211"/>
                  <a:gd name="T38" fmla="*/ 345 w 530"/>
                  <a:gd name="T39" fmla="*/ 29 h 211"/>
                  <a:gd name="T40" fmla="*/ 351 w 530"/>
                  <a:gd name="T41" fmla="*/ 32 h 211"/>
                  <a:gd name="T42" fmla="*/ 357 w 530"/>
                  <a:gd name="T43" fmla="*/ 35 h 211"/>
                  <a:gd name="T44" fmla="*/ 362 w 530"/>
                  <a:gd name="T45" fmla="*/ 38 h 211"/>
                  <a:gd name="T46" fmla="*/ 368 w 530"/>
                  <a:gd name="T47" fmla="*/ 43 h 211"/>
                  <a:gd name="T48" fmla="*/ 376 w 530"/>
                  <a:gd name="T49" fmla="*/ 46 h 211"/>
                  <a:gd name="T50" fmla="*/ 380 w 530"/>
                  <a:gd name="T51" fmla="*/ 49 h 211"/>
                  <a:gd name="T52" fmla="*/ 385 w 530"/>
                  <a:gd name="T53" fmla="*/ 51 h 211"/>
                  <a:gd name="T54" fmla="*/ 389 w 530"/>
                  <a:gd name="T55" fmla="*/ 54 h 211"/>
                  <a:gd name="T56" fmla="*/ 395 w 530"/>
                  <a:gd name="T57" fmla="*/ 59 h 211"/>
                  <a:gd name="T58" fmla="*/ 399 w 530"/>
                  <a:gd name="T59" fmla="*/ 62 h 211"/>
                  <a:gd name="T60" fmla="*/ 402 w 530"/>
                  <a:gd name="T61" fmla="*/ 63 h 211"/>
                  <a:gd name="T62" fmla="*/ 405 w 530"/>
                  <a:gd name="T63" fmla="*/ 66 h 211"/>
                  <a:gd name="T64" fmla="*/ 410 w 530"/>
                  <a:gd name="T65" fmla="*/ 69 h 211"/>
                  <a:gd name="T66" fmla="*/ 414 w 530"/>
                  <a:gd name="T67" fmla="*/ 72 h 211"/>
                  <a:gd name="T68" fmla="*/ 417 w 530"/>
                  <a:gd name="T69" fmla="*/ 75 h 211"/>
                  <a:gd name="T70" fmla="*/ 420 w 530"/>
                  <a:gd name="T71" fmla="*/ 77 h 211"/>
                  <a:gd name="T72" fmla="*/ 423 w 530"/>
                  <a:gd name="T73" fmla="*/ 80 h 211"/>
                  <a:gd name="T74" fmla="*/ 428 w 530"/>
                  <a:gd name="T75" fmla="*/ 83 h 211"/>
                  <a:gd name="T76" fmla="*/ 432 w 530"/>
                  <a:gd name="T77" fmla="*/ 86 h 211"/>
                  <a:gd name="T78" fmla="*/ 435 w 530"/>
                  <a:gd name="T79" fmla="*/ 88 h 211"/>
                  <a:gd name="T80" fmla="*/ 438 w 530"/>
                  <a:gd name="T81" fmla="*/ 91 h 211"/>
                  <a:gd name="T82" fmla="*/ 442 w 530"/>
                  <a:gd name="T83" fmla="*/ 96 h 211"/>
                  <a:gd name="T84" fmla="*/ 448 w 530"/>
                  <a:gd name="T85" fmla="*/ 100 h 211"/>
                  <a:gd name="T86" fmla="*/ 451 w 530"/>
                  <a:gd name="T87" fmla="*/ 105 h 211"/>
                  <a:gd name="T88" fmla="*/ 456 w 530"/>
                  <a:gd name="T89" fmla="*/ 109 h 211"/>
                  <a:gd name="T90" fmla="*/ 459 w 530"/>
                  <a:gd name="T91" fmla="*/ 114 h 211"/>
                  <a:gd name="T92" fmla="*/ 465 w 530"/>
                  <a:gd name="T93" fmla="*/ 120 h 211"/>
                  <a:gd name="T94" fmla="*/ 471 w 530"/>
                  <a:gd name="T95" fmla="*/ 127 h 211"/>
                  <a:gd name="T96" fmla="*/ 475 w 530"/>
                  <a:gd name="T97" fmla="*/ 131 h 211"/>
                  <a:gd name="T98" fmla="*/ 478 w 530"/>
                  <a:gd name="T99" fmla="*/ 137 h 211"/>
                  <a:gd name="T100" fmla="*/ 482 w 530"/>
                  <a:gd name="T101" fmla="*/ 143 h 211"/>
                  <a:gd name="T102" fmla="*/ 488 w 530"/>
                  <a:gd name="T103" fmla="*/ 149 h 211"/>
                  <a:gd name="T104" fmla="*/ 494 w 530"/>
                  <a:gd name="T105" fmla="*/ 158 h 211"/>
                  <a:gd name="T106" fmla="*/ 499 w 530"/>
                  <a:gd name="T107" fmla="*/ 164 h 211"/>
                  <a:gd name="T108" fmla="*/ 502 w 530"/>
                  <a:gd name="T109" fmla="*/ 170 h 211"/>
                  <a:gd name="T110" fmla="*/ 508 w 530"/>
                  <a:gd name="T111" fmla="*/ 176 h 211"/>
                  <a:gd name="T112" fmla="*/ 513 w 530"/>
                  <a:gd name="T113" fmla="*/ 185 h 211"/>
                  <a:gd name="T114" fmla="*/ 518 w 530"/>
                  <a:gd name="T115" fmla="*/ 192 h 211"/>
                  <a:gd name="T116" fmla="*/ 522 w 530"/>
                  <a:gd name="T117" fmla="*/ 197 h 211"/>
                  <a:gd name="T118" fmla="*/ 525 w 530"/>
                  <a:gd name="T119" fmla="*/ 202 h 211"/>
                  <a:gd name="T120" fmla="*/ 528 w 530"/>
                  <a:gd name="T121" fmla="*/ 208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1">
                    <a:moveTo>
                      <a:pt x="0" y="0"/>
                    </a:moveTo>
                    <a:lnTo>
                      <a:pt x="19" y="0"/>
                    </a:lnTo>
                    <a:lnTo>
                      <a:pt x="38" y="0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88" y="0"/>
                    </a:lnTo>
                    <a:lnTo>
                      <a:pt x="103" y="0"/>
                    </a:lnTo>
                    <a:lnTo>
                      <a:pt x="117" y="0"/>
                    </a:lnTo>
                    <a:lnTo>
                      <a:pt x="128" y="0"/>
                    </a:lnTo>
                    <a:lnTo>
                      <a:pt x="140" y="0"/>
                    </a:lnTo>
                    <a:lnTo>
                      <a:pt x="151" y="0"/>
                    </a:lnTo>
                    <a:lnTo>
                      <a:pt x="160" y="0"/>
                    </a:lnTo>
                    <a:lnTo>
                      <a:pt x="168" y="0"/>
                    </a:lnTo>
                    <a:lnTo>
                      <a:pt x="177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7" y="0"/>
                    </a:lnTo>
                    <a:lnTo>
                      <a:pt x="211" y="0"/>
                    </a:lnTo>
                    <a:lnTo>
                      <a:pt x="214" y="0"/>
                    </a:lnTo>
                    <a:lnTo>
                      <a:pt x="217" y="1"/>
                    </a:lnTo>
                    <a:lnTo>
                      <a:pt x="220" y="1"/>
                    </a:lnTo>
                    <a:lnTo>
                      <a:pt x="223" y="1"/>
                    </a:lnTo>
                    <a:lnTo>
                      <a:pt x="226" y="1"/>
                    </a:lnTo>
                    <a:lnTo>
                      <a:pt x="228" y="1"/>
                    </a:lnTo>
                    <a:lnTo>
                      <a:pt x="229" y="1"/>
                    </a:lnTo>
                    <a:lnTo>
                      <a:pt x="231" y="1"/>
                    </a:lnTo>
                    <a:lnTo>
                      <a:pt x="232" y="1"/>
                    </a:lnTo>
                    <a:lnTo>
                      <a:pt x="234" y="1"/>
                    </a:lnTo>
                    <a:lnTo>
                      <a:pt x="235" y="1"/>
                    </a:lnTo>
                    <a:lnTo>
                      <a:pt x="237" y="1"/>
                    </a:lnTo>
                    <a:lnTo>
                      <a:pt x="238" y="1"/>
                    </a:lnTo>
                    <a:lnTo>
                      <a:pt x="238" y="1"/>
                    </a:lnTo>
                    <a:lnTo>
                      <a:pt x="240" y="1"/>
                    </a:lnTo>
                    <a:lnTo>
                      <a:pt x="241" y="1"/>
                    </a:lnTo>
                    <a:lnTo>
                      <a:pt x="242" y="1"/>
                    </a:lnTo>
                    <a:lnTo>
                      <a:pt x="244" y="1"/>
                    </a:lnTo>
                    <a:lnTo>
                      <a:pt x="245" y="1"/>
                    </a:lnTo>
                    <a:lnTo>
                      <a:pt x="245" y="1"/>
                    </a:lnTo>
                    <a:lnTo>
                      <a:pt x="247" y="1"/>
                    </a:lnTo>
                    <a:lnTo>
                      <a:pt x="248" y="1"/>
                    </a:lnTo>
                    <a:lnTo>
                      <a:pt x="248" y="3"/>
                    </a:lnTo>
                    <a:lnTo>
                      <a:pt x="250" y="3"/>
                    </a:lnTo>
                    <a:lnTo>
                      <a:pt x="251" y="3"/>
                    </a:lnTo>
                    <a:lnTo>
                      <a:pt x="251" y="3"/>
                    </a:lnTo>
                    <a:lnTo>
                      <a:pt x="253" y="3"/>
                    </a:lnTo>
                    <a:lnTo>
                      <a:pt x="253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6" y="3"/>
                    </a:lnTo>
                    <a:lnTo>
                      <a:pt x="256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9" y="3"/>
                    </a:lnTo>
                    <a:lnTo>
                      <a:pt x="259" y="3"/>
                    </a:lnTo>
                    <a:lnTo>
                      <a:pt x="260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3" y="4"/>
                    </a:lnTo>
                    <a:lnTo>
                      <a:pt x="265" y="4"/>
                    </a:lnTo>
                    <a:lnTo>
                      <a:pt x="265" y="4"/>
                    </a:lnTo>
                    <a:lnTo>
                      <a:pt x="266" y="4"/>
                    </a:lnTo>
                    <a:lnTo>
                      <a:pt x="268" y="4"/>
                    </a:lnTo>
                    <a:lnTo>
                      <a:pt x="269" y="4"/>
                    </a:lnTo>
                    <a:lnTo>
                      <a:pt x="271" y="4"/>
                    </a:lnTo>
                    <a:lnTo>
                      <a:pt x="271" y="4"/>
                    </a:lnTo>
                    <a:lnTo>
                      <a:pt x="272" y="4"/>
                    </a:lnTo>
                    <a:lnTo>
                      <a:pt x="274" y="6"/>
                    </a:lnTo>
                    <a:lnTo>
                      <a:pt x="274" y="6"/>
                    </a:lnTo>
                    <a:lnTo>
                      <a:pt x="275" y="6"/>
                    </a:lnTo>
                    <a:lnTo>
                      <a:pt x="277" y="6"/>
                    </a:lnTo>
                    <a:lnTo>
                      <a:pt x="278" y="6"/>
                    </a:lnTo>
                    <a:lnTo>
                      <a:pt x="278" y="6"/>
                    </a:lnTo>
                    <a:lnTo>
                      <a:pt x="280" y="6"/>
                    </a:lnTo>
                    <a:lnTo>
                      <a:pt x="281" y="6"/>
                    </a:lnTo>
                    <a:lnTo>
                      <a:pt x="281" y="6"/>
                    </a:lnTo>
                    <a:lnTo>
                      <a:pt x="282" y="6"/>
                    </a:lnTo>
                    <a:lnTo>
                      <a:pt x="282" y="7"/>
                    </a:lnTo>
                    <a:lnTo>
                      <a:pt x="284" y="7"/>
                    </a:lnTo>
                    <a:lnTo>
                      <a:pt x="284" y="7"/>
                    </a:lnTo>
                    <a:lnTo>
                      <a:pt x="285" y="7"/>
                    </a:lnTo>
                    <a:lnTo>
                      <a:pt x="285" y="7"/>
                    </a:lnTo>
                    <a:lnTo>
                      <a:pt x="287" y="7"/>
                    </a:lnTo>
                    <a:lnTo>
                      <a:pt x="288" y="7"/>
                    </a:lnTo>
                    <a:lnTo>
                      <a:pt x="288" y="7"/>
                    </a:lnTo>
                    <a:lnTo>
                      <a:pt x="290" y="9"/>
                    </a:lnTo>
                    <a:lnTo>
                      <a:pt x="290" y="9"/>
                    </a:lnTo>
                    <a:lnTo>
                      <a:pt x="291" y="9"/>
                    </a:lnTo>
                    <a:lnTo>
                      <a:pt x="293" y="9"/>
                    </a:lnTo>
                    <a:lnTo>
                      <a:pt x="293" y="9"/>
                    </a:lnTo>
                    <a:lnTo>
                      <a:pt x="294" y="9"/>
                    </a:lnTo>
                    <a:lnTo>
                      <a:pt x="296" y="10"/>
                    </a:lnTo>
                    <a:lnTo>
                      <a:pt x="296" y="10"/>
                    </a:lnTo>
                    <a:lnTo>
                      <a:pt x="297" y="10"/>
                    </a:lnTo>
                    <a:lnTo>
                      <a:pt x="299" y="11"/>
                    </a:lnTo>
                    <a:lnTo>
                      <a:pt x="300" y="11"/>
                    </a:lnTo>
                    <a:lnTo>
                      <a:pt x="302" y="11"/>
                    </a:lnTo>
                    <a:lnTo>
                      <a:pt x="303" y="11"/>
                    </a:lnTo>
                    <a:lnTo>
                      <a:pt x="303" y="11"/>
                    </a:lnTo>
                    <a:lnTo>
                      <a:pt x="305" y="13"/>
                    </a:lnTo>
                    <a:lnTo>
                      <a:pt x="306" y="13"/>
                    </a:lnTo>
                    <a:lnTo>
                      <a:pt x="308" y="13"/>
                    </a:lnTo>
                    <a:lnTo>
                      <a:pt x="309" y="14"/>
                    </a:lnTo>
                    <a:lnTo>
                      <a:pt x="311" y="14"/>
                    </a:lnTo>
                    <a:lnTo>
                      <a:pt x="312" y="14"/>
                    </a:lnTo>
                    <a:lnTo>
                      <a:pt x="314" y="16"/>
                    </a:lnTo>
                    <a:lnTo>
                      <a:pt x="314" y="16"/>
                    </a:lnTo>
                    <a:lnTo>
                      <a:pt x="315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8" y="17"/>
                    </a:lnTo>
                    <a:lnTo>
                      <a:pt x="318" y="17"/>
                    </a:lnTo>
                    <a:lnTo>
                      <a:pt x="320" y="17"/>
                    </a:lnTo>
                    <a:lnTo>
                      <a:pt x="321" y="17"/>
                    </a:lnTo>
                    <a:lnTo>
                      <a:pt x="321" y="17"/>
                    </a:lnTo>
                    <a:lnTo>
                      <a:pt x="322" y="19"/>
                    </a:lnTo>
                    <a:lnTo>
                      <a:pt x="322" y="19"/>
                    </a:lnTo>
                    <a:lnTo>
                      <a:pt x="324" y="19"/>
                    </a:lnTo>
                    <a:lnTo>
                      <a:pt x="324" y="19"/>
                    </a:lnTo>
                    <a:lnTo>
                      <a:pt x="325" y="20"/>
                    </a:lnTo>
                    <a:lnTo>
                      <a:pt x="325" y="20"/>
                    </a:lnTo>
                    <a:lnTo>
                      <a:pt x="327" y="20"/>
                    </a:lnTo>
                    <a:lnTo>
                      <a:pt x="327" y="20"/>
                    </a:lnTo>
                    <a:lnTo>
                      <a:pt x="328" y="22"/>
                    </a:lnTo>
                    <a:lnTo>
                      <a:pt x="330" y="22"/>
                    </a:lnTo>
                    <a:lnTo>
                      <a:pt x="330" y="22"/>
                    </a:lnTo>
                    <a:lnTo>
                      <a:pt x="331" y="23"/>
                    </a:lnTo>
                    <a:lnTo>
                      <a:pt x="333" y="23"/>
                    </a:lnTo>
                    <a:lnTo>
                      <a:pt x="334" y="25"/>
                    </a:lnTo>
                    <a:lnTo>
                      <a:pt x="336" y="25"/>
                    </a:lnTo>
                    <a:lnTo>
                      <a:pt x="337" y="25"/>
                    </a:lnTo>
                    <a:lnTo>
                      <a:pt x="337" y="25"/>
                    </a:lnTo>
                    <a:lnTo>
                      <a:pt x="339" y="26"/>
                    </a:lnTo>
                    <a:lnTo>
                      <a:pt x="340" y="26"/>
                    </a:lnTo>
                    <a:lnTo>
                      <a:pt x="340" y="28"/>
                    </a:lnTo>
                    <a:lnTo>
                      <a:pt x="342" y="28"/>
                    </a:lnTo>
                    <a:lnTo>
                      <a:pt x="343" y="29"/>
                    </a:lnTo>
                    <a:lnTo>
                      <a:pt x="345" y="29"/>
                    </a:lnTo>
                    <a:lnTo>
                      <a:pt x="345" y="29"/>
                    </a:lnTo>
                    <a:lnTo>
                      <a:pt x="346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49" y="32"/>
                    </a:lnTo>
                    <a:lnTo>
                      <a:pt x="349" y="32"/>
                    </a:lnTo>
                    <a:lnTo>
                      <a:pt x="351" y="32"/>
                    </a:lnTo>
                    <a:lnTo>
                      <a:pt x="351" y="32"/>
                    </a:lnTo>
                    <a:lnTo>
                      <a:pt x="352" y="34"/>
                    </a:lnTo>
                    <a:lnTo>
                      <a:pt x="352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5" y="35"/>
                    </a:lnTo>
                    <a:lnTo>
                      <a:pt x="355" y="35"/>
                    </a:lnTo>
                    <a:lnTo>
                      <a:pt x="357" y="35"/>
                    </a:lnTo>
                    <a:lnTo>
                      <a:pt x="357" y="35"/>
                    </a:lnTo>
                    <a:lnTo>
                      <a:pt x="358" y="37"/>
                    </a:lnTo>
                    <a:lnTo>
                      <a:pt x="358" y="37"/>
                    </a:lnTo>
                    <a:lnTo>
                      <a:pt x="359" y="37"/>
                    </a:lnTo>
                    <a:lnTo>
                      <a:pt x="359" y="38"/>
                    </a:lnTo>
                    <a:lnTo>
                      <a:pt x="361" y="38"/>
                    </a:lnTo>
                    <a:lnTo>
                      <a:pt x="362" y="38"/>
                    </a:lnTo>
                    <a:lnTo>
                      <a:pt x="362" y="40"/>
                    </a:lnTo>
                    <a:lnTo>
                      <a:pt x="364" y="40"/>
                    </a:lnTo>
                    <a:lnTo>
                      <a:pt x="365" y="41"/>
                    </a:lnTo>
                    <a:lnTo>
                      <a:pt x="367" y="41"/>
                    </a:lnTo>
                    <a:lnTo>
                      <a:pt x="367" y="41"/>
                    </a:lnTo>
                    <a:lnTo>
                      <a:pt x="368" y="43"/>
                    </a:lnTo>
                    <a:lnTo>
                      <a:pt x="368" y="43"/>
                    </a:lnTo>
                    <a:lnTo>
                      <a:pt x="370" y="43"/>
                    </a:lnTo>
                    <a:lnTo>
                      <a:pt x="371" y="44"/>
                    </a:lnTo>
                    <a:lnTo>
                      <a:pt x="371" y="44"/>
                    </a:lnTo>
                    <a:lnTo>
                      <a:pt x="373" y="46"/>
                    </a:lnTo>
                    <a:lnTo>
                      <a:pt x="374" y="46"/>
                    </a:lnTo>
                    <a:lnTo>
                      <a:pt x="374" y="46"/>
                    </a:lnTo>
                    <a:lnTo>
                      <a:pt x="376" y="46"/>
                    </a:lnTo>
                    <a:lnTo>
                      <a:pt x="376" y="47"/>
                    </a:lnTo>
                    <a:lnTo>
                      <a:pt x="377" y="47"/>
                    </a:lnTo>
                    <a:lnTo>
                      <a:pt x="377" y="47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0" y="49"/>
                    </a:lnTo>
                    <a:lnTo>
                      <a:pt x="380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3" y="50"/>
                    </a:lnTo>
                    <a:lnTo>
                      <a:pt x="383" y="51"/>
                    </a:lnTo>
                    <a:lnTo>
                      <a:pt x="385" y="51"/>
                    </a:lnTo>
                    <a:lnTo>
                      <a:pt x="385" y="51"/>
                    </a:lnTo>
                    <a:lnTo>
                      <a:pt x="386" y="53"/>
                    </a:lnTo>
                    <a:lnTo>
                      <a:pt x="386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89" y="54"/>
                    </a:lnTo>
                    <a:lnTo>
                      <a:pt x="389" y="54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2" y="57"/>
                    </a:lnTo>
                    <a:lnTo>
                      <a:pt x="394" y="57"/>
                    </a:lnTo>
                    <a:lnTo>
                      <a:pt x="394" y="57"/>
                    </a:lnTo>
                    <a:lnTo>
                      <a:pt x="395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8" y="60"/>
                    </a:lnTo>
                    <a:lnTo>
                      <a:pt x="398" y="60"/>
                    </a:lnTo>
                    <a:lnTo>
                      <a:pt x="398" y="60"/>
                    </a:lnTo>
                    <a:lnTo>
                      <a:pt x="399" y="62"/>
                    </a:lnTo>
                    <a:lnTo>
                      <a:pt x="399" y="62"/>
                    </a:lnTo>
                    <a:lnTo>
                      <a:pt x="401" y="62"/>
                    </a:lnTo>
                    <a:lnTo>
                      <a:pt x="401" y="62"/>
                    </a:lnTo>
                    <a:lnTo>
                      <a:pt x="401" y="63"/>
                    </a:lnTo>
                    <a:lnTo>
                      <a:pt x="401" y="63"/>
                    </a:lnTo>
                    <a:lnTo>
                      <a:pt x="402" y="63"/>
                    </a:lnTo>
                    <a:lnTo>
                      <a:pt x="402" y="63"/>
                    </a:lnTo>
                    <a:lnTo>
                      <a:pt x="402" y="63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5" y="66"/>
                    </a:lnTo>
                    <a:lnTo>
                      <a:pt x="405" y="66"/>
                    </a:lnTo>
                    <a:lnTo>
                      <a:pt x="407" y="66"/>
                    </a:lnTo>
                    <a:lnTo>
                      <a:pt x="407" y="66"/>
                    </a:lnTo>
                    <a:lnTo>
                      <a:pt x="408" y="68"/>
                    </a:lnTo>
                    <a:lnTo>
                      <a:pt x="408" y="68"/>
                    </a:lnTo>
                    <a:lnTo>
                      <a:pt x="408" y="68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1" y="69"/>
                    </a:lnTo>
                    <a:lnTo>
                      <a:pt x="411" y="71"/>
                    </a:lnTo>
                    <a:lnTo>
                      <a:pt x="413" y="71"/>
                    </a:lnTo>
                    <a:lnTo>
                      <a:pt x="413" y="71"/>
                    </a:lnTo>
                    <a:lnTo>
                      <a:pt x="413" y="72"/>
                    </a:lnTo>
                    <a:lnTo>
                      <a:pt x="414" y="72"/>
                    </a:lnTo>
                    <a:lnTo>
                      <a:pt x="414" y="72"/>
                    </a:lnTo>
                    <a:lnTo>
                      <a:pt x="414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7" y="74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9" y="75"/>
                    </a:lnTo>
                    <a:lnTo>
                      <a:pt x="419" y="75"/>
                    </a:lnTo>
                    <a:lnTo>
                      <a:pt x="419" y="77"/>
                    </a:lnTo>
                    <a:lnTo>
                      <a:pt x="419" y="77"/>
                    </a:lnTo>
                    <a:lnTo>
                      <a:pt x="420" y="77"/>
                    </a:lnTo>
                    <a:lnTo>
                      <a:pt x="420" y="77"/>
                    </a:lnTo>
                    <a:lnTo>
                      <a:pt x="420" y="78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3" y="80"/>
                    </a:lnTo>
                    <a:lnTo>
                      <a:pt x="423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5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8" y="83"/>
                    </a:lnTo>
                    <a:lnTo>
                      <a:pt x="429" y="83"/>
                    </a:lnTo>
                    <a:lnTo>
                      <a:pt x="429" y="84"/>
                    </a:lnTo>
                    <a:lnTo>
                      <a:pt x="429" y="84"/>
                    </a:lnTo>
                    <a:lnTo>
                      <a:pt x="431" y="84"/>
                    </a:lnTo>
                    <a:lnTo>
                      <a:pt x="431" y="84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4" y="87"/>
                    </a:lnTo>
                    <a:lnTo>
                      <a:pt x="435" y="87"/>
                    </a:lnTo>
                    <a:lnTo>
                      <a:pt x="435" y="87"/>
                    </a:lnTo>
                    <a:lnTo>
                      <a:pt x="435" y="88"/>
                    </a:lnTo>
                    <a:lnTo>
                      <a:pt x="436" y="88"/>
                    </a:lnTo>
                    <a:lnTo>
                      <a:pt x="436" y="88"/>
                    </a:lnTo>
                    <a:lnTo>
                      <a:pt x="436" y="88"/>
                    </a:lnTo>
                    <a:lnTo>
                      <a:pt x="436" y="90"/>
                    </a:lnTo>
                    <a:lnTo>
                      <a:pt x="438" y="90"/>
                    </a:lnTo>
                    <a:lnTo>
                      <a:pt x="438" y="90"/>
                    </a:lnTo>
                    <a:lnTo>
                      <a:pt x="438" y="91"/>
                    </a:lnTo>
                    <a:lnTo>
                      <a:pt x="439" y="91"/>
                    </a:lnTo>
                    <a:lnTo>
                      <a:pt x="439" y="91"/>
                    </a:lnTo>
                    <a:lnTo>
                      <a:pt x="439" y="93"/>
                    </a:lnTo>
                    <a:lnTo>
                      <a:pt x="441" y="93"/>
                    </a:lnTo>
                    <a:lnTo>
                      <a:pt x="441" y="94"/>
                    </a:lnTo>
                    <a:lnTo>
                      <a:pt x="442" y="94"/>
                    </a:lnTo>
                    <a:lnTo>
                      <a:pt x="442" y="96"/>
                    </a:lnTo>
                    <a:lnTo>
                      <a:pt x="444" y="96"/>
                    </a:lnTo>
                    <a:lnTo>
                      <a:pt x="444" y="97"/>
                    </a:lnTo>
                    <a:lnTo>
                      <a:pt x="445" y="97"/>
                    </a:lnTo>
                    <a:lnTo>
                      <a:pt x="445" y="97"/>
                    </a:lnTo>
                    <a:lnTo>
                      <a:pt x="445" y="99"/>
                    </a:lnTo>
                    <a:lnTo>
                      <a:pt x="447" y="99"/>
                    </a:lnTo>
                    <a:lnTo>
                      <a:pt x="448" y="100"/>
                    </a:lnTo>
                    <a:lnTo>
                      <a:pt x="448" y="102"/>
                    </a:lnTo>
                    <a:lnTo>
                      <a:pt x="448" y="102"/>
                    </a:lnTo>
                    <a:lnTo>
                      <a:pt x="450" y="103"/>
                    </a:lnTo>
                    <a:lnTo>
                      <a:pt x="450" y="103"/>
                    </a:lnTo>
                    <a:lnTo>
                      <a:pt x="451" y="103"/>
                    </a:lnTo>
                    <a:lnTo>
                      <a:pt x="451" y="105"/>
                    </a:lnTo>
                    <a:lnTo>
                      <a:pt x="451" y="105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6" y="109"/>
                    </a:lnTo>
                    <a:lnTo>
                      <a:pt x="456" y="109"/>
                    </a:lnTo>
                    <a:lnTo>
                      <a:pt x="456" y="111"/>
                    </a:lnTo>
                    <a:lnTo>
                      <a:pt x="457" y="111"/>
                    </a:lnTo>
                    <a:lnTo>
                      <a:pt x="457" y="111"/>
                    </a:lnTo>
                    <a:lnTo>
                      <a:pt x="459" y="112"/>
                    </a:lnTo>
                    <a:lnTo>
                      <a:pt x="459" y="112"/>
                    </a:lnTo>
                    <a:lnTo>
                      <a:pt x="459" y="114"/>
                    </a:lnTo>
                    <a:lnTo>
                      <a:pt x="460" y="114"/>
                    </a:lnTo>
                    <a:lnTo>
                      <a:pt x="460" y="115"/>
                    </a:lnTo>
                    <a:lnTo>
                      <a:pt x="462" y="115"/>
                    </a:lnTo>
                    <a:lnTo>
                      <a:pt x="462" y="117"/>
                    </a:lnTo>
                    <a:lnTo>
                      <a:pt x="463" y="118"/>
                    </a:lnTo>
                    <a:lnTo>
                      <a:pt x="463" y="120"/>
                    </a:lnTo>
                    <a:lnTo>
                      <a:pt x="465" y="120"/>
                    </a:lnTo>
                    <a:lnTo>
                      <a:pt x="466" y="121"/>
                    </a:lnTo>
                    <a:lnTo>
                      <a:pt x="466" y="121"/>
                    </a:lnTo>
                    <a:lnTo>
                      <a:pt x="466" y="123"/>
                    </a:lnTo>
                    <a:lnTo>
                      <a:pt x="468" y="124"/>
                    </a:lnTo>
                    <a:lnTo>
                      <a:pt x="469" y="124"/>
                    </a:lnTo>
                    <a:lnTo>
                      <a:pt x="469" y="125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2" y="128"/>
                    </a:lnTo>
                    <a:lnTo>
                      <a:pt x="472" y="128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4" y="131"/>
                    </a:lnTo>
                    <a:lnTo>
                      <a:pt x="475" y="131"/>
                    </a:lnTo>
                    <a:lnTo>
                      <a:pt x="475" y="133"/>
                    </a:lnTo>
                    <a:lnTo>
                      <a:pt x="476" y="133"/>
                    </a:lnTo>
                    <a:lnTo>
                      <a:pt x="476" y="134"/>
                    </a:lnTo>
                    <a:lnTo>
                      <a:pt x="476" y="134"/>
                    </a:lnTo>
                    <a:lnTo>
                      <a:pt x="478" y="136"/>
                    </a:lnTo>
                    <a:lnTo>
                      <a:pt x="478" y="136"/>
                    </a:lnTo>
                    <a:lnTo>
                      <a:pt x="478" y="137"/>
                    </a:lnTo>
                    <a:lnTo>
                      <a:pt x="479" y="137"/>
                    </a:lnTo>
                    <a:lnTo>
                      <a:pt x="479" y="139"/>
                    </a:lnTo>
                    <a:lnTo>
                      <a:pt x="479" y="139"/>
                    </a:lnTo>
                    <a:lnTo>
                      <a:pt x="481" y="140"/>
                    </a:lnTo>
                    <a:lnTo>
                      <a:pt x="481" y="140"/>
                    </a:lnTo>
                    <a:lnTo>
                      <a:pt x="482" y="142"/>
                    </a:lnTo>
                    <a:lnTo>
                      <a:pt x="482" y="143"/>
                    </a:lnTo>
                    <a:lnTo>
                      <a:pt x="484" y="143"/>
                    </a:lnTo>
                    <a:lnTo>
                      <a:pt x="484" y="145"/>
                    </a:lnTo>
                    <a:lnTo>
                      <a:pt x="485" y="146"/>
                    </a:lnTo>
                    <a:lnTo>
                      <a:pt x="485" y="148"/>
                    </a:lnTo>
                    <a:lnTo>
                      <a:pt x="487" y="149"/>
                    </a:lnTo>
                    <a:lnTo>
                      <a:pt x="488" y="149"/>
                    </a:lnTo>
                    <a:lnTo>
                      <a:pt x="488" y="149"/>
                    </a:lnTo>
                    <a:lnTo>
                      <a:pt x="488" y="151"/>
                    </a:lnTo>
                    <a:lnTo>
                      <a:pt x="490" y="152"/>
                    </a:lnTo>
                    <a:lnTo>
                      <a:pt x="491" y="154"/>
                    </a:lnTo>
                    <a:lnTo>
                      <a:pt x="491" y="155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4" y="158"/>
                    </a:lnTo>
                    <a:lnTo>
                      <a:pt x="494" y="160"/>
                    </a:lnTo>
                    <a:lnTo>
                      <a:pt x="496" y="160"/>
                    </a:lnTo>
                    <a:lnTo>
                      <a:pt x="496" y="161"/>
                    </a:lnTo>
                    <a:lnTo>
                      <a:pt x="496" y="163"/>
                    </a:lnTo>
                    <a:lnTo>
                      <a:pt x="497" y="163"/>
                    </a:lnTo>
                    <a:lnTo>
                      <a:pt x="497" y="164"/>
                    </a:lnTo>
                    <a:lnTo>
                      <a:pt x="499" y="164"/>
                    </a:lnTo>
                    <a:lnTo>
                      <a:pt x="499" y="165"/>
                    </a:lnTo>
                    <a:lnTo>
                      <a:pt x="499" y="165"/>
                    </a:lnTo>
                    <a:lnTo>
                      <a:pt x="500" y="167"/>
                    </a:lnTo>
                    <a:lnTo>
                      <a:pt x="500" y="167"/>
                    </a:lnTo>
                    <a:lnTo>
                      <a:pt x="500" y="168"/>
                    </a:lnTo>
                    <a:lnTo>
                      <a:pt x="502" y="168"/>
                    </a:lnTo>
                    <a:lnTo>
                      <a:pt x="502" y="170"/>
                    </a:lnTo>
                    <a:lnTo>
                      <a:pt x="503" y="170"/>
                    </a:lnTo>
                    <a:lnTo>
                      <a:pt x="503" y="171"/>
                    </a:lnTo>
                    <a:lnTo>
                      <a:pt x="503" y="171"/>
                    </a:lnTo>
                    <a:lnTo>
                      <a:pt x="505" y="173"/>
                    </a:lnTo>
                    <a:lnTo>
                      <a:pt x="505" y="174"/>
                    </a:lnTo>
                    <a:lnTo>
                      <a:pt x="506" y="176"/>
                    </a:lnTo>
                    <a:lnTo>
                      <a:pt x="508" y="176"/>
                    </a:lnTo>
                    <a:lnTo>
                      <a:pt x="508" y="177"/>
                    </a:lnTo>
                    <a:lnTo>
                      <a:pt x="509" y="179"/>
                    </a:lnTo>
                    <a:lnTo>
                      <a:pt x="509" y="180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2" y="183"/>
                    </a:lnTo>
                    <a:lnTo>
                      <a:pt x="513" y="185"/>
                    </a:lnTo>
                    <a:lnTo>
                      <a:pt x="513" y="186"/>
                    </a:lnTo>
                    <a:lnTo>
                      <a:pt x="515" y="186"/>
                    </a:lnTo>
                    <a:lnTo>
                      <a:pt x="515" y="188"/>
                    </a:lnTo>
                    <a:lnTo>
                      <a:pt x="516" y="189"/>
                    </a:lnTo>
                    <a:lnTo>
                      <a:pt x="516" y="191"/>
                    </a:lnTo>
                    <a:lnTo>
                      <a:pt x="518" y="191"/>
                    </a:lnTo>
                    <a:lnTo>
                      <a:pt x="518" y="192"/>
                    </a:lnTo>
                    <a:lnTo>
                      <a:pt x="519" y="192"/>
                    </a:lnTo>
                    <a:lnTo>
                      <a:pt x="519" y="194"/>
                    </a:lnTo>
                    <a:lnTo>
                      <a:pt x="519" y="195"/>
                    </a:lnTo>
                    <a:lnTo>
                      <a:pt x="521" y="195"/>
                    </a:lnTo>
                    <a:lnTo>
                      <a:pt x="521" y="197"/>
                    </a:lnTo>
                    <a:lnTo>
                      <a:pt x="521" y="197"/>
                    </a:lnTo>
                    <a:lnTo>
                      <a:pt x="522" y="197"/>
                    </a:lnTo>
                    <a:lnTo>
                      <a:pt x="522" y="198"/>
                    </a:lnTo>
                    <a:lnTo>
                      <a:pt x="522" y="198"/>
                    </a:lnTo>
                    <a:lnTo>
                      <a:pt x="524" y="200"/>
                    </a:lnTo>
                    <a:lnTo>
                      <a:pt x="524" y="200"/>
                    </a:lnTo>
                    <a:lnTo>
                      <a:pt x="524" y="201"/>
                    </a:lnTo>
                    <a:lnTo>
                      <a:pt x="525" y="201"/>
                    </a:lnTo>
                    <a:lnTo>
                      <a:pt x="525" y="202"/>
                    </a:lnTo>
                    <a:lnTo>
                      <a:pt x="525" y="202"/>
                    </a:lnTo>
                    <a:lnTo>
                      <a:pt x="525" y="204"/>
                    </a:lnTo>
                    <a:lnTo>
                      <a:pt x="527" y="204"/>
                    </a:lnTo>
                    <a:lnTo>
                      <a:pt x="527" y="205"/>
                    </a:lnTo>
                    <a:lnTo>
                      <a:pt x="528" y="207"/>
                    </a:lnTo>
                    <a:lnTo>
                      <a:pt x="528" y="207"/>
                    </a:lnTo>
                    <a:lnTo>
                      <a:pt x="528" y="208"/>
                    </a:lnTo>
                    <a:lnTo>
                      <a:pt x="530" y="210"/>
                    </a:lnTo>
                    <a:lnTo>
                      <a:pt x="530" y="211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2" name="Freeform 295"/>
              <p:cNvSpPr>
                <a:spLocks/>
              </p:cNvSpPr>
              <p:nvPr/>
            </p:nvSpPr>
            <p:spPr bwMode="auto">
              <a:xfrm>
                <a:off x="2667" y="2837"/>
                <a:ext cx="21" cy="71"/>
              </a:xfrm>
              <a:custGeom>
                <a:avLst/>
                <a:gdLst>
                  <a:gd name="T0" fmla="*/ 4 w 63"/>
                  <a:gd name="T1" fmla="*/ 206 h 212"/>
                  <a:gd name="T2" fmla="*/ 7 w 63"/>
                  <a:gd name="T3" fmla="*/ 199 h 212"/>
                  <a:gd name="T4" fmla="*/ 10 w 63"/>
                  <a:gd name="T5" fmla="*/ 193 h 212"/>
                  <a:gd name="T6" fmla="*/ 13 w 63"/>
                  <a:gd name="T7" fmla="*/ 188 h 212"/>
                  <a:gd name="T8" fmla="*/ 15 w 63"/>
                  <a:gd name="T9" fmla="*/ 185 h 212"/>
                  <a:gd name="T10" fmla="*/ 16 w 63"/>
                  <a:gd name="T11" fmla="*/ 182 h 212"/>
                  <a:gd name="T12" fmla="*/ 17 w 63"/>
                  <a:gd name="T13" fmla="*/ 178 h 212"/>
                  <a:gd name="T14" fmla="*/ 19 w 63"/>
                  <a:gd name="T15" fmla="*/ 175 h 212"/>
                  <a:gd name="T16" fmla="*/ 20 w 63"/>
                  <a:gd name="T17" fmla="*/ 171 h 212"/>
                  <a:gd name="T18" fmla="*/ 22 w 63"/>
                  <a:gd name="T19" fmla="*/ 166 h 212"/>
                  <a:gd name="T20" fmla="*/ 23 w 63"/>
                  <a:gd name="T21" fmla="*/ 163 h 212"/>
                  <a:gd name="T22" fmla="*/ 25 w 63"/>
                  <a:gd name="T23" fmla="*/ 160 h 212"/>
                  <a:gd name="T24" fmla="*/ 26 w 63"/>
                  <a:gd name="T25" fmla="*/ 159 h 212"/>
                  <a:gd name="T26" fmla="*/ 28 w 63"/>
                  <a:gd name="T27" fmla="*/ 154 h 212"/>
                  <a:gd name="T28" fmla="*/ 29 w 63"/>
                  <a:gd name="T29" fmla="*/ 151 h 212"/>
                  <a:gd name="T30" fmla="*/ 31 w 63"/>
                  <a:gd name="T31" fmla="*/ 147 h 212"/>
                  <a:gd name="T32" fmla="*/ 32 w 63"/>
                  <a:gd name="T33" fmla="*/ 142 h 212"/>
                  <a:gd name="T34" fmla="*/ 34 w 63"/>
                  <a:gd name="T35" fmla="*/ 138 h 212"/>
                  <a:gd name="T36" fmla="*/ 35 w 63"/>
                  <a:gd name="T37" fmla="*/ 134 h 212"/>
                  <a:gd name="T38" fmla="*/ 37 w 63"/>
                  <a:gd name="T39" fmla="*/ 131 h 212"/>
                  <a:gd name="T40" fmla="*/ 38 w 63"/>
                  <a:gd name="T41" fmla="*/ 128 h 212"/>
                  <a:gd name="T42" fmla="*/ 38 w 63"/>
                  <a:gd name="T43" fmla="*/ 123 h 212"/>
                  <a:gd name="T44" fmla="*/ 40 w 63"/>
                  <a:gd name="T45" fmla="*/ 120 h 212"/>
                  <a:gd name="T46" fmla="*/ 41 w 63"/>
                  <a:gd name="T47" fmla="*/ 116 h 212"/>
                  <a:gd name="T48" fmla="*/ 43 w 63"/>
                  <a:gd name="T49" fmla="*/ 111 h 212"/>
                  <a:gd name="T50" fmla="*/ 44 w 63"/>
                  <a:gd name="T51" fmla="*/ 107 h 212"/>
                  <a:gd name="T52" fmla="*/ 46 w 63"/>
                  <a:gd name="T53" fmla="*/ 103 h 212"/>
                  <a:gd name="T54" fmla="*/ 47 w 63"/>
                  <a:gd name="T55" fmla="*/ 98 h 212"/>
                  <a:gd name="T56" fmla="*/ 47 w 63"/>
                  <a:gd name="T57" fmla="*/ 95 h 212"/>
                  <a:gd name="T58" fmla="*/ 49 w 63"/>
                  <a:gd name="T59" fmla="*/ 92 h 212"/>
                  <a:gd name="T60" fmla="*/ 50 w 63"/>
                  <a:gd name="T61" fmla="*/ 89 h 212"/>
                  <a:gd name="T62" fmla="*/ 52 w 63"/>
                  <a:gd name="T63" fmla="*/ 85 h 212"/>
                  <a:gd name="T64" fmla="*/ 53 w 63"/>
                  <a:gd name="T65" fmla="*/ 79 h 212"/>
                  <a:gd name="T66" fmla="*/ 55 w 63"/>
                  <a:gd name="T67" fmla="*/ 76 h 212"/>
                  <a:gd name="T68" fmla="*/ 55 w 63"/>
                  <a:gd name="T69" fmla="*/ 71 h 212"/>
                  <a:gd name="T70" fmla="*/ 56 w 63"/>
                  <a:gd name="T71" fmla="*/ 67 h 212"/>
                  <a:gd name="T72" fmla="*/ 57 w 63"/>
                  <a:gd name="T73" fmla="*/ 64 h 212"/>
                  <a:gd name="T74" fmla="*/ 57 w 63"/>
                  <a:gd name="T75" fmla="*/ 61 h 212"/>
                  <a:gd name="T76" fmla="*/ 57 w 63"/>
                  <a:gd name="T77" fmla="*/ 58 h 212"/>
                  <a:gd name="T78" fmla="*/ 57 w 63"/>
                  <a:gd name="T79" fmla="*/ 55 h 212"/>
                  <a:gd name="T80" fmla="*/ 59 w 63"/>
                  <a:gd name="T81" fmla="*/ 51 h 212"/>
                  <a:gd name="T82" fmla="*/ 59 w 63"/>
                  <a:gd name="T83" fmla="*/ 46 h 212"/>
                  <a:gd name="T84" fmla="*/ 59 w 63"/>
                  <a:gd name="T85" fmla="*/ 43 h 212"/>
                  <a:gd name="T86" fmla="*/ 59 w 63"/>
                  <a:gd name="T87" fmla="*/ 40 h 212"/>
                  <a:gd name="T88" fmla="*/ 59 w 63"/>
                  <a:gd name="T89" fmla="*/ 37 h 212"/>
                  <a:gd name="T90" fmla="*/ 60 w 63"/>
                  <a:gd name="T91" fmla="*/ 34 h 212"/>
                  <a:gd name="T92" fmla="*/ 60 w 63"/>
                  <a:gd name="T93" fmla="*/ 33 h 212"/>
                  <a:gd name="T94" fmla="*/ 60 w 63"/>
                  <a:gd name="T95" fmla="*/ 31 h 212"/>
                  <a:gd name="T96" fmla="*/ 60 w 63"/>
                  <a:gd name="T97" fmla="*/ 28 h 212"/>
                  <a:gd name="T98" fmla="*/ 62 w 63"/>
                  <a:gd name="T99" fmla="*/ 27 h 212"/>
                  <a:gd name="T100" fmla="*/ 62 w 63"/>
                  <a:gd name="T101" fmla="*/ 24 h 212"/>
                  <a:gd name="T102" fmla="*/ 62 w 63"/>
                  <a:gd name="T103" fmla="*/ 21 h 212"/>
                  <a:gd name="T104" fmla="*/ 62 w 63"/>
                  <a:gd name="T105" fmla="*/ 20 h 212"/>
                  <a:gd name="T106" fmla="*/ 63 w 63"/>
                  <a:gd name="T107" fmla="*/ 17 h 212"/>
                  <a:gd name="T108" fmla="*/ 62 w 63"/>
                  <a:gd name="T109" fmla="*/ 14 h 212"/>
                  <a:gd name="T110" fmla="*/ 62 w 63"/>
                  <a:gd name="T111" fmla="*/ 9 h 212"/>
                  <a:gd name="T112" fmla="*/ 62 w 63"/>
                  <a:gd name="T113" fmla="*/ 5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2">
                    <a:moveTo>
                      <a:pt x="0" y="212"/>
                    </a:moveTo>
                    <a:lnTo>
                      <a:pt x="1" y="211"/>
                    </a:lnTo>
                    <a:lnTo>
                      <a:pt x="3" y="208"/>
                    </a:lnTo>
                    <a:lnTo>
                      <a:pt x="4" y="206"/>
                    </a:lnTo>
                    <a:lnTo>
                      <a:pt x="4" y="203"/>
                    </a:lnTo>
                    <a:lnTo>
                      <a:pt x="6" y="202"/>
                    </a:lnTo>
                    <a:lnTo>
                      <a:pt x="7" y="200"/>
                    </a:lnTo>
                    <a:lnTo>
                      <a:pt x="7" y="199"/>
                    </a:lnTo>
                    <a:lnTo>
                      <a:pt x="9" y="197"/>
                    </a:lnTo>
                    <a:lnTo>
                      <a:pt x="9" y="196"/>
                    </a:lnTo>
                    <a:lnTo>
                      <a:pt x="10" y="194"/>
                    </a:lnTo>
                    <a:lnTo>
                      <a:pt x="10" y="193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90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7"/>
                    </a:lnTo>
                    <a:lnTo>
                      <a:pt x="15" y="187"/>
                    </a:lnTo>
                    <a:lnTo>
                      <a:pt x="15" y="185"/>
                    </a:lnTo>
                    <a:lnTo>
                      <a:pt x="15" y="184"/>
                    </a:lnTo>
                    <a:lnTo>
                      <a:pt x="15" y="184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1"/>
                    </a:lnTo>
                    <a:lnTo>
                      <a:pt x="16" y="181"/>
                    </a:lnTo>
                    <a:lnTo>
                      <a:pt x="17" y="180"/>
                    </a:lnTo>
                    <a:lnTo>
                      <a:pt x="17" y="178"/>
                    </a:lnTo>
                    <a:lnTo>
                      <a:pt x="17" y="178"/>
                    </a:lnTo>
                    <a:lnTo>
                      <a:pt x="19" y="177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19" y="174"/>
                    </a:lnTo>
                    <a:lnTo>
                      <a:pt x="19" y="174"/>
                    </a:lnTo>
                    <a:lnTo>
                      <a:pt x="20" y="172"/>
                    </a:lnTo>
                    <a:lnTo>
                      <a:pt x="20" y="171"/>
                    </a:lnTo>
                    <a:lnTo>
                      <a:pt x="20" y="169"/>
                    </a:lnTo>
                    <a:lnTo>
                      <a:pt x="22" y="169"/>
                    </a:lnTo>
                    <a:lnTo>
                      <a:pt x="22" y="168"/>
                    </a:lnTo>
                    <a:lnTo>
                      <a:pt x="22" y="166"/>
                    </a:lnTo>
                    <a:lnTo>
                      <a:pt x="23" y="166"/>
                    </a:lnTo>
                    <a:lnTo>
                      <a:pt x="23" y="165"/>
                    </a:lnTo>
                    <a:lnTo>
                      <a:pt x="23" y="165"/>
                    </a:lnTo>
                    <a:lnTo>
                      <a:pt x="23" y="163"/>
                    </a:lnTo>
                    <a:lnTo>
                      <a:pt x="23" y="163"/>
                    </a:lnTo>
                    <a:lnTo>
                      <a:pt x="25" y="162"/>
                    </a:lnTo>
                    <a:lnTo>
                      <a:pt x="25" y="162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5" y="159"/>
                    </a:lnTo>
                    <a:lnTo>
                      <a:pt x="26" y="159"/>
                    </a:lnTo>
                    <a:lnTo>
                      <a:pt x="26" y="159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6" y="156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3"/>
                    </a:lnTo>
                    <a:lnTo>
                      <a:pt x="28" y="153"/>
                    </a:lnTo>
                    <a:lnTo>
                      <a:pt x="29" y="151"/>
                    </a:lnTo>
                    <a:lnTo>
                      <a:pt x="29" y="150"/>
                    </a:lnTo>
                    <a:lnTo>
                      <a:pt x="29" y="148"/>
                    </a:lnTo>
                    <a:lnTo>
                      <a:pt x="29" y="148"/>
                    </a:lnTo>
                    <a:lnTo>
                      <a:pt x="31" y="147"/>
                    </a:lnTo>
                    <a:lnTo>
                      <a:pt x="31" y="145"/>
                    </a:lnTo>
                    <a:lnTo>
                      <a:pt x="31" y="144"/>
                    </a:lnTo>
                    <a:lnTo>
                      <a:pt x="31" y="144"/>
                    </a:lnTo>
                    <a:lnTo>
                      <a:pt x="32" y="142"/>
                    </a:lnTo>
                    <a:lnTo>
                      <a:pt x="32" y="141"/>
                    </a:lnTo>
                    <a:lnTo>
                      <a:pt x="34" y="140"/>
                    </a:lnTo>
                    <a:lnTo>
                      <a:pt x="34" y="138"/>
                    </a:lnTo>
                    <a:lnTo>
                      <a:pt x="34" y="138"/>
                    </a:lnTo>
                    <a:lnTo>
                      <a:pt x="34" y="137"/>
                    </a:lnTo>
                    <a:lnTo>
                      <a:pt x="35" y="135"/>
                    </a:lnTo>
                    <a:lnTo>
                      <a:pt x="35" y="134"/>
                    </a:lnTo>
                    <a:lnTo>
                      <a:pt x="35" y="134"/>
                    </a:lnTo>
                    <a:lnTo>
                      <a:pt x="35" y="132"/>
                    </a:lnTo>
                    <a:lnTo>
                      <a:pt x="37" y="132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8"/>
                    </a:lnTo>
                    <a:lnTo>
                      <a:pt x="38" y="128"/>
                    </a:lnTo>
                    <a:lnTo>
                      <a:pt x="38" y="126"/>
                    </a:lnTo>
                    <a:lnTo>
                      <a:pt x="38" y="126"/>
                    </a:lnTo>
                    <a:lnTo>
                      <a:pt x="38" y="125"/>
                    </a:lnTo>
                    <a:lnTo>
                      <a:pt x="38" y="123"/>
                    </a:lnTo>
                    <a:lnTo>
                      <a:pt x="38" y="123"/>
                    </a:lnTo>
                    <a:lnTo>
                      <a:pt x="40" y="122"/>
                    </a:lnTo>
                    <a:lnTo>
                      <a:pt x="40" y="122"/>
                    </a:lnTo>
                    <a:lnTo>
                      <a:pt x="40" y="120"/>
                    </a:lnTo>
                    <a:lnTo>
                      <a:pt x="40" y="119"/>
                    </a:lnTo>
                    <a:lnTo>
                      <a:pt x="41" y="119"/>
                    </a:lnTo>
                    <a:lnTo>
                      <a:pt x="41" y="117"/>
                    </a:lnTo>
                    <a:lnTo>
                      <a:pt x="41" y="116"/>
                    </a:lnTo>
                    <a:lnTo>
                      <a:pt x="41" y="114"/>
                    </a:lnTo>
                    <a:lnTo>
                      <a:pt x="43" y="113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10"/>
                    </a:lnTo>
                    <a:lnTo>
                      <a:pt x="43" y="108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4" y="105"/>
                    </a:lnTo>
                    <a:lnTo>
                      <a:pt x="44" y="104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1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7"/>
                    </a:lnTo>
                    <a:lnTo>
                      <a:pt x="47" y="97"/>
                    </a:lnTo>
                    <a:lnTo>
                      <a:pt x="47" y="95"/>
                    </a:lnTo>
                    <a:lnTo>
                      <a:pt x="47" y="95"/>
                    </a:lnTo>
                    <a:lnTo>
                      <a:pt x="49" y="94"/>
                    </a:lnTo>
                    <a:lnTo>
                      <a:pt x="49" y="94"/>
                    </a:lnTo>
                    <a:lnTo>
                      <a:pt x="49" y="92"/>
                    </a:lnTo>
                    <a:lnTo>
                      <a:pt x="49" y="92"/>
                    </a:lnTo>
                    <a:lnTo>
                      <a:pt x="49" y="91"/>
                    </a:lnTo>
                    <a:lnTo>
                      <a:pt x="49" y="91"/>
                    </a:lnTo>
                    <a:lnTo>
                      <a:pt x="50" y="89"/>
                    </a:lnTo>
                    <a:lnTo>
                      <a:pt x="50" y="88"/>
                    </a:lnTo>
                    <a:lnTo>
                      <a:pt x="50" y="88"/>
                    </a:lnTo>
                    <a:lnTo>
                      <a:pt x="50" y="86"/>
                    </a:lnTo>
                    <a:lnTo>
                      <a:pt x="52" y="85"/>
                    </a:lnTo>
                    <a:lnTo>
                      <a:pt x="52" y="83"/>
                    </a:lnTo>
                    <a:lnTo>
                      <a:pt x="52" y="82"/>
                    </a:lnTo>
                    <a:lnTo>
                      <a:pt x="52" y="80"/>
                    </a:lnTo>
                    <a:lnTo>
                      <a:pt x="53" y="79"/>
                    </a:lnTo>
                    <a:lnTo>
                      <a:pt x="53" y="79"/>
                    </a:lnTo>
                    <a:lnTo>
                      <a:pt x="53" y="77"/>
                    </a:lnTo>
                    <a:lnTo>
                      <a:pt x="53" y="77"/>
                    </a:lnTo>
                    <a:lnTo>
                      <a:pt x="55" y="76"/>
                    </a:lnTo>
                    <a:lnTo>
                      <a:pt x="55" y="74"/>
                    </a:lnTo>
                    <a:lnTo>
                      <a:pt x="55" y="73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6" y="70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6" y="66"/>
                    </a:lnTo>
                    <a:lnTo>
                      <a:pt x="57" y="66"/>
                    </a:lnTo>
                    <a:lnTo>
                      <a:pt x="57" y="64"/>
                    </a:lnTo>
                    <a:lnTo>
                      <a:pt x="57" y="64"/>
                    </a:lnTo>
                    <a:lnTo>
                      <a:pt x="57" y="63"/>
                    </a:lnTo>
                    <a:lnTo>
                      <a:pt x="57" y="63"/>
                    </a:lnTo>
                    <a:lnTo>
                      <a:pt x="57" y="61"/>
                    </a:lnTo>
                    <a:lnTo>
                      <a:pt x="57" y="61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7" y="58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7" y="55"/>
                    </a:lnTo>
                    <a:lnTo>
                      <a:pt x="57" y="54"/>
                    </a:lnTo>
                    <a:lnTo>
                      <a:pt x="59" y="54"/>
                    </a:lnTo>
                    <a:lnTo>
                      <a:pt x="59" y="52"/>
                    </a:lnTo>
                    <a:lnTo>
                      <a:pt x="59" y="51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8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5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2"/>
                    </a:lnTo>
                    <a:lnTo>
                      <a:pt x="59" y="42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59" y="39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60" y="36"/>
                    </a:lnTo>
                    <a:lnTo>
                      <a:pt x="60" y="36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3"/>
                    </a:lnTo>
                    <a:lnTo>
                      <a:pt x="60" y="33"/>
                    </a:lnTo>
                    <a:lnTo>
                      <a:pt x="60" y="33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28"/>
                    </a:lnTo>
                    <a:lnTo>
                      <a:pt x="62" y="28"/>
                    </a:lnTo>
                    <a:lnTo>
                      <a:pt x="62" y="27"/>
                    </a:lnTo>
                    <a:lnTo>
                      <a:pt x="62" y="27"/>
                    </a:lnTo>
                    <a:lnTo>
                      <a:pt x="62" y="27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3"/>
                    </a:lnTo>
                    <a:lnTo>
                      <a:pt x="62" y="23"/>
                    </a:lnTo>
                    <a:lnTo>
                      <a:pt x="62" y="23"/>
                    </a:lnTo>
                    <a:lnTo>
                      <a:pt x="62" y="21"/>
                    </a:lnTo>
                    <a:lnTo>
                      <a:pt x="62" y="21"/>
                    </a:lnTo>
                    <a:lnTo>
                      <a:pt x="62" y="21"/>
                    </a:lnTo>
                    <a:lnTo>
                      <a:pt x="62" y="20"/>
                    </a:lnTo>
                    <a:lnTo>
                      <a:pt x="62" y="20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3" y="17"/>
                    </a:lnTo>
                    <a:lnTo>
                      <a:pt x="63" y="17"/>
                    </a:lnTo>
                    <a:lnTo>
                      <a:pt x="63" y="15"/>
                    </a:lnTo>
                    <a:lnTo>
                      <a:pt x="62" y="15"/>
                    </a:lnTo>
                    <a:lnTo>
                      <a:pt x="62" y="14"/>
                    </a:lnTo>
                    <a:lnTo>
                      <a:pt x="62" y="14"/>
                    </a:lnTo>
                    <a:lnTo>
                      <a:pt x="62" y="12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2" y="9"/>
                    </a:lnTo>
                    <a:lnTo>
                      <a:pt x="62" y="8"/>
                    </a:lnTo>
                    <a:lnTo>
                      <a:pt x="62" y="6"/>
                    </a:lnTo>
                    <a:lnTo>
                      <a:pt x="62" y="5"/>
                    </a:lnTo>
                    <a:lnTo>
                      <a:pt x="62" y="3"/>
                    </a:lnTo>
                    <a:lnTo>
                      <a:pt x="62" y="2"/>
                    </a:lnTo>
                    <a:lnTo>
                      <a:pt x="6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3" name="Freeform 296"/>
              <p:cNvSpPr>
                <a:spLocks/>
              </p:cNvSpPr>
              <p:nvPr/>
            </p:nvSpPr>
            <p:spPr bwMode="auto">
              <a:xfrm>
                <a:off x="2667" y="2767"/>
                <a:ext cx="21" cy="70"/>
              </a:xfrm>
              <a:custGeom>
                <a:avLst/>
                <a:gdLst>
                  <a:gd name="T0" fmla="*/ 4 w 63"/>
                  <a:gd name="T1" fmla="*/ 7 h 211"/>
                  <a:gd name="T2" fmla="*/ 7 w 63"/>
                  <a:gd name="T3" fmla="*/ 13 h 211"/>
                  <a:gd name="T4" fmla="*/ 10 w 63"/>
                  <a:gd name="T5" fmla="*/ 19 h 211"/>
                  <a:gd name="T6" fmla="*/ 13 w 63"/>
                  <a:gd name="T7" fmla="*/ 23 h 211"/>
                  <a:gd name="T8" fmla="*/ 15 w 63"/>
                  <a:gd name="T9" fmla="*/ 26 h 211"/>
                  <a:gd name="T10" fmla="*/ 16 w 63"/>
                  <a:gd name="T11" fmla="*/ 29 h 211"/>
                  <a:gd name="T12" fmla="*/ 17 w 63"/>
                  <a:gd name="T13" fmla="*/ 34 h 211"/>
                  <a:gd name="T14" fmla="*/ 19 w 63"/>
                  <a:gd name="T15" fmla="*/ 38 h 211"/>
                  <a:gd name="T16" fmla="*/ 20 w 63"/>
                  <a:gd name="T17" fmla="*/ 41 h 211"/>
                  <a:gd name="T18" fmla="*/ 22 w 63"/>
                  <a:gd name="T19" fmla="*/ 46 h 211"/>
                  <a:gd name="T20" fmla="*/ 23 w 63"/>
                  <a:gd name="T21" fmla="*/ 49 h 211"/>
                  <a:gd name="T22" fmla="*/ 25 w 63"/>
                  <a:gd name="T23" fmla="*/ 51 h 211"/>
                  <a:gd name="T24" fmla="*/ 26 w 63"/>
                  <a:gd name="T25" fmla="*/ 54 h 211"/>
                  <a:gd name="T26" fmla="*/ 28 w 63"/>
                  <a:gd name="T27" fmla="*/ 57 h 211"/>
                  <a:gd name="T28" fmla="*/ 29 w 63"/>
                  <a:gd name="T29" fmla="*/ 60 h 211"/>
                  <a:gd name="T30" fmla="*/ 31 w 63"/>
                  <a:gd name="T31" fmla="*/ 66 h 211"/>
                  <a:gd name="T32" fmla="*/ 32 w 63"/>
                  <a:gd name="T33" fmla="*/ 69 h 211"/>
                  <a:gd name="T34" fmla="*/ 34 w 63"/>
                  <a:gd name="T35" fmla="*/ 75 h 211"/>
                  <a:gd name="T36" fmla="*/ 35 w 63"/>
                  <a:gd name="T37" fmla="*/ 80 h 211"/>
                  <a:gd name="T38" fmla="*/ 37 w 63"/>
                  <a:gd name="T39" fmla="*/ 83 h 211"/>
                  <a:gd name="T40" fmla="*/ 38 w 63"/>
                  <a:gd name="T41" fmla="*/ 86 h 211"/>
                  <a:gd name="T42" fmla="*/ 38 w 63"/>
                  <a:gd name="T43" fmla="*/ 88 h 211"/>
                  <a:gd name="T44" fmla="*/ 40 w 63"/>
                  <a:gd name="T45" fmla="*/ 91 h 211"/>
                  <a:gd name="T46" fmla="*/ 41 w 63"/>
                  <a:gd name="T47" fmla="*/ 96 h 211"/>
                  <a:gd name="T48" fmla="*/ 43 w 63"/>
                  <a:gd name="T49" fmla="*/ 100 h 211"/>
                  <a:gd name="T50" fmla="*/ 44 w 63"/>
                  <a:gd name="T51" fmla="*/ 106 h 211"/>
                  <a:gd name="T52" fmla="*/ 46 w 63"/>
                  <a:gd name="T53" fmla="*/ 111 h 211"/>
                  <a:gd name="T54" fmla="*/ 47 w 63"/>
                  <a:gd name="T55" fmla="*/ 114 h 211"/>
                  <a:gd name="T56" fmla="*/ 47 w 63"/>
                  <a:gd name="T57" fmla="*/ 117 h 211"/>
                  <a:gd name="T58" fmla="*/ 49 w 63"/>
                  <a:gd name="T59" fmla="*/ 120 h 211"/>
                  <a:gd name="T60" fmla="*/ 50 w 63"/>
                  <a:gd name="T61" fmla="*/ 123 h 211"/>
                  <a:gd name="T62" fmla="*/ 52 w 63"/>
                  <a:gd name="T63" fmla="*/ 127 h 211"/>
                  <a:gd name="T64" fmla="*/ 53 w 63"/>
                  <a:gd name="T65" fmla="*/ 133 h 211"/>
                  <a:gd name="T66" fmla="*/ 55 w 63"/>
                  <a:gd name="T67" fmla="*/ 137 h 211"/>
                  <a:gd name="T68" fmla="*/ 55 w 63"/>
                  <a:gd name="T69" fmla="*/ 142 h 211"/>
                  <a:gd name="T70" fmla="*/ 56 w 63"/>
                  <a:gd name="T71" fmla="*/ 145 h 211"/>
                  <a:gd name="T72" fmla="*/ 57 w 63"/>
                  <a:gd name="T73" fmla="*/ 148 h 211"/>
                  <a:gd name="T74" fmla="*/ 57 w 63"/>
                  <a:gd name="T75" fmla="*/ 151 h 211"/>
                  <a:gd name="T76" fmla="*/ 57 w 63"/>
                  <a:gd name="T77" fmla="*/ 154 h 211"/>
                  <a:gd name="T78" fmla="*/ 57 w 63"/>
                  <a:gd name="T79" fmla="*/ 157 h 211"/>
                  <a:gd name="T80" fmla="*/ 59 w 63"/>
                  <a:gd name="T81" fmla="*/ 161 h 211"/>
                  <a:gd name="T82" fmla="*/ 59 w 63"/>
                  <a:gd name="T83" fmla="*/ 165 h 211"/>
                  <a:gd name="T84" fmla="*/ 59 w 63"/>
                  <a:gd name="T85" fmla="*/ 168 h 211"/>
                  <a:gd name="T86" fmla="*/ 59 w 63"/>
                  <a:gd name="T87" fmla="*/ 173 h 211"/>
                  <a:gd name="T88" fmla="*/ 59 w 63"/>
                  <a:gd name="T89" fmla="*/ 174 h 211"/>
                  <a:gd name="T90" fmla="*/ 60 w 63"/>
                  <a:gd name="T91" fmla="*/ 177 h 211"/>
                  <a:gd name="T92" fmla="*/ 60 w 63"/>
                  <a:gd name="T93" fmla="*/ 179 h 211"/>
                  <a:gd name="T94" fmla="*/ 60 w 63"/>
                  <a:gd name="T95" fmla="*/ 180 h 211"/>
                  <a:gd name="T96" fmla="*/ 60 w 63"/>
                  <a:gd name="T97" fmla="*/ 183 h 211"/>
                  <a:gd name="T98" fmla="*/ 62 w 63"/>
                  <a:gd name="T99" fmla="*/ 186 h 211"/>
                  <a:gd name="T100" fmla="*/ 62 w 63"/>
                  <a:gd name="T101" fmla="*/ 188 h 211"/>
                  <a:gd name="T102" fmla="*/ 62 w 63"/>
                  <a:gd name="T103" fmla="*/ 191 h 211"/>
                  <a:gd name="T104" fmla="*/ 62 w 63"/>
                  <a:gd name="T105" fmla="*/ 192 h 211"/>
                  <a:gd name="T106" fmla="*/ 63 w 63"/>
                  <a:gd name="T107" fmla="*/ 195 h 211"/>
                  <a:gd name="T108" fmla="*/ 62 w 63"/>
                  <a:gd name="T109" fmla="*/ 198 h 211"/>
                  <a:gd name="T110" fmla="*/ 62 w 63"/>
                  <a:gd name="T111" fmla="*/ 202 h 211"/>
                  <a:gd name="T112" fmla="*/ 62 w 63"/>
                  <a:gd name="T113" fmla="*/ 207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1">
                    <a:moveTo>
                      <a:pt x="0" y="0"/>
                    </a:moveTo>
                    <a:lnTo>
                      <a:pt x="1" y="3"/>
                    </a:lnTo>
                    <a:lnTo>
                      <a:pt x="3" y="4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1"/>
                    </a:lnTo>
                    <a:lnTo>
                      <a:pt x="7" y="13"/>
                    </a:lnTo>
                    <a:lnTo>
                      <a:pt x="9" y="14"/>
                    </a:lnTo>
                    <a:lnTo>
                      <a:pt x="9" y="16"/>
                    </a:lnTo>
                    <a:lnTo>
                      <a:pt x="10" y="17"/>
                    </a:lnTo>
                    <a:lnTo>
                      <a:pt x="10" y="19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12" y="22"/>
                    </a:lnTo>
                    <a:lnTo>
                      <a:pt x="13" y="23"/>
                    </a:lnTo>
                    <a:lnTo>
                      <a:pt x="13" y="23"/>
                    </a:lnTo>
                    <a:lnTo>
                      <a:pt x="13" y="25"/>
                    </a:lnTo>
                    <a:lnTo>
                      <a:pt x="15" y="26"/>
                    </a:lnTo>
                    <a:lnTo>
                      <a:pt x="15" y="26"/>
                    </a:lnTo>
                    <a:lnTo>
                      <a:pt x="15" y="28"/>
                    </a:lnTo>
                    <a:lnTo>
                      <a:pt x="15" y="28"/>
                    </a:lnTo>
                    <a:lnTo>
                      <a:pt x="16" y="29"/>
                    </a:lnTo>
                    <a:lnTo>
                      <a:pt x="16" y="29"/>
                    </a:lnTo>
                    <a:lnTo>
                      <a:pt x="16" y="31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9" y="35"/>
                    </a:lnTo>
                    <a:lnTo>
                      <a:pt x="19" y="37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0" y="40"/>
                    </a:lnTo>
                    <a:lnTo>
                      <a:pt x="20" y="41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2" y="44"/>
                    </a:lnTo>
                    <a:lnTo>
                      <a:pt x="22" y="46"/>
                    </a:lnTo>
                    <a:lnTo>
                      <a:pt x="23" y="46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3" y="49"/>
                    </a:lnTo>
                    <a:lnTo>
                      <a:pt x="23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1"/>
                    </a:lnTo>
                    <a:lnTo>
                      <a:pt x="25" y="51"/>
                    </a:lnTo>
                    <a:lnTo>
                      <a:pt x="25" y="53"/>
                    </a:lnTo>
                    <a:lnTo>
                      <a:pt x="26" y="53"/>
                    </a:lnTo>
                    <a:lnTo>
                      <a:pt x="26" y="54"/>
                    </a:lnTo>
                    <a:lnTo>
                      <a:pt x="26" y="54"/>
                    </a:lnTo>
                    <a:lnTo>
                      <a:pt x="26" y="56"/>
                    </a:lnTo>
                    <a:lnTo>
                      <a:pt x="26" y="56"/>
                    </a:lnTo>
                    <a:lnTo>
                      <a:pt x="28" y="57"/>
                    </a:lnTo>
                    <a:lnTo>
                      <a:pt x="28" y="57"/>
                    </a:lnTo>
                    <a:lnTo>
                      <a:pt x="28" y="59"/>
                    </a:lnTo>
                    <a:lnTo>
                      <a:pt x="28" y="60"/>
                    </a:lnTo>
                    <a:lnTo>
                      <a:pt x="29" y="60"/>
                    </a:lnTo>
                    <a:lnTo>
                      <a:pt x="29" y="62"/>
                    </a:lnTo>
                    <a:lnTo>
                      <a:pt x="29" y="63"/>
                    </a:lnTo>
                    <a:lnTo>
                      <a:pt x="29" y="65"/>
                    </a:lnTo>
                    <a:lnTo>
                      <a:pt x="31" y="66"/>
                    </a:lnTo>
                    <a:lnTo>
                      <a:pt x="31" y="66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2" y="69"/>
                    </a:lnTo>
                    <a:lnTo>
                      <a:pt x="32" y="71"/>
                    </a:lnTo>
                    <a:lnTo>
                      <a:pt x="34" y="72"/>
                    </a:lnTo>
                    <a:lnTo>
                      <a:pt x="34" y="74"/>
                    </a:lnTo>
                    <a:lnTo>
                      <a:pt x="34" y="75"/>
                    </a:lnTo>
                    <a:lnTo>
                      <a:pt x="34" y="77"/>
                    </a:lnTo>
                    <a:lnTo>
                      <a:pt x="35" y="77"/>
                    </a:lnTo>
                    <a:lnTo>
                      <a:pt x="35" y="78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7" y="81"/>
                    </a:lnTo>
                    <a:lnTo>
                      <a:pt x="37" y="81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4"/>
                    </a:lnTo>
                    <a:lnTo>
                      <a:pt x="37" y="84"/>
                    </a:lnTo>
                    <a:lnTo>
                      <a:pt x="38" y="86"/>
                    </a:lnTo>
                    <a:lnTo>
                      <a:pt x="38" y="86"/>
                    </a:lnTo>
                    <a:lnTo>
                      <a:pt x="38" y="87"/>
                    </a:lnTo>
                    <a:lnTo>
                      <a:pt x="38" y="87"/>
                    </a:lnTo>
                    <a:lnTo>
                      <a:pt x="38" y="88"/>
                    </a:lnTo>
                    <a:lnTo>
                      <a:pt x="38" y="88"/>
                    </a:lnTo>
                    <a:lnTo>
                      <a:pt x="40" y="90"/>
                    </a:lnTo>
                    <a:lnTo>
                      <a:pt x="40" y="91"/>
                    </a:lnTo>
                    <a:lnTo>
                      <a:pt x="40" y="91"/>
                    </a:lnTo>
                    <a:lnTo>
                      <a:pt x="40" y="93"/>
                    </a:lnTo>
                    <a:lnTo>
                      <a:pt x="41" y="94"/>
                    </a:lnTo>
                    <a:lnTo>
                      <a:pt x="41" y="96"/>
                    </a:lnTo>
                    <a:lnTo>
                      <a:pt x="41" y="96"/>
                    </a:lnTo>
                    <a:lnTo>
                      <a:pt x="41" y="97"/>
                    </a:lnTo>
                    <a:lnTo>
                      <a:pt x="43" y="99"/>
                    </a:lnTo>
                    <a:lnTo>
                      <a:pt x="43" y="100"/>
                    </a:lnTo>
                    <a:lnTo>
                      <a:pt x="43" y="100"/>
                    </a:lnTo>
                    <a:lnTo>
                      <a:pt x="43" y="102"/>
                    </a:lnTo>
                    <a:lnTo>
                      <a:pt x="43" y="103"/>
                    </a:lnTo>
                    <a:lnTo>
                      <a:pt x="44" y="105"/>
                    </a:lnTo>
                    <a:lnTo>
                      <a:pt x="44" y="106"/>
                    </a:lnTo>
                    <a:lnTo>
                      <a:pt x="44" y="108"/>
                    </a:lnTo>
                    <a:lnTo>
                      <a:pt x="44" y="108"/>
                    </a:lnTo>
                    <a:lnTo>
                      <a:pt x="46" y="109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2"/>
                    </a:lnTo>
                    <a:lnTo>
                      <a:pt x="46" y="112"/>
                    </a:lnTo>
                    <a:lnTo>
                      <a:pt x="47" y="114"/>
                    </a:lnTo>
                    <a:lnTo>
                      <a:pt x="47" y="115"/>
                    </a:lnTo>
                    <a:lnTo>
                      <a:pt x="47" y="115"/>
                    </a:lnTo>
                    <a:lnTo>
                      <a:pt x="47" y="117"/>
                    </a:lnTo>
                    <a:lnTo>
                      <a:pt x="47" y="117"/>
                    </a:lnTo>
                    <a:lnTo>
                      <a:pt x="47" y="118"/>
                    </a:lnTo>
                    <a:lnTo>
                      <a:pt x="49" y="118"/>
                    </a:lnTo>
                    <a:lnTo>
                      <a:pt x="49" y="120"/>
                    </a:lnTo>
                    <a:lnTo>
                      <a:pt x="49" y="120"/>
                    </a:lnTo>
                    <a:lnTo>
                      <a:pt x="49" y="121"/>
                    </a:lnTo>
                    <a:lnTo>
                      <a:pt x="49" y="121"/>
                    </a:lnTo>
                    <a:lnTo>
                      <a:pt x="49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5"/>
                    </a:lnTo>
                    <a:lnTo>
                      <a:pt x="50" y="127"/>
                    </a:lnTo>
                    <a:lnTo>
                      <a:pt x="52" y="127"/>
                    </a:lnTo>
                    <a:lnTo>
                      <a:pt x="52" y="128"/>
                    </a:lnTo>
                    <a:lnTo>
                      <a:pt x="52" y="130"/>
                    </a:lnTo>
                    <a:lnTo>
                      <a:pt x="52" y="131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4"/>
                    </a:lnTo>
                    <a:lnTo>
                      <a:pt x="53" y="136"/>
                    </a:lnTo>
                    <a:lnTo>
                      <a:pt x="55" y="137"/>
                    </a:lnTo>
                    <a:lnTo>
                      <a:pt x="55" y="137"/>
                    </a:lnTo>
                    <a:lnTo>
                      <a:pt x="55" y="139"/>
                    </a:lnTo>
                    <a:lnTo>
                      <a:pt x="55" y="140"/>
                    </a:lnTo>
                    <a:lnTo>
                      <a:pt x="55" y="142"/>
                    </a:lnTo>
                    <a:lnTo>
                      <a:pt x="56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6" y="145"/>
                    </a:lnTo>
                    <a:lnTo>
                      <a:pt x="56" y="146"/>
                    </a:lnTo>
                    <a:lnTo>
                      <a:pt x="56" y="146"/>
                    </a:lnTo>
                    <a:lnTo>
                      <a:pt x="57" y="148"/>
                    </a:lnTo>
                    <a:lnTo>
                      <a:pt x="57" y="148"/>
                    </a:lnTo>
                    <a:lnTo>
                      <a:pt x="57" y="149"/>
                    </a:lnTo>
                    <a:lnTo>
                      <a:pt x="57" y="149"/>
                    </a:lnTo>
                    <a:lnTo>
                      <a:pt x="57" y="149"/>
                    </a:lnTo>
                    <a:lnTo>
                      <a:pt x="57" y="151"/>
                    </a:lnTo>
                    <a:lnTo>
                      <a:pt x="57" y="151"/>
                    </a:lnTo>
                    <a:lnTo>
                      <a:pt x="57" y="152"/>
                    </a:lnTo>
                    <a:lnTo>
                      <a:pt x="57" y="152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5"/>
                    </a:lnTo>
                    <a:lnTo>
                      <a:pt x="57" y="157"/>
                    </a:lnTo>
                    <a:lnTo>
                      <a:pt x="57" y="157"/>
                    </a:lnTo>
                    <a:lnTo>
                      <a:pt x="57" y="158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1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5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8"/>
                    </a:lnTo>
                    <a:lnTo>
                      <a:pt x="59" y="168"/>
                    </a:lnTo>
                    <a:lnTo>
                      <a:pt x="59" y="170"/>
                    </a:lnTo>
                    <a:lnTo>
                      <a:pt x="59" y="171"/>
                    </a:lnTo>
                    <a:lnTo>
                      <a:pt x="59" y="171"/>
                    </a:lnTo>
                    <a:lnTo>
                      <a:pt x="59" y="173"/>
                    </a:lnTo>
                    <a:lnTo>
                      <a:pt x="59" y="173"/>
                    </a:lnTo>
                    <a:lnTo>
                      <a:pt x="59" y="173"/>
                    </a:lnTo>
                    <a:lnTo>
                      <a:pt x="59" y="174"/>
                    </a:lnTo>
                    <a:lnTo>
                      <a:pt x="59" y="174"/>
                    </a:lnTo>
                    <a:lnTo>
                      <a:pt x="59" y="176"/>
                    </a:lnTo>
                    <a:lnTo>
                      <a:pt x="60" y="176"/>
                    </a:lnTo>
                    <a:lnTo>
                      <a:pt x="60" y="176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0"/>
                    </a:lnTo>
                    <a:lnTo>
                      <a:pt x="60" y="180"/>
                    </a:lnTo>
                    <a:lnTo>
                      <a:pt x="60" y="180"/>
                    </a:lnTo>
                    <a:lnTo>
                      <a:pt x="60" y="182"/>
                    </a:lnTo>
                    <a:lnTo>
                      <a:pt x="60" y="182"/>
                    </a:lnTo>
                    <a:lnTo>
                      <a:pt x="60" y="183"/>
                    </a:lnTo>
                    <a:lnTo>
                      <a:pt x="60" y="183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6"/>
                    </a:lnTo>
                    <a:lnTo>
                      <a:pt x="62" y="186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9"/>
                    </a:lnTo>
                    <a:lnTo>
                      <a:pt x="62" y="189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2"/>
                    </a:lnTo>
                    <a:lnTo>
                      <a:pt x="62" y="192"/>
                    </a:lnTo>
                    <a:lnTo>
                      <a:pt x="62" y="192"/>
                    </a:lnTo>
                    <a:lnTo>
                      <a:pt x="62" y="194"/>
                    </a:lnTo>
                    <a:lnTo>
                      <a:pt x="62" y="194"/>
                    </a:lnTo>
                    <a:lnTo>
                      <a:pt x="62" y="195"/>
                    </a:lnTo>
                    <a:lnTo>
                      <a:pt x="63" y="195"/>
                    </a:lnTo>
                    <a:lnTo>
                      <a:pt x="63" y="197"/>
                    </a:lnTo>
                    <a:lnTo>
                      <a:pt x="63" y="197"/>
                    </a:lnTo>
                    <a:lnTo>
                      <a:pt x="62" y="198"/>
                    </a:lnTo>
                    <a:lnTo>
                      <a:pt x="62" y="198"/>
                    </a:lnTo>
                    <a:lnTo>
                      <a:pt x="62" y="200"/>
                    </a:lnTo>
                    <a:lnTo>
                      <a:pt x="62" y="200"/>
                    </a:lnTo>
                    <a:lnTo>
                      <a:pt x="62" y="201"/>
                    </a:lnTo>
                    <a:lnTo>
                      <a:pt x="62" y="202"/>
                    </a:lnTo>
                    <a:lnTo>
                      <a:pt x="62" y="204"/>
                    </a:lnTo>
                    <a:lnTo>
                      <a:pt x="62" y="204"/>
                    </a:lnTo>
                    <a:lnTo>
                      <a:pt x="62" y="205"/>
                    </a:lnTo>
                    <a:lnTo>
                      <a:pt x="62" y="207"/>
                    </a:lnTo>
                    <a:lnTo>
                      <a:pt x="62" y="208"/>
                    </a:lnTo>
                    <a:lnTo>
                      <a:pt x="62" y="210"/>
                    </a:lnTo>
                    <a:lnTo>
                      <a:pt x="62" y="211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4" name="Freeform 297"/>
              <p:cNvSpPr>
                <a:spLocks/>
              </p:cNvSpPr>
              <p:nvPr/>
            </p:nvSpPr>
            <p:spPr bwMode="auto">
              <a:xfrm>
                <a:off x="2401" y="2565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30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9 h 296"/>
                  <a:gd name="T20" fmla="*/ 2 w 296"/>
                  <a:gd name="T21" fmla="*/ 141 h 296"/>
                  <a:gd name="T22" fmla="*/ 2 w 296"/>
                  <a:gd name="T23" fmla="*/ 156 h 296"/>
                  <a:gd name="T24" fmla="*/ 4 w 296"/>
                  <a:gd name="T25" fmla="*/ 178 h 296"/>
                  <a:gd name="T26" fmla="*/ 10 w 296"/>
                  <a:gd name="T27" fmla="*/ 199 h 296"/>
                  <a:gd name="T28" fmla="*/ 19 w 296"/>
                  <a:gd name="T29" fmla="*/ 218 h 296"/>
                  <a:gd name="T30" fmla="*/ 30 w 296"/>
                  <a:gd name="T31" fmla="*/ 237 h 296"/>
                  <a:gd name="T32" fmla="*/ 44 w 296"/>
                  <a:gd name="T33" fmla="*/ 252 h 296"/>
                  <a:gd name="T34" fmla="*/ 61 w 296"/>
                  <a:gd name="T35" fmla="*/ 267 h 296"/>
                  <a:gd name="T36" fmla="*/ 79 w 296"/>
                  <a:gd name="T37" fmla="*/ 278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8 h 296"/>
                  <a:gd name="T52" fmla="*/ 237 w 296"/>
                  <a:gd name="T53" fmla="*/ 267 h 296"/>
                  <a:gd name="T54" fmla="*/ 253 w 296"/>
                  <a:gd name="T55" fmla="*/ 252 h 296"/>
                  <a:gd name="T56" fmla="*/ 268 w 296"/>
                  <a:gd name="T57" fmla="*/ 237 h 296"/>
                  <a:gd name="T58" fmla="*/ 278 w 296"/>
                  <a:gd name="T59" fmla="*/ 218 h 296"/>
                  <a:gd name="T60" fmla="*/ 287 w 296"/>
                  <a:gd name="T61" fmla="*/ 199 h 296"/>
                  <a:gd name="T62" fmla="*/ 293 w 296"/>
                  <a:gd name="T63" fmla="*/ 178 h 296"/>
                  <a:gd name="T64" fmla="*/ 296 w 296"/>
                  <a:gd name="T65" fmla="*/ 156 h 296"/>
                  <a:gd name="T66" fmla="*/ 296 w 296"/>
                  <a:gd name="T67" fmla="*/ 141 h 296"/>
                  <a:gd name="T68" fmla="*/ 293 w 296"/>
                  <a:gd name="T69" fmla="*/ 119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30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2"/>
                    </a:lnTo>
                    <a:lnTo>
                      <a:pt x="119" y="3"/>
                    </a:lnTo>
                    <a:lnTo>
                      <a:pt x="113" y="5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5"/>
                    </a:lnTo>
                    <a:lnTo>
                      <a:pt x="61" y="30"/>
                    </a:lnTo>
                    <a:lnTo>
                      <a:pt x="55" y="34"/>
                    </a:lnTo>
                    <a:lnTo>
                      <a:pt x="49" y="39"/>
                    </a:lnTo>
                    <a:lnTo>
                      <a:pt x="44" y="43"/>
                    </a:lnTo>
                    <a:lnTo>
                      <a:pt x="39" y="47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0"/>
                    </a:lnTo>
                    <a:lnTo>
                      <a:pt x="10" y="96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9"/>
                    </a:lnTo>
                    <a:lnTo>
                      <a:pt x="3" y="124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6"/>
                    </a:lnTo>
                    <a:lnTo>
                      <a:pt x="2" y="163"/>
                    </a:lnTo>
                    <a:lnTo>
                      <a:pt x="3" y="170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9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1"/>
                    </a:lnTo>
                    <a:lnTo>
                      <a:pt x="39" y="247"/>
                    </a:lnTo>
                    <a:lnTo>
                      <a:pt x="44" y="252"/>
                    </a:lnTo>
                    <a:lnTo>
                      <a:pt x="49" y="258"/>
                    </a:lnTo>
                    <a:lnTo>
                      <a:pt x="55" y="262"/>
                    </a:lnTo>
                    <a:lnTo>
                      <a:pt x="61" y="267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8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3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3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8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7"/>
                    </a:lnTo>
                    <a:lnTo>
                      <a:pt x="243" y="262"/>
                    </a:lnTo>
                    <a:lnTo>
                      <a:pt x="249" y="258"/>
                    </a:lnTo>
                    <a:lnTo>
                      <a:pt x="253" y="252"/>
                    </a:lnTo>
                    <a:lnTo>
                      <a:pt x="259" y="247"/>
                    </a:lnTo>
                    <a:lnTo>
                      <a:pt x="264" y="241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9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0"/>
                    </a:lnTo>
                    <a:lnTo>
                      <a:pt x="296" y="163"/>
                    </a:lnTo>
                    <a:lnTo>
                      <a:pt x="296" y="156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4"/>
                    </a:lnTo>
                    <a:lnTo>
                      <a:pt x="293" y="119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6"/>
                    </a:lnTo>
                    <a:lnTo>
                      <a:pt x="286" y="90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7"/>
                    </a:lnTo>
                    <a:lnTo>
                      <a:pt x="253" y="43"/>
                    </a:lnTo>
                    <a:lnTo>
                      <a:pt x="249" y="39"/>
                    </a:lnTo>
                    <a:lnTo>
                      <a:pt x="243" y="34"/>
                    </a:lnTo>
                    <a:lnTo>
                      <a:pt x="237" y="30"/>
                    </a:lnTo>
                    <a:lnTo>
                      <a:pt x="231" y="25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5"/>
                    </a:lnTo>
                    <a:lnTo>
                      <a:pt x="179" y="3"/>
                    </a:lnTo>
                    <a:lnTo>
                      <a:pt x="172" y="2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5" name="Freeform 298"/>
              <p:cNvSpPr>
                <a:spLocks/>
              </p:cNvSpPr>
              <p:nvPr/>
            </p:nvSpPr>
            <p:spPr bwMode="auto">
              <a:xfrm>
                <a:off x="2396" y="2569"/>
                <a:ext cx="101" cy="101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5 h 302"/>
                  <a:gd name="T4" fmla="*/ 93 w 303"/>
                  <a:gd name="T5" fmla="*/ 12 h 302"/>
                  <a:gd name="T6" fmla="*/ 74 w 303"/>
                  <a:gd name="T7" fmla="*/ 21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7 h 302"/>
                  <a:gd name="T14" fmla="*/ 15 w 303"/>
                  <a:gd name="T15" fmla="*/ 85 h 302"/>
                  <a:gd name="T16" fmla="*/ 7 w 303"/>
                  <a:gd name="T17" fmla="*/ 106 h 302"/>
                  <a:gd name="T18" fmla="*/ 3 w 303"/>
                  <a:gd name="T19" fmla="*/ 128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1 h 302"/>
                  <a:gd name="T28" fmla="*/ 22 w 303"/>
                  <a:gd name="T29" fmla="*/ 230 h 302"/>
                  <a:gd name="T30" fmla="*/ 35 w 303"/>
                  <a:gd name="T31" fmla="*/ 248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8 h 302"/>
                  <a:gd name="T38" fmla="*/ 106 w 303"/>
                  <a:gd name="T39" fmla="*/ 295 h 302"/>
                  <a:gd name="T40" fmla="*/ 129 w 303"/>
                  <a:gd name="T41" fmla="*/ 301 h 302"/>
                  <a:gd name="T42" fmla="*/ 152 w 303"/>
                  <a:gd name="T43" fmla="*/ 302 h 302"/>
                  <a:gd name="T44" fmla="*/ 167 w 303"/>
                  <a:gd name="T45" fmla="*/ 301 h 302"/>
                  <a:gd name="T46" fmla="*/ 189 w 303"/>
                  <a:gd name="T47" fmla="*/ 298 h 302"/>
                  <a:gd name="T48" fmla="*/ 210 w 303"/>
                  <a:gd name="T49" fmla="*/ 291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4 h 302"/>
                  <a:gd name="T56" fmla="*/ 277 w 303"/>
                  <a:gd name="T57" fmla="*/ 236 h 302"/>
                  <a:gd name="T58" fmla="*/ 289 w 303"/>
                  <a:gd name="T59" fmla="*/ 217 h 302"/>
                  <a:gd name="T60" fmla="*/ 296 w 303"/>
                  <a:gd name="T61" fmla="*/ 196 h 302"/>
                  <a:gd name="T62" fmla="*/ 302 w 303"/>
                  <a:gd name="T63" fmla="*/ 174 h 302"/>
                  <a:gd name="T64" fmla="*/ 303 w 303"/>
                  <a:gd name="T65" fmla="*/ 151 h 302"/>
                  <a:gd name="T66" fmla="*/ 302 w 303"/>
                  <a:gd name="T67" fmla="*/ 135 h 302"/>
                  <a:gd name="T68" fmla="*/ 299 w 303"/>
                  <a:gd name="T69" fmla="*/ 113 h 302"/>
                  <a:gd name="T70" fmla="*/ 291 w 303"/>
                  <a:gd name="T71" fmla="*/ 92 h 302"/>
                  <a:gd name="T72" fmla="*/ 281 w 303"/>
                  <a:gd name="T73" fmla="*/ 73 h 302"/>
                  <a:gd name="T74" fmla="*/ 268 w 303"/>
                  <a:gd name="T75" fmla="*/ 55 h 302"/>
                  <a:gd name="T76" fmla="*/ 253 w 303"/>
                  <a:gd name="T77" fmla="*/ 39 h 302"/>
                  <a:gd name="T78" fmla="*/ 237 w 303"/>
                  <a:gd name="T79" fmla="*/ 26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2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2"/>
                    </a:lnTo>
                    <a:lnTo>
                      <a:pt x="121" y="3"/>
                    </a:lnTo>
                    <a:lnTo>
                      <a:pt x="114" y="5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1"/>
                    </a:lnTo>
                    <a:lnTo>
                      <a:pt x="66" y="26"/>
                    </a:lnTo>
                    <a:lnTo>
                      <a:pt x="60" y="30"/>
                    </a:lnTo>
                    <a:lnTo>
                      <a:pt x="56" y="34"/>
                    </a:lnTo>
                    <a:lnTo>
                      <a:pt x="50" y="39"/>
                    </a:lnTo>
                    <a:lnTo>
                      <a:pt x="44" y="45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1"/>
                    </a:lnTo>
                    <a:lnTo>
                      <a:pt x="26" y="67"/>
                    </a:lnTo>
                    <a:lnTo>
                      <a:pt x="22" y="73"/>
                    </a:lnTo>
                    <a:lnTo>
                      <a:pt x="19" y="79"/>
                    </a:lnTo>
                    <a:lnTo>
                      <a:pt x="15" y="85"/>
                    </a:lnTo>
                    <a:lnTo>
                      <a:pt x="12" y="92"/>
                    </a:lnTo>
                    <a:lnTo>
                      <a:pt x="10" y="100"/>
                    </a:lnTo>
                    <a:lnTo>
                      <a:pt x="7" y="106"/>
                    </a:lnTo>
                    <a:lnTo>
                      <a:pt x="6" y="113"/>
                    </a:lnTo>
                    <a:lnTo>
                      <a:pt x="3" y="120"/>
                    </a:lnTo>
                    <a:lnTo>
                      <a:pt x="3" y="128"/>
                    </a:lnTo>
                    <a:lnTo>
                      <a:pt x="1" y="135"/>
                    </a:lnTo>
                    <a:lnTo>
                      <a:pt x="1" y="144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9"/>
                    </a:lnTo>
                    <a:lnTo>
                      <a:pt x="1" y="166"/>
                    </a:lnTo>
                    <a:lnTo>
                      <a:pt x="3" y="174"/>
                    </a:lnTo>
                    <a:lnTo>
                      <a:pt x="3" y="181"/>
                    </a:lnTo>
                    <a:lnTo>
                      <a:pt x="6" y="188"/>
                    </a:lnTo>
                    <a:lnTo>
                      <a:pt x="7" y="196"/>
                    </a:lnTo>
                    <a:lnTo>
                      <a:pt x="10" y="203"/>
                    </a:lnTo>
                    <a:lnTo>
                      <a:pt x="12" y="211"/>
                    </a:lnTo>
                    <a:lnTo>
                      <a:pt x="15" y="217"/>
                    </a:lnTo>
                    <a:lnTo>
                      <a:pt x="19" y="224"/>
                    </a:lnTo>
                    <a:lnTo>
                      <a:pt x="22" y="230"/>
                    </a:lnTo>
                    <a:lnTo>
                      <a:pt x="26" y="236"/>
                    </a:lnTo>
                    <a:lnTo>
                      <a:pt x="31" y="242"/>
                    </a:lnTo>
                    <a:lnTo>
                      <a:pt x="35" y="248"/>
                    </a:lnTo>
                    <a:lnTo>
                      <a:pt x="40" y="254"/>
                    </a:lnTo>
                    <a:lnTo>
                      <a:pt x="44" y="258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3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5"/>
                    </a:lnTo>
                    <a:lnTo>
                      <a:pt x="86" y="288"/>
                    </a:lnTo>
                    <a:lnTo>
                      <a:pt x="93" y="291"/>
                    </a:lnTo>
                    <a:lnTo>
                      <a:pt x="99" y="294"/>
                    </a:lnTo>
                    <a:lnTo>
                      <a:pt x="106" y="295"/>
                    </a:lnTo>
                    <a:lnTo>
                      <a:pt x="114" y="298"/>
                    </a:lnTo>
                    <a:lnTo>
                      <a:pt x="121" y="300"/>
                    </a:lnTo>
                    <a:lnTo>
                      <a:pt x="129" y="301"/>
                    </a:lnTo>
                    <a:lnTo>
                      <a:pt x="136" y="301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1"/>
                    </a:lnTo>
                    <a:lnTo>
                      <a:pt x="174" y="301"/>
                    </a:lnTo>
                    <a:lnTo>
                      <a:pt x="182" y="300"/>
                    </a:lnTo>
                    <a:lnTo>
                      <a:pt x="189" y="298"/>
                    </a:lnTo>
                    <a:lnTo>
                      <a:pt x="197" y="295"/>
                    </a:lnTo>
                    <a:lnTo>
                      <a:pt x="204" y="294"/>
                    </a:lnTo>
                    <a:lnTo>
                      <a:pt x="210" y="291"/>
                    </a:lnTo>
                    <a:lnTo>
                      <a:pt x="217" y="288"/>
                    </a:lnTo>
                    <a:lnTo>
                      <a:pt x="223" y="285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3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8"/>
                    </a:lnTo>
                    <a:lnTo>
                      <a:pt x="263" y="254"/>
                    </a:lnTo>
                    <a:lnTo>
                      <a:pt x="268" y="248"/>
                    </a:lnTo>
                    <a:lnTo>
                      <a:pt x="272" y="242"/>
                    </a:lnTo>
                    <a:lnTo>
                      <a:pt x="277" y="236"/>
                    </a:lnTo>
                    <a:lnTo>
                      <a:pt x="281" y="230"/>
                    </a:lnTo>
                    <a:lnTo>
                      <a:pt x="284" y="224"/>
                    </a:lnTo>
                    <a:lnTo>
                      <a:pt x="289" y="217"/>
                    </a:lnTo>
                    <a:lnTo>
                      <a:pt x="291" y="211"/>
                    </a:lnTo>
                    <a:lnTo>
                      <a:pt x="294" y="203"/>
                    </a:lnTo>
                    <a:lnTo>
                      <a:pt x="296" y="196"/>
                    </a:lnTo>
                    <a:lnTo>
                      <a:pt x="299" y="188"/>
                    </a:lnTo>
                    <a:lnTo>
                      <a:pt x="300" y="181"/>
                    </a:lnTo>
                    <a:lnTo>
                      <a:pt x="302" y="174"/>
                    </a:lnTo>
                    <a:lnTo>
                      <a:pt x="302" y="166"/>
                    </a:lnTo>
                    <a:lnTo>
                      <a:pt x="303" y="159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4"/>
                    </a:lnTo>
                    <a:lnTo>
                      <a:pt x="302" y="135"/>
                    </a:lnTo>
                    <a:lnTo>
                      <a:pt x="302" y="128"/>
                    </a:lnTo>
                    <a:lnTo>
                      <a:pt x="300" y="120"/>
                    </a:lnTo>
                    <a:lnTo>
                      <a:pt x="299" y="113"/>
                    </a:lnTo>
                    <a:lnTo>
                      <a:pt x="296" y="106"/>
                    </a:lnTo>
                    <a:lnTo>
                      <a:pt x="294" y="100"/>
                    </a:lnTo>
                    <a:lnTo>
                      <a:pt x="291" y="92"/>
                    </a:lnTo>
                    <a:lnTo>
                      <a:pt x="289" y="85"/>
                    </a:lnTo>
                    <a:lnTo>
                      <a:pt x="284" y="79"/>
                    </a:lnTo>
                    <a:lnTo>
                      <a:pt x="281" y="73"/>
                    </a:lnTo>
                    <a:lnTo>
                      <a:pt x="277" y="67"/>
                    </a:lnTo>
                    <a:lnTo>
                      <a:pt x="272" y="61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5"/>
                    </a:lnTo>
                    <a:lnTo>
                      <a:pt x="253" y="39"/>
                    </a:lnTo>
                    <a:lnTo>
                      <a:pt x="249" y="34"/>
                    </a:lnTo>
                    <a:lnTo>
                      <a:pt x="243" y="30"/>
                    </a:lnTo>
                    <a:lnTo>
                      <a:pt x="237" y="26"/>
                    </a:lnTo>
                    <a:lnTo>
                      <a:pt x="231" y="21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5"/>
                    </a:lnTo>
                    <a:lnTo>
                      <a:pt x="182" y="3"/>
                    </a:lnTo>
                    <a:lnTo>
                      <a:pt x="174" y="2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6" name="Rectangle 299"/>
              <p:cNvSpPr>
                <a:spLocks noChangeArrowheads="1"/>
              </p:cNvSpPr>
              <p:nvPr/>
            </p:nvSpPr>
            <p:spPr bwMode="auto">
              <a:xfrm>
                <a:off x="2381" y="2565"/>
                <a:ext cx="69" cy="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7" name="Freeform 300"/>
              <p:cNvSpPr>
                <a:spLocks/>
              </p:cNvSpPr>
              <p:nvPr/>
            </p:nvSpPr>
            <p:spPr bwMode="auto">
              <a:xfrm>
                <a:off x="2381" y="2565"/>
                <a:ext cx="69" cy="99"/>
              </a:xfrm>
              <a:custGeom>
                <a:avLst/>
                <a:gdLst>
                  <a:gd name="T0" fmla="*/ 207 w 207"/>
                  <a:gd name="T1" fmla="*/ 296 h 296"/>
                  <a:gd name="T2" fmla="*/ 0 w 207"/>
                  <a:gd name="T3" fmla="*/ 296 h 296"/>
                  <a:gd name="T4" fmla="*/ 0 w 207"/>
                  <a:gd name="T5" fmla="*/ 0 h 296"/>
                  <a:gd name="T6" fmla="*/ 207 w 207"/>
                  <a:gd name="T7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96">
                    <a:moveTo>
                      <a:pt x="207" y="296"/>
                    </a:moveTo>
                    <a:lnTo>
                      <a:pt x="0" y="296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8" name="Freeform 301"/>
              <p:cNvSpPr>
                <a:spLocks/>
              </p:cNvSpPr>
              <p:nvPr/>
            </p:nvSpPr>
            <p:spPr bwMode="auto">
              <a:xfrm>
                <a:off x="2401" y="2713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9 h 296"/>
                  <a:gd name="T6" fmla="*/ 79 w 296"/>
                  <a:gd name="T7" fmla="*/ 18 h 296"/>
                  <a:gd name="T8" fmla="*/ 61 w 296"/>
                  <a:gd name="T9" fmla="*/ 30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7 h 296"/>
                  <a:gd name="T18" fmla="*/ 4 w 296"/>
                  <a:gd name="T19" fmla="*/ 119 h 296"/>
                  <a:gd name="T20" fmla="*/ 2 w 296"/>
                  <a:gd name="T21" fmla="*/ 141 h 296"/>
                  <a:gd name="T22" fmla="*/ 2 w 296"/>
                  <a:gd name="T23" fmla="*/ 156 h 296"/>
                  <a:gd name="T24" fmla="*/ 4 w 296"/>
                  <a:gd name="T25" fmla="*/ 178 h 296"/>
                  <a:gd name="T26" fmla="*/ 10 w 296"/>
                  <a:gd name="T27" fmla="*/ 199 h 296"/>
                  <a:gd name="T28" fmla="*/ 19 w 296"/>
                  <a:gd name="T29" fmla="*/ 218 h 296"/>
                  <a:gd name="T30" fmla="*/ 30 w 296"/>
                  <a:gd name="T31" fmla="*/ 237 h 296"/>
                  <a:gd name="T32" fmla="*/ 44 w 296"/>
                  <a:gd name="T33" fmla="*/ 252 h 296"/>
                  <a:gd name="T34" fmla="*/ 61 w 296"/>
                  <a:gd name="T35" fmla="*/ 267 h 296"/>
                  <a:gd name="T36" fmla="*/ 79 w 296"/>
                  <a:gd name="T37" fmla="*/ 279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9 h 296"/>
                  <a:gd name="T52" fmla="*/ 237 w 296"/>
                  <a:gd name="T53" fmla="*/ 267 h 296"/>
                  <a:gd name="T54" fmla="*/ 253 w 296"/>
                  <a:gd name="T55" fmla="*/ 252 h 296"/>
                  <a:gd name="T56" fmla="*/ 268 w 296"/>
                  <a:gd name="T57" fmla="*/ 237 h 296"/>
                  <a:gd name="T58" fmla="*/ 278 w 296"/>
                  <a:gd name="T59" fmla="*/ 218 h 296"/>
                  <a:gd name="T60" fmla="*/ 287 w 296"/>
                  <a:gd name="T61" fmla="*/ 199 h 296"/>
                  <a:gd name="T62" fmla="*/ 293 w 296"/>
                  <a:gd name="T63" fmla="*/ 178 h 296"/>
                  <a:gd name="T64" fmla="*/ 296 w 296"/>
                  <a:gd name="T65" fmla="*/ 156 h 296"/>
                  <a:gd name="T66" fmla="*/ 296 w 296"/>
                  <a:gd name="T67" fmla="*/ 141 h 296"/>
                  <a:gd name="T68" fmla="*/ 293 w 296"/>
                  <a:gd name="T69" fmla="*/ 119 h 296"/>
                  <a:gd name="T70" fmla="*/ 287 w 296"/>
                  <a:gd name="T71" fmla="*/ 97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30 h 296"/>
                  <a:gd name="T80" fmla="*/ 219 w 296"/>
                  <a:gd name="T81" fmla="*/ 18 h 296"/>
                  <a:gd name="T82" fmla="*/ 200 w 296"/>
                  <a:gd name="T83" fmla="*/ 9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2"/>
                    </a:lnTo>
                    <a:lnTo>
                      <a:pt x="119" y="3"/>
                    </a:lnTo>
                    <a:lnTo>
                      <a:pt x="113" y="5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5"/>
                    </a:lnTo>
                    <a:lnTo>
                      <a:pt x="61" y="30"/>
                    </a:lnTo>
                    <a:lnTo>
                      <a:pt x="55" y="34"/>
                    </a:lnTo>
                    <a:lnTo>
                      <a:pt x="49" y="39"/>
                    </a:lnTo>
                    <a:lnTo>
                      <a:pt x="44" y="43"/>
                    </a:lnTo>
                    <a:lnTo>
                      <a:pt x="39" y="48"/>
                    </a:lnTo>
                    <a:lnTo>
                      <a:pt x="34" y="54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1"/>
                    </a:lnTo>
                    <a:lnTo>
                      <a:pt x="10" y="97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9"/>
                    </a:lnTo>
                    <a:lnTo>
                      <a:pt x="3" y="125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6"/>
                    </a:lnTo>
                    <a:lnTo>
                      <a:pt x="2" y="163"/>
                    </a:lnTo>
                    <a:lnTo>
                      <a:pt x="3" y="171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9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2"/>
                    </a:lnTo>
                    <a:lnTo>
                      <a:pt x="39" y="248"/>
                    </a:lnTo>
                    <a:lnTo>
                      <a:pt x="44" y="252"/>
                    </a:lnTo>
                    <a:lnTo>
                      <a:pt x="49" y="258"/>
                    </a:lnTo>
                    <a:lnTo>
                      <a:pt x="55" y="262"/>
                    </a:lnTo>
                    <a:lnTo>
                      <a:pt x="61" y="267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9"/>
                    </a:lnTo>
                    <a:lnTo>
                      <a:pt x="84" y="282"/>
                    </a:lnTo>
                    <a:lnTo>
                      <a:pt x="92" y="285"/>
                    </a:lnTo>
                    <a:lnTo>
                      <a:pt x="98" y="287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3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3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7"/>
                    </a:lnTo>
                    <a:lnTo>
                      <a:pt x="206" y="285"/>
                    </a:lnTo>
                    <a:lnTo>
                      <a:pt x="213" y="282"/>
                    </a:lnTo>
                    <a:lnTo>
                      <a:pt x="219" y="279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7"/>
                    </a:lnTo>
                    <a:lnTo>
                      <a:pt x="243" y="262"/>
                    </a:lnTo>
                    <a:lnTo>
                      <a:pt x="249" y="258"/>
                    </a:lnTo>
                    <a:lnTo>
                      <a:pt x="253" y="252"/>
                    </a:lnTo>
                    <a:lnTo>
                      <a:pt x="259" y="248"/>
                    </a:lnTo>
                    <a:lnTo>
                      <a:pt x="264" y="242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9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1"/>
                    </a:lnTo>
                    <a:lnTo>
                      <a:pt x="296" y="163"/>
                    </a:lnTo>
                    <a:lnTo>
                      <a:pt x="296" y="156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5"/>
                    </a:lnTo>
                    <a:lnTo>
                      <a:pt x="293" y="119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7"/>
                    </a:lnTo>
                    <a:lnTo>
                      <a:pt x="286" y="91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4"/>
                    </a:lnTo>
                    <a:lnTo>
                      <a:pt x="259" y="48"/>
                    </a:lnTo>
                    <a:lnTo>
                      <a:pt x="253" y="43"/>
                    </a:lnTo>
                    <a:lnTo>
                      <a:pt x="249" y="39"/>
                    </a:lnTo>
                    <a:lnTo>
                      <a:pt x="243" y="34"/>
                    </a:lnTo>
                    <a:lnTo>
                      <a:pt x="237" y="30"/>
                    </a:lnTo>
                    <a:lnTo>
                      <a:pt x="231" y="25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5"/>
                    </a:lnTo>
                    <a:lnTo>
                      <a:pt x="179" y="3"/>
                    </a:lnTo>
                    <a:lnTo>
                      <a:pt x="172" y="2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79" name="Freeform 302"/>
              <p:cNvSpPr>
                <a:spLocks/>
              </p:cNvSpPr>
              <p:nvPr/>
            </p:nvSpPr>
            <p:spPr bwMode="auto">
              <a:xfrm>
                <a:off x="2396" y="2710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1 h 302"/>
                  <a:gd name="T6" fmla="*/ 74 w 303"/>
                  <a:gd name="T7" fmla="*/ 20 h 302"/>
                  <a:gd name="T8" fmla="*/ 56 w 303"/>
                  <a:gd name="T9" fmla="*/ 34 h 302"/>
                  <a:gd name="T10" fmla="*/ 40 w 303"/>
                  <a:gd name="T11" fmla="*/ 48 h 302"/>
                  <a:gd name="T12" fmla="*/ 26 w 303"/>
                  <a:gd name="T13" fmla="*/ 66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5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6 h 302"/>
                  <a:gd name="T36" fmla="*/ 86 w 303"/>
                  <a:gd name="T37" fmla="*/ 287 h 302"/>
                  <a:gd name="T38" fmla="*/ 106 w 303"/>
                  <a:gd name="T39" fmla="*/ 294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79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4 h 302"/>
                  <a:gd name="T68" fmla="*/ 299 w 303"/>
                  <a:gd name="T69" fmla="*/ 112 h 302"/>
                  <a:gd name="T70" fmla="*/ 291 w 303"/>
                  <a:gd name="T71" fmla="*/ 91 h 302"/>
                  <a:gd name="T72" fmla="*/ 281 w 303"/>
                  <a:gd name="T73" fmla="*/ 72 h 302"/>
                  <a:gd name="T74" fmla="*/ 268 w 303"/>
                  <a:gd name="T75" fmla="*/ 54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4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8"/>
                    </a:lnTo>
                    <a:lnTo>
                      <a:pt x="93" y="11"/>
                    </a:lnTo>
                    <a:lnTo>
                      <a:pt x="86" y="14"/>
                    </a:lnTo>
                    <a:lnTo>
                      <a:pt x="80" y="17"/>
                    </a:lnTo>
                    <a:lnTo>
                      <a:pt x="74" y="20"/>
                    </a:lnTo>
                    <a:lnTo>
                      <a:pt x="66" y="25"/>
                    </a:lnTo>
                    <a:lnTo>
                      <a:pt x="60" y="29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8"/>
                    </a:lnTo>
                    <a:lnTo>
                      <a:pt x="35" y="54"/>
                    </a:lnTo>
                    <a:lnTo>
                      <a:pt x="31" y="60"/>
                    </a:lnTo>
                    <a:lnTo>
                      <a:pt x="26" y="66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1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4"/>
                    </a:lnTo>
                    <a:lnTo>
                      <a:pt x="1" y="143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5"/>
                    </a:lnTo>
                    <a:lnTo>
                      <a:pt x="3" y="173"/>
                    </a:lnTo>
                    <a:lnTo>
                      <a:pt x="3" y="180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2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7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6"/>
                    </a:lnTo>
                    <a:lnTo>
                      <a:pt x="74" y="279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4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4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79"/>
                    </a:lnTo>
                    <a:lnTo>
                      <a:pt x="237" y="276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7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2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0"/>
                    </a:lnTo>
                    <a:lnTo>
                      <a:pt x="302" y="173"/>
                    </a:lnTo>
                    <a:lnTo>
                      <a:pt x="302" y="165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3"/>
                    </a:lnTo>
                    <a:lnTo>
                      <a:pt x="302" y="134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1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6"/>
                    </a:lnTo>
                    <a:lnTo>
                      <a:pt x="272" y="60"/>
                    </a:lnTo>
                    <a:lnTo>
                      <a:pt x="268" y="54"/>
                    </a:lnTo>
                    <a:lnTo>
                      <a:pt x="263" y="48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29"/>
                    </a:lnTo>
                    <a:lnTo>
                      <a:pt x="237" y="25"/>
                    </a:lnTo>
                    <a:lnTo>
                      <a:pt x="231" y="20"/>
                    </a:lnTo>
                    <a:lnTo>
                      <a:pt x="223" y="17"/>
                    </a:lnTo>
                    <a:lnTo>
                      <a:pt x="217" y="14"/>
                    </a:lnTo>
                    <a:lnTo>
                      <a:pt x="210" y="11"/>
                    </a:lnTo>
                    <a:lnTo>
                      <a:pt x="204" y="8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0" name="Rectangle 303"/>
              <p:cNvSpPr>
                <a:spLocks noChangeArrowheads="1"/>
              </p:cNvSpPr>
              <p:nvPr/>
            </p:nvSpPr>
            <p:spPr bwMode="auto">
              <a:xfrm>
                <a:off x="2381" y="2713"/>
                <a:ext cx="69" cy="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1" name="Freeform 304"/>
              <p:cNvSpPr>
                <a:spLocks/>
              </p:cNvSpPr>
              <p:nvPr/>
            </p:nvSpPr>
            <p:spPr bwMode="auto">
              <a:xfrm>
                <a:off x="2381" y="2713"/>
                <a:ext cx="69" cy="99"/>
              </a:xfrm>
              <a:custGeom>
                <a:avLst/>
                <a:gdLst>
                  <a:gd name="T0" fmla="*/ 207 w 207"/>
                  <a:gd name="T1" fmla="*/ 296 h 296"/>
                  <a:gd name="T2" fmla="*/ 0 w 207"/>
                  <a:gd name="T3" fmla="*/ 296 h 296"/>
                  <a:gd name="T4" fmla="*/ 0 w 207"/>
                  <a:gd name="T5" fmla="*/ 0 h 296"/>
                  <a:gd name="T6" fmla="*/ 207 w 207"/>
                  <a:gd name="T7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96">
                    <a:moveTo>
                      <a:pt x="207" y="296"/>
                    </a:moveTo>
                    <a:lnTo>
                      <a:pt x="0" y="296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2" name="Freeform 305"/>
              <p:cNvSpPr>
                <a:spLocks/>
              </p:cNvSpPr>
              <p:nvPr/>
            </p:nvSpPr>
            <p:spPr bwMode="auto">
              <a:xfrm>
                <a:off x="2401" y="2861"/>
                <a:ext cx="99" cy="99"/>
              </a:xfrm>
              <a:custGeom>
                <a:avLst/>
                <a:gdLst>
                  <a:gd name="T0" fmla="*/ 141 w 296"/>
                  <a:gd name="T1" fmla="*/ 0 h 297"/>
                  <a:gd name="T2" fmla="*/ 119 w 296"/>
                  <a:gd name="T3" fmla="*/ 3 h 297"/>
                  <a:gd name="T4" fmla="*/ 98 w 296"/>
                  <a:gd name="T5" fmla="*/ 9 h 297"/>
                  <a:gd name="T6" fmla="*/ 79 w 296"/>
                  <a:gd name="T7" fmla="*/ 18 h 297"/>
                  <a:gd name="T8" fmla="*/ 61 w 296"/>
                  <a:gd name="T9" fmla="*/ 30 h 297"/>
                  <a:gd name="T10" fmla="*/ 44 w 296"/>
                  <a:gd name="T11" fmla="*/ 43 h 297"/>
                  <a:gd name="T12" fmla="*/ 30 w 296"/>
                  <a:gd name="T13" fmla="*/ 60 h 297"/>
                  <a:gd name="T14" fmla="*/ 19 w 296"/>
                  <a:gd name="T15" fmla="*/ 77 h 297"/>
                  <a:gd name="T16" fmla="*/ 10 w 296"/>
                  <a:gd name="T17" fmla="*/ 97 h 297"/>
                  <a:gd name="T18" fmla="*/ 4 w 296"/>
                  <a:gd name="T19" fmla="*/ 119 h 297"/>
                  <a:gd name="T20" fmla="*/ 2 w 296"/>
                  <a:gd name="T21" fmla="*/ 141 h 297"/>
                  <a:gd name="T22" fmla="*/ 2 w 296"/>
                  <a:gd name="T23" fmla="*/ 156 h 297"/>
                  <a:gd name="T24" fmla="*/ 4 w 296"/>
                  <a:gd name="T25" fmla="*/ 178 h 297"/>
                  <a:gd name="T26" fmla="*/ 10 w 296"/>
                  <a:gd name="T27" fmla="*/ 199 h 297"/>
                  <a:gd name="T28" fmla="*/ 19 w 296"/>
                  <a:gd name="T29" fmla="*/ 218 h 297"/>
                  <a:gd name="T30" fmla="*/ 30 w 296"/>
                  <a:gd name="T31" fmla="*/ 237 h 297"/>
                  <a:gd name="T32" fmla="*/ 44 w 296"/>
                  <a:gd name="T33" fmla="*/ 252 h 297"/>
                  <a:gd name="T34" fmla="*/ 61 w 296"/>
                  <a:gd name="T35" fmla="*/ 267 h 297"/>
                  <a:gd name="T36" fmla="*/ 79 w 296"/>
                  <a:gd name="T37" fmla="*/ 279 h 297"/>
                  <a:gd name="T38" fmla="*/ 98 w 296"/>
                  <a:gd name="T39" fmla="*/ 288 h 297"/>
                  <a:gd name="T40" fmla="*/ 119 w 296"/>
                  <a:gd name="T41" fmla="*/ 294 h 297"/>
                  <a:gd name="T42" fmla="*/ 141 w 296"/>
                  <a:gd name="T43" fmla="*/ 297 h 297"/>
                  <a:gd name="T44" fmla="*/ 157 w 296"/>
                  <a:gd name="T45" fmla="*/ 297 h 297"/>
                  <a:gd name="T46" fmla="*/ 179 w 296"/>
                  <a:gd name="T47" fmla="*/ 294 h 297"/>
                  <a:gd name="T48" fmla="*/ 200 w 296"/>
                  <a:gd name="T49" fmla="*/ 288 h 297"/>
                  <a:gd name="T50" fmla="*/ 219 w 296"/>
                  <a:gd name="T51" fmla="*/ 279 h 297"/>
                  <a:gd name="T52" fmla="*/ 237 w 296"/>
                  <a:gd name="T53" fmla="*/ 267 h 297"/>
                  <a:gd name="T54" fmla="*/ 253 w 296"/>
                  <a:gd name="T55" fmla="*/ 252 h 297"/>
                  <a:gd name="T56" fmla="*/ 268 w 296"/>
                  <a:gd name="T57" fmla="*/ 237 h 297"/>
                  <a:gd name="T58" fmla="*/ 278 w 296"/>
                  <a:gd name="T59" fmla="*/ 218 h 297"/>
                  <a:gd name="T60" fmla="*/ 287 w 296"/>
                  <a:gd name="T61" fmla="*/ 199 h 297"/>
                  <a:gd name="T62" fmla="*/ 293 w 296"/>
                  <a:gd name="T63" fmla="*/ 178 h 297"/>
                  <a:gd name="T64" fmla="*/ 296 w 296"/>
                  <a:gd name="T65" fmla="*/ 156 h 297"/>
                  <a:gd name="T66" fmla="*/ 296 w 296"/>
                  <a:gd name="T67" fmla="*/ 141 h 297"/>
                  <a:gd name="T68" fmla="*/ 293 w 296"/>
                  <a:gd name="T69" fmla="*/ 119 h 297"/>
                  <a:gd name="T70" fmla="*/ 287 w 296"/>
                  <a:gd name="T71" fmla="*/ 97 h 297"/>
                  <a:gd name="T72" fmla="*/ 278 w 296"/>
                  <a:gd name="T73" fmla="*/ 77 h 297"/>
                  <a:gd name="T74" fmla="*/ 268 w 296"/>
                  <a:gd name="T75" fmla="*/ 60 h 297"/>
                  <a:gd name="T76" fmla="*/ 253 w 296"/>
                  <a:gd name="T77" fmla="*/ 43 h 297"/>
                  <a:gd name="T78" fmla="*/ 237 w 296"/>
                  <a:gd name="T79" fmla="*/ 30 h 297"/>
                  <a:gd name="T80" fmla="*/ 219 w 296"/>
                  <a:gd name="T81" fmla="*/ 18 h 297"/>
                  <a:gd name="T82" fmla="*/ 200 w 296"/>
                  <a:gd name="T83" fmla="*/ 9 h 297"/>
                  <a:gd name="T84" fmla="*/ 179 w 296"/>
                  <a:gd name="T85" fmla="*/ 3 h 297"/>
                  <a:gd name="T86" fmla="*/ 157 w 296"/>
                  <a:gd name="T87" fmla="*/ 0 h 297"/>
                  <a:gd name="T88" fmla="*/ 148 w 296"/>
                  <a:gd name="T89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7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2"/>
                    </a:lnTo>
                    <a:lnTo>
                      <a:pt x="119" y="3"/>
                    </a:lnTo>
                    <a:lnTo>
                      <a:pt x="113" y="5"/>
                    </a:lnTo>
                    <a:lnTo>
                      <a:pt x="105" y="6"/>
                    </a:lnTo>
                    <a:lnTo>
                      <a:pt x="98" y="9"/>
                    </a:lnTo>
                    <a:lnTo>
                      <a:pt x="92" y="12"/>
                    </a:lnTo>
                    <a:lnTo>
                      <a:pt x="84" y="15"/>
                    </a:lnTo>
                    <a:lnTo>
                      <a:pt x="79" y="18"/>
                    </a:lnTo>
                    <a:lnTo>
                      <a:pt x="73" y="21"/>
                    </a:lnTo>
                    <a:lnTo>
                      <a:pt x="67" y="26"/>
                    </a:lnTo>
                    <a:lnTo>
                      <a:pt x="61" y="30"/>
                    </a:lnTo>
                    <a:lnTo>
                      <a:pt x="55" y="34"/>
                    </a:lnTo>
                    <a:lnTo>
                      <a:pt x="49" y="39"/>
                    </a:lnTo>
                    <a:lnTo>
                      <a:pt x="44" y="43"/>
                    </a:lnTo>
                    <a:lnTo>
                      <a:pt x="39" y="48"/>
                    </a:lnTo>
                    <a:lnTo>
                      <a:pt x="34" y="54"/>
                    </a:lnTo>
                    <a:lnTo>
                      <a:pt x="30" y="60"/>
                    </a:lnTo>
                    <a:lnTo>
                      <a:pt x="27" y="66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2" y="91"/>
                    </a:lnTo>
                    <a:lnTo>
                      <a:pt x="10" y="97"/>
                    </a:lnTo>
                    <a:lnTo>
                      <a:pt x="7" y="104"/>
                    </a:lnTo>
                    <a:lnTo>
                      <a:pt x="6" y="111"/>
                    </a:lnTo>
                    <a:lnTo>
                      <a:pt x="4" y="119"/>
                    </a:lnTo>
                    <a:lnTo>
                      <a:pt x="3" y="125"/>
                    </a:lnTo>
                    <a:lnTo>
                      <a:pt x="2" y="132"/>
                    </a:lnTo>
                    <a:lnTo>
                      <a:pt x="2" y="141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6"/>
                    </a:lnTo>
                    <a:lnTo>
                      <a:pt x="2" y="163"/>
                    </a:lnTo>
                    <a:lnTo>
                      <a:pt x="3" y="171"/>
                    </a:lnTo>
                    <a:lnTo>
                      <a:pt x="4" y="178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9"/>
                    </a:lnTo>
                    <a:lnTo>
                      <a:pt x="12" y="206"/>
                    </a:lnTo>
                    <a:lnTo>
                      <a:pt x="15" y="212"/>
                    </a:lnTo>
                    <a:lnTo>
                      <a:pt x="19" y="218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7"/>
                    </a:lnTo>
                    <a:lnTo>
                      <a:pt x="34" y="242"/>
                    </a:lnTo>
                    <a:lnTo>
                      <a:pt x="39" y="248"/>
                    </a:lnTo>
                    <a:lnTo>
                      <a:pt x="44" y="252"/>
                    </a:lnTo>
                    <a:lnTo>
                      <a:pt x="49" y="258"/>
                    </a:lnTo>
                    <a:lnTo>
                      <a:pt x="55" y="262"/>
                    </a:lnTo>
                    <a:lnTo>
                      <a:pt x="61" y="267"/>
                    </a:lnTo>
                    <a:lnTo>
                      <a:pt x="67" y="271"/>
                    </a:lnTo>
                    <a:lnTo>
                      <a:pt x="73" y="274"/>
                    </a:lnTo>
                    <a:lnTo>
                      <a:pt x="79" y="279"/>
                    </a:lnTo>
                    <a:lnTo>
                      <a:pt x="84" y="282"/>
                    </a:lnTo>
                    <a:lnTo>
                      <a:pt x="92" y="285"/>
                    </a:lnTo>
                    <a:lnTo>
                      <a:pt x="98" y="288"/>
                    </a:lnTo>
                    <a:lnTo>
                      <a:pt x="105" y="289"/>
                    </a:lnTo>
                    <a:lnTo>
                      <a:pt x="113" y="292"/>
                    </a:lnTo>
                    <a:lnTo>
                      <a:pt x="119" y="294"/>
                    </a:lnTo>
                    <a:lnTo>
                      <a:pt x="126" y="295"/>
                    </a:lnTo>
                    <a:lnTo>
                      <a:pt x="133" y="295"/>
                    </a:lnTo>
                    <a:lnTo>
                      <a:pt x="141" y="297"/>
                    </a:lnTo>
                    <a:lnTo>
                      <a:pt x="148" y="297"/>
                    </a:lnTo>
                    <a:lnTo>
                      <a:pt x="148" y="297"/>
                    </a:lnTo>
                    <a:lnTo>
                      <a:pt x="157" y="297"/>
                    </a:lnTo>
                    <a:lnTo>
                      <a:pt x="164" y="295"/>
                    </a:lnTo>
                    <a:lnTo>
                      <a:pt x="172" y="295"/>
                    </a:lnTo>
                    <a:lnTo>
                      <a:pt x="179" y="294"/>
                    </a:lnTo>
                    <a:lnTo>
                      <a:pt x="185" y="292"/>
                    </a:lnTo>
                    <a:lnTo>
                      <a:pt x="193" y="289"/>
                    </a:lnTo>
                    <a:lnTo>
                      <a:pt x="200" y="288"/>
                    </a:lnTo>
                    <a:lnTo>
                      <a:pt x="206" y="285"/>
                    </a:lnTo>
                    <a:lnTo>
                      <a:pt x="213" y="282"/>
                    </a:lnTo>
                    <a:lnTo>
                      <a:pt x="219" y="279"/>
                    </a:lnTo>
                    <a:lnTo>
                      <a:pt x="225" y="274"/>
                    </a:lnTo>
                    <a:lnTo>
                      <a:pt x="231" y="271"/>
                    </a:lnTo>
                    <a:lnTo>
                      <a:pt x="237" y="267"/>
                    </a:lnTo>
                    <a:lnTo>
                      <a:pt x="243" y="262"/>
                    </a:lnTo>
                    <a:lnTo>
                      <a:pt x="249" y="258"/>
                    </a:lnTo>
                    <a:lnTo>
                      <a:pt x="253" y="252"/>
                    </a:lnTo>
                    <a:lnTo>
                      <a:pt x="259" y="248"/>
                    </a:lnTo>
                    <a:lnTo>
                      <a:pt x="264" y="242"/>
                    </a:lnTo>
                    <a:lnTo>
                      <a:pt x="268" y="237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8"/>
                    </a:lnTo>
                    <a:lnTo>
                      <a:pt x="283" y="212"/>
                    </a:lnTo>
                    <a:lnTo>
                      <a:pt x="286" y="206"/>
                    </a:lnTo>
                    <a:lnTo>
                      <a:pt x="287" y="199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8"/>
                    </a:lnTo>
                    <a:lnTo>
                      <a:pt x="295" y="171"/>
                    </a:lnTo>
                    <a:lnTo>
                      <a:pt x="296" y="163"/>
                    </a:lnTo>
                    <a:lnTo>
                      <a:pt x="296" y="156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1"/>
                    </a:lnTo>
                    <a:lnTo>
                      <a:pt x="296" y="132"/>
                    </a:lnTo>
                    <a:lnTo>
                      <a:pt x="295" y="125"/>
                    </a:lnTo>
                    <a:lnTo>
                      <a:pt x="293" y="119"/>
                    </a:lnTo>
                    <a:lnTo>
                      <a:pt x="292" y="111"/>
                    </a:lnTo>
                    <a:lnTo>
                      <a:pt x="290" y="104"/>
                    </a:lnTo>
                    <a:lnTo>
                      <a:pt x="287" y="97"/>
                    </a:lnTo>
                    <a:lnTo>
                      <a:pt x="286" y="91"/>
                    </a:lnTo>
                    <a:lnTo>
                      <a:pt x="283" y="83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6"/>
                    </a:lnTo>
                    <a:lnTo>
                      <a:pt x="268" y="60"/>
                    </a:lnTo>
                    <a:lnTo>
                      <a:pt x="264" y="54"/>
                    </a:lnTo>
                    <a:lnTo>
                      <a:pt x="259" y="48"/>
                    </a:lnTo>
                    <a:lnTo>
                      <a:pt x="253" y="43"/>
                    </a:lnTo>
                    <a:lnTo>
                      <a:pt x="249" y="39"/>
                    </a:lnTo>
                    <a:lnTo>
                      <a:pt x="243" y="34"/>
                    </a:lnTo>
                    <a:lnTo>
                      <a:pt x="237" y="30"/>
                    </a:lnTo>
                    <a:lnTo>
                      <a:pt x="231" y="26"/>
                    </a:lnTo>
                    <a:lnTo>
                      <a:pt x="225" y="21"/>
                    </a:lnTo>
                    <a:lnTo>
                      <a:pt x="219" y="18"/>
                    </a:lnTo>
                    <a:lnTo>
                      <a:pt x="213" y="15"/>
                    </a:lnTo>
                    <a:lnTo>
                      <a:pt x="206" y="12"/>
                    </a:lnTo>
                    <a:lnTo>
                      <a:pt x="200" y="9"/>
                    </a:lnTo>
                    <a:lnTo>
                      <a:pt x="193" y="6"/>
                    </a:lnTo>
                    <a:lnTo>
                      <a:pt x="185" y="5"/>
                    </a:lnTo>
                    <a:lnTo>
                      <a:pt x="179" y="3"/>
                    </a:lnTo>
                    <a:lnTo>
                      <a:pt x="172" y="2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3" name="Freeform 306"/>
              <p:cNvSpPr>
                <a:spLocks/>
              </p:cNvSpPr>
              <p:nvPr/>
            </p:nvSpPr>
            <p:spPr bwMode="auto">
              <a:xfrm>
                <a:off x="2396" y="2857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2 h 302"/>
                  <a:gd name="T6" fmla="*/ 74 w 303"/>
                  <a:gd name="T7" fmla="*/ 20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6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7 h 302"/>
                  <a:gd name="T38" fmla="*/ 106 w 303"/>
                  <a:gd name="T39" fmla="*/ 294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4 h 302"/>
                  <a:gd name="T68" fmla="*/ 299 w 303"/>
                  <a:gd name="T69" fmla="*/ 112 h 302"/>
                  <a:gd name="T70" fmla="*/ 291 w 303"/>
                  <a:gd name="T71" fmla="*/ 92 h 302"/>
                  <a:gd name="T72" fmla="*/ 281 w 303"/>
                  <a:gd name="T73" fmla="*/ 72 h 302"/>
                  <a:gd name="T74" fmla="*/ 268 w 303"/>
                  <a:gd name="T75" fmla="*/ 55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0"/>
                    </a:lnTo>
                    <a:lnTo>
                      <a:pt x="66" y="25"/>
                    </a:lnTo>
                    <a:lnTo>
                      <a:pt x="60" y="29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0"/>
                    </a:lnTo>
                    <a:lnTo>
                      <a:pt x="26" y="66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4"/>
                    </a:lnTo>
                    <a:lnTo>
                      <a:pt x="1" y="143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6"/>
                    </a:lnTo>
                    <a:lnTo>
                      <a:pt x="3" y="173"/>
                    </a:lnTo>
                    <a:lnTo>
                      <a:pt x="3" y="180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3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7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4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4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7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3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0"/>
                    </a:lnTo>
                    <a:lnTo>
                      <a:pt x="302" y="173"/>
                    </a:lnTo>
                    <a:lnTo>
                      <a:pt x="302" y="166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3"/>
                    </a:lnTo>
                    <a:lnTo>
                      <a:pt x="302" y="134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6"/>
                    </a:lnTo>
                    <a:lnTo>
                      <a:pt x="272" y="60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29"/>
                    </a:lnTo>
                    <a:lnTo>
                      <a:pt x="237" y="25"/>
                    </a:lnTo>
                    <a:lnTo>
                      <a:pt x="231" y="20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4" name="Rectangle 307"/>
              <p:cNvSpPr>
                <a:spLocks noChangeArrowheads="1"/>
              </p:cNvSpPr>
              <p:nvPr/>
            </p:nvSpPr>
            <p:spPr bwMode="auto">
              <a:xfrm>
                <a:off x="2381" y="2861"/>
                <a:ext cx="69" cy="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5" name="Freeform 308"/>
              <p:cNvSpPr>
                <a:spLocks/>
              </p:cNvSpPr>
              <p:nvPr/>
            </p:nvSpPr>
            <p:spPr bwMode="auto">
              <a:xfrm>
                <a:off x="2381" y="2861"/>
                <a:ext cx="69" cy="99"/>
              </a:xfrm>
              <a:custGeom>
                <a:avLst/>
                <a:gdLst>
                  <a:gd name="T0" fmla="*/ 207 w 207"/>
                  <a:gd name="T1" fmla="*/ 297 h 297"/>
                  <a:gd name="T2" fmla="*/ 0 w 207"/>
                  <a:gd name="T3" fmla="*/ 297 h 297"/>
                  <a:gd name="T4" fmla="*/ 0 w 207"/>
                  <a:gd name="T5" fmla="*/ 0 h 297"/>
                  <a:gd name="T6" fmla="*/ 207 w 207"/>
                  <a:gd name="T7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97">
                    <a:moveTo>
                      <a:pt x="207" y="297"/>
                    </a:moveTo>
                    <a:lnTo>
                      <a:pt x="0" y="297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6" name="Line 309"/>
              <p:cNvSpPr>
                <a:spLocks noChangeShapeType="1"/>
              </p:cNvSpPr>
              <p:nvPr/>
            </p:nvSpPr>
            <p:spPr bwMode="auto">
              <a:xfrm>
                <a:off x="1572" y="3059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7" name="Line 310"/>
              <p:cNvSpPr>
                <a:spLocks noChangeShapeType="1"/>
              </p:cNvSpPr>
              <p:nvPr/>
            </p:nvSpPr>
            <p:spPr bwMode="auto">
              <a:xfrm flipH="1">
                <a:off x="1917" y="3029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8" name="Line 311"/>
              <p:cNvSpPr>
                <a:spLocks noChangeShapeType="1"/>
              </p:cNvSpPr>
              <p:nvPr/>
            </p:nvSpPr>
            <p:spPr bwMode="auto">
              <a:xfrm flipH="1" flipV="1">
                <a:off x="1917" y="3029"/>
                <a:ext cx="5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89" name="Line 312"/>
              <p:cNvSpPr>
                <a:spLocks noChangeShapeType="1"/>
              </p:cNvSpPr>
              <p:nvPr/>
            </p:nvSpPr>
            <p:spPr bwMode="auto">
              <a:xfrm flipH="1">
                <a:off x="1710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0" name="Line 313"/>
              <p:cNvSpPr>
                <a:spLocks noChangeShapeType="1"/>
              </p:cNvSpPr>
              <p:nvPr/>
            </p:nvSpPr>
            <p:spPr bwMode="auto">
              <a:xfrm flipH="1" flipV="1">
                <a:off x="1710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1" name="Line 314"/>
              <p:cNvSpPr>
                <a:spLocks noChangeShapeType="1"/>
              </p:cNvSpPr>
              <p:nvPr/>
            </p:nvSpPr>
            <p:spPr bwMode="auto">
              <a:xfrm flipH="1">
                <a:off x="2144" y="3029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2" name="Line 315"/>
              <p:cNvSpPr>
                <a:spLocks noChangeShapeType="1"/>
              </p:cNvSpPr>
              <p:nvPr/>
            </p:nvSpPr>
            <p:spPr bwMode="auto">
              <a:xfrm flipH="1" flipV="1">
                <a:off x="2144" y="3029"/>
                <a:ext cx="60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3" name="Line 316"/>
              <p:cNvSpPr>
                <a:spLocks noChangeShapeType="1"/>
              </p:cNvSpPr>
              <p:nvPr/>
            </p:nvSpPr>
            <p:spPr bwMode="auto">
              <a:xfrm flipH="1">
                <a:off x="1611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4" name="Line 317"/>
              <p:cNvSpPr>
                <a:spLocks noChangeShapeType="1"/>
              </p:cNvSpPr>
              <p:nvPr/>
            </p:nvSpPr>
            <p:spPr bwMode="auto">
              <a:xfrm flipH="1" flipV="1">
                <a:off x="1611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5" name="Line 318"/>
              <p:cNvSpPr>
                <a:spLocks noChangeShapeType="1"/>
              </p:cNvSpPr>
              <p:nvPr/>
            </p:nvSpPr>
            <p:spPr bwMode="auto">
              <a:xfrm flipH="1">
                <a:off x="1809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6" name="Line 319"/>
              <p:cNvSpPr>
                <a:spLocks noChangeShapeType="1"/>
              </p:cNvSpPr>
              <p:nvPr/>
            </p:nvSpPr>
            <p:spPr bwMode="auto">
              <a:xfrm flipH="1" flipV="1">
                <a:off x="1809" y="3029"/>
                <a:ext cx="5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7" name="Line 320"/>
              <p:cNvSpPr>
                <a:spLocks noChangeShapeType="1"/>
              </p:cNvSpPr>
              <p:nvPr/>
            </p:nvSpPr>
            <p:spPr bwMode="auto">
              <a:xfrm flipH="1">
                <a:off x="2253" y="3029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8" name="Line 321"/>
              <p:cNvSpPr>
                <a:spLocks noChangeShapeType="1"/>
              </p:cNvSpPr>
              <p:nvPr/>
            </p:nvSpPr>
            <p:spPr bwMode="auto">
              <a:xfrm flipH="1" flipV="1">
                <a:off x="2253" y="3029"/>
                <a:ext cx="49" cy="5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99" name="Freeform 322"/>
              <p:cNvSpPr>
                <a:spLocks/>
              </p:cNvSpPr>
              <p:nvPr/>
            </p:nvSpPr>
            <p:spPr bwMode="auto">
              <a:xfrm>
                <a:off x="2401" y="3009"/>
                <a:ext cx="99" cy="99"/>
              </a:xfrm>
              <a:custGeom>
                <a:avLst/>
                <a:gdLst>
                  <a:gd name="T0" fmla="*/ 141 w 296"/>
                  <a:gd name="T1" fmla="*/ 0 h 296"/>
                  <a:gd name="T2" fmla="*/ 119 w 296"/>
                  <a:gd name="T3" fmla="*/ 3 h 296"/>
                  <a:gd name="T4" fmla="*/ 98 w 296"/>
                  <a:gd name="T5" fmla="*/ 8 h 296"/>
                  <a:gd name="T6" fmla="*/ 79 w 296"/>
                  <a:gd name="T7" fmla="*/ 17 h 296"/>
                  <a:gd name="T8" fmla="*/ 61 w 296"/>
                  <a:gd name="T9" fmla="*/ 29 h 296"/>
                  <a:gd name="T10" fmla="*/ 44 w 296"/>
                  <a:gd name="T11" fmla="*/ 43 h 296"/>
                  <a:gd name="T12" fmla="*/ 30 w 296"/>
                  <a:gd name="T13" fmla="*/ 59 h 296"/>
                  <a:gd name="T14" fmla="*/ 19 w 296"/>
                  <a:gd name="T15" fmla="*/ 77 h 296"/>
                  <a:gd name="T16" fmla="*/ 10 w 296"/>
                  <a:gd name="T17" fmla="*/ 96 h 296"/>
                  <a:gd name="T18" fmla="*/ 4 w 296"/>
                  <a:gd name="T19" fmla="*/ 118 h 296"/>
                  <a:gd name="T20" fmla="*/ 2 w 296"/>
                  <a:gd name="T21" fmla="*/ 140 h 296"/>
                  <a:gd name="T22" fmla="*/ 2 w 296"/>
                  <a:gd name="T23" fmla="*/ 155 h 296"/>
                  <a:gd name="T24" fmla="*/ 4 w 296"/>
                  <a:gd name="T25" fmla="*/ 177 h 296"/>
                  <a:gd name="T26" fmla="*/ 10 w 296"/>
                  <a:gd name="T27" fmla="*/ 198 h 296"/>
                  <a:gd name="T28" fmla="*/ 19 w 296"/>
                  <a:gd name="T29" fmla="*/ 217 h 296"/>
                  <a:gd name="T30" fmla="*/ 30 w 296"/>
                  <a:gd name="T31" fmla="*/ 236 h 296"/>
                  <a:gd name="T32" fmla="*/ 44 w 296"/>
                  <a:gd name="T33" fmla="*/ 251 h 296"/>
                  <a:gd name="T34" fmla="*/ 61 w 296"/>
                  <a:gd name="T35" fmla="*/ 266 h 296"/>
                  <a:gd name="T36" fmla="*/ 79 w 296"/>
                  <a:gd name="T37" fmla="*/ 278 h 296"/>
                  <a:gd name="T38" fmla="*/ 98 w 296"/>
                  <a:gd name="T39" fmla="*/ 287 h 296"/>
                  <a:gd name="T40" fmla="*/ 119 w 296"/>
                  <a:gd name="T41" fmla="*/ 293 h 296"/>
                  <a:gd name="T42" fmla="*/ 141 w 296"/>
                  <a:gd name="T43" fmla="*/ 296 h 296"/>
                  <a:gd name="T44" fmla="*/ 157 w 296"/>
                  <a:gd name="T45" fmla="*/ 296 h 296"/>
                  <a:gd name="T46" fmla="*/ 179 w 296"/>
                  <a:gd name="T47" fmla="*/ 293 h 296"/>
                  <a:gd name="T48" fmla="*/ 200 w 296"/>
                  <a:gd name="T49" fmla="*/ 287 h 296"/>
                  <a:gd name="T50" fmla="*/ 219 w 296"/>
                  <a:gd name="T51" fmla="*/ 278 h 296"/>
                  <a:gd name="T52" fmla="*/ 237 w 296"/>
                  <a:gd name="T53" fmla="*/ 266 h 296"/>
                  <a:gd name="T54" fmla="*/ 253 w 296"/>
                  <a:gd name="T55" fmla="*/ 251 h 296"/>
                  <a:gd name="T56" fmla="*/ 268 w 296"/>
                  <a:gd name="T57" fmla="*/ 236 h 296"/>
                  <a:gd name="T58" fmla="*/ 278 w 296"/>
                  <a:gd name="T59" fmla="*/ 217 h 296"/>
                  <a:gd name="T60" fmla="*/ 287 w 296"/>
                  <a:gd name="T61" fmla="*/ 198 h 296"/>
                  <a:gd name="T62" fmla="*/ 293 w 296"/>
                  <a:gd name="T63" fmla="*/ 177 h 296"/>
                  <a:gd name="T64" fmla="*/ 296 w 296"/>
                  <a:gd name="T65" fmla="*/ 155 h 296"/>
                  <a:gd name="T66" fmla="*/ 296 w 296"/>
                  <a:gd name="T67" fmla="*/ 140 h 296"/>
                  <a:gd name="T68" fmla="*/ 293 w 296"/>
                  <a:gd name="T69" fmla="*/ 118 h 296"/>
                  <a:gd name="T70" fmla="*/ 287 w 296"/>
                  <a:gd name="T71" fmla="*/ 96 h 296"/>
                  <a:gd name="T72" fmla="*/ 278 w 296"/>
                  <a:gd name="T73" fmla="*/ 77 h 296"/>
                  <a:gd name="T74" fmla="*/ 268 w 296"/>
                  <a:gd name="T75" fmla="*/ 59 h 296"/>
                  <a:gd name="T76" fmla="*/ 253 w 296"/>
                  <a:gd name="T77" fmla="*/ 43 h 296"/>
                  <a:gd name="T78" fmla="*/ 237 w 296"/>
                  <a:gd name="T79" fmla="*/ 29 h 296"/>
                  <a:gd name="T80" fmla="*/ 219 w 296"/>
                  <a:gd name="T81" fmla="*/ 17 h 296"/>
                  <a:gd name="T82" fmla="*/ 200 w 296"/>
                  <a:gd name="T83" fmla="*/ 8 h 296"/>
                  <a:gd name="T84" fmla="*/ 179 w 296"/>
                  <a:gd name="T85" fmla="*/ 3 h 296"/>
                  <a:gd name="T86" fmla="*/ 157 w 296"/>
                  <a:gd name="T87" fmla="*/ 0 h 296"/>
                  <a:gd name="T88" fmla="*/ 148 w 296"/>
                  <a:gd name="T89" fmla="*/ 14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6" h="296">
                    <a:moveTo>
                      <a:pt x="148" y="148"/>
                    </a:moveTo>
                    <a:lnTo>
                      <a:pt x="148" y="0"/>
                    </a:lnTo>
                    <a:lnTo>
                      <a:pt x="141" y="0"/>
                    </a:lnTo>
                    <a:lnTo>
                      <a:pt x="133" y="0"/>
                    </a:lnTo>
                    <a:lnTo>
                      <a:pt x="126" y="1"/>
                    </a:lnTo>
                    <a:lnTo>
                      <a:pt x="119" y="3"/>
                    </a:lnTo>
                    <a:lnTo>
                      <a:pt x="113" y="4"/>
                    </a:lnTo>
                    <a:lnTo>
                      <a:pt x="105" y="6"/>
                    </a:lnTo>
                    <a:lnTo>
                      <a:pt x="98" y="8"/>
                    </a:lnTo>
                    <a:lnTo>
                      <a:pt x="92" y="11"/>
                    </a:lnTo>
                    <a:lnTo>
                      <a:pt x="84" y="14"/>
                    </a:lnTo>
                    <a:lnTo>
                      <a:pt x="79" y="17"/>
                    </a:lnTo>
                    <a:lnTo>
                      <a:pt x="73" y="20"/>
                    </a:lnTo>
                    <a:lnTo>
                      <a:pt x="67" y="25"/>
                    </a:lnTo>
                    <a:lnTo>
                      <a:pt x="61" y="29"/>
                    </a:lnTo>
                    <a:lnTo>
                      <a:pt x="55" y="34"/>
                    </a:lnTo>
                    <a:lnTo>
                      <a:pt x="49" y="38"/>
                    </a:lnTo>
                    <a:lnTo>
                      <a:pt x="44" y="43"/>
                    </a:lnTo>
                    <a:lnTo>
                      <a:pt x="39" y="47"/>
                    </a:lnTo>
                    <a:lnTo>
                      <a:pt x="34" y="53"/>
                    </a:lnTo>
                    <a:lnTo>
                      <a:pt x="30" y="59"/>
                    </a:lnTo>
                    <a:lnTo>
                      <a:pt x="27" y="65"/>
                    </a:lnTo>
                    <a:lnTo>
                      <a:pt x="22" y="71"/>
                    </a:lnTo>
                    <a:lnTo>
                      <a:pt x="19" y="77"/>
                    </a:lnTo>
                    <a:lnTo>
                      <a:pt x="15" y="82"/>
                    </a:lnTo>
                    <a:lnTo>
                      <a:pt x="12" y="90"/>
                    </a:lnTo>
                    <a:lnTo>
                      <a:pt x="10" y="96"/>
                    </a:lnTo>
                    <a:lnTo>
                      <a:pt x="7" y="103"/>
                    </a:lnTo>
                    <a:lnTo>
                      <a:pt x="6" y="111"/>
                    </a:lnTo>
                    <a:lnTo>
                      <a:pt x="4" y="118"/>
                    </a:lnTo>
                    <a:lnTo>
                      <a:pt x="3" y="124"/>
                    </a:lnTo>
                    <a:lnTo>
                      <a:pt x="2" y="131"/>
                    </a:lnTo>
                    <a:lnTo>
                      <a:pt x="2" y="140"/>
                    </a:lnTo>
                    <a:lnTo>
                      <a:pt x="0" y="148"/>
                    </a:lnTo>
                    <a:lnTo>
                      <a:pt x="0" y="148"/>
                    </a:lnTo>
                    <a:lnTo>
                      <a:pt x="2" y="155"/>
                    </a:lnTo>
                    <a:lnTo>
                      <a:pt x="2" y="162"/>
                    </a:lnTo>
                    <a:lnTo>
                      <a:pt x="3" y="170"/>
                    </a:lnTo>
                    <a:lnTo>
                      <a:pt x="4" y="177"/>
                    </a:lnTo>
                    <a:lnTo>
                      <a:pt x="6" y="185"/>
                    </a:lnTo>
                    <a:lnTo>
                      <a:pt x="7" y="191"/>
                    </a:lnTo>
                    <a:lnTo>
                      <a:pt x="10" y="198"/>
                    </a:lnTo>
                    <a:lnTo>
                      <a:pt x="12" y="205"/>
                    </a:lnTo>
                    <a:lnTo>
                      <a:pt x="15" y="211"/>
                    </a:lnTo>
                    <a:lnTo>
                      <a:pt x="19" y="217"/>
                    </a:lnTo>
                    <a:lnTo>
                      <a:pt x="22" y="225"/>
                    </a:lnTo>
                    <a:lnTo>
                      <a:pt x="27" y="231"/>
                    </a:lnTo>
                    <a:lnTo>
                      <a:pt x="30" y="236"/>
                    </a:lnTo>
                    <a:lnTo>
                      <a:pt x="34" y="241"/>
                    </a:lnTo>
                    <a:lnTo>
                      <a:pt x="39" y="247"/>
                    </a:lnTo>
                    <a:lnTo>
                      <a:pt x="44" y="251"/>
                    </a:lnTo>
                    <a:lnTo>
                      <a:pt x="49" y="257"/>
                    </a:lnTo>
                    <a:lnTo>
                      <a:pt x="55" y="262"/>
                    </a:lnTo>
                    <a:lnTo>
                      <a:pt x="61" y="266"/>
                    </a:lnTo>
                    <a:lnTo>
                      <a:pt x="67" y="271"/>
                    </a:lnTo>
                    <a:lnTo>
                      <a:pt x="73" y="273"/>
                    </a:lnTo>
                    <a:lnTo>
                      <a:pt x="79" y="278"/>
                    </a:lnTo>
                    <a:lnTo>
                      <a:pt x="84" y="281"/>
                    </a:lnTo>
                    <a:lnTo>
                      <a:pt x="92" y="284"/>
                    </a:lnTo>
                    <a:lnTo>
                      <a:pt x="98" y="287"/>
                    </a:lnTo>
                    <a:lnTo>
                      <a:pt x="105" y="288"/>
                    </a:lnTo>
                    <a:lnTo>
                      <a:pt x="113" y="291"/>
                    </a:lnTo>
                    <a:lnTo>
                      <a:pt x="119" y="293"/>
                    </a:lnTo>
                    <a:lnTo>
                      <a:pt x="126" y="294"/>
                    </a:lnTo>
                    <a:lnTo>
                      <a:pt x="133" y="294"/>
                    </a:lnTo>
                    <a:lnTo>
                      <a:pt x="141" y="296"/>
                    </a:lnTo>
                    <a:lnTo>
                      <a:pt x="148" y="296"/>
                    </a:lnTo>
                    <a:lnTo>
                      <a:pt x="148" y="296"/>
                    </a:lnTo>
                    <a:lnTo>
                      <a:pt x="157" y="296"/>
                    </a:lnTo>
                    <a:lnTo>
                      <a:pt x="164" y="294"/>
                    </a:lnTo>
                    <a:lnTo>
                      <a:pt x="172" y="294"/>
                    </a:lnTo>
                    <a:lnTo>
                      <a:pt x="179" y="293"/>
                    </a:lnTo>
                    <a:lnTo>
                      <a:pt x="185" y="291"/>
                    </a:lnTo>
                    <a:lnTo>
                      <a:pt x="193" y="288"/>
                    </a:lnTo>
                    <a:lnTo>
                      <a:pt x="200" y="287"/>
                    </a:lnTo>
                    <a:lnTo>
                      <a:pt x="206" y="284"/>
                    </a:lnTo>
                    <a:lnTo>
                      <a:pt x="213" y="281"/>
                    </a:lnTo>
                    <a:lnTo>
                      <a:pt x="219" y="278"/>
                    </a:lnTo>
                    <a:lnTo>
                      <a:pt x="225" y="273"/>
                    </a:lnTo>
                    <a:lnTo>
                      <a:pt x="231" y="271"/>
                    </a:lnTo>
                    <a:lnTo>
                      <a:pt x="237" y="266"/>
                    </a:lnTo>
                    <a:lnTo>
                      <a:pt x="243" y="262"/>
                    </a:lnTo>
                    <a:lnTo>
                      <a:pt x="249" y="257"/>
                    </a:lnTo>
                    <a:lnTo>
                      <a:pt x="253" y="251"/>
                    </a:lnTo>
                    <a:lnTo>
                      <a:pt x="259" y="247"/>
                    </a:lnTo>
                    <a:lnTo>
                      <a:pt x="264" y="241"/>
                    </a:lnTo>
                    <a:lnTo>
                      <a:pt x="268" y="236"/>
                    </a:lnTo>
                    <a:lnTo>
                      <a:pt x="271" y="231"/>
                    </a:lnTo>
                    <a:lnTo>
                      <a:pt x="275" y="225"/>
                    </a:lnTo>
                    <a:lnTo>
                      <a:pt x="278" y="217"/>
                    </a:lnTo>
                    <a:lnTo>
                      <a:pt x="283" y="211"/>
                    </a:lnTo>
                    <a:lnTo>
                      <a:pt x="286" y="205"/>
                    </a:lnTo>
                    <a:lnTo>
                      <a:pt x="287" y="198"/>
                    </a:lnTo>
                    <a:lnTo>
                      <a:pt x="290" y="191"/>
                    </a:lnTo>
                    <a:lnTo>
                      <a:pt x="292" y="185"/>
                    </a:lnTo>
                    <a:lnTo>
                      <a:pt x="293" y="177"/>
                    </a:lnTo>
                    <a:lnTo>
                      <a:pt x="295" y="170"/>
                    </a:lnTo>
                    <a:lnTo>
                      <a:pt x="296" y="162"/>
                    </a:lnTo>
                    <a:lnTo>
                      <a:pt x="296" y="155"/>
                    </a:lnTo>
                    <a:lnTo>
                      <a:pt x="296" y="148"/>
                    </a:lnTo>
                    <a:lnTo>
                      <a:pt x="296" y="148"/>
                    </a:lnTo>
                    <a:lnTo>
                      <a:pt x="296" y="140"/>
                    </a:lnTo>
                    <a:lnTo>
                      <a:pt x="296" y="131"/>
                    </a:lnTo>
                    <a:lnTo>
                      <a:pt x="295" y="124"/>
                    </a:lnTo>
                    <a:lnTo>
                      <a:pt x="293" y="118"/>
                    </a:lnTo>
                    <a:lnTo>
                      <a:pt x="292" y="111"/>
                    </a:lnTo>
                    <a:lnTo>
                      <a:pt x="290" y="103"/>
                    </a:lnTo>
                    <a:lnTo>
                      <a:pt x="287" y="96"/>
                    </a:lnTo>
                    <a:lnTo>
                      <a:pt x="286" y="90"/>
                    </a:lnTo>
                    <a:lnTo>
                      <a:pt x="283" y="82"/>
                    </a:lnTo>
                    <a:lnTo>
                      <a:pt x="278" y="77"/>
                    </a:lnTo>
                    <a:lnTo>
                      <a:pt x="275" y="71"/>
                    </a:lnTo>
                    <a:lnTo>
                      <a:pt x="271" y="65"/>
                    </a:lnTo>
                    <a:lnTo>
                      <a:pt x="268" y="59"/>
                    </a:lnTo>
                    <a:lnTo>
                      <a:pt x="264" y="53"/>
                    </a:lnTo>
                    <a:lnTo>
                      <a:pt x="259" y="47"/>
                    </a:lnTo>
                    <a:lnTo>
                      <a:pt x="253" y="43"/>
                    </a:lnTo>
                    <a:lnTo>
                      <a:pt x="249" y="38"/>
                    </a:lnTo>
                    <a:lnTo>
                      <a:pt x="243" y="34"/>
                    </a:lnTo>
                    <a:lnTo>
                      <a:pt x="237" y="29"/>
                    </a:lnTo>
                    <a:lnTo>
                      <a:pt x="231" y="25"/>
                    </a:lnTo>
                    <a:lnTo>
                      <a:pt x="225" y="20"/>
                    </a:lnTo>
                    <a:lnTo>
                      <a:pt x="219" y="17"/>
                    </a:lnTo>
                    <a:lnTo>
                      <a:pt x="213" y="14"/>
                    </a:lnTo>
                    <a:lnTo>
                      <a:pt x="206" y="11"/>
                    </a:lnTo>
                    <a:lnTo>
                      <a:pt x="200" y="8"/>
                    </a:lnTo>
                    <a:lnTo>
                      <a:pt x="193" y="6"/>
                    </a:lnTo>
                    <a:lnTo>
                      <a:pt x="185" y="4"/>
                    </a:lnTo>
                    <a:lnTo>
                      <a:pt x="179" y="3"/>
                    </a:lnTo>
                    <a:lnTo>
                      <a:pt x="172" y="1"/>
                    </a:lnTo>
                    <a:lnTo>
                      <a:pt x="164" y="0"/>
                    </a:lnTo>
                    <a:lnTo>
                      <a:pt x="157" y="0"/>
                    </a:lnTo>
                    <a:lnTo>
                      <a:pt x="148" y="0"/>
                    </a:lnTo>
                    <a:lnTo>
                      <a:pt x="148" y="0"/>
                    </a:lnTo>
                    <a:lnTo>
                      <a:pt x="148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0" name="Freeform 323"/>
              <p:cNvSpPr>
                <a:spLocks/>
              </p:cNvSpPr>
              <p:nvPr/>
            </p:nvSpPr>
            <p:spPr bwMode="auto">
              <a:xfrm>
                <a:off x="2396" y="3014"/>
                <a:ext cx="101" cy="100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4 h 302"/>
                  <a:gd name="T4" fmla="*/ 93 w 303"/>
                  <a:gd name="T5" fmla="*/ 12 h 302"/>
                  <a:gd name="T6" fmla="*/ 74 w 303"/>
                  <a:gd name="T7" fmla="*/ 21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7 h 302"/>
                  <a:gd name="T14" fmla="*/ 15 w 303"/>
                  <a:gd name="T15" fmla="*/ 84 h 302"/>
                  <a:gd name="T16" fmla="*/ 7 w 303"/>
                  <a:gd name="T17" fmla="*/ 105 h 302"/>
                  <a:gd name="T18" fmla="*/ 3 w 303"/>
                  <a:gd name="T19" fmla="*/ 127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0 h 302"/>
                  <a:gd name="T28" fmla="*/ 22 w 303"/>
                  <a:gd name="T29" fmla="*/ 229 h 302"/>
                  <a:gd name="T30" fmla="*/ 35 w 303"/>
                  <a:gd name="T31" fmla="*/ 247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7 h 302"/>
                  <a:gd name="T38" fmla="*/ 106 w 303"/>
                  <a:gd name="T39" fmla="*/ 295 h 302"/>
                  <a:gd name="T40" fmla="*/ 129 w 303"/>
                  <a:gd name="T41" fmla="*/ 300 h 302"/>
                  <a:gd name="T42" fmla="*/ 152 w 303"/>
                  <a:gd name="T43" fmla="*/ 302 h 302"/>
                  <a:gd name="T44" fmla="*/ 167 w 303"/>
                  <a:gd name="T45" fmla="*/ 300 h 302"/>
                  <a:gd name="T46" fmla="*/ 189 w 303"/>
                  <a:gd name="T47" fmla="*/ 297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5 h 302"/>
                  <a:gd name="T58" fmla="*/ 289 w 303"/>
                  <a:gd name="T59" fmla="*/ 216 h 302"/>
                  <a:gd name="T60" fmla="*/ 296 w 303"/>
                  <a:gd name="T61" fmla="*/ 195 h 302"/>
                  <a:gd name="T62" fmla="*/ 302 w 303"/>
                  <a:gd name="T63" fmla="*/ 173 h 302"/>
                  <a:gd name="T64" fmla="*/ 303 w 303"/>
                  <a:gd name="T65" fmla="*/ 151 h 302"/>
                  <a:gd name="T66" fmla="*/ 302 w 303"/>
                  <a:gd name="T67" fmla="*/ 135 h 302"/>
                  <a:gd name="T68" fmla="*/ 299 w 303"/>
                  <a:gd name="T69" fmla="*/ 112 h 302"/>
                  <a:gd name="T70" fmla="*/ 291 w 303"/>
                  <a:gd name="T71" fmla="*/ 92 h 302"/>
                  <a:gd name="T72" fmla="*/ 281 w 303"/>
                  <a:gd name="T73" fmla="*/ 72 h 302"/>
                  <a:gd name="T74" fmla="*/ 268 w 303"/>
                  <a:gd name="T75" fmla="*/ 55 h 302"/>
                  <a:gd name="T76" fmla="*/ 253 w 303"/>
                  <a:gd name="T77" fmla="*/ 38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1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1"/>
                    </a:lnTo>
                    <a:lnTo>
                      <a:pt x="121" y="3"/>
                    </a:lnTo>
                    <a:lnTo>
                      <a:pt x="114" y="4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1"/>
                    </a:lnTo>
                    <a:lnTo>
                      <a:pt x="66" y="25"/>
                    </a:lnTo>
                    <a:lnTo>
                      <a:pt x="60" y="30"/>
                    </a:lnTo>
                    <a:lnTo>
                      <a:pt x="56" y="34"/>
                    </a:lnTo>
                    <a:lnTo>
                      <a:pt x="50" y="38"/>
                    </a:lnTo>
                    <a:lnTo>
                      <a:pt x="44" y="44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1"/>
                    </a:lnTo>
                    <a:lnTo>
                      <a:pt x="26" y="67"/>
                    </a:lnTo>
                    <a:lnTo>
                      <a:pt x="22" y="72"/>
                    </a:lnTo>
                    <a:lnTo>
                      <a:pt x="19" y="78"/>
                    </a:lnTo>
                    <a:lnTo>
                      <a:pt x="15" y="84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2"/>
                    </a:lnTo>
                    <a:lnTo>
                      <a:pt x="3" y="120"/>
                    </a:lnTo>
                    <a:lnTo>
                      <a:pt x="3" y="127"/>
                    </a:lnTo>
                    <a:lnTo>
                      <a:pt x="1" y="135"/>
                    </a:lnTo>
                    <a:lnTo>
                      <a:pt x="1" y="144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8"/>
                    </a:lnTo>
                    <a:lnTo>
                      <a:pt x="1" y="166"/>
                    </a:lnTo>
                    <a:lnTo>
                      <a:pt x="3" y="173"/>
                    </a:lnTo>
                    <a:lnTo>
                      <a:pt x="3" y="181"/>
                    </a:lnTo>
                    <a:lnTo>
                      <a:pt x="6" y="188"/>
                    </a:lnTo>
                    <a:lnTo>
                      <a:pt x="7" y="195"/>
                    </a:lnTo>
                    <a:lnTo>
                      <a:pt x="10" y="203"/>
                    </a:lnTo>
                    <a:lnTo>
                      <a:pt x="12" y="210"/>
                    </a:lnTo>
                    <a:lnTo>
                      <a:pt x="15" y="216"/>
                    </a:lnTo>
                    <a:lnTo>
                      <a:pt x="19" y="223"/>
                    </a:lnTo>
                    <a:lnTo>
                      <a:pt x="22" y="229"/>
                    </a:lnTo>
                    <a:lnTo>
                      <a:pt x="26" y="235"/>
                    </a:lnTo>
                    <a:lnTo>
                      <a:pt x="31" y="241"/>
                    </a:lnTo>
                    <a:lnTo>
                      <a:pt x="35" y="247"/>
                    </a:lnTo>
                    <a:lnTo>
                      <a:pt x="40" y="253"/>
                    </a:lnTo>
                    <a:lnTo>
                      <a:pt x="44" y="258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2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4"/>
                    </a:lnTo>
                    <a:lnTo>
                      <a:pt x="86" y="287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5"/>
                    </a:lnTo>
                    <a:lnTo>
                      <a:pt x="114" y="297"/>
                    </a:lnTo>
                    <a:lnTo>
                      <a:pt x="121" y="299"/>
                    </a:lnTo>
                    <a:lnTo>
                      <a:pt x="129" y="300"/>
                    </a:lnTo>
                    <a:lnTo>
                      <a:pt x="136" y="300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0"/>
                    </a:lnTo>
                    <a:lnTo>
                      <a:pt x="174" y="300"/>
                    </a:lnTo>
                    <a:lnTo>
                      <a:pt x="182" y="299"/>
                    </a:lnTo>
                    <a:lnTo>
                      <a:pt x="189" y="297"/>
                    </a:lnTo>
                    <a:lnTo>
                      <a:pt x="197" y="295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7"/>
                    </a:lnTo>
                    <a:lnTo>
                      <a:pt x="223" y="284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2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8"/>
                    </a:lnTo>
                    <a:lnTo>
                      <a:pt x="263" y="253"/>
                    </a:lnTo>
                    <a:lnTo>
                      <a:pt x="268" y="247"/>
                    </a:lnTo>
                    <a:lnTo>
                      <a:pt x="272" y="241"/>
                    </a:lnTo>
                    <a:lnTo>
                      <a:pt x="277" y="235"/>
                    </a:lnTo>
                    <a:lnTo>
                      <a:pt x="281" y="229"/>
                    </a:lnTo>
                    <a:lnTo>
                      <a:pt x="284" y="223"/>
                    </a:lnTo>
                    <a:lnTo>
                      <a:pt x="289" y="216"/>
                    </a:lnTo>
                    <a:lnTo>
                      <a:pt x="291" y="210"/>
                    </a:lnTo>
                    <a:lnTo>
                      <a:pt x="294" y="203"/>
                    </a:lnTo>
                    <a:lnTo>
                      <a:pt x="296" y="195"/>
                    </a:lnTo>
                    <a:lnTo>
                      <a:pt x="299" y="188"/>
                    </a:lnTo>
                    <a:lnTo>
                      <a:pt x="300" y="181"/>
                    </a:lnTo>
                    <a:lnTo>
                      <a:pt x="302" y="173"/>
                    </a:lnTo>
                    <a:lnTo>
                      <a:pt x="302" y="166"/>
                    </a:lnTo>
                    <a:lnTo>
                      <a:pt x="303" y="158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4"/>
                    </a:lnTo>
                    <a:lnTo>
                      <a:pt x="302" y="135"/>
                    </a:lnTo>
                    <a:lnTo>
                      <a:pt x="302" y="127"/>
                    </a:lnTo>
                    <a:lnTo>
                      <a:pt x="300" y="120"/>
                    </a:lnTo>
                    <a:lnTo>
                      <a:pt x="299" y="112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4"/>
                    </a:lnTo>
                    <a:lnTo>
                      <a:pt x="284" y="78"/>
                    </a:lnTo>
                    <a:lnTo>
                      <a:pt x="281" y="72"/>
                    </a:lnTo>
                    <a:lnTo>
                      <a:pt x="277" y="67"/>
                    </a:lnTo>
                    <a:lnTo>
                      <a:pt x="272" y="61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4"/>
                    </a:lnTo>
                    <a:lnTo>
                      <a:pt x="253" y="38"/>
                    </a:lnTo>
                    <a:lnTo>
                      <a:pt x="249" y="34"/>
                    </a:lnTo>
                    <a:lnTo>
                      <a:pt x="243" y="30"/>
                    </a:lnTo>
                    <a:lnTo>
                      <a:pt x="237" y="25"/>
                    </a:lnTo>
                    <a:lnTo>
                      <a:pt x="231" y="21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4"/>
                    </a:lnTo>
                    <a:lnTo>
                      <a:pt x="182" y="3"/>
                    </a:lnTo>
                    <a:lnTo>
                      <a:pt x="174" y="1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1" name="Rectangle 324"/>
              <p:cNvSpPr>
                <a:spLocks noChangeArrowheads="1"/>
              </p:cNvSpPr>
              <p:nvPr/>
            </p:nvSpPr>
            <p:spPr bwMode="auto">
              <a:xfrm>
                <a:off x="2381" y="3009"/>
                <a:ext cx="69" cy="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2" name="Freeform 325"/>
              <p:cNvSpPr>
                <a:spLocks/>
              </p:cNvSpPr>
              <p:nvPr/>
            </p:nvSpPr>
            <p:spPr bwMode="auto">
              <a:xfrm>
                <a:off x="2381" y="3009"/>
                <a:ext cx="69" cy="99"/>
              </a:xfrm>
              <a:custGeom>
                <a:avLst/>
                <a:gdLst>
                  <a:gd name="T0" fmla="*/ 207 w 207"/>
                  <a:gd name="T1" fmla="*/ 296 h 296"/>
                  <a:gd name="T2" fmla="*/ 0 w 207"/>
                  <a:gd name="T3" fmla="*/ 296 h 296"/>
                  <a:gd name="T4" fmla="*/ 0 w 207"/>
                  <a:gd name="T5" fmla="*/ 0 h 296"/>
                  <a:gd name="T6" fmla="*/ 207 w 207"/>
                  <a:gd name="T7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96">
                    <a:moveTo>
                      <a:pt x="207" y="296"/>
                    </a:moveTo>
                    <a:lnTo>
                      <a:pt x="0" y="296"/>
                    </a:lnTo>
                    <a:lnTo>
                      <a:pt x="0" y="0"/>
                    </a:lnTo>
                    <a:lnTo>
                      <a:pt x="20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3" name="Freeform 326"/>
              <p:cNvSpPr>
                <a:spLocks/>
              </p:cNvSpPr>
              <p:nvPr/>
            </p:nvSpPr>
            <p:spPr bwMode="auto">
              <a:xfrm>
                <a:off x="2500" y="2762"/>
                <a:ext cx="187" cy="60"/>
              </a:xfrm>
              <a:custGeom>
                <a:avLst/>
                <a:gdLst>
                  <a:gd name="T0" fmla="*/ 0 w 563"/>
                  <a:gd name="T1" fmla="*/ 0 h 178"/>
                  <a:gd name="T2" fmla="*/ 148 w 563"/>
                  <a:gd name="T3" fmla="*/ 0 h 178"/>
                  <a:gd name="T4" fmla="*/ 148 w 563"/>
                  <a:gd name="T5" fmla="*/ 178 h 178"/>
                  <a:gd name="T6" fmla="*/ 563 w 563"/>
                  <a:gd name="T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3" h="178">
                    <a:moveTo>
                      <a:pt x="0" y="0"/>
                    </a:moveTo>
                    <a:lnTo>
                      <a:pt x="148" y="0"/>
                    </a:lnTo>
                    <a:lnTo>
                      <a:pt x="148" y="178"/>
                    </a:lnTo>
                    <a:lnTo>
                      <a:pt x="563" y="178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4" name="Freeform 327"/>
              <p:cNvSpPr>
                <a:spLocks/>
              </p:cNvSpPr>
              <p:nvPr/>
            </p:nvSpPr>
            <p:spPr bwMode="auto">
              <a:xfrm>
                <a:off x="2500" y="2851"/>
                <a:ext cx="187" cy="59"/>
              </a:xfrm>
              <a:custGeom>
                <a:avLst/>
                <a:gdLst>
                  <a:gd name="T0" fmla="*/ 0 w 563"/>
                  <a:gd name="T1" fmla="*/ 177 h 177"/>
                  <a:gd name="T2" fmla="*/ 148 w 563"/>
                  <a:gd name="T3" fmla="*/ 177 h 177"/>
                  <a:gd name="T4" fmla="*/ 148 w 563"/>
                  <a:gd name="T5" fmla="*/ 0 h 177"/>
                  <a:gd name="T6" fmla="*/ 563 w 563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3" h="177">
                    <a:moveTo>
                      <a:pt x="0" y="177"/>
                    </a:moveTo>
                    <a:lnTo>
                      <a:pt x="148" y="177"/>
                    </a:lnTo>
                    <a:lnTo>
                      <a:pt x="148" y="0"/>
                    </a:lnTo>
                    <a:lnTo>
                      <a:pt x="56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5" name="Freeform 328"/>
              <p:cNvSpPr>
                <a:spLocks/>
              </p:cNvSpPr>
              <p:nvPr/>
            </p:nvSpPr>
            <p:spPr bwMode="auto">
              <a:xfrm>
                <a:off x="2500" y="2614"/>
                <a:ext cx="177" cy="168"/>
              </a:xfrm>
              <a:custGeom>
                <a:avLst/>
                <a:gdLst>
                  <a:gd name="T0" fmla="*/ 0 w 533"/>
                  <a:gd name="T1" fmla="*/ 0 h 504"/>
                  <a:gd name="T2" fmla="*/ 296 w 533"/>
                  <a:gd name="T3" fmla="*/ 0 h 504"/>
                  <a:gd name="T4" fmla="*/ 296 w 533"/>
                  <a:gd name="T5" fmla="*/ 504 h 504"/>
                  <a:gd name="T6" fmla="*/ 533 w 533"/>
                  <a:gd name="T7" fmla="*/ 504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3" h="504">
                    <a:moveTo>
                      <a:pt x="0" y="0"/>
                    </a:moveTo>
                    <a:lnTo>
                      <a:pt x="296" y="0"/>
                    </a:lnTo>
                    <a:lnTo>
                      <a:pt x="296" y="504"/>
                    </a:lnTo>
                    <a:lnTo>
                      <a:pt x="533" y="504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6" name="Freeform 329"/>
              <p:cNvSpPr>
                <a:spLocks/>
              </p:cNvSpPr>
              <p:nvPr/>
            </p:nvSpPr>
            <p:spPr bwMode="auto">
              <a:xfrm>
                <a:off x="2500" y="2891"/>
                <a:ext cx="177" cy="168"/>
              </a:xfrm>
              <a:custGeom>
                <a:avLst/>
                <a:gdLst>
                  <a:gd name="T0" fmla="*/ 0 w 533"/>
                  <a:gd name="T1" fmla="*/ 504 h 504"/>
                  <a:gd name="T2" fmla="*/ 296 w 533"/>
                  <a:gd name="T3" fmla="*/ 504 h 504"/>
                  <a:gd name="T4" fmla="*/ 296 w 533"/>
                  <a:gd name="T5" fmla="*/ 0 h 504"/>
                  <a:gd name="T6" fmla="*/ 533 w 533"/>
                  <a:gd name="T7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3" h="504">
                    <a:moveTo>
                      <a:pt x="0" y="504"/>
                    </a:moveTo>
                    <a:lnTo>
                      <a:pt x="296" y="504"/>
                    </a:lnTo>
                    <a:lnTo>
                      <a:pt x="296" y="0"/>
                    </a:lnTo>
                    <a:lnTo>
                      <a:pt x="53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7" name="Freeform 330"/>
              <p:cNvSpPr>
                <a:spLocks/>
              </p:cNvSpPr>
              <p:nvPr/>
            </p:nvSpPr>
            <p:spPr bwMode="auto">
              <a:xfrm>
                <a:off x="3240" y="2940"/>
                <a:ext cx="50" cy="49"/>
              </a:xfrm>
              <a:custGeom>
                <a:avLst/>
                <a:gdLst>
                  <a:gd name="T0" fmla="*/ 0 w 149"/>
                  <a:gd name="T1" fmla="*/ 148 h 148"/>
                  <a:gd name="T2" fmla="*/ 149 w 149"/>
                  <a:gd name="T3" fmla="*/ 60 h 148"/>
                  <a:gd name="T4" fmla="*/ 0 w 149"/>
                  <a:gd name="T5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" h="148">
                    <a:moveTo>
                      <a:pt x="0" y="148"/>
                    </a:moveTo>
                    <a:lnTo>
                      <a:pt x="149" y="6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8" name="Freeform 331"/>
              <p:cNvSpPr>
                <a:spLocks/>
              </p:cNvSpPr>
              <p:nvPr/>
            </p:nvSpPr>
            <p:spPr bwMode="auto">
              <a:xfrm>
                <a:off x="3457" y="2693"/>
                <a:ext cx="109" cy="99"/>
              </a:xfrm>
              <a:custGeom>
                <a:avLst/>
                <a:gdLst>
                  <a:gd name="T0" fmla="*/ 326 w 326"/>
                  <a:gd name="T1" fmla="*/ 0 h 296"/>
                  <a:gd name="T2" fmla="*/ 178 w 326"/>
                  <a:gd name="T3" fmla="*/ 0 h 296"/>
                  <a:gd name="T4" fmla="*/ 178 w 326"/>
                  <a:gd name="T5" fmla="*/ 296 h 296"/>
                  <a:gd name="T6" fmla="*/ 0 w 326"/>
                  <a:gd name="T7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6" h="296">
                    <a:moveTo>
                      <a:pt x="326" y="0"/>
                    </a:moveTo>
                    <a:lnTo>
                      <a:pt x="178" y="0"/>
                    </a:lnTo>
                    <a:lnTo>
                      <a:pt x="178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09" name="Freeform 332"/>
              <p:cNvSpPr>
                <a:spLocks/>
              </p:cNvSpPr>
              <p:nvPr/>
            </p:nvSpPr>
            <p:spPr bwMode="auto">
              <a:xfrm>
                <a:off x="3181" y="2614"/>
                <a:ext cx="395" cy="178"/>
              </a:xfrm>
              <a:custGeom>
                <a:avLst/>
                <a:gdLst>
                  <a:gd name="T0" fmla="*/ 0 w 1184"/>
                  <a:gd name="T1" fmla="*/ 533 h 533"/>
                  <a:gd name="T2" fmla="*/ 0 w 1184"/>
                  <a:gd name="T3" fmla="*/ 0 h 533"/>
                  <a:gd name="T4" fmla="*/ 1184 w 1184"/>
                  <a:gd name="T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84" h="533">
                    <a:moveTo>
                      <a:pt x="0" y="533"/>
                    </a:moveTo>
                    <a:lnTo>
                      <a:pt x="0" y="0"/>
                    </a:lnTo>
                    <a:lnTo>
                      <a:pt x="1184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0" name="Freeform 333"/>
              <p:cNvSpPr>
                <a:spLocks/>
              </p:cNvSpPr>
              <p:nvPr/>
            </p:nvSpPr>
            <p:spPr bwMode="auto">
              <a:xfrm>
                <a:off x="3171" y="2792"/>
                <a:ext cx="20" cy="20"/>
              </a:xfrm>
              <a:custGeom>
                <a:avLst/>
                <a:gdLst>
                  <a:gd name="T0" fmla="*/ 28 w 59"/>
                  <a:gd name="T1" fmla="*/ 0 h 59"/>
                  <a:gd name="T2" fmla="*/ 24 w 59"/>
                  <a:gd name="T3" fmla="*/ 0 h 59"/>
                  <a:gd name="T4" fmla="*/ 21 w 59"/>
                  <a:gd name="T5" fmla="*/ 2 h 59"/>
                  <a:gd name="T6" fmla="*/ 16 w 59"/>
                  <a:gd name="T7" fmla="*/ 3 h 59"/>
                  <a:gd name="T8" fmla="*/ 13 w 59"/>
                  <a:gd name="T9" fmla="*/ 6 h 59"/>
                  <a:gd name="T10" fmla="*/ 9 w 59"/>
                  <a:gd name="T11" fmla="*/ 9 h 59"/>
                  <a:gd name="T12" fmla="*/ 6 w 59"/>
                  <a:gd name="T13" fmla="*/ 12 h 59"/>
                  <a:gd name="T14" fmla="*/ 5 w 59"/>
                  <a:gd name="T15" fmla="*/ 15 h 59"/>
                  <a:gd name="T16" fmla="*/ 3 w 59"/>
                  <a:gd name="T17" fmla="*/ 19 h 59"/>
                  <a:gd name="T18" fmla="*/ 2 w 59"/>
                  <a:gd name="T19" fmla="*/ 24 h 59"/>
                  <a:gd name="T20" fmla="*/ 2 w 59"/>
                  <a:gd name="T21" fmla="*/ 28 h 59"/>
                  <a:gd name="T22" fmla="*/ 2 w 59"/>
                  <a:gd name="T23" fmla="*/ 31 h 59"/>
                  <a:gd name="T24" fmla="*/ 2 w 59"/>
                  <a:gd name="T25" fmla="*/ 36 h 59"/>
                  <a:gd name="T26" fmla="*/ 3 w 59"/>
                  <a:gd name="T27" fmla="*/ 40 h 59"/>
                  <a:gd name="T28" fmla="*/ 5 w 59"/>
                  <a:gd name="T29" fmla="*/ 43 h 59"/>
                  <a:gd name="T30" fmla="*/ 6 w 59"/>
                  <a:gd name="T31" fmla="*/ 48 h 59"/>
                  <a:gd name="T32" fmla="*/ 9 w 59"/>
                  <a:gd name="T33" fmla="*/ 50 h 59"/>
                  <a:gd name="T34" fmla="*/ 13 w 59"/>
                  <a:gd name="T35" fmla="*/ 53 h 59"/>
                  <a:gd name="T36" fmla="*/ 16 w 59"/>
                  <a:gd name="T37" fmla="*/ 55 h 59"/>
                  <a:gd name="T38" fmla="*/ 21 w 59"/>
                  <a:gd name="T39" fmla="*/ 56 h 59"/>
                  <a:gd name="T40" fmla="*/ 24 w 59"/>
                  <a:gd name="T41" fmla="*/ 58 h 59"/>
                  <a:gd name="T42" fmla="*/ 28 w 59"/>
                  <a:gd name="T43" fmla="*/ 59 h 59"/>
                  <a:gd name="T44" fmla="*/ 33 w 59"/>
                  <a:gd name="T45" fmla="*/ 59 h 59"/>
                  <a:gd name="T46" fmla="*/ 37 w 59"/>
                  <a:gd name="T47" fmla="*/ 58 h 59"/>
                  <a:gd name="T48" fmla="*/ 40 w 59"/>
                  <a:gd name="T49" fmla="*/ 56 h 59"/>
                  <a:gd name="T50" fmla="*/ 45 w 59"/>
                  <a:gd name="T51" fmla="*/ 55 h 59"/>
                  <a:gd name="T52" fmla="*/ 48 w 59"/>
                  <a:gd name="T53" fmla="*/ 53 h 59"/>
                  <a:gd name="T54" fmla="*/ 52 w 59"/>
                  <a:gd name="T55" fmla="*/ 50 h 59"/>
                  <a:gd name="T56" fmla="*/ 55 w 59"/>
                  <a:gd name="T57" fmla="*/ 48 h 59"/>
                  <a:gd name="T58" fmla="*/ 56 w 59"/>
                  <a:gd name="T59" fmla="*/ 43 h 59"/>
                  <a:gd name="T60" fmla="*/ 58 w 59"/>
                  <a:gd name="T61" fmla="*/ 40 h 59"/>
                  <a:gd name="T62" fmla="*/ 59 w 59"/>
                  <a:gd name="T63" fmla="*/ 36 h 59"/>
                  <a:gd name="T64" fmla="*/ 59 w 59"/>
                  <a:gd name="T65" fmla="*/ 31 h 59"/>
                  <a:gd name="T66" fmla="*/ 59 w 59"/>
                  <a:gd name="T67" fmla="*/ 28 h 59"/>
                  <a:gd name="T68" fmla="*/ 59 w 59"/>
                  <a:gd name="T69" fmla="*/ 24 h 59"/>
                  <a:gd name="T70" fmla="*/ 58 w 59"/>
                  <a:gd name="T71" fmla="*/ 19 h 59"/>
                  <a:gd name="T72" fmla="*/ 56 w 59"/>
                  <a:gd name="T73" fmla="*/ 15 h 59"/>
                  <a:gd name="T74" fmla="*/ 55 w 59"/>
                  <a:gd name="T75" fmla="*/ 12 h 59"/>
                  <a:gd name="T76" fmla="*/ 52 w 59"/>
                  <a:gd name="T77" fmla="*/ 9 h 59"/>
                  <a:gd name="T78" fmla="*/ 48 w 59"/>
                  <a:gd name="T79" fmla="*/ 6 h 59"/>
                  <a:gd name="T80" fmla="*/ 45 w 59"/>
                  <a:gd name="T81" fmla="*/ 3 h 59"/>
                  <a:gd name="T82" fmla="*/ 40 w 59"/>
                  <a:gd name="T83" fmla="*/ 2 h 59"/>
                  <a:gd name="T84" fmla="*/ 37 w 59"/>
                  <a:gd name="T85" fmla="*/ 0 h 59"/>
                  <a:gd name="T86" fmla="*/ 33 w 59"/>
                  <a:gd name="T87" fmla="*/ 0 h 59"/>
                  <a:gd name="T88" fmla="*/ 30 w 59"/>
                  <a:gd name="T8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2" y="2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3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2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3" y="40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5" y="43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8" y="48"/>
                    </a:lnTo>
                    <a:lnTo>
                      <a:pt x="9" y="49"/>
                    </a:lnTo>
                    <a:lnTo>
                      <a:pt x="9" y="50"/>
                    </a:lnTo>
                    <a:lnTo>
                      <a:pt x="10" y="50"/>
                    </a:lnTo>
                    <a:lnTo>
                      <a:pt x="12" y="52"/>
                    </a:lnTo>
                    <a:lnTo>
                      <a:pt x="13" y="53"/>
                    </a:lnTo>
                    <a:lnTo>
                      <a:pt x="13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8" y="56"/>
                    </a:lnTo>
                    <a:lnTo>
                      <a:pt x="19" y="56"/>
                    </a:lnTo>
                    <a:lnTo>
                      <a:pt x="21" y="56"/>
                    </a:lnTo>
                    <a:lnTo>
                      <a:pt x="22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8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5"/>
                    </a:lnTo>
                    <a:lnTo>
                      <a:pt x="46" y="55"/>
                    </a:lnTo>
                    <a:lnTo>
                      <a:pt x="48" y="53"/>
                    </a:lnTo>
                    <a:lnTo>
                      <a:pt x="48" y="53"/>
                    </a:lnTo>
                    <a:lnTo>
                      <a:pt x="49" y="52"/>
                    </a:lnTo>
                    <a:lnTo>
                      <a:pt x="50" y="50"/>
                    </a:lnTo>
                    <a:lnTo>
                      <a:pt x="52" y="50"/>
                    </a:lnTo>
                    <a:lnTo>
                      <a:pt x="52" y="49"/>
                    </a:lnTo>
                    <a:lnTo>
                      <a:pt x="53" y="48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6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9" y="39"/>
                    </a:lnTo>
                    <a:lnTo>
                      <a:pt x="59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9" y="22"/>
                    </a:lnTo>
                    <a:lnTo>
                      <a:pt x="59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8" y="16"/>
                    </a:lnTo>
                    <a:lnTo>
                      <a:pt x="56" y="15"/>
                    </a:lnTo>
                    <a:lnTo>
                      <a:pt x="56" y="13"/>
                    </a:lnTo>
                    <a:lnTo>
                      <a:pt x="55" y="13"/>
                    </a:lnTo>
                    <a:lnTo>
                      <a:pt x="55" y="12"/>
                    </a:lnTo>
                    <a:lnTo>
                      <a:pt x="53" y="11"/>
                    </a:lnTo>
                    <a:lnTo>
                      <a:pt x="52" y="9"/>
                    </a:lnTo>
                    <a:lnTo>
                      <a:pt x="52" y="9"/>
                    </a:lnTo>
                    <a:lnTo>
                      <a:pt x="50" y="8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8" y="5"/>
                    </a:lnTo>
                    <a:lnTo>
                      <a:pt x="46" y="5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2"/>
                    </a:lnTo>
                    <a:lnTo>
                      <a:pt x="40" y="2"/>
                    </a:lnTo>
                    <a:lnTo>
                      <a:pt x="39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1" name="Freeform 334"/>
              <p:cNvSpPr>
                <a:spLocks/>
              </p:cNvSpPr>
              <p:nvPr/>
            </p:nvSpPr>
            <p:spPr bwMode="auto">
              <a:xfrm>
                <a:off x="3175" y="2786"/>
                <a:ext cx="24" cy="24"/>
              </a:xfrm>
              <a:custGeom>
                <a:avLst/>
                <a:gdLst>
                  <a:gd name="T0" fmla="*/ 33 w 73"/>
                  <a:gd name="T1" fmla="*/ 1 h 72"/>
                  <a:gd name="T2" fmla="*/ 28 w 73"/>
                  <a:gd name="T3" fmla="*/ 1 h 72"/>
                  <a:gd name="T4" fmla="*/ 22 w 73"/>
                  <a:gd name="T5" fmla="*/ 3 h 72"/>
                  <a:gd name="T6" fmla="*/ 18 w 73"/>
                  <a:gd name="T7" fmla="*/ 6 h 72"/>
                  <a:gd name="T8" fmla="*/ 13 w 73"/>
                  <a:gd name="T9" fmla="*/ 9 h 72"/>
                  <a:gd name="T10" fmla="*/ 10 w 73"/>
                  <a:gd name="T11" fmla="*/ 12 h 72"/>
                  <a:gd name="T12" fmla="*/ 6 w 73"/>
                  <a:gd name="T13" fmla="*/ 16 h 72"/>
                  <a:gd name="T14" fmla="*/ 4 w 73"/>
                  <a:gd name="T15" fmla="*/ 21 h 72"/>
                  <a:gd name="T16" fmla="*/ 1 w 73"/>
                  <a:gd name="T17" fmla="*/ 27 h 72"/>
                  <a:gd name="T18" fmla="*/ 1 w 73"/>
                  <a:gd name="T19" fmla="*/ 31 h 72"/>
                  <a:gd name="T20" fmla="*/ 0 w 73"/>
                  <a:gd name="T21" fmla="*/ 37 h 72"/>
                  <a:gd name="T22" fmla="*/ 0 w 73"/>
                  <a:gd name="T23" fmla="*/ 40 h 72"/>
                  <a:gd name="T24" fmla="*/ 1 w 73"/>
                  <a:gd name="T25" fmla="*/ 46 h 72"/>
                  <a:gd name="T26" fmla="*/ 3 w 73"/>
                  <a:gd name="T27" fmla="*/ 50 h 72"/>
                  <a:gd name="T28" fmla="*/ 6 w 73"/>
                  <a:gd name="T29" fmla="*/ 56 h 72"/>
                  <a:gd name="T30" fmla="*/ 9 w 73"/>
                  <a:gd name="T31" fmla="*/ 59 h 72"/>
                  <a:gd name="T32" fmla="*/ 12 w 73"/>
                  <a:gd name="T33" fmla="*/ 64 h 72"/>
                  <a:gd name="T34" fmla="*/ 16 w 73"/>
                  <a:gd name="T35" fmla="*/ 67 h 72"/>
                  <a:gd name="T36" fmla="*/ 21 w 73"/>
                  <a:gd name="T37" fmla="*/ 69 h 72"/>
                  <a:gd name="T38" fmla="*/ 25 w 73"/>
                  <a:gd name="T39" fmla="*/ 71 h 72"/>
                  <a:gd name="T40" fmla="*/ 31 w 73"/>
                  <a:gd name="T41" fmla="*/ 72 h 72"/>
                  <a:gd name="T42" fmla="*/ 37 w 73"/>
                  <a:gd name="T43" fmla="*/ 72 h 72"/>
                  <a:gd name="T44" fmla="*/ 40 w 73"/>
                  <a:gd name="T45" fmla="*/ 72 h 72"/>
                  <a:gd name="T46" fmla="*/ 46 w 73"/>
                  <a:gd name="T47" fmla="*/ 72 h 72"/>
                  <a:gd name="T48" fmla="*/ 50 w 73"/>
                  <a:gd name="T49" fmla="*/ 69 h 72"/>
                  <a:gd name="T50" fmla="*/ 55 w 73"/>
                  <a:gd name="T51" fmla="*/ 68 h 72"/>
                  <a:gd name="T52" fmla="*/ 59 w 73"/>
                  <a:gd name="T53" fmla="*/ 65 h 72"/>
                  <a:gd name="T54" fmla="*/ 64 w 73"/>
                  <a:gd name="T55" fmla="*/ 61 h 72"/>
                  <a:gd name="T56" fmla="*/ 67 w 73"/>
                  <a:gd name="T57" fmla="*/ 58 h 72"/>
                  <a:gd name="T58" fmla="*/ 70 w 73"/>
                  <a:gd name="T59" fmla="*/ 52 h 72"/>
                  <a:gd name="T60" fmla="*/ 71 w 73"/>
                  <a:gd name="T61" fmla="*/ 47 h 72"/>
                  <a:gd name="T62" fmla="*/ 73 w 73"/>
                  <a:gd name="T63" fmla="*/ 43 h 72"/>
                  <a:gd name="T64" fmla="*/ 73 w 73"/>
                  <a:gd name="T65" fmla="*/ 37 h 72"/>
                  <a:gd name="T66" fmla="*/ 73 w 73"/>
                  <a:gd name="T67" fmla="*/ 32 h 72"/>
                  <a:gd name="T68" fmla="*/ 71 w 73"/>
                  <a:gd name="T69" fmla="*/ 28 h 72"/>
                  <a:gd name="T70" fmla="*/ 70 w 73"/>
                  <a:gd name="T71" fmla="*/ 22 h 72"/>
                  <a:gd name="T72" fmla="*/ 68 w 73"/>
                  <a:gd name="T73" fmla="*/ 18 h 72"/>
                  <a:gd name="T74" fmla="*/ 65 w 73"/>
                  <a:gd name="T75" fmla="*/ 13 h 72"/>
                  <a:gd name="T76" fmla="*/ 61 w 73"/>
                  <a:gd name="T77" fmla="*/ 10 h 72"/>
                  <a:gd name="T78" fmla="*/ 56 w 73"/>
                  <a:gd name="T79" fmla="*/ 7 h 72"/>
                  <a:gd name="T80" fmla="*/ 52 w 73"/>
                  <a:gd name="T81" fmla="*/ 4 h 72"/>
                  <a:gd name="T82" fmla="*/ 47 w 73"/>
                  <a:gd name="T83" fmla="*/ 3 h 72"/>
                  <a:gd name="T84" fmla="*/ 41 w 73"/>
                  <a:gd name="T85" fmla="*/ 1 h 72"/>
                  <a:gd name="T86" fmla="*/ 37 w 73"/>
                  <a:gd name="T8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3" h="72">
                    <a:moveTo>
                      <a:pt x="37" y="0"/>
                    </a:moveTo>
                    <a:lnTo>
                      <a:pt x="34" y="1"/>
                    </a:lnTo>
                    <a:lnTo>
                      <a:pt x="33" y="1"/>
                    </a:lnTo>
                    <a:lnTo>
                      <a:pt x="31" y="1"/>
                    </a:lnTo>
                    <a:lnTo>
                      <a:pt x="30" y="1"/>
                    </a:lnTo>
                    <a:lnTo>
                      <a:pt x="28" y="1"/>
                    </a:lnTo>
                    <a:lnTo>
                      <a:pt x="25" y="3"/>
                    </a:lnTo>
                    <a:lnTo>
                      <a:pt x="24" y="3"/>
                    </a:lnTo>
                    <a:lnTo>
                      <a:pt x="22" y="3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8" y="6"/>
                    </a:lnTo>
                    <a:lnTo>
                      <a:pt x="16" y="7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9" y="13"/>
                    </a:lnTo>
                    <a:lnTo>
                      <a:pt x="7" y="15"/>
                    </a:lnTo>
                    <a:lnTo>
                      <a:pt x="6" y="16"/>
                    </a:lnTo>
                    <a:lnTo>
                      <a:pt x="6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1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40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6" y="56"/>
                    </a:lnTo>
                    <a:lnTo>
                      <a:pt x="6" y="58"/>
                    </a:lnTo>
                    <a:lnTo>
                      <a:pt x="7" y="58"/>
                    </a:lnTo>
                    <a:lnTo>
                      <a:pt x="9" y="59"/>
                    </a:lnTo>
                    <a:lnTo>
                      <a:pt x="10" y="61"/>
                    </a:lnTo>
                    <a:lnTo>
                      <a:pt x="10" y="62"/>
                    </a:lnTo>
                    <a:lnTo>
                      <a:pt x="12" y="64"/>
                    </a:lnTo>
                    <a:lnTo>
                      <a:pt x="13" y="65"/>
                    </a:lnTo>
                    <a:lnTo>
                      <a:pt x="15" y="65"/>
                    </a:lnTo>
                    <a:lnTo>
                      <a:pt x="16" y="67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21" y="69"/>
                    </a:lnTo>
                    <a:lnTo>
                      <a:pt x="22" y="69"/>
                    </a:lnTo>
                    <a:lnTo>
                      <a:pt x="24" y="71"/>
                    </a:lnTo>
                    <a:lnTo>
                      <a:pt x="25" y="71"/>
                    </a:lnTo>
                    <a:lnTo>
                      <a:pt x="28" y="72"/>
                    </a:lnTo>
                    <a:lnTo>
                      <a:pt x="30" y="72"/>
                    </a:lnTo>
                    <a:lnTo>
                      <a:pt x="31" y="72"/>
                    </a:lnTo>
                    <a:lnTo>
                      <a:pt x="33" y="72"/>
                    </a:lnTo>
                    <a:lnTo>
                      <a:pt x="34" y="72"/>
                    </a:lnTo>
                    <a:lnTo>
                      <a:pt x="37" y="72"/>
                    </a:lnTo>
                    <a:lnTo>
                      <a:pt x="37" y="72"/>
                    </a:lnTo>
                    <a:lnTo>
                      <a:pt x="38" y="72"/>
                    </a:lnTo>
                    <a:lnTo>
                      <a:pt x="40" y="72"/>
                    </a:lnTo>
                    <a:lnTo>
                      <a:pt x="41" y="72"/>
                    </a:lnTo>
                    <a:lnTo>
                      <a:pt x="44" y="72"/>
                    </a:lnTo>
                    <a:lnTo>
                      <a:pt x="46" y="72"/>
                    </a:lnTo>
                    <a:lnTo>
                      <a:pt x="47" y="71"/>
                    </a:lnTo>
                    <a:lnTo>
                      <a:pt x="49" y="71"/>
                    </a:lnTo>
                    <a:lnTo>
                      <a:pt x="50" y="69"/>
                    </a:lnTo>
                    <a:lnTo>
                      <a:pt x="52" y="69"/>
                    </a:lnTo>
                    <a:lnTo>
                      <a:pt x="53" y="68"/>
                    </a:lnTo>
                    <a:lnTo>
                      <a:pt x="55" y="68"/>
                    </a:lnTo>
                    <a:lnTo>
                      <a:pt x="56" y="67"/>
                    </a:lnTo>
                    <a:lnTo>
                      <a:pt x="58" y="65"/>
                    </a:lnTo>
                    <a:lnTo>
                      <a:pt x="59" y="65"/>
                    </a:lnTo>
                    <a:lnTo>
                      <a:pt x="61" y="64"/>
                    </a:lnTo>
                    <a:lnTo>
                      <a:pt x="62" y="62"/>
                    </a:lnTo>
                    <a:lnTo>
                      <a:pt x="64" y="61"/>
                    </a:lnTo>
                    <a:lnTo>
                      <a:pt x="65" y="59"/>
                    </a:lnTo>
                    <a:lnTo>
                      <a:pt x="65" y="58"/>
                    </a:lnTo>
                    <a:lnTo>
                      <a:pt x="67" y="58"/>
                    </a:lnTo>
                    <a:lnTo>
                      <a:pt x="68" y="56"/>
                    </a:lnTo>
                    <a:lnTo>
                      <a:pt x="68" y="55"/>
                    </a:lnTo>
                    <a:lnTo>
                      <a:pt x="70" y="52"/>
                    </a:lnTo>
                    <a:lnTo>
                      <a:pt x="70" y="50"/>
                    </a:lnTo>
                    <a:lnTo>
                      <a:pt x="71" y="49"/>
                    </a:lnTo>
                    <a:lnTo>
                      <a:pt x="71" y="47"/>
                    </a:lnTo>
                    <a:lnTo>
                      <a:pt x="71" y="46"/>
                    </a:lnTo>
                    <a:lnTo>
                      <a:pt x="73" y="44"/>
                    </a:lnTo>
                    <a:lnTo>
                      <a:pt x="73" y="43"/>
                    </a:lnTo>
                    <a:lnTo>
                      <a:pt x="73" y="40"/>
                    </a:lnTo>
                    <a:lnTo>
                      <a:pt x="73" y="38"/>
                    </a:lnTo>
                    <a:lnTo>
                      <a:pt x="73" y="37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3" y="32"/>
                    </a:lnTo>
                    <a:lnTo>
                      <a:pt x="73" y="31"/>
                    </a:lnTo>
                    <a:lnTo>
                      <a:pt x="73" y="30"/>
                    </a:lnTo>
                    <a:lnTo>
                      <a:pt x="71" y="28"/>
                    </a:lnTo>
                    <a:lnTo>
                      <a:pt x="71" y="27"/>
                    </a:lnTo>
                    <a:lnTo>
                      <a:pt x="71" y="25"/>
                    </a:lnTo>
                    <a:lnTo>
                      <a:pt x="70" y="22"/>
                    </a:lnTo>
                    <a:lnTo>
                      <a:pt x="70" y="21"/>
                    </a:lnTo>
                    <a:lnTo>
                      <a:pt x="68" y="19"/>
                    </a:lnTo>
                    <a:lnTo>
                      <a:pt x="68" y="18"/>
                    </a:lnTo>
                    <a:lnTo>
                      <a:pt x="67" y="16"/>
                    </a:lnTo>
                    <a:lnTo>
                      <a:pt x="65" y="15"/>
                    </a:lnTo>
                    <a:lnTo>
                      <a:pt x="65" y="13"/>
                    </a:lnTo>
                    <a:lnTo>
                      <a:pt x="64" y="12"/>
                    </a:lnTo>
                    <a:lnTo>
                      <a:pt x="62" y="12"/>
                    </a:lnTo>
                    <a:lnTo>
                      <a:pt x="61" y="10"/>
                    </a:lnTo>
                    <a:lnTo>
                      <a:pt x="59" y="9"/>
                    </a:lnTo>
                    <a:lnTo>
                      <a:pt x="58" y="7"/>
                    </a:lnTo>
                    <a:lnTo>
                      <a:pt x="56" y="7"/>
                    </a:lnTo>
                    <a:lnTo>
                      <a:pt x="55" y="6"/>
                    </a:lnTo>
                    <a:lnTo>
                      <a:pt x="53" y="4"/>
                    </a:lnTo>
                    <a:lnTo>
                      <a:pt x="52" y="4"/>
                    </a:lnTo>
                    <a:lnTo>
                      <a:pt x="50" y="3"/>
                    </a:lnTo>
                    <a:lnTo>
                      <a:pt x="49" y="3"/>
                    </a:lnTo>
                    <a:lnTo>
                      <a:pt x="47" y="3"/>
                    </a:lnTo>
                    <a:lnTo>
                      <a:pt x="46" y="1"/>
                    </a:lnTo>
                    <a:lnTo>
                      <a:pt x="44" y="1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2" name="Rectangle 335"/>
              <p:cNvSpPr>
                <a:spLocks noChangeArrowheads="1"/>
              </p:cNvSpPr>
              <p:nvPr/>
            </p:nvSpPr>
            <p:spPr bwMode="auto">
              <a:xfrm>
                <a:off x="3377" y="2145"/>
                <a:ext cx="10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900">
                    <a:solidFill>
                      <a:srgbClr val="000000"/>
                    </a:solidFill>
                    <a:latin typeface="Times-Roman" charset="0"/>
                  </a:rPr>
                  <a:t>Q</a:t>
                </a: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-Roman" charset="0"/>
                    <a:cs typeface="Arial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013" name="Rectangle 336"/>
              <p:cNvSpPr>
                <a:spLocks noChangeArrowheads="1"/>
              </p:cNvSpPr>
              <p:nvPr/>
            </p:nvSpPr>
            <p:spPr bwMode="auto">
              <a:xfrm>
                <a:off x="3243" y="2740"/>
                <a:ext cx="9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-Roman" charset="0"/>
                    <a:cs typeface="Arial" pitchFamily="34" charset="0"/>
                  </a:rPr>
                  <a:t>D</a:t>
                </a: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-Roman" charset="0"/>
                    <a:cs typeface="Arial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014" name="Line 337"/>
              <p:cNvSpPr>
                <a:spLocks noChangeShapeType="1"/>
              </p:cNvSpPr>
              <p:nvPr/>
            </p:nvSpPr>
            <p:spPr bwMode="auto">
              <a:xfrm>
                <a:off x="3141" y="2960"/>
                <a:ext cx="9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5" name="Line 338"/>
              <p:cNvSpPr>
                <a:spLocks noChangeShapeType="1"/>
              </p:cNvSpPr>
              <p:nvPr/>
            </p:nvSpPr>
            <p:spPr bwMode="auto">
              <a:xfrm>
                <a:off x="3615" y="2486"/>
                <a:ext cx="0" cy="8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6" name="Line 339"/>
              <p:cNvSpPr>
                <a:spLocks noChangeShapeType="1"/>
              </p:cNvSpPr>
              <p:nvPr/>
            </p:nvSpPr>
            <p:spPr bwMode="auto">
              <a:xfrm flipH="1">
                <a:off x="3655" y="2654"/>
                <a:ext cx="6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7" name="Line 340"/>
              <p:cNvSpPr>
                <a:spLocks noChangeShapeType="1"/>
              </p:cNvSpPr>
              <p:nvPr/>
            </p:nvSpPr>
            <p:spPr bwMode="auto">
              <a:xfrm>
                <a:off x="3783" y="2526"/>
                <a:ext cx="0" cy="98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8" name="Rectangle 341"/>
              <p:cNvSpPr>
                <a:spLocks noChangeArrowheads="1"/>
              </p:cNvSpPr>
              <p:nvPr/>
            </p:nvSpPr>
            <p:spPr bwMode="auto">
              <a:xfrm>
                <a:off x="3240" y="2713"/>
                <a:ext cx="217" cy="336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19" name="Freeform 342"/>
              <p:cNvSpPr>
                <a:spLocks/>
              </p:cNvSpPr>
              <p:nvPr/>
            </p:nvSpPr>
            <p:spPr bwMode="auto">
              <a:xfrm>
                <a:off x="3576" y="2555"/>
                <a:ext cx="79" cy="207"/>
              </a:xfrm>
              <a:custGeom>
                <a:avLst/>
                <a:gdLst>
                  <a:gd name="T0" fmla="*/ 237 w 237"/>
                  <a:gd name="T1" fmla="*/ 503 h 621"/>
                  <a:gd name="T2" fmla="*/ 237 w 237"/>
                  <a:gd name="T3" fmla="*/ 118 h 621"/>
                  <a:gd name="T4" fmla="*/ 0 w 237"/>
                  <a:gd name="T5" fmla="*/ 0 h 621"/>
                  <a:gd name="T6" fmla="*/ 0 w 237"/>
                  <a:gd name="T7" fmla="*/ 621 h 621"/>
                  <a:gd name="T8" fmla="*/ 237 w 237"/>
                  <a:gd name="T9" fmla="*/ 503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621">
                    <a:moveTo>
                      <a:pt x="237" y="503"/>
                    </a:moveTo>
                    <a:lnTo>
                      <a:pt x="237" y="118"/>
                    </a:lnTo>
                    <a:lnTo>
                      <a:pt x="0" y="0"/>
                    </a:lnTo>
                    <a:lnTo>
                      <a:pt x="0" y="621"/>
                    </a:lnTo>
                    <a:lnTo>
                      <a:pt x="237" y="503"/>
                    </a:lnTo>
                    <a:close/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0" name="Freeform 343"/>
              <p:cNvSpPr>
                <a:spLocks/>
              </p:cNvSpPr>
              <p:nvPr/>
            </p:nvSpPr>
            <p:spPr bwMode="auto">
              <a:xfrm>
                <a:off x="3724" y="2595"/>
                <a:ext cx="128" cy="128"/>
              </a:xfrm>
              <a:custGeom>
                <a:avLst/>
                <a:gdLst>
                  <a:gd name="T0" fmla="*/ 385 w 385"/>
                  <a:gd name="T1" fmla="*/ 178 h 385"/>
                  <a:gd name="T2" fmla="*/ 0 w 385"/>
                  <a:gd name="T3" fmla="*/ 385 h 385"/>
                  <a:gd name="T4" fmla="*/ 0 w 385"/>
                  <a:gd name="T5" fmla="*/ 0 h 385"/>
                  <a:gd name="T6" fmla="*/ 385 w 385"/>
                  <a:gd name="T7" fmla="*/ 178 h 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5" h="385">
                    <a:moveTo>
                      <a:pt x="385" y="178"/>
                    </a:moveTo>
                    <a:lnTo>
                      <a:pt x="0" y="385"/>
                    </a:lnTo>
                    <a:lnTo>
                      <a:pt x="0" y="0"/>
                    </a:lnTo>
                    <a:lnTo>
                      <a:pt x="385" y="178"/>
                    </a:lnTo>
                    <a:close/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1" name="Line 344"/>
              <p:cNvSpPr>
                <a:spLocks noChangeShapeType="1"/>
              </p:cNvSpPr>
              <p:nvPr/>
            </p:nvSpPr>
            <p:spPr bwMode="auto">
              <a:xfrm>
                <a:off x="2865" y="2762"/>
                <a:ext cx="5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2" name="Line 345"/>
              <p:cNvSpPr>
                <a:spLocks noChangeShapeType="1"/>
              </p:cNvSpPr>
              <p:nvPr/>
            </p:nvSpPr>
            <p:spPr bwMode="auto">
              <a:xfrm flipH="1">
                <a:off x="3122" y="2802"/>
                <a:ext cx="118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3" name="Freeform 346"/>
              <p:cNvSpPr>
                <a:spLocks/>
              </p:cNvSpPr>
              <p:nvPr/>
            </p:nvSpPr>
            <p:spPr bwMode="auto">
              <a:xfrm>
                <a:off x="2945" y="2729"/>
                <a:ext cx="177" cy="71"/>
              </a:xfrm>
              <a:custGeom>
                <a:avLst/>
                <a:gdLst>
                  <a:gd name="T0" fmla="*/ 104 w 531"/>
                  <a:gd name="T1" fmla="*/ 0 h 212"/>
                  <a:gd name="T2" fmla="*/ 178 w 531"/>
                  <a:gd name="T3" fmla="*/ 0 h 212"/>
                  <a:gd name="T4" fmla="*/ 215 w 531"/>
                  <a:gd name="T5" fmla="*/ 0 h 212"/>
                  <a:gd name="T6" fmla="*/ 233 w 531"/>
                  <a:gd name="T7" fmla="*/ 2 h 212"/>
                  <a:gd name="T8" fmla="*/ 240 w 531"/>
                  <a:gd name="T9" fmla="*/ 2 h 212"/>
                  <a:gd name="T10" fmla="*/ 249 w 531"/>
                  <a:gd name="T11" fmla="*/ 2 h 212"/>
                  <a:gd name="T12" fmla="*/ 255 w 531"/>
                  <a:gd name="T13" fmla="*/ 3 h 212"/>
                  <a:gd name="T14" fmla="*/ 260 w 531"/>
                  <a:gd name="T15" fmla="*/ 3 h 212"/>
                  <a:gd name="T16" fmla="*/ 267 w 531"/>
                  <a:gd name="T17" fmla="*/ 5 h 212"/>
                  <a:gd name="T18" fmla="*/ 276 w 531"/>
                  <a:gd name="T19" fmla="*/ 6 h 212"/>
                  <a:gd name="T20" fmla="*/ 282 w 531"/>
                  <a:gd name="T21" fmla="*/ 6 h 212"/>
                  <a:gd name="T22" fmla="*/ 288 w 531"/>
                  <a:gd name="T23" fmla="*/ 8 h 212"/>
                  <a:gd name="T24" fmla="*/ 294 w 531"/>
                  <a:gd name="T25" fmla="*/ 9 h 212"/>
                  <a:gd name="T26" fmla="*/ 302 w 531"/>
                  <a:gd name="T27" fmla="*/ 12 h 212"/>
                  <a:gd name="T28" fmla="*/ 311 w 531"/>
                  <a:gd name="T29" fmla="*/ 15 h 212"/>
                  <a:gd name="T30" fmla="*/ 319 w 531"/>
                  <a:gd name="T31" fmla="*/ 16 h 212"/>
                  <a:gd name="T32" fmla="*/ 325 w 531"/>
                  <a:gd name="T33" fmla="*/ 19 h 212"/>
                  <a:gd name="T34" fmla="*/ 331 w 531"/>
                  <a:gd name="T35" fmla="*/ 22 h 212"/>
                  <a:gd name="T36" fmla="*/ 338 w 531"/>
                  <a:gd name="T37" fmla="*/ 25 h 212"/>
                  <a:gd name="T38" fmla="*/ 347 w 531"/>
                  <a:gd name="T39" fmla="*/ 30 h 212"/>
                  <a:gd name="T40" fmla="*/ 351 w 531"/>
                  <a:gd name="T41" fmla="*/ 33 h 212"/>
                  <a:gd name="T42" fmla="*/ 357 w 531"/>
                  <a:gd name="T43" fmla="*/ 36 h 212"/>
                  <a:gd name="T44" fmla="*/ 363 w 531"/>
                  <a:gd name="T45" fmla="*/ 39 h 212"/>
                  <a:gd name="T46" fmla="*/ 369 w 531"/>
                  <a:gd name="T47" fmla="*/ 43 h 212"/>
                  <a:gd name="T48" fmla="*/ 377 w 531"/>
                  <a:gd name="T49" fmla="*/ 46 h 212"/>
                  <a:gd name="T50" fmla="*/ 381 w 531"/>
                  <a:gd name="T51" fmla="*/ 49 h 212"/>
                  <a:gd name="T52" fmla="*/ 385 w 531"/>
                  <a:gd name="T53" fmla="*/ 52 h 212"/>
                  <a:gd name="T54" fmla="*/ 390 w 531"/>
                  <a:gd name="T55" fmla="*/ 55 h 212"/>
                  <a:gd name="T56" fmla="*/ 396 w 531"/>
                  <a:gd name="T57" fmla="*/ 59 h 212"/>
                  <a:gd name="T58" fmla="*/ 400 w 531"/>
                  <a:gd name="T59" fmla="*/ 62 h 212"/>
                  <a:gd name="T60" fmla="*/ 403 w 531"/>
                  <a:gd name="T61" fmla="*/ 64 h 212"/>
                  <a:gd name="T62" fmla="*/ 406 w 531"/>
                  <a:gd name="T63" fmla="*/ 67 h 212"/>
                  <a:gd name="T64" fmla="*/ 411 w 531"/>
                  <a:gd name="T65" fmla="*/ 70 h 212"/>
                  <a:gd name="T66" fmla="*/ 415 w 531"/>
                  <a:gd name="T67" fmla="*/ 73 h 212"/>
                  <a:gd name="T68" fmla="*/ 418 w 531"/>
                  <a:gd name="T69" fmla="*/ 76 h 212"/>
                  <a:gd name="T70" fmla="*/ 421 w 531"/>
                  <a:gd name="T71" fmla="*/ 77 h 212"/>
                  <a:gd name="T72" fmla="*/ 424 w 531"/>
                  <a:gd name="T73" fmla="*/ 80 h 212"/>
                  <a:gd name="T74" fmla="*/ 428 w 531"/>
                  <a:gd name="T75" fmla="*/ 83 h 212"/>
                  <a:gd name="T76" fmla="*/ 433 w 531"/>
                  <a:gd name="T77" fmla="*/ 86 h 212"/>
                  <a:gd name="T78" fmla="*/ 436 w 531"/>
                  <a:gd name="T79" fmla="*/ 89 h 212"/>
                  <a:gd name="T80" fmla="*/ 440 w 531"/>
                  <a:gd name="T81" fmla="*/ 92 h 212"/>
                  <a:gd name="T82" fmla="*/ 443 w 531"/>
                  <a:gd name="T83" fmla="*/ 95 h 212"/>
                  <a:gd name="T84" fmla="*/ 449 w 531"/>
                  <a:gd name="T85" fmla="*/ 101 h 212"/>
                  <a:gd name="T86" fmla="*/ 454 w 531"/>
                  <a:gd name="T87" fmla="*/ 105 h 212"/>
                  <a:gd name="T88" fmla="*/ 456 w 531"/>
                  <a:gd name="T89" fmla="*/ 110 h 212"/>
                  <a:gd name="T90" fmla="*/ 459 w 531"/>
                  <a:gd name="T91" fmla="*/ 114 h 212"/>
                  <a:gd name="T92" fmla="*/ 465 w 531"/>
                  <a:gd name="T93" fmla="*/ 120 h 212"/>
                  <a:gd name="T94" fmla="*/ 471 w 531"/>
                  <a:gd name="T95" fmla="*/ 127 h 212"/>
                  <a:gd name="T96" fmla="*/ 476 w 531"/>
                  <a:gd name="T97" fmla="*/ 132 h 212"/>
                  <a:gd name="T98" fmla="*/ 479 w 531"/>
                  <a:gd name="T99" fmla="*/ 138 h 212"/>
                  <a:gd name="T100" fmla="*/ 483 w 531"/>
                  <a:gd name="T101" fmla="*/ 144 h 212"/>
                  <a:gd name="T102" fmla="*/ 489 w 531"/>
                  <a:gd name="T103" fmla="*/ 150 h 212"/>
                  <a:gd name="T104" fmla="*/ 495 w 531"/>
                  <a:gd name="T105" fmla="*/ 159 h 212"/>
                  <a:gd name="T106" fmla="*/ 499 w 531"/>
                  <a:gd name="T107" fmla="*/ 164 h 212"/>
                  <a:gd name="T108" fmla="*/ 502 w 531"/>
                  <a:gd name="T109" fmla="*/ 170 h 212"/>
                  <a:gd name="T110" fmla="*/ 508 w 531"/>
                  <a:gd name="T111" fmla="*/ 176 h 212"/>
                  <a:gd name="T112" fmla="*/ 514 w 531"/>
                  <a:gd name="T113" fmla="*/ 185 h 212"/>
                  <a:gd name="T114" fmla="*/ 519 w 531"/>
                  <a:gd name="T115" fmla="*/ 193 h 212"/>
                  <a:gd name="T116" fmla="*/ 523 w 531"/>
                  <a:gd name="T117" fmla="*/ 197 h 212"/>
                  <a:gd name="T118" fmla="*/ 526 w 531"/>
                  <a:gd name="T119" fmla="*/ 203 h 212"/>
                  <a:gd name="T120" fmla="*/ 531 w 531"/>
                  <a:gd name="T121" fmla="*/ 20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0"/>
                    </a:moveTo>
                    <a:lnTo>
                      <a:pt x="21" y="0"/>
                    </a:lnTo>
                    <a:lnTo>
                      <a:pt x="39" y="0"/>
                    </a:lnTo>
                    <a:lnTo>
                      <a:pt x="57" y="0"/>
                    </a:lnTo>
                    <a:lnTo>
                      <a:pt x="74" y="0"/>
                    </a:lnTo>
                    <a:lnTo>
                      <a:pt x="89" y="0"/>
                    </a:lnTo>
                    <a:lnTo>
                      <a:pt x="104" y="0"/>
                    </a:lnTo>
                    <a:lnTo>
                      <a:pt x="117" y="0"/>
                    </a:lnTo>
                    <a:lnTo>
                      <a:pt x="129" y="0"/>
                    </a:lnTo>
                    <a:lnTo>
                      <a:pt x="141" y="0"/>
                    </a:lnTo>
                    <a:lnTo>
                      <a:pt x="151" y="0"/>
                    </a:lnTo>
                    <a:lnTo>
                      <a:pt x="162" y="0"/>
                    </a:lnTo>
                    <a:lnTo>
                      <a:pt x="169" y="0"/>
                    </a:lnTo>
                    <a:lnTo>
                      <a:pt x="178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8" y="0"/>
                    </a:lnTo>
                    <a:lnTo>
                      <a:pt x="212" y="0"/>
                    </a:lnTo>
                    <a:lnTo>
                      <a:pt x="215" y="0"/>
                    </a:lnTo>
                    <a:lnTo>
                      <a:pt x="220" y="0"/>
                    </a:lnTo>
                    <a:lnTo>
                      <a:pt x="223" y="0"/>
                    </a:lnTo>
                    <a:lnTo>
                      <a:pt x="224" y="0"/>
                    </a:lnTo>
                    <a:lnTo>
                      <a:pt x="227" y="0"/>
                    </a:lnTo>
                    <a:lnTo>
                      <a:pt x="228" y="0"/>
                    </a:lnTo>
                    <a:lnTo>
                      <a:pt x="230" y="2"/>
                    </a:lnTo>
                    <a:lnTo>
                      <a:pt x="233" y="2"/>
                    </a:lnTo>
                    <a:lnTo>
                      <a:pt x="234" y="2"/>
                    </a:lnTo>
                    <a:lnTo>
                      <a:pt x="236" y="2"/>
                    </a:lnTo>
                    <a:lnTo>
                      <a:pt x="237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40" y="2"/>
                    </a:lnTo>
                    <a:lnTo>
                      <a:pt x="242" y="2"/>
                    </a:lnTo>
                    <a:lnTo>
                      <a:pt x="243" y="2"/>
                    </a:lnTo>
                    <a:lnTo>
                      <a:pt x="245" y="2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248" y="2"/>
                    </a:lnTo>
                    <a:lnTo>
                      <a:pt x="249" y="2"/>
                    </a:lnTo>
                    <a:lnTo>
                      <a:pt x="251" y="2"/>
                    </a:lnTo>
                    <a:lnTo>
                      <a:pt x="251" y="2"/>
                    </a:lnTo>
                    <a:lnTo>
                      <a:pt x="252" y="3"/>
                    </a:lnTo>
                    <a:lnTo>
                      <a:pt x="252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5" y="3"/>
                    </a:lnTo>
                    <a:lnTo>
                      <a:pt x="255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8" y="3"/>
                    </a:lnTo>
                    <a:lnTo>
                      <a:pt x="258" y="3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4" y="3"/>
                    </a:lnTo>
                    <a:lnTo>
                      <a:pt x="265" y="5"/>
                    </a:lnTo>
                    <a:lnTo>
                      <a:pt x="265" y="5"/>
                    </a:lnTo>
                    <a:lnTo>
                      <a:pt x="267" y="5"/>
                    </a:lnTo>
                    <a:lnTo>
                      <a:pt x="268" y="5"/>
                    </a:lnTo>
                    <a:lnTo>
                      <a:pt x="270" y="5"/>
                    </a:lnTo>
                    <a:lnTo>
                      <a:pt x="271" y="5"/>
                    </a:lnTo>
                    <a:lnTo>
                      <a:pt x="271" y="5"/>
                    </a:lnTo>
                    <a:lnTo>
                      <a:pt x="273" y="5"/>
                    </a:lnTo>
                    <a:lnTo>
                      <a:pt x="274" y="5"/>
                    </a:lnTo>
                    <a:lnTo>
                      <a:pt x="276" y="6"/>
                    </a:lnTo>
                    <a:lnTo>
                      <a:pt x="276" y="6"/>
                    </a:lnTo>
                    <a:lnTo>
                      <a:pt x="277" y="6"/>
                    </a:lnTo>
                    <a:lnTo>
                      <a:pt x="279" y="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6"/>
                    </a:lnTo>
                    <a:lnTo>
                      <a:pt x="282" y="6"/>
                    </a:lnTo>
                    <a:lnTo>
                      <a:pt x="283" y="6"/>
                    </a:lnTo>
                    <a:lnTo>
                      <a:pt x="285" y="8"/>
                    </a:lnTo>
                    <a:lnTo>
                      <a:pt x="285" y="8"/>
                    </a:lnTo>
                    <a:lnTo>
                      <a:pt x="286" y="8"/>
                    </a:lnTo>
                    <a:lnTo>
                      <a:pt x="286" y="8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89" y="8"/>
                    </a:lnTo>
                    <a:lnTo>
                      <a:pt x="289" y="8"/>
                    </a:lnTo>
                    <a:lnTo>
                      <a:pt x="291" y="9"/>
                    </a:lnTo>
                    <a:lnTo>
                      <a:pt x="291" y="9"/>
                    </a:lnTo>
                    <a:lnTo>
                      <a:pt x="292" y="9"/>
                    </a:lnTo>
                    <a:lnTo>
                      <a:pt x="294" y="9"/>
                    </a:lnTo>
                    <a:lnTo>
                      <a:pt x="294" y="9"/>
                    </a:lnTo>
                    <a:lnTo>
                      <a:pt x="295" y="9"/>
                    </a:lnTo>
                    <a:lnTo>
                      <a:pt x="297" y="10"/>
                    </a:lnTo>
                    <a:lnTo>
                      <a:pt x="298" y="10"/>
                    </a:lnTo>
                    <a:lnTo>
                      <a:pt x="298" y="10"/>
                    </a:lnTo>
                    <a:lnTo>
                      <a:pt x="300" y="12"/>
                    </a:lnTo>
                    <a:lnTo>
                      <a:pt x="301" y="12"/>
                    </a:lnTo>
                    <a:lnTo>
                      <a:pt x="302" y="12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5" y="13"/>
                    </a:lnTo>
                    <a:lnTo>
                      <a:pt x="307" y="13"/>
                    </a:lnTo>
                    <a:lnTo>
                      <a:pt x="308" y="13"/>
                    </a:lnTo>
                    <a:lnTo>
                      <a:pt x="310" y="15"/>
                    </a:lnTo>
                    <a:lnTo>
                      <a:pt x="311" y="15"/>
                    </a:lnTo>
                    <a:lnTo>
                      <a:pt x="313" y="15"/>
                    </a:lnTo>
                    <a:lnTo>
                      <a:pt x="314" y="15"/>
                    </a:lnTo>
                    <a:lnTo>
                      <a:pt x="314" y="16"/>
                    </a:lnTo>
                    <a:lnTo>
                      <a:pt x="316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9" y="16"/>
                    </a:lnTo>
                    <a:lnTo>
                      <a:pt x="319" y="18"/>
                    </a:lnTo>
                    <a:lnTo>
                      <a:pt x="320" y="18"/>
                    </a:lnTo>
                    <a:lnTo>
                      <a:pt x="322" y="18"/>
                    </a:lnTo>
                    <a:lnTo>
                      <a:pt x="322" y="18"/>
                    </a:lnTo>
                    <a:lnTo>
                      <a:pt x="323" y="19"/>
                    </a:lnTo>
                    <a:lnTo>
                      <a:pt x="323" y="19"/>
                    </a:lnTo>
                    <a:lnTo>
                      <a:pt x="325" y="19"/>
                    </a:lnTo>
                    <a:lnTo>
                      <a:pt x="325" y="19"/>
                    </a:lnTo>
                    <a:lnTo>
                      <a:pt x="326" y="19"/>
                    </a:lnTo>
                    <a:lnTo>
                      <a:pt x="326" y="21"/>
                    </a:lnTo>
                    <a:lnTo>
                      <a:pt x="328" y="21"/>
                    </a:lnTo>
                    <a:lnTo>
                      <a:pt x="329" y="21"/>
                    </a:lnTo>
                    <a:lnTo>
                      <a:pt x="329" y="22"/>
                    </a:lnTo>
                    <a:lnTo>
                      <a:pt x="331" y="22"/>
                    </a:lnTo>
                    <a:lnTo>
                      <a:pt x="332" y="22"/>
                    </a:lnTo>
                    <a:lnTo>
                      <a:pt x="332" y="24"/>
                    </a:lnTo>
                    <a:lnTo>
                      <a:pt x="334" y="24"/>
                    </a:lnTo>
                    <a:lnTo>
                      <a:pt x="335" y="25"/>
                    </a:lnTo>
                    <a:lnTo>
                      <a:pt x="337" y="25"/>
                    </a:lnTo>
                    <a:lnTo>
                      <a:pt x="338" y="25"/>
                    </a:lnTo>
                    <a:lnTo>
                      <a:pt x="338" y="25"/>
                    </a:lnTo>
                    <a:lnTo>
                      <a:pt x="339" y="27"/>
                    </a:lnTo>
                    <a:lnTo>
                      <a:pt x="341" y="27"/>
                    </a:lnTo>
                    <a:lnTo>
                      <a:pt x="342" y="28"/>
                    </a:lnTo>
                    <a:lnTo>
                      <a:pt x="342" y="28"/>
                    </a:lnTo>
                    <a:lnTo>
                      <a:pt x="344" y="30"/>
                    </a:lnTo>
                    <a:lnTo>
                      <a:pt x="345" y="30"/>
                    </a:lnTo>
                    <a:lnTo>
                      <a:pt x="347" y="30"/>
                    </a:lnTo>
                    <a:lnTo>
                      <a:pt x="347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50" y="31"/>
                    </a:lnTo>
                    <a:lnTo>
                      <a:pt x="350" y="33"/>
                    </a:lnTo>
                    <a:lnTo>
                      <a:pt x="351" y="33"/>
                    </a:lnTo>
                    <a:lnTo>
                      <a:pt x="351" y="33"/>
                    </a:lnTo>
                    <a:lnTo>
                      <a:pt x="353" y="33"/>
                    </a:lnTo>
                    <a:lnTo>
                      <a:pt x="353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6" y="34"/>
                    </a:lnTo>
                    <a:lnTo>
                      <a:pt x="356" y="36"/>
                    </a:lnTo>
                    <a:lnTo>
                      <a:pt x="357" y="36"/>
                    </a:lnTo>
                    <a:lnTo>
                      <a:pt x="357" y="36"/>
                    </a:lnTo>
                    <a:lnTo>
                      <a:pt x="359" y="37"/>
                    </a:lnTo>
                    <a:lnTo>
                      <a:pt x="359" y="37"/>
                    </a:lnTo>
                    <a:lnTo>
                      <a:pt x="360" y="37"/>
                    </a:lnTo>
                    <a:lnTo>
                      <a:pt x="360" y="37"/>
                    </a:lnTo>
                    <a:lnTo>
                      <a:pt x="362" y="39"/>
                    </a:lnTo>
                    <a:lnTo>
                      <a:pt x="363" y="39"/>
                    </a:lnTo>
                    <a:lnTo>
                      <a:pt x="363" y="40"/>
                    </a:lnTo>
                    <a:lnTo>
                      <a:pt x="365" y="40"/>
                    </a:lnTo>
                    <a:lnTo>
                      <a:pt x="366" y="40"/>
                    </a:lnTo>
                    <a:lnTo>
                      <a:pt x="368" y="42"/>
                    </a:lnTo>
                    <a:lnTo>
                      <a:pt x="368" y="42"/>
                    </a:lnTo>
                    <a:lnTo>
                      <a:pt x="369" y="42"/>
                    </a:lnTo>
                    <a:lnTo>
                      <a:pt x="369" y="43"/>
                    </a:lnTo>
                    <a:lnTo>
                      <a:pt x="371" y="43"/>
                    </a:lnTo>
                    <a:lnTo>
                      <a:pt x="372" y="45"/>
                    </a:lnTo>
                    <a:lnTo>
                      <a:pt x="372" y="45"/>
                    </a:lnTo>
                    <a:lnTo>
                      <a:pt x="374" y="45"/>
                    </a:lnTo>
                    <a:lnTo>
                      <a:pt x="375" y="46"/>
                    </a:lnTo>
                    <a:lnTo>
                      <a:pt x="375" y="46"/>
                    </a:lnTo>
                    <a:lnTo>
                      <a:pt x="377" y="46"/>
                    </a:lnTo>
                    <a:lnTo>
                      <a:pt x="377" y="48"/>
                    </a:lnTo>
                    <a:lnTo>
                      <a:pt x="378" y="48"/>
                    </a:lnTo>
                    <a:lnTo>
                      <a:pt x="378" y="48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1" y="49"/>
                    </a:lnTo>
                    <a:lnTo>
                      <a:pt x="381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4" y="50"/>
                    </a:lnTo>
                    <a:lnTo>
                      <a:pt x="384" y="52"/>
                    </a:lnTo>
                    <a:lnTo>
                      <a:pt x="385" y="52"/>
                    </a:lnTo>
                    <a:lnTo>
                      <a:pt x="385" y="52"/>
                    </a:lnTo>
                    <a:lnTo>
                      <a:pt x="387" y="52"/>
                    </a:lnTo>
                    <a:lnTo>
                      <a:pt x="387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90" y="55"/>
                    </a:lnTo>
                    <a:lnTo>
                      <a:pt x="390" y="55"/>
                    </a:lnTo>
                    <a:lnTo>
                      <a:pt x="391" y="56"/>
                    </a:lnTo>
                    <a:lnTo>
                      <a:pt x="393" y="56"/>
                    </a:lnTo>
                    <a:lnTo>
                      <a:pt x="393" y="56"/>
                    </a:lnTo>
                    <a:lnTo>
                      <a:pt x="393" y="58"/>
                    </a:lnTo>
                    <a:lnTo>
                      <a:pt x="394" y="58"/>
                    </a:lnTo>
                    <a:lnTo>
                      <a:pt x="396" y="58"/>
                    </a:lnTo>
                    <a:lnTo>
                      <a:pt x="396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400" y="61"/>
                    </a:lnTo>
                    <a:lnTo>
                      <a:pt x="400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5" y="64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6" y="65"/>
                    </a:lnTo>
                    <a:lnTo>
                      <a:pt x="406" y="65"/>
                    </a:lnTo>
                    <a:lnTo>
                      <a:pt x="406" y="67"/>
                    </a:lnTo>
                    <a:lnTo>
                      <a:pt x="406" y="67"/>
                    </a:lnTo>
                    <a:lnTo>
                      <a:pt x="408" y="67"/>
                    </a:lnTo>
                    <a:lnTo>
                      <a:pt x="408" y="67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2" y="70"/>
                    </a:lnTo>
                    <a:lnTo>
                      <a:pt x="412" y="71"/>
                    </a:lnTo>
                    <a:lnTo>
                      <a:pt x="414" y="71"/>
                    </a:lnTo>
                    <a:lnTo>
                      <a:pt x="414" y="71"/>
                    </a:lnTo>
                    <a:lnTo>
                      <a:pt x="414" y="73"/>
                    </a:lnTo>
                    <a:lnTo>
                      <a:pt x="415" y="73"/>
                    </a:lnTo>
                    <a:lnTo>
                      <a:pt x="415" y="73"/>
                    </a:lnTo>
                    <a:lnTo>
                      <a:pt x="416" y="73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8" y="74"/>
                    </a:lnTo>
                    <a:lnTo>
                      <a:pt x="418" y="76"/>
                    </a:lnTo>
                    <a:lnTo>
                      <a:pt x="418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4" y="79"/>
                    </a:lnTo>
                    <a:lnTo>
                      <a:pt x="424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7" y="82"/>
                    </a:lnTo>
                    <a:lnTo>
                      <a:pt x="427" y="82"/>
                    </a:lnTo>
                    <a:lnTo>
                      <a:pt x="428" y="82"/>
                    </a:lnTo>
                    <a:lnTo>
                      <a:pt x="428" y="82"/>
                    </a:lnTo>
                    <a:lnTo>
                      <a:pt x="428" y="83"/>
                    </a:lnTo>
                    <a:lnTo>
                      <a:pt x="430" y="83"/>
                    </a:lnTo>
                    <a:lnTo>
                      <a:pt x="430" y="83"/>
                    </a:lnTo>
                    <a:lnTo>
                      <a:pt x="431" y="85"/>
                    </a:lnTo>
                    <a:lnTo>
                      <a:pt x="431" y="85"/>
                    </a:lnTo>
                    <a:lnTo>
                      <a:pt x="433" y="85"/>
                    </a:lnTo>
                    <a:lnTo>
                      <a:pt x="433" y="86"/>
                    </a:lnTo>
                    <a:lnTo>
                      <a:pt x="433" y="86"/>
                    </a:lnTo>
                    <a:lnTo>
                      <a:pt x="434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2" y="93"/>
                    </a:lnTo>
                    <a:lnTo>
                      <a:pt x="442" y="93"/>
                    </a:lnTo>
                    <a:lnTo>
                      <a:pt x="443" y="93"/>
                    </a:lnTo>
                    <a:lnTo>
                      <a:pt x="443" y="95"/>
                    </a:lnTo>
                    <a:lnTo>
                      <a:pt x="443" y="95"/>
                    </a:lnTo>
                    <a:lnTo>
                      <a:pt x="445" y="96"/>
                    </a:lnTo>
                    <a:lnTo>
                      <a:pt x="446" y="96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8" y="99"/>
                    </a:lnTo>
                    <a:lnTo>
                      <a:pt x="448" y="99"/>
                    </a:lnTo>
                    <a:lnTo>
                      <a:pt x="449" y="101"/>
                    </a:lnTo>
                    <a:lnTo>
                      <a:pt x="449" y="101"/>
                    </a:lnTo>
                    <a:lnTo>
                      <a:pt x="451" y="102"/>
                    </a:lnTo>
                    <a:lnTo>
                      <a:pt x="451" y="102"/>
                    </a:lnTo>
                    <a:lnTo>
                      <a:pt x="451" y="104"/>
                    </a:lnTo>
                    <a:lnTo>
                      <a:pt x="452" y="104"/>
                    </a:lnTo>
                    <a:lnTo>
                      <a:pt x="452" y="105"/>
                    </a:lnTo>
                    <a:lnTo>
                      <a:pt x="454" y="105"/>
                    </a:lnTo>
                    <a:lnTo>
                      <a:pt x="454" y="105"/>
                    </a:lnTo>
                    <a:lnTo>
                      <a:pt x="454" y="107"/>
                    </a:lnTo>
                    <a:lnTo>
                      <a:pt x="455" y="107"/>
                    </a:lnTo>
                    <a:lnTo>
                      <a:pt x="455" y="107"/>
                    </a:lnTo>
                    <a:lnTo>
                      <a:pt x="455" y="108"/>
                    </a:lnTo>
                    <a:lnTo>
                      <a:pt x="455" y="108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8" y="111"/>
                    </a:lnTo>
                    <a:lnTo>
                      <a:pt x="458" y="111"/>
                    </a:lnTo>
                    <a:lnTo>
                      <a:pt x="459" y="113"/>
                    </a:lnTo>
                    <a:lnTo>
                      <a:pt x="459" y="113"/>
                    </a:lnTo>
                    <a:lnTo>
                      <a:pt x="459" y="114"/>
                    </a:lnTo>
                    <a:lnTo>
                      <a:pt x="461" y="114"/>
                    </a:lnTo>
                    <a:lnTo>
                      <a:pt x="461" y="116"/>
                    </a:lnTo>
                    <a:lnTo>
                      <a:pt x="462" y="116"/>
                    </a:lnTo>
                    <a:lnTo>
                      <a:pt x="462" y="117"/>
                    </a:lnTo>
                    <a:lnTo>
                      <a:pt x="464" y="119"/>
                    </a:lnTo>
                    <a:lnTo>
                      <a:pt x="465" y="119"/>
                    </a:lnTo>
                    <a:lnTo>
                      <a:pt x="465" y="120"/>
                    </a:lnTo>
                    <a:lnTo>
                      <a:pt x="467" y="122"/>
                    </a:lnTo>
                    <a:lnTo>
                      <a:pt x="467" y="122"/>
                    </a:lnTo>
                    <a:lnTo>
                      <a:pt x="468" y="123"/>
                    </a:lnTo>
                    <a:lnTo>
                      <a:pt x="468" y="123"/>
                    </a:lnTo>
                    <a:lnTo>
                      <a:pt x="470" y="124"/>
                    </a:lnTo>
                    <a:lnTo>
                      <a:pt x="470" y="126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3" y="129"/>
                    </a:lnTo>
                    <a:lnTo>
                      <a:pt x="473" y="129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6" y="132"/>
                    </a:lnTo>
                    <a:lnTo>
                      <a:pt x="476" y="132"/>
                    </a:lnTo>
                    <a:lnTo>
                      <a:pt x="476" y="133"/>
                    </a:lnTo>
                    <a:lnTo>
                      <a:pt x="477" y="133"/>
                    </a:lnTo>
                    <a:lnTo>
                      <a:pt x="477" y="135"/>
                    </a:lnTo>
                    <a:lnTo>
                      <a:pt x="477" y="135"/>
                    </a:lnTo>
                    <a:lnTo>
                      <a:pt x="479" y="136"/>
                    </a:lnTo>
                    <a:lnTo>
                      <a:pt x="479" y="136"/>
                    </a:lnTo>
                    <a:lnTo>
                      <a:pt x="479" y="138"/>
                    </a:lnTo>
                    <a:lnTo>
                      <a:pt x="480" y="138"/>
                    </a:lnTo>
                    <a:lnTo>
                      <a:pt x="480" y="139"/>
                    </a:lnTo>
                    <a:lnTo>
                      <a:pt x="482" y="139"/>
                    </a:lnTo>
                    <a:lnTo>
                      <a:pt x="482" y="141"/>
                    </a:lnTo>
                    <a:lnTo>
                      <a:pt x="482" y="141"/>
                    </a:lnTo>
                    <a:lnTo>
                      <a:pt x="483" y="142"/>
                    </a:lnTo>
                    <a:lnTo>
                      <a:pt x="483" y="144"/>
                    </a:lnTo>
                    <a:lnTo>
                      <a:pt x="485" y="144"/>
                    </a:lnTo>
                    <a:lnTo>
                      <a:pt x="485" y="145"/>
                    </a:lnTo>
                    <a:lnTo>
                      <a:pt x="486" y="147"/>
                    </a:lnTo>
                    <a:lnTo>
                      <a:pt x="488" y="148"/>
                    </a:lnTo>
                    <a:lnTo>
                      <a:pt x="488" y="150"/>
                    </a:lnTo>
                    <a:lnTo>
                      <a:pt x="489" y="150"/>
                    </a:lnTo>
                    <a:lnTo>
                      <a:pt x="489" y="150"/>
                    </a:lnTo>
                    <a:lnTo>
                      <a:pt x="491" y="151"/>
                    </a:lnTo>
                    <a:lnTo>
                      <a:pt x="491" y="153"/>
                    </a:lnTo>
                    <a:lnTo>
                      <a:pt x="492" y="154"/>
                    </a:lnTo>
                    <a:lnTo>
                      <a:pt x="492" y="156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5" y="159"/>
                    </a:lnTo>
                    <a:lnTo>
                      <a:pt x="495" y="160"/>
                    </a:lnTo>
                    <a:lnTo>
                      <a:pt x="496" y="160"/>
                    </a:lnTo>
                    <a:lnTo>
                      <a:pt x="496" y="162"/>
                    </a:lnTo>
                    <a:lnTo>
                      <a:pt x="498" y="162"/>
                    </a:lnTo>
                    <a:lnTo>
                      <a:pt x="498" y="163"/>
                    </a:lnTo>
                    <a:lnTo>
                      <a:pt x="498" y="163"/>
                    </a:lnTo>
                    <a:lnTo>
                      <a:pt x="499" y="164"/>
                    </a:lnTo>
                    <a:lnTo>
                      <a:pt x="499" y="164"/>
                    </a:lnTo>
                    <a:lnTo>
                      <a:pt x="499" y="166"/>
                    </a:lnTo>
                    <a:lnTo>
                      <a:pt x="501" y="166"/>
                    </a:lnTo>
                    <a:lnTo>
                      <a:pt x="501" y="167"/>
                    </a:lnTo>
                    <a:lnTo>
                      <a:pt x="501" y="167"/>
                    </a:lnTo>
                    <a:lnTo>
                      <a:pt x="502" y="169"/>
                    </a:lnTo>
                    <a:lnTo>
                      <a:pt x="502" y="170"/>
                    </a:lnTo>
                    <a:lnTo>
                      <a:pt x="504" y="170"/>
                    </a:lnTo>
                    <a:lnTo>
                      <a:pt x="504" y="172"/>
                    </a:lnTo>
                    <a:lnTo>
                      <a:pt x="505" y="172"/>
                    </a:lnTo>
                    <a:lnTo>
                      <a:pt x="505" y="173"/>
                    </a:lnTo>
                    <a:lnTo>
                      <a:pt x="507" y="175"/>
                    </a:lnTo>
                    <a:lnTo>
                      <a:pt x="507" y="175"/>
                    </a:lnTo>
                    <a:lnTo>
                      <a:pt x="508" y="176"/>
                    </a:lnTo>
                    <a:lnTo>
                      <a:pt x="508" y="178"/>
                    </a:lnTo>
                    <a:lnTo>
                      <a:pt x="510" y="179"/>
                    </a:lnTo>
                    <a:lnTo>
                      <a:pt x="511" y="181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3" y="184"/>
                    </a:lnTo>
                    <a:lnTo>
                      <a:pt x="514" y="185"/>
                    </a:lnTo>
                    <a:lnTo>
                      <a:pt x="514" y="187"/>
                    </a:lnTo>
                    <a:lnTo>
                      <a:pt x="516" y="187"/>
                    </a:lnTo>
                    <a:lnTo>
                      <a:pt x="516" y="188"/>
                    </a:lnTo>
                    <a:lnTo>
                      <a:pt x="517" y="190"/>
                    </a:lnTo>
                    <a:lnTo>
                      <a:pt x="517" y="191"/>
                    </a:lnTo>
                    <a:lnTo>
                      <a:pt x="519" y="191"/>
                    </a:lnTo>
                    <a:lnTo>
                      <a:pt x="519" y="193"/>
                    </a:lnTo>
                    <a:lnTo>
                      <a:pt x="520" y="193"/>
                    </a:lnTo>
                    <a:lnTo>
                      <a:pt x="520" y="194"/>
                    </a:lnTo>
                    <a:lnTo>
                      <a:pt x="520" y="194"/>
                    </a:lnTo>
                    <a:lnTo>
                      <a:pt x="522" y="196"/>
                    </a:lnTo>
                    <a:lnTo>
                      <a:pt x="522" y="196"/>
                    </a:lnTo>
                    <a:lnTo>
                      <a:pt x="522" y="197"/>
                    </a:lnTo>
                    <a:lnTo>
                      <a:pt x="523" y="197"/>
                    </a:lnTo>
                    <a:lnTo>
                      <a:pt x="523" y="199"/>
                    </a:lnTo>
                    <a:lnTo>
                      <a:pt x="523" y="199"/>
                    </a:lnTo>
                    <a:lnTo>
                      <a:pt x="525" y="200"/>
                    </a:lnTo>
                    <a:lnTo>
                      <a:pt x="525" y="200"/>
                    </a:lnTo>
                    <a:lnTo>
                      <a:pt x="525" y="201"/>
                    </a:lnTo>
                    <a:lnTo>
                      <a:pt x="526" y="201"/>
                    </a:lnTo>
                    <a:lnTo>
                      <a:pt x="526" y="203"/>
                    </a:lnTo>
                    <a:lnTo>
                      <a:pt x="526" y="203"/>
                    </a:lnTo>
                    <a:lnTo>
                      <a:pt x="528" y="204"/>
                    </a:lnTo>
                    <a:lnTo>
                      <a:pt x="528" y="204"/>
                    </a:lnTo>
                    <a:lnTo>
                      <a:pt x="528" y="206"/>
                    </a:lnTo>
                    <a:lnTo>
                      <a:pt x="529" y="207"/>
                    </a:lnTo>
                    <a:lnTo>
                      <a:pt x="529" y="207"/>
                    </a:lnTo>
                    <a:lnTo>
                      <a:pt x="531" y="209"/>
                    </a:lnTo>
                    <a:lnTo>
                      <a:pt x="531" y="210"/>
                    </a:lnTo>
                    <a:lnTo>
                      <a:pt x="531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4" name="Freeform 347"/>
              <p:cNvSpPr>
                <a:spLocks/>
              </p:cNvSpPr>
              <p:nvPr/>
            </p:nvSpPr>
            <p:spPr bwMode="auto">
              <a:xfrm>
                <a:off x="2945" y="2729"/>
                <a:ext cx="177" cy="71"/>
              </a:xfrm>
              <a:custGeom>
                <a:avLst/>
                <a:gdLst>
                  <a:gd name="T0" fmla="*/ 104 w 531"/>
                  <a:gd name="T1" fmla="*/ 0 h 212"/>
                  <a:gd name="T2" fmla="*/ 178 w 531"/>
                  <a:gd name="T3" fmla="*/ 0 h 212"/>
                  <a:gd name="T4" fmla="*/ 215 w 531"/>
                  <a:gd name="T5" fmla="*/ 0 h 212"/>
                  <a:gd name="T6" fmla="*/ 233 w 531"/>
                  <a:gd name="T7" fmla="*/ 2 h 212"/>
                  <a:gd name="T8" fmla="*/ 240 w 531"/>
                  <a:gd name="T9" fmla="*/ 2 h 212"/>
                  <a:gd name="T10" fmla="*/ 249 w 531"/>
                  <a:gd name="T11" fmla="*/ 2 h 212"/>
                  <a:gd name="T12" fmla="*/ 255 w 531"/>
                  <a:gd name="T13" fmla="*/ 3 h 212"/>
                  <a:gd name="T14" fmla="*/ 260 w 531"/>
                  <a:gd name="T15" fmla="*/ 3 h 212"/>
                  <a:gd name="T16" fmla="*/ 267 w 531"/>
                  <a:gd name="T17" fmla="*/ 5 h 212"/>
                  <a:gd name="T18" fmla="*/ 276 w 531"/>
                  <a:gd name="T19" fmla="*/ 6 h 212"/>
                  <a:gd name="T20" fmla="*/ 282 w 531"/>
                  <a:gd name="T21" fmla="*/ 6 h 212"/>
                  <a:gd name="T22" fmla="*/ 288 w 531"/>
                  <a:gd name="T23" fmla="*/ 8 h 212"/>
                  <a:gd name="T24" fmla="*/ 294 w 531"/>
                  <a:gd name="T25" fmla="*/ 9 h 212"/>
                  <a:gd name="T26" fmla="*/ 302 w 531"/>
                  <a:gd name="T27" fmla="*/ 12 h 212"/>
                  <a:gd name="T28" fmla="*/ 311 w 531"/>
                  <a:gd name="T29" fmla="*/ 15 h 212"/>
                  <a:gd name="T30" fmla="*/ 319 w 531"/>
                  <a:gd name="T31" fmla="*/ 16 h 212"/>
                  <a:gd name="T32" fmla="*/ 325 w 531"/>
                  <a:gd name="T33" fmla="*/ 19 h 212"/>
                  <a:gd name="T34" fmla="*/ 331 w 531"/>
                  <a:gd name="T35" fmla="*/ 22 h 212"/>
                  <a:gd name="T36" fmla="*/ 338 w 531"/>
                  <a:gd name="T37" fmla="*/ 25 h 212"/>
                  <a:gd name="T38" fmla="*/ 347 w 531"/>
                  <a:gd name="T39" fmla="*/ 30 h 212"/>
                  <a:gd name="T40" fmla="*/ 351 w 531"/>
                  <a:gd name="T41" fmla="*/ 33 h 212"/>
                  <a:gd name="T42" fmla="*/ 357 w 531"/>
                  <a:gd name="T43" fmla="*/ 36 h 212"/>
                  <a:gd name="T44" fmla="*/ 363 w 531"/>
                  <a:gd name="T45" fmla="*/ 39 h 212"/>
                  <a:gd name="T46" fmla="*/ 369 w 531"/>
                  <a:gd name="T47" fmla="*/ 43 h 212"/>
                  <a:gd name="T48" fmla="*/ 377 w 531"/>
                  <a:gd name="T49" fmla="*/ 46 h 212"/>
                  <a:gd name="T50" fmla="*/ 381 w 531"/>
                  <a:gd name="T51" fmla="*/ 49 h 212"/>
                  <a:gd name="T52" fmla="*/ 385 w 531"/>
                  <a:gd name="T53" fmla="*/ 52 h 212"/>
                  <a:gd name="T54" fmla="*/ 390 w 531"/>
                  <a:gd name="T55" fmla="*/ 55 h 212"/>
                  <a:gd name="T56" fmla="*/ 396 w 531"/>
                  <a:gd name="T57" fmla="*/ 59 h 212"/>
                  <a:gd name="T58" fmla="*/ 400 w 531"/>
                  <a:gd name="T59" fmla="*/ 62 h 212"/>
                  <a:gd name="T60" fmla="*/ 403 w 531"/>
                  <a:gd name="T61" fmla="*/ 64 h 212"/>
                  <a:gd name="T62" fmla="*/ 406 w 531"/>
                  <a:gd name="T63" fmla="*/ 67 h 212"/>
                  <a:gd name="T64" fmla="*/ 411 w 531"/>
                  <a:gd name="T65" fmla="*/ 70 h 212"/>
                  <a:gd name="T66" fmla="*/ 415 w 531"/>
                  <a:gd name="T67" fmla="*/ 73 h 212"/>
                  <a:gd name="T68" fmla="*/ 418 w 531"/>
                  <a:gd name="T69" fmla="*/ 76 h 212"/>
                  <a:gd name="T70" fmla="*/ 421 w 531"/>
                  <a:gd name="T71" fmla="*/ 77 h 212"/>
                  <a:gd name="T72" fmla="*/ 424 w 531"/>
                  <a:gd name="T73" fmla="*/ 80 h 212"/>
                  <a:gd name="T74" fmla="*/ 428 w 531"/>
                  <a:gd name="T75" fmla="*/ 83 h 212"/>
                  <a:gd name="T76" fmla="*/ 433 w 531"/>
                  <a:gd name="T77" fmla="*/ 86 h 212"/>
                  <a:gd name="T78" fmla="*/ 436 w 531"/>
                  <a:gd name="T79" fmla="*/ 89 h 212"/>
                  <a:gd name="T80" fmla="*/ 440 w 531"/>
                  <a:gd name="T81" fmla="*/ 92 h 212"/>
                  <a:gd name="T82" fmla="*/ 443 w 531"/>
                  <a:gd name="T83" fmla="*/ 95 h 212"/>
                  <a:gd name="T84" fmla="*/ 449 w 531"/>
                  <a:gd name="T85" fmla="*/ 101 h 212"/>
                  <a:gd name="T86" fmla="*/ 454 w 531"/>
                  <a:gd name="T87" fmla="*/ 105 h 212"/>
                  <a:gd name="T88" fmla="*/ 456 w 531"/>
                  <a:gd name="T89" fmla="*/ 110 h 212"/>
                  <a:gd name="T90" fmla="*/ 459 w 531"/>
                  <a:gd name="T91" fmla="*/ 114 h 212"/>
                  <a:gd name="T92" fmla="*/ 465 w 531"/>
                  <a:gd name="T93" fmla="*/ 120 h 212"/>
                  <a:gd name="T94" fmla="*/ 471 w 531"/>
                  <a:gd name="T95" fmla="*/ 127 h 212"/>
                  <a:gd name="T96" fmla="*/ 476 w 531"/>
                  <a:gd name="T97" fmla="*/ 132 h 212"/>
                  <a:gd name="T98" fmla="*/ 479 w 531"/>
                  <a:gd name="T99" fmla="*/ 138 h 212"/>
                  <a:gd name="T100" fmla="*/ 483 w 531"/>
                  <a:gd name="T101" fmla="*/ 144 h 212"/>
                  <a:gd name="T102" fmla="*/ 489 w 531"/>
                  <a:gd name="T103" fmla="*/ 150 h 212"/>
                  <a:gd name="T104" fmla="*/ 495 w 531"/>
                  <a:gd name="T105" fmla="*/ 159 h 212"/>
                  <a:gd name="T106" fmla="*/ 499 w 531"/>
                  <a:gd name="T107" fmla="*/ 164 h 212"/>
                  <a:gd name="T108" fmla="*/ 502 w 531"/>
                  <a:gd name="T109" fmla="*/ 170 h 212"/>
                  <a:gd name="T110" fmla="*/ 508 w 531"/>
                  <a:gd name="T111" fmla="*/ 176 h 212"/>
                  <a:gd name="T112" fmla="*/ 514 w 531"/>
                  <a:gd name="T113" fmla="*/ 185 h 212"/>
                  <a:gd name="T114" fmla="*/ 519 w 531"/>
                  <a:gd name="T115" fmla="*/ 193 h 212"/>
                  <a:gd name="T116" fmla="*/ 523 w 531"/>
                  <a:gd name="T117" fmla="*/ 197 h 212"/>
                  <a:gd name="T118" fmla="*/ 526 w 531"/>
                  <a:gd name="T119" fmla="*/ 203 h 212"/>
                  <a:gd name="T120" fmla="*/ 531 w 531"/>
                  <a:gd name="T121" fmla="*/ 20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0"/>
                    </a:moveTo>
                    <a:lnTo>
                      <a:pt x="21" y="0"/>
                    </a:lnTo>
                    <a:lnTo>
                      <a:pt x="39" y="0"/>
                    </a:lnTo>
                    <a:lnTo>
                      <a:pt x="57" y="0"/>
                    </a:lnTo>
                    <a:lnTo>
                      <a:pt x="74" y="0"/>
                    </a:lnTo>
                    <a:lnTo>
                      <a:pt x="89" y="0"/>
                    </a:lnTo>
                    <a:lnTo>
                      <a:pt x="104" y="0"/>
                    </a:lnTo>
                    <a:lnTo>
                      <a:pt x="117" y="0"/>
                    </a:lnTo>
                    <a:lnTo>
                      <a:pt x="129" y="0"/>
                    </a:lnTo>
                    <a:lnTo>
                      <a:pt x="141" y="0"/>
                    </a:lnTo>
                    <a:lnTo>
                      <a:pt x="151" y="0"/>
                    </a:lnTo>
                    <a:lnTo>
                      <a:pt x="162" y="0"/>
                    </a:lnTo>
                    <a:lnTo>
                      <a:pt x="169" y="0"/>
                    </a:lnTo>
                    <a:lnTo>
                      <a:pt x="178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8" y="0"/>
                    </a:lnTo>
                    <a:lnTo>
                      <a:pt x="212" y="0"/>
                    </a:lnTo>
                    <a:lnTo>
                      <a:pt x="215" y="0"/>
                    </a:lnTo>
                    <a:lnTo>
                      <a:pt x="220" y="0"/>
                    </a:lnTo>
                    <a:lnTo>
                      <a:pt x="223" y="0"/>
                    </a:lnTo>
                    <a:lnTo>
                      <a:pt x="224" y="0"/>
                    </a:lnTo>
                    <a:lnTo>
                      <a:pt x="227" y="0"/>
                    </a:lnTo>
                    <a:lnTo>
                      <a:pt x="228" y="0"/>
                    </a:lnTo>
                    <a:lnTo>
                      <a:pt x="230" y="2"/>
                    </a:lnTo>
                    <a:lnTo>
                      <a:pt x="233" y="2"/>
                    </a:lnTo>
                    <a:lnTo>
                      <a:pt x="234" y="2"/>
                    </a:lnTo>
                    <a:lnTo>
                      <a:pt x="236" y="2"/>
                    </a:lnTo>
                    <a:lnTo>
                      <a:pt x="237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39" y="2"/>
                    </a:lnTo>
                    <a:lnTo>
                      <a:pt x="240" y="2"/>
                    </a:lnTo>
                    <a:lnTo>
                      <a:pt x="242" y="2"/>
                    </a:lnTo>
                    <a:lnTo>
                      <a:pt x="243" y="2"/>
                    </a:lnTo>
                    <a:lnTo>
                      <a:pt x="245" y="2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248" y="2"/>
                    </a:lnTo>
                    <a:lnTo>
                      <a:pt x="249" y="2"/>
                    </a:lnTo>
                    <a:lnTo>
                      <a:pt x="251" y="2"/>
                    </a:lnTo>
                    <a:lnTo>
                      <a:pt x="251" y="2"/>
                    </a:lnTo>
                    <a:lnTo>
                      <a:pt x="252" y="3"/>
                    </a:lnTo>
                    <a:lnTo>
                      <a:pt x="252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5" y="3"/>
                    </a:lnTo>
                    <a:lnTo>
                      <a:pt x="255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8" y="3"/>
                    </a:lnTo>
                    <a:lnTo>
                      <a:pt x="258" y="3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4" y="3"/>
                    </a:lnTo>
                    <a:lnTo>
                      <a:pt x="265" y="5"/>
                    </a:lnTo>
                    <a:lnTo>
                      <a:pt x="265" y="5"/>
                    </a:lnTo>
                    <a:lnTo>
                      <a:pt x="267" y="5"/>
                    </a:lnTo>
                    <a:lnTo>
                      <a:pt x="268" y="5"/>
                    </a:lnTo>
                    <a:lnTo>
                      <a:pt x="270" y="5"/>
                    </a:lnTo>
                    <a:lnTo>
                      <a:pt x="271" y="5"/>
                    </a:lnTo>
                    <a:lnTo>
                      <a:pt x="271" y="5"/>
                    </a:lnTo>
                    <a:lnTo>
                      <a:pt x="273" y="5"/>
                    </a:lnTo>
                    <a:lnTo>
                      <a:pt x="274" y="5"/>
                    </a:lnTo>
                    <a:lnTo>
                      <a:pt x="276" y="6"/>
                    </a:lnTo>
                    <a:lnTo>
                      <a:pt x="276" y="6"/>
                    </a:lnTo>
                    <a:lnTo>
                      <a:pt x="277" y="6"/>
                    </a:lnTo>
                    <a:lnTo>
                      <a:pt x="279" y="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6"/>
                    </a:lnTo>
                    <a:lnTo>
                      <a:pt x="282" y="6"/>
                    </a:lnTo>
                    <a:lnTo>
                      <a:pt x="283" y="6"/>
                    </a:lnTo>
                    <a:lnTo>
                      <a:pt x="285" y="8"/>
                    </a:lnTo>
                    <a:lnTo>
                      <a:pt x="285" y="8"/>
                    </a:lnTo>
                    <a:lnTo>
                      <a:pt x="286" y="8"/>
                    </a:lnTo>
                    <a:lnTo>
                      <a:pt x="286" y="8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89" y="8"/>
                    </a:lnTo>
                    <a:lnTo>
                      <a:pt x="289" y="8"/>
                    </a:lnTo>
                    <a:lnTo>
                      <a:pt x="291" y="9"/>
                    </a:lnTo>
                    <a:lnTo>
                      <a:pt x="291" y="9"/>
                    </a:lnTo>
                    <a:lnTo>
                      <a:pt x="292" y="9"/>
                    </a:lnTo>
                    <a:lnTo>
                      <a:pt x="294" y="9"/>
                    </a:lnTo>
                    <a:lnTo>
                      <a:pt x="294" y="9"/>
                    </a:lnTo>
                    <a:lnTo>
                      <a:pt x="295" y="9"/>
                    </a:lnTo>
                    <a:lnTo>
                      <a:pt x="297" y="10"/>
                    </a:lnTo>
                    <a:lnTo>
                      <a:pt x="298" y="10"/>
                    </a:lnTo>
                    <a:lnTo>
                      <a:pt x="298" y="10"/>
                    </a:lnTo>
                    <a:lnTo>
                      <a:pt x="300" y="12"/>
                    </a:lnTo>
                    <a:lnTo>
                      <a:pt x="301" y="12"/>
                    </a:lnTo>
                    <a:lnTo>
                      <a:pt x="302" y="12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5" y="13"/>
                    </a:lnTo>
                    <a:lnTo>
                      <a:pt x="307" y="13"/>
                    </a:lnTo>
                    <a:lnTo>
                      <a:pt x="308" y="13"/>
                    </a:lnTo>
                    <a:lnTo>
                      <a:pt x="310" y="15"/>
                    </a:lnTo>
                    <a:lnTo>
                      <a:pt x="311" y="15"/>
                    </a:lnTo>
                    <a:lnTo>
                      <a:pt x="313" y="15"/>
                    </a:lnTo>
                    <a:lnTo>
                      <a:pt x="314" y="15"/>
                    </a:lnTo>
                    <a:lnTo>
                      <a:pt x="314" y="16"/>
                    </a:lnTo>
                    <a:lnTo>
                      <a:pt x="316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9" y="16"/>
                    </a:lnTo>
                    <a:lnTo>
                      <a:pt x="319" y="18"/>
                    </a:lnTo>
                    <a:lnTo>
                      <a:pt x="320" y="18"/>
                    </a:lnTo>
                    <a:lnTo>
                      <a:pt x="322" y="18"/>
                    </a:lnTo>
                    <a:lnTo>
                      <a:pt x="322" y="18"/>
                    </a:lnTo>
                    <a:lnTo>
                      <a:pt x="323" y="19"/>
                    </a:lnTo>
                    <a:lnTo>
                      <a:pt x="323" y="19"/>
                    </a:lnTo>
                    <a:lnTo>
                      <a:pt x="325" y="19"/>
                    </a:lnTo>
                    <a:lnTo>
                      <a:pt x="325" y="19"/>
                    </a:lnTo>
                    <a:lnTo>
                      <a:pt x="326" y="19"/>
                    </a:lnTo>
                    <a:lnTo>
                      <a:pt x="326" y="21"/>
                    </a:lnTo>
                    <a:lnTo>
                      <a:pt x="328" y="21"/>
                    </a:lnTo>
                    <a:lnTo>
                      <a:pt x="329" y="21"/>
                    </a:lnTo>
                    <a:lnTo>
                      <a:pt x="329" y="22"/>
                    </a:lnTo>
                    <a:lnTo>
                      <a:pt x="331" y="22"/>
                    </a:lnTo>
                    <a:lnTo>
                      <a:pt x="332" y="22"/>
                    </a:lnTo>
                    <a:lnTo>
                      <a:pt x="332" y="24"/>
                    </a:lnTo>
                    <a:lnTo>
                      <a:pt x="334" y="24"/>
                    </a:lnTo>
                    <a:lnTo>
                      <a:pt x="335" y="25"/>
                    </a:lnTo>
                    <a:lnTo>
                      <a:pt x="337" y="25"/>
                    </a:lnTo>
                    <a:lnTo>
                      <a:pt x="338" y="25"/>
                    </a:lnTo>
                    <a:lnTo>
                      <a:pt x="338" y="25"/>
                    </a:lnTo>
                    <a:lnTo>
                      <a:pt x="339" y="27"/>
                    </a:lnTo>
                    <a:lnTo>
                      <a:pt x="341" y="27"/>
                    </a:lnTo>
                    <a:lnTo>
                      <a:pt x="342" y="28"/>
                    </a:lnTo>
                    <a:lnTo>
                      <a:pt x="342" y="28"/>
                    </a:lnTo>
                    <a:lnTo>
                      <a:pt x="344" y="30"/>
                    </a:lnTo>
                    <a:lnTo>
                      <a:pt x="345" y="30"/>
                    </a:lnTo>
                    <a:lnTo>
                      <a:pt x="347" y="30"/>
                    </a:lnTo>
                    <a:lnTo>
                      <a:pt x="347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50" y="31"/>
                    </a:lnTo>
                    <a:lnTo>
                      <a:pt x="350" y="33"/>
                    </a:lnTo>
                    <a:lnTo>
                      <a:pt x="351" y="33"/>
                    </a:lnTo>
                    <a:lnTo>
                      <a:pt x="351" y="33"/>
                    </a:lnTo>
                    <a:lnTo>
                      <a:pt x="353" y="33"/>
                    </a:lnTo>
                    <a:lnTo>
                      <a:pt x="353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6" y="34"/>
                    </a:lnTo>
                    <a:lnTo>
                      <a:pt x="356" y="36"/>
                    </a:lnTo>
                    <a:lnTo>
                      <a:pt x="357" y="36"/>
                    </a:lnTo>
                    <a:lnTo>
                      <a:pt x="357" y="36"/>
                    </a:lnTo>
                    <a:lnTo>
                      <a:pt x="359" y="37"/>
                    </a:lnTo>
                    <a:lnTo>
                      <a:pt x="359" y="37"/>
                    </a:lnTo>
                    <a:lnTo>
                      <a:pt x="360" y="37"/>
                    </a:lnTo>
                    <a:lnTo>
                      <a:pt x="360" y="37"/>
                    </a:lnTo>
                    <a:lnTo>
                      <a:pt x="362" y="39"/>
                    </a:lnTo>
                    <a:lnTo>
                      <a:pt x="363" y="39"/>
                    </a:lnTo>
                    <a:lnTo>
                      <a:pt x="363" y="40"/>
                    </a:lnTo>
                    <a:lnTo>
                      <a:pt x="365" y="40"/>
                    </a:lnTo>
                    <a:lnTo>
                      <a:pt x="366" y="40"/>
                    </a:lnTo>
                    <a:lnTo>
                      <a:pt x="368" y="42"/>
                    </a:lnTo>
                    <a:lnTo>
                      <a:pt x="368" y="42"/>
                    </a:lnTo>
                    <a:lnTo>
                      <a:pt x="369" y="42"/>
                    </a:lnTo>
                    <a:lnTo>
                      <a:pt x="369" y="43"/>
                    </a:lnTo>
                    <a:lnTo>
                      <a:pt x="371" y="43"/>
                    </a:lnTo>
                    <a:lnTo>
                      <a:pt x="372" y="45"/>
                    </a:lnTo>
                    <a:lnTo>
                      <a:pt x="372" y="45"/>
                    </a:lnTo>
                    <a:lnTo>
                      <a:pt x="374" y="45"/>
                    </a:lnTo>
                    <a:lnTo>
                      <a:pt x="375" y="46"/>
                    </a:lnTo>
                    <a:lnTo>
                      <a:pt x="375" y="46"/>
                    </a:lnTo>
                    <a:lnTo>
                      <a:pt x="377" y="46"/>
                    </a:lnTo>
                    <a:lnTo>
                      <a:pt x="377" y="48"/>
                    </a:lnTo>
                    <a:lnTo>
                      <a:pt x="378" y="48"/>
                    </a:lnTo>
                    <a:lnTo>
                      <a:pt x="378" y="48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1" y="49"/>
                    </a:lnTo>
                    <a:lnTo>
                      <a:pt x="381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4" y="50"/>
                    </a:lnTo>
                    <a:lnTo>
                      <a:pt x="384" y="52"/>
                    </a:lnTo>
                    <a:lnTo>
                      <a:pt x="385" y="52"/>
                    </a:lnTo>
                    <a:lnTo>
                      <a:pt x="385" y="52"/>
                    </a:lnTo>
                    <a:lnTo>
                      <a:pt x="387" y="52"/>
                    </a:lnTo>
                    <a:lnTo>
                      <a:pt x="387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90" y="55"/>
                    </a:lnTo>
                    <a:lnTo>
                      <a:pt x="390" y="55"/>
                    </a:lnTo>
                    <a:lnTo>
                      <a:pt x="391" y="56"/>
                    </a:lnTo>
                    <a:lnTo>
                      <a:pt x="393" y="56"/>
                    </a:lnTo>
                    <a:lnTo>
                      <a:pt x="393" y="56"/>
                    </a:lnTo>
                    <a:lnTo>
                      <a:pt x="393" y="58"/>
                    </a:lnTo>
                    <a:lnTo>
                      <a:pt x="394" y="58"/>
                    </a:lnTo>
                    <a:lnTo>
                      <a:pt x="396" y="58"/>
                    </a:lnTo>
                    <a:lnTo>
                      <a:pt x="396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399" y="61"/>
                    </a:lnTo>
                    <a:lnTo>
                      <a:pt x="400" y="61"/>
                    </a:lnTo>
                    <a:lnTo>
                      <a:pt x="400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2" y="62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3" y="64"/>
                    </a:lnTo>
                    <a:lnTo>
                      <a:pt x="405" y="64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6" y="65"/>
                    </a:lnTo>
                    <a:lnTo>
                      <a:pt x="406" y="65"/>
                    </a:lnTo>
                    <a:lnTo>
                      <a:pt x="406" y="67"/>
                    </a:lnTo>
                    <a:lnTo>
                      <a:pt x="406" y="67"/>
                    </a:lnTo>
                    <a:lnTo>
                      <a:pt x="408" y="67"/>
                    </a:lnTo>
                    <a:lnTo>
                      <a:pt x="408" y="67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09" y="68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1" y="70"/>
                    </a:lnTo>
                    <a:lnTo>
                      <a:pt x="412" y="70"/>
                    </a:lnTo>
                    <a:lnTo>
                      <a:pt x="412" y="71"/>
                    </a:lnTo>
                    <a:lnTo>
                      <a:pt x="414" y="71"/>
                    </a:lnTo>
                    <a:lnTo>
                      <a:pt x="414" y="71"/>
                    </a:lnTo>
                    <a:lnTo>
                      <a:pt x="414" y="73"/>
                    </a:lnTo>
                    <a:lnTo>
                      <a:pt x="415" y="73"/>
                    </a:lnTo>
                    <a:lnTo>
                      <a:pt x="415" y="73"/>
                    </a:lnTo>
                    <a:lnTo>
                      <a:pt x="416" y="73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8" y="74"/>
                    </a:lnTo>
                    <a:lnTo>
                      <a:pt x="418" y="76"/>
                    </a:lnTo>
                    <a:lnTo>
                      <a:pt x="418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6"/>
                    </a:lnTo>
                    <a:lnTo>
                      <a:pt x="419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1" y="77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2" y="79"/>
                    </a:lnTo>
                    <a:lnTo>
                      <a:pt x="424" y="79"/>
                    </a:lnTo>
                    <a:lnTo>
                      <a:pt x="424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7" y="82"/>
                    </a:lnTo>
                    <a:lnTo>
                      <a:pt x="427" y="82"/>
                    </a:lnTo>
                    <a:lnTo>
                      <a:pt x="428" y="82"/>
                    </a:lnTo>
                    <a:lnTo>
                      <a:pt x="428" y="82"/>
                    </a:lnTo>
                    <a:lnTo>
                      <a:pt x="428" y="83"/>
                    </a:lnTo>
                    <a:lnTo>
                      <a:pt x="430" y="83"/>
                    </a:lnTo>
                    <a:lnTo>
                      <a:pt x="430" y="83"/>
                    </a:lnTo>
                    <a:lnTo>
                      <a:pt x="431" y="85"/>
                    </a:lnTo>
                    <a:lnTo>
                      <a:pt x="431" y="85"/>
                    </a:lnTo>
                    <a:lnTo>
                      <a:pt x="433" y="85"/>
                    </a:lnTo>
                    <a:lnTo>
                      <a:pt x="433" y="86"/>
                    </a:lnTo>
                    <a:lnTo>
                      <a:pt x="433" y="86"/>
                    </a:lnTo>
                    <a:lnTo>
                      <a:pt x="434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7"/>
                    </a:lnTo>
                    <a:lnTo>
                      <a:pt x="436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7" y="89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39" y="90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0" y="92"/>
                    </a:lnTo>
                    <a:lnTo>
                      <a:pt x="442" y="93"/>
                    </a:lnTo>
                    <a:lnTo>
                      <a:pt x="442" y="93"/>
                    </a:lnTo>
                    <a:lnTo>
                      <a:pt x="443" y="93"/>
                    </a:lnTo>
                    <a:lnTo>
                      <a:pt x="443" y="95"/>
                    </a:lnTo>
                    <a:lnTo>
                      <a:pt x="443" y="95"/>
                    </a:lnTo>
                    <a:lnTo>
                      <a:pt x="445" y="96"/>
                    </a:lnTo>
                    <a:lnTo>
                      <a:pt x="446" y="96"/>
                    </a:lnTo>
                    <a:lnTo>
                      <a:pt x="446" y="98"/>
                    </a:lnTo>
                    <a:lnTo>
                      <a:pt x="446" y="98"/>
                    </a:lnTo>
                    <a:lnTo>
                      <a:pt x="448" y="99"/>
                    </a:lnTo>
                    <a:lnTo>
                      <a:pt x="448" y="99"/>
                    </a:lnTo>
                    <a:lnTo>
                      <a:pt x="449" y="101"/>
                    </a:lnTo>
                    <a:lnTo>
                      <a:pt x="449" y="101"/>
                    </a:lnTo>
                    <a:lnTo>
                      <a:pt x="451" y="102"/>
                    </a:lnTo>
                    <a:lnTo>
                      <a:pt x="451" y="102"/>
                    </a:lnTo>
                    <a:lnTo>
                      <a:pt x="451" y="104"/>
                    </a:lnTo>
                    <a:lnTo>
                      <a:pt x="452" y="104"/>
                    </a:lnTo>
                    <a:lnTo>
                      <a:pt x="452" y="105"/>
                    </a:lnTo>
                    <a:lnTo>
                      <a:pt x="454" y="105"/>
                    </a:lnTo>
                    <a:lnTo>
                      <a:pt x="454" y="105"/>
                    </a:lnTo>
                    <a:lnTo>
                      <a:pt x="454" y="107"/>
                    </a:lnTo>
                    <a:lnTo>
                      <a:pt x="455" y="107"/>
                    </a:lnTo>
                    <a:lnTo>
                      <a:pt x="455" y="107"/>
                    </a:lnTo>
                    <a:lnTo>
                      <a:pt x="455" y="108"/>
                    </a:lnTo>
                    <a:lnTo>
                      <a:pt x="455" y="108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6" y="110"/>
                    </a:lnTo>
                    <a:lnTo>
                      <a:pt x="458" y="111"/>
                    </a:lnTo>
                    <a:lnTo>
                      <a:pt x="458" y="111"/>
                    </a:lnTo>
                    <a:lnTo>
                      <a:pt x="459" y="113"/>
                    </a:lnTo>
                    <a:lnTo>
                      <a:pt x="459" y="113"/>
                    </a:lnTo>
                    <a:lnTo>
                      <a:pt x="459" y="114"/>
                    </a:lnTo>
                    <a:lnTo>
                      <a:pt x="461" y="114"/>
                    </a:lnTo>
                    <a:lnTo>
                      <a:pt x="461" y="116"/>
                    </a:lnTo>
                    <a:lnTo>
                      <a:pt x="462" y="116"/>
                    </a:lnTo>
                    <a:lnTo>
                      <a:pt x="462" y="117"/>
                    </a:lnTo>
                    <a:lnTo>
                      <a:pt x="464" y="119"/>
                    </a:lnTo>
                    <a:lnTo>
                      <a:pt x="465" y="119"/>
                    </a:lnTo>
                    <a:lnTo>
                      <a:pt x="465" y="120"/>
                    </a:lnTo>
                    <a:lnTo>
                      <a:pt x="467" y="122"/>
                    </a:lnTo>
                    <a:lnTo>
                      <a:pt x="467" y="122"/>
                    </a:lnTo>
                    <a:lnTo>
                      <a:pt x="468" y="123"/>
                    </a:lnTo>
                    <a:lnTo>
                      <a:pt x="468" y="123"/>
                    </a:lnTo>
                    <a:lnTo>
                      <a:pt x="470" y="124"/>
                    </a:lnTo>
                    <a:lnTo>
                      <a:pt x="470" y="126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3" y="129"/>
                    </a:lnTo>
                    <a:lnTo>
                      <a:pt x="473" y="129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6" y="132"/>
                    </a:lnTo>
                    <a:lnTo>
                      <a:pt x="476" y="132"/>
                    </a:lnTo>
                    <a:lnTo>
                      <a:pt x="476" y="133"/>
                    </a:lnTo>
                    <a:lnTo>
                      <a:pt x="477" y="133"/>
                    </a:lnTo>
                    <a:lnTo>
                      <a:pt x="477" y="135"/>
                    </a:lnTo>
                    <a:lnTo>
                      <a:pt x="477" y="135"/>
                    </a:lnTo>
                    <a:lnTo>
                      <a:pt x="479" y="136"/>
                    </a:lnTo>
                    <a:lnTo>
                      <a:pt x="479" y="136"/>
                    </a:lnTo>
                    <a:lnTo>
                      <a:pt x="479" y="138"/>
                    </a:lnTo>
                    <a:lnTo>
                      <a:pt x="480" y="138"/>
                    </a:lnTo>
                    <a:lnTo>
                      <a:pt x="480" y="139"/>
                    </a:lnTo>
                    <a:lnTo>
                      <a:pt x="482" y="139"/>
                    </a:lnTo>
                    <a:lnTo>
                      <a:pt x="482" y="141"/>
                    </a:lnTo>
                    <a:lnTo>
                      <a:pt x="482" y="141"/>
                    </a:lnTo>
                    <a:lnTo>
                      <a:pt x="483" y="142"/>
                    </a:lnTo>
                    <a:lnTo>
                      <a:pt x="483" y="144"/>
                    </a:lnTo>
                    <a:lnTo>
                      <a:pt x="485" y="144"/>
                    </a:lnTo>
                    <a:lnTo>
                      <a:pt x="485" y="145"/>
                    </a:lnTo>
                    <a:lnTo>
                      <a:pt x="486" y="147"/>
                    </a:lnTo>
                    <a:lnTo>
                      <a:pt x="488" y="148"/>
                    </a:lnTo>
                    <a:lnTo>
                      <a:pt x="488" y="150"/>
                    </a:lnTo>
                    <a:lnTo>
                      <a:pt x="489" y="150"/>
                    </a:lnTo>
                    <a:lnTo>
                      <a:pt x="489" y="150"/>
                    </a:lnTo>
                    <a:lnTo>
                      <a:pt x="491" y="151"/>
                    </a:lnTo>
                    <a:lnTo>
                      <a:pt x="491" y="153"/>
                    </a:lnTo>
                    <a:lnTo>
                      <a:pt x="492" y="154"/>
                    </a:lnTo>
                    <a:lnTo>
                      <a:pt x="492" y="156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5" y="159"/>
                    </a:lnTo>
                    <a:lnTo>
                      <a:pt x="495" y="160"/>
                    </a:lnTo>
                    <a:lnTo>
                      <a:pt x="496" y="160"/>
                    </a:lnTo>
                    <a:lnTo>
                      <a:pt x="496" y="162"/>
                    </a:lnTo>
                    <a:lnTo>
                      <a:pt x="498" y="162"/>
                    </a:lnTo>
                    <a:lnTo>
                      <a:pt x="498" y="163"/>
                    </a:lnTo>
                    <a:lnTo>
                      <a:pt x="498" y="163"/>
                    </a:lnTo>
                    <a:lnTo>
                      <a:pt x="499" y="164"/>
                    </a:lnTo>
                    <a:lnTo>
                      <a:pt x="499" y="164"/>
                    </a:lnTo>
                    <a:lnTo>
                      <a:pt x="499" y="166"/>
                    </a:lnTo>
                    <a:lnTo>
                      <a:pt x="501" y="166"/>
                    </a:lnTo>
                    <a:lnTo>
                      <a:pt x="501" y="167"/>
                    </a:lnTo>
                    <a:lnTo>
                      <a:pt x="501" y="167"/>
                    </a:lnTo>
                    <a:lnTo>
                      <a:pt x="502" y="169"/>
                    </a:lnTo>
                    <a:lnTo>
                      <a:pt x="502" y="170"/>
                    </a:lnTo>
                    <a:lnTo>
                      <a:pt x="504" y="170"/>
                    </a:lnTo>
                    <a:lnTo>
                      <a:pt x="504" y="172"/>
                    </a:lnTo>
                    <a:lnTo>
                      <a:pt x="505" y="172"/>
                    </a:lnTo>
                    <a:lnTo>
                      <a:pt x="505" y="173"/>
                    </a:lnTo>
                    <a:lnTo>
                      <a:pt x="507" y="175"/>
                    </a:lnTo>
                    <a:lnTo>
                      <a:pt x="507" y="175"/>
                    </a:lnTo>
                    <a:lnTo>
                      <a:pt x="508" y="176"/>
                    </a:lnTo>
                    <a:lnTo>
                      <a:pt x="508" y="178"/>
                    </a:lnTo>
                    <a:lnTo>
                      <a:pt x="510" y="179"/>
                    </a:lnTo>
                    <a:lnTo>
                      <a:pt x="511" y="181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3" y="184"/>
                    </a:lnTo>
                    <a:lnTo>
                      <a:pt x="514" y="185"/>
                    </a:lnTo>
                    <a:lnTo>
                      <a:pt x="514" y="187"/>
                    </a:lnTo>
                    <a:lnTo>
                      <a:pt x="516" y="187"/>
                    </a:lnTo>
                    <a:lnTo>
                      <a:pt x="516" y="188"/>
                    </a:lnTo>
                    <a:lnTo>
                      <a:pt x="517" y="190"/>
                    </a:lnTo>
                    <a:lnTo>
                      <a:pt x="517" y="191"/>
                    </a:lnTo>
                    <a:lnTo>
                      <a:pt x="519" y="191"/>
                    </a:lnTo>
                    <a:lnTo>
                      <a:pt x="519" y="193"/>
                    </a:lnTo>
                    <a:lnTo>
                      <a:pt x="520" y="193"/>
                    </a:lnTo>
                    <a:lnTo>
                      <a:pt x="520" y="194"/>
                    </a:lnTo>
                    <a:lnTo>
                      <a:pt x="520" y="194"/>
                    </a:lnTo>
                    <a:lnTo>
                      <a:pt x="522" y="196"/>
                    </a:lnTo>
                    <a:lnTo>
                      <a:pt x="522" y="196"/>
                    </a:lnTo>
                    <a:lnTo>
                      <a:pt x="522" y="197"/>
                    </a:lnTo>
                    <a:lnTo>
                      <a:pt x="523" y="197"/>
                    </a:lnTo>
                    <a:lnTo>
                      <a:pt x="523" y="199"/>
                    </a:lnTo>
                    <a:lnTo>
                      <a:pt x="523" y="199"/>
                    </a:lnTo>
                    <a:lnTo>
                      <a:pt x="525" y="200"/>
                    </a:lnTo>
                    <a:lnTo>
                      <a:pt x="525" y="200"/>
                    </a:lnTo>
                    <a:lnTo>
                      <a:pt x="525" y="201"/>
                    </a:lnTo>
                    <a:lnTo>
                      <a:pt x="526" y="201"/>
                    </a:lnTo>
                    <a:lnTo>
                      <a:pt x="526" y="203"/>
                    </a:lnTo>
                    <a:lnTo>
                      <a:pt x="526" y="203"/>
                    </a:lnTo>
                    <a:lnTo>
                      <a:pt x="528" y="204"/>
                    </a:lnTo>
                    <a:lnTo>
                      <a:pt x="528" y="204"/>
                    </a:lnTo>
                    <a:lnTo>
                      <a:pt x="528" y="206"/>
                    </a:lnTo>
                    <a:lnTo>
                      <a:pt x="529" y="207"/>
                    </a:lnTo>
                    <a:lnTo>
                      <a:pt x="529" y="207"/>
                    </a:lnTo>
                    <a:lnTo>
                      <a:pt x="531" y="209"/>
                    </a:lnTo>
                    <a:lnTo>
                      <a:pt x="531" y="210"/>
                    </a:lnTo>
                    <a:lnTo>
                      <a:pt x="531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5" name="Freeform 348"/>
              <p:cNvSpPr>
                <a:spLocks/>
              </p:cNvSpPr>
              <p:nvPr/>
            </p:nvSpPr>
            <p:spPr bwMode="auto">
              <a:xfrm>
                <a:off x="2945" y="2800"/>
                <a:ext cx="177" cy="71"/>
              </a:xfrm>
              <a:custGeom>
                <a:avLst/>
                <a:gdLst>
                  <a:gd name="T0" fmla="*/ 104 w 531"/>
                  <a:gd name="T1" fmla="*/ 212 h 212"/>
                  <a:gd name="T2" fmla="*/ 178 w 531"/>
                  <a:gd name="T3" fmla="*/ 212 h 212"/>
                  <a:gd name="T4" fmla="*/ 215 w 531"/>
                  <a:gd name="T5" fmla="*/ 212 h 212"/>
                  <a:gd name="T6" fmla="*/ 233 w 531"/>
                  <a:gd name="T7" fmla="*/ 210 h 212"/>
                  <a:gd name="T8" fmla="*/ 240 w 531"/>
                  <a:gd name="T9" fmla="*/ 210 h 212"/>
                  <a:gd name="T10" fmla="*/ 249 w 531"/>
                  <a:gd name="T11" fmla="*/ 210 h 212"/>
                  <a:gd name="T12" fmla="*/ 255 w 531"/>
                  <a:gd name="T13" fmla="*/ 209 h 212"/>
                  <a:gd name="T14" fmla="*/ 260 w 531"/>
                  <a:gd name="T15" fmla="*/ 209 h 212"/>
                  <a:gd name="T16" fmla="*/ 267 w 531"/>
                  <a:gd name="T17" fmla="*/ 207 h 212"/>
                  <a:gd name="T18" fmla="*/ 276 w 531"/>
                  <a:gd name="T19" fmla="*/ 207 h 212"/>
                  <a:gd name="T20" fmla="*/ 282 w 531"/>
                  <a:gd name="T21" fmla="*/ 206 h 212"/>
                  <a:gd name="T22" fmla="*/ 288 w 531"/>
                  <a:gd name="T23" fmla="*/ 204 h 212"/>
                  <a:gd name="T24" fmla="*/ 294 w 531"/>
                  <a:gd name="T25" fmla="*/ 203 h 212"/>
                  <a:gd name="T26" fmla="*/ 302 w 531"/>
                  <a:gd name="T27" fmla="*/ 200 h 212"/>
                  <a:gd name="T28" fmla="*/ 311 w 531"/>
                  <a:gd name="T29" fmla="*/ 197 h 212"/>
                  <a:gd name="T30" fmla="*/ 319 w 531"/>
                  <a:gd name="T31" fmla="*/ 195 h 212"/>
                  <a:gd name="T32" fmla="*/ 325 w 531"/>
                  <a:gd name="T33" fmla="*/ 192 h 212"/>
                  <a:gd name="T34" fmla="*/ 331 w 531"/>
                  <a:gd name="T35" fmla="*/ 189 h 212"/>
                  <a:gd name="T36" fmla="*/ 338 w 531"/>
                  <a:gd name="T37" fmla="*/ 186 h 212"/>
                  <a:gd name="T38" fmla="*/ 347 w 531"/>
                  <a:gd name="T39" fmla="*/ 182 h 212"/>
                  <a:gd name="T40" fmla="*/ 351 w 531"/>
                  <a:gd name="T41" fmla="*/ 179 h 212"/>
                  <a:gd name="T42" fmla="*/ 357 w 531"/>
                  <a:gd name="T43" fmla="*/ 176 h 212"/>
                  <a:gd name="T44" fmla="*/ 363 w 531"/>
                  <a:gd name="T45" fmla="*/ 173 h 212"/>
                  <a:gd name="T46" fmla="*/ 369 w 531"/>
                  <a:gd name="T47" fmla="*/ 169 h 212"/>
                  <a:gd name="T48" fmla="*/ 377 w 531"/>
                  <a:gd name="T49" fmla="*/ 166 h 212"/>
                  <a:gd name="T50" fmla="*/ 381 w 531"/>
                  <a:gd name="T51" fmla="*/ 163 h 212"/>
                  <a:gd name="T52" fmla="*/ 385 w 531"/>
                  <a:gd name="T53" fmla="*/ 160 h 212"/>
                  <a:gd name="T54" fmla="*/ 390 w 531"/>
                  <a:gd name="T55" fmla="*/ 157 h 212"/>
                  <a:gd name="T56" fmla="*/ 396 w 531"/>
                  <a:gd name="T57" fmla="*/ 152 h 212"/>
                  <a:gd name="T58" fmla="*/ 400 w 531"/>
                  <a:gd name="T59" fmla="*/ 149 h 212"/>
                  <a:gd name="T60" fmla="*/ 403 w 531"/>
                  <a:gd name="T61" fmla="*/ 148 h 212"/>
                  <a:gd name="T62" fmla="*/ 406 w 531"/>
                  <a:gd name="T63" fmla="*/ 145 h 212"/>
                  <a:gd name="T64" fmla="*/ 411 w 531"/>
                  <a:gd name="T65" fmla="*/ 142 h 212"/>
                  <a:gd name="T66" fmla="*/ 415 w 531"/>
                  <a:gd name="T67" fmla="*/ 139 h 212"/>
                  <a:gd name="T68" fmla="*/ 418 w 531"/>
                  <a:gd name="T69" fmla="*/ 136 h 212"/>
                  <a:gd name="T70" fmla="*/ 421 w 531"/>
                  <a:gd name="T71" fmla="*/ 135 h 212"/>
                  <a:gd name="T72" fmla="*/ 424 w 531"/>
                  <a:gd name="T73" fmla="*/ 132 h 212"/>
                  <a:gd name="T74" fmla="*/ 428 w 531"/>
                  <a:gd name="T75" fmla="*/ 129 h 212"/>
                  <a:gd name="T76" fmla="*/ 433 w 531"/>
                  <a:gd name="T77" fmla="*/ 126 h 212"/>
                  <a:gd name="T78" fmla="*/ 436 w 531"/>
                  <a:gd name="T79" fmla="*/ 124 h 212"/>
                  <a:gd name="T80" fmla="*/ 440 w 531"/>
                  <a:gd name="T81" fmla="*/ 121 h 212"/>
                  <a:gd name="T82" fmla="*/ 443 w 531"/>
                  <a:gd name="T83" fmla="*/ 117 h 212"/>
                  <a:gd name="T84" fmla="*/ 449 w 531"/>
                  <a:gd name="T85" fmla="*/ 111 h 212"/>
                  <a:gd name="T86" fmla="*/ 454 w 531"/>
                  <a:gd name="T87" fmla="*/ 106 h 212"/>
                  <a:gd name="T88" fmla="*/ 456 w 531"/>
                  <a:gd name="T89" fmla="*/ 102 h 212"/>
                  <a:gd name="T90" fmla="*/ 459 w 531"/>
                  <a:gd name="T91" fmla="*/ 98 h 212"/>
                  <a:gd name="T92" fmla="*/ 465 w 531"/>
                  <a:gd name="T93" fmla="*/ 92 h 212"/>
                  <a:gd name="T94" fmla="*/ 471 w 531"/>
                  <a:gd name="T95" fmla="*/ 84 h 212"/>
                  <a:gd name="T96" fmla="*/ 476 w 531"/>
                  <a:gd name="T97" fmla="*/ 80 h 212"/>
                  <a:gd name="T98" fmla="*/ 479 w 531"/>
                  <a:gd name="T99" fmla="*/ 75 h 212"/>
                  <a:gd name="T100" fmla="*/ 483 w 531"/>
                  <a:gd name="T101" fmla="*/ 69 h 212"/>
                  <a:gd name="T102" fmla="*/ 489 w 531"/>
                  <a:gd name="T103" fmla="*/ 62 h 212"/>
                  <a:gd name="T104" fmla="*/ 495 w 531"/>
                  <a:gd name="T105" fmla="*/ 53 h 212"/>
                  <a:gd name="T106" fmla="*/ 499 w 531"/>
                  <a:gd name="T107" fmla="*/ 47 h 212"/>
                  <a:gd name="T108" fmla="*/ 502 w 531"/>
                  <a:gd name="T109" fmla="*/ 41 h 212"/>
                  <a:gd name="T110" fmla="*/ 508 w 531"/>
                  <a:gd name="T111" fmla="*/ 35 h 212"/>
                  <a:gd name="T112" fmla="*/ 514 w 531"/>
                  <a:gd name="T113" fmla="*/ 26 h 212"/>
                  <a:gd name="T114" fmla="*/ 519 w 531"/>
                  <a:gd name="T115" fmla="*/ 19 h 212"/>
                  <a:gd name="T116" fmla="*/ 523 w 531"/>
                  <a:gd name="T117" fmla="*/ 15 h 212"/>
                  <a:gd name="T118" fmla="*/ 526 w 531"/>
                  <a:gd name="T119" fmla="*/ 9 h 212"/>
                  <a:gd name="T120" fmla="*/ 531 w 531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212"/>
                    </a:moveTo>
                    <a:lnTo>
                      <a:pt x="21" y="212"/>
                    </a:lnTo>
                    <a:lnTo>
                      <a:pt x="39" y="212"/>
                    </a:lnTo>
                    <a:lnTo>
                      <a:pt x="57" y="212"/>
                    </a:lnTo>
                    <a:lnTo>
                      <a:pt x="74" y="212"/>
                    </a:lnTo>
                    <a:lnTo>
                      <a:pt x="89" y="212"/>
                    </a:lnTo>
                    <a:lnTo>
                      <a:pt x="104" y="212"/>
                    </a:lnTo>
                    <a:lnTo>
                      <a:pt x="117" y="212"/>
                    </a:lnTo>
                    <a:lnTo>
                      <a:pt x="129" y="212"/>
                    </a:lnTo>
                    <a:lnTo>
                      <a:pt x="141" y="212"/>
                    </a:lnTo>
                    <a:lnTo>
                      <a:pt x="151" y="212"/>
                    </a:lnTo>
                    <a:lnTo>
                      <a:pt x="162" y="212"/>
                    </a:lnTo>
                    <a:lnTo>
                      <a:pt x="169" y="212"/>
                    </a:lnTo>
                    <a:lnTo>
                      <a:pt x="178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8" y="212"/>
                    </a:lnTo>
                    <a:lnTo>
                      <a:pt x="212" y="212"/>
                    </a:lnTo>
                    <a:lnTo>
                      <a:pt x="215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4" y="212"/>
                    </a:lnTo>
                    <a:lnTo>
                      <a:pt x="227" y="212"/>
                    </a:lnTo>
                    <a:lnTo>
                      <a:pt x="228" y="212"/>
                    </a:lnTo>
                    <a:lnTo>
                      <a:pt x="230" y="210"/>
                    </a:lnTo>
                    <a:lnTo>
                      <a:pt x="233" y="210"/>
                    </a:lnTo>
                    <a:lnTo>
                      <a:pt x="234" y="210"/>
                    </a:lnTo>
                    <a:lnTo>
                      <a:pt x="236" y="210"/>
                    </a:lnTo>
                    <a:lnTo>
                      <a:pt x="237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40" y="210"/>
                    </a:lnTo>
                    <a:lnTo>
                      <a:pt x="242" y="210"/>
                    </a:lnTo>
                    <a:lnTo>
                      <a:pt x="243" y="210"/>
                    </a:lnTo>
                    <a:lnTo>
                      <a:pt x="245" y="210"/>
                    </a:lnTo>
                    <a:lnTo>
                      <a:pt x="246" y="210"/>
                    </a:lnTo>
                    <a:lnTo>
                      <a:pt x="248" y="210"/>
                    </a:lnTo>
                    <a:lnTo>
                      <a:pt x="248" y="210"/>
                    </a:lnTo>
                    <a:lnTo>
                      <a:pt x="249" y="210"/>
                    </a:lnTo>
                    <a:lnTo>
                      <a:pt x="251" y="210"/>
                    </a:lnTo>
                    <a:lnTo>
                      <a:pt x="251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4" y="210"/>
                    </a:lnTo>
                    <a:lnTo>
                      <a:pt x="254" y="209"/>
                    </a:lnTo>
                    <a:lnTo>
                      <a:pt x="255" y="209"/>
                    </a:lnTo>
                    <a:lnTo>
                      <a:pt x="255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8" y="209"/>
                    </a:lnTo>
                    <a:lnTo>
                      <a:pt x="258" y="209"/>
                    </a:lnTo>
                    <a:lnTo>
                      <a:pt x="260" y="209"/>
                    </a:lnTo>
                    <a:lnTo>
                      <a:pt x="260" y="209"/>
                    </a:lnTo>
                    <a:lnTo>
                      <a:pt x="261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4" y="209"/>
                    </a:lnTo>
                    <a:lnTo>
                      <a:pt x="265" y="209"/>
                    </a:lnTo>
                    <a:lnTo>
                      <a:pt x="265" y="207"/>
                    </a:lnTo>
                    <a:lnTo>
                      <a:pt x="267" y="207"/>
                    </a:lnTo>
                    <a:lnTo>
                      <a:pt x="268" y="207"/>
                    </a:lnTo>
                    <a:lnTo>
                      <a:pt x="270" y="207"/>
                    </a:lnTo>
                    <a:lnTo>
                      <a:pt x="271" y="207"/>
                    </a:lnTo>
                    <a:lnTo>
                      <a:pt x="271" y="207"/>
                    </a:lnTo>
                    <a:lnTo>
                      <a:pt x="273" y="207"/>
                    </a:lnTo>
                    <a:lnTo>
                      <a:pt x="274" y="207"/>
                    </a:lnTo>
                    <a:lnTo>
                      <a:pt x="276" y="207"/>
                    </a:lnTo>
                    <a:lnTo>
                      <a:pt x="276" y="206"/>
                    </a:lnTo>
                    <a:lnTo>
                      <a:pt x="277" y="206"/>
                    </a:lnTo>
                    <a:lnTo>
                      <a:pt x="279" y="206"/>
                    </a:lnTo>
                    <a:lnTo>
                      <a:pt x="280" y="206"/>
                    </a:lnTo>
                    <a:lnTo>
                      <a:pt x="280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3" y="206"/>
                    </a:lnTo>
                    <a:lnTo>
                      <a:pt x="285" y="206"/>
                    </a:lnTo>
                    <a:lnTo>
                      <a:pt x="285" y="206"/>
                    </a:lnTo>
                    <a:lnTo>
                      <a:pt x="286" y="204"/>
                    </a:lnTo>
                    <a:lnTo>
                      <a:pt x="286" y="204"/>
                    </a:lnTo>
                    <a:lnTo>
                      <a:pt x="288" y="204"/>
                    </a:lnTo>
                    <a:lnTo>
                      <a:pt x="288" y="204"/>
                    </a:lnTo>
                    <a:lnTo>
                      <a:pt x="289" y="204"/>
                    </a:lnTo>
                    <a:lnTo>
                      <a:pt x="289" y="204"/>
                    </a:lnTo>
                    <a:lnTo>
                      <a:pt x="291" y="204"/>
                    </a:lnTo>
                    <a:lnTo>
                      <a:pt x="291" y="203"/>
                    </a:lnTo>
                    <a:lnTo>
                      <a:pt x="292" y="203"/>
                    </a:lnTo>
                    <a:lnTo>
                      <a:pt x="294" y="203"/>
                    </a:lnTo>
                    <a:lnTo>
                      <a:pt x="294" y="203"/>
                    </a:lnTo>
                    <a:lnTo>
                      <a:pt x="295" y="203"/>
                    </a:lnTo>
                    <a:lnTo>
                      <a:pt x="297" y="201"/>
                    </a:lnTo>
                    <a:lnTo>
                      <a:pt x="298" y="201"/>
                    </a:lnTo>
                    <a:lnTo>
                      <a:pt x="298" y="201"/>
                    </a:lnTo>
                    <a:lnTo>
                      <a:pt x="300" y="201"/>
                    </a:lnTo>
                    <a:lnTo>
                      <a:pt x="301" y="200"/>
                    </a:lnTo>
                    <a:lnTo>
                      <a:pt x="302" y="200"/>
                    </a:lnTo>
                    <a:lnTo>
                      <a:pt x="304" y="200"/>
                    </a:lnTo>
                    <a:lnTo>
                      <a:pt x="304" y="200"/>
                    </a:lnTo>
                    <a:lnTo>
                      <a:pt x="305" y="198"/>
                    </a:lnTo>
                    <a:lnTo>
                      <a:pt x="307" y="198"/>
                    </a:lnTo>
                    <a:lnTo>
                      <a:pt x="308" y="198"/>
                    </a:lnTo>
                    <a:lnTo>
                      <a:pt x="310" y="197"/>
                    </a:lnTo>
                    <a:lnTo>
                      <a:pt x="311" y="197"/>
                    </a:lnTo>
                    <a:lnTo>
                      <a:pt x="313" y="197"/>
                    </a:lnTo>
                    <a:lnTo>
                      <a:pt x="314" y="197"/>
                    </a:lnTo>
                    <a:lnTo>
                      <a:pt x="314" y="195"/>
                    </a:lnTo>
                    <a:lnTo>
                      <a:pt x="316" y="195"/>
                    </a:lnTo>
                    <a:lnTo>
                      <a:pt x="317" y="195"/>
                    </a:lnTo>
                    <a:lnTo>
                      <a:pt x="317" y="195"/>
                    </a:lnTo>
                    <a:lnTo>
                      <a:pt x="319" y="195"/>
                    </a:lnTo>
                    <a:lnTo>
                      <a:pt x="319" y="194"/>
                    </a:lnTo>
                    <a:lnTo>
                      <a:pt x="320" y="194"/>
                    </a:lnTo>
                    <a:lnTo>
                      <a:pt x="322" y="194"/>
                    </a:lnTo>
                    <a:lnTo>
                      <a:pt x="322" y="194"/>
                    </a:lnTo>
                    <a:lnTo>
                      <a:pt x="323" y="194"/>
                    </a:lnTo>
                    <a:lnTo>
                      <a:pt x="323" y="192"/>
                    </a:lnTo>
                    <a:lnTo>
                      <a:pt x="325" y="192"/>
                    </a:lnTo>
                    <a:lnTo>
                      <a:pt x="325" y="192"/>
                    </a:lnTo>
                    <a:lnTo>
                      <a:pt x="326" y="192"/>
                    </a:lnTo>
                    <a:lnTo>
                      <a:pt x="326" y="191"/>
                    </a:lnTo>
                    <a:lnTo>
                      <a:pt x="328" y="191"/>
                    </a:lnTo>
                    <a:lnTo>
                      <a:pt x="329" y="191"/>
                    </a:lnTo>
                    <a:lnTo>
                      <a:pt x="329" y="189"/>
                    </a:lnTo>
                    <a:lnTo>
                      <a:pt x="331" y="189"/>
                    </a:lnTo>
                    <a:lnTo>
                      <a:pt x="332" y="189"/>
                    </a:lnTo>
                    <a:lnTo>
                      <a:pt x="332" y="188"/>
                    </a:lnTo>
                    <a:lnTo>
                      <a:pt x="334" y="188"/>
                    </a:lnTo>
                    <a:lnTo>
                      <a:pt x="335" y="188"/>
                    </a:lnTo>
                    <a:lnTo>
                      <a:pt x="337" y="186"/>
                    </a:lnTo>
                    <a:lnTo>
                      <a:pt x="338" y="186"/>
                    </a:lnTo>
                    <a:lnTo>
                      <a:pt x="338" y="186"/>
                    </a:lnTo>
                    <a:lnTo>
                      <a:pt x="339" y="185"/>
                    </a:lnTo>
                    <a:lnTo>
                      <a:pt x="341" y="185"/>
                    </a:lnTo>
                    <a:lnTo>
                      <a:pt x="342" y="183"/>
                    </a:lnTo>
                    <a:lnTo>
                      <a:pt x="342" y="183"/>
                    </a:lnTo>
                    <a:lnTo>
                      <a:pt x="344" y="183"/>
                    </a:lnTo>
                    <a:lnTo>
                      <a:pt x="345" y="182"/>
                    </a:lnTo>
                    <a:lnTo>
                      <a:pt x="347" y="182"/>
                    </a:lnTo>
                    <a:lnTo>
                      <a:pt x="347" y="182"/>
                    </a:lnTo>
                    <a:lnTo>
                      <a:pt x="348" y="180"/>
                    </a:lnTo>
                    <a:lnTo>
                      <a:pt x="348" y="180"/>
                    </a:lnTo>
                    <a:lnTo>
                      <a:pt x="350" y="180"/>
                    </a:lnTo>
                    <a:lnTo>
                      <a:pt x="350" y="179"/>
                    </a:lnTo>
                    <a:lnTo>
                      <a:pt x="351" y="179"/>
                    </a:lnTo>
                    <a:lnTo>
                      <a:pt x="351" y="179"/>
                    </a:lnTo>
                    <a:lnTo>
                      <a:pt x="353" y="179"/>
                    </a:lnTo>
                    <a:lnTo>
                      <a:pt x="353" y="178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6" y="178"/>
                    </a:lnTo>
                    <a:lnTo>
                      <a:pt x="356" y="176"/>
                    </a:lnTo>
                    <a:lnTo>
                      <a:pt x="357" y="176"/>
                    </a:lnTo>
                    <a:lnTo>
                      <a:pt x="357" y="176"/>
                    </a:lnTo>
                    <a:lnTo>
                      <a:pt x="359" y="176"/>
                    </a:lnTo>
                    <a:lnTo>
                      <a:pt x="359" y="175"/>
                    </a:lnTo>
                    <a:lnTo>
                      <a:pt x="360" y="175"/>
                    </a:lnTo>
                    <a:lnTo>
                      <a:pt x="360" y="175"/>
                    </a:lnTo>
                    <a:lnTo>
                      <a:pt x="362" y="173"/>
                    </a:lnTo>
                    <a:lnTo>
                      <a:pt x="363" y="173"/>
                    </a:lnTo>
                    <a:lnTo>
                      <a:pt x="363" y="172"/>
                    </a:lnTo>
                    <a:lnTo>
                      <a:pt x="365" y="172"/>
                    </a:lnTo>
                    <a:lnTo>
                      <a:pt x="366" y="172"/>
                    </a:lnTo>
                    <a:lnTo>
                      <a:pt x="368" y="170"/>
                    </a:lnTo>
                    <a:lnTo>
                      <a:pt x="368" y="170"/>
                    </a:lnTo>
                    <a:lnTo>
                      <a:pt x="369" y="170"/>
                    </a:lnTo>
                    <a:lnTo>
                      <a:pt x="369" y="169"/>
                    </a:lnTo>
                    <a:lnTo>
                      <a:pt x="371" y="169"/>
                    </a:lnTo>
                    <a:lnTo>
                      <a:pt x="372" y="167"/>
                    </a:lnTo>
                    <a:lnTo>
                      <a:pt x="372" y="167"/>
                    </a:lnTo>
                    <a:lnTo>
                      <a:pt x="374" y="167"/>
                    </a:lnTo>
                    <a:lnTo>
                      <a:pt x="375" y="166"/>
                    </a:lnTo>
                    <a:lnTo>
                      <a:pt x="375" y="166"/>
                    </a:lnTo>
                    <a:lnTo>
                      <a:pt x="377" y="166"/>
                    </a:lnTo>
                    <a:lnTo>
                      <a:pt x="377" y="164"/>
                    </a:lnTo>
                    <a:lnTo>
                      <a:pt x="378" y="164"/>
                    </a:lnTo>
                    <a:lnTo>
                      <a:pt x="378" y="164"/>
                    </a:lnTo>
                    <a:lnTo>
                      <a:pt x="379" y="164"/>
                    </a:lnTo>
                    <a:lnTo>
                      <a:pt x="379" y="163"/>
                    </a:lnTo>
                    <a:lnTo>
                      <a:pt x="379" y="163"/>
                    </a:lnTo>
                    <a:lnTo>
                      <a:pt x="381" y="163"/>
                    </a:lnTo>
                    <a:lnTo>
                      <a:pt x="381" y="163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4" y="161"/>
                    </a:lnTo>
                    <a:lnTo>
                      <a:pt x="384" y="160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7" y="160"/>
                    </a:lnTo>
                    <a:lnTo>
                      <a:pt x="387" y="158"/>
                    </a:lnTo>
                    <a:lnTo>
                      <a:pt x="388" y="158"/>
                    </a:lnTo>
                    <a:lnTo>
                      <a:pt x="388" y="158"/>
                    </a:lnTo>
                    <a:lnTo>
                      <a:pt x="390" y="157"/>
                    </a:lnTo>
                    <a:lnTo>
                      <a:pt x="390" y="157"/>
                    </a:lnTo>
                    <a:lnTo>
                      <a:pt x="391" y="157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4" y="154"/>
                    </a:lnTo>
                    <a:lnTo>
                      <a:pt x="396" y="154"/>
                    </a:lnTo>
                    <a:lnTo>
                      <a:pt x="396" y="152"/>
                    </a:lnTo>
                    <a:lnTo>
                      <a:pt x="397" y="152"/>
                    </a:lnTo>
                    <a:lnTo>
                      <a:pt x="397" y="152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400" y="151"/>
                    </a:lnTo>
                    <a:lnTo>
                      <a:pt x="400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5" y="148"/>
                    </a:lnTo>
                    <a:lnTo>
                      <a:pt x="405" y="146"/>
                    </a:lnTo>
                    <a:lnTo>
                      <a:pt x="405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5"/>
                    </a:lnTo>
                    <a:lnTo>
                      <a:pt x="406" y="145"/>
                    </a:lnTo>
                    <a:lnTo>
                      <a:pt x="408" y="145"/>
                    </a:lnTo>
                    <a:lnTo>
                      <a:pt x="408" y="145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2" y="142"/>
                    </a:lnTo>
                    <a:lnTo>
                      <a:pt x="412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39"/>
                    </a:lnTo>
                    <a:lnTo>
                      <a:pt x="415" y="139"/>
                    </a:lnTo>
                    <a:lnTo>
                      <a:pt x="415" y="139"/>
                    </a:lnTo>
                    <a:lnTo>
                      <a:pt x="416" y="139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8" y="138"/>
                    </a:lnTo>
                    <a:lnTo>
                      <a:pt x="418" y="136"/>
                    </a:lnTo>
                    <a:lnTo>
                      <a:pt x="418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4" y="133"/>
                    </a:lnTo>
                    <a:lnTo>
                      <a:pt x="424" y="132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7" y="130"/>
                    </a:lnTo>
                    <a:lnTo>
                      <a:pt x="427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28" y="129"/>
                    </a:lnTo>
                    <a:lnTo>
                      <a:pt x="430" y="129"/>
                    </a:lnTo>
                    <a:lnTo>
                      <a:pt x="430" y="129"/>
                    </a:lnTo>
                    <a:lnTo>
                      <a:pt x="431" y="127"/>
                    </a:lnTo>
                    <a:lnTo>
                      <a:pt x="431" y="127"/>
                    </a:lnTo>
                    <a:lnTo>
                      <a:pt x="433" y="127"/>
                    </a:lnTo>
                    <a:lnTo>
                      <a:pt x="433" y="127"/>
                    </a:lnTo>
                    <a:lnTo>
                      <a:pt x="433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9" y="123"/>
                    </a:lnTo>
                    <a:lnTo>
                      <a:pt x="439" y="121"/>
                    </a:lnTo>
                    <a:lnTo>
                      <a:pt x="439" y="121"/>
                    </a:lnTo>
                    <a:lnTo>
                      <a:pt x="440" y="121"/>
                    </a:lnTo>
                    <a:lnTo>
                      <a:pt x="440" y="120"/>
                    </a:lnTo>
                    <a:lnTo>
                      <a:pt x="440" y="120"/>
                    </a:lnTo>
                    <a:lnTo>
                      <a:pt x="442" y="118"/>
                    </a:lnTo>
                    <a:lnTo>
                      <a:pt x="442" y="118"/>
                    </a:lnTo>
                    <a:lnTo>
                      <a:pt x="443" y="118"/>
                    </a:lnTo>
                    <a:lnTo>
                      <a:pt x="443" y="117"/>
                    </a:lnTo>
                    <a:lnTo>
                      <a:pt x="443" y="117"/>
                    </a:lnTo>
                    <a:lnTo>
                      <a:pt x="445" y="115"/>
                    </a:lnTo>
                    <a:lnTo>
                      <a:pt x="446" y="115"/>
                    </a:lnTo>
                    <a:lnTo>
                      <a:pt x="446" y="114"/>
                    </a:lnTo>
                    <a:lnTo>
                      <a:pt x="446" y="114"/>
                    </a:lnTo>
                    <a:lnTo>
                      <a:pt x="448" y="112"/>
                    </a:lnTo>
                    <a:lnTo>
                      <a:pt x="448" y="112"/>
                    </a:lnTo>
                    <a:lnTo>
                      <a:pt x="449" y="111"/>
                    </a:lnTo>
                    <a:lnTo>
                      <a:pt x="449" y="111"/>
                    </a:lnTo>
                    <a:lnTo>
                      <a:pt x="451" y="109"/>
                    </a:lnTo>
                    <a:lnTo>
                      <a:pt x="451" y="109"/>
                    </a:lnTo>
                    <a:lnTo>
                      <a:pt x="451" y="108"/>
                    </a:lnTo>
                    <a:lnTo>
                      <a:pt x="452" y="108"/>
                    </a:lnTo>
                    <a:lnTo>
                      <a:pt x="452" y="106"/>
                    </a:lnTo>
                    <a:lnTo>
                      <a:pt x="454" y="106"/>
                    </a:lnTo>
                    <a:lnTo>
                      <a:pt x="454" y="106"/>
                    </a:lnTo>
                    <a:lnTo>
                      <a:pt x="454" y="105"/>
                    </a:lnTo>
                    <a:lnTo>
                      <a:pt x="455" y="105"/>
                    </a:lnTo>
                    <a:lnTo>
                      <a:pt x="455" y="105"/>
                    </a:lnTo>
                    <a:lnTo>
                      <a:pt x="455" y="103"/>
                    </a:lnTo>
                    <a:lnTo>
                      <a:pt x="455" y="103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8" y="101"/>
                    </a:lnTo>
                    <a:lnTo>
                      <a:pt x="458" y="101"/>
                    </a:lnTo>
                    <a:lnTo>
                      <a:pt x="459" y="99"/>
                    </a:lnTo>
                    <a:lnTo>
                      <a:pt x="459" y="99"/>
                    </a:lnTo>
                    <a:lnTo>
                      <a:pt x="459" y="98"/>
                    </a:lnTo>
                    <a:lnTo>
                      <a:pt x="461" y="98"/>
                    </a:lnTo>
                    <a:lnTo>
                      <a:pt x="461" y="96"/>
                    </a:lnTo>
                    <a:lnTo>
                      <a:pt x="462" y="96"/>
                    </a:lnTo>
                    <a:lnTo>
                      <a:pt x="462" y="95"/>
                    </a:lnTo>
                    <a:lnTo>
                      <a:pt x="464" y="93"/>
                    </a:lnTo>
                    <a:lnTo>
                      <a:pt x="465" y="93"/>
                    </a:lnTo>
                    <a:lnTo>
                      <a:pt x="465" y="92"/>
                    </a:lnTo>
                    <a:lnTo>
                      <a:pt x="467" y="90"/>
                    </a:lnTo>
                    <a:lnTo>
                      <a:pt x="467" y="90"/>
                    </a:lnTo>
                    <a:lnTo>
                      <a:pt x="468" y="89"/>
                    </a:lnTo>
                    <a:lnTo>
                      <a:pt x="468" y="89"/>
                    </a:lnTo>
                    <a:lnTo>
                      <a:pt x="470" y="87"/>
                    </a:lnTo>
                    <a:lnTo>
                      <a:pt x="470" y="86"/>
                    </a:lnTo>
                    <a:lnTo>
                      <a:pt x="471" y="84"/>
                    </a:lnTo>
                    <a:lnTo>
                      <a:pt x="471" y="84"/>
                    </a:lnTo>
                    <a:lnTo>
                      <a:pt x="473" y="83"/>
                    </a:lnTo>
                    <a:lnTo>
                      <a:pt x="473" y="83"/>
                    </a:lnTo>
                    <a:lnTo>
                      <a:pt x="474" y="81"/>
                    </a:lnTo>
                    <a:lnTo>
                      <a:pt x="474" y="81"/>
                    </a:lnTo>
                    <a:lnTo>
                      <a:pt x="476" y="80"/>
                    </a:lnTo>
                    <a:lnTo>
                      <a:pt x="476" y="80"/>
                    </a:lnTo>
                    <a:lnTo>
                      <a:pt x="476" y="78"/>
                    </a:lnTo>
                    <a:lnTo>
                      <a:pt x="477" y="78"/>
                    </a:lnTo>
                    <a:lnTo>
                      <a:pt x="477" y="77"/>
                    </a:lnTo>
                    <a:lnTo>
                      <a:pt x="477" y="77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80" y="74"/>
                    </a:lnTo>
                    <a:lnTo>
                      <a:pt x="480" y="74"/>
                    </a:lnTo>
                    <a:lnTo>
                      <a:pt x="482" y="72"/>
                    </a:lnTo>
                    <a:lnTo>
                      <a:pt x="482" y="71"/>
                    </a:lnTo>
                    <a:lnTo>
                      <a:pt x="482" y="71"/>
                    </a:lnTo>
                    <a:lnTo>
                      <a:pt x="483" y="69"/>
                    </a:lnTo>
                    <a:lnTo>
                      <a:pt x="483" y="69"/>
                    </a:lnTo>
                    <a:lnTo>
                      <a:pt x="485" y="68"/>
                    </a:lnTo>
                    <a:lnTo>
                      <a:pt x="485" y="66"/>
                    </a:lnTo>
                    <a:lnTo>
                      <a:pt x="486" y="65"/>
                    </a:lnTo>
                    <a:lnTo>
                      <a:pt x="488" y="65"/>
                    </a:lnTo>
                    <a:lnTo>
                      <a:pt x="488" y="64"/>
                    </a:lnTo>
                    <a:lnTo>
                      <a:pt x="489" y="62"/>
                    </a:lnTo>
                    <a:lnTo>
                      <a:pt x="489" y="62"/>
                    </a:lnTo>
                    <a:lnTo>
                      <a:pt x="491" y="61"/>
                    </a:lnTo>
                    <a:lnTo>
                      <a:pt x="491" y="59"/>
                    </a:lnTo>
                    <a:lnTo>
                      <a:pt x="492" y="58"/>
                    </a:lnTo>
                    <a:lnTo>
                      <a:pt x="492" y="56"/>
                    </a:lnTo>
                    <a:lnTo>
                      <a:pt x="493" y="55"/>
                    </a:lnTo>
                    <a:lnTo>
                      <a:pt x="493" y="55"/>
                    </a:lnTo>
                    <a:lnTo>
                      <a:pt x="495" y="53"/>
                    </a:lnTo>
                    <a:lnTo>
                      <a:pt x="495" y="52"/>
                    </a:lnTo>
                    <a:lnTo>
                      <a:pt x="496" y="52"/>
                    </a:lnTo>
                    <a:lnTo>
                      <a:pt x="496" y="50"/>
                    </a:lnTo>
                    <a:lnTo>
                      <a:pt x="498" y="50"/>
                    </a:lnTo>
                    <a:lnTo>
                      <a:pt x="498" y="49"/>
                    </a:lnTo>
                    <a:lnTo>
                      <a:pt x="498" y="49"/>
                    </a:lnTo>
                    <a:lnTo>
                      <a:pt x="499" y="47"/>
                    </a:lnTo>
                    <a:lnTo>
                      <a:pt x="499" y="47"/>
                    </a:lnTo>
                    <a:lnTo>
                      <a:pt x="499" y="46"/>
                    </a:lnTo>
                    <a:lnTo>
                      <a:pt x="501" y="46"/>
                    </a:lnTo>
                    <a:lnTo>
                      <a:pt x="501" y="44"/>
                    </a:lnTo>
                    <a:lnTo>
                      <a:pt x="501" y="44"/>
                    </a:lnTo>
                    <a:lnTo>
                      <a:pt x="502" y="43"/>
                    </a:lnTo>
                    <a:lnTo>
                      <a:pt x="502" y="41"/>
                    </a:lnTo>
                    <a:lnTo>
                      <a:pt x="504" y="41"/>
                    </a:lnTo>
                    <a:lnTo>
                      <a:pt x="504" y="40"/>
                    </a:lnTo>
                    <a:lnTo>
                      <a:pt x="505" y="40"/>
                    </a:lnTo>
                    <a:lnTo>
                      <a:pt x="505" y="38"/>
                    </a:lnTo>
                    <a:lnTo>
                      <a:pt x="507" y="37"/>
                    </a:lnTo>
                    <a:lnTo>
                      <a:pt x="507" y="37"/>
                    </a:lnTo>
                    <a:lnTo>
                      <a:pt x="508" y="35"/>
                    </a:lnTo>
                    <a:lnTo>
                      <a:pt x="508" y="34"/>
                    </a:lnTo>
                    <a:lnTo>
                      <a:pt x="510" y="32"/>
                    </a:lnTo>
                    <a:lnTo>
                      <a:pt x="511" y="31"/>
                    </a:lnTo>
                    <a:lnTo>
                      <a:pt x="511" y="29"/>
                    </a:lnTo>
                    <a:lnTo>
                      <a:pt x="511" y="29"/>
                    </a:lnTo>
                    <a:lnTo>
                      <a:pt x="513" y="28"/>
                    </a:lnTo>
                    <a:lnTo>
                      <a:pt x="514" y="26"/>
                    </a:lnTo>
                    <a:lnTo>
                      <a:pt x="514" y="26"/>
                    </a:lnTo>
                    <a:lnTo>
                      <a:pt x="516" y="25"/>
                    </a:lnTo>
                    <a:lnTo>
                      <a:pt x="516" y="24"/>
                    </a:lnTo>
                    <a:lnTo>
                      <a:pt x="517" y="22"/>
                    </a:lnTo>
                    <a:lnTo>
                      <a:pt x="517" y="22"/>
                    </a:lnTo>
                    <a:lnTo>
                      <a:pt x="519" y="21"/>
                    </a:lnTo>
                    <a:lnTo>
                      <a:pt x="519" y="19"/>
                    </a:lnTo>
                    <a:lnTo>
                      <a:pt x="520" y="19"/>
                    </a:lnTo>
                    <a:lnTo>
                      <a:pt x="520" y="18"/>
                    </a:lnTo>
                    <a:lnTo>
                      <a:pt x="520" y="18"/>
                    </a:lnTo>
                    <a:lnTo>
                      <a:pt x="522" y="16"/>
                    </a:lnTo>
                    <a:lnTo>
                      <a:pt x="522" y="16"/>
                    </a:lnTo>
                    <a:lnTo>
                      <a:pt x="522" y="15"/>
                    </a:lnTo>
                    <a:lnTo>
                      <a:pt x="523" y="15"/>
                    </a:lnTo>
                    <a:lnTo>
                      <a:pt x="523" y="13"/>
                    </a:lnTo>
                    <a:lnTo>
                      <a:pt x="523" y="13"/>
                    </a:lnTo>
                    <a:lnTo>
                      <a:pt x="525" y="12"/>
                    </a:lnTo>
                    <a:lnTo>
                      <a:pt x="525" y="12"/>
                    </a:lnTo>
                    <a:lnTo>
                      <a:pt x="525" y="10"/>
                    </a:lnTo>
                    <a:lnTo>
                      <a:pt x="526" y="10"/>
                    </a:lnTo>
                    <a:lnTo>
                      <a:pt x="526" y="9"/>
                    </a:lnTo>
                    <a:lnTo>
                      <a:pt x="526" y="9"/>
                    </a:lnTo>
                    <a:lnTo>
                      <a:pt x="528" y="7"/>
                    </a:lnTo>
                    <a:lnTo>
                      <a:pt x="528" y="7"/>
                    </a:lnTo>
                    <a:lnTo>
                      <a:pt x="528" y="6"/>
                    </a:lnTo>
                    <a:lnTo>
                      <a:pt x="529" y="4"/>
                    </a:lnTo>
                    <a:lnTo>
                      <a:pt x="529" y="4"/>
                    </a:lnTo>
                    <a:lnTo>
                      <a:pt x="531" y="3"/>
                    </a:lnTo>
                    <a:lnTo>
                      <a:pt x="531" y="1"/>
                    </a:lnTo>
                    <a:lnTo>
                      <a:pt x="531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6" name="Freeform 349"/>
              <p:cNvSpPr>
                <a:spLocks/>
              </p:cNvSpPr>
              <p:nvPr/>
            </p:nvSpPr>
            <p:spPr bwMode="auto">
              <a:xfrm>
                <a:off x="2945" y="2800"/>
                <a:ext cx="177" cy="71"/>
              </a:xfrm>
              <a:custGeom>
                <a:avLst/>
                <a:gdLst>
                  <a:gd name="T0" fmla="*/ 104 w 531"/>
                  <a:gd name="T1" fmla="*/ 212 h 212"/>
                  <a:gd name="T2" fmla="*/ 178 w 531"/>
                  <a:gd name="T3" fmla="*/ 212 h 212"/>
                  <a:gd name="T4" fmla="*/ 215 w 531"/>
                  <a:gd name="T5" fmla="*/ 212 h 212"/>
                  <a:gd name="T6" fmla="*/ 233 w 531"/>
                  <a:gd name="T7" fmla="*/ 210 h 212"/>
                  <a:gd name="T8" fmla="*/ 240 w 531"/>
                  <a:gd name="T9" fmla="*/ 210 h 212"/>
                  <a:gd name="T10" fmla="*/ 249 w 531"/>
                  <a:gd name="T11" fmla="*/ 210 h 212"/>
                  <a:gd name="T12" fmla="*/ 255 w 531"/>
                  <a:gd name="T13" fmla="*/ 209 h 212"/>
                  <a:gd name="T14" fmla="*/ 260 w 531"/>
                  <a:gd name="T15" fmla="*/ 209 h 212"/>
                  <a:gd name="T16" fmla="*/ 267 w 531"/>
                  <a:gd name="T17" fmla="*/ 207 h 212"/>
                  <a:gd name="T18" fmla="*/ 276 w 531"/>
                  <a:gd name="T19" fmla="*/ 207 h 212"/>
                  <a:gd name="T20" fmla="*/ 282 w 531"/>
                  <a:gd name="T21" fmla="*/ 206 h 212"/>
                  <a:gd name="T22" fmla="*/ 288 w 531"/>
                  <a:gd name="T23" fmla="*/ 204 h 212"/>
                  <a:gd name="T24" fmla="*/ 294 w 531"/>
                  <a:gd name="T25" fmla="*/ 203 h 212"/>
                  <a:gd name="T26" fmla="*/ 302 w 531"/>
                  <a:gd name="T27" fmla="*/ 200 h 212"/>
                  <a:gd name="T28" fmla="*/ 311 w 531"/>
                  <a:gd name="T29" fmla="*/ 197 h 212"/>
                  <a:gd name="T30" fmla="*/ 319 w 531"/>
                  <a:gd name="T31" fmla="*/ 195 h 212"/>
                  <a:gd name="T32" fmla="*/ 325 w 531"/>
                  <a:gd name="T33" fmla="*/ 192 h 212"/>
                  <a:gd name="T34" fmla="*/ 331 w 531"/>
                  <a:gd name="T35" fmla="*/ 189 h 212"/>
                  <a:gd name="T36" fmla="*/ 338 w 531"/>
                  <a:gd name="T37" fmla="*/ 186 h 212"/>
                  <a:gd name="T38" fmla="*/ 347 w 531"/>
                  <a:gd name="T39" fmla="*/ 182 h 212"/>
                  <a:gd name="T40" fmla="*/ 351 w 531"/>
                  <a:gd name="T41" fmla="*/ 179 h 212"/>
                  <a:gd name="T42" fmla="*/ 357 w 531"/>
                  <a:gd name="T43" fmla="*/ 176 h 212"/>
                  <a:gd name="T44" fmla="*/ 363 w 531"/>
                  <a:gd name="T45" fmla="*/ 173 h 212"/>
                  <a:gd name="T46" fmla="*/ 369 w 531"/>
                  <a:gd name="T47" fmla="*/ 169 h 212"/>
                  <a:gd name="T48" fmla="*/ 377 w 531"/>
                  <a:gd name="T49" fmla="*/ 166 h 212"/>
                  <a:gd name="T50" fmla="*/ 381 w 531"/>
                  <a:gd name="T51" fmla="*/ 163 h 212"/>
                  <a:gd name="T52" fmla="*/ 385 w 531"/>
                  <a:gd name="T53" fmla="*/ 160 h 212"/>
                  <a:gd name="T54" fmla="*/ 390 w 531"/>
                  <a:gd name="T55" fmla="*/ 157 h 212"/>
                  <a:gd name="T56" fmla="*/ 396 w 531"/>
                  <a:gd name="T57" fmla="*/ 152 h 212"/>
                  <a:gd name="T58" fmla="*/ 400 w 531"/>
                  <a:gd name="T59" fmla="*/ 149 h 212"/>
                  <a:gd name="T60" fmla="*/ 403 w 531"/>
                  <a:gd name="T61" fmla="*/ 148 h 212"/>
                  <a:gd name="T62" fmla="*/ 406 w 531"/>
                  <a:gd name="T63" fmla="*/ 145 h 212"/>
                  <a:gd name="T64" fmla="*/ 411 w 531"/>
                  <a:gd name="T65" fmla="*/ 142 h 212"/>
                  <a:gd name="T66" fmla="*/ 415 w 531"/>
                  <a:gd name="T67" fmla="*/ 139 h 212"/>
                  <a:gd name="T68" fmla="*/ 418 w 531"/>
                  <a:gd name="T69" fmla="*/ 136 h 212"/>
                  <a:gd name="T70" fmla="*/ 421 w 531"/>
                  <a:gd name="T71" fmla="*/ 135 h 212"/>
                  <a:gd name="T72" fmla="*/ 424 w 531"/>
                  <a:gd name="T73" fmla="*/ 132 h 212"/>
                  <a:gd name="T74" fmla="*/ 428 w 531"/>
                  <a:gd name="T75" fmla="*/ 129 h 212"/>
                  <a:gd name="T76" fmla="*/ 433 w 531"/>
                  <a:gd name="T77" fmla="*/ 126 h 212"/>
                  <a:gd name="T78" fmla="*/ 436 w 531"/>
                  <a:gd name="T79" fmla="*/ 124 h 212"/>
                  <a:gd name="T80" fmla="*/ 440 w 531"/>
                  <a:gd name="T81" fmla="*/ 121 h 212"/>
                  <a:gd name="T82" fmla="*/ 443 w 531"/>
                  <a:gd name="T83" fmla="*/ 117 h 212"/>
                  <a:gd name="T84" fmla="*/ 449 w 531"/>
                  <a:gd name="T85" fmla="*/ 111 h 212"/>
                  <a:gd name="T86" fmla="*/ 454 w 531"/>
                  <a:gd name="T87" fmla="*/ 106 h 212"/>
                  <a:gd name="T88" fmla="*/ 456 w 531"/>
                  <a:gd name="T89" fmla="*/ 102 h 212"/>
                  <a:gd name="T90" fmla="*/ 459 w 531"/>
                  <a:gd name="T91" fmla="*/ 98 h 212"/>
                  <a:gd name="T92" fmla="*/ 465 w 531"/>
                  <a:gd name="T93" fmla="*/ 92 h 212"/>
                  <a:gd name="T94" fmla="*/ 471 w 531"/>
                  <a:gd name="T95" fmla="*/ 84 h 212"/>
                  <a:gd name="T96" fmla="*/ 476 w 531"/>
                  <a:gd name="T97" fmla="*/ 80 h 212"/>
                  <a:gd name="T98" fmla="*/ 479 w 531"/>
                  <a:gd name="T99" fmla="*/ 75 h 212"/>
                  <a:gd name="T100" fmla="*/ 483 w 531"/>
                  <a:gd name="T101" fmla="*/ 69 h 212"/>
                  <a:gd name="T102" fmla="*/ 489 w 531"/>
                  <a:gd name="T103" fmla="*/ 62 h 212"/>
                  <a:gd name="T104" fmla="*/ 495 w 531"/>
                  <a:gd name="T105" fmla="*/ 53 h 212"/>
                  <a:gd name="T106" fmla="*/ 499 w 531"/>
                  <a:gd name="T107" fmla="*/ 47 h 212"/>
                  <a:gd name="T108" fmla="*/ 502 w 531"/>
                  <a:gd name="T109" fmla="*/ 41 h 212"/>
                  <a:gd name="T110" fmla="*/ 508 w 531"/>
                  <a:gd name="T111" fmla="*/ 35 h 212"/>
                  <a:gd name="T112" fmla="*/ 514 w 531"/>
                  <a:gd name="T113" fmla="*/ 26 h 212"/>
                  <a:gd name="T114" fmla="*/ 519 w 531"/>
                  <a:gd name="T115" fmla="*/ 19 h 212"/>
                  <a:gd name="T116" fmla="*/ 523 w 531"/>
                  <a:gd name="T117" fmla="*/ 15 h 212"/>
                  <a:gd name="T118" fmla="*/ 526 w 531"/>
                  <a:gd name="T119" fmla="*/ 9 h 212"/>
                  <a:gd name="T120" fmla="*/ 531 w 531"/>
                  <a:gd name="T121" fmla="*/ 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1" h="212">
                    <a:moveTo>
                      <a:pt x="0" y="212"/>
                    </a:moveTo>
                    <a:lnTo>
                      <a:pt x="21" y="212"/>
                    </a:lnTo>
                    <a:lnTo>
                      <a:pt x="39" y="212"/>
                    </a:lnTo>
                    <a:lnTo>
                      <a:pt x="57" y="212"/>
                    </a:lnTo>
                    <a:lnTo>
                      <a:pt x="74" y="212"/>
                    </a:lnTo>
                    <a:lnTo>
                      <a:pt x="89" y="212"/>
                    </a:lnTo>
                    <a:lnTo>
                      <a:pt x="104" y="212"/>
                    </a:lnTo>
                    <a:lnTo>
                      <a:pt x="117" y="212"/>
                    </a:lnTo>
                    <a:lnTo>
                      <a:pt x="129" y="212"/>
                    </a:lnTo>
                    <a:lnTo>
                      <a:pt x="141" y="212"/>
                    </a:lnTo>
                    <a:lnTo>
                      <a:pt x="151" y="212"/>
                    </a:lnTo>
                    <a:lnTo>
                      <a:pt x="162" y="212"/>
                    </a:lnTo>
                    <a:lnTo>
                      <a:pt x="169" y="212"/>
                    </a:lnTo>
                    <a:lnTo>
                      <a:pt x="178" y="212"/>
                    </a:lnTo>
                    <a:lnTo>
                      <a:pt x="185" y="212"/>
                    </a:lnTo>
                    <a:lnTo>
                      <a:pt x="191" y="212"/>
                    </a:lnTo>
                    <a:lnTo>
                      <a:pt x="197" y="212"/>
                    </a:lnTo>
                    <a:lnTo>
                      <a:pt x="203" y="212"/>
                    </a:lnTo>
                    <a:lnTo>
                      <a:pt x="208" y="212"/>
                    </a:lnTo>
                    <a:lnTo>
                      <a:pt x="212" y="212"/>
                    </a:lnTo>
                    <a:lnTo>
                      <a:pt x="215" y="212"/>
                    </a:lnTo>
                    <a:lnTo>
                      <a:pt x="220" y="212"/>
                    </a:lnTo>
                    <a:lnTo>
                      <a:pt x="223" y="212"/>
                    </a:lnTo>
                    <a:lnTo>
                      <a:pt x="224" y="212"/>
                    </a:lnTo>
                    <a:lnTo>
                      <a:pt x="227" y="212"/>
                    </a:lnTo>
                    <a:lnTo>
                      <a:pt x="228" y="212"/>
                    </a:lnTo>
                    <a:lnTo>
                      <a:pt x="230" y="210"/>
                    </a:lnTo>
                    <a:lnTo>
                      <a:pt x="233" y="210"/>
                    </a:lnTo>
                    <a:lnTo>
                      <a:pt x="234" y="210"/>
                    </a:lnTo>
                    <a:lnTo>
                      <a:pt x="236" y="210"/>
                    </a:lnTo>
                    <a:lnTo>
                      <a:pt x="237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39" y="210"/>
                    </a:lnTo>
                    <a:lnTo>
                      <a:pt x="240" y="210"/>
                    </a:lnTo>
                    <a:lnTo>
                      <a:pt x="242" y="210"/>
                    </a:lnTo>
                    <a:lnTo>
                      <a:pt x="243" y="210"/>
                    </a:lnTo>
                    <a:lnTo>
                      <a:pt x="245" y="210"/>
                    </a:lnTo>
                    <a:lnTo>
                      <a:pt x="246" y="210"/>
                    </a:lnTo>
                    <a:lnTo>
                      <a:pt x="248" y="210"/>
                    </a:lnTo>
                    <a:lnTo>
                      <a:pt x="248" y="210"/>
                    </a:lnTo>
                    <a:lnTo>
                      <a:pt x="249" y="210"/>
                    </a:lnTo>
                    <a:lnTo>
                      <a:pt x="251" y="210"/>
                    </a:lnTo>
                    <a:lnTo>
                      <a:pt x="251" y="210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54" y="210"/>
                    </a:lnTo>
                    <a:lnTo>
                      <a:pt x="254" y="209"/>
                    </a:lnTo>
                    <a:lnTo>
                      <a:pt x="255" y="209"/>
                    </a:lnTo>
                    <a:lnTo>
                      <a:pt x="255" y="209"/>
                    </a:lnTo>
                    <a:lnTo>
                      <a:pt x="257" y="209"/>
                    </a:lnTo>
                    <a:lnTo>
                      <a:pt x="257" y="209"/>
                    </a:lnTo>
                    <a:lnTo>
                      <a:pt x="258" y="209"/>
                    </a:lnTo>
                    <a:lnTo>
                      <a:pt x="258" y="209"/>
                    </a:lnTo>
                    <a:lnTo>
                      <a:pt x="260" y="209"/>
                    </a:lnTo>
                    <a:lnTo>
                      <a:pt x="260" y="209"/>
                    </a:lnTo>
                    <a:lnTo>
                      <a:pt x="261" y="209"/>
                    </a:lnTo>
                    <a:lnTo>
                      <a:pt x="262" y="209"/>
                    </a:lnTo>
                    <a:lnTo>
                      <a:pt x="262" y="209"/>
                    </a:lnTo>
                    <a:lnTo>
                      <a:pt x="264" y="209"/>
                    </a:lnTo>
                    <a:lnTo>
                      <a:pt x="265" y="209"/>
                    </a:lnTo>
                    <a:lnTo>
                      <a:pt x="265" y="207"/>
                    </a:lnTo>
                    <a:lnTo>
                      <a:pt x="267" y="207"/>
                    </a:lnTo>
                    <a:lnTo>
                      <a:pt x="268" y="207"/>
                    </a:lnTo>
                    <a:lnTo>
                      <a:pt x="270" y="207"/>
                    </a:lnTo>
                    <a:lnTo>
                      <a:pt x="271" y="207"/>
                    </a:lnTo>
                    <a:lnTo>
                      <a:pt x="271" y="207"/>
                    </a:lnTo>
                    <a:lnTo>
                      <a:pt x="273" y="207"/>
                    </a:lnTo>
                    <a:lnTo>
                      <a:pt x="274" y="207"/>
                    </a:lnTo>
                    <a:lnTo>
                      <a:pt x="276" y="207"/>
                    </a:lnTo>
                    <a:lnTo>
                      <a:pt x="276" y="206"/>
                    </a:lnTo>
                    <a:lnTo>
                      <a:pt x="277" y="206"/>
                    </a:lnTo>
                    <a:lnTo>
                      <a:pt x="279" y="206"/>
                    </a:lnTo>
                    <a:lnTo>
                      <a:pt x="280" y="206"/>
                    </a:lnTo>
                    <a:lnTo>
                      <a:pt x="280" y="206"/>
                    </a:lnTo>
                    <a:lnTo>
                      <a:pt x="282" y="206"/>
                    </a:lnTo>
                    <a:lnTo>
                      <a:pt x="282" y="206"/>
                    </a:lnTo>
                    <a:lnTo>
                      <a:pt x="283" y="206"/>
                    </a:lnTo>
                    <a:lnTo>
                      <a:pt x="285" y="206"/>
                    </a:lnTo>
                    <a:lnTo>
                      <a:pt x="285" y="206"/>
                    </a:lnTo>
                    <a:lnTo>
                      <a:pt x="286" y="204"/>
                    </a:lnTo>
                    <a:lnTo>
                      <a:pt x="286" y="204"/>
                    </a:lnTo>
                    <a:lnTo>
                      <a:pt x="288" y="204"/>
                    </a:lnTo>
                    <a:lnTo>
                      <a:pt x="288" y="204"/>
                    </a:lnTo>
                    <a:lnTo>
                      <a:pt x="289" y="204"/>
                    </a:lnTo>
                    <a:lnTo>
                      <a:pt x="289" y="204"/>
                    </a:lnTo>
                    <a:lnTo>
                      <a:pt x="291" y="204"/>
                    </a:lnTo>
                    <a:lnTo>
                      <a:pt x="291" y="203"/>
                    </a:lnTo>
                    <a:lnTo>
                      <a:pt x="292" y="203"/>
                    </a:lnTo>
                    <a:lnTo>
                      <a:pt x="294" y="203"/>
                    </a:lnTo>
                    <a:lnTo>
                      <a:pt x="294" y="203"/>
                    </a:lnTo>
                    <a:lnTo>
                      <a:pt x="295" y="203"/>
                    </a:lnTo>
                    <a:lnTo>
                      <a:pt x="297" y="201"/>
                    </a:lnTo>
                    <a:lnTo>
                      <a:pt x="298" y="201"/>
                    </a:lnTo>
                    <a:lnTo>
                      <a:pt x="298" y="201"/>
                    </a:lnTo>
                    <a:lnTo>
                      <a:pt x="300" y="201"/>
                    </a:lnTo>
                    <a:lnTo>
                      <a:pt x="301" y="200"/>
                    </a:lnTo>
                    <a:lnTo>
                      <a:pt x="302" y="200"/>
                    </a:lnTo>
                    <a:lnTo>
                      <a:pt x="304" y="200"/>
                    </a:lnTo>
                    <a:lnTo>
                      <a:pt x="304" y="200"/>
                    </a:lnTo>
                    <a:lnTo>
                      <a:pt x="305" y="198"/>
                    </a:lnTo>
                    <a:lnTo>
                      <a:pt x="307" y="198"/>
                    </a:lnTo>
                    <a:lnTo>
                      <a:pt x="308" y="198"/>
                    </a:lnTo>
                    <a:lnTo>
                      <a:pt x="310" y="197"/>
                    </a:lnTo>
                    <a:lnTo>
                      <a:pt x="311" y="197"/>
                    </a:lnTo>
                    <a:lnTo>
                      <a:pt x="313" y="197"/>
                    </a:lnTo>
                    <a:lnTo>
                      <a:pt x="314" y="197"/>
                    </a:lnTo>
                    <a:lnTo>
                      <a:pt x="314" y="195"/>
                    </a:lnTo>
                    <a:lnTo>
                      <a:pt x="316" y="195"/>
                    </a:lnTo>
                    <a:lnTo>
                      <a:pt x="317" y="195"/>
                    </a:lnTo>
                    <a:lnTo>
                      <a:pt x="317" y="195"/>
                    </a:lnTo>
                    <a:lnTo>
                      <a:pt x="319" y="195"/>
                    </a:lnTo>
                    <a:lnTo>
                      <a:pt x="319" y="194"/>
                    </a:lnTo>
                    <a:lnTo>
                      <a:pt x="320" y="194"/>
                    </a:lnTo>
                    <a:lnTo>
                      <a:pt x="322" y="194"/>
                    </a:lnTo>
                    <a:lnTo>
                      <a:pt x="322" y="194"/>
                    </a:lnTo>
                    <a:lnTo>
                      <a:pt x="323" y="194"/>
                    </a:lnTo>
                    <a:lnTo>
                      <a:pt x="323" y="192"/>
                    </a:lnTo>
                    <a:lnTo>
                      <a:pt x="325" y="192"/>
                    </a:lnTo>
                    <a:lnTo>
                      <a:pt x="325" y="192"/>
                    </a:lnTo>
                    <a:lnTo>
                      <a:pt x="326" y="192"/>
                    </a:lnTo>
                    <a:lnTo>
                      <a:pt x="326" y="191"/>
                    </a:lnTo>
                    <a:lnTo>
                      <a:pt x="328" y="191"/>
                    </a:lnTo>
                    <a:lnTo>
                      <a:pt x="329" y="191"/>
                    </a:lnTo>
                    <a:lnTo>
                      <a:pt x="329" y="189"/>
                    </a:lnTo>
                    <a:lnTo>
                      <a:pt x="331" y="189"/>
                    </a:lnTo>
                    <a:lnTo>
                      <a:pt x="332" y="189"/>
                    </a:lnTo>
                    <a:lnTo>
                      <a:pt x="332" y="188"/>
                    </a:lnTo>
                    <a:lnTo>
                      <a:pt x="334" y="188"/>
                    </a:lnTo>
                    <a:lnTo>
                      <a:pt x="335" y="188"/>
                    </a:lnTo>
                    <a:lnTo>
                      <a:pt x="337" y="186"/>
                    </a:lnTo>
                    <a:lnTo>
                      <a:pt x="338" y="186"/>
                    </a:lnTo>
                    <a:lnTo>
                      <a:pt x="338" y="186"/>
                    </a:lnTo>
                    <a:lnTo>
                      <a:pt x="339" y="185"/>
                    </a:lnTo>
                    <a:lnTo>
                      <a:pt x="341" y="185"/>
                    </a:lnTo>
                    <a:lnTo>
                      <a:pt x="342" y="183"/>
                    </a:lnTo>
                    <a:lnTo>
                      <a:pt x="342" y="183"/>
                    </a:lnTo>
                    <a:lnTo>
                      <a:pt x="344" y="183"/>
                    </a:lnTo>
                    <a:lnTo>
                      <a:pt x="345" y="182"/>
                    </a:lnTo>
                    <a:lnTo>
                      <a:pt x="347" y="182"/>
                    </a:lnTo>
                    <a:lnTo>
                      <a:pt x="347" y="182"/>
                    </a:lnTo>
                    <a:lnTo>
                      <a:pt x="348" y="180"/>
                    </a:lnTo>
                    <a:lnTo>
                      <a:pt x="348" y="180"/>
                    </a:lnTo>
                    <a:lnTo>
                      <a:pt x="350" y="180"/>
                    </a:lnTo>
                    <a:lnTo>
                      <a:pt x="350" y="179"/>
                    </a:lnTo>
                    <a:lnTo>
                      <a:pt x="351" y="179"/>
                    </a:lnTo>
                    <a:lnTo>
                      <a:pt x="351" y="179"/>
                    </a:lnTo>
                    <a:lnTo>
                      <a:pt x="353" y="179"/>
                    </a:lnTo>
                    <a:lnTo>
                      <a:pt x="353" y="178"/>
                    </a:lnTo>
                    <a:lnTo>
                      <a:pt x="354" y="178"/>
                    </a:lnTo>
                    <a:lnTo>
                      <a:pt x="354" y="178"/>
                    </a:lnTo>
                    <a:lnTo>
                      <a:pt x="356" y="178"/>
                    </a:lnTo>
                    <a:lnTo>
                      <a:pt x="356" y="176"/>
                    </a:lnTo>
                    <a:lnTo>
                      <a:pt x="357" y="176"/>
                    </a:lnTo>
                    <a:lnTo>
                      <a:pt x="357" y="176"/>
                    </a:lnTo>
                    <a:lnTo>
                      <a:pt x="359" y="176"/>
                    </a:lnTo>
                    <a:lnTo>
                      <a:pt x="359" y="175"/>
                    </a:lnTo>
                    <a:lnTo>
                      <a:pt x="360" y="175"/>
                    </a:lnTo>
                    <a:lnTo>
                      <a:pt x="360" y="175"/>
                    </a:lnTo>
                    <a:lnTo>
                      <a:pt x="362" y="173"/>
                    </a:lnTo>
                    <a:lnTo>
                      <a:pt x="363" y="173"/>
                    </a:lnTo>
                    <a:lnTo>
                      <a:pt x="363" y="172"/>
                    </a:lnTo>
                    <a:lnTo>
                      <a:pt x="365" y="172"/>
                    </a:lnTo>
                    <a:lnTo>
                      <a:pt x="366" y="172"/>
                    </a:lnTo>
                    <a:lnTo>
                      <a:pt x="368" y="170"/>
                    </a:lnTo>
                    <a:lnTo>
                      <a:pt x="368" y="170"/>
                    </a:lnTo>
                    <a:lnTo>
                      <a:pt x="369" y="170"/>
                    </a:lnTo>
                    <a:lnTo>
                      <a:pt x="369" y="169"/>
                    </a:lnTo>
                    <a:lnTo>
                      <a:pt x="371" y="169"/>
                    </a:lnTo>
                    <a:lnTo>
                      <a:pt x="372" y="167"/>
                    </a:lnTo>
                    <a:lnTo>
                      <a:pt x="372" y="167"/>
                    </a:lnTo>
                    <a:lnTo>
                      <a:pt x="374" y="167"/>
                    </a:lnTo>
                    <a:lnTo>
                      <a:pt x="375" y="166"/>
                    </a:lnTo>
                    <a:lnTo>
                      <a:pt x="375" y="166"/>
                    </a:lnTo>
                    <a:lnTo>
                      <a:pt x="377" y="166"/>
                    </a:lnTo>
                    <a:lnTo>
                      <a:pt x="377" y="164"/>
                    </a:lnTo>
                    <a:lnTo>
                      <a:pt x="378" y="164"/>
                    </a:lnTo>
                    <a:lnTo>
                      <a:pt x="378" y="164"/>
                    </a:lnTo>
                    <a:lnTo>
                      <a:pt x="379" y="164"/>
                    </a:lnTo>
                    <a:lnTo>
                      <a:pt x="379" y="163"/>
                    </a:lnTo>
                    <a:lnTo>
                      <a:pt x="379" y="163"/>
                    </a:lnTo>
                    <a:lnTo>
                      <a:pt x="381" y="163"/>
                    </a:lnTo>
                    <a:lnTo>
                      <a:pt x="381" y="163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4" y="161"/>
                    </a:lnTo>
                    <a:lnTo>
                      <a:pt x="384" y="160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7" y="160"/>
                    </a:lnTo>
                    <a:lnTo>
                      <a:pt x="387" y="158"/>
                    </a:lnTo>
                    <a:lnTo>
                      <a:pt x="388" y="158"/>
                    </a:lnTo>
                    <a:lnTo>
                      <a:pt x="388" y="158"/>
                    </a:lnTo>
                    <a:lnTo>
                      <a:pt x="390" y="157"/>
                    </a:lnTo>
                    <a:lnTo>
                      <a:pt x="390" y="157"/>
                    </a:lnTo>
                    <a:lnTo>
                      <a:pt x="391" y="157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3" y="155"/>
                    </a:lnTo>
                    <a:lnTo>
                      <a:pt x="394" y="154"/>
                    </a:lnTo>
                    <a:lnTo>
                      <a:pt x="396" y="154"/>
                    </a:lnTo>
                    <a:lnTo>
                      <a:pt x="396" y="152"/>
                    </a:lnTo>
                    <a:lnTo>
                      <a:pt x="397" y="152"/>
                    </a:lnTo>
                    <a:lnTo>
                      <a:pt x="397" y="152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399" y="151"/>
                    </a:lnTo>
                    <a:lnTo>
                      <a:pt x="400" y="151"/>
                    </a:lnTo>
                    <a:lnTo>
                      <a:pt x="400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2" y="149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5" y="148"/>
                    </a:lnTo>
                    <a:lnTo>
                      <a:pt x="405" y="146"/>
                    </a:lnTo>
                    <a:lnTo>
                      <a:pt x="405" y="146"/>
                    </a:lnTo>
                    <a:lnTo>
                      <a:pt x="406" y="146"/>
                    </a:lnTo>
                    <a:lnTo>
                      <a:pt x="406" y="146"/>
                    </a:lnTo>
                    <a:lnTo>
                      <a:pt x="406" y="145"/>
                    </a:lnTo>
                    <a:lnTo>
                      <a:pt x="406" y="145"/>
                    </a:lnTo>
                    <a:lnTo>
                      <a:pt x="408" y="145"/>
                    </a:lnTo>
                    <a:lnTo>
                      <a:pt x="408" y="145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09" y="143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1" y="142"/>
                    </a:lnTo>
                    <a:lnTo>
                      <a:pt x="412" y="142"/>
                    </a:lnTo>
                    <a:lnTo>
                      <a:pt x="412" y="140"/>
                    </a:lnTo>
                    <a:lnTo>
                      <a:pt x="414" y="140"/>
                    </a:lnTo>
                    <a:lnTo>
                      <a:pt x="414" y="140"/>
                    </a:lnTo>
                    <a:lnTo>
                      <a:pt x="414" y="139"/>
                    </a:lnTo>
                    <a:lnTo>
                      <a:pt x="415" y="139"/>
                    </a:lnTo>
                    <a:lnTo>
                      <a:pt x="415" y="139"/>
                    </a:lnTo>
                    <a:lnTo>
                      <a:pt x="416" y="139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6" y="138"/>
                    </a:lnTo>
                    <a:lnTo>
                      <a:pt x="418" y="138"/>
                    </a:lnTo>
                    <a:lnTo>
                      <a:pt x="418" y="136"/>
                    </a:lnTo>
                    <a:lnTo>
                      <a:pt x="418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1" y="135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4" y="133"/>
                    </a:lnTo>
                    <a:lnTo>
                      <a:pt x="424" y="132"/>
                    </a:lnTo>
                    <a:lnTo>
                      <a:pt x="425" y="132"/>
                    </a:lnTo>
                    <a:lnTo>
                      <a:pt x="425" y="132"/>
                    </a:lnTo>
                    <a:lnTo>
                      <a:pt x="427" y="130"/>
                    </a:lnTo>
                    <a:lnTo>
                      <a:pt x="427" y="130"/>
                    </a:lnTo>
                    <a:lnTo>
                      <a:pt x="428" y="130"/>
                    </a:lnTo>
                    <a:lnTo>
                      <a:pt x="428" y="130"/>
                    </a:lnTo>
                    <a:lnTo>
                      <a:pt x="428" y="129"/>
                    </a:lnTo>
                    <a:lnTo>
                      <a:pt x="430" y="129"/>
                    </a:lnTo>
                    <a:lnTo>
                      <a:pt x="430" y="129"/>
                    </a:lnTo>
                    <a:lnTo>
                      <a:pt x="431" y="127"/>
                    </a:lnTo>
                    <a:lnTo>
                      <a:pt x="431" y="127"/>
                    </a:lnTo>
                    <a:lnTo>
                      <a:pt x="433" y="127"/>
                    </a:lnTo>
                    <a:lnTo>
                      <a:pt x="433" y="127"/>
                    </a:lnTo>
                    <a:lnTo>
                      <a:pt x="433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4" y="126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6" y="124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7" y="123"/>
                    </a:lnTo>
                    <a:lnTo>
                      <a:pt x="439" y="123"/>
                    </a:lnTo>
                    <a:lnTo>
                      <a:pt x="439" y="121"/>
                    </a:lnTo>
                    <a:lnTo>
                      <a:pt x="439" y="121"/>
                    </a:lnTo>
                    <a:lnTo>
                      <a:pt x="440" y="121"/>
                    </a:lnTo>
                    <a:lnTo>
                      <a:pt x="440" y="120"/>
                    </a:lnTo>
                    <a:lnTo>
                      <a:pt x="440" y="120"/>
                    </a:lnTo>
                    <a:lnTo>
                      <a:pt x="442" y="118"/>
                    </a:lnTo>
                    <a:lnTo>
                      <a:pt x="442" y="118"/>
                    </a:lnTo>
                    <a:lnTo>
                      <a:pt x="443" y="118"/>
                    </a:lnTo>
                    <a:lnTo>
                      <a:pt x="443" y="117"/>
                    </a:lnTo>
                    <a:lnTo>
                      <a:pt x="443" y="117"/>
                    </a:lnTo>
                    <a:lnTo>
                      <a:pt x="445" y="115"/>
                    </a:lnTo>
                    <a:lnTo>
                      <a:pt x="446" y="115"/>
                    </a:lnTo>
                    <a:lnTo>
                      <a:pt x="446" y="114"/>
                    </a:lnTo>
                    <a:lnTo>
                      <a:pt x="446" y="114"/>
                    </a:lnTo>
                    <a:lnTo>
                      <a:pt x="448" y="112"/>
                    </a:lnTo>
                    <a:lnTo>
                      <a:pt x="448" y="112"/>
                    </a:lnTo>
                    <a:lnTo>
                      <a:pt x="449" y="111"/>
                    </a:lnTo>
                    <a:lnTo>
                      <a:pt x="449" y="111"/>
                    </a:lnTo>
                    <a:lnTo>
                      <a:pt x="451" y="109"/>
                    </a:lnTo>
                    <a:lnTo>
                      <a:pt x="451" y="109"/>
                    </a:lnTo>
                    <a:lnTo>
                      <a:pt x="451" y="108"/>
                    </a:lnTo>
                    <a:lnTo>
                      <a:pt x="452" y="108"/>
                    </a:lnTo>
                    <a:lnTo>
                      <a:pt x="452" y="106"/>
                    </a:lnTo>
                    <a:lnTo>
                      <a:pt x="454" y="106"/>
                    </a:lnTo>
                    <a:lnTo>
                      <a:pt x="454" y="106"/>
                    </a:lnTo>
                    <a:lnTo>
                      <a:pt x="454" y="105"/>
                    </a:lnTo>
                    <a:lnTo>
                      <a:pt x="455" y="105"/>
                    </a:lnTo>
                    <a:lnTo>
                      <a:pt x="455" y="105"/>
                    </a:lnTo>
                    <a:lnTo>
                      <a:pt x="455" y="103"/>
                    </a:lnTo>
                    <a:lnTo>
                      <a:pt x="455" y="103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8" y="101"/>
                    </a:lnTo>
                    <a:lnTo>
                      <a:pt x="458" y="101"/>
                    </a:lnTo>
                    <a:lnTo>
                      <a:pt x="459" y="99"/>
                    </a:lnTo>
                    <a:lnTo>
                      <a:pt x="459" y="99"/>
                    </a:lnTo>
                    <a:lnTo>
                      <a:pt x="459" y="98"/>
                    </a:lnTo>
                    <a:lnTo>
                      <a:pt x="461" y="98"/>
                    </a:lnTo>
                    <a:lnTo>
                      <a:pt x="461" y="96"/>
                    </a:lnTo>
                    <a:lnTo>
                      <a:pt x="462" y="96"/>
                    </a:lnTo>
                    <a:lnTo>
                      <a:pt x="462" y="95"/>
                    </a:lnTo>
                    <a:lnTo>
                      <a:pt x="464" y="93"/>
                    </a:lnTo>
                    <a:lnTo>
                      <a:pt x="465" y="93"/>
                    </a:lnTo>
                    <a:lnTo>
                      <a:pt x="465" y="92"/>
                    </a:lnTo>
                    <a:lnTo>
                      <a:pt x="467" y="90"/>
                    </a:lnTo>
                    <a:lnTo>
                      <a:pt x="467" y="90"/>
                    </a:lnTo>
                    <a:lnTo>
                      <a:pt x="468" y="89"/>
                    </a:lnTo>
                    <a:lnTo>
                      <a:pt x="468" y="89"/>
                    </a:lnTo>
                    <a:lnTo>
                      <a:pt x="470" y="87"/>
                    </a:lnTo>
                    <a:lnTo>
                      <a:pt x="470" y="86"/>
                    </a:lnTo>
                    <a:lnTo>
                      <a:pt x="471" y="84"/>
                    </a:lnTo>
                    <a:lnTo>
                      <a:pt x="471" y="84"/>
                    </a:lnTo>
                    <a:lnTo>
                      <a:pt x="473" y="83"/>
                    </a:lnTo>
                    <a:lnTo>
                      <a:pt x="473" y="83"/>
                    </a:lnTo>
                    <a:lnTo>
                      <a:pt x="474" y="81"/>
                    </a:lnTo>
                    <a:lnTo>
                      <a:pt x="474" y="81"/>
                    </a:lnTo>
                    <a:lnTo>
                      <a:pt x="476" y="80"/>
                    </a:lnTo>
                    <a:lnTo>
                      <a:pt x="476" y="80"/>
                    </a:lnTo>
                    <a:lnTo>
                      <a:pt x="476" y="78"/>
                    </a:lnTo>
                    <a:lnTo>
                      <a:pt x="477" y="78"/>
                    </a:lnTo>
                    <a:lnTo>
                      <a:pt x="477" y="77"/>
                    </a:lnTo>
                    <a:lnTo>
                      <a:pt x="477" y="77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79" y="75"/>
                    </a:lnTo>
                    <a:lnTo>
                      <a:pt x="480" y="74"/>
                    </a:lnTo>
                    <a:lnTo>
                      <a:pt x="480" y="74"/>
                    </a:lnTo>
                    <a:lnTo>
                      <a:pt x="482" y="72"/>
                    </a:lnTo>
                    <a:lnTo>
                      <a:pt x="482" y="71"/>
                    </a:lnTo>
                    <a:lnTo>
                      <a:pt x="482" y="71"/>
                    </a:lnTo>
                    <a:lnTo>
                      <a:pt x="483" y="69"/>
                    </a:lnTo>
                    <a:lnTo>
                      <a:pt x="483" y="69"/>
                    </a:lnTo>
                    <a:lnTo>
                      <a:pt x="485" y="68"/>
                    </a:lnTo>
                    <a:lnTo>
                      <a:pt x="485" y="66"/>
                    </a:lnTo>
                    <a:lnTo>
                      <a:pt x="486" y="65"/>
                    </a:lnTo>
                    <a:lnTo>
                      <a:pt x="488" y="65"/>
                    </a:lnTo>
                    <a:lnTo>
                      <a:pt x="488" y="64"/>
                    </a:lnTo>
                    <a:lnTo>
                      <a:pt x="489" y="62"/>
                    </a:lnTo>
                    <a:lnTo>
                      <a:pt x="489" y="62"/>
                    </a:lnTo>
                    <a:lnTo>
                      <a:pt x="491" y="61"/>
                    </a:lnTo>
                    <a:lnTo>
                      <a:pt x="491" y="59"/>
                    </a:lnTo>
                    <a:lnTo>
                      <a:pt x="492" y="58"/>
                    </a:lnTo>
                    <a:lnTo>
                      <a:pt x="492" y="56"/>
                    </a:lnTo>
                    <a:lnTo>
                      <a:pt x="493" y="55"/>
                    </a:lnTo>
                    <a:lnTo>
                      <a:pt x="493" y="55"/>
                    </a:lnTo>
                    <a:lnTo>
                      <a:pt x="495" y="53"/>
                    </a:lnTo>
                    <a:lnTo>
                      <a:pt x="495" y="52"/>
                    </a:lnTo>
                    <a:lnTo>
                      <a:pt x="496" y="52"/>
                    </a:lnTo>
                    <a:lnTo>
                      <a:pt x="496" y="50"/>
                    </a:lnTo>
                    <a:lnTo>
                      <a:pt x="498" y="50"/>
                    </a:lnTo>
                    <a:lnTo>
                      <a:pt x="498" y="49"/>
                    </a:lnTo>
                    <a:lnTo>
                      <a:pt x="498" y="49"/>
                    </a:lnTo>
                    <a:lnTo>
                      <a:pt x="499" y="47"/>
                    </a:lnTo>
                    <a:lnTo>
                      <a:pt x="499" y="47"/>
                    </a:lnTo>
                    <a:lnTo>
                      <a:pt x="499" y="46"/>
                    </a:lnTo>
                    <a:lnTo>
                      <a:pt x="501" y="46"/>
                    </a:lnTo>
                    <a:lnTo>
                      <a:pt x="501" y="44"/>
                    </a:lnTo>
                    <a:lnTo>
                      <a:pt x="501" y="44"/>
                    </a:lnTo>
                    <a:lnTo>
                      <a:pt x="502" y="43"/>
                    </a:lnTo>
                    <a:lnTo>
                      <a:pt x="502" y="41"/>
                    </a:lnTo>
                    <a:lnTo>
                      <a:pt x="504" y="41"/>
                    </a:lnTo>
                    <a:lnTo>
                      <a:pt x="504" y="40"/>
                    </a:lnTo>
                    <a:lnTo>
                      <a:pt x="505" y="40"/>
                    </a:lnTo>
                    <a:lnTo>
                      <a:pt x="505" y="38"/>
                    </a:lnTo>
                    <a:lnTo>
                      <a:pt x="507" y="37"/>
                    </a:lnTo>
                    <a:lnTo>
                      <a:pt x="507" y="37"/>
                    </a:lnTo>
                    <a:lnTo>
                      <a:pt x="508" y="35"/>
                    </a:lnTo>
                    <a:lnTo>
                      <a:pt x="508" y="34"/>
                    </a:lnTo>
                    <a:lnTo>
                      <a:pt x="510" y="32"/>
                    </a:lnTo>
                    <a:lnTo>
                      <a:pt x="511" y="31"/>
                    </a:lnTo>
                    <a:lnTo>
                      <a:pt x="511" y="29"/>
                    </a:lnTo>
                    <a:lnTo>
                      <a:pt x="511" y="29"/>
                    </a:lnTo>
                    <a:lnTo>
                      <a:pt x="513" y="28"/>
                    </a:lnTo>
                    <a:lnTo>
                      <a:pt x="514" y="26"/>
                    </a:lnTo>
                    <a:lnTo>
                      <a:pt x="514" y="26"/>
                    </a:lnTo>
                    <a:lnTo>
                      <a:pt x="516" y="25"/>
                    </a:lnTo>
                    <a:lnTo>
                      <a:pt x="516" y="24"/>
                    </a:lnTo>
                    <a:lnTo>
                      <a:pt x="517" y="22"/>
                    </a:lnTo>
                    <a:lnTo>
                      <a:pt x="517" y="22"/>
                    </a:lnTo>
                    <a:lnTo>
                      <a:pt x="519" y="21"/>
                    </a:lnTo>
                    <a:lnTo>
                      <a:pt x="519" y="19"/>
                    </a:lnTo>
                    <a:lnTo>
                      <a:pt x="520" y="19"/>
                    </a:lnTo>
                    <a:lnTo>
                      <a:pt x="520" y="18"/>
                    </a:lnTo>
                    <a:lnTo>
                      <a:pt x="520" y="18"/>
                    </a:lnTo>
                    <a:lnTo>
                      <a:pt x="522" y="16"/>
                    </a:lnTo>
                    <a:lnTo>
                      <a:pt x="522" y="16"/>
                    </a:lnTo>
                    <a:lnTo>
                      <a:pt x="522" y="15"/>
                    </a:lnTo>
                    <a:lnTo>
                      <a:pt x="523" y="15"/>
                    </a:lnTo>
                    <a:lnTo>
                      <a:pt x="523" y="13"/>
                    </a:lnTo>
                    <a:lnTo>
                      <a:pt x="523" y="13"/>
                    </a:lnTo>
                    <a:lnTo>
                      <a:pt x="525" y="12"/>
                    </a:lnTo>
                    <a:lnTo>
                      <a:pt x="525" y="12"/>
                    </a:lnTo>
                    <a:lnTo>
                      <a:pt x="525" y="10"/>
                    </a:lnTo>
                    <a:lnTo>
                      <a:pt x="526" y="10"/>
                    </a:lnTo>
                    <a:lnTo>
                      <a:pt x="526" y="9"/>
                    </a:lnTo>
                    <a:lnTo>
                      <a:pt x="526" y="9"/>
                    </a:lnTo>
                    <a:lnTo>
                      <a:pt x="528" y="7"/>
                    </a:lnTo>
                    <a:lnTo>
                      <a:pt x="528" y="7"/>
                    </a:lnTo>
                    <a:lnTo>
                      <a:pt x="528" y="6"/>
                    </a:lnTo>
                    <a:lnTo>
                      <a:pt x="529" y="4"/>
                    </a:lnTo>
                    <a:lnTo>
                      <a:pt x="529" y="4"/>
                    </a:lnTo>
                    <a:lnTo>
                      <a:pt x="531" y="3"/>
                    </a:lnTo>
                    <a:lnTo>
                      <a:pt x="531" y="1"/>
                    </a:lnTo>
                    <a:lnTo>
                      <a:pt x="531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7" name="Freeform 350"/>
              <p:cNvSpPr>
                <a:spLocks/>
              </p:cNvSpPr>
              <p:nvPr/>
            </p:nvSpPr>
            <p:spPr bwMode="auto">
              <a:xfrm>
                <a:off x="2943" y="2729"/>
                <a:ext cx="22" cy="71"/>
              </a:xfrm>
              <a:custGeom>
                <a:avLst/>
                <a:gdLst>
                  <a:gd name="T0" fmla="*/ 5 w 64"/>
                  <a:gd name="T1" fmla="*/ 8 h 212"/>
                  <a:gd name="T2" fmla="*/ 8 w 64"/>
                  <a:gd name="T3" fmla="*/ 13 h 212"/>
                  <a:gd name="T4" fmla="*/ 11 w 64"/>
                  <a:gd name="T5" fmla="*/ 19 h 212"/>
                  <a:gd name="T6" fmla="*/ 14 w 64"/>
                  <a:gd name="T7" fmla="*/ 24 h 212"/>
                  <a:gd name="T8" fmla="*/ 15 w 64"/>
                  <a:gd name="T9" fmla="*/ 27 h 212"/>
                  <a:gd name="T10" fmla="*/ 17 w 64"/>
                  <a:gd name="T11" fmla="*/ 30 h 212"/>
                  <a:gd name="T12" fmla="*/ 18 w 64"/>
                  <a:gd name="T13" fmla="*/ 34 h 212"/>
                  <a:gd name="T14" fmla="*/ 20 w 64"/>
                  <a:gd name="T15" fmla="*/ 39 h 212"/>
                  <a:gd name="T16" fmla="*/ 21 w 64"/>
                  <a:gd name="T17" fmla="*/ 42 h 212"/>
                  <a:gd name="T18" fmla="*/ 23 w 64"/>
                  <a:gd name="T19" fmla="*/ 46 h 212"/>
                  <a:gd name="T20" fmla="*/ 24 w 64"/>
                  <a:gd name="T21" fmla="*/ 49 h 212"/>
                  <a:gd name="T22" fmla="*/ 26 w 64"/>
                  <a:gd name="T23" fmla="*/ 52 h 212"/>
                  <a:gd name="T24" fmla="*/ 27 w 64"/>
                  <a:gd name="T25" fmla="*/ 55 h 212"/>
                  <a:gd name="T26" fmla="*/ 29 w 64"/>
                  <a:gd name="T27" fmla="*/ 58 h 212"/>
                  <a:gd name="T28" fmla="*/ 30 w 64"/>
                  <a:gd name="T29" fmla="*/ 61 h 212"/>
                  <a:gd name="T30" fmla="*/ 32 w 64"/>
                  <a:gd name="T31" fmla="*/ 65 h 212"/>
                  <a:gd name="T32" fmla="*/ 33 w 64"/>
                  <a:gd name="T33" fmla="*/ 70 h 212"/>
                  <a:gd name="T34" fmla="*/ 35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5 w 64"/>
                  <a:gd name="T51" fmla="*/ 107 h 212"/>
                  <a:gd name="T52" fmla="*/ 46 w 64"/>
                  <a:gd name="T53" fmla="*/ 111 h 212"/>
                  <a:gd name="T54" fmla="*/ 48 w 64"/>
                  <a:gd name="T55" fmla="*/ 114 h 212"/>
                  <a:gd name="T56" fmla="*/ 48 w 64"/>
                  <a:gd name="T57" fmla="*/ 117 h 212"/>
                  <a:gd name="T58" fmla="*/ 49 w 64"/>
                  <a:gd name="T59" fmla="*/ 120 h 212"/>
                  <a:gd name="T60" fmla="*/ 51 w 64"/>
                  <a:gd name="T61" fmla="*/ 123 h 212"/>
                  <a:gd name="T62" fmla="*/ 52 w 64"/>
                  <a:gd name="T63" fmla="*/ 127 h 212"/>
                  <a:gd name="T64" fmla="*/ 54 w 64"/>
                  <a:gd name="T65" fmla="*/ 133 h 212"/>
                  <a:gd name="T66" fmla="*/ 55 w 64"/>
                  <a:gd name="T67" fmla="*/ 138 h 212"/>
                  <a:gd name="T68" fmla="*/ 55 w 64"/>
                  <a:gd name="T69" fmla="*/ 142 h 212"/>
                  <a:gd name="T70" fmla="*/ 57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60 w 64"/>
                  <a:gd name="T79" fmla="*/ 157 h 212"/>
                  <a:gd name="T80" fmla="*/ 60 w 64"/>
                  <a:gd name="T81" fmla="*/ 162 h 212"/>
                  <a:gd name="T82" fmla="*/ 60 w 64"/>
                  <a:gd name="T83" fmla="*/ 166 h 212"/>
                  <a:gd name="T84" fmla="*/ 60 w 64"/>
                  <a:gd name="T85" fmla="*/ 169 h 212"/>
                  <a:gd name="T86" fmla="*/ 60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3 w 64"/>
                  <a:gd name="T97" fmla="*/ 184 h 212"/>
                  <a:gd name="T98" fmla="*/ 63 w 64"/>
                  <a:gd name="T99" fmla="*/ 187 h 212"/>
                  <a:gd name="T100" fmla="*/ 63 w 64"/>
                  <a:gd name="T101" fmla="*/ 188 h 212"/>
                  <a:gd name="T102" fmla="*/ 63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3 w 64"/>
                  <a:gd name="T113" fmla="*/ 207 h 212"/>
                  <a:gd name="T114" fmla="*/ 0 w 64"/>
                  <a:gd name="T115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10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7" y="28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17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0" y="37"/>
                    </a:lnTo>
                    <a:lnTo>
                      <a:pt x="20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3" y="45"/>
                    </a:lnTo>
                    <a:lnTo>
                      <a:pt x="23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6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9" y="58"/>
                    </a:lnTo>
                    <a:lnTo>
                      <a:pt x="29" y="58"/>
                    </a:lnTo>
                    <a:lnTo>
                      <a:pt x="29" y="59"/>
                    </a:lnTo>
                    <a:lnTo>
                      <a:pt x="29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2" y="65"/>
                    </a:lnTo>
                    <a:lnTo>
                      <a:pt x="32" y="67"/>
                    </a:lnTo>
                    <a:lnTo>
                      <a:pt x="32" y="68"/>
                    </a:lnTo>
                    <a:lnTo>
                      <a:pt x="32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5" y="73"/>
                    </a:lnTo>
                    <a:lnTo>
                      <a:pt x="35" y="74"/>
                    </a:lnTo>
                    <a:lnTo>
                      <a:pt x="35" y="76"/>
                    </a:lnTo>
                    <a:lnTo>
                      <a:pt x="35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0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5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8" y="113"/>
                    </a:lnTo>
                    <a:lnTo>
                      <a:pt x="48" y="114"/>
                    </a:lnTo>
                    <a:lnTo>
                      <a:pt x="48" y="114"/>
                    </a:lnTo>
                    <a:lnTo>
                      <a:pt x="48" y="116"/>
                    </a:lnTo>
                    <a:lnTo>
                      <a:pt x="48" y="116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1" y="123"/>
                    </a:lnTo>
                    <a:lnTo>
                      <a:pt x="51" y="123"/>
                    </a:lnTo>
                    <a:lnTo>
                      <a:pt x="51" y="124"/>
                    </a:lnTo>
                    <a:lnTo>
                      <a:pt x="51" y="126"/>
                    </a:lnTo>
                    <a:lnTo>
                      <a:pt x="51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2" y="132"/>
                    </a:lnTo>
                    <a:lnTo>
                      <a:pt x="54" y="133"/>
                    </a:lnTo>
                    <a:lnTo>
                      <a:pt x="54" y="133"/>
                    </a:lnTo>
                    <a:lnTo>
                      <a:pt x="54" y="135"/>
                    </a:lnTo>
                    <a:lnTo>
                      <a:pt x="54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7" y="142"/>
                    </a:lnTo>
                    <a:lnTo>
                      <a:pt x="57" y="144"/>
                    </a:lnTo>
                    <a:lnTo>
                      <a:pt x="57" y="144"/>
                    </a:lnTo>
                    <a:lnTo>
                      <a:pt x="57" y="145"/>
                    </a:lnTo>
                    <a:lnTo>
                      <a:pt x="57" y="147"/>
                    </a:lnTo>
                    <a:lnTo>
                      <a:pt x="57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8" y="156"/>
                    </a:lnTo>
                    <a:lnTo>
                      <a:pt x="60" y="157"/>
                    </a:lnTo>
                    <a:lnTo>
                      <a:pt x="60" y="157"/>
                    </a:lnTo>
                    <a:lnTo>
                      <a:pt x="60" y="159"/>
                    </a:lnTo>
                    <a:lnTo>
                      <a:pt x="60" y="160"/>
                    </a:lnTo>
                    <a:lnTo>
                      <a:pt x="60" y="160"/>
                    </a:lnTo>
                    <a:lnTo>
                      <a:pt x="60" y="162"/>
                    </a:lnTo>
                    <a:lnTo>
                      <a:pt x="60" y="163"/>
                    </a:lnTo>
                    <a:lnTo>
                      <a:pt x="60" y="163"/>
                    </a:lnTo>
                    <a:lnTo>
                      <a:pt x="60" y="164"/>
                    </a:lnTo>
                    <a:lnTo>
                      <a:pt x="60" y="166"/>
                    </a:lnTo>
                    <a:lnTo>
                      <a:pt x="60" y="167"/>
                    </a:lnTo>
                    <a:lnTo>
                      <a:pt x="60" y="167"/>
                    </a:lnTo>
                    <a:lnTo>
                      <a:pt x="60" y="169"/>
                    </a:lnTo>
                    <a:lnTo>
                      <a:pt x="60" y="169"/>
                    </a:lnTo>
                    <a:lnTo>
                      <a:pt x="60" y="170"/>
                    </a:lnTo>
                    <a:lnTo>
                      <a:pt x="60" y="172"/>
                    </a:lnTo>
                    <a:lnTo>
                      <a:pt x="60" y="172"/>
                    </a:lnTo>
                    <a:lnTo>
                      <a:pt x="60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1" y="184"/>
                    </a:lnTo>
                    <a:lnTo>
                      <a:pt x="63" y="184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7"/>
                    </a:lnTo>
                    <a:lnTo>
                      <a:pt x="63" y="187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90"/>
                    </a:lnTo>
                    <a:lnTo>
                      <a:pt x="63" y="190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3" y="204"/>
                    </a:lnTo>
                    <a:lnTo>
                      <a:pt x="63" y="204"/>
                    </a:lnTo>
                    <a:lnTo>
                      <a:pt x="63" y="206"/>
                    </a:lnTo>
                    <a:lnTo>
                      <a:pt x="63" y="207"/>
                    </a:lnTo>
                    <a:lnTo>
                      <a:pt x="63" y="209"/>
                    </a:lnTo>
                    <a:lnTo>
                      <a:pt x="63" y="210"/>
                    </a:lnTo>
                    <a:lnTo>
                      <a:pt x="63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8" name="Freeform 351"/>
              <p:cNvSpPr>
                <a:spLocks/>
              </p:cNvSpPr>
              <p:nvPr/>
            </p:nvSpPr>
            <p:spPr bwMode="auto">
              <a:xfrm>
                <a:off x="2943" y="2729"/>
                <a:ext cx="22" cy="71"/>
              </a:xfrm>
              <a:custGeom>
                <a:avLst/>
                <a:gdLst>
                  <a:gd name="T0" fmla="*/ 5 w 64"/>
                  <a:gd name="T1" fmla="*/ 8 h 212"/>
                  <a:gd name="T2" fmla="*/ 8 w 64"/>
                  <a:gd name="T3" fmla="*/ 13 h 212"/>
                  <a:gd name="T4" fmla="*/ 11 w 64"/>
                  <a:gd name="T5" fmla="*/ 19 h 212"/>
                  <a:gd name="T6" fmla="*/ 14 w 64"/>
                  <a:gd name="T7" fmla="*/ 24 h 212"/>
                  <a:gd name="T8" fmla="*/ 15 w 64"/>
                  <a:gd name="T9" fmla="*/ 27 h 212"/>
                  <a:gd name="T10" fmla="*/ 17 w 64"/>
                  <a:gd name="T11" fmla="*/ 30 h 212"/>
                  <a:gd name="T12" fmla="*/ 18 w 64"/>
                  <a:gd name="T13" fmla="*/ 34 h 212"/>
                  <a:gd name="T14" fmla="*/ 20 w 64"/>
                  <a:gd name="T15" fmla="*/ 39 h 212"/>
                  <a:gd name="T16" fmla="*/ 21 w 64"/>
                  <a:gd name="T17" fmla="*/ 42 h 212"/>
                  <a:gd name="T18" fmla="*/ 23 w 64"/>
                  <a:gd name="T19" fmla="*/ 46 h 212"/>
                  <a:gd name="T20" fmla="*/ 24 w 64"/>
                  <a:gd name="T21" fmla="*/ 49 h 212"/>
                  <a:gd name="T22" fmla="*/ 26 w 64"/>
                  <a:gd name="T23" fmla="*/ 52 h 212"/>
                  <a:gd name="T24" fmla="*/ 27 w 64"/>
                  <a:gd name="T25" fmla="*/ 55 h 212"/>
                  <a:gd name="T26" fmla="*/ 29 w 64"/>
                  <a:gd name="T27" fmla="*/ 58 h 212"/>
                  <a:gd name="T28" fmla="*/ 30 w 64"/>
                  <a:gd name="T29" fmla="*/ 61 h 212"/>
                  <a:gd name="T30" fmla="*/ 32 w 64"/>
                  <a:gd name="T31" fmla="*/ 65 h 212"/>
                  <a:gd name="T32" fmla="*/ 33 w 64"/>
                  <a:gd name="T33" fmla="*/ 70 h 212"/>
                  <a:gd name="T34" fmla="*/ 35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5 w 64"/>
                  <a:gd name="T51" fmla="*/ 107 h 212"/>
                  <a:gd name="T52" fmla="*/ 46 w 64"/>
                  <a:gd name="T53" fmla="*/ 111 h 212"/>
                  <a:gd name="T54" fmla="*/ 48 w 64"/>
                  <a:gd name="T55" fmla="*/ 114 h 212"/>
                  <a:gd name="T56" fmla="*/ 48 w 64"/>
                  <a:gd name="T57" fmla="*/ 117 h 212"/>
                  <a:gd name="T58" fmla="*/ 49 w 64"/>
                  <a:gd name="T59" fmla="*/ 120 h 212"/>
                  <a:gd name="T60" fmla="*/ 51 w 64"/>
                  <a:gd name="T61" fmla="*/ 123 h 212"/>
                  <a:gd name="T62" fmla="*/ 52 w 64"/>
                  <a:gd name="T63" fmla="*/ 127 h 212"/>
                  <a:gd name="T64" fmla="*/ 54 w 64"/>
                  <a:gd name="T65" fmla="*/ 133 h 212"/>
                  <a:gd name="T66" fmla="*/ 55 w 64"/>
                  <a:gd name="T67" fmla="*/ 138 h 212"/>
                  <a:gd name="T68" fmla="*/ 55 w 64"/>
                  <a:gd name="T69" fmla="*/ 142 h 212"/>
                  <a:gd name="T70" fmla="*/ 57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60 w 64"/>
                  <a:gd name="T79" fmla="*/ 157 h 212"/>
                  <a:gd name="T80" fmla="*/ 60 w 64"/>
                  <a:gd name="T81" fmla="*/ 162 h 212"/>
                  <a:gd name="T82" fmla="*/ 60 w 64"/>
                  <a:gd name="T83" fmla="*/ 166 h 212"/>
                  <a:gd name="T84" fmla="*/ 60 w 64"/>
                  <a:gd name="T85" fmla="*/ 169 h 212"/>
                  <a:gd name="T86" fmla="*/ 60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3 w 64"/>
                  <a:gd name="T97" fmla="*/ 184 h 212"/>
                  <a:gd name="T98" fmla="*/ 63 w 64"/>
                  <a:gd name="T99" fmla="*/ 187 h 212"/>
                  <a:gd name="T100" fmla="*/ 63 w 64"/>
                  <a:gd name="T101" fmla="*/ 188 h 212"/>
                  <a:gd name="T102" fmla="*/ 63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3 w 64"/>
                  <a:gd name="T113" fmla="*/ 20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10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1" y="18"/>
                    </a:lnTo>
                    <a:lnTo>
                      <a:pt x="11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7" y="28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17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0" y="37"/>
                    </a:lnTo>
                    <a:lnTo>
                      <a:pt x="20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3" y="45"/>
                    </a:lnTo>
                    <a:lnTo>
                      <a:pt x="23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6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9" y="58"/>
                    </a:lnTo>
                    <a:lnTo>
                      <a:pt x="29" y="58"/>
                    </a:lnTo>
                    <a:lnTo>
                      <a:pt x="29" y="59"/>
                    </a:lnTo>
                    <a:lnTo>
                      <a:pt x="29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2" y="65"/>
                    </a:lnTo>
                    <a:lnTo>
                      <a:pt x="32" y="67"/>
                    </a:lnTo>
                    <a:lnTo>
                      <a:pt x="32" y="68"/>
                    </a:lnTo>
                    <a:lnTo>
                      <a:pt x="32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5" y="73"/>
                    </a:lnTo>
                    <a:lnTo>
                      <a:pt x="35" y="74"/>
                    </a:lnTo>
                    <a:lnTo>
                      <a:pt x="35" y="76"/>
                    </a:lnTo>
                    <a:lnTo>
                      <a:pt x="35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0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5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8" y="113"/>
                    </a:lnTo>
                    <a:lnTo>
                      <a:pt x="48" y="114"/>
                    </a:lnTo>
                    <a:lnTo>
                      <a:pt x="48" y="114"/>
                    </a:lnTo>
                    <a:lnTo>
                      <a:pt x="48" y="116"/>
                    </a:lnTo>
                    <a:lnTo>
                      <a:pt x="48" y="116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1" y="123"/>
                    </a:lnTo>
                    <a:lnTo>
                      <a:pt x="51" y="123"/>
                    </a:lnTo>
                    <a:lnTo>
                      <a:pt x="51" y="124"/>
                    </a:lnTo>
                    <a:lnTo>
                      <a:pt x="51" y="126"/>
                    </a:lnTo>
                    <a:lnTo>
                      <a:pt x="51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2" y="132"/>
                    </a:lnTo>
                    <a:lnTo>
                      <a:pt x="54" y="133"/>
                    </a:lnTo>
                    <a:lnTo>
                      <a:pt x="54" y="133"/>
                    </a:lnTo>
                    <a:lnTo>
                      <a:pt x="54" y="135"/>
                    </a:lnTo>
                    <a:lnTo>
                      <a:pt x="54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7" y="142"/>
                    </a:lnTo>
                    <a:lnTo>
                      <a:pt x="57" y="144"/>
                    </a:lnTo>
                    <a:lnTo>
                      <a:pt x="57" y="144"/>
                    </a:lnTo>
                    <a:lnTo>
                      <a:pt x="57" y="145"/>
                    </a:lnTo>
                    <a:lnTo>
                      <a:pt x="57" y="147"/>
                    </a:lnTo>
                    <a:lnTo>
                      <a:pt x="57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8" y="156"/>
                    </a:lnTo>
                    <a:lnTo>
                      <a:pt x="60" y="157"/>
                    </a:lnTo>
                    <a:lnTo>
                      <a:pt x="60" y="157"/>
                    </a:lnTo>
                    <a:lnTo>
                      <a:pt x="60" y="159"/>
                    </a:lnTo>
                    <a:lnTo>
                      <a:pt x="60" y="160"/>
                    </a:lnTo>
                    <a:lnTo>
                      <a:pt x="60" y="160"/>
                    </a:lnTo>
                    <a:lnTo>
                      <a:pt x="60" y="162"/>
                    </a:lnTo>
                    <a:lnTo>
                      <a:pt x="60" y="163"/>
                    </a:lnTo>
                    <a:lnTo>
                      <a:pt x="60" y="163"/>
                    </a:lnTo>
                    <a:lnTo>
                      <a:pt x="60" y="164"/>
                    </a:lnTo>
                    <a:lnTo>
                      <a:pt x="60" y="166"/>
                    </a:lnTo>
                    <a:lnTo>
                      <a:pt x="60" y="167"/>
                    </a:lnTo>
                    <a:lnTo>
                      <a:pt x="60" y="167"/>
                    </a:lnTo>
                    <a:lnTo>
                      <a:pt x="60" y="169"/>
                    </a:lnTo>
                    <a:lnTo>
                      <a:pt x="60" y="169"/>
                    </a:lnTo>
                    <a:lnTo>
                      <a:pt x="60" y="170"/>
                    </a:lnTo>
                    <a:lnTo>
                      <a:pt x="60" y="172"/>
                    </a:lnTo>
                    <a:lnTo>
                      <a:pt x="60" y="172"/>
                    </a:lnTo>
                    <a:lnTo>
                      <a:pt x="60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1" y="184"/>
                    </a:lnTo>
                    <a:lnTo>
                      <a:pt x="63" y="184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5"/>
                    </a:lnTo>
                    <a:lnTo>
                      <a:pt x="63" y="187"/>
                    </a:lnTo>
                    <a:lnTo>
                      <a:pt x="63" y="187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88"/>
                    </a:lnTo>
                    <a:lnTo>
                      <a:pt x="63" y="190"/>
                    </a:lnTo>
                    <a:lnTo>
                      <a:pt x="63" y="190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3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3" y="204"/>
                    </a:lnTo>
                    <a:lnTo>
                      <a:pt x="63" y="204"/>
                    </a:lnTo>
                    <a:lnTo>
                      <a:pt x="63" y="206"/>
                    </a:lnTo>
                    <a:lnTo>
                      <a:pt x="63" y="207"/>
                    </a:lnTo>
                    <a:lnTo>
                      <a:pt x="63" y="209"/>
                    </a:lnTo>
                    <a:lnTo>
                      <a:pt x="63" y="210"/>
                    </a:lnTo>
                    <a:lnTo>
                      <a:pt x="63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29" name="Freeform 352"/>
              <p:cNvSpPr>
                <a:spLocks/>
              </p:cNvSpPr>
              <p:nvPr/>
            </p:nvSpPr>
            <p:spPr bwMode="auto">
              <a:xfrm>
                <a:off x="2943" y="2800"/>
                <a:ext cx="22" cy="71"/>
              </a:xfrm>
              <a:custGeom>
                <a:avLst/>
                <a:gdLst>
                  <a:gd name="T0" fmla="*/ 5 w 64"/>
                  <a:gd name="T1" fmla="*/ 204 h 212"/>
                  <a:gd name="T2" fmla="*/ 8 w 64"/>
                  <a:gd name="T3" fmla="*/ 198 h 212"/>
                  <a:gd name="T4" fmla="*/ 11 w 64"/>
                  <a:gd name="T5" fmla="*/ 192 h 212"/>
                  <a:gd name="T6" fmla="*/ 14 w 64"/>
                  <a:gd name="T7" fmla="*/ 188 h 212"/>
                  <a:gd name="T8" fmla="*/ 15 w 64"/>
                  <a:gd name="T9" fmla="*/ 185 h 212"/>
                  <a:gd name="T10" fmla="*/ 17 w 64"/>
                  <a:gd name="T11" fmla="*/ 182 h 212"/>
                  <a:gd name="T12" fmla="*/ 18 w 64"/>
                  <a:gd name="T13" fmla="*/ 178 h 212"/>
                  <a:gd name="T14" fmla="*/ 20 w 64"/>
                  <a:gd name="T15" fmla="*/ 175 h 212"/>
                  <a:gd name="T16" fmla="*/ 21 w 64"/>
                  <a:gd name="T17" fmla="*/ 170 h 212"/>
                  <a:gd name="T18" fmla="*/ 23 w 64"/>
                  <a:gd name="T19" fmla="*/ 166 h 212"/>
                  <a:gd name="T20" fmla="*/ 24 w 64"/>
                  <a:gd name="T21" fmla="*/ 163 h 212"/>
                  <a:gd name="T22" fmla="*/ 26 w 64"/>
                  <a:gd name="T23" fmla="*/ 160 h 212"/>
                  <a:gd name="T24" fmla="*/ 27 w 64"/>
                  <a:gd name="T25" fmla="*/ 157 h 212"/>
                  <a:gd name="T26" fmla="*/ 29 w 64"/>
                  <a:gd name="T27" fmla="*/ 154 h 212"/>
                  <a:gd name="T28" fmla="*/ 30 w 64"/>
                  <a:gd name="T29" fmla="*/ 151 h 212"/>
                  <a:gd name="T30" fmla="*/ 32 w 64"/>
                  <a:gd name="T31" fmla="*/ 146 h 212"/>
                  <a:gd name="T32" fmla="*/ 33 w 64"/>
                  <a:gd name="T33" fmla="*/ 142 h 212"/>
                  <a:gd name="T34" fmla="*/ 35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5 w 64"/>
                  <a:gd name="T51" fmla="*/ 105 h 212"/>
                  <a:gd name="T52" fmla="*/ 46 w 64"/>
                  <a:gd name="T53" fmla="*/ 102 h 212"/>
                  <a:gd name="T54" fmla="*/ 48 w 64"/>
                  <a:gd name="T55" fmla="*/ 98 h 212"/>
                  <a:gd name="T56" fmla="*/ 48 w 64"/>
                  <a:gd name="T57" fmla="*/ 95 h 212"/>
                  <a:gd name="T58" fmla="*/ 49 w 64"/>
                  <a:gd name="T59" fmla="*/ 92 h 212"/>
                  <a:gd name="T60" fmla="*/ 51 w 64"/>
                  <a:gd name="T61" fmla="*/ 89 h 212"/>
                  <a:gd name="T62" fmla="*/ 52 w 64"/>
                  <a:gd name="T63" fmla="*/ 84 h 212"/>
                  <a:gd name="T64" fmla="*/ 54 w 64"/>
                  <a:gd name="T65" fmla="*/ 78 h 212"/>
                  <a:gd name="T66" fmla="*/ 55 w 64"/>
                  <a:gd name="T67" fmla="*/ 75 h 212"/>
                  <a:gd name="T68" fmla="*/ 55 w 64"/>
                  <a:gd name="T69" fmla="*/ 71 h 212"/>
                  <a:gd name="T70" fmla="*/ 57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60 w 64"/>
                  <a:gd name="T79" fmla="*/ 55 h 212"/>
                  <a:gd name="T80" fmla="*/ 60 w 64"/>
                  <a:gd name="T81" fmla="*/ 50 h 212"/>
                  <a:gd name="T82" fmla="*/ 60 w 64"/>
                  <a:gd name="T83" fmla="*/ 46 h 212"/>
                  <a:gd name="T84" fmla="*/ 60 w 64"/>
                  <a:gd name="T85" fmla="*/ 43 h 212"/>
                  <a:gd name="T86" fmla="*/ 60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3 w 64"/>
                  <a:gd name="T97" fmla="*/ 28 h 212"/>
                  <a:gd name="T98" fmla="*/ 63 w 64"/>
                  <a:gd name="T99" fmla="*/ 26 h 212"/>
                  <a:gd name="T100" fmla="*/ 63 w 64"/>
                  <a:gd name="T101" fmla="*/ 24 h 212"/>
                  <a:gd name="T102" fmla="*/ 63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3 w 64"/>
                  <a:gd name="T113" fmla="*/ 4 h 212"/>
                  <a:gd name="T114" fmla="*/ 0 w 64"/>
                  <a:gd name="T115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5" y="204"/>
                    </a:lnTo>
                    <a:lnTo>
                      <a:pt x="5" y="203"/>
                    </a:lnTo>
                    <a:lnTo>
                      <a:pt x="6" y="201"/>
                    </a:lnTo>
                    <a:lnTo>
                      <a:pt x="8" y="200"/>
                    </a:lnTo>
                    <a:lnTo>
                      <a:pt x="8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1" y="194"/>
                    </a:lnTo>
                    <a:lnTo>
                      <a:pt x="11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89"/>
                    </a:lnTo>
                    <a:lnTo>
                      <a:pt x="14" y="188"/>
                    </a:lnTo>
                    <a:lnTo>
                      <a:pt x="14" y="188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7" y="182"/>
                    </a:lnTo>
                    <a:lnTo>
                      <a:pt x="17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20" y="176"/>
                    </a:lnTo>
                    <a:lnTo>
                      <a:pt x="20" y="175"/>
                    </a:lnTo>
                    <a:lnTo>
                      <a:pt x="20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3" y="169"/>
                    </a:lnTo>
                    <a:lnTo>
                      <a:pt x="23" y="169"/>
                    </a:lnTo>
                    <a:lnTo>
                      <a:pt x="23" y="167"/>
                    </a:lnTo>
                    <a:lnTo>
                      <a:pt x="23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6" y="163"/>
                    </a:lnTo>
                    <a:lnTo>
                      <a:pt x="26" y="161"/>
                    </a:lnTo>
                    <a:lnTo>
                      <a:pt x="26" y="161"/>
                    </a:lnTo>
                    <a:lnTo>
                      <a:pt x="26" y="160"/>
                    </a:lnTo>
                    <a:lnTo>
                      <a:pt x="26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7" y="155"/>
                    </a:lnTo>
                    <a:lnTo>
                      <a:pt x="29" y="154"/>
                    </a:lnTo>
                    <a:lnTo>
                      <a:pt x="29" y="154"/>
                    </a:lnTo>
                    <a:lnTo>
                      <a:pt x="29" y="152"/>
                    </a:lnTo>
                    <a:lnTo>
                      <a:pt x="29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2" y="146"/>
                    </a:lnTo>
                    <a:lnTo>
                      <a:pt x="32" y="145"/>
                    </a:lnTo>
                    <a:lnTo>
                      <a:pt x="32" y="143"/>
                    </a:lnTo>
                    <a:lnTo>
                      <a:pt x="32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5" y="139"/>
                    </a:lnTo>
                    <a:lnTo>
                      <a:pt x="35" y="138"/>
                    </a:lnTo>
                    <a:lnTo>
                      <a:pt x="35" y="136"/>
                    </a:lnTo>
                    <a:lnTo>
                      <a:pt x="35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5" y="108"/>
                    </a:lnTo>
                    <a:lnTo>
                      <a:pt x="45" y="106"/>
                    </a:lnTo>
                    <a:lnTo>
                      <a:pt x="45" y="105"/>
                    </a:lnTo>
                    <a:lnTo>
                      <a:pt x="45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8" y="98"/>
                    </a:lnTo>
                    <a:lnTo>
                      <a:pt x="48" y="9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1" y="89"/>
                    </a:lnTo>
                    <a:lnTo>
                      <a:pt x="51" y="89"/>
                    </a:lnTo>
                    <a:lnTo>
                      <a:pt x="51" y="87"/>
                    </a:lnTo>
                    <a:lnTo>
                      <a:pt x="51" y="86"/>
                    </a:lnTo>
                    <a:lnTo>
                      <a:pt x="51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2" y="80"/>
                    </a:lnTo>
                    <a:lnTo>
                      <a:pt x="54" y="78"/>
                    </a:lnTo>
                    <a:lnTo>
                      <a:pt x="54" y="78"/>
                    </a:lnTo>
                    <a:lnTo>
                      <a:pt x="54" y="77"/>
                    </a:lnTo>
                    <a:lnTo>
                      <a:pt x="54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7" y="69"/>
                    </a:lnTo>
                    <a:lnTo>
                      <a:pt x="57" y="68"/>
                    </a:lnTo>
                    <a:lnTo>
                      <a:pt x="57" y="68"/>
                    </a:lnTo>
                    <a:lnTo>
                      <a:pt x="57" y="66"/>
                    </a:lnTo>
                    <a:lnTo>
                      <a:pt x="57" y="66"/>
                    </a:lnTo>
                    <a:lnTo>
                      <a:pt x="57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8" y="56"/>
                    </a:lnTo>
                    <a:lnTo>
                      <a:pt x="60" y="56"/>
                    </a:lnTo>
                    <a:lnTo>
                      <a:pt x="60" y="55"/>
                    </a:lnTo>
                    <a:lnTo>
                      <a:pt x="60" y="53"/>
                    </a:lnTo>
                    <a:lnTo>
                      <a:pt x="60" y="53"/>
                    </a:lnTo>
                    <a:lnTo>
                      <a:pt x="60" y="52"/>
                    </a:lnTo>
                    <a:lnTo>
                      <a:pt x="60" y="50"/>
                    </a:lnTo>
                    <a:lnTo>
                      <a:pt x="60" y="49"/>
                    </a:lnTo>
                    <a:lnTo>
                      <a:pt x="60" y="49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0" y="46"/>
                    </a:lnTo>
                    <a:lnTo>
                      <a:pt x="60" y="44"/>
                    </a:lnTo>
                    <a:lnTo>
                      <a:pt x="60" y="43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60" y="41"/>
                    </a:lnTo>
                    <a:lnTo>
                      <a:pt x="60" y="40"/>
                    </a:lnTo>
                    <a:lnTo>
                      <a:pt x="60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5"/>
                    </a:lnTo>
                    <a:lnTo>
                      <a:pt x="63" y="25"/>
                    </a:lnTo>
                    <a:lnTo>
                      <a:pt x="63" y="24"/>
                    </a:lnTo>
                    <a:lnTo>
                      <a:pt x="63" y="24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1"/>
                    </a:lnTo>
                    <a:lnTo>
                      <a:pt x="63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3" y="1"/>
                    </a:lnTo>
                    <a:lnTo>
                      <a:pt x="63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0" name="Freeform 353"/>
              <p:cNvSpPr>
                <a:spLocks/>
              </p:cNvSpPr>
              <p:nvPr/>
            </p:nvSpPr>
            <p:spPr bwMode="auto">
              <a:xfrm>
                <a:off x="2943" y="2800"/>
                <a:ext cx="22" cy="71"/>
              </a:xfrm>
              <a:custGeom>
                <a:avLst/>
                <a:gdLst>
                  <a:gd name="T0" fmla="*/ 5 w 64"/>
                  <a:gd name="T1" fmla="*/ 204 h 212"/>
                  <a:gd name="T2" fmla="*/ 8 w 64"/>
                  <a:gd name="T3" fmla="*/ 198 h 212"/>
                  <a:gd name="T4" fmla="*/ 11 w 64"/>
                  <a:gd name="T5" fmla="*/ 192 h 212"/>
                  <a:gd name="T6" fmla="*/ 14 w 64"/>
                  <a:gd name="T7" fmla="*/ 188 h 212"/>
                  <a:gd name="T8" fmla="*/ 15 w 64"/>
                  <a:gd name="T9" fmla="*/ 185 h 212"/>
                  <a:gd name="T10" fmla="*/ 17 w 64"/>
                  <a:gd name="T11" fmla="*/ 182 h 212"/>
                  <a:gd name="T12" fmla="*/ 18 w 64"/>
                  <a:gd name="T13" fmla="*/ 178 h 212"/>
                  <a:gd name="T14" fmla="*/ 20 w 64"/>
                  <a:gd name="T15" fmla="*/ 175 h 212"/>
                  <a:gd name="T16" fmla="*/ 21 w 64"/>
                  <a:gd name="T17" fmla="*/ 170 h 212"/>
                  <a:gd name="T18" fmla="*/ 23 w 64"/>
                  <a:gd name="T19" fmla="*/ 166 h 212"/>
                  <a:gd name="T20" fmla="*/ 24 w 64"/>
                  <a:gd name="T21" fmla="*/ 163 h 212"/>
                  <a:gd name="T22" fmla="*/ 26 w 64"/>
                  <a:gd name="T23" fmla="*/ 160 h 212"/>
                  <a:gd name="T24" fmla="*/ 27 w 64"/>
                  <a:gd name="T25" fmla="*/ 157 h 212"/>
                  <a:gd name="T26" fmla="*/ 29 w 64"/>
                  <a:gd name="T27" fmla="*/ 154 h 212"/>
                  <a:gd name="T28" fmla="*/ 30 w 64"/>
                  <a:gd name="T29" fmla="*/ 151 h 212"/>
                  <a:gd name="T30" fmla="*/ 32 w 64"/>
                  <a:gd name="T31" fmla="*/ 146 h 212"/>
                  <a:gd name="T32" fmla="*/ 33 w 64"/>
                  <a:gd name="T33" fmla="*/ 142 h 212"/>
                  <a:gd name="T34" fmla="*/ 35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5 w 64"/>
                  <a:gd name="T51" fmla="*/ 105 h 212"/>
                  <a:gd name="T52" fmla="*/ 46 w 64"/>
                  <a:gd name="T53" fmla="*/ 102 h 212"/>
                  <a:gd name="T54" fmla="*/ 48 w 64"/>
                  <a:gd name="T55" fmla="*/ 98 h 212"/>
                  <a:gd name="T56" fmla="*/ 48 w 64"/>
                  <a:gd name="T57" fmla="*/ 95 h 212"/>
                  <a:gd name="T58" fmla="*/ 49 w 64"/>
                  <a:gd name="T59" fmla="*/ 92 h 212"/>
                  <a:gd name="T60" fmla="*/ 51 w 64"/>
                  <a:gd name="T61" fmla="*/ 89 h 212"/>
                  <a:gd name="T62" fmla="*/ 52 w 64"/>
                  <a:gd name="T63" fmla="*/ 84 h 212"/>
                  <a:gd name="T64" fmla="*/ 54 w 64"/>
                  <a:gd name="T65" fmla="*/ 78 h 212"/>
                  <a:gd name="T66" fmla="*/ 55 w 64"/>
                  <a:gd name="T67" fmla="*/ 75 h 212"/>
                  <a:gd name="T68" fmla="*/ 55 w 64"/>
                  <a:gd name="T69" fmla="*/ 71 h 212"/>
                  <a:gd name="T70" fmla="*/ 57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60 w 64"/>
                  <a:gd name="T79" fmla="*/ 55 h 212"/>
                  <a:gd name="T80" fmla="*/ 60 w 64"/>
                  <a:gd name="T81" fmla="*/ 50 h 212"/>
                  <a:gd name="T82" fmla="*/ 60 w 64"/>
                  <a:gd name="T83" fmla="*/ 46 h 212"/>
                  <a:gd name="T84" fmla="*/ 60 w 64"/>
                  <a:gd name="T85" fmla="*/ 43 h 212"/>
                  <a:gd name="T86" fmla="*/ 60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3 w 64"/>
                  <a:gd name="T97" fmla="*/ 28 h 212"/>
                  <a:gd name="T98" fmla="*/ 63 w 64"/>
                  <a:gd name="T99" fmla="*/ 26 h 212"/>
                  <a:gd name="T100" fmla="*/ 63 w 64"/>
                  <a:gd name="T101" fmla="*/ 24 h 212"/>
                  <a:gd name="T102" fmla="*/ 63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3 w 64"/>
                  <a:gd name="T113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5" y="204"/>
                    </a:lnTo>
                    <a:lnTo>
                      <a:pt x="5" y="203"/>
                    </a:lnTo>
                    <a:lnTo>
                      <a:pt x="6" y="201"/>
                    </a:lnTo>
                    <a:lnTo>
                      <a:pt x="8" y="200"/>
                    </a:lnTo>
                    <a:lnTo>
                      <a:pt x="8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1" y="194"/>
                    </a:lnTo>
                    <a:lnTo>
                      <a:pt x="11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89"/>
                    </a:lnTo>
                    <a:lnTo>
                      <a:pt x="14" y="188"/>
                    </a:lnTo>
                    <a:lnTo>
                      <a:pt x="14" y="188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7" y="183"/>
                    </a:lnTo>
                    <a:lnTo>
                      <a:pt x="17" y="182"/>
                    </a:lnTo>
                    <a:lnTo>
                      <a:pt x="17" y="182"/>
                    </a:lnTo>
                    <a:lnTo>
                      <a:pt x="17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20" y="176"/>
                    </a:lnTo>
                    <a:lnTo>
                      <a:pt x="20" y="175"/>
                    </a:lnTo>
                    <a:lnTo>
                      <a:pt x="20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3" y="169"/>
                    </a:lnTo>
                    <a:lnTo>
                      <a:pt x="23" y="169"/>
                    </a:lnTo>
                    <a:lnTo>
                      <a:pt x="23" y="167"/>
                    </a:lnTo>
                    <a:lnTo>
                      <a:pt x="23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6" y="163"/>
                    </a:lnTo>
                    <a:lnTo>
                      <a:pt x="26" y="161"/>
                    </a:lnTo>
                    <a:lnTo>
                      <a:pt x="26" y="161"/>
                    </a:lnTo>
                    <a:lnTo>
                      <a:pt x="26" y="160"/>
                    </a:lnTo>
                    <a:lnTo>
                      <a:pt x="26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7" y="155"/>
                    </a:lnTo>
                    <a:lnTo>
                      <a:pt x="29" y="154"/>
                    </a:lnTo>
                    <a:lnTo>
                      <a:pt x="29" y="154"/>
                    </a:lnTo>
                    <a:lnTo>
                      <a:pt x="29" y="152"/>
                    </a:lnTo>
                    <a:lnTo>
                      <a:pt x="29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2" y="146"/>
                    </a:lnTo>
                    <a:lnTo>
                      <a:pt x="32" y="145"/>
                    </a:lnTo>
                    <a:lnTo>
                      <a:pt x="32" y="143"/>
                    </a:lnTo>
                    <a:lnTo>
                      <a:pt x="32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5" y="139"/>
                    </a:lnTo>
                    <a:lnTo>
                      <a:pt x="35" y="138"/>
                    </a:lnTo>
                    <a:lnTo>
                      <a:pt x="35" y="136"/>
                    </a:lnTo>
                    <a:lnTo>
                      <a:pt x="35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5" y="108"/>
                    </a:lnTo>
                    <a:lnTo>
                      <a:pt x="45" y="106"/>
                    </a:lnTo>
                    <a:lnTo>
                      <a:pt x="45" y="105"/>
                    </a:lnTo>
                    <a:lnTo>
                      <a:pt x="45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8" y="99"/>
                    </a:lnTo>
                    <a:lnTo>
                      <a:pt x="48" y="98"/>
                    </a:lnTo>
                    <a:lnTo>
                      <a:pt x="48" y="98"/>
                    </a:lnTo>
                    <a:lnTo>
                      <a:pt x="48" y="96"/>
                    </a:lnTo>
                    <a:lnTo>
                      <a:pt x="48" y="96"/>
                    </a:lnTo>
                    <a:lnTo>
                      <a:pt x="48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1" y="89"/>
                    </a:lnTo>
                    <a:lnTo>
                      <a:pt x="51" y="89"/>
                    </a:lnTo>
                    <a:lnTo>
                      <a:pt x="51" y="87"/>
                    </a:lnTo>
                    <a:lnTo>
                      <a:pt x="51" y="86"/>
                    </a:lnTo>
                    <a:lnTo>
                      <a:pt x="51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2" y="80"/>
                    </a:lnTo>
                    <a:lnTo>
                      <a:pt x="54" y="78"/>
                    </a:lnTo>
                    <a:lnTo>
                      <a:pt x="54" y="78"/>
                    </a:lnTo>
                    <a:lnTo>
                      <a:pt x="54" y="77"/>
                    </a:lnTo>
                    <a:lnTo>
                      <a:pt x="54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7" y="69"/>
                    </a:lnTo>
                    <a:lnTo>
                      <a:pt x="57" y="68"/>
                    </a:lnTo>
                    <a:lnTo>
                      <a:pt x="57" y="68"/>
                    </a:lnTo>
                    <a:lnTo>
                      <a:pt x="57" y="66"/>
                    </a:lnTo>
                    <a:lnTo>
                      <a:pt x="57" y="66"/>
                    </a:lnTo>
                    <a:lnTo>
                      <a:pt x="57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8" y="56"/>
                    </a:lnTo>
                    <a:lnTo>
                      <a:pt x="60" y="56"/>
                    </a:lnTo>
                    <a:lnTo>
                      <a:pt x="60" y="55"/>
                    </a:lnTo>
                    <a:lnTo>
                      <a:pt x="60" y="53"/>
                    </a:lnTo>
                    <a:lnTo>
                      <a:pt x="60" y="53"/>
                    </a:lnTo>
                    <a:lnTo>
                      <a:pt x="60" y="52"/>
                    </a:lnTo>
                    <a:lnTo>
                      <a:pt x="60" y="50"/>
                    </a:lnTo>
                    <a:lnTo>
                      <a:pt x="60" y="49"/>
                    </a:lnTo>
                    <a:lnTo>
                      <a:pt x="60" y="49"/>
                    </a:lnTo>
                    <a:lnTo>
                      <a:pt x="60" y="47"/>
                    </a:lnTo>
                    <a:lnTo>
                      <a:pt x="60" y="46"/>
                    </a:lnTo>
                    <a:lnTo>
                      <a:pt x="60" y="46"/>
                    </a:lnTo>
                    <a:lnTo>
                      <a:pt x="60" y="44"/>
                    </a:lnTo>
                    <a:lnTo>
                      <a:pt x="60" y="43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60" y="41"/>
                    </a:lnTo>
                    <a:lnTo>
                      <a:pt x="60" y="40"/>
                    </a:lnTo>
                    <a:lnTo>
                      <a:pt x="60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6"/>
                    </a:lnTo>
                    <a:lnTo>
                      <a:pt x="63" y="25"/>
                    </a:lnTo>
                    <a:lnTo>
                      <a:pt x="63" y="25"/>
                    </a:lnTo>
                    <a:lnTo>
                      <a:pt x="63" y="24"/>
                    </a:lnTo>
                    <a:lnTo>
                      <a:pt x="63" y="24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1"/>
                    </a:lnTo>
                    <a:lnTo>
                      <a:pt x="63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3" y="1"/>
                    </a:lnTo>
                    <a:lnTo>
                      <a:pt x="63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1" name="Freeform 354"/>
              <p:cNvSpPr>
                <a:spLocks/>
              </p:cNvSpPr>
              <p:nvPr/>
            </p:nvSpPr>
            <p:spPr bwMode="auto">
              <a:xfrm>
                <a:off x="2915" y="2729"/>
                <a:ext cx="22" cy="71"/>
              </a:xfrm>
              <a:custGeom>
                <a:avLst/>
                <a:gdLst>
                  <a:gd name="T0" fmla="*/ 4 w 64"/>
                  <a:gd name="T1" fmla="*/ 8 h 212"/>
                  <a:gd name="T2" fmla="*/ 7 w 64"/>
                  <a:gd name="T3" fmla="*/ 13 h 212"/>
                  <a:gd name="T4" fmla="*/ 10 w 64"/>
                  <a:gd name="T5" fmla="*/ 19 h 212"/>
                  <a:gd name="T6" fmla="*/ 13 w 64"/>
                  <a:gd name="T7" fmla="*/ 24 h 212"/>
                  <a:gd name="T8" fmla="*/ 15 w 64"/>
                  <a:gd name="T9" fmla="*/ 27 h 212"/>
                  <a:gd name="T10" fmla="*/ 16 w 64"/>
                  <a:gd name="T11" fmla="*/ 30 h 212"/>
                  <a:gd name="T12" fmla="*/ 18 w 64"/>
                  <a:gd name="T13" fmla="*/ 34 h 212"/>
                  <a:gd name="T14" fmla="*/ 19 w 64"/>
                  <a:gd name="T15" fmla="*/ 39 h 212"/>
                  <a:gd name="T16" fmla="*/ 21 w 64"/>
                  <a:gd name="T17" fmla="*/ 42 h 212"/>
                  <a:gd name="T18" fmla="*/ 22 w 64"/>
                  <a:gd name="T19" fmla="*/ 46 h 212"/>
                  <a:gd name="T20" fmla="*/ 24 w 64"/>
                  <a:gd name="T21" fmla="*/ 49 h 212"/>
                  <a:gd name="T22" fmla="*/ 25 w 64"/>
                  <a:gd name="T23" fmla="*/ 52 h 212"/>
                  <a:gd name="T24" fmla="*/ 27 w 64"/>
                  <a:gd name="T25" fmla="*/ 55 h 212"/>
                  <a:gd name="T26" fmla="*/ 28 w 64"/>
                  <a:gd name="T27" fmla="*/ 58 h 212"/>
                  <a:gd name="T28" fmla="*/ 30 w 64"/>
                  <a:gd name="T29" fmla="*/ 61 h 212"/>
                  <a:gd name="T30" fmla="*/ 31 w 64"/>
                  <a:gd name="T31" fmla="*/ 65 h 212"/>
                  <a:gd name="T32" fmla="*/ 33 w 64"/>
                  <a:gd name="T33" fmla="*/ 70 h 212"/>
                  <a:gd name="T34" fmla="*/ 34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4 w 64"/>
                  <a:gd name="T51" fmla="*/ 107 h 212"/>
                  <a:gd name="T52" fmla="*/ 46 w 64"/>
                  <a:gd name="T53" fmla="*/ 111 h 212"/>
                  <a:gd name="T54" fmla="*/ 47 w 64"/>
                  <a:gd name="T55" fmla="*/ 114 h 212"/>
                  <a:gd name="T56" fmla="*/ 47 w 64"/>
                  <a:gd name="T57" fmla="*/ 117 h 212"/>
                  <a:gd name="T58" fmla="*/ 49 w 64"/>
                  <a:gd name="T59" fmla="*/ 120 h 212"/>
                  <a:gd name="T60" fmla="*/ 50 w 64"/>
                  <a:gd name="T61" fmla="*/ 123 h 212"/>
                  <a:gd name="T62" fmla="*/ 52 w 64"/>
                  <a:gd name="T63" fmla="*/ 127 h 212"/>
                  <a:gd name="T64" fmla="*/ 53 w 64"/>
                  <a:gd name="T65" fmla="*/ 133 h 212"/>
                  <a:gd name="T66" fmla="*/ 55 w 64"/>
                  <a:gd name="T67" fmla="*/ 138 h 212"/>
                  <a:gd name="T68" fmla="*/ 56 w 64"/>
                  <a:gd name="T69" fmla="*/ 142 h 212"/>
                  <a:gd name="T70" fmla="*/ 56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59 w 64"/>
                  <a:gd name="T79" fmla="*/ 157 h 212"/>
                  <a:gd name="T80" fmla="*/ 59 w 64"/>
                  <a:gd name="T81" fmla="*/ 162 h 212"/>
                  <a:gd name="T82" fmla="*/ 59 w 64"/>
                  <a:gd name="T83" fmla="*/ 166 h 212"/>
                  <a:gd name="T84" fmla="*/ 59 w 64"/>
                  <a:gd name="T85" fmla="*/ 169 h 212"/>
                  <a:gd name="T86" fmla="*/ 59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2 w 64"/>
                  <a:gd name="T97" fmla="*/ 184 h 212"/>
                  <a:gd name="T98" fmla="*/ 62 w 64"/>
                  <a:gd name="T99" fmla="*/ 187 h 212"/>
                  <a:gd name="T100" fmla="*/ 62 w 64"/>
                  <a:gd name="T101" fmla="*/ 188 h 212"/>
                  <a:gd name="T102" fmla="*/ 64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2 w 64"/>
                  <a:gd name="T113" fmla="*/ 207 h 212"/>
                  <a:gd name="T114" fmla="*/ 0 w 64"/>
                  <a:gd name="T115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2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0" y="18"/>
                    </a:lnTo>
                    <a:lnTo>
                      <a:pt x="10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3" y="24"/>
                    </a:lnTo>
                    <a:lnTo>
                      <a:pt x="13" y="24"/>
                    </a:lnTo>
                    <a:lnTo>
                      <a:pt x="13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6" y="2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19" y="36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2" y="43"/>
                    </a:lnTo>
                    <a:lnTo>
                      <a:pt x="22" y="43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5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2"/>
                    </a:lnTo>
                    <a:lnTo>
                      <a:pt x="25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8" y="58"/>
                    </a:lnTo>
                    <a:lnTo>
                      <a:pt x="28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1" y="65"/>
                    </a:lnTo>
                    <a:lnTo>
                      <a:pt x="31" y="67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4" y="73"/>
                    </a:lnTo>
                    <a:lnTo>
                      <a:pt x="34" y="74"/>
                    </a:lnTo>
                    <a:lnTo>
                      <a:pt x="34" y="76"/>
                    </a:lnTo>
                    <a:lnTo>
                      <a:pt x="34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0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4" y="104"/>
                    </a:lnTo>
                    <a:lnTo>
                      <a:pt x="44" y="105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7" y="113"/>
                    </a:lnTo>
                    <a:lnTo>
                      <a:pt x="47" y="114"/>
                    </a:lnTo>
                    <a:lnTo>
                      <a:pt x="47" y="114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0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6"/>
                    </a:lnTo>
                    <a:lnTo>
                      <a:pt x="52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3" y="132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5"/>
                    </a:lnTo>
                    <a:lnTo>
                      <a:pt x="53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6" y="142"/>
                    </a:lnTo>
                    <a:lnTo>
                      <a:pt x="56" y="142"/>
                    </a:lnTo>
                    <a:lnTo>
                      <a:pt x="56" y="144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6" y="147"/>
                    </a:lnTo>
                    <a:lnTo>
                      <a:pt x="58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9" y="156"/>
                    </a:lnTo>
                    <a:lnTo>
                      <a:pt x="59" y="157"/>
                    </a:lnTo>
                    <a:lnTo>
                      <a:pt x="59" y="157"/>
                    </a:lnTo>
                    <a:lnTo>
                      <a:pt x="59" y="159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2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6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9"/>
                    </a:lnTo>
                    <a:lnTo>
                      <a:pt x="59" y="169"/>
                    </a:lnTo>
                    <a:lnTo>
                      <a:pt x="59" y="170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2" y="184"/>
                    </a:lnTo>
                    <a:lnTo>
                      <a:pt x="62" y="184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7"/>
                    </a:lnTo>
                    <a:lnTo>
                      <a:pt x="62" y="187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90"/>
                    </a:lnTo>
                    <a:lnTo>
                      <a:pt x="62" y="190"/>
                    </a:lnTo>
                    <a:lnTo>
                      <a:pt x="62" y="191"/>
                    </a:lnTo>
                    <a:lnTo>
                      <a:pt x="64" y="191"/>
                    </a:lnTo>
                    <a:lnTo>
                      <a:pt x="64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4" y="204"/>
                    </a:lnTo>
                    <a:lnTo>
                      <a:pt x="64" y="204"/>
                    </a:lnTo>
                    <a:lnTo>
                      <a:pt x="62" y="206"/>
                    </a:lnTo>
                    <a:lnTo>
                      <a:pt x="62" y="207"/>
                    </a:lnTo>
                    <a:lnTo>
                      <a:pt x="62" y="209"/>
                    </a:lnTo>
                    <a:lnTo>
                      <a:pt x="62" y="210"/>
                    </a:lnTo>
                    <a:lnTo>
                      <a:pt x="62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2" name="Freeform 355"/>
              <p:cNvSpPr>
                <a:spLocks/>
              </p:cNvSpPr>
              <p:nvPr/>
            </p:nvSpPr>
            <p:spPr bwMode="auto">
              <a:xfrm>
                <a:off x="2915" y="2729"/>
                <a:ext cx="22" cy="71"/>
              </a:xfrm>
              <a:custGeom>
                <a:avLst/>
                <a:gdLst>
                  <a:gd name="T0" fmla="*/ 4 w 64"/>
                  <a:gd name="T1" fmla="*/ 8 h 212"/>
                  <a:gd name="T2" fmla="*/ 7 w 64"/>
                  <a:gd name="T3" fmla="*/ 13 h 212"/>
                  <a:gd name="T4" fmla="*/ 10 w 64"/>
                  <a:gd name="T5" fmla="*/ 19 h 212"/>
                  <a:gd name="T6" fmla="*/ 13 w 64"/>
                  <a:gd name="T7" fmla="*/ 24 h 212"/>
                  <a:gd name="T8" fmla="*/ 15 w 64"/>
                  <a:gd name="T9" fmla="*/ 27 h 212"/>
                  <a:gd name="T10" fmla="*/ 16 w 64"/>
                  <a:gd name="T11" fmla="*/ 30 h 212"/>
                  <a:gd name="T12" fmla="*/ 18 w 64"/>
                  <a:gd name="T13" fmla="*/ 34 h 212"/>
                  <a:gd name="T14" fmla="*/ 19 w 64"/>
                  <a:gd name="T15" fmla="*/ 39 h 212"/>
                  <a:gd name="T16" fmla="*/ 21 w 64"/>
                  <a:gd name="T17" fmla="*/ 42 h 212"/>
                  <a:gd name="T18" fmla="*/ 22 w 64"/>
                  <a:gd name="T19" fmla="*/ 46 h 212"/>
                  <a:gd name="T20" fmla="*/ 24 w 64"/>
                  <a:gd name="T21" fmla="*/ 49 h 212"/>
                  <a:gd name="T22" fmla="*/ 25 w 64"/>
                  <a:gd name="T23" fmla="*/ 52 h 212"/>
                  <a:gd name="T24" fmla="*/ 27 w 64"/>
                  <a:gd name="T25" fmla="*/ 55 h 212"/>
                  <a:gd name="T26" fmla="*/ 28 w 64"/>
                  <a:gd name="T27" fmla="*/ 58 h 212"/>
                  <a:gd name="T28" fmla="*/ 30 w 64"/>
                  <a:gd name="T29" fmla="*/ 61 h 212"/>
                  <a:gd name="T30" fmla="*/ 31 w 64"/>
                  <a:gd name="T31" fmla="*/ 65 h 212"/>
                  <a:gd name="T32" fmla="*/ 33 w 64"/>
                  <a:gd name="T33" fmla="*/ 70 h 212"/>
                  <a:gd name="T34" fmla="*/ 34 w 64"/>
                  <a:gd name="T35" fmla="*/ 76 h 212"/>
                  <a:gd name="T36" fmla="*/ 36 w 64"/>
                  <a:gd name="T37" fmla="*/ 79 h 212"/>
                  <a:gd name="T38" fmla="*/ 37 w 64"/>
                  <a:gd name="T39" fmla="*/ 83 h 212"/>
                  <a:gd name="T40" fmla="*/ 39 w 64"/>
                  <a:gd name="T41" fmla="*/ 86 h 212"/>
                  <a:gd name="T42" fmla="*/ 39 w 64"/>
                  <a:gd name="T43" fmla="*/ 89 h 212"/>
                  <a:gd name="T44" fmla="*/ 40 w 64"/>
                  <a:gd name="T45" fmla="*/ 92 h 212"/>
                  <a:gd name="T46" fmla="*/ 42 w 64"/>
                  <a:gd name="T47" fmla="*/ 96 h 212"/>
                  <a:gd name="T48" fmla="*/ 43 w 64"/>
                  <a:gd name="T49" fmla="*/ 101 h 212"/>
                  <a:gd name="T50" fmla="*/ 44 w 64"/>
                  <a:gd name="T51" fmla="*/ 107 h 212"/>
                  <a:gd name="T52" fmla="*/ 46 w 64"/>
                  <a:gd name="T53" fmla="*/ 111 h 212"/>
                  <a:gd name="T54" fmla="*/ 47 w 64"/>
                  <a:gd name="T55" fmla="*/ 114 h 212"/>
                  <a:gd name="T56" fmla="*/ 47 w 64"/>
                  <a:gd name="T57" fmla="*/ 117 h 212"/>
                  <a:gd name="T58" fmla="*/ 49 w 64"/>
                  <a:gd name="T59" fmla="*/ 120 h 212"/>
                  <a:gd name="T60" fmla="*/ 50 w 64"/>
                  <a:gd name="T61" fmla="*/ 123 h 212"/>
                  <a:gd name="T62" fmla="*/ 52 w 64"/>
                  <a:gd name="T63" fmla="*/ 127 h 212"/>
                  <a:gd name="T64" fmla="*/ 53 w 64"/>
                  <a:gd name="T65" fmla="*/ 133 h 212"/>
                  <a:gd name="T66" fmla="*/ 55 w 64"/>
                  <a:gd name="T67" fmla="*/ 138 h 212"/>
                  <a:gd name="T68" fmla="*/ 56 w 64"/>
                  <a:gd name="T69" fmla="*/ 142 h 212"/>
                  <a:gd name="T70" fmla="*/ 56 w 64"/>
                  <a:gd name="T71" fmla="*/ 145 h 212"/>
                  <a:gd name="T72" fmla="*/ 58 w 64"/>
                  <a:gd name="T73" fmla="*/ 148 h 212"/>
                  <a:gd name="T74" fmla="*/ 58 w 64"/>
                  <a:gd name="T75" fmla="*/ 151 h 212"/>
                  <a:gd name="T76" fmla="*/ 58 w 64"/>
                  <a:gd name="T77" fmla="*/ 154 h 212"/>
                  <a:gd name="T78" fmla="*/ 59 w 64"/>
                  <a:gd name="T79" fmla="*/ 157 h 212"/>
                  <a:gd name="T80" fmla="*/ 59 w 64"/>
                  <a:gd name="T81" fmla="*/ 162 h 212"/>
                  <a:gd name="T82" fmla="*/ 59 w 64"/>
                  <a:gd name="T83" fmla="*/ 166 h 212"/>
                  <a:gd name="T84" fmla="*/ 59 w 64"/>
                  <a:gd name="T85" fmla="*/ 169 h 212"/>
                  <a:gd name="T86" fmla="*/ 59 w 64"/>
                  <a:gd name="T87" fmla="*/ 173 h 212"/>
                  <a:gd name="T88" fmla="*/ 61 w 64"/>
                  <a:gd name="T89" fmla="*/ 175 h 212"/>
                  <a:gd name="T90" fmla="*/ 61 w 64"/>
                  <a:gd name="T91" fmla="*/ 178 h 212"/>
                  <a:gd name="T92" fmla="*/ 61 w 64"/>
                  <a:gd name="T93" fmla="*/ 179 h 212"/>
                  <a:gd name="T94" fmla="*/ 61 w 64"/>
                  <a:gd name="T95" fmla="*/ 181 h 212"/>
                  <a:gd name="T96" fmla="*/ 62 w 64"/>
                  <a:gd name="T97" fmla="*/ 184 h 212"/>
                  <a:gd name="T98" fmla="*/ 62 w 64"/>
                  <a:gd name="T99" fmla="*/ 187 h 212"/>
                  <a:gd name="T100" fmla="*/ 62 w 64"/>
                  <a:gd name="T101" fmla="*/ 188 h 212"/>
                  <a:gd name="T102" fmla="*/ 64 w 64"/>
                  <a:gd name="T103" fmla="*/ 191 h 212"/>
                  <a:gd name="T104" fmla="*/ 64 w 64"/>
                  <a:gd name="T105" fmla="*/ 193 h 212"/>
                  <a:gd name="T106" fmla="*/ 64 w 64"/>
                  <a:gd name="T107" fmla="*/ 196 h 212"/>
                  <a:gd name="T108" fmla="*/ 64 w 64"/>
                  <a:gd name="T109" fmla="*/ 199 h 212"/>
                  <a:gd name="T110" fmla="*/ 64 w 64"/>
                  <a:gd name="T111" fmla="*/ 203 h 212"/>
                  <a:gd name="T112" fmla="*/ 62 w 64"/>
                  <a:gd name="T113" fmla="*/ 20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0"/>
                    </a:moveTo>
                    <a:lnTo>
                      <a:pt x="2" y="3"/>
                    </a:lnTo>
                    <a:lnTo>
                      <a:pt x="3" y="5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2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0" y="18"/>
                    </a:lnTo>
                    <a:lnTo>
                      <a:pt x="10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3" y="22"/>
                    </a:lnTo>
                    <a:lnTo>
                      <a:pt x="13" y="24"/>
                    </a:lnTo>
                    <a:lnTo>
                      <a:pt x="13" y="24"/>
                    </a:lnTo>
                    <a:lnTo>
                      <a:pt x="13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6" y="2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8" y="34"/>
                    </a:lnTo>
                    <a:lnTo>
                      <a:pt x="19" y="36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1" y="42"/>
                    </a:lnTo>
                    <a:lnTo>
                      <a:pt x="22" y="43"/>
                    </a:lnTo>
                    <a:lnTo>
                      <a:pt x="22" y="43"/>
                    </a:lnTo>
                    <a:lnTo>
                      <a:pt x="22" y="45"/>
                    </a:lnTo>
                    <a:lnTo>
                      <a:pt x="22" y="46"/>
                    </a:lnTo>
                    <a:lnTo>
                      <a:pt x="24" y="46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24" y="49"/>
                    </a:lnTo>
                    <a:lnTo>
                      <a:pt x="25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2"/>
                    </a:lnTo>
                    <a:lnTo>
                      <a:pt x="25" y="52"/>
                    </a:lnTo>
                    <a:lnTo>
                      <a:pt x="27" y="53"/>
                    </a:lnTo>
                    <a:lnTo>
                      <a:pt x="27" y="53"/>
                    </a:lnTo>
                    <a:lnTo>
                      <a:pt x="27" y="55"/>
                    </a:lnTo>
                    <a:lnTo>
                      <a:pt x="27" y="55"/>
                    </a:lnTo>
                    <a:lnTo>
                      <a:pt x="27" y="56"/>
                    </a:lnTo>
                    <a:lnTo>
                      <a:pt x="27" y="56"/>
                    </a:lnTo>
                    <a:lnTo>
                      <a:pt x="28" y="58"/>
                    </a:lnTo>
                    <a:lnTo>
                      <a:pt x="28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30" y="61"/>
                    </a:lnTo>
                    <a:lnTo>
                      <a:pt x="30" y="62"/>
                    </a:lnTo>
                    <a:lnTo>
                      <a:pt x="30" y="64"/>
                    </a:lnTo>
                    <a:lnTo>
                      <a:pt x="30" y="65"/>
                    </a:lnTo>
                    <a:lnTo>
                      <a:pt x="31" y="65"/>
                    </a:lnTo>
                    <a:lnTo>
                      <a:pt x="31" y="67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70"/>
                    </a:lnTo>
                    <a:lnTo>
                      <a:pt x="33" y="71"/>
                    </a:lnTo>
                    <a:lnTo>
                      <a:pt x="34" y="73"/>
                    </a:lnTo>
                    <a:lnTo>
                      <a:pt x="34" y="74"/>
                    </a:lnTo>
                    <a:lnTo>
                      <a:pt x="34" y="76"/>
                    </a:lnTo>
                    <a:lnTo>
                      <a:pt x="34" y="76"/>
                    </a:lnTo>
                    <a:lnTo>
                      <a:pt x="36" y="77"/>
                    </a:lnTo>
                    <a:lnTo>
                      <a:pt x="36" y="79"/>
                    </a:lnTo>
                    <a:lnTo>
                      <a:pt x="36" y="79"/>
                    </a:lnTo>
                    <a:lnTo>
                      <a:pt x="36" y="80"/>
                    </a:lnTo>
                    <a:lnTo>
                      <a:pt x="37" y="80"/>
                    </a:lnTo>
                    <a:lnTo>
                      <a:pt x="37" y="82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39" y="86"/>
                    </a:lnTo>
                    <a:lnTo>
                      <a:pt x="39" y="86"/>
                    </a:lnTo>
                    <a:lnTo>
                      <a:pt x="39" y="87"/>
                    </a:lnTo>
                    <a:lnTo>
                      <a:pt x="39" y="87"/>
                    </a:lnTo>
                    <a:lnTo>
                      <a:pt x="39" y="89"/>
                    </a:lnTo>
                    <a:lnTo>
                      <a:pt x="40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2" y="95"/>
                    </a:lnTo>
                    <a:lnTo>
                      <a:pt x="42" y="95"/>
                    </a:lnTo>
                    <a:lnTo>
                      <a:pt x="42" y="96"/>
                    </a:lnTo>
                    <a:lnTo>
                      <a:pt x="42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4" y="104"/>
                    </a:lnTo>
                    <a:lnTo>
                      <a:pt x="44" y="105"/>
                    </a:lnTo>
                    <a:lnTo>
                      <a:pt x="44" y="107"/>
                    </a:lnTo>
                    <a:lnTo>
                      <a:pt x="44" y="107"/>
                    </a:lnTo>
                    <a:lnTo>
                      <a:pt x="46" y="108"/>
                    </a:lnTo>
                    <a:lnTo>
                      <a:pt x="46" y="110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3"/>
                    </a:lnTo>
                    <a:lnTo>
                      <a:pt x="47" y="113"/>
                    </a:lnTo>
                    <a:lnTo>
                      <a:pt x="47" y="114"/>
                    </a:lnTo>
                    <a:lnTo>
                      <a:pt x="47" y="114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7"/>
                    </a:lnTo>
                    <a:lnTo>
                      <a:pt x="49" y="117"/>
                    </a:lnTo>
                    <a:lnTo>
                      <a:pt x="49" y="119"/>
                    </a:lnTo>
                    <a:lnTo>
                      <a:pt x="49" y="119"/>
                    </a:lnTo>
                    <a:lnTo>
                      <a:pt x="49" y="120"/>
                    </a:lnTo>
                    <a:lnTo>
                      <a:pt x="49" y="122"/>
                    </a:lnTo>
                    <a:lnTo>
                      <a:pt x="49" y="122"/>
                    </a:lnTo>
                    <a:lnTo>
                      <a:pt x="50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6"/>
                    </a:lnTo>
                    <a:lnTo>
                      <a:pt x="52" y="126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3" y="132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5"/>
                    </a:lnTo>
                    <a:lnTo>
                      <a:pt x="53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6" y="142"/>
                    </a:lnTo>
                    <a:lnTo>
                      <a:pt x="56" y="142"/>
                    </a:lnTo>
                    <a:lnTo>
                      <a:pt x="56" y="144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6" y="147"/>
                    </a:lnTo>
                    <a:lnTo>
                      <a:pt x="58" y="147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48"/>
                    </a:lnTo>
                    <a:lnTo>
                      <a:pt x="58" y="150"/>
                    </a:lnTo>
                    <a:lnTo>
                      <a:pt x="58" y="150"/>
                    </a:lnTo>
                    <a:lnTo>
                      <a:pt x="58" y="151"/>
                    </a:lnTo>
                    <a:lnTo>
                      <a:pt x="58" y="151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8" y="154"/>
                    </a:lnTo>
                    <a:lnTo>
                      <a:pt x="58" y="154"/>
                    </a:lnTo>
                    <a:lnTo>
                      <a:pt x="59" y="156"/>
                    </a:lnTo>
                    <a:lnTo>
                      <a:pt x="59" y="157"/>
                    </a:lnTo>
                    <a:lnTo>
                      <a:pt x="59" y="157"/>
                    </a:lnTo>
                    <a:lnTo>
                      <a:pt x="59" y="159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2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6"/>
                    </a:lnTo>
                    <a:lnTo>
                      <a:pt x="59" y="167"/>
                    </a:lnTo>
                    <a:lnTo>
                      <a:pt x="59" y="167"/>
                    </a:lnTo>
                    <a:lnTo>
                      <a:pt x="59" y="169"/>
                    </a:lnTo>
                    <a:lnTo>
                      <a:pt x="59" y="169"/>
                    </a:lnTo>
                    <a:lnTo>
                      <a:pt x="59" y="170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3"/>
                    </a:lnTo>
                    <a:lnTo>
                      <a:pt x="61" y="173"/>
                    </a:lnTo>
                    <a:lnTo>
                      <a:pt x="61" y="173"/>
                    </a:lnTo>
                    <a:lnTo>
                      <a:pt x="61" y="175"/>
                    </a:lnTo>
                    <a:lnTo>
                      <a:pt x="61" y="175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6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8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79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1"/>
                    </a:lnTo>
                    <a:lnTo>
                      <a:pt x="61" y="182"/>
                    </a:lnTo>
                    <a:lnTo>
                      <a:pt x="61" y="182"/>
                    </a:lnTo>
                    <a:lnTo>
                      <a:pt x="62" y="184"/>
                    </a:lnTo>
                    <a:lnTo>
                      <a:pt x="62" y="184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7"/>
                    </a:lnTo>
                    <a:lnTo>
                      <a:pt x="62" y="187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90"/>
                    </a:lnTo>
                    <a:lnTo>
                      <a:pt x="62" y="190"/>
                    </a:lnTo>
                    <a:lnTo>
                      <a:pt x="62" y="191"/>
                    </a:lnTo>
                    <a:lnTo>
                      <a:pt x="64" y="191"/>
                    </a:lnTo>
                    <a:lnTo>
                      <a:pt x="64" y="191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3"/>
                    </a:lnTo>
                    <a:lnTo>
                      <a:pt x="64" y="194"/>
                    </a:lnTo>
                    <a:lnTo>
                      <a:pt x="64" y="194"/>
                    </a:lnTo>
                    <a:lnTo>
                      <a:pt x="64" y="196"/>
                    </a:lnTo>
                    <a:lnTo>
                      <a:pt x="64" y="196"/>
                    </a:lnTo>
                    <a:lnTo>
                      <a:pt x="64" y="197"/>
                    </a:lnTo>
                    <a:lnTo>
                      <a:pt x="64" y="197"/>
                    </a:lnTo>
                    <a:lnTo>
                      <a:pt x="64" y="199"/>
                    </a:lnTo>
                    <a:lnTo>
                      <a:pt x="64" y="199"/>
                    </a:lnTo>
                    <a:lnTo>
                      <a:pt x="64" y="200"/>
                    </a:lnTo>
                    <a:lnTo>
                      <a:pt x="64" y="200"/>
                    </a:lnTo>
                    <a:lnTo>
                      <a:pt x="64" y="201"/>
                    </a:lnTo>
                    <a:lnTo>
                      <a:pt x="64" y="203"/>
                    </a:lnTo>
                    <a:lnTo>
                      <a:pt x="64" y="204"/>
                    </a:lnTo>
                    <a:lnTo>
                      <a:pt x="64" y="204"/>
                    </a:lnTo>
                    <a:lnTo>
                      <a:pt x="62" y="206"/>
                    </a:lnTo>
                    <a:lnTo>
                      <a:pt x="62" y="207"/>
                    </a:lnTo>
                    <a:lnTo>
                      <a:pt x="62" y="209"/>
                    </a:lnTo>
                    <a:lnTo>
                      <a:pt x="62" y="210"/>
                    </a:lnTo>
                    <a:lnTo>
                      <a:pt x="62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3" name="Freeform 356"/>
              <p:cNvSpPr>
                <a:spLocks/>
              </p:cNvSpPr>
              <p:nvPr/>
            </p:nvSpPr>
            <p:spPr bwMode="auto">
              <a:xfrm>
                <a:off x="2915" y="2800"/>
                <a:ext cx="22" cy="71"/>
              </a:xfrm>
              <a:custGeom>
                <a:avLst/>
                <a:gdLst>
                  <a:gd name="T0" fmla="*/ 4 w 64"/>
                  <a:gd name="T1" fmla="*/ 204 h 212"/>
                  <a:gd name="T2" fmla="*/ 7 w 64"/>
                  <a:gd name="T3" fmla="*/ 198 h 212"/>
                  <a:gd name="T4" fmla="*/ 10 w 64"/>
                  <a:gd name="T5" fmla="*/ 192 h 212"/>
                  <a:gd name="T6" fmla="*/ 13 w 64"/>
                  <a:gd name="T7" fmla="*/ 188 h 212"/>
                  <a:gd name="T8" fmla="*/ 15 w 64"/>
                  <a:gd name="T9" fmla="*/ 185 h 212"/>
                  <a:gd name="T10" fmla="*/ 16 w 64"/>
                  <a:gd name="T11" fmla="*/ 182 h 212"/>
                  <a:gd name="T12" fmla="*/ 18 w 64"/>
                  <a:gd name="T13" fmla="*/ 178 h 212"/>
                  <a:gd name="T14" fmla="*/ 19 w 64"/>
                  <a:gd name="T15" fmla="*/ 175 h 212"/>
                  <a:gd name="T16" fmla="*/ 21 w 64"/>
                  <a:gd name="T17" fmla="*/ 170 h 212"/>
                  <a:gd name="T18" fmla="*/ 22 w 64"/>
                  <a:gd name="T19" fmla="*/ 166 h 212"/>
                  <a:gd name="T20" fmla="*/ 24 w 64"/>
                  <a:gd name="T21" fmla="*/ 163 h 212"/>
                  <a:gd name="T22" fmla="*/ 25 w 64"/>
                  <a:gd name="T23" fmla="*/ 160 h 212"/>
                  <a:gd name="T24" fmla="*/ 27 w 64"/>
                  <a:gd name="T25" fmla="*/ 157 h 212"/>
                  <a:gd name="T26" fmla="*/ 28 w 64"/>
                  <a:gd name="T27" fmla="*/ 154 h 212"/>
                  <a:gd name="T28" fmla="*/ 30 w 64"/>
                  <a:gd name="T29" fmla="*/ 151 h 212"/>
                  <a:gd name="T30" fmla="*/ 31 w 64"/>
                  <a:gd name="T31" fmla="*/ 146 h 212"/>
                  <a:gd name="T32" fmla="*/ 33 w 64"/>
                  <a:gd name="T33" fmla="*/ 142 h 212"/>
                  <a:gd name="T34" fmla="*/ 34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4 w 64"/>
                  <a:gd name="T51" fmla="*/ 105 h 212"/>
                  <a:gd name="T52" fmla="*/ 46 w 64"/>
                  <a:gd name="T53" fmla="*/ 102 h 212"/>
                  <a:gd name="T54" fmla="*/ 47 w 64"/>
                  <a:gd name="T55" fmla="*/ 98 h 212"/>
                  <a:gd name="T56" fmla="*/ 47 w 64"/>
                  <a:gd name="T57" fmla="*/ 95 h 212"/>
                  <a:gd name="T58" fmla="*/ 49 w 64"/>
                  <a:gd name="T59" fmla="*/ 92 h 212"/>
                  <a:gd name="T60" fmla="*/ 50 w 64"/>
                  <a:gd name="T61" fmla="*/ 89 h 212"/>
                  <a:gd name="T62" fmla="*/ 52 w 64"/>
                  <a:gd name="T63" fmla="*/ 84 h 212"/>
                  <a:gd name="T64" fmla="*/ 53 w 64"/>
                  <a:gd name="T65" fmla="*/ 78 h 212"/>
                  <a:gd name="T66" fmla="*/ 55 w 64"/>
                  <a:gd name="T67" fmla="*/ 75 h 212"/>
                  <a:gd name="T68" fmla="*/ 56 w 64"/>
                  <a:gd name="T69" fmla="*/ 71 h 212"/>
                  <a:gd name="T70" fmla="*/ 56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59 w 64"/>
                  <a:gd name="T79" fmla="*/ 55 h 212"/>
                  <a:gd name="T80" fmla="*/ 59 w 64"/>
                  <a:gd name="T81" fmla="*/ 50 h 212"/>
                  <a:gd name="T82" fmla="*/ 59 w 64"/>
                  <a:gd name="T83" fmla="*/ 46 h 212"/>
                  <a:gd name="T84" fmla="*/ 59 w 64"/>
                  <a:gd name="T85" fmla="*/ 43 h 212"/>
                  <a:gd name="T86" fmla="*/ 59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2 w 64"/>
                  <a:gd name="T97" fmla="*/ 28 h 212"/>
                  <a:gd name="T98" fmla="*/ 62 w 64"/>
                  <a:gd name="T99" fmla="*/ 26 h 212"/>
                  <a:gd name="T100" fmla="*/ 62 w 64"/>
                  <a:gd name="T101" fmla="*/ 24 h 212"/>
                  <a:gd name="T102" fmla="*/ 64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2 w 64"/>
                  <a:gd name="T113" fmla="*/ 4 h 212"/>
                  <a:gd name="T114" fmla="*/ 0 w 64"/>
                  <a:gd name="T115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4" y="204"/>
                    </a:lnTo>
                    <a:lnTo>
                      <a:pt x="4" y="203"/>
                    </a:lnTo>
                    <a:lnTo>
                      <a:pt x="6" y="201"/>
                    </a:lnTo>
                    <a:lnTo>
                      <a:pt x="7" y="200"/>
                    </a:lnTo>
                    <a:lnTo>
                      <a:pt x="7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0" y="194"/>
                    </a:lnTo>
                    <a:lnTo>
                      <a:pt x="10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3" y="189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6" y="183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19" y="176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2" y="169"/>
                    </a:lnTo>
                    <a:lnTo>
                      <a:pt x="22" y="169"/>
                    </a:lnTo>
                    <a:lnTo>
                      <a:pt x="22" y="167"/>
                    </a:lnTo>
                    <a:lnTo>
                      <a:pt x="22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5" y="163"/>
                    </a:lnTo>
                    <a:lnTo>
                      <a:pt x="25" y="161"/>
                    </a:lnTo>
                    <a:lnTo>
                      <a:pt x="25" y="161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7" y="155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1" y="146"/>
                    </a:lnTo>
                    <a:lnTo>
                      <a:pt x="31" y="145"/>
                    </a:lnTo>
                    <a:lnTo>
                      <a:pt x="31" y="143"/>
                    </a:lnTo>
                    <a:lnTo>
                      <a:pt x="31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4" y="139"/>
                    </a:lnTo>
                    <a:lnTo>
                      <a:pt x="34" y="138"/>
                    </a:lnTo>
                    <a:lnTo>
                      <a:pt x="34" y="136"/>
                    </a:lnTo>
                    <a:lnTo>
                      <a:pt x="34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4" y="108"/>
                    </a:lnTo>
                    <a:lnTo>
                      <a:pt x="44" y="106"/>
                    </a:lnTo>
                    <a:lnTo>
                      <a:pt x="44" y="105"/>
                    </a:lnTo>
                    <a:lnTo>
                      <a:pt x="44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7" y="99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6"/>
                    </a:lnTo>
                    <a:lnTo>
                      <a:pt x="47" y="96"/>
                    </a:lnTo>
                    <a:lnTo>
                      <a:pt x="47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0" y="89"/>
                    </a:lnTo>
                    <a:lnTo>
                      <a:pt x="50" y="89"/>
                    </a:lnTo>
                    <a:lnTo>
                      <a:pt x="50" y="87"/>
                    </a:lnTo>
                    <a:lnTo>
                      <a:pt x="50" y="86"/>
                    </a:lnTo>
                    <a:lnTo>
                      <a:pt x="52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3" y="80"/>
                    </a:lnTo>
                    <a:lnTo>
                      <a:pt x="53" y="78"/>
                    </a:lnTo>
                    <a:lnTo>
                      <a:pt x="53" y="78"/>
                    </a:lnTo>
                    <a:lnTo>
                      <a:pt x="53" y="77"/>
                    </a:lnTo>
                    <a:lnTo>
                      <a:pt x="53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6" y="71"/>
                    </a:lnTo>
                    <a:lnTo>
                      <a:pt x="56" y="69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6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9" y="56"/>
                    </a:lnTo>
                    <a:lnTo>
                      <a:pt x="59" y="56"/>
                    </a:lnTo>
                    <a:lnTo>
                      <a:pt x="59" y="55"/>
                    </a:lnTo>
                    <a:lnTo>
                      <a:pt x="59" y="53"/>
                    </a:lnTo>
                    <a:lnTo>
                      <a:pt x="59" y="53"/>
                    </a:lnTo>
                    <a:lnTo>
                      <a:pt x="59" y="52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7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4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1"/>
                    </a:lnTo>
                    <a:lnTo>
                      <a:pt x="59" y="41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5"/>
                    </a:lnTo>
                    <a:lnTo>
                      <a:pt x="62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3"/>
                    </a:lnTo>
                    <a:lnTo>
                      <a:pt x="62" y="1"/>
                    </a:lnTo>
                    <a:lnTo>
                      <a:pt x="62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4" name="Freeform 357"/>
              <p:cNvSpPr>
                <a:spLocks/>
              </p:cNvSpPr>
              <p:nvPr/>
            </p:nvSpPr>
            <p:spPr bwMode="auto">
              <a:xfrm>
                <a:off x="2915" y="2800"/>
                <a:ext cx="22" cy="71"/>
              </a:xfrm>
              <a:custGeom>
                <a:avLst/>
                <a:gdLst>
                  <a:gd name="T0" fmla="*/ 4 w 64"/>
                  <a:gd name="T1" fmla="*/ 204 h 212"/>
                  <a:gd name="T2" fmla="*/ 7 w 64"/>
                  <a:gd name="T3" fmla="*/ 198 h 212"/>
                  <a:gd name="T4" fmla="*/ 10 w 64"/>
                  <a:gd name="T5" fmla="*/ 192 h 212"/>
                  <a:gd name="T6" fmla="*/ 13 w 64"/>
                  <a:gd name="T7" fmla="*/ 188 h 212"/>
                  <a:gd name="T8" fmla="*/ 15 w 64"/>
                  <a:gd name="T9" fmla="*/ 185 h 212"/>
                  <a:gd name="T10" fmla="*/ 16 w 64"/>
                  <a:gd name="T11" fmla="*/ 182 h 212"/>
                  <a:gd name="T12" fmla="*/ 18 w 64"/>
                  <a:gd name="T13" fmla="*/ 178 h 212"/>
                  <a:gd name="T14" fmla="*/ 19 w 64"/>
                  <a:gd name="T15" fmla="*/ 175 h 212"/>
                  <a:gd name="T16" fmla="*/ 21 w 64"/>
                  <a:gd name="T17" fmla="*/ 170 h 212"/>
                  <a:gd name="T18" fmla="*/ 22 w 64"/>
                  <a:gd name="T19" fmla="*/ 166 h 212"/>
                  <a:gd name="T20" fmla="*/ 24 w 64"/>
                  <a:gd name="T21" fmla="*/ 163 h 212"/>
                  <a:gd name="T22" fmla="*/ 25 w 64"/>
                  <a:gd name="T23" fmla="*/ 160 h 212"/>
                  <a:gd name="T24" fmla="*/ 27 w 64"/>
                  <a:gd name="T25" fmla="*/ 157 h 212"/>
                  <a:gd name="T26" fmla="*/ 28 w 64"/>
                  <a:gd name="T27" fmla="*/ 154 h 212"/>
                  <a:gd name="T28" fmla="*/ 30 w 64"/>
                  <a:gd name="T29" fmla="*/ 151 h 212"/>
                  <a:gd name="T30" fmla="*/ 31 w 64"/>
                  <a:gd name="T31" fmla="*/ 146 h 212"/>
                  <a:gd name="T32" fmla="*/ 33 w 64"/>
                  <a:gd name="T33" fmla="*/ 142 h 212"/>
                  <a:gd name="T34" fmla="*/ 34 w 64"/>
                  <a:gd name="T35" fmla="*/ 136 h 212"/>
                  <a:gd name="T36" fmla="*/ 36 w 64"/>
                  <a:gd name="T37" fmla="*/ 133 h 212"/>
                  <a:gd name="T38" fmla="*/ 37 w 64"/>
                  <a:gd name="T39" fmla="*/ 129 h 212"/>
                  <a:gd name="T40" fmla="*/ 39 w 64"/>
                  <a:gd name="T41" fmla="*/ 126 h 212"/>
                  <a:gd name="T42" fmla="*/ 39 w 64"/>
                  <a:gd name="T43" fmla="*/ 123 h 212"/>
                  <a:gd name="T44" fmla="*/ 40 w 64"/>
                  <a:gd name="T45" fmla="*/ 120 h 212"/>
                  <a:gd name="T46" fmla="*/ 42 w 64"/>
                  <a:gd name="T47" fmla="*/ 115 h 212"/>
                  <a:gd name="T48" fmla="*/ 43 w 64"/>
                  <a:gd name="T49" fmla="*/ 111 h 212"/>
                  <a:gd name="T50" fmla="*/ 44 w 64"/>
                  <a:gd name="T51" fmla="*/ 105 h 212"/>
                  <a:gd name="T52" fmla="*/ 46 w 64"/>
                  <a:gd name="T53" fmla="*/ 102 h 212"/>
                  <a:gd name="T54" fmla="*/ 47 w 64"/>
                  <a:gd name="T55" fmla="*/ 98 h 212"/>
                  <a:gd name="T56" fmla="*/ 47 w 64"/>
                  <a:gd name="T57" fmla="*/ 95 h 212"/>
                  <a:gd name="T58" fmla="*/ 49 w 64"/>
                  <a:gd name="T59" fmla="*/ 92 h 212"/>
                  <a:gd name="T60" fmla="*/ 50 w 64"/>
                  <a:gd name="T61" fmla="*/ 89 h 212"/>
                  <a:gd name="T62" fmla="*/ 52 w 64"/>
                  <a:gd name="T63" fmla="*/ 84 h 212"/>
                  <a:gd name="T64" fmla="*/ 53 w 64"/>
                  <a:gd name="T65" fmla="*/ 78 h 212"/>
                  <a:gd name="T66" fmla="*/ 55 w 64"/>
                  <a:gd name="T67" fmla="*/ 75 h 212"/>
                  <a:gd name="T68" fmla="*/ 56 w 64"/>
                  <a:gd name="T69" fmla="*/ 71 h 212"/>
                  <a:gd name="T70" fmla="*/ 56 w 64"/>
                  <a:gd name="T71" fmla="*/ 66 h 212"/>
                  <a:gd name="T72" fmla="*/ 58 w 64"/>
                  <a:gd name="T73" fmla="*/ 64 h 212"/>
                  <a:gd name="T74" fmla="*/ 58 w 64"/>
                  <a:gd name="T75" fmla="*/ 61 h 212"/>
                  <a:gd name="T76" fmla="*/ 58 w 64"/>
                  <a:gd name="T77" fmla="*/ 58 h 212"/>
                  <a:gd name="T78" fmla="*/ 59 w 64"/>
                  <a:gd name="T79" fmla="*/ 55 h 212"/>
                  <a:gd name="T80" fmla="*/ 59 w 64"/>
                  <a:gd name="T81" fmla="*/ 50 h 212"/>
                  <a:gd name="T82" fmla="*/ 59 w 64"/>
                  <a:gd name="T83" fmla="*/ 46 h 212"/>
                  <a:gd name="T84" fmla="*/ 59 w 64"/>
                  <a:gd name="T85" fmla="*/ 43 h 212"/>
                  <a:gd name="T86" fmla="*/ 59 w 64"/>
                  <a:gd name="T87" fmla="*/ 40 h 212"/>
                  <a:gd name="T88" fmla="*/ 61 w 64"/>
                  <a:gd name="T89" fmla="*/ 37 h 212"/>
                  <a:gd name="T90" fmla="*/ 61 w 64"/>
                  <a:gd name="T91" fmla="*/ 34 h 212"/>
                  <a:gd name="T92" fmla="*/ 61 w 64"/>
                  <a:gd name="T93" fmla="*/ 32 h 212"/>
                  <a:gd name="T94" fmla="*/ 61 w 64"/>
                  <a:gd name="T95" fmla="*/ 31 h 212"/>
                  <a:gd name="T96" fmla="*/ 62 w 64"/>
                  <a:gd name="T97" fmla="*/ 28 h 212"/>
                  <a:gd name="T98" fmla="*/ 62 w 64"/>
                  <a:gd name="T99" fmla="*/ 26 h 212"/>
                  <a:gd name="T100" fmla="*/ 62 w 64"/>
                  <a:gd name="T101" fmla="*/ 24 h 212"/>
                  <a:gd name="T102" fmla="*/ 64 w 64"/>
                  <a:gd name="T103" fmla="*/ 21 h 212"/>
                  <a:gd name="T104" fmla="*/ 64 w 64"/>
                  <a:gd name="T105" fmla="*/ 19 h 212"/>
                  <a:gd name="T106" fmla="*/ 64 w 64"/>
                  <a:gd name="T107" fmla="*/ 16 h 212"/>
                  <a:gd name="T108" fmla="*/ 64 w 64"/>
                  <a:gd name="T109" fmla="*/ 13 h 212"/>
                  <a:gd name="T110" fmla="*/ 64 w 64"/>
                  <a:gd name="T111" fmla="*/ 9 h 212"/>
                  <a:gd name="T112" fmla="*/ 62 w 64"/>
                  <a:gd name="T113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" h="212">
                    <a:moveTo>
                      <a:pt x="0" y="212"/>
                    </a:moveTo>
                    <a:lnTo>
                      <a:pt x="2" y="209"/>
                    </a:lnTo>
                    <a:lnTo>
                      <a:pt x="3" y="207"/>
                    </a:lnTo>
                    <a:lnTo>
                      <a:pt x="4" y="204"/>
                    </a:lnTo>
                    <a:lnTo>
                      <a:pt x="4" y="203"/>
                    </a:lnTo>
                    <a:lnTo>
                      <a:pt x="6" y="201"/>
                    </a:lnTo>
                    <a:lnTo>
                      <a:pt x="7" y="200"/>
                    </a:lnTo>
                    <a:lnTo>
                      <a:pt x="7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0" y="194"/>
                    </a:lnTo>
                    <a:lnTo>
                      <a:pt x="10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3" y="189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6" y="183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0"/>
                    </a:lnTo>
                    <a:lnTo>
                      <a:pt x="18" y="180"/>
                    </a:lnTo>
                    <a:lnTo>
                      <a:pt x="18" y="179"/>
                    </a:lnTo>
                    <a:lnTo>
                      <a:pt x="18" y="178"/>
                    </a:lnTo>
                    <a:lnTo>
                      <a:pt x="18" y="178"/>
                    </a:lnTo>
                    <a:lnTo>
                      <a:pt x="19" y="176"/>
                    </a:lnTo>
                    <a:lnTo>
                      <a:pt x="19" y="175"/>
                    </a:lnTo>
                    <a:lnTo>
                      <a:pt x="19" y="175"/>
                    </a:lnTo>
                    <a:lnTo>
                      <a:pt x="21" y="173"/>
                    </a:lnTo>
                    <a:lnTo>
                      <a:pt x="21" y="173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2" y="169"/>
                    </a:lnTo>
                    <a:lnTo>
                      <a:pt x="22" y="169"/>
                    </a:lnTo>
                    <a:lnTo>
                      <a:pt x="22" y="167"/>
                    </a:lnTo>
                    <a:lnTo>
                      <a:pt x="22" y="166"/>
                    </a:lnTo>
                    <a:lnTo>
                      <a:pt x="24" y="166"/>
                    </a:lnTo>
                    <a:lnTo>
                      <a:pt x="24" y="164"/>
                    </a:lnTo>
                    <a:lnTo>
                      <a:pt x="24" y="164"/>
                    </a:lnTo>
                    <a:lnTo>
                      <a:pt x="24" y="163"/>
                    </a:lnTo>
                    <a:lnTo>
                      <a:pt x="25" y="163"/>
                    </a:lnTo>
                    <a:lnTo>
                      <a:pt x="25" y="161"/>
                    </a:lnTo>
                    <a:lnTo>
                      <a:pt x="25" y="161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7" y="158"/>
                    </a:lnTo>
                    <a:lnTo>
                      <a:pt x="27" y="158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7" y="155"/>
                    </a:lnTo>
                    <a:lnTo>
                      <a:pt x="27" y="155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2"/>
                    </a:lnTo>
                    <a:lnTo>
                      <a:pt x="28" y="152"/>
                    </a:lnTo>
                    <a:lnTo>
                      <a:pt x="30" y="151"/>
                    </a:lnTo>
                    <a:lnTo>
                      <a:pt x="30" y="149"/>
                    </a:lnTo>
                    <a:lnTo>
                      <a:pt x="30" y="148"/>
                    </a:lnTo>
                    <a:lnTo>
                      <a:pt x="30" y="148"/>
                    </a:lnTo>
                    <a:lnTo>
                      <a:pt x="31" y="146"/>
                    </a:lnTo>
                    <a:lnTo>
                      <a:pt x="31" y="145"/>
                    </a:lnTo>
                    <a:lnTo>
                      <a:pt x="31" y="143"/>
                    </a:lnTo>
                    <a:lnTo>
                      <a:pt x="31" y="143"/>
                    </a:lnTo>
                    <a:lnTo>
                      <a:pt x="33" y="142"/>
                    </a:lnTo>
                    <a:lnTo>
                      <a:pt x="33" y="140"/>
                    </a:lnTo>
                    <a:lnTo>
                      <a:pt x="34" y="139"/>
                    </a:lnTo>
                    <a:lnTo>
                      <a:pt x="34" y="138"/>
                    </a:lnTo>
                    <a:lnTo>
                      <a:pt x="34" y="136"/>
                    </a:lnTo>
                    <a:lnTo>
                      <a:pt x="34" y="136"/>
                    </a:lnTo>
                    <a:lnTo>
                      <a:pt x="36" y="135"/>
                    </a:lnTo>
                    <a:lnTo>
                      <a:pt x="36" y="133"/>
                    </a:lnTo>
                    <a:lnTo>
                      <a:pt x="36" y="133"/>
                    </a:lnTo>
                    <a:lnTo>
                      <a:pt x="36" y="132"/>
                    </a:lnTo>
                    <a:lnTo>
                      <a:pt x="37" y="132"/>
                    </a:lnTo>
                    <a:lnTo>
                      <a:pt x="37" y="130"/>
                    </a:lnTo>
                    <a:lnTo>
                      <a:pt x="37" y="129"/>
                    </a:lnTo>
                    <a:lnTo>
                      <a:pt x="37" y="129"/>
                    </a:lnTo>
                    <a:lnTo>
                      <a:pt x="37" y="127"/>
                    </a:lnTo>
                    <a:lnTo>
                      <a:pt x="39" y="127"/>
                    </a:lnTo>
                    <a:lnTo>
                      <a:pt x="39" y="126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4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2" y="117"/>
                    </a:lnTo>
                    <a:lnTo>
                      <a:pt x="42" y="117"/>
                    </a:lnTo>
                    <a:lnTo>
                      <a:pt x="42" y="115"/>
                    </a:lnTo>
                    <a:lnTo>
                      <a:pt x="42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4" y="108"/>
                    </a:lnTo>
                    <a:lnTo>
                      <a:pt x="44" y="106"/>
                    </a:lnTo>
                    <a:lnTo>
                      <a:pt x="44" y="105"/>
                    </a:lnTo>
                    <a:lnTo>
                      <a:pt x="44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1"/>
                    </a:lnTo>
                    <a:lnTo>
                      <a:pt x="46" y="99"/>
                    </a:lnTo>
                    <a:lnTo>
                      <a:pt x="47" y="99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7" y="96"/>
                    </a:lnTo>
                    <a:lnTo>
                      <a:pt x="47" y="96"/>
                    </a:lnTo>
                    <a:lnTo>
                      <a:pt x="47" y="95"/>
                    </a:lnTo>
                    <a:lnTo>
                      <a:pt x="49" y="95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2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0" y="89"/>
                    </a:lnTo>
                    <a:lnTo>
                      <a:pt x="50" y="89"/>
                    </a:lnTo>
                    <a:lnTo>
                      <a:pt x="50" y="87"/>
                    </a:lnTo>
                    <a:lnTo>
                      <a:pt x="50" y="86"/>
                    </a:lnTo>
                    <a:lnTo>
                      <a:pt x="52" y="86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3" y="80"/>
                    </a:lnTo>
                    <a:lnTo>
                      <a:pt x="53" y="78"/>
                    </a:lnTo>
                    <a:lnTo>
                      <a:pt x="53" y="78"/>
                    </a:lnTo>
                    <a:lnTo>
                      <a:pt x="53" y="77"/>
                    </a:lnTo>
                    <a:lnTo>
                      <a:pt x="53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6" y="71"/>
                    </a:lnTo>
                    <a:lnTo>
                      <a:pt x="56" y="69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6"/>
                    </a:lnTo>
                    <a:lnTo>
                      <a:pt x="56" y="66"/>
                    </a:lnTo>
                    <a:lnTo>
                      <a:pt x="58" y="65"/>
                    </a:lnTo>
                    <a:lnTo>
                      <a:pt x="58" y="65"/>
                    </a:lnTo>
                    <a:lnTo>
                      <a:pt x="58" y="64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1"/>
                    </a:lnTo>
                    <a:lnTo>
                      <a:pt x="58" y="61"/>
                    </a:lnTo>
                    <a:lnTo>
                      <a:pt x="58" y="59"/>
                    </a:lnTo>
                    <a:lnTo>
                      <a:pt x="58" y="59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9" y="56"/>
                    </a:lnTo>
                    <a:lnTo>
                      <a:pt x="59" y="56"/>
                    </a:lnTo>
                    <a:lnTo>
                      <a:pt x="59" y="55"/>
                    </a:lnTo>
                    <a:lnTo>
                      <a:pt x="59" y="53"/>
                    </a:lnTo>
                    <a:lnTo>
                      <a:pt x="59" y="53"/>
                    </a:lnTo>
                    <a:lnTo>
                      <a:pt x="59" y="52"/>
                    </a:lnTo>
                    <a:lnTo>
                      <a:pt x="59" y="50"/>
                    </a:lnTo>
                    <a:lnTo>
                      <a:pt x="59" y="49"/>
                    </a:lnTo>
                    <a:lnTo>
                      <a:pt x="59" y="49"/>
                    </a:lnTo>
                    <a:lnTo>
                      <a:pt x="59" y="47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4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1"/>
                    </a:lnTo>
                    <a:lnTo>
                      <a:pt x="59" y="41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61" y="38"/>
                    </a:lnTo>
                    <a:lnTo>
                      <a:pt x="61" y="38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7"/>
                    </a:lnTo>
                    <a:lnTo>
                      <a:pt x="61" y="35"/>
                    </a:lnTo>
                    <a:lnTo>
                      <a:pt x="61" y="35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4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2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9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2" y="28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5"/>
                    </a:lnTo>
                    <a:lnTo>
                      <a:pt x="62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6"/>
                    </a:lnTo>
                    <a:lnTo>
                      <a:pt x="64" y="15"/>
                    </a:lnTo>
                    <a:lnTo>
                      <a:pt x="64" y="15"/>
                    </a:lnTo>
                    <a:lnTo>
                      <a:pt x="64" y="13"/>
                    </a:lnTo>
                    <a:lnTo>
                      <a:pt x="64" y="13"/>
                    </a:lnTo>
                    <a:lnTo>
                      <a:pt x="64" y="12"/>
                    </a:lnTo>
                    <a:lnTo>
                      <a:pt x="64" y="10"/>
                    </a:lnTo>
                    <a:lnTo>
                      <a:pt x="64" y="9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3"/>
                    </a:lnTo>
                    <a:lnTo>
                      <a:pt x="62" y="1"/>
                    </a:lnTo>
                    <a:lnTo>
                      <a:pt x="6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5" name="Line 358"/>
              <p:cNvSpPr>
                <a:spLocks noChangeShapeType="1"/>
              </p:cNvSpPr>
              <p:nvPr/>
            </p:nvSpPr>
            <p:spPr bwMode="auto">
              <a:xfrm flipH="1">
                <a:off x="2845" y="2841"/>
                <a:ext cx="8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6" name="Line 359"/>
              <p:cNvSpPr>
                <a:spLocks noChangeShapeType="1"/>
              </p:cNvSpPr>
              <p:nvPr/>
            </p:nvSpPr>
            <p:spPr bwMode="auto">
              <a:xfrm>
                <a:off x="2865" y="2614"/>
                <a:ext cx="0" cy="148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7" name="Line 360"/>
              <p:cNvSpPr>
                <a:spLocks noChangeShapeType="1"/>
              </p:cNvSpPr>
              <p:nvPr/>
            </p:nvSpPr>
            <p:spPr bwMode="auto">
              <a:xfrm>
                <a:off x="1572" y="3522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8" name="Line 361"/>
              <p:cNvSpPr>
                <a:spLocks noChangeShapeType="1"/>
              </p:cNvSpPr>
              <p:nvPr/>
            </p:nvSpPr>
            <p:spPr bwMode="auto">
              <a:xfrm>
                <a:off x="1572" y="3374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39" name="Line 362"/>
              <p:cNvSpPr>
                <a:spLocks noChangeShapeType="1"/>
              </p:cNvSpPr>
              <p:nvPr/>
            </p:nvSpPr>
            <p:spPr bwMode="auto">
              <a:xfrm>
                <a:off x="1572" y="3226"/>
                <a:ext cx="809" cy="0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0" name="Line 363"/>
              <p:cNvSpPr>
                <a:spLocks noChangeShapeType="1"/>
              </p:cNvSpPr>
              <p:nvPr/>
            </p:nvSpPr>
            <p:spPr bwMode="auto">
              <a:xfrm flipH="1">
                <a:off x="1809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1" name="Line 364"/>
              <p:cNvSpPr>
                <a:spLocks noChangeShapeType="1"/>
              </p:cNvSpPr>
              <p:nvPr/>
            </p:nvSpPr>
            <p:spPr bwMode="auto">
              <a:xfrm flipH="1" flipV="1">
                <a:off x="1809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2" name="Line 365"/>
              <p:cNvSpPr>
                <a:spLocks noChangeShapeType="1"/>
              </p:cNvSpPr>
              <p:nvPr/>
            </p:nvSpPr>
            <p:spPr bwMode="auto">
              <a:xfrm flipH="1">
                <a:off x="1611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3" name="Line 366"/>
              <p:cNvSpPr>
                <a:spLocks noChangeShapeType="1"/>
              </p:cNvSpPr>
              <p:nvPr/>
            </p:nvSpPr>
            <p:spPr bwMode="auto">
              <a:xfrm flipH="1" flipV="1">
                <a:off x="1611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4" name="Line 367"/>
              <p:cNvSpPr>
                <a:spLocks noChangeShapeType="1"/>
              </p:cNvSpPr>
              <p:nvPr/>
            </p:nvSpPr>
            <p:spPr bwMode="auto">
              <a:xfrm flipH="1">
                <a:off x="1917" y="3503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5" name="Line 368"/>
              <p:cNvSpPr>
                <a:spLocks noChangeShapeType="1"/>
              </p:cNvSpPr>
              <p:nvPr/>
            </p:nvSpPr>
            <p:spPr bwMode="auto">
              <a:xfrm flipH="1" flipV="1">
                <a:off x="1917" y="3503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6" name="Line 369"/>
              <p:cNvSpPr>
                <a:spLocks noChangeShapeType="1"/>
              </p:cNvSpPr>
              <p:nvPr/>
            </p:nvSpPr>
            <p:spPr bwMode="auto">
              <a:xfrm flipH="1">
                <a:off x="1710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7" name="Line 370"/>
              <p:cNvSpPr>
                <a:spLocks noChangeShapeType="1"/>
              </p:cNvSpPr>
              <p:nvPr/>
            </p:nvSpPr>
            <p:spPr bwMode="auto">
              <a:xfrm flipH="1" flipV="1">
                <a:off x="1710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8" name="Line 371"/>
              <p:cNvSpPr>
                <a:spLocks noChangeShapeType="1"/>
              </p:cNvSpPr>
              <p:nvPr/>
            </p:nvSpPr>
            <p:spPr bwMode="auto">
              <a:xfrm flipH="1">
                <a:off x="1611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49" name="Line 372"/>
              <p:cNvSpPr>
                <a:spLocks noChangeShapeType="1"/>
              </p:cNvSpPr>
              <p:nvPr/>
            </p:nvSpPr>
            <p:spPr bwMode="auto">
              <a:xfrm flipH="1" flipV="1">
                <a:off x="1611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0" name="Line 373"/>
              <p:cNvSpPr>
                <a:spLocks noChangeShapeType="1"/>
              </p:cNvSpPr>
              <p:nvPr/>
            </p:nvSpPr>
            <p:spPr bwMode="auto">
              <a:xfrm flipH="1">
                <a:off x="2253" y="3355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1" name="Line 374"/>
              <p:cNvSpPr>
                <a:spLocks noChangeShapeType="1"/>
              </p:cNvSpPr>
              <p:nvPr/>
            </p:nvSpPr>
            <p:spPr bwMode="auto">
              <a:xfrm flipH="1" flipV="1">
                <a:off x="2253" y="3355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2" name="Line 375"/>
              <p:cNvSpPr>
                <a:spLocks noChangeShapeType="1"/>
              </p:cNvSpPr>
              <p:nvPr/>
            </p:nvSpPr>
            <p:spPr bwMode="auto">
              <a:xfrm flipH="1">
                <a:off x="2144" y="3503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3" name="Line 376"/>
              <p:cNvSpPr>
                <a:spLocks noChangeShapeType="1"/>
              </p:cNvSpPr>
              <p:nvPr/>
            </p:nvSpPr>
            <p:spPr bwMode="auto">
              <a:xfrm flipH="1" flipV="1">
                <a:off x="2144" y="3503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4" name="Line 377"/>
              <p:cNvSpPr>
                <a:spLocks noChangeShapeType="1"/>
              </p:cNvSpPr>
              <p:nvPr/>
            </p:nvSpPr>
            <p:spPr bwMode="auto">
              <a:xfrm flipH="1">
                <a:off x="1611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5" name="Line 378"/>
              <p:cNvSpPr>
                <a:spLocks noChangeShapeType="1"/>
              </p:cNvSpPr>
              <p:nvPr/>
            </p:nvSpPr>
            <p:spPr bwMode="auto">
              <a:xfrm flipH="1" flipV="1">
                <a:off x="1611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6" name="Line 379"/>
              <p:cNvSpPr>
                <a:spLocks noChangeShapeType="1"/>
              </p:cNvSpPr>
              <p:nvPr/>
            </p:nvSpPr>
            <p:spPr bwMode="auto">
              <a:xfrm flipH="1">
                <a:off x="1809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7" name="Line 380"/>
              <p:cNvSpPr>
                <a:spLocks noChangeShapeType="1"/>
              </p:cNvSpPr>
              <p:nvPr/>
            </p:nvSpPr>
            <p:spPr bwMode="auto">
              <a:xfrm flipH="1" flipV="1">
                <a:off x="1809" y="3503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8" name="Line 381"/>
              <p:cNvSpPr>
                <a:spLocks noChangeShapeType="1"/>
              </p:cNvSpPr>
              <p:nvPr/>
            </p:nvSpPr>
            <p:spPr bwMode="auto">
              <a:xfrm flipH="1">
                <a:off x="2253" y="3503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59" name="Line 382"/>
              <p:cNvSpPr>
                <a:spLocks noChangeShapeType="1"/>
              </p:cNvSpPr>
              <p:nvPr/>
            </p:nvSpPr>
            <p:spPr bwMode="auto">
              <a:xfrm flipH="1" flipV="1">
                <a:off x="2253" y="3503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0" name="Line 383"/>
              <p:cNvSpPr>
                <a:spLocks noChangeShapeType="1"/>
              </p:cNvSpPr>
              <p:nvPr/>
            </p:nvSpPr>
            <p:spPr bwMode="auto">
              <a:xfrm flipH="1">
                <a:off x="1710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1" name="Line 384"/>
              <p:cNvSpPr>
                <a:spLocks noChangeShapeType="1"/>
              </p:cNvSpPr>
              <p:nvPr/>
            </p:nvSpPr>
            <p:spPr bwMode="auto">
              <a:xfrm flipH="1" flipV="1">
                <a:off x="1710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2" name="Line 385"/>
              <p:cNvSpPr>
                <a:spLocks noChangeShapeType="1"/>
              </p:cNvSpPr>
              <p:nvPr/>
            </p:nvSpPr>
            <p:spPr bwMode="auto">
              <a:xfrm flipH="1">
                <a:off x="1809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3" name="Line 386"/>
              <p:cNvSpPr>
                <a:spLocks noChangeShapeType="1"/>
              </p:cNvSpPr>
              <p:nvPr/>
            </p:nvSpPr>
            <p:spPr bwMode="auto">
              <a:xfrm flipH="1" flipV="1">
                <a:off x="1809" y="3355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4" name="Line 387"/>
              <p:cNvSpPr>
                <a:spLocks noChangeShapeType="1"/>
              </p:cNvSpPr>
              <p:nvPr/>
            </p:nvSpPr>
            <p:spPr bwMode="auto">
              <a:xfrm flipH="1">
                <a:off x="1917" y="3355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5" name="Line 388"/>
              <p:cNvSpPr>
                <a:spLocks noChangeShapeType="1"/>
              </p:cNvSpPr>
              <p:nvPr/>
            </p:nvSpPr>
            <p:spPr bwMode="auto">
              <a:xfrm flipH="1" flipV="1">
                <a:off x="1917" y="3355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6" name="Line 389"/>
              <p:cNvSpPr>
                <a:spLocks noChangeShapeType="1"/>
              </p:cNvSpPr>
              <p:nvPr/>
            </p:nvSpPr>
            <p:spPr bwMode="auto">
              <a:xfrm flipH="1">
                <a:off x="2144" y="3355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7" name="Line 390"/>
              <p:cNvSpPr>
                <a:spLocks noChangeShapeType="1"/>
              </p:cNvSpPr>
              <p:nvPr/>
            </p:nvSpPr>
            <p:spPr bwMode="auto">
              <a:xfrm flipH="1" flipV="1">
                <a:off x="2144" y="3355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8" name="Line 391"/>
              <p:cNvSpPr>
                <a:spLocks noChangeShapeType="1"/>
              </p:cNvSpPr>
              <p:nvPr/>
            </p:nvSpPr>
            <p:spPr bwMode="auto">
              <a:xfrm flipH="1">
                <a:off x="2144" y="3207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69" name="Line 392"/>
              <p:cNvSpPr>
                <a:spLocks noChangeShapeType="1"/>
              </p:cNvSpPr>
              <p:nvPr/>
            </p:nvSpPr>
            <p:spPr bwMode="auto">
              <a:xfrm flipH="1" flipV="1">
                <a:off x="2144" y="3207"/>
                <a:ext cx="6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0" name="Line 393"/>
              <p:cNvSpPr>
                <a:spLocks noChangeShapeType="1"/>
              </p:cNvSpPr>
              <p:nvPr/>
            </p:nvSpPr>
            <p:spPr bwMode="auto">
              <a:xfrm flipH="1">
                <a:off x="2253" y="3207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1" name="Line 394"/>
              <p:cNvSpPr>
                <a:spLocks noChangeShapeType="1"/>
              </p:cNvSpPr>
              <p:nvPr/>
            </p:nvSpPr>
            <p:spPr bwMode="auto">
              <a:xfrm flipH="1" flipV="1">
                <a:off x="2253" y="3207"/>
                <a:ext cx="4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2" name="Line 395"/>
              <p:cNvSpPr>
                <a:spLocks noChangeShapeType="1"/>
              </p:cNvSpPr>
              <p:nvPr/>
            </p:nvSpPr>
            <p:spPr bwMode="auto">
              <a:xfrm flipH="1">
                <a:off x="1917" y="3207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3" name="Line 396"/>
              <p:cNvSpPr>
                <a:spLocks noChangeShapeType="1"/>
              </p:cNvSpPr>
              <p:nvPr/>
            </p:nvSpPr>
            <p:spPr bwMode="auto">
              <a:xfrm flipH="1" flipV="1">
                <a:off x="1917" y="3207"/>
                <a:ext cx="50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4" name="Line 397"/>
              <p:cNvSpPr>
                <a:spLocks noChangeShapeType="1"/>
              </p:cNvSpPr>
              <p:nvPr/>
            </p:nvSpPr>
            <p:spPr bwMode="auto">
              <a:xfrm flipH="1">
                <a:off x="1710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5" name="Line 398"/>
              <p:cNvSpPr>
                <a:spLocks noChangeShapeType="1"/>
              </p:cNvSpPr>
              <p:nvPr/>
            </p:nvSpPr>
            <p:spPr bwMode="auto">
              <a:xfrm flipH="1" flipV="1">
                <a:off x="1710" y="3207"/>
                <a:ext cx="59" cy="49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6" name="Freeform 399"/>
              <p:cNvSpPr>
                <a:spLocks/>
              </p:cNvSpPr>
              <p:nvPr/>
            </p:nvSpPr>
            <p:spPr bwMode="auto">
              <a:xfrm>
                <a:off x="2668" y="3384"/>
                <a:ext cx="177" cy="138"/>
              </a:xfrm>
              <a:custGeom>
                <a:avLst/>
                <a:gdLst>
                  <a:gd name="T0" fmla="*/ 0 w 533"/>
                  <a:gd name="T1" fmla="*/ 385 h 414"/>
                  <a:gd name="T2" fmla="*/ 29 w 533"/>
                  <a:gd name="T3" fmla="*/ 385 h 414"/>
                  <a:gd name="T4" fmla="*/ 29 w 533"/>
                  <a:gd name="T5" fmla="*/ 355 h 414"/>
                  <a:gd name="T6" fmla="*/ 29 w 533"/>
                  <a:gd name="T7" fmla="*/ 325 h 414"/>
                  <a:gd name="T8" fmla="*/ 59 w 533"/>
                  <a:gd name="T9" fmla="*/ 296 h 414"/>
                  <a:gd name="T10" fmla="*/ 59 w 533"/>
                  <a:gd name="T11" fmla="*/ 237 h 414"/>
                  <a:gd name="T12" fmla="*/ 59 w 533"/>
                  <a:gd name="T13" fmla="*/ 237 h 414"/>
                  <a:gd name="T14" fmla="*/ 59 w 533"/>
                  <a:gd name="T15" fmla="*/ 207 h 414"/>
                  <a:gd name="T16" fmla="*/ 59 w 533"/>
                  <a:gd name="T17" fmla="*/ 177 h 414"/>
                  <a:gd name="T18" fmla="*/ 59 w 533"/>
                  <a:gd name="T19" fmla="*/ 148 h 414"/>
                  <a:gd name="T20" fmla="*/ 59 w 533"/>
                  <a:gd name="T21" fmla="*/ 118 h 414"/>
                  <a:gd name="T22" fmla="*/ 29 w 533"/>
                  <a:gd name="T23" fmla="*/ 89 h 414"/>
                  <a:gd name="T24" fmla="*/ 29 w 533"/>
                  <a:gd name="T25" fmla="*/ 29 h 414"/>
                  <a:gd name="T26" fmla="*/ 0 w 533"/>
                  <a:gd name="T27" fmla="*/ 29 h 414"/>
                  <a:gd name="T28" fmla="*/ 0 w 533"/>
                  <a:gd name="T29" fmla="*/ 0 h 414"/>
                  <a:gd name="T30" fmla="*/ 237 w 533"/>
                  <a:gd name="T31" fmla="*/ 0 h 414"/>
                  <a:gd name="T32" fmla="*/ 237 w 533"/>
                  <a:gd name="T33" fmla="*/ 0 h 414"/>
                  <a:gd name="T34" fmla="*/ 266 w 533"/>
                  <a:gd name="T35" fmla="*/ 0 h 414"/>
                  <a:gd name="T36" fmla="*/ 296 w 533"/>
                  <a:gd name="T37" fmla="*/ 0 h 414"/>
                  <a:gd name="T38" fmla="*/ 325 w 533"/>
                  <a:gd name="T39" fmla="*/ 0 h 414"/>
                  <a:gd name="T40" fmla="*/ 355 w 533"/>
                  <a:gd name="T41" fmla="*/ 29 h 414"/>
                  <a:gd name="T42" fmla="*/ 385 w 533"/>
                  <a:gd name="T43" fmla="*/ 29 h 414"/>
                  <a:gd name="T44" fmla="*/ 414 w 533"/>
                  <a:gd name="T45" fmla="*/ 59 h 414"/>
                  <a:gd name="T46" fmla="*/ 444 w 533"/>
                  <a:gd name="T47" fmla="*/ 59 h 414"/>
                  <a:gd name="T48" fmla="*/ 444 w 533"/>
                  <a:gd name="T49" fmla="*/ 89 h 414"/>
                  <a:gd name="T50" fmla="*/ 474 w 533"/>
                  <a:gd name="T51" fmla="*/ 118 h 414"/>
                  <a:gd name="T52" fmla="*/ 503 w 533"/>
                  <a:gd name="T53" fmla="*/ 148 h 414"/>
                  <a:gd name="T54" fmla="*/ 503 w 533"/>
                  <a:gd name="T55" fmla="*/ 148 h 414"/>
                  <a:gd name="T56" fmla="*/ 503 w 533"/>
                  <a:gd name="T57" fmla="*/ 177 h 414"/>
                  <a:gd name="T58" fmla="*/ 533 w 533"/>
                  <a:gd name="T59" fmla="*/ 207 h 414"/>
                  <a:gd name="T60" fmla="*/ 503 w 533"/>
                  <a:gd name="T61" fmla="*/ 237 h 414"/>
                  <a:gd name="T62" fmla="*/ 503 w 533"/>
                  <a:gd name="T63" fmla="*/ 237 h 414"/>
                  <a:gd name="T64" fmla="*/ 474 w 533"/>
                  <a:gd name="T65" fmla="*/ 266 h 414"/>
                  <a:gd name="T66" fmla="*/ 474 w 533"/>
                  <a:gd name="T67" fmla="*/ 296 h 414"/>
                  <a:gd name="T68" fmla="*/ 444 w 533"/>
                  <a:gd name="T69" fmla="*/ 325 h 414"/>
                  <a:gd name="T70" fmla="*/ 414 w 533"/>
                  <a:gd name="T71" fmla="*/ 325 h 414"/>
                  <a:gd name="T72" fmla="*/ 385 w 533"/>
                  <a:gd name="T73" fmla="*/ 355 h 414"/>
                  <a:gd name="T74" fmla="*/ 355 w 533"/>
                  <a:gd name="T75" fmla="*/ 385 h 414"/>
                  <a:gd name="T76" fmla="*/ 325 w 533"/>
                  <a:gd name="T77" fmla="*/ 385 h 414"/>
                  <a:gd name="T78" fmla="*/ 296 w 533"/>
                  <a:gd name="T79" fmla="*/ 414 h 414"/>
                  <a:gd name="T80" fmla="*/ 266 w 533"/>
                  <a:gd name="T81" fmla="*/ 414 h 414"/>
                  <a:gd name="T82" fmla="*/ 237 w 533"/>
                  <a:gd name="T83" fmla="*/ 414 h 414"/>
                  <a:gd name="T84" fmla="*/ 0 w 533"/>
                  <a:gd name="T85" fmla="*/ 414 h 414"/>
                  <a:gd name="T86" fmla="*/ 0 w 533"/>
                  <a:gd name="T87" fmla="*/ 385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33" h="414">
                    <a:moveTo>
                      <a:pt x="0" y="385"/>
                    </a:moveTo>
                    <a:lnTo>
                      <a:pt x="29" y="385"/>
                    </a:lnTo>
                    <a:lnTo>
                      <a:pt x="29" y="355"/>
                    </a:lnTo>
                    <a:lnTo>
                      <a:pt x="29" y="325"/>
                    </a:lnTo>
                    <a:lnTo>
                      <a:pt x="59" y="296"/>
                    </a:lnTo>
                    <a:lnTo>
                      <a:pt x="59" y="237"/>
                    </a:lnTo>
                    <a:lnTo>
                      <a:pt x="59" y="237"/>
                    </a:lnTo>
                    <a:lnTo>
                      <a:pt x="59" y="207"/>
                    </a:lnTo>
                    <a:lnTo>
                      <a:pt x="59" y="177"/>
                    </a:lnTo>
                    <a:lnTo>
                      <a:pt x="59" y="148"/>
                    </a:lnTo>
                    <a:lnTo>
                      <a:pt x="59" y="118"/>
                    </a:lnTo>
                    <a:lnTo>
                      <a:pt x="29" y="89"/>
                    </a:lnTo>
                    <a:lnTo>
                      <a:pt x="29" y="29"/>
                    </a:lnTo>
                    <a:lnTo>
                      <a:pt x="0" y="29"/>
                    </a:lnTo>
                    <a:lnTo>
                      <a:pt x="0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5" y="0"/>
                    </a:lnTo>
                    <a:lnTo>
                      <a:pt x="355" y="29"/>
                    </a:lnTo>
                    <a:lnTo>
                      <a:pt x="385" y="29"/>
                    </a:lnTo>
                    <a:lnTo>
                      <a:pt x="414" y="59"/>
                    </a:lnTo>
                    <a:lnTo>
                      <a:pt x="444" y="59"/>
                    </a:lnTo>
                    <a:lnTo>
                      <a:pt x="444" y="89"/>
                    </a:lnTo>
                    <a:lnTo>
                      <a:pt x="474" y="118"/>
                    </a:lnTo>
                    <a:lnTo>
                      <a:pt x="503" y="148"/>
                    </a:lnTo>
                    <a:lnTo>
                      <a:pt x="503" y="148"/>
                    </a:lnTo>
                    <a:lnTo>
                      <a:pt x="503" y="177"/>
                    </a:lnTo>
                    <a:lnTo>
                      <a:pt x="533" y="207"/>
                    </a:lnTo>
                    <a:lnTo>
                      <a:pt x="503" y="237"/>
                    </a:lnTo>
                    <a:lnTo>
                      <a:pt x="503" y="237"/>
                    </a:lnTo>
                    <a:lnTo>
                      <a:pt x="474" y="266"/>
                    </a:lnTo>
                    <a:lnTo>
                      <a:pt x="474" y="296"/>
                    </a:lnTo>
                    <a:lnTo>
                      <a:pt x="444" y="325"/>
                    </a:lnTo>
                    <a:lnTo>
                      <a:pt x="414" y="325"/>
                    </a:lnTo>
                    <a:lnTo>
                      <a:pt x="385" y="355"/>
                    </a:lnTo>
                    <a:lnTo>
                      <a:pt x="355" y="385"/>
                    </a:lnTo>
                    <a:lnTo>
                      <a:pt x="325" y="385"/>
                    </a:lnTo>
                    <a:lnTo>
                      <a:pt x="296" y="414"/>
                    </a:lnTo>
                    <a:lnTo>
                      <a:pt x="266" y="414"/>
                    </a:lnTo>
                    <a:lnTo>
                      <a:pt x="237" y="414"/>
                    </a:lnTo>
                    <a:lnTo>
                      <a:pt x="0" y="414"/>
                    </a:lnTo>
                    <a:lnTo>
                      <a:pt x="0" y="3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7" name="Freeform 400"/>
              <p:cNvSpPr>
                <a:spLocks/>
              </p:cNvSpPr>
              <p:nvPr/>
            </p:nvSpPr>
            <p:spPr bwMode="auto">
              <a:xfrm>
                <a:off x="2669" y="3452"/>
                <a:ext cx="176" cy="70"/>
              </a:xfrm>
              <a:custGeom>
                <a:avLst/>
                <a:gdLst>
                  <a:gd name="T0" fmla="*/ 103 w 530"/>
                  <a:gd name="T1" fmla="*/ 211 h 211"/>
                  <a:gd name="T2" fmla="*/ 177 w 530"/>
                  <a:gd name="T3" fmla="*/ 211 h 211"/>
                  <a:gd name="T4" fmla="*/ 214 w 530"/>
                  <a:gd name="T5" fmla="*/ 211 h 211"/>
                  <a:gd name="T6" fmla="*/ 231 w 530"/>
                  <a:gd name="T7" fmla="*/ 211 h 211"/>
                  <a:gd name="T8" fmla="*/ 240 w 530"/>
                  <a:gd name="T9" fmla="*/ 210 h 211"/>
                  <a:gd name="T10" fmla="*/ 248 w 530"/>
                  <a:gd name="T11" fmla="*/ 210 h 211"/>
                  <a:gd name="T12" fmla="*/ 254 w 530"/>
                  <a:gd name="T13" fmla="*/ 208 h 211"/>
                  <a:gd name="T14" fmla="*/ 259 w 530"/>
                  <a:gd name="T15" fmla="*/ 208 h 211"/>
                  <a:gd name="T16" fmla="*/ 266 w 530"/>
                  <a:gd name="T17" fmla="*/ 207 h 211"/>
                  <a:gd name="T18" fmla="*/ 274 w 530"/>
                  <a:gd name="T19" fmla="*/ 207 h 211"/>
                  <a:gd name="T20" fmla="*/ 281 w 530"/>
                  <a:gd name="T21" fmla="*/ 205 h 211"/>
                  <a:gd name="T22" fmla="*/ 287 w 530"/>
                  <a:gd name="T23" fmla="*/ 204 h 211"/>
                  <a:gd name="T24" fmla="*/ 293 w 530"/>
                  <a:gd name="T25" fmla="*/ 202 h 211"/>
                  <a:gd name="T26" fmla="*/ 302 w 530"/>
                  <a:gd name="T27" fmla="*/ 199 h 211"/>
                  <a:gd name="T28" fmla="*/ 311 w 530"/>
                  <a:gd name="T29" fmla="*/ 197 h 211"/>
                  <a:gd name="T30" fmla="*/ 318 w 530"/>
                  <a:gd name="T31" fmla="*/ 195 h 211"/>
                  <a:gd name="T32" fmla="*/ 324 w 530"/>
                  <a:gd name="T33" fmla="*/ 192 h 211"/>
                  <a:gd name="T34" fmla="*/ 330 w 530"/>
                  <a:gd name="T35" fmla="*/ 189 h 211"/>
                  <a:gd name="T36" fmla="*/ 337 w 530"/>
                  <a:gd name="T37" fmla="*/ 186 h 211"/>
                  <a:gd name="T38" fmla="*/ 345 w 530"/>
                  <a:gd name="T39" fmla="*/ 182 h 211"/>
                  <a:gd name="T40" fmla="*/ 351 w 530"/>
                  <a:gd name="T41" fmla="*/ 179 h 211"/>
                  <a:gd name="T42" fmla="*/ 357 w 530"/>
                  <a:gd name="T43" fmla="*/ 176 h 211"/>
                  <a:gd name="T44" fmla="*/ 362 w 530"/>
                  <a:gd name="T45" fmla="*/ 173 h 211"/>
                  <a:gd name="T46" fmla="*/ 368 w 530"/>
                  <a:gd name="T47" fmla="*/ 168 h 211"/>
                  <a:gd name="T48" fmla="*/ 376 w 530"/>
                  <a:gd name="T49" fmla="*/ 165 h 211"/>
                  <a:gd name="T50" fmla="*/ 380 w 530"/>
                  <a:gd name="T51" fmla="*/ 162 h 211"/>
                  <a:gd name="T52" fmla="*/ 385 w 530"/>
                  <a:gd name="T53" fmla="*/ 160 h 211"/>
                  <a:gd name="T54" fmla="*/ 389 w 530"/>
                  <a:gd name="T55" fmla="*/ 157 h 211"/>
                  <a:gd name="T56" fmla="*/ 395 w 530"/>
                  <a:gd name="T57" fmla="*/ 152 h 211"/>
                  <a:gd name="T58" fmla="*/ 399 w 530"/>
                  <a:gd name="T59" fmla="*/ 149 h 211"/>
                  <a:gd name="T60" fmla="*/ 402 w 530"/>
                  <a:gd name="T61" fmla="*/ 148 h 211"/>
                  <a:gd name="T62" fmla="*/ 405 w 530"/>
                  <a:gd name="T63" fmla="*/ 145 h 211"/>
                  <a:gd name="T64" fmla="*/ 410 w 530"/>
                  <a:gd name="T65" fmla="*/ 142 h 211"/>
                  <a:gd name="T66" fmla="*/ 414 w 530"/>
                  <a:gd name="T67" fmla="*/ 139 h 211"/>
                  <a:gd name="T68" fmla="*/ 417 w 530"/>
                  <a:gd name="T69" fmla="*/ 137 h 211"/>
                  <a:gd name="T70" fmla="*/ 420 w 530"/>
                  <a:gd name="T71" fmla="*/ 134 h 211"/>
                  <a:gd name="T72" fmla="*/ 423 w 530"/>
                  <a:gd name="T73" fmla="*/ 133 h 211"/>
                  <a:gd name="T74" fmla="*/ 428 w 530"/>
                  <a:gd name="T75" fmla="*/ 130 h 211"/>
                  <a:gd name="T76" fmla="*/ 432 w 530"/>
                  <a:gd name="T77" fmla="*/ 125 h 211"/>
                  <a:gd name="T78" fmla="*/ 435 w 530"/>
                  <a:gd name="T79" fmla="*/ 124 h 211"/>
                  <a:gd name="T80" fmla="*/ 438 w 530"/>
                  <a:gd name="T81" fmla="*/ 121 h 211"/>
                  <a:gd name="T82" fmla="*/ 442 w 530"/>
                  <a:gd name="T83" fmla="*/ 117 h 211"/>
                  <a:gd name="T84" fmla="*/ 448 w 530"/>
                  <a:gd name="T85" fmla="*/ 111 h 211"/>
                  <a:gd name="T86" fmla="*/ 451 w 530"/>
                  <a:gd name="T87" fmla="*/ 106 h 211"/>
                  <a:gd name="T88" fmla="*/ 456 w 530"/>
                  <a:gd name="T89" fmla="*/ 103 h 211"/>
                  <a:gd name="T90" fmla="*/ 459 w 530"/>
                  <a:gd name="T91" fmla="*/ 99 h 211"/>
                  <a:gd name="T92" fmla="*/ 465 w 530"/>
                  <a:gd name="T93" fmla="*/ 91 h 211"/>
                  <a:gd name="T94" fmla="*/ 471 w 530"/>
                  <a:gd name="T95" fmla="*/ 85 h 211"/>
                  <a:gd name="T96" fmla="*/ 475 w 530"/>
                  <a:gd name="T97" fmla="*/ 80 h 211"/>
                  <a:gd name="T98" fmla="*/ 478 w 530"/>
                  <a:gd name="T99" fmla="*/ 75 h 211"/>
                  <a:gd name="T100" fmla="*/ 482 w 530"/>
                  <a:gd name="T101" fmla="*/ 69 h 211"/>
                  <a:gd name="T102" fmla="*/ 488 w 530"/>
                  <a:gd name="T103" fmla="*/ 62 h 211"/>
                  <a:gd name="T104" fmla="*/ 494 w 530"/>
                  <a:gd name="T105" fmla="*/ 53 h 211"/>
                  <a:gd name="T106" fmla="*/ 499 w 530"/>
                  <a:gd name="T107" fmla="*/ 47 h 211"/>
                  <a:gd name="T108" fmla="*/ 502 w 530"/>
                  <a:gd name="T109" fmla="*/ 43 h 211"/>
                  <a:gd name="T110" fmla="*/ 508 w 530"/>
                  <a:gd name="T111" fmla="*/ 35 h 211"/>
                  <a:gd name="T112" fmla="*/ 513 w 530"/>
                  <a:gd name="T113" fmla="*/ 26 h 211"/>
                  <a:gd name="T114" fmla="*/ 518 w 530"/>
                  <a:gd name="T115" fmla="*/ 19 h 211"/>
                  <a:gd name="T116" fmla="*/ 522 w 530"/>
                  <a:gd name="T117" fmla="*/ 14 h 211"/>
                  <a:gd name="T118" fmla="*/ 525 w 530"/>
                  <a:gd name="T119" fmla="*/ 8 h 211"/>
                  <a:gd name="T120" fmla="*/ 528 w 530"/>
                  <a:gd name="T121" fmla="*/ 3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1">
                    <a:moveTo>
                      <a:pt x="0" y="211"/>
                    </a:moveTo>
                    <a:lnTo>
                      <a:pt x="19" y="211"/>
                    </a:lnTo>
                    <a:lnTo>
                      <a:pt x="38" y="211"/>
                    </a:lnTo>
                    <a:lnTo>
                      <a:pt x="56" y="211"/>
                    </a:lnTo>
                    <a:lnTo>
                      <a:pt x="72" y="211"/>
                    </a:lnTo>
                    <a:lnTo>
                      <a:pt x="88" y="211"/>
                    </a:lnTo>
                    <a:lnTo>
                      <a:pt x="103" y="211"/>
                    </a:lnTo>
                    <a:lnTo>
                      <a:pt x="117" y="211"/>
                    </a:lnTo>
                    <a:lnTo>
                      <a:pt x="128" y="211"/>
                    </a:lnTo>
                    <a:lnTo>
                      <a:pt x="140" y="211"/>
                    </a:lnTo>
                    <a:lnTo>
                      <a:pt x="151" y="211"/>
                    </a:lnTo>
                    <a:lnTo>
                      <a:pt x="160" y="211"/>
                    </a:lnTo>
                    <a:lnTo>
                      <a:pt x="168" y="211"/>
                    </a:lnTo>
                    <a:lnTo>
                      <a:pt x="177" y="211"/>
                    </a:lnTo>
                    <a:lnTo>
                      <a:pt x="185" y="211"/>
                    </a:lnTo>
                    <a:lnTo>
                      <a:pt x="191" y="211"/>
                    </a:lnTo>
                    <a:lnTo>
                      <a:pt x="197" y="211"/>
                    </a:lnTo>
                    <a:lnTo>
                      <a:pt x="203" y="211"/>
                    </a:lnTo>
                    <a:lnTo>
                      <a:pt x="207" y="211"/>
                    </a:lnTo>
                    <a:lnTo>
                      <a:pt x="211" y="211"/>
                    </a:lnTo>
                    <a:lnTo>
                      <a:pt x="214" y="211"/>
                    </a:lnTo>
                    <a:lnTo>
                      <a:pt x="217" y="211"/>
                    </a:lnTo>
                    <a:lnTo>
                      <a:pt x="220" y="211"/>
                    </a:lnTo>
                    <a:lnTo>
                      <a:pt x="223" y="211"/>
                    </a:lnTo>
                    <a:lnTo>
                      <a:pt x="226" y="211"/>
                    </a:lnTo>
                    <a:lnTo>
                      <a:pt x="228" y="211"/>
                    </a:lnTo>
                    <a:lnTo>
                      <a:pt x="229" y="211"/>
                    </a:lnTo>
                    <a:lnTo>
                      <a:pt x="231" y="211"/>
                    </a:lnTo>
                    <a:lnTo>
                      <a:pt x="232" y="211"/>
                    </a:lnTo>
                    <a:lnTo>
                      <a:pt x="234" y="210"/>
                    </a:lnTo>
                    <a:lnTo>
                      <a:pt x="235" y="210"/>
                    </a:lnTo>
                    <a:lnTo>
                      <a:pt x="237" y="210"/>
                    </a:lnTo>
                    <a:lnTo>
                      <a:pt x="238" y="210"/>
                    </a:lnTo>
                    <a:lnTo>
                      <a:pt x="238" y="210"/>
                    </a:lnTo>
                    <a:lnTo>
                      <a:pt x="240" y="210"/>
                    </a:lnTo>
                    <a:lnTo>
                      <a:pt x="241" y="210"/>
                    </a:lnTo>
                    <a:lnTo>
                      <a:pt x="242" y="210"/>
                    </a:lnTo>
                    <a:lnTo>
                      <a:pt x="244" y="210"/>
                    </a:lnTo>
                    <a:lnTo>
                      <a:pt x="245" y="210"/>
                    </a:lnTo>
                    <a:lnTo>
                      <a:pt x="245" y="210"/>
                    </a:lnTo>
                    <a:lnTo>
                      <a:pt x="247" y="210"/>
                    </a:lnTo>
                    <a:lnTo>
                      <a:pt x="248" y="210"/>
                    </a:lnTo>
                    <a:lnTo>
                      <a:pt x="248" y="210"/>
                    </a:lnTo>
                    <a:lnTo>
                      <a:pt x="250" y="210"/>
                    </a:lnTo>
                    <a:lnTo>
                      <a:pt x="251" y="210"/>
                    </a:lnTo>
                    <a:lnTo>
                      <a:pt x="251" y="210"/>
                    </a:lnTo>
                    <a:lnTo>
                      <a:pt x="253" y="210"/>
                    </a:lnTo>
                    <a:lnTo>
                      <a:pt x="253" y="208"/>
                    </a:lnTo>
                    <a:lnTo>
                      <a:pt x="254" y="208"/>
                    </a:lnTo>
                    <a:lnTo>
                      <a:pt x="254" y="208"/>
                    </a:lnTo>
                    <a:lnTo>
                      <a:pt x="256" y="208"/>
                    </a:lnTo>
                    <a:lnTo>
                      <a:pt x="256" y="208"/>
                    </a:lnTo>
                    <a:lnTo>
                      <a:pt x="257" y="208"/>
                    </a:lnTo>
                    <a:lnTo>
                      <a:pt x="257" y="208"/>
                    </a:lnTo>
                    <a:lnTo>
                      <a:pt x="259" y="208"/>
                    </a:lnTo>
                    <a:lnTo>
                      <a:pt x="259" y="208"/>
                    </a:lnTo>
                    <a:lnTo>
                      <a:pt x="260" y="208"/>
                    </a:lnTo>
                    <a:lnTo>
                      <a:pt x="262" y="208"/>
                    </a:lnTo>
                    <a:lnTo>
                      <a:pt x="262" y="208"/>
                    </a:lnTo>
                    <a:lnTo>
                      <a:pt x="263" y="208"/>
                    </a:lnTo>
                    <a:lnTo>
                      <a:pt x="265" y="208"/>
                    </a:lnTo>
                    <a:lnTo>
                      <a:pt x="265" y="207"/>
                    </a:lnTo>
                    <a:lnTo>
                      <a:pt x="266" y="207"/>
                    </a:lnTo>
                    <a:lnTo>
                      <a:pt x="268" y="207"/>
                    </a:lnTo>
                    <a:lnTo>
                      <a:pt x="269" y="207"/>
                    </a:lnTo>
                    <a:lnTo>
                      <a:pt x="271" y="207"/>
                    </a:lnTo>
                    <a:lnTo>
                      <a:pt x="271" y="207"/>
                    </a:lnTo>
                    <a:lnTo>
                      <a:pt x="272" y="207"/>
                    </a:lnTo>
                    <a:lnTo>
                      <a:pt x="274" y="207"/>
                    </a:lnTo>
                    <a:lnTo>
                      <a:pt x="274" y="207"/>
                    </a:lnTo>
                    <a:lnTo>
                      <a:pt x="275" y="205"/>
                    </a:lnTo>
                    <a:lnTo>
                      <a:pt x="277" y="205"/>
                    </a:lnTo>
                    <a:lnTo>
                      <a:pt x="278" y="205"/>
                    </a:lnTo>
                    <a:lnTo>
                      <a:pt x="278" y="205"/>
                    </a:lnTo>
                    <a:lnTo>
                      <a:pt x="280" y="205"/>
                    </a:lnTo>
                    <a:lnTo>
                      <a:pt x="281" y="205"/>
                    </a:lnTo>
                    <a:lnTo>
                      <a:pt x="281" y="205"/>
                    </a:lnTo>
                    <a:lnTo>
                      <a:pt x="282" y="205"/>
                    </a:lnTo>
                    <a:lnTo>
                      <a:pt x="282" y="205"/>
                    </a:lnTo>
                    <a:lnTo>
                      <a:pt x="284" y="205"/>
                    </a:lnTo>
                    <a:lnTo>
                      <a:pt x="284" y="204"/>
                    </a:lnTo>
                    <a:lnTo>
                      <a:pt x="285" y="204"/>
                    </a:lnTo>
                    <a:lnTo>
                      <a:pt x="285" y="204"/>
                    </a:lnTo>
                    <a:lnTo>
                      <a:pt x="287" y="204"/>
                    </a:lnTo>
                    <a:lnTo>
                      <a:pt x="288" y="204"/>
                    </a:lnTo>
                    <a:lnTo>
                      <a:pt x="288" y="204"/>
                    </a:lnTo>
                    <a:lnTo>
                      <a:pt x="290" y="204"/>
                    </a:lnTo>
                    <a:lnTo>
                      <a:pt x="290" y="202"/>
                    </a:lnTo>
                    <a:lnTo>
                      <a:pt x="291" y="202"/>
                    </a:lnTo>
                    <a:lnTo>
                      <a:pt x="293" y="202"/>
                    </a:lnTo>
                    <a:lnTo>
                      <a:pt x="293" y="202"/>
                    </a:lnTo>
                    <a:lnTo>
                      <a:pt x="294" y="202"/>
                    </a:lnTo>
                    <a:lnTo>
                      <a:pt x="296" y="201"/>
                    </a:lnTo>
                    <a:lnTo>
                      <a:pt x="296" y="201"/>
                    </a:lnTo>
                    <a:lnTo>
                      <a:pt x="297" y="201"/>
                    </a:lnTo>
                    <a:lnTo>
                      <a:pt x="299" y="201"/>
                    </a:lnTo>
                    <a:lnTo>
                      <a:pt x="300" y="199"/>
                    </a:lnTo>
                    <a:lnTo>
                      <a:pt x="302" y="199"/>
                    </a:lnTo>
                    <a:lnTo>
                      <a:pt x="303" y="199"/>
                    </a:lnTo>
                    <a:lnTo>
                      <a:pt x="303" y="199"/>
                    </a:lnTo>
                    <a:lnTo>
                      <a:pt x="305" y="198"/>
                    </a:lnTo>
                    <a:lnTo>
                      <a:pt x="306" y="198"/>
                    </a:lnTo>
                    <a:lnTo>
                      <a:pt x="308" y="198"/>
                    </a:lnTo>
                    <a:lnTo>
                      <a:pt x="309" y="197"/>
                    </a:lnTo>
                    <a:lnTo>
                      <a:pt x="311" y="197"/>
                    </a:lnTo>
                    <a:lnTo>
                      <a:pt x="312" y="197"/>
                    </a:lnTo>
                    <a:lnTo>
                      <a:pt x="314" y="197"/>
                    </a:lnTo>
                    <a:lnTo>
                      <a:pt x="314" y="197"/>
                    </a:lnTo>
                    <a:lnTo>
                      <a:pt x="315" y="195"/>
                    </a:lnTo>
                    <a:lnTo>
                      <a:pt x="317" y="195"/>
                    </a:lnTo>
                    <a:lnTo>
                      <a:pt x="317" y="195"/>
                    </a:lnTo>
                    <a:lnTo>
                      <a:pt x="318" y="195"/>
                    </a:lnTo>
                    <a:lnTo>
                      <a:pt x="318" y="194"/>
                    </a:lnTo>
                    <a:lnTo>
                      <a:pt x="320" y="194"/>
                    </a:lnTo>
                    <a:lnTo>
                      <a:pt x="321" y="194"/>
                    </a:lnTo>
                    <a:lnTo>
                      <a:pt x="321" y="194"/>
                    </a:lnTo>
                    <a:lnTo>
                      <a:pt x="322" y="194"/>
                    </a:lnTo>
                    <a:lnTo>
                      <a:pt x="322" y="192"/>
                    </a:lnTo>
                    <a:lnTo>
                      <a:pt x="324" y="192"/>
                    </a:lnTo>
                    <a:lnTo>
                      <a:pt x="324" y="192"/>
                    </a:lnTo>
                    <a:lnTo>
                      <a:pt x="325" y="192"/>
                    </a:lnTo>
                    <a:lnTo>
                      <a:pt x="325" y="191"/>
                    </a:lnTo>
                    <a:lnTo>
                      <a:pt x="327" y="191"/>
                    </a:lnTo>
                    <a:lnTo>
                      <a:pt x="327" y="191"/>
                    </a:lnTo>
                    <a:lnTo>
                      <a:pt x="328" y="191"/>
                    </a:lnTo>
                    <a:lnTo>
                      <a:pt x="330" y="189"/>
                    </a:lnTo>
                    <a:lnTo>
                      <a:pt x="330" y="189"/>
                    </a:lnTo>
                    <a:lnTo>
                      <a:pt x="331" y="188"/>
                    </a:lnTo>
                    <a:lnTo>
                      <a:pt x="333" y="188"/>
                    </a:lnTo>
                    <a:lnTo>
                      <a:pt x="334" y="188"/>
                    </a:lnTo>
                    <a:lnTo>
                      <a:pt x="336" y="186"/>
                    </a:lnTo>
                    <a:lnTo>
                      <a:pt x="337" y="186"/>
                    </a:lnTo>
                    <a:lnTo>
                      <a:pt x="337" y="186"/>
                    </a:lnTo>
                    <a:lnTo>
                      <a:pt x="339" y="185"/>
                    </a:lnTo>
                    <a:lnTo>
                      <a:pt x="340" y="185"/>
                    </a:lnTo>
                    <a:lnTo>
                      <a:pt x="340" y="183"/>
                    </a:lnTo>
                    <a:lnTo>
                      <a:pt x="342" y="183"/>
                    </a:lnTo>
                    <a:lnTo>
                      <a:pt x="343" y="183"/>
                    </a:lnTo>
                    <a:lnTo>
                      <a:pt x="345" y="182"/>
                    </a:lnTo>
                    <a:lnTo>
                      <a:pt x="345" y="182"/>
                    </a:lnTo>
                    <a:lnTo>
                      <a:pt x="346" y="182"/>
                    </a:lnTo>
                    <a:lnTo>
                      <a:pt x="348" y="180"/>
                    </a:lnTo>
                    <a:lnTo>
                      <a:pt x="348" y="180"/>
                    </a:lnTo>
                    <a:lnTo>
                      <a:pt x="349" y="180"/>
                    </a:lnTo>
                    <a:lnTo>
                      <a:pt x="349" y="179"/>
                    </a:lnTo>
                    <a:lnTo>
                      <a:pt x="351" y="179"/>
                    </a:lnTo>
                    <a:lnTo>
                      <a:pt x="351" y="179"/>
                    </a:lnTo>
                    <a:lnTo>
                      <a:pt x="352" y="179"/>
                    </a:lnTo>
                    <a:lnTo>
                      <a:pt x="352" y="177"/>
                    </a:lnTo>
                    <a:lnTo>
                      <a:pt x="354" y="177"/>
                    </a:lnTo>
                    <a:lnTo>
                      <a:pt x="354" y="177"/>
                    </a:lnTo>
                    <a:lnTo>
                      <a:pt x="355" y="177"/>
                    </a:lnTo>
                    <a:lnTo>
                      <a:pt x="355" y="176"/>
                    </a:lnTo>
                    <a:lnTo>
                      <a:pt x="357" y="176"/>
                    </a:lnTo>
                    <a:lnTo>
                      <a:pt x="357" y="176"/>
                    </a:lnTo>
                    <a:lnTo>
                      <a:pt x="358" y="176"/>
                    </a:lnTo>
                    <a:lnTo>
                      <a:pt x="358" y="174"/>
                    </a:lnTo>
                    <a:lnTo>
                      <a:pt x="359" y="174"/>
                    </a:lnTo>
                    <a:lnTo>
                      <a:pt x="359" y="174"/>
                    </a:lnTo>
                    <a:lnTo>
                      <a:pt x="361" y="173"/>
                    </a:lnTo>
                    <a:lnTo>
                      <a:pt x="362" y="173"/>
                    </a:lnTo>
                    <a:lnTo>
                      <a:pt x="362" y="173"/>
                    </a:lnTo>
                    <a:lnTo>
                      <a:pt x="364" y="171"/>
                    </a:lnTo>
                    <a:lnTo>
                      <a:pt x="365" y="171"/>
                    </a:lnTo>
                    <a:lnTo>
                      <a:pt x="367" y="170"/>
                    </a:lnTo>
                    <a:lnTo>
                      <a:pt x="367" y="170"/>
                    </a:lnTo>
                    <a:lnTo>
                      <a:pt x="368" y="170"/>
                    </a:lnTo>
                    <a:lnTo>
                      <a:pt x="368" y="168"/>
                    </a:lnTo>
                    <a:lnTo>
                      <a:pt x="370" y="168"/>
                    </a:lnTo>
                    <a:lnTo>
                      <a:pt x="371" y="167"/>
                    </a:lnTo>
                    <a:lnTo>
                      <a:pt x="371" y="167"/>
                    </a:lnTo>
                    <a:lnTo>
                      <a:pt x="373" y="167"/>
                    </a:lnTo>
                    <a:lnTo>
                      <a:pt x="374" y="165"/>
                    </a:lnTo>
                    <a:lnTo>
                      <a:pt x="374" y="165"/>
                    </a:lnTo>
                    <a:lnTo>
                      <a:pt x="376" y="165"/>
                    </a:lnTo>
                    <a:lnTo>
                      <a:pt x="376" y="164"/>
                    </a:lnTo>
                    <a:lnTo>
                      <a:pt x="377" y="164"/>
                    </a:lnTo>
                    <a:lnTo>
                      <a:pt x="377" y="164"/>
                    </a:lnTo>
                    <a:lnTo>
                      <a:pt x="379" y="164"/>
                    </a:lnTo>
                    <a:lnTo>
                      <a:pt x="379" y="162"/>
                    </a:lnTo>
                    <a:lnTo>
                      <a:pt x="379" y="162"/>
                    </a:lnTo>
                    <a:lnTo>
                      <a:pt x="380" y="162"/>
                    </a:lnTo>
                    <a:lnTo>
                      <a:pt x="380" y="162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2" y="161"/>
                    </a:lnTo>
                    <a:lnTo>
                      <a:pt x="383" y="161"/>
                    </a:lnTo>
                    <a:lnTo>
                      <a:pt x="383" y="160"/>
                    </a:lnTo>
                    <a:lnTo>
                      <a:pt x="385" y="160"/>
                    </a:lnTo>
                    <a:lnTo>
                      <a:pt x="385" y="160"/>
                    </a:lnTo>
                    <a:lnTo>
                      <a:pt x="386" y="160"/>
                    </a:lnTo>
                    <a:lnTo>
                      <a:pt x="386" y="158"/>
                    </a:lnTo>
                    <a:lnTo>
                      <a:pt x="388" y="158"/>
                    </a:lnTo>
                    <a:lnTo>
                      <a:pt x="388" y="158"/>
                    </a:lnTo>
                    <a:lnTo>
                      <a:pt x="389" y="157"/>
                    </a:lnTo>
                    <a:lnTo>
                      <a:pt x="389" y="157"/>
                    </a:lnTo>
                    <a:lnTo>
                      <a:pt x="391" y="157"/>
                    </a:lnTo>
                    <a:lnTo>
                      <a:pt x="391" y="155"/>
                    </a:lnTo>
                    <a:lnTo>
                      <a:pt x="391" y="155"/>
                    </a:lnTo>
                    <a:lnTo>
                      <a:pt x="392" y="155"/>
                    </a:lnTo>
                    <a:lnTo>
                      <a:pt x="394" y="154"/>
                    </a:lnTo>
                    <a:lnTo>
                      <a:pt x="394" y="154"/>
                    </a:lnTo>
                    <a:lnTo>
                      <a:pt x="395" y="152"/>
                    </a:lnTo>
                    <a:lnTo>
                      <a:pt x="397" y="152"/>
                    </a:lnTo>
                    <a:lnTo>
                      <a:pt x="397" y="152"/>
                    </a:lnTo>
                    <a:lnTo>
                      <a:pt x="398" y="152"/>
                    </a:lnTo>
                    <a:lnTo>
                      <a:pt x="398" y="151"/>
                    </a:lnTo>
                    <a:lnTo>
                      <a:pt x="398" y="151"/>
                    </a:lnTo>
                    <a:lnTo>
                      <a:pt x="399" y="151"/>
                    </a:lnTo>
                    <a:lnTo>
                      <a:pt x="399" y="149"/>
                    </a:lnTo>
                    <a:lnTo>
                      <a:pt x="401" y="149"/>
                    </a:lnTo>
                    <a:lnTo>
                      <a:pt x="401" y="149"/>
                    </a:lnTo>
                    <a:lnTo>
                      <a:pt x="401" y="149"/>
                    </a:lnTo>
                    <a:lnTo>
                      <a:pt x="401" y="149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2" y="148"/>
                    </a:lnTo>
                    <a:lnTo>
                      <a:pt x="404" y="148"/>
                    </a:lnTo>
                    <a:lnTo>
                      <a:pt x="404" y="148"/>
                    </a:lnTo>
                    <a:lnTo>
                      <a:pt x="404" y="146"/>
                    </a:lnTo>
                    <a:lnTo>
                      <a:pt x="405" y="146"/>
                    </a:lnTo>
                    <a:lnTo>
                      <a:pt x="405" y="146"/>
                    </a:lnTo>
                    <a:lnTo>
                      <a:pt x="405" y="146"/>
                    </a:lnTo>
                    <a:lnTo>
                      <a:pt x="405" y="145"/>
                    </a:lnTo>
                    <a:lnTo>
                      <a:pt x="407" y="145"/>
                    </a:lnTo>
                    <a:lnTo>
                      <a:pt x="407" y="145"/>
                    </a:lnTo>
                    <a:lnTo>
                      <a:pt x="408" y="143"/>
                    </a:lnTo>
                    <a:lnTo>
                      <a:pt x="408" y="143"/>
                    </a:lnTo>
                    <a:lnTo>
                      <a:pt x="408" y="143"/>
                    </a:lnTo>
                    <a:lnTo>
                      <a:pt x="410" y="142"/>
                    </a:lnTo>
                    <a:lnTo>
                      <a:pt x="410" y="142"/>
                    </a:lnTo>
                    <a:lnTo>
                      <a:pt x="410" y="142"/>
                    </a:lnTo>
                    <a:lnTo>
                      <a:pt x="411" y="142"/>
                    </a:lnTo>
                    <a:lnTo>
                      <a:pt x="411" y="140"/>
                    </a:lnTo>
                    <a:lnTo>
                      <a:pt x="413" y="140"/>
                    </a:lnTo>
                    <a:lnTo>
                      <a:pt x="413" y="140"/>
                    </a:lnTo>
                    <a:lnTo>
                      <a:pt x="413" y="139"/>
                    </a:lnTo>
                    <a:lnTo>
                      <a:pt x="414" y="139"/>
                    </a:lnTo>
                    <a:lnTo>
                      <a:pt x="414" y="139"/>
                    </a:lnTo>
                    <a:lnTo>
                      <a:pt x="414" y="139"/>
                    </a:lnTo>
                    <a:lnTo>
                      <a:pt x="416" y="137"/>
                    </a:lnTo>
                    <a:lnTo>
                      <a:pt x="416" y="137"/>
                    </a:lnTo>
                    <a:lnTo>
                      <a:pt x="416" y="137"/>
                    </a:lnTo>
                    <a:lnTo>
                      <a:pt x="417" y="137"/>
                    </a:lnTo>
                    <a:lnTo>
                      <a:pt x="417" y="137"/>
                    </a:lnTo>
                    <a:lnTo>
                      <a:pt x="417" y="136"/>
                    </a:lnTo>
                    <a:lnTo>
                      <a:pt x="417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6"/>
                    </a:lnTo>
                    <a:lnTo>
                      <a:pt x="419" y="134"/>
                    </a:lnTo>
                    <a:lnTo>
                      <a:pt x="420" y="134"/>
                    </a:lnTo>
                    <a:lnTo>
                      <a:pt x="420" y="134"/>
                    </a:lnTo>
                    <a:lnTo>
                      <a:pt x="420" y="134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2" y="133"/>
                    </a:lnTo>
                    <a:lnTo>
                      <a:pt x="423" y="133"/>
                    </a:lnTo>
                    <a:lnTo>
                      <a:pt x="423" y="133"/>
                    </a:lnTo>
                    <a:lnTo>
                      <a:pt x="425" y="131"/>
                    </a:lnTo>
                    <a:lnTo>
                      <a:pt x="425" y="131"/>
                    </a:lnTo>
                    <a:lnTo>
                      <a:pt x="425" y="131"/>
                    </a:lnTo>
                    <a:lnTo>
                      <a:pt x="426" y="130"/>
                    </a:lnTo>
                    <a:lnTo>
                      <a:pt x="426" y="130"/>
                    </a:lnTo>
                    <a:lnTo>
                      <a:pt x="426" y="130"/>
                    </a:lnTo>
                    <a:lnTo>
                      <a:pt x="428" y="130"/>
                    </a:lnTo>
                    <a:lnTo>
                      <a:pt x="429" y="128"/>
                    </a:lnTo>
                    <a:lnTo>
                      <a:pt x="429" y="128"/>
                    </a:lnTo>
                    <a:lnTo>
                      <a:pt x="429" y="127"/>
                    </a:lnTo>
                    <a:lnTo>
                      <a:pt x="431" y="127"/>
                    </a:lnTo>
                    <a:lnTo>
                      <a:pt x="431" y="127"/>
                    </a:lnTo>
                    <a:lnTo>
                      <a:pt x="432" y="127"/>
                    </a:lnTo>
                    <a:lnTo>
                      <a:pt x="432" y="125"/>
                    </a:lnTo>
                    <a:lnTo>
                      <a:pt x="432" y="125"/>
                    </a:lnTo>
                    <a:lnTo>
                      <a:pt x="434" y="125"/>
                    </a:lnTo>
                    <a:lnTo>
                      <a:pt x="434" y="125"/>
                    </a:lnTo>
                    <a:lnTo>
                      <a:pt x="434" y="124"/>
                    </a:lnTo>
                    <a:lnTo>
                      <a:pt x="435" y="124"/>
                    </a:lnTo>
                    <a:lnTo>
                      <a:pt x="435" y="124"/>
                    </a:lnTo>
                    <a:lnTo>
                      <a:pt x="435" y="124"/>
                    </a:lnTo>
                    <a:lnTo>
                      <a:pt x="436" y="122"/>
                    </a:lnTo>
                    <a:lnTo>
                      <a:pt x="436" y="122"/>
                    </a:lnTo>
                    <a:lnTo>
                      <a:pt x="436" y="122"/>
                    </a:lnTo>
                    <a:lnTo>
                      <a:pt x="436" y="122"/>
                    </a:lnTo>
                    <a:lnTo>
                      <a:pt x="438" y="121"/>
                    </a:lnTo>
                    <a:lnTo>
                      <a:pt x="438" y="121"/>
                    </a:lnTo>
                    <a:lnTo>
                      <a:pt x="438" y="121"/>
                    </a:lnTo>
                    <a:lnTo>
                      <a:pt x="439" y="120"/>
                    </a:lnTo>
                    <a:lnTo>
                      <a:pt x="439" y="120"/>
                    </a:lnTo>
                    <a:lnTo>
                      <a:pt x="439" y="118"/>
                    </a:lnTo>
                    <a:lnTo>
                      <a:pt x="441" y="118"/>
                    </a:lnTo>
                    <a:lnTo>
                      <a:pt x="441" y="118"/>
                    </a:lnTo>
                    <a:lnTo>
                      <a:pt x="442" y="117"/>
                    </a:lnTo>
                    <a:lnTo>
                      <a:pt x="442" y="117"/>
                    </a:lnTo>
                    <a:lnTo>
                      <a:pt x="444" y="115"/>
                    </a:lnTo>
                    <a:lnTo>
                      <a:pt x="444" y="115"/>
                    </a:lnTo>
                    <a:lnTo>
                      <a:pt x="445" y="114"/>
                    </a:lnTo>
                    <a:lnTo>
                      <a:pt x="445" y="114"/>
                    </a:lnTo>
                    <a:lnTo>
                      <a:pt x="445" y="112"/>
                    </a:lnTo>
                    <a:lnTo>
                      <a:pt x="447" y="112"/>
                    </a:lnTo>
                    <a:lnTo>
                      <a:pt x="448" y="111"/>
                    </a:lnTo>
                    <a:lnTo>
                      <a:pt x="448" y="111"/>
                    </a:lnTo>
                    <a:lnTo>
                      <a:pt x="448" y="109"/>
                    </a:lnTo>
                    <a:lnTo>
                      <a:pt x="450" y="109"/>
                    </a:lnTo>
                    <a:lnTo>
                      <a:pt x="450" y="108"/>
                    </a:lnTo>
                    <a:lnTo>
                      <a:pt x="451" y="108"/>
                    </a:lnTo>
                    <a:lnTo>
                      <a:pt x="451" y="108"/>
                    </a:lnTo>
                    <a:lnTo>
                      <a:pt x="451" y="106"/>
                    </a:lnTo>
                    <a:lnTo>
                      <a:pt x="453" y="106"/>
                    </a:lnTo>
                    <a:lnTo>
                      <a:pt x="453" y="105"/>
                    </a:lnTo>
                    <a:lnTo>
                      <a:pt x="453" y="105"/>
                    </a:lnTo>
                    <a:lnTo>
                      <a:pt x="454" y="105"/>
                    </a:lnTo>
                    <a:lnTo>
                      <a:pt x="454" y="103"/>
                    </a:lnTo>
                    <a:lnTo>
                      <a:pt x="454" y="103"/>
                    </a:lnTo>
                    <a:lnTo>
                      <a:pt x="456" y="103"/>
                    </a:lnTo>
                    <a:lnTo>
                      <a:pt x="456" y="102"/>
                    </a:lnTo>
                    <a:lnTo>
                      <a:pt x="456" y="102"/>
                    </a:lnTo>
                    <a:lnTo>
                      <a:pt x="457" y="100"/>
                    </a:lnTo>
                    <a:lnTo>
                      <a:pt x="457" y="100"/>
                    </a:lnTo>
                    <a:lnTo>
                      <a:pt x="459" y="100"/>
                    </a:lnTo>
                    <a:lnTo>
                      <a:pt x="459" y="99"/>
                    </a:lnTo>
                    <a:lnTo>
                      <a:pt x="459" y="99"/>
                    </a:lnTo>
                    <a:lnTo>
                      <a:pt x="460" y="97"/>
                    </a:lnTo>
                    <a:lnTo>
                      <a:pt x="460" y="97"/>
                    </a:lnTo>
                    <a:lnTo>
                      <a:pt x="462" y="96"/>
                    </a:lnTo>
                    <a:lnTo>
                      <a:pt x="462" y="94"/>
                    </a:lnTo>
                    <a:lnTo>
                      <a:pt x="463" y="94"/>
                    </a:lnTo>
                    <a:lnTo>
                      <a:pt x="463" y="93"/>
                    </a:lnTo>
                    <a:lnTo>
                      <a:pt x="465" y="91"/>
                    </a:lnTo>
                    <a:lnTo>
                      <a:pt x="466" y="90"/>
                    </a:lnTo>
                    <a:lnTo>
                      <a:pt x="466" y="90"/>
                    </a:lnTo>
                    <a:lnTo>
                      <a:pt x="466" y="88"/>
                    </a:lnTo>
                    <a:lnTo>
                      <a:pt x="468" y="88"/>
                    </a:lnTo>
                    <a:lnTo>
                      <a:pt x="469" y="87"/>
                    </a:lnTo>
                    <a:lnTo>
                      <a:pt x="469" y="85"/>
                    </a:lnTo>
                    <a:lnTo>
                      <a:pt x="471" y="85"/>
                    </a:lnTo>
                    <a:lnTo>
                      <a:pt x="471" y="84"/>
                    </a:lnTo>
                    <a:lnTo>
                      <a:pt x="472" y="83"/>
                    </a:lnTo>
                    <a:lnTo>
                      <a:pt x="472" y="83"/>
                    </a:lnTo>
                    <a:lnTo>
                      <a:pt x="474" y="81"/>
                    </a:lnTo>
                    <a:lnTo>
                      <a:pt x="474" y="81"/>
                    </a:lnTo>
                    <a:lnTo>
                      <a:pt x="474" y="80"/>
                    </a:lnTo>
                    <a:lnTo>
                      <a:pt x="475" y="80"/>
                    </a:lnTo>
                    <a:lnTo>
                      <a:pt x="475" y="78"/>
                    </a:lnTo>
                    <a:lnTo>
                      <a:pt x="476" y="78"/>
                    </a:lnTo>
                    <a:lnTo>
                      <a:pt x="476" y="78"/>
                    </a:lnTo>
                    <a:lnTo>
                      <a:pt x="476" y="77"/>
                    </a:lnTo>
                    <a:lnTo>
                      <a:pt x="478" y="77"/>
                    </a:lnTo>
                    <a:lnTo>
                      <a:pt x="478" y="75"/>
                    </a:lnTo>
                    <a:lnTo>
                      <a:pt x="478" y="75"/>
                    </a:lnTo>
                    <a:lnTo>
                      <a:pt x="479" y="74"/>
                    </a:lnTo>
                    <a:lnTo>
                      <a:pt x="479" y="74"/>
                    </a:lnTo>
                    <a:lnTo>
                      <a:pt x="479" y="72"/>
                    </a:lnTo>
                    <a:lnTo>
                      <a:pt x="481" y="72"/>
                    </a:lnTo>
                    <a:lnTo>
                      <a:pt x="481" y="71"/>
                    </a:lnTo>
                    <a:lnTo>
                      <a:pt x="482" y="69"/>
                    </a:lnTo>
                    <a:lnTo>
                      <a:pt x="482" y="69"/>
                    </a:lnTo>
                    <a:lnTo>
                      <a:pt x="484" y="68"/>
                    </a:lnTo>
                    <a:lnTo>
                      <a:pt x="484" y="66"/>
                    </a:lnTo>
                    <a:lnTo>
                      <a:pt x="485" y="65"/>
                    </a:lnTo>
                    <a:lnTo>
                      <a:pt x="485" y="65"/>
                    </a:lnTo>
                    <a:lnTo>
                      <a:pt x="487" y="63"/>
                    </a:lnTo>
                    <a:lnTo>
                      <a:pt x="488" y="62"/>
                    </a:lnTo>
                    <a:lnTo>
                      <a:pt x="488" y="62"/>
                    </a:lnTo>
                    <a:lnTo>
                      <a:pt x="488" y="60"/>
                    </a:lnTo>
                    <a:lnTo>
                      <a:pt x="490" y="59"/>
                    </a:lnTo>
                    <a:lnTo>
                      <a:pt x="491" y="57"/>
                    </a:lnTo>
                    <a:lnTo>
                      <a:pt x="491" y="56"/>
                    </a:lnTo>
                    <a:lnTo>
                      <a:pt x="493" y="54"/>
                    </a:lnTo>
                    <a:lnTo>
                      <a:pt x="493" y="54"/>
                    </a:lnTo>
                    <a:lnTo>
                      <a:pt x="494" y="53"/>
                    </a:lnTo>
                    <a:lnTo>
                      <a:pt x="494" y="53"/>
                    </a:lnTo>
                    <a:lnTo>
                      <a:pt x="496" y="51"/>
                    </a:lnTo>
                    <a:lnTo>
                      <a:pt x="496" y="50"/>
                    </a:lnTo>
                    <a:lnTo>
                      <a:pt x="496" y="50"/>
                    </a:lnTo>
                    <a:lnTo>
                      <a:pt x="497" y="48"/>
                    </a:lnTo>
                    <a:lnTo>
                      <a:pt x="497" y="48"/>
                    </a:lnTo>
                    <a:lnTo>
                      <a:pt x="499" y="47"/>
                    </a:lnTo>
                    <a:lnTo>
                      <a:pt x="499" y="47"/>
                    </a:lnTo>
                    <a:lnTo>
                      <a:pt x="499" y="46"/>
                    </a:lnTo>
                    <a:lnTo>
                      <a:pt x="500" y="46"/>
                    </a:lnTo>
                    <a:lnTo>
                      <a:pt x="500" y="44"/>
                    </a:lnTo>
                    <a:lnTo>
                      <a:pt x="500" y="44"/>
                    </a:lnTo>
                    <a:lnTo>
                      <a:pt x="502" y="43"/>
                    </a:lnTo>
                    <a:lnTo>
                      <a:pt x="502" y="43"/>
                    </a:lnTo>
                    <a:lnTo>
                      <a:pt x="503" y="41"/>
                    </a:lnTo>
                    <a:lnTo>
                      <a:pt x="503" y="40"/>
                    </a:lnTo>
                    <a:lnTo>
                      <a:pt x="503" y="40"/>
                    </a:lnTo>
                    <a:lnTo>
                      <a:pt x="505" y="38"/>
                    </a:lnTo>
                    <a:lnTo>
                      <a:pt x="505" y="37"/>
                    </a:lnTo>
                    <a:lnTo>
                      <a:pt x="506" y="37"/>
                    </a:lnTo>
                    <a:lnTo>
                      <a:pt x="508" y="35"/>
                    </a:lnTo>
                    <a:lnTo>
                      <a:pt x="508" y="34"/>
                    </a:lnTo>
                    <a:lnTo>
                      <a:pt x="509" y="32"/>
                    </a:lnTo>
                    <a:lnTo>
                      <a:pt x="509" y="31"/>
                    </a:lnTo>
                    <a:lnTo>
                      <a:pt x="511" y="29"/>
                    </a:lnTo>
                    <a:lnTo>
                      <a:pt x="511" y="29"/>
                    </a:lnTo>
                    <a:lnTo>
                      <a:pt x="512" y="28"/>
                    </a:lnTo>
                    <a:lnTo>
                      <a:pt x="513" y="26"/>
                    </a:lnTo>
                    <a:lnTo>
                      <a:pt x="513" y="26"/>
                    </a:lnTo>
                    <a:lnTo>
                      <a:pt x="515" y="25"/>
                    </a:lnTo>
                    <a:lnTo>
                      <a:pt x="515" y="23"/>
                    </a:lnTo>
                    <a:lnTo>
                      <a:pt x="516" y="22"/>
                    </a:lnTo>
                    <a:lnTo>
                      <a:pt x="516" y="22"/>
                    </a:lnTo>
                    <a:lnTo>
                      <a:pt x="518" y="20"/>
                    </a:lnTo>
                    <a:lnTo>
                      <a:pt x="518" y="19"/>
                    </a:lnTo>
                    <a:lnTo>
                      <a:pt x="519" y="19"/>
                    </a:lnTo>
                    <a:lnTo>
                      <a:pt x="519" y="17"/>
                    </a:lnTo>
                    <a:lnTo>
                      <a:pt x="519" y="17"/>
                    </a:lnTo>
                    <a:lnTo>
                      <a:pt x="521" y="16"/>
                    </a:lnTo>
                    <a:lnTo>
                      <a:pt x="521" y="16"/>
                    </a:lnTo>
                    <a:lnTo>
                      <a:pt x="521" y="14"/>
                    </a:lnTo>
                    <a:lnTo>
                      <a:pt x="522" y="14"/>
                    </a:lnTo>
                    <a:lnTo>
                      <a:pt x="522" y="13"/>
                    </a:lnTo>
                    <a:lnTo>
                      <a:pt x="522" y="13"/>
                    </a:lnTo>
                    <a:lnTo>
                      <a:pt x="524" y="11"/>
                    </a:lnTo>
                    <a:lnTo>
                      <a:pt x="524" y="11"/>
                    </a:lnTo>
                    <a:lnTo>
                      <a:pt x="524" y="10"/>
                    </a:lnTo>
                    <a:lnTo>
                      <a:pt x="525" y="10"/>
                    </a:lnTo>
                    <a:lnTo>
                      <a:pt x="525" y="8"/>
                    </a:lnTo>
                    <a:lnTo>
                      <a:pt x="525" y="8"/>
                    </a:lnTo>
                    <a:lnTo>
                      <a:pt x="525" y="7"/>
                    </a:lnTo>
                    <a:lnTo>
                      <a:pt x="527" y="7"/>
                    </a:lnTo>
                    <a:lnTo>
                      <a:pt x="527" y="6"/>
                    </a:lnTo>
                    <a:lnTo>
                      <a:pt x="528" y="4"/>
                    </a:lnTo>
                    <a:lnTo>
                      <a:pt x="528" y="4"/>
                    </a:lnTo>
                    <a:lnTo>
                      <a:pt x="528" y="3"/>
                    </a:lnTo>
                    <a:lnTo>
                      <a:pt x="530" y="1"/>
                    </a:lnTo>
                    <a:lnTo>
                      <a:pt x="530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8" name="Freeform 401"/>
              <p:cNvSpPr>
                <a:spLocks/>
              </p:cNvSpPr>
              <p:nvPr/>
            </p:nvSpPr>
            <p:spPr bwMode="auto">
              <a:xfrm>
                <a:off x="2669" y="3381"/>
                <a:ext cx="176" cy="71"/>
              </a:xfrm>
              <a:custGeom>
                <a:avLst/>
                <a:gdLst>
                  <a:gd name="T0" fmla="*/ 103 w 530"/>
                  <a:gd name="T1" fmla="*/ 0 h 212"/>
                  <a:gd name="T2" fmla="*/ 177 w 530"/>
                  <a:gd name="T3" fmla="*/ 0 h 212"/>
                  <a:gd name="T4" fmla="*/ 214 w 530"/>
                  <a:gd name="T5" fmla="*/ 0 h 212"/>
                  <a:gd name="T6" fmla="*/ 231 w 530"/>
                  <a:gd name="T7" fmla="*/ 1 h 212"/>
                  <a:gd name="T8" fmla="*/ 240 w 530"/>
                  <a:gd name="T9" fmla="*/ 1 h 212"/>
                  <a:gd name="T10" fmla="*/ 248 w 530"/>
                  <a:gd name="T11" fmla="*/ 1 h 212"/>
                  <a:gd name="T12" fmla="*/ 254 w 530"/>
                  <a:gd name="T13" fmla="*/ 3 h 212"/>
                  <a:gd name="T14" fmla="*/ 259 w 530"/>
                  <a:gd name="T15" fmla="*/ 3 h 212"/>
                  <a:gd name="T16" fmla="*/ 266 w 530"/>
                  <a:gd name="T17" fmla="*/ 4 h 212"/>
                  <a:gd name="T18" fmla="*/ 274 w 530"/>
                  <a:gd name="T19" fmla="*/ 6 h 212"/>
                  <a:gd name="T20" fmla="*/ 281 w 530"/>
                  <a:gd name="T21" fmla="*/ 6 h 212"/>
                  <a:gd name="T22" fmla="*/ 287 w 530"/>
                  <a:gd name="T23" fmla="*/ 7 h 212"/>
                  <a:gd name="T24" fmla="*/ 293 w 530"/>
                  <a:gd name="T25" fmla="*/ 9 h 212"/>
                  <a:gd name="T26" fmla="*/ 302 w 530"/>
                  <a:gd name="T27" fmla="*/ 12 h 212"/>
                  <a:gd name="T28" fmla="*/ 311 w 530"/>
                  <a:gd name="T29" fmla="*/ 15 h 212"/>
                  <a:gd name="T30" fmla="*/ 318 w 530"/>
                  <a:gd name="T31" fmla="*/ 18 h 212"/>
                  <a:gd name="T32" fmla="*/ 324 w 530"/>
                  <a:gd name="T33" fmla="*/ 19 h 212"/>
                  <a:gd name="T34" fmla="*/ 330 w 530"/>
                  <a:gd name="T35" fmla="*/ 22 h 212"/>
                  <a:gd name="T36" fmla="*/ 337 w 530"/>
                  <a:gd name="T37" fmla="*/ 25 h 212"/>
                  <a:gd name="T38" fmla="*/ 345 w 530"/>
                  <a:gd name="T39" fmla="*/ 30 h 212"/>
                  <a:gd name="T40" fmla="*/ 351 w 530"/>
                  <a:gd name="T41" fmla="*/ 32 h 212"/>
                  <a:gd name="T42" fmla="*/ 357 w 530"/>
                  <a:gd name="T43" fmla="*/ 35 h 212"/>
                  <a:gd name="T44" fmla="*/ 362 w 530"/>
                  <a:gd name="T45" fmla="*/ 38 h 212"/>
                  <a:gd name="T46" fmla="*/ 368 w 530"/>
                  <a:gd name="T47" fmla="*/ 43 h 212"/>
                  <a:gd name="T48" fmla="*/ 376 w 530"/>
                  <a:gd name="T49" fmla="*/ 46 h 212"/>
                  <a:gd name="T50" fmla="*/ 380 w 530"/>
                  <a:gd name="T51" fmla="*/ 49 h 212"/>
                  <a:gd name="T52" fmla="*/ 385 w 530"/>
                  <a:gd name="T53" fmla="*/ 52 h 212"/>
                  <a:gd name="T54" fmla="*/ 389 w 530"/>
                  <a:gd name="T55" fmla="*/ 55 h 212"/>
                  <a:gd name="T56" fmla="*/ 395 w 530"/>
                  <a:gd name="T57" fmla="*/ 59 h 212"/>
                  <a:gd name="T58" fmla="*/ 399 w 530"/>
                  <a:gd name="T59" fmla="*/ 62 h 212"/>
                  <a:gd name="T60" fmla="*/ 402 w 530"/>
                  <a:gd name="T61" fmla="*/ 64 h 212"/>
                  <a:gd name="T62" fmla="*/ 405 w 530"/>
                  <a:gd name="T63" fmla="*/ 67 h 212"/>
                  <a:gd name="T64" fmla="*/ 410 w 530"/>
                  <a:gd name="T65" fmla="*/ 69 h 212"/>
                  <a:gd name="T66" fmla="*/ 414 w 530"/>
                  <a:gd name="T67" fmla="*/ 72 h 212"/>
                  <a:gd name="T68" fmla="*/ 417 w 530"/>
                  <a:gd name="T69" fmla="*/ 75 h 212"/>
                  <a:gd name="T70" fmla="*/ 420 w 530"/>
                  <a:gd name="T71" fmla="*/ 77 h 212"/>
                  <a:gd name="T72" fmla="*/ 423 w 530"/>
                  <a:gd name="T73" fmla="*/ 80 h 212"/>
                  <a:gd name="T74" fmla="*/ 428 w 530"/>
                  <a:gd name="T75" fmla="*/ 83 h 212"/>
                  <a:gd name="T76" fmla="*/ 432 w 530"/>
                  <a:gd name="T77" fmla="*/ 86 h 212"/>
                  <a:gd name="T78" fmla="*/ 435 w 530"/>
                  <a:gd name="T79" fmla="*/ 89 h 212"/>
                  <a:gd name="T80" fmla="*/ 438 w 530"/>
                  <a:gd name="T81" fmla="*/ 92 h 212"/>
                  <a:gd name="T82" fmla="*/ 442 w 530"/>
                  <a:gd name="T83" fmla="*/ 96 h 212"/>
                  <a:gd name="T84" fmla="*/ 448 w 530"/>
                  <a:gd name="T85" fmla="*/ 101 h 212"/>
                  <a:gd name="T86" fmla="*/ 451 w 530"/>
                  <a:gd name="T87" fmla="*/ 105 h 212"/>
                  <a:gd name="T88" fmla="*/ 456 w 530"/>
                  <a:gd name="T89" fmla="*/ 109 h 212"/>
                  <a:gd name="T90" fmla="*/ 459 w 530"/>
                  <a:gd name="T91" fmla="*/ 114 h 212"/>
                  <a:gd name="T92" fmla="*/ 465 w 530"/>
                  <a:gd name="T93" fmla="*/ 120 h 212"/>
                  <a:gd name="T94" fmla="*/ 471 w 530"/>
                  <a:gd name="T95" fmla="*/ 127 h 212"/>
                  <a:gd name="T96" fmla="*/ 475 w 530"/>
                  <a:gd name="T97" fmla="*/ 132 h 212"/>
                  <a:gd name="T98" fmla="*/ 478 w 530"/>
                  <a:gd name="T99" fmla="*/ 138 h 212"/>
                  <a:gd name="T100" fmla="*/ 482 w 530"/>
                  <a:gd name="T101" fmla="*/ 144 h 212"/>
                  <a:gd name="T102" fmla="*/ 488 w 530"/>
                  <a:gd name="T103" fmla="*/ 149 h 212"/>
                  <a:gd name="T104" fmla="*/ 494 w 530"/>
                  <a:gd name="T105" fmla="*/ 158 h 212"/>
                  <a:gd name="T106" fmla="*/ 499 w 530"/>
                  <a:gd name="T107" fmla="*/ 164 h 212"/>
                  <a:gd name="T108" fmla="*/ 502 w 530"/>
                  <a:gd name="T109" fmla="*/ 170 h 212"/>
                  <a:gd name="T110" fmla="*/ 508 w 530"/>
                  <a:gd name="T111" fmla="*/ 176 h 212"/>
                  <a:gd name="T112" fmla="*/ 513 w 530"/>
                  <a:gd name="T113" fmla="*/ 185 h 212"/>
                  <a:gd name="T114" fmla="*/ 518 w 530"/>
                  <a:gd name="T115" fmla="*/ 192 h 212"/>
                  <a:gd name="T116" fmla="*/ 522 w 530"/>
                  <a:gd name="T117" fmla="*/ 197 h 212"/>
                  <a:gd name="T118" fmla="*/ 525 w 530"/>
                  <a:gd name="T119" fmla="*/ 203 h 212"/>
                  <a:gd name="T120" fmla="*/ 528 w 530"/>
                  <a:gd name="T121" fmla="*/ 20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" h="212">
                    <a:moveTo>
                      <a:pt x="0" y="0"/>
                    </a:moveTo>
                    <a:lnTo>
                      <a:pt x="19" y="0"/>
                    </a:lnTo>
                    <a:lnTo>
                      <a:pt x="38" y="0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88" y="0"/>
                    </a:lnTo>
                    <a:lnTo>
                      <a:pt x="103" y="0"/>
                    </a:lnTo>
                    <a:lnTo>
                      <a:pt x="117" y="0"/>
                    </a:lnTo>
                    <a:lnTo>
                      <a:pt x="128" y="0"/>
                    </a:lnTo>
                    <a:lnTo>
                      <a:pt x="140" y="0"/>
                    </a:lnTo>
                    <a:lnTo>
                      <a:pt x="151" y="0"/>
                    </a:lnTo>
                    <a:lnTo>
                      <a:pt x="160" y="0"/>
                    </a:lnTo>
                    <a:lnTo>
                      <a:pt x="168" y="0"/>
                    </a:lnTo>
                    <a:lnTo>
                      <a:pt x="177" y="0"/>
                    </a:lnTo>
                    <a:lnTo>
                      <a:pt x="185" y="0"/>
                    </a:lnTo>
                    <a:lnTo>
                      <a:pt x="191" y="0"/>
                    </a:lnTo>
                    <a:lnTo>
                      <a:pt x="197" y="0"/>
                    </a:lnTo>
                    <a:lnTo>
                      <a:pt x="203" y="0"/>
                    </a:lnTo>
                    <a:lnTo>
                      <a:pt x="207" y="0"/>
                    </a:lnTo>
                    <a:lnTo>
                      <a:pt x="211" y="0"/>
                    </a:lnTo>
                    <a:lnTo>
                      <a:pt x="214" y="0"/>
                    </a:lnTo>
                    <a:lnTo>
                      <a:pt x="217" y="1"/>
                    </a:lnTo>
                    <a:lnTo>
                      <a:pt x="220" y="1"/>
                    </a:lnTo>
                    <a:lnTo>
                      <a:pt x="223" y="1"/>
                    </a:lnTo>
                    <a:lnTo>
                      <a:pt x="226" y="1"/>
                    </a:lnTo>
                    <a:lnTo>
                      <a:pt x="228" y="1"/>
                    </a:lnTo>
                    <a:lnTo>
                      <a:pt x="229" y="1"/>
                    </a:lnTo>
                    <a:lnTo>
                      <a:pt x="231" y="1"/>
                    </a:lnTo>
                    <a:lnTo>
                      <a:pt x="232" y="1"/>
                    </a:lnTo>
                    <a:lnTo>
                      <a:pt x="234" y="1"/>
                    </a:lnTo>
                    <a:lnTo>
                      <a:pt x="235" y="1"/>
                    </a:lnTo>
                    <a:lnTo>
                      <a:pt x="237" y="1"/>
                    </a:lnTo>
                    <a:lnTo>
                      <a:pt x="238" y="1"/>
                    </a:lnTo>
                    <a:lnTo>
                      <a:pt x="238" y="1"/>
                    </a:lnTo>
                    <a:lnTo>
                      <a:pt x="240" y="1"/>
                    </a:lnTo>
                    <a:lnTo>
                      <a:pt x="241" y="1"/>
                    </a:lnTo>
                    <a:lnTo>
                      <a:pt x="242" y="1"/>
                    </a:lnTo>
                    <a:lnTo>
                      <a:pt x="244" y="1"/>
                    </a:lnTo>
                    <a:lnTo>
                      <a:pt x="245" y="1"/>
                    </a:lnTo>
                    <a:lnTo>
                      <a:pt x="245" y="1"/>
                    </a:lnTo>
                    <a:lnTo>
                      <a:pt x="247" y="1"/>
                    </a:lnTo>
                    <a:lnTo>
                      <a:pt x="248" y="1"/>
                    </a:lnTo>
                    <a:lnTo>
                      <a:pt x="248" y="3"/>
                    </a:lnTo>
                    <a:lnTo>
                      <a:pt x="250" y="3"/>
                    </a:lnTo>
                    <a:lnTo>
                      <a:pt x="251" y="3"/>
                    </a:lnTo>
                    <a:lnTo>
                      <a:pt x="251" y="3"/>
                    </a:lnTo>
                    <a:lnTo>
                      <a:pt x="253" y="3"/>
                    </a:lnTo>
                    <a:lnTo>
                      <a:pt x="253" y="3"/>
                    </a:lnTo>
                    <a:lnTo>
                      <a:pt x="254" y="3"/>
                    </a:lnTo>
                    <a:lnTo>
                      <a:pt x="254" y="3"/>
                    </a:lnTo>
                    <a:lnTo>
                      <a:pt x="256" y="3"/>
                    </a:lnTo>
                    <a:lnTo>
                      <a:pt x="256" y="3"/>
                    </a:lnTo>
                    <a:lnTo>
                      <a:pt x="257" y="3"/>
                    </a:lnTo>
                    <a:lnTo>
                      <a:pt x="257" y="3"/>
                    </a:lnTo>
                    <a:lnTo>
                      <a:pt x="259" y="3"/>
                    </a:lnTo>
                    <a:lnTo>
                      <a:pt x="259" y="3"/>
                    </a:lnTo>
                    <a:lnTo>
                      <a:pt x="260" y="3"/>
                    </a:lnTo>
                    <a:lnTo>
                      <a:pt x="262" y="3"/>
                    </a:lnTo>
                    <a:lnTo>
                      <a:pt x="262" y="3"/>
                    </a:lnTo>
                    <a:lnTo>
                      <a:pt x="263" y="4"/>
                    </a:lnTo>
                    <a:lnTo>
                      <a:pt x="265" y="4"/>
                    </a:lnTo>
                    <a:lnTo>
                      <a:pt x="265" y="4"/>
                    </a:lnTo>
                    <a:lnTo>
                      <a:pt x="266" y="4"/>
                    </a:lnTo>
                    <a:lnTo>
                      <a:pt x="268" y="4"/>
                    </a:lnTo>
                    <a:lnTo>
                      <a:pt x="269" y="4"/>
                    </a:lnTo>
                    <a:lnTo>
                      <a:pt x="271" y="4"/>
                    </a:lnTo>
                    <a:lnTo>
                      <a:pt x="271" y="4"/>
                    </a:lnTo>
                    <a:lnTo>
                      <a:pt x="272" y="4"/>
                    </a:lnTo>
                    <a:lnTo>
                      <a:pt x="274" y="6"/>
                    </a:lnTo>
                    <a:lnTo>
                      <a:pt x="274" y="6"/>
                    </a:lnTo>
                    <a:lnTo>
                      <a:pt x="275" y="6"/>
                    </a:lnTo>
                    <a:lnTo>
                      <a:pt x="277" y="6"/>
                    </a:lnTo>
                    <a:lnTo>
                      <a:pt x="278" y="6"/>
                    </a:lnTo>
                    <a:lnTo>
                      <a:pt x="278" y="6"/>
                    </a:lnTo>
                    <a:lnTo>
                      <a:pt x="280" y="6"/>
                    </a:lnTo>
                    <a:lnTo>
                      <a:pt x="281" y="6"/>
                    </a:lnTo>
                    <a:lnTo>
                      <a:pt x="281" y="6"/>
                    </a:lnTo>
                    <a:lnTo>
                      <a:pt x="282" y="6"/>
                    </a:lnTo>
                    <a:lnTo>
                      <a:pt x="282" y="7"/>
                    </a:lnTo>
                    <a:lnTo>
                      <a:pt x="284" y="7"/>
                    </a:lnTo>
                    <a:lnTo>
                      <a:pt x="284" y="7"/>
                    </a:lnTo>
                    <a:lnTo>
                      <a:pt x="285" y="7"/>
                    </a:lnTo>
                    <a:lnTo>
                      <a:pt x="285" y="7"/>
                    </a:lnTo>
                    <a:lnTo>
                      <a:pt x="287" y="7"/>
                    </a:lnTo>
                    <a:lnTo>
                      <a:pt x="288" y="7"/>
                    </a:lnTo>
                    <a:lnTo>
                      <a:pt x="288" y="7"/>
                    </a:lnTo>
                    <a:lnTo>
                      <a:pt x="290" y="9"/>
                    </a:lnTo>
                    <a:lnTo>
                      <a:pt x="290" y="9"/>
                    </a:lnTo>
                    <a:lnTo>
                      <a:pt x="291" y="9"/>
                    </a:lnTo>
                    <a:lnTo>
                      <a:pt x="293" y="9"/>
                    </a:lnTo>
                    <a:lnTo>
                      <a:pt x="293" y="9"/>
                    </a:lnTo>
                    <a:lnTo>
                      <a:pt x="294" y="9"/>
                    </a:lnTo>
                    <a:lnTo>
                      <a:pt x="296" y="10"/>
                    </a:lnTo>
                    <a:lnTo>
                      <a:pt x="296" y="10"/>
                    </a:lnTo>
                    <a:lnTo>
                      <a:pt x="297" y="10"/>
                    </a:lnTo>
                    <a:lnTo>
                      <a:pt x="299" y="12"/>
                    </a:lnTo>
                    <a:lnTo>
                      <a:pt x="300" y="12"/>
                    </a:lnTo>
                    <a:lnTo>
                      <a:pt x="302" y="12"/>
                    </a:lnTo>
                    <a:lnTo>
                      <a:pt x="303" y="12"/>
                    </a:lnTo>
                    <a:lnTo>
                      <a:pt x="303" y="12"/>
                    </a:lnTo>
                    <a:lnTo>
                      <a:pt x="305" y="13"/>
                    </a:lnTo>
                    <a:lnTo>
                      <a:pt x="306" y="13"/>
                    </a:lnTo>
                    <a:lnTo>
                      <a:pt x="308" y="13"/>
                    </a:lnTo>
                    <a:lnTo>
                      <a:pt x="309" y="15"/>
                    </a:lnTo>
                    <a:lnTo>
                      <a:pt x="311" y="15"/>
                    </a:lnTo>
                    <a:lnTo>
                      <a:pt x="312" y="15"/>
                    </a:lnTo>
                    <a:lnTo>
                      <a:pt x="314" y="16"/>
                    </a:lnTo>
                    <a:lnTo>
                      <a:pt x="314" y="16"/>
                    </a:lnTo>
                    <a:lnTo>
                      <a:pt x="315" y="16"/>
                    </a:lnTo>
                    <a:lnTo>
                      <a:pt x="317" y="16"/>
                    </a:lnTo>
                    <a:lnTo>
                      <a:pt x="317" y="16"/>
                    </a:lnTo>
                    <a:lnTo>
                      <a:pt x="318" y="18"/>
                    </a:lnTo>
                    <a:lnTo>
                      <a:pt x="318" y="18"/>
                    </a:lnTo>
                    <a:lnTo>
                      <a:pt x="320" y="18"/>
                    </a:lnTo>
                    <a:lnTo>
                      <a:pt x="321" y="18"/>
                    </a:lnTo>
                    <a:lnTo>
                      <a:pt x="321" y="18"/>
                    </a:lnTo>
                    <a:lnTo>
                      <a:pt x="322" y="19"/>
                    </a:lnTo>
                    <a:lnTo>
                      <a:pt x="322" y="19"/>
                    </a:lnTo>
                    <a:lnTo>
                      <a:pt x="324" y="19"/>
                    </a:lnTo>
                    <a:lnTo>
                      <a:pt x="324" y="19"/>
                    </a:lnTo>
                    <a:lnTo>
                      <a:pt x="325" y="21"/>
                    </a:lnTo>
                    <a:lnTo>
                      <a:pt x="325" y="21"/>
                    </a:lnTo>
                    <a:lnTo>
                      <a:pt x="327" y="21"/>
                    </a:lnTo>
                    <a:lnTo>
                      <a:pt x="327" y="21"/>
                    </a:lnTo>
                    <a:lnTo>
                      <a:pt x="328" y="22"/>
                    </a:lnTo>
                    <a:lnTo>
                      <a:pt x="330" y="22"/>
                    </a:lnTo>
                    <a:lnTo>
                      <a:pt x="330" y="22"/>
                    </a:lnTo>
                    <a:lnTo>
                      <a:pt x="331" y="24"/>
                    </a:lnTo>
                    <a:lnTo>
                      <a:pt x="333" y="24"/>
                    </a:lnTo>
                    <a:lnTo>
                      <a:pt x="334" y="25"/>
                    </a:lnTo>
                    <a:lnTo>
                      <a:pt x="336" y="25"/>
                    </a:lnTo>
                    <a:lnTo>
                      <a:pt x="337" y="25"/>
                    </a:lnTo>
                    <a:lnTo>
                      <a:pt x="337" y="25"/>
                    </a:lnTo>
                    <a:lnTo>
                      <a:pt x="339" y="27"/>
                    </a:lnTo>
                    <a:lnTo>
                      <a:pt x="340" y="27"/>
                    </a:lnTo>
                    <a:lnTo>
                      <a:pt x="340" y="28"/>
                    </a:lnTo>
                    <a:lnTo>
                      <a:pt x="342" y="28"/>
                    </a:lnTo>
                    <a:lnTo>
                      <a:pt x="343" y="30"/>
                    </a:lnTo>
                    <a:lnTo>
                      <a:pt x="345" y="30"/>
                    </a:lnTo>
                    <a:lnTo>
                      <a:pt x="345" y="30"/>
                    </a:lnTo>
                    <a:lnTo>
                      <a:pt x="346" y="31"/>
                    </a:lnTo>
                    <a:lnTo>
                      <a:pt x="348" y="31"/>
                    </a:lnTo>
                    <a:lnTo>
                      <a:pt x="348" y="31"/>
                    </a:lnTo>
                    <a:lnTo>
                      <a:pt x="349" y="31"/>
                    </a:lnTo>
                    <a:lnTo>
                      <a:pt x="349" y="32"/>
                    </a:lnTo>
                    <a:lnTo>
                      <a:pt x="351" y="32"/>
                    </a:lnTo>
                    <a:lnTo>
                      <a:pt x="351" y="32"/>
                    </a:lnTo>
                    <a:lnTo>
                      <a:pt x="352" y="32"/>
                    </a:lnTo>
                    <a:lnTo>
                      <a:pt x="352" y="34"/>
                    </a:lnTo>
                    <a:lnTo>
                      <a:pt x="354" y="34"/>
                    </a:lnTo>
                    <a:lnTo>
                      <a:pt x="354" y="34"/>
                    </a:lnTo>
                    <a:lnTo>
                      <a:pt x="355" y="34"/>
                    </a:lnTo>
                    <a:lnTo>
                      <a:pt x="355" y="35"/>
                    </a:lnTo>
                    <a:lnTo>
                      <a:pt x="357" y="35"/>
                    </a:lnTo>
                    <a:lnTo>
                      <a:pt x="357" y="35"/>
                    </a:lnTo>
                    <a:lnTo>
                      <a:pt x="358" y="37"/>
                    </a:lnTo>
                    <a:lnTo>
                      <a:pt x="358" y="37"/>
                    </a:lnTo>
                    <a:lnTo>
                      <a:pt x="359" y="37"/>
                    </a:lnTo>
                    <a:lnTo>
                      <a:pt x="359" y="38"/>
                    </a:lnTo>
                    <a:lnTo>
                      <a:pt x="361" y="38"/>
                    </a:lnTo>
                    <a:lnTo>
                      <a:pt x="362" y="38"/>
                    </a:lnTo>
                    <a:lnTo>
                      <a:pt x="362" y="40"/>
                    </a:lnTo>
                    <a:lnTo>
                      <a:pt x="364" y="40"/>
                    </a:lnTo>
                    <a:lnTo>
                      <a:pt x="365" y="41"/>
                    </a:lnTo>
                    <a:lnTo>
                      <a:pt x="367" y="41"/>
                    </a:lnTo>
                    <a:lnTo>
                      <a:pt x="367" y="41"/>
                    </a:lnTo>
                    <a:lnTo>
                      <a:pt x="368" y="43"/>
                    </a:lnTo>
                    <a:lnTo>
                      <a:pt x="368" y="43"/>
                    </a:lnTo>
                    <a:lnTo>
                      <a:pt x="370" y="43"/>
                    </a:lnTo>
                    <a:lnTo>
                      <a:pt x="371" y="44"/>
                    </a:lnTo>
                    <a:lnTo>
                      <a:pt x="371" y="44"/>
                    </a:lnTo>
                    <a:lnTo>
                      <a:pt x="373" y="46"/>
                    </a:lnTo>
                    <a:lnTo>
                      <a:pt x="374" y="46"/>
                    </a:lnTo>
                    <a:lnTo>
                      <a:pt x="374" y="46"/>
                    </a:lnTo>
                    <a:lnTo>
                      <a:pt x="376" y="46"/>
                    </a:lnTo>
                    <a:lnTo>
                      <a:pt x="376" y="47"/>
                    </a:lnTo>
                    <a:lnTo>
                      <a:pt x="377" y="47"/>
                    </a:lnTo>
                    <a:lnTo>
                      <a:pt x="377" y="47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79" y="49"/>
                    </a:lnTo>
                    <a:lnTo>
                      <a:pt x="380" y="49"/>
                    </a:lnTo>
                    <a:lnTo>
                      <a:pt x="380" y="49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2" y="50"/>
                    </a:lnTo>
                    <a:lnTo>
                      <a:pt x="383" y="50"/>
                    </a:lnTo>
                    <a:lnTo>
                      <a:pt x="383" y="52"/>
                    </a:lnTo>
                    <a:lnTo>
                      <a:pt x="385" y="52"/>
                    </a:lnTo>
                    <a:lnTo>
                      <a:pt x="385" y="52"/>
                    </a:lnTo>
                    <a:lnTo>
                      <a:pt x="386" y="53"/>
                    </a:lnTo>
                    <a:lnTo>
                      <a:pt x="386" y="53"/>
                    </a:lnTo>
                    <a:lnTo>
                      <a:pt x="388" y="53"/>
                    </a:lnTo>
                    <a:lnTo>
                      <a:pt x="388" y="53"/>
                    </a:lnTo>
                    <a:lnTo>
                      <a:pt x="389" y="55"/>
                    </a:lnTo>
                    <a:lnTo>
                      <a:pt x="389" y="55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1" y="56"/>
                    </a:lnTo>
                    <a:lnTo>
                      <a:pt x="392" y="58"/>
                    </a:lnTo>
                    <a:lnTo>
                      <a:pt x="394" y="58"/>
                    </a:lnTo>
                    <a:lnTo>
                      <a:pt x="394" y="58"/>
                    </a:lnTo>
                    <a:lnTo>
                      <a:pt x="395" y="59"/>
                    </a:lnTo>
                    <a:lnTo>
                      <a:pt x="397" y="59"/>
                    </a:lnTo>
                    <a:lnTo>
                      <a:pt x="397" y="59"/>
                    </a:lnTo>
                    <a:lnTo>
                      <a:pt x="398" y="61"/>
                    </a:lnTo>
                    <a:lnTo>
                      <a:pt x="398" y="61"/>
                    </a:lnTo>
                    <a:lnTo>
                      <a:pt x="398" y="61"/>
                    </a:lnTo>
                    <a:lnTo>
                      <a:pt x="399" y="62"/>
                    </a:lnTo>
                    <a:lnTo>
                      <a:pt x="399" y="62"/>
                    </a:lnTo>
                    <a:lnTo>
                      <a:pt x="401" y="62"/>
                    </a:lnTo>
                    <a:lnTo>
                      <a:pt x="401" y="62"/>
                    </a:lnTo>
                    <a:lnTo>
                      <a:pt x="401" y="64"/>
                    </a:lnTo>
                    <a:lnTo>
                      <a:pt x="401" y="64"/>
                    </a:lnTo>
                    <a:lnTo>
                      <a:pt x="402" y="64"/>
                    </a:lnTo>
                    <a:lnTo>
                      <a:pt x="402" y="64"/>
                    </a:lnTo>
                    <a:lnTo>
                      <a:pt x="402" y="64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4" y="65"/>
                    </a:lnTo>
                    <a:lnTo>
                      <a:pt x="405" y="65"/>
                    </a:lnTo>
                    <a:lnTo>
                      <a:pt x="405" y="65"/>
                    </a:lnTo>
                    <a:lnTo>
                      <a:pt x="405" y="67"/>
                    </a:lnTo>
                    <a:lnTo>
                      <a:pt x="405" y="67"/>
                    </a:lnTo>
                    <a:lnTo>
                      <a:pt x="407" y="67"/>
                    </a:lnTo>
                    <a:lnTo>
                      <a:pt x="407" y="67"/>
                    </a:lnTo>
                    <a:lnTo>
                      <a:pt x="408" y="68"/>
                    </a:lnTo>
                    <a:lnTo>
                      <a:pt x="408" y="68"/>
                    </a:lnTo>
                    <a:lnTo>
                      <a:pt x="408" y="68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0" y="69"/>
                    </a:lnTo>
                    <a:lnTo>
                      <a:pt x="411" y="69"/>
                    </a:lnTo>
                    <a:lnTo>
                      <a:pt x="411" y="71"/>
                    </a:lnTo>
                    <a:lnTo>
                      <a:pt x="413" y="71"/>
                    </a:lnTo>
                    <a:lnTo>
                      <a:pt x="413" y="71"/>
                    </a:lnTo>
                    <a:lnTo>
                      <a:pt x="413" y="72"/>
                    </a:lnTo>
                    <a:lnTo>
                      <a:pt x="414" y="72"/>
                    </a:lnTo>
                    <a:lnTo>
                      <a:pt x="414" y="72"/>
                    </a:lnTo>
                    <a:lnTo>
                      <a:pt x="414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6" y="74"/>
                    </a:lnTo>
                    <a:lnTo>
                      <a:pt x="417" y="74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7" y="75"/>
                    </a:lnTo>
                    <a:lnTo>
                      <a:pt x="419" y="75"/>
                    </a:lnTo>
                    <a:lnTo>
                      <a:pt x="419" y="75"/>
                    </a:lnTo>
                    <a:lnTo>
                      <a:pt x="419" y="77"/>
                    </a:lnTo>
                    <a:lnTo>
                      <a:pt x="419" y="77"/>
                    </a:lnTo>
                    <a:lnTo>
                      <a:pt x="420" y="77"/>
                    </a:lnTo>
                    <a:lnTo>
                      <a:pt x="420" y="77"/>
                    </a:lnTo>
                    <a:lnTo>
                      <a:pt x="420" y="77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3" y="80"/>
                    </a:lnTo>
                    <a:lnTo>
                      <a:pt x="425" y="80"/>
                    </a:lnTo>
                    <a:lnTo>
                      <a:pt x="425" y="80"/>
                    </a:lnTo>
                    <a:lnTo>
                      <a:pt x="425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6" y="81"/>
                    </a:lnTo>
                    <a:lnTo>
                      <a:pt x="428" y="83"/>
                    </a:lnTo>
                    <a:lnTo>
                      <a:pt x="429" y="83"/>
                    </a:lnTo>
                    <a:lnTo>
                      <a:pt x="429" y="83"/>
                    </a:lnTo>
                    <a:lnTo>
                      <a:pt x="429" y="84"/>
                    </a:lnTo>
                    <a:lnTo>
                      <a:pt x="431" y="84"/>
                    </a:lnTo>
                    <a:lnTo>
                      <a:pt x="431" y="84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2" y="86"/>
                    </a:lnTo>
                    <a:lnTo>
                      <a:pt x="434" y="86"/>
                    </a:lnTo>
                    <a:lnTo>
                      <a:pt x="434" y="87"/>
                    </a:lnTo>
                    <a:lnTo>
                      <a:pt x="434" y="87"/>
                    </a:lnTo>
                    <a:lnTo>
                      <a:pt x="435" y="87"/>
                    </a:lnTo>
                    <a:lnTo>
                      <a:pt x="435" y="87"/>
                    </a:lnTo>
                    <a:lnTo>
                      <a:pt x="435" y="89"/>
                    </a:lnTo>
                    <a:lnTo>
                      <a:pt x="436" y="89"/>
                    </a:lnTo>
                    <a:lnTo>
                      <a:pt x="436" y="89"/>
                    </a:lnTo>
                    <a:lnTo>
                      <a:pt x="436" y="89"/>
                    </a:lnTo>
                    <a:lnTo>
                      <a:pt x="436" y="90"/>
                    </a:lnTo>
                    <a:lnTo>
                      <a:pt x="438" y="90"/>
                    </a:lnTo>
                    <a:lnTo>
                      <a:pt x="438" y="90"/>
                    </a:lnTo>
                    <a:lnTo>
                      <a:pt x="438" y="92"/>
                    </a:lnTo>
                    <a:lnTo>
                      <a:pt x="439" y="92"/>
                    </a:lnTo>
                    <a:lnTo>
                      <a:pt x="439" y="92"/>
                    </a:lnTo>
                    <a:lnTo>
                      <a:pt x="439" y="93"/>
                    </a:lnTo>
                    <a:lnTo>
                      <a:pt x="441" y="93"/>
                    </a:lnTo>
                    <a:lnTo>
                      <a:pt x="441" y="95"/>
                    </a:lnTo>
                    <a:lnTo>
                      <a:pt x="442" y="95"/>
                    </a:lnTo>
                    <a:lnTo>
                      <a:pt x="442" y="96"/>
                    </a:lnTo>
                    <a:lnTo>
                      <a:pt x="444" y="96"/>
                    </a:lnTo>
                    <a:lnTo>
                      <a:pt x="444" y="98"/>
                    </a:lnTo>
                    <a:lnTo>
                      <a:pt x="445" y="98"/>
                    </a:lnTo>
                    <a:lnTo>
                      <a:pt x="445" y="98"/>
                    </a:lnTo>
                    <a:lnTo>
                      <a:pt x="445" y="99"/>
                    </a:lnTo>
                    <a:lnTo>
                      <a:pt x="447" y="99"/>
                    </a:lnTo>
                    <a:lnTo>
                      <a:pt x="448" y="101"/>
                    </a:lnTo>
                    <a:lnTo>
                      <a:pt x="448" y="102"/>
                    </a:lnTo>
                    <a:lnTo>
                      <a:pt x="448" y="102"/>
                    </a:lnTo>
                    <a:lnTo>
                      <a:pt x="450" y="104"/>
                    </a:lnTo>
                    <a:lnTo>
                      <a:pt x="450" y="104"/>
                    </a:lnTo>
                    <a:lnTo>
                      <a:pt x="451" y="104"/>
                    </a:lnTo>
                    <a:lnTo>
                      <a:pt x="451" y="105"/>
                    </a:lnTo>
                    <a:lnTo>
                      <a:pt x="451" y="105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3" y="106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4" y="108"/>
                    </a:lnTo>
                    <a:lnTo>
                      <a:pt x="456" y="109"/>
                    </a:lnTo>
                    <a:lnTo>
                      <a:pt x="456" y="109"/>
                    </a:lnTo>
                    <a:lnTo>
                      <a:pt x="456" y="111"/>
                    </a:lnTo>
                    <a:lnTo>
                      <a:pt x="457" y="111"/>
                    </a:lnTo>
                    <a:lnTo>
                      <a:pt x="457" y="111"/>
                    </a:lnTo>
                    <a:lnTo>
                      <a:pt x="459" y="112"/>
                    </a:lnTo>
                    <a:lnTo>
                      <a:pt x="459" y="112"/>
                    </a:lnTo>
                    <a:lnTo>
                      <a:pt x="459" y="114"/>
                    </a:lnTo>
                    <a:lnTo>
                      <a:pt x="460" y="114"/>
                    </a:lnTo>
                    <a:lnTo>
                      <a:pt x="460" y="115"/>
                    </a:lnTo>
                    <a:lnTo>
                      <a:pt x="462" y="115"/>
                    </a:lnTo>
                    <a:lnTo>
                      <a:pt x="462" y="117"/>
                    </a:lnTo>
                    <a:lnTo>
                      <a:pt x="463" y="118"/>
                    </a:lnTo>
                    <a:lnTo>
                      <a:pt x="463" y="120"/>
                    </a:lnTo>
                    <a:lnTo>
                      <a:pt x="465" y="120"/>
                    </a:lnTo>
                    <a:lnTo>
                      <a:pt x="466" y="121"/>
                    </a:lnTo>
                    <a:lnTo>
                      <a:pt x="466" y="121"/>
                    </a:lnTo>
                    <a:lnTo>
                      <a:pt x="466" y="123"/>
                    </a:lnTo>
                    <a:lnTo>
                      <a:pt x="468" y="124"/>
                    </a:lnTo>
                    <a:lnTo>
                      <a:pt x="469" y="124"/>
                    </a:lnTo>
                    <a:lnTo>
                      <a:pt x="469" y="126"/>
                    </a:lnTo>
                    <a:lnTo>
                      <a:pt x="471" y="127"/>
                    </a:lnTo>
                    <a:lnTo>
                      <a:pt x="471" y="127"/>
                    </a:lnTo>
                    <a:lnTo>
                      <a:pt x="472" y="129"/>
                    </a:lnTo>
                    <a:lnTo>
                      <a:pt x="472" y="129"/>
                    </a:lnTo>
                    <a:lnTo>
                      <a:pt x="474" y="130"/>
                    </a:lnTo>
                    <a:lnTo>
                      <a:pt x="474" y="130"/>
                    </a:lnTo>
                    <a:lnTo>
                      <a:pt x="474" y="132"/>
                    </a:lnTo>
                    <a:lnTo>
                      <a:pt x="475" y="132"/>
                    </a:lnTo>
                    <a:lnTo>
                      <a:pt x="475" y="133"/>
                    </a:lnTo>
                    <a:lnTo>
                      <a:pt x="476" y="133"/>
                    </a:lnTo>
                    <a:lnTo>
                      <a:pt x="476" y="135"/>
                    </a:lnTo>
                    <a:lnTo>
                      <a:pt x="476" y="135"/>
                    </a:lnTo>
                    <a:lnTo>
                      <a:pt x="478" y="136"/>
                    </a:lnTo>
                    <a:lnTo>
                      <a:pt x="478" y="136"/>
                    </a:lnTo>
                    <a:lnTo>
                      <a:pt x="478" y="138"/>
                    </a:lnTo>
                    <a:lnTo>
                      <a:pt x="479" y="138"/>
                    </a:lnTo>
                    <a:lnTo>
                      <a:pt x="479" y="139"/>
                    </a:lnTo>
                    <a:lnTo>
                      <a:pt x="479" y="139"/>
                    </a:lnTo>
                    <a:lnTo>
                      <a:pt x="481" y="141"/>
                    </a:lnTo>
                    <a:lnTo>
                      <a:pt x="481" y="141"/>
                    </a:lnTo>
                    <a:lnTo>
                      <a:pt x="482" y="142"/>
                    </a:lnTo>
                    <a:lnTo>
                      <a:pt x="482" y="144"/>
                    </a:lnTo>
                    <a:lnTo>
                      <a:pt x="484" y="144"/>
                    </a:lnTo>
                    <a:lnTo>
                      <a:pt x="484" y="145"/>
                    </a:lnTo>
                    <a:lnTo>
                      <a:pt x="485" y="146"/>
                    </a:lnTo>
                    <a:lnTo>
                      <a:pt x="485" y="148"/>
                    </a:lnTo>
                    <a:lnTo>
                      <a:pt x="487" y="149"/>
                    </a:lnTo>
                    <a:lnTo>
                      <a:pt x="488" y="149"/>
                    </a:lnTo>
                    <a:lnTo>
                      <a:pt x="488" y="149"/>
                    </a:lnTo>
                    <a:lnTo>
                      <a:pt x="488" y="151"/>
                    </a:lnTo>
                    <a:lnTo>
                      <a:pt x="490" y="152"/>
                    </a:lnTo>
                    <a:lnTo>
                      <a:pt x="491" y="154"/>
                    </a:lnTo>
                    <a:lnTo>
                      <a:pt x="491" y="155"/>
                    </a:lnTo>
                    <a:lnTo>
                      <a:pt x="493" y="157"/>
                    </a:lnTo>
                    <a:lnTo>
                      <a:pt x="493" y="157"/>
                    </a:lnTo>
                    <a:lnTo>
                      <a:pt x="494" y="158"/>
                    </a:lnTo>
                    <a:lnTo>
                      <a:pt x="494" y="160"/>
                    </a:lnTo>
                    <a:lnTo>
                      <a:pt x="496" y="160"/>
                    </a:lnTo>
                    <a:lnTo>
                      <a:pt x="496" y="161"/>
                    </a:lnTo>
                    <a:lnTo>
                      <a:pt x="496" y="163"/>
                    </a:lnTo>
                    <a:lnTo>
                      <a:pt x="497" y="163"/>
                    </a:lnTo>
                    <a:lnTo>
                      <a:pt x="497" y="164"/>
                    </a:lnTo>
                    <a:lnTo>
                      <a:pt x="499" y="164"/>
                    </a:lnTo>
                    <a:lnTo>
                      <a:pt x="499" y="166"/>
                    </a:lnTo>
                    <a:lnTo>
                      <a:pt x="499" y="166"/>
                    </a:lnTo>
                    <a:lnTo>
                      <a:pt x="500" y="167"/>
                    </a:lnTo>
                    <a:lnTo>
                      <a:pt x="500" y="167"/>
                    </a:lnTo>
                    <a:lnTo>
                      <a:pt x="500" y="169"/>
                    </a:lnTo>
                    <a:lnTo>
                      <a:pt x="502" y="169"/>
                    </a:lnTo>
                    <a:lnTo>
                      <a:pt x="502" y="170"/>
                    </a:lnTo>
                    <a:lnTo>
                      <a:pt x="503" y="170"/>
                    </a:lnTo>
                    <a:lnTo>
                      <a:pt x="503" y="172"/>
                    </a:lnTo>
                    <a:lnTo>
                      <a:pt x="503" y="172"/>
                    </a:lnTo>
                    <a:lnTo>
                      <a:pt x="505" y="173"/>
                    </a:lnTo>
                    <a:lnTo>
                      <a:pt x="505" y="175"/>
                    </a:lnTo>
                    <a:lnTo>
                      <a:pt x="506" y="176"/>
                    </a:lnTo>
                    <a:lnTo>
                      <a:pt x="508" y="176"/>
                    </a:lnTo>
                    <a:lnTo>
                      <a:pt x="508" y="178"/>
                    </a:lnTo>
                    <a:lnTo>
                      <a:pt x="509" y="179"/>
                    </a:lnTo>
                    <a:lnTo>
                      <a:pt x="509" y="181"/>
                    </a:lnTo>
                    <a:lnTo>
                      <a:pt x="511" y="182"/>
                    </a:lnTo>
                    <a:lnTo>
                      <a:pt x="511" y="182"/>
                    </a:lnTo>
                    <a:lnTo>
                      <a:pt x="512" y="183"/>
                    </a:lnTo>
                    <a:lnTo>
                      <a:pt x="513" y="185"/>
                    </a:lnTo>
                    <a:lnTo>
                      <a:pt x="513" y="186"/>
                    </a:lnTo>
                    <a:lnTo>
                      <a:pt x="515" y="186"/>
                    </a:lnTo>
                    <a:lnTo>
                      <a:pt x="515" y="188"/>
                    </a:lnTo>
                    <a:lnTo>
                      <a:pt x="516" y="189"/>
                    </a:lnTo>
                    <a:lnTo>
                      <a:pt x="516" y="191"/>
                    </a:lnTo>
                    <a:lnTo>
                      <a:pt x="518" y="191"/>
                    </a:lnTo>
                    <a:lnTo>
                      <a:pt x="518" y="192"/>
                    </a:lnTo>
                    <a:lnTo>
                      <a:pt x="519" y="192"/>
                    </a:lnTo>
                    <a:lnTo>
                      <a:pt x="519" y="194"/>
                    </a:lnTo>
                    <a:lnTo>
                      <a:pt x="519" y="195"/>
                    </a:lnTo>
                    <a:lnTo>
                      <a:pt x="521" y="195"/>
                    </a:lnTo>
                    <a:lnTo>
                      <a:pt x="521" y="197"/>
                    </a:lnTo>
                    <a:lnTo>
                      <a:pt x="521" y="197"/>
                    </a:lnTo>
                    <a:lnTo>
                      <a:pt x="522" y="197"/>
                    </a:lnTo>
                    <a:lnTo>
                      <a:pt x="522" y="198"/>
                    </a:lnTo>
                    <a:lnTo>
                      <a:pt x="522" y="198"/>
                    </a:lnTo>
                    <a:lnTo>
                      <a:pt x="524" y="200"/>
                    </a:lnTo>
                    <a:lnTo>
                      <a:pt x="524" y="200"/>
                    </a:lnTo>
                    <a:lnTo>
                      <a:pt x="524" y="201"/>
                    </a:lnTo>
                    <a:lnTo>
                      <a:pt x="525" y="201"/>
                    </a:lnTo>
                    <a:lnTo>
                      <a:pt x="525" y="203"/>
                    </a:lnTo>
                    <a:lnTo>
                      <a:pt x="525" y="203"/>
                    </a:lnTo>
                    <a:lnTo>
                      <a:pt x="525" y="204"/>
                    </a:lnTo>
                    <a:lnTo>
                      <a:pt x="527" y="204"/>
                    </a:lnTo>
                    <a:lnTo>
                      <a:pt x="527" y="206"/>
                    </a:lnTo>
                    <a:lnTo>
                      <a:pt x="528" y="207"/>
                    </a:lnTo>
                    <a:lnTo>
                      <a:pt x="528" y="207"/>
                    </a:lnTo>
                    <a:lnTo>
                      <a:pt x="528" y="209"/>
                    </a:lnTo>
                    <a:lnTo>
                      <a:pt x="530" y="210"/>
                    </a:lnTo>
                    <a:lnTo>
                      <a:pt x="530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79" name="Freeform 402"/>
              <p:cNvSpPr>
                <a:spLocks/>
              </p:cNvSpPr>
              <p:nvPr/>
            </p:nvSpPr>
            <p:spPr bwMode="auto">
              <a:xfrm>
                <a:off x="2667" y="3452"/>
                <a:ext cx="21" cy="70"/>
              </a:xfrm>
              <a:custGeom>
                <a:avLst/>
                <a:gdLst>
                  <a:gd name="T0" fmla="*/ 4 w 63"/>
                  <a:gd name="T1" fmla="*/ 205 h 211"/>
                  <a:gd name="T2" fmla="*/ 7 w 63"/>
                  <a:gd name="T3" fmla="*/ 198 h 211"/>
                  <a:gd name="T4" fmla="*/ 10 w 63"/>
                  <a:gd name="T5" fmla="*/ 192 h 211"/>
                  <a:gd name="T6" fmla="*/ 13 w 63"/>
                  <a:gd name="T7" fmla="*/ 188 h 211"/>
                  <a:gd name="T8" fmla="*/ 15 w 63"/>
                  <a:gd name="T9" fmla="*/ 185 h 211"/>
                  <a:gd name="T10" fmla="*/ 16 w 63"/>
                  <a:gd name="T11" fmla="*/ 182 h 211"/>
                  <a:gd name="T12" fmla="*/ 17 w 63"/>
                  <a:gd name="T13" fmla="*/ 177 h 211"/>
                  <a:gd name="T14" fmla="*/ 19 w 63"/>
                  <a:gd name="T15" fmla="*/ 174 h 211"/>
                  <a:gd name="T16" fmla="*/ 20 w 63"/>
                  <a:gd name="T17" fmla="*/ 170 h 211"/>
                  <a:gd name="T18" fmla="*/ 22 w 63"/>
                  <a:gd name="T19" fmla="*/ 165 h 211"/>
                  <a:gd name="T20" fmla="*/ 23 w 63"/>
                  <a:gd name="T21" fmla="*/ 162 h 211"/>
                  <a:gd name="T22" fmla="*/ 25 w 63"/>
                  <a:gd name="T23" fmla="*/ 160 h 211"/>
                  <a:gd name="T24" fmla="*/ 26 w 63"/>
                  <a:gd name="T25" fmla="*/ 158 h 211"/>
                  <a:gd name="T26" fmla="*/ 28 w 63"/>
                  <a:gd name="T27" fmla="*/ 154 h 211"/>
                  <a:gd name="T28" fmla="*/ 29 w 63"/>
                  <a:gd name="T29" fmla="*/ 151 h 211"/>
                  <a:gd name="T30" fmla="*/ 31 w 63"/>
                  <a:gd name="T31" fmla="*/ 146 h 211"/>
                  <a:gd name="T32" fmla="*/ 32 w 63"/>
                  <a:gd name="T33" fmla="*/ 142 h 211"/>
                  <a:gd name="T34" fmla="*/ 34 w 63"/>
                  <a:gd name="T35" fmla="*/ 137 h 211"/>
                  <a:gd name="T36" fmla="*/ 35 w 63"/>
                  <a:gd name="T37" fmla="*/ 133 h 211"/>
                  <a:gd name="T38" fmla="*/ 37 w 63"/>
                  <a:gd name="T39" fmla="*/ 130 h 211"/>
                  <a:gd name="T40" fmla="*/ 38 w 63"/>
                  <a:gd name="T41" fmla="*/ 127 h 211"/>
                  <a:gd name="T42" fmla="*/ 38 w 63"/>
                  <a:gd name="T43" fmla="*/ 122 h 211"/>
                  <a:gd name="T44" fmla="*/ 40 w 63"/>
                  <a:gd name="T45" fmla="*/ 120 h 211"/>
                  <a:gd name="T46" fmla="*/ 41 w 63"/>
                  <a:gd name="T47" fmla="*/ 115 h 211"/>
                  <a:gd name="T48" fmla="*/ 43 w 63"/>
                  <a:gd name="T49" fmla="*/ 111 h 211"/>
                  <a:gd name="T50" fmla="*/ 44 w 63"/>
                  <a:gd name="T51" fmla="*/ 106 h 211"/>
                  <a:gd name="T52" fmla="*/ 46 w 63"/>
                  <a:gd name="T53" fmla="*/ 102 h 211"/>
                  <a:gd name="T54" fmla="*/ 47 w 63"/>
                  <a:gd name="T55" fmla="*/ 97 h 211"/>
                  <a:gd name="T56" fmla="*/ 47 w 63"/>
                  <a:gd name="T57" fmla="*/ 94 h 211"/>
                  <a:gd name="T58" fmla="*/ 49 w 63"/>
                  <a:gd name="T59" fmla="*/ 91 h 211"/>
                  <a:gd name="T60" fmla="*/ 50 w 63"/>
                  <a:gd name="T61" fmla="*/ 88 h 211"/>
                  <a:gd name="T62" fmla="*/ 52 w 63"/>
                  <a:gd name="T63" fmla="*/ 84 h 211"/>
                  <a:gd name="T64" fmla="*/ 53 w 63"/>
                  <a:gd name="T65" fmla="*/ 78 h 211"/>
                  <a:gd name="T66" fmla="*/ 55 w 63"/>
                  <a:gd name="T67" fmla="*/ 75 h 211"/>
                  <a:gd name="T68" fmla="*/ 55 w 63"/>
                  <a:gd name="T69" fmla="*/ 71 h 211"/>
                  <a:gd name="T70" fmla="*/ 56 w 63"/>
                  <a:gd name="T71" fmla="*/ 66 h 211"/>
                  <a:gd name="T72" fmla="*/ 57 w 63"/>
                  <a:gd name="T73" fmla="*/ 63 h 211"/>
                  <a:gd name="T74" fmla="*/ 57 w 63"/>
                  <a:gd name="T75" fmla="*/ 60 h 211"/>
                  <a:gd name="T76" fmla="*/ 57 w 63"/>
                  <a:gd name="T77" fmla="*/ 57 h 211"/>
                  <a:gd name="T78" fmla="*/ 57 w 63"/>
                  <a:gd name="T79" fmla="*/ 54 h 211"/>
                  <a:gd name="T80" fmla="*/ 59 w 63"/>
                  <a:gd name="T81" fmla="*/ 50 h 211"/>
                  <a:gd name="T82" fmla="*/ 59 w 63"/>
                  <a:gd name="T83" fmla="*/ 46 h 211"/>
                  <a:gd name="T84" fmla="*/ 59 w 63"/>
                  <a:gd name="T85" fmla="*/ 43 h 211"/>
                  <a:gd name="T86" fmla="*/ 59 w 63"/>
                  <a:gd name="T87" fmla="*/ 40 h 211"/>
                  <a:gd name="T88" fmla="*/ 59 w 63"/>
                  <a:gd name="T89" fmla="*/ 37 h 211"/>
                  <a:gd name="T90" fmla="*/ 60 w 63"/>
                  <a:gd name="T91" fmla="*/ 34 h 211"/>
                  <a:gd name="T92" fmla="*/ 60 w 63"/>
                  <a:gd name="T93" fmla="*/ 32 h 211"/>
                  <a:gd name="T94" fmla="*/ 60 w 63"/>
                  <a:gd name="T95" fmla="*/ 31 h 211"/>
                  <a:gd name="T96" fmla="*/ 60 w 63"/>
                  <a:gd name="T97" fmla="*/ 28 h 211"/>
                  <a:gd name="T98" fmla="*/ 62 w 63"/>
                  <a:gd name="T99" fmla="*/ 26 h 211"/>
                  <a:gd name="T100" fmla="*/ 62 w 63"/>
                  <a:gd name="T101" fmla="*/ 23 h 211"/>
                  <a:gd name="T102" fmla="*/ 62 w 63"/>
                  <a:gd name="T103" fmla="*/ 20 h 211"/>
                  <a:gd name="T104" fmla="*/ 62 w 63"/>
                  <a:gd name="T105" fmla="*/ 19 h 211"/>
                  <a:gd name="T106" fmla="*/ 63 w 63"/>
                  <a:gd name="T107" fmla="*/ 16 h 211"/>
                  <a:gd name="T108" fmla="*/ 62 w 63"/>
                  <a:gd name="T109" fmla="*/ 13 h 211"/>
                  <a:gd name="T110" fmla="*/ 62 w 63"/>
                  <a:gd name="T111" fmla="*/ 8 h 211"/>
                  <a:gd name="T112" fmla="*/ 62 w 63"/>
                  <a:gd name="T113" fmla="*/ 4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1">
                    <a:moveTo>
                      <a:pt x="0" y="211"/>
                    </a:moveTo>
                    <a:lnTo>
                      <a:pt x="1" y="210"/>
                    </a:lnTo>
                    <a:lnTo>
                      <a:pt x="3" y="207"/>
                    </a:lnTo>
                    <a:lnTo>
                      <a:pt x="4" y="205"/>
                    </a:lnTo>
                    <a:lnTo>
                      <a:pt x="4" y="202"/>
                    </a:lnTo>
                    <a:lnTo>
                      <a:pt x="6" y="201"/>
                    </a:lnTo>
                    <a:lnTo>
                      <a:pt x="7" y="199"/>
                    </a:lnTo>
                    <a:lnTo>
                      <a:pt x="7" y="198"/>
                    </a:lnTo>
                    <a:lnTo>
                      <a:pt x="9" y="197"/>
                    </a:lnTo>
                    <a:lnTo>
                      <a:pt x="9" y="195"/>
                    </a:lnTo>
                    <a:lnTo>
                      <a:pt x="10" y="194"/>
                    </a:lnTo>
                    <a:lnTo>
                      <a:pt x="10" y="19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12" y="189"/>
                    </a:lnTo>
                    <a:lnTo>
                      <a:pt x="13" y="188"/>
                    </a:lnTo>
                    <a:lnTo>
                      <a:pt x="13" y="188"/>
                    </a:lnTo>
                    <a:lnTo>
                      <a:pt x="13" y="186"/>
                    </a:lnTo>
                    <a:lnTo>
                      <a:pt x="15" y="186"/>
                    </a:lnTo>
                    <a:lnTo>
                      <a:pt x="15" y="185"/>
                    </a:lnTo>
                    <a:lnTo>
                      <a:pt x="15" y="183"/>
                    </a:lnTo>
                    <a:lnTo>
                      <a:pt x="15" y="183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6" y="180"/>
                    </a:lnTo>
                    <a:lnTo>
                      <a:pt x="16" y="180"/>
                    </a:lnTo>
                    <a:lnTo>
                      <a:pt x="17" y="179"/>
                    </a:lnTo>
                    <a:lnTo>
                      <a:pt x="17" y="177"/>
                    </a:lnTo>
                    <a:lnTo>
                      <a:pt x="17" y="177"/>
                    </a:lnTo>
                    <a:lnTo>
                      <a:pt x="19" y="176"/>
                    </a:lnTo>
                    <a:lnTo>
                      <a:pt x="19" y="174"/>
                    </a:lnTo>
                    <a:lnTo>
                      <a:pt x="19" y="174"/>
                    </a:lnTo>
                    <a:lnTo>
                      <a:pt x="19" y="173"/>
                    </a:lnTo>
                    <a:lnTo>
                      <a:pt x="19" y="173"/>
                    </a:lnTo>
                    <a:lnTo>
                      <a:pt x="20" y="171"/>
                    </a:lnTo>
                    <a:lnTo>
                      <a:pt x="20" y="170"/>
                    </a:lnTo>
                    <a:lnTo>
                      <a:pt x="20" y="168"/>
                    </a:lnTo>
                    <a:lnTo>
                      <a:pt x="22" y="168"/>
                    </a:lnTo>
                    <a:lnTo>
                      <a:pt x="22" y="167"/>
                    </a:lnTo>
                    <a:lnTo>
                      <a:pt x="22" y="165"/>
                    </a:lnTo>
                    <a:lnTo>
                      <a:pt x="23" y="165"/>
                    </a:lnTo>
                    <a:lnTo>
                      <a:pt x="23" y="164"/>
                    </a:lnTo>
                    <a:lnTo>
                      <a:pt x="23" y="164"/>
                    </a:lnTo>
                    <a:lnTo>
                      <a:pt x="23" y="162"/>
                    </a:lnTo>
                    <a:lnTo>
                      <a:pt x="23" y="162"/>
                    </a:lnTo>
                    <a:lnTo>
                      <a:pt x="25" y="161"/>
                    </a:lnTo>
                    <a:lnTo>
                      <a:pt x="25" y="161"/>
                    </a:lnTo>
                    <a:lnTo>
                      <a:pt x="25" y="160"/>
                    </a:lnTo>
                    <a:lnTo>
                      <a:pt x="25" y="160"/>
                    </a:lnTo>
                    <a:lnTo>
                      <a:pt x="25" y="158"/>
                    </a:lnTo>
                    <a:lnTo>
                      <a:pt x="26" y="158"/>
                    </a:lnTo>
                    <a:lnTo>
                      <a:pt x="26" y="158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6" y="155"/>
                    </a:lnTo>
                    <a:lnTo>
                      <a:pt x="28" y="154"/>
                    </a:lnTo>
                    <a:lnTo>
                      <a:pt x="28" y="154"/>
                    </a:lnTo>
                    <a:lnTo>
                      <a:pt x="28" y="152"/>
                    </a:lnTo>
                    <a:lnTo>
                      <a:pt x="28" y="152"/>
                    </a:lnTo>
                    <a:lnTo>
                      <a:pt x="29" y="151"/>
                    </a:lnTo>
                    <a:lnTo>
                      <a:pt x="29" y="149"/>
                    </a:lnTo>
                    <a:lnTo>
                      <a:pt x="29" y="148"/>
                    </a:lnTo>
                    <a:lnTo>
                      <a:pt x="29" y="148"/>
                    </a:lnTo>
                    <a:lnTo>
                      <a:pt x="31" y="146"/>
                    </a:lnTo>
                    <a:lnTo>
                      <a:pt x="31" y="145"/>
                    </a:lnTo>
                    <a:lnTo>
                      <a:pt x="31" y="143"/>
                    </a:lnTo>
                    <a:lnTo>
                      <a:pt x="31" y="143"/>
                    </a:lnTo>
                    <a:lnTo>
                      <a:pt x="32" y="142"/>
                    </a:lnTo>
                    <a:lnTo>
                      <a:pt x="32" y="140"/>
                    </a:lnTo>
                    <a:lnTo>
                      <a:pt x="34" y="139"/>
                    </a:lnTo>
                    <a:lnTo>
                      <a:pt x="34" y="137"/>
                    </a:lnTo>
                    <a:lnTo>
                      <a:pt x="34" y="137"/>
                    </a:lnTo>
                    <a:lnTo>
                      <a:pt x="34" y="136"/>
                    </a:lnTo>
                    <a:lnTo>
                      <a:pt x="35" y="134"/>
                    </a:lnTo>
                    <a:lnTo>
                      <a:pt x="35" y="133"/>
                    </a:lnTo>
                    <a:lnTo>
                      <a:pt x="35" y="133"/>
                    </a:lnTo>
                    <a:lnTo>
                      <a:pt x="35" y="131"/>
                    </a:lnTo>
                    <a:lnTo>
                      <a:pt x="37" y="131"/>
                    </a:lnTo>
                    <a:lnTo>
                      <a:pt x="37" y="130"/>
                    </a:lnTo>
                    <a:lnTo>
                      <a:pt x="37" y="130"/>
                    </a:lnTo>
                    <a:lnTo>
                      <a:pt x="37" y="128"/>
                    </a:lnTo>
                    <a:lnTo>
                      <a:pt x="37" y="128"/>
                    </a:lnTo>
                    <a:lnTo>
                      <a:pt x="37" y="127"/>
                    </a:lnTo>
                    <a:lnTo>
                      <a:pt x="38" y="127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2"/>
                    </a:lnTo>
                    <a:lnTo>
                      <a:pt x="38" y="122"/>
                    </a:lnTo>
                    <a:lnTo>
                      <a:pt x="40" y="121"/>
                    </a:lnTo>
                    <a:lnTo>
                      <a:pt x="40" y="121"/>
                    </a:lnTo>
                    <a:lnTo>
                      <a:pt x="40" y="120"/>
                    </a:lnTo>
                    <a:lnTo>
                      <a:pt x="40" y="118"/>
                    </a:lnTo>
                    <a:lnTo>
                      <a:pt x="41" y="118"/>
                    </a:lnTo>
                    <a:lnTo>
                      <a:pt x="41" y="117"/>
                    </a:lnTo>
                    <a:lnTo>
                      <a:pt x="41" y="115"/>
                    </a:lnTo>
                    <a:lnTo>
                      <a:pt x="41" y="114"/>
                    </a:lnTo>
                    <a:lnTo>
                      <a:pt x="43" y="112"/>
                    </a:lnTo>
                    <a:lnTo>
                      <a:pt x="43" y="111"/>
                    </a:lnTo>
                    <a:lnTo>
                      <a:pt x="43" y="111"/>
                    </a:lnTo>
                    <a:lnTo>
                      <a:pt x="43" y="109"/>
                    </a:lnTo>
                    <a:lnTo>
                      <a:pt x="43" y="108"/>
                    </a:lnTo>
                    <a:lnTo>
                      <a:pt x="44" y="106"/>
                    </a:lnTo>
                    <a:lnTo>
                      <a:pt x="44" y="106"/>
                    </a:lnTo>
                    <a:lnTo>
                      <a:pt x="44" y="105"/>
                    </a:lnTo>
                    <a:lnTo>
                      <a:pt x="44" y="103"/>
                    </a:lnTo>
                    <a:lnTo>
                      <a:pt x="46" y="102"/>
                    </a:lnTo>
                    <a:lnTo>
                      <a:pt x="46" y="102"/>
                    </a:lnTo>
                    <a:lnTo>
                      <a:pt x="46" y="100"/>
                    </a:lnTo>
                    <a:lnTo>
                      <a:pt x="46" y="99"/>
                    </a:lnTo>
                    <a:lnTo>
                      <a:pt x="46" y="99"/>
                    </a:lnTo>
                    <a:lnTo>
                      <a:pt x="47" y="97"/>
                    </a:lnTo>
                    <a:lnTo>
                      <a:pt x="47" y="97"/>
                    </a:lnTo>
                    <a:lnTo>
                      <a:pt x="47" y="96"/>
                    </a:lnTo>
                    <a:lnTo>
                      <a:pt x="47" y="96"/>
                    </a:lnTo>
                    <a:lnTo>
                      <a:pt x="47" y="94"/>
                    </a:lnTo>
                    <a:lnTo>
                      <a:pt x="47" y="94"/>
                    </a:lnTo>
                    <a:lnTo>
                      <a:pt x="49" y="93"/>
                    </a:lnTo>
                    <a:lnTo>
                      <a:pt x="49" y="93"/>
                    </a:lnTo>
                    <a:lnTo>
                      <a:pt x="49" y="91"/>
                    </a:lnTo>
                    <a:lnTo>
                      <a:pt x="49" y="91"/>
                    </a:lnTo>
                    <a:lnTo>
                      <a:pt x="49" y="90"/>
                    </a:lnTo>
                    <a:lnTo>
                      <a:pt x="49" y="88"/>
                    </a:lnTo>
                    <a:lnTo>
                      <a:pt x="50" y="88"/>
                    </a:lnTo>
                    <a:lnTo>
                      <a:pt x="50" y="87"/>
                    </a:lnTo>
                    <a:lnTo>
                      <a:pt x="50" y="85"/>
                    </a:lnTo>
                    <a:lnTo>
                      <a:pt x="50" y="85"/>
                    </a:lnTo>
                    <a:lnTo>
                      <a:pt x="52" y="84"/>
                    </a:lnTo>
                    <a:lnTo>
                      <a:pt x="52" y="83"/>
                    </a:lnTo>
                    <a:lnTo>
                      <a:pt x="52" y="81"/>
                    </a:lnTo>
                    <a:lnTo>
                      <a:pt x="52" y="80"/>
                    </a:lnTo>
                    <a:lnTo>
                      <a:pt x="53" y="78"/>
                    </a:lnTo>
                    <a:lnTo>
                      <a:pt x="53" y="78"/>
                    </a:lnTo>
                    <a:lnTo>
                      <a:pt x="53" y="77"/>
                    </a:lnTo>
                    <a:lnTo>
                      <a:pt x="53" y="75"/>
                    </a:lnTo>
                    <a:lnTo>
                      <a:pt x="55" y="75"/>
                    </a:lnTo>
                    <a:lnTo>
                      <a:pt x="55" y="74"/>
                    </a:lnTo>
                    <a:lnTo>
                      <a:pt x="55" y="72"/>
                    </a:lnTo>
                    <a:lnTo>
                      <a:pt x="55" y="71"/>
                    </a:lnTo>
                    <a:lnTo>
                      <a:pt x="55" y="71"/>
                    </a:lnTo>
                    <a:lnTo>
                      <a:pt x="56" y="69"/>
                    </a:lnTo>
                    <a:lnTo>
                      <a:pt x="56" y="68"/>
                    </a:lnTo>
                    <a:lnTo>
                      <a:pt x="56" y="68"/>
                    </a:lnTo>
                    <a:lnTo>
                      <a:pt x="56" y="66"/>
                    </a:lnTo>
                    <a:lnTo>
                      <a:pt x="56" y="66"/>
                    </a:lnTo>
                    <a:lnTo>
                      <a:pt x="56" y="65"/>
                    </a:lnTo>
                    <a:lnTo>
                      <a:pt x="57" y="65"/>
                    </a:lnTo>
                    <a:lnTo>
                      <a:pt x="57" y="63"/>
                    </a:lnTo>
                    <a:lnTo>
                      <a:pt x="57" y="63"/>
                    </a:lnTo>
                    <a:lnTo>
                      <a:pt x="57" y="62"/>
                    </a:lnTo>
                    <a:lnTo>
                      <a:pt x="57" y="62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9"/>
                    </a:lnTo>
                    <a:lnTo>
                      <a:pt x="57" y="59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7" y="56"/>
                    </a:lnTo>
                    <a:lnTo>
                      <a:pt x="57" y="56"/>
                    </a:lnTo>
                    <a:lnTo>
                      <a:pt x="57" y="54"/>
                    </a:lnTo>
                    <a:lnTo>
                      <a:pt x="57" y="53"/>
                    </a:lnTo>
                    <a:lnTo>
                      <a:pt x="59" y="53"/>
                    </a:lnTo>
                    <a:lnTo>
                      <a:pt x="59" y="51"/>
                    </a:lnTo>
                    <a:lnTo>
                      <a:pt x="59" y="50"/>
                    </a:lnTo>
                    <a:lnTo>
                      <a:pt x="59" y="48"/>
                    </a:lnTo>
                    <a:lnTo>
                      <a:pt x="59" y="48"/>
                    </a:lnTo>
                    <a:lnTo>
                      <a:pt x="59" y="47"/>
                    </a:lnTo>
                    <a:lnTo>
                      <a:pt x="59" y="46"/>
                    </a:lnTo>
                    <a:lnTo>
                      <a:pt x="59" y="46"/>
                    </a:lnTo>
                    <a:lnTo>
                      <a:pt x="59" y="44"/>
                    </a:lnTo>
                    <a:lnTo>
                      <a:pt x="59" y="43"/>
                    </a:lnTo>
                    <a:lnTo>
                      <a:pt x="59" y="43"/>
                    </a:lnTo>
                    <a:lnTo>
                      <a:pt x="59" y="41"/>
                    </a:lnTo>
                    <a:lnTo>
                      <a:pt x="59" y="41"/>
                    </a:lnTo>
                    <a:lnTo>
                      <a:pt x="59" y="40"/>
                    </a:lnTo>
                    <a:lnTo>
                      <a:pt x="59" y="40"/>
                    </a:lnTo>
                    <a:lnTo>
                      <a:pt x="59" y="38"/>
                    </a:lnTo>
                    <a:lnTo>
                      <a:pt x="59" y="38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59" y="37"/>
                    </a:lnTo>
                    <a:lnTo>
                      <a:pt x="60" y="35"/>
                    </a:lnTo>
                    <a:lnTo>
                      <a:pt x="60" y="35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4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60" y="32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0" y="28"/>
                    </a:lnTo>
                    <a:lnTo>
                      <a:pt x="62" y="28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2" y="25"/>
                    </a:lnTo>
                    <a:lnTo>
                      <a:pt x="62" y="25"/>
                    </a:lnTo>
                    <a:lnTo>
                      <a:pt x="62" y="23"/>
                    </a:lnTo>
                    <a:lnTo>
                      <a:pt x="62" y="23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2" y="20"/>
                    </a:lnTo>
                    <a:lnTo>
                      <a:pt x="62" y="20"/>
                    </a:lnTo>
                    <a:lnTo>
                      <a:pt x="62" y="20"/>
                    </a:lnTo>
                    <a:lnTo>
                      <a:pt x="62" y="19"/>
                    </a:lnTo>
                    <a:lnTo>
                      <a:pt x="62" y="19"/>
                    </a:lnTo>
                    <a:lnTo>
                      <a:pt x="62" y="17"/>
                    </a:lnTo>
                    <a:lnTo>
                      <a:pt x="62" y="17"/>
                    </a:lnTo>
                    <a:lnTo>
                      <a:pt x="62" y="17"/>
                    </a:lnTo>
                    <a:lnTo>
                      <a:pt x="63" y="16"/>
                    </a:lnTo>
                    <a:lnTo>
                      <a:pt x="63" y="16"/>
                    </a:lnTo>
                    <a:lnTo>
                      <a:pt x="63" y="14"/>
                    </a:lnTo>
                    <a:lnTo>
                      <a:pt x="62" y="14"/>
                    </a:lnTo>
                    <a:lnTo>
                      <a:pt x="62" y="13"/>
                    </a:lnTo>
                    <a:lnTo>
                      <a:pt x="62" y="13"/>
                    </a:lnTo>
                    <a:lnTo>
                      <a:pt x="62" y="11"/>
                    </a:lnTo>
                    <a:lnTo>
                      <a:pt x="62" y="10"/>
                    </a:lnTo>
                    <a:lnTo>
                      <a:pt x="62" y="8"/>
                    </a:lnTo>
                    <a:lnTo>
                      <a:pt x="62" y="8"/>
                    </a:lnTo>
                    <a:lnTo>
                      <a:pt x="62" y="7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3"/>
                    </a:lnTo>
                    <a:lnTo>
                      <a:pt x="62" y="1"/>
                    </a:lnTo>
                    <a:lnTo>
                      <a:pt x="6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0" name="Freeform 403"/>
              <p:cNvSpPr>
                <a:spLocks/>
              </p:cNvSpPr>
              <p:nvPr/>
            </p:nvSpPr>
            <p:spPr bwMode="auto">
              <a:xfrm>
                <a:off x="2667" y="3381"/>
                <a:ext cx="21" cy="71"/>
              </a:xfrm>
              <a:custGeom>
                <a:avLst/>
                <a:gdLst>
                  <a:gd name="T0" fmla="*/ 4 w 63"/>
                  <a:gd name="T1" fmla="*/ 7 h 212"/>
                  <a:gd name="T2" fmla="*/ 7 w 63"/>
                  <a:gd name="T3" fmla="*/ 13 h 212"/>
                  <a:gd name="T4" fmla="*/ 10 w 63"/>
                  <a:gd name="T5" fmla="*/ 19 h 212"/>
                  <a:gd name="T6" fmla="*/ 13 w 63"/>
                  <a:gd name="T7" fmla="*/ 24 h 212"/>
                  <a:gd name="T8" fmla="*/ 15 w 63"/>
                  <a:gd name="T9" fmla="*/ 27 h 212"/>
                  <a:gd name="T10" fmla="*/ 16 w 63"/>
                  <a:gd name="T11" fmla="*/ 30 h 212"/>
                  <a:gd name="T12" fmla="*/ 17 w 63"/>
                  <a:gd name="T13" fmla="*/ 34 h 212"/>
                  <a:gd name="T14" fmla="*/ 19 w 63"/>
                  <a:gd name="T15" fmla="*/ 38 h 212"/>
                  <a:gd name="T16" fmla="*/ 20 w 63"/>
                  <a:gd name="T17" fmla="*/ 41 h 212"/>
                  <a:gd name="T18" fmla="*/ 22 w 63"/>
                  <a:gd name="T19" fmla="*/ 46 h 212"/>
                  <a:gd name="T20" fmla="*/ 23 w 63"/>
                  <a:gd name="T21" fmla="*/ 49 h 212"/>
                  <a:gd name="T22" fmla="*/ 25 w 63"/>
                  <a:gd name="T23" fmla="*/ 52 h 212"/>
                  <a:gd name="T24" fmla="*/ 26 w 63"/>
                  <a:gd name="T25" fmla="*/ 55 h 212"/>
                  <a:gd name="T26" fmla="*/ 28 w 63"/>
                  <a:gd name="T27" fmla="*/ 58 h 212"/>
                  <a:gd name="T28" fmla="*/ 29 w 63"/>
                  <a:gd name="T29" fmla="*/ 61 h 212"/>
                  <a:gd name="T30" fmla="*/ 31 w 63"/>
                  <a:gd name="T31" fmla="*/ 67 h 212"/>
                  <a:gd name="T32" fmla="*/ 32 w 63"/>
                  <a:gd name="T33" fmla="*/ 69 h 212"/>
                  <a:gd name="T34" fmla="*/ 34 w 63"/>
                  <a:gd name="T35" fmla="*/ 75 h 212"/>
                  <a:gd name="T36" fmla="*/ 35 w 63"/>
                  <a:gd name="T37" fmla="*/ 80 h 212"/>
                  <a:gd name="T38" fmla="*/ 37 w 63"/>
                  <a:gd name="T39" fmla="*/ 83 h 212"/>
                  <a:gd name="T40" fmla="*/ 38 w 63"/>
                  <a:gd name="T41" fmla="*/ 86 h 212"/>
                  <a:gd name="T42" fmla="*/ 38 w 63"/>
                  <a:gd name="T43" fmla="*/ 89 h 212"/>
                  <a:gd name="T44" fmla="*/ 40 w 63"/>
                  <a:gd name="T45" fmla="*/ 92 h 212"/>
                  <a:gd name="T46" fmla="*/ 41 w 63"/>
                  <a:gd name="T47" fmla="*/ 96 h 212"/>
                  <a:gd name="T48" fmla="*/ 43 w 63"/>
                  <a:gd name="T49" fmla="*/ 101 h 212"/>
                  <a:gd name="T50" fmla="*/ 44 w 63"/>
                  <a:gd name="T51" fmla="*/ 106 h 212"/>
                  <a:gd name="T52" fmla="*/ 46 w 63"/>
                  <a:gd name="T53" fmla="*/ 111 h 212"/>
                  <a:gd name="T54" fmla="*/ 47 w 63"/>
                  <a:gd name="T55" fmla="*/ 114 h 212"/>
                  <a:gd name="T56" fmla="*/ 47 w 63"/>
                  <a:gd name="T57" fmla="*/ 117 h 212"/>
                  <a:gd name="T58" fmla="*/ 49 w 63"/>
                  <a:gd name="T59" fmla="*/ 120 h 212"/>
                  <a:gd name="T60" fmla="*/ 50 w 63"/>
                  <a:gd name="T61" fmla="*/ 123 h 212"/>
                  <a:gd name="T62" fmla="*/ 52 w 63"/>
                  <a:gd name="T63" fmla="*/ 127 h 212"/>
                  <a:gd name="T64" fmla="*/ 53 w 63"/>
                  <a:gd name="T65" fmla="*/ 133 h 212"/>
                  <a:gd name="T66" fmla="*/ 55 w 63"/>
                  <a:gd name="T67" fmla="*/ 138 h 212"/>
                  <a:gd name="T68" fmla="*/ 55 w 63"/>
                  <a:gd name="T69" fmla="*/ 142 h 212"/>
                  <a:gd name="T70" fmla="*/ 56 w 63"/>
                  <a:gd name="T71" fmla="*/ 145 h 212"/>
                  <a:gd name="T72" fmla="*/ 57 w 63"/>
                  <a:gd name="T73" fmla="*/ 148 h 212"/>
                  <a:gd name="T74" fmla="*/ 57 w 63"/>
                  <a:gd name="T75" fmla="*/ 151 h 212"/>
                  <a:gd name="T76" fmla="*/ 57 w 63"/>
                  <a:gd name="T77" fmla="*/ 154 h 212"/>
                  <a:gd name="T78" fmla="*/ 57 w 63"/>
                  <a:gd name="T79" fmla="*/ 157 h 212"/>
                  <a:gd name="T80" fmla="*/ 59 w 63"/>
                  <a:gd name="T81" fmla="*/ 161 h 212"/>
                  <a:gd name="T82" fmla="*/ 59 w 63"/>
                  <a:gd name="T83" fmla="*/ 166 h 212"/>
                  <a:gd name="T84" fmla="*/ 59 w 63"/>
                  <a:gd name="T85" fmla="*/ 169 h 212"/>
                  <a:gd name="T86" fmla="*/ 59 w 63"/>
                  <a:gd name="T87" fmla="*/ 173 h 212"/>
                  <a:gd name="T88" fmla="*/ 59 w 63"/>
                  <a:gd name="T89" fmla="*/ 175 h 212"/>
                  <a:gd name="T90" fmla="*/ 60 w 63"/>
                  <a:gd name="T91" fmla="*/ 178 h 212"/>
                  <a:gd name="T92" fmla="*/ 60 w 63"/>
                  <a:gd name="T93" fmla="*/ 179 h 212"/>
                  <a:gd name="T94" fmla="*/ 60 w 63"/>
                  <a:gd name="T95" fmla="*/ 181 h 212"/>
                  <a:gd name="T96" fmla="*/ 60 w 63"/>
                  <a:gd name="T97" fmla="*/ 183 h 212"/>
                  <a:gd name="T98" fmla="*/ 62 w 63"/>
                  <a:gd name="T99" fmla="*/ 186 h 212"/>
                  <a:gd name="T100" fmla="*/ 62 w 63"/>
                  <a:gd name="T101" fmla="*/ 188 h 212"/>
                  <a:gd name="T102" fmla="*/ 62 w 63"/>
                  <a:gd name="T103" fmla="*/ 191 h 212"/>
                  <a:gd name="T104" fmla="*/ 62 w 63"/>
                  <a:gd name="T105" fmla="*/ 192 h 212"/>
                  <a:gd name="T106" fmla="*/ 63 w 63"/>
                  <a:gd name="T107" fmla="*/ 195 h 212"/>
                  <a:gd name="T108" fmla="*/ 62 w 63"/>
                  <a:gd name="T109" fmla="*/ 198 h 212"/>
                  <a:gd name="T110" fmla="*/ 62 w 63"/>
                  <a:gd name="T111" fmla="*/ 203 h 212"/>
                  <a:gd name="T112" fmla="*/ 62 w 63"/>
                  <a:gd name="T113" fmla="*/ 207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3" h="212">
                    <a:moveTo>
                      <a:pt x="0" y="0"/>
                    </a:moveTo>
                    <a:lnTo>
                      <a:pt x="1" y="3"/>
                    </a:lnTo>
                    <a:lnTo>
                      <a:pt x="3" y="4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6" y="10"/>
                    </a:lnTo>
                    <a:lnTo>
                      <a:pt x="7" y="12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9" y="16"/>
                    </a:lnTo>
                    <a:lnTo>
                      <a:pt x="10" y="18"/>
                    </a:lnTo>
                    <a:lnTo>
                      <a:pt x="10" y="19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3" y="24"/>
                    </a:lnTo>
                    <a:lnTo>
                      <a:pt x="13" y="24"/>
                    </a:lnTo>
                    <a:lnTo>
                      <a:pt x="13" y="25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5" y="28"/>
                    </a:lnTo>
                    <a:lnTo>
                      <a:pt x="15" y="28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6" y="32"/>
                    </a:lnTo>
                    <a:lnTo>
                      <a:pt x="17" y="32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9" y="35"/>
                    </a:lnTo>
                    <a:lnTo>
                      <a:pt x="19" y="37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0" y="40"/>
                    </a:lnTo>
                    <a:lnTo>
                      <a:pt x="20" y="41"/>
                    </a:lnTo>
                    <a:lnTo>
                      <a:pt x="20" y="43"/>
                    </a:lnTo>
                    <a:lnTo>
                      <a:pt x="22" y="43"/>
                    </a:lnTo>
                    <a:lnTo>
                      <a:pt x="22" y="44"/>
                    </a:lnTo>
                    <a:lnTo>
                      <a:pt x="22" y="46"/>
                    </a:lnTo>
                    <a:lnTo>
                      <a:pt x="23" y="46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3" y="49"/>
                    </a:lnTo>
                    <a:lnTo>
                      <a:pt x="23" y="49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5" y="52"/>
                    </a:lnTo>
                    <a:lnTo>
                      <a:pt x="25" y="52"/>
                    </a:lnTo>
                    <a:lnTo>
                      <a:pt x="25" y="53"/>
                    </a:lnTo>
                    <a:lnTo>
                      <a:pt x="26" y="53"/>
                    </a:lnTo>
                    <a:lnTo>
                      <a:pt x="26" y="55"/>
                    </a:lnTo>
                    <a:lnTo>
                      <a:pt x="26" y="55"/>
                    </a:lnTo>
                    <a:lnTo>
                      <a:pt x="26" y="56"/>
                    </a:lnTo>
                    <a:lnTo>
                      <a:pt x="26" y="56"/>
                    </a:lnTo>
                    <a:lnTo>
                      <a:pt x="28" y="58"/>
                    </a:lnTo>
                    <a:lnTo>
                      <a:pt x="28" y="58"/>
                    </a:lnTo>
                    <a:lnTo>
                      <a:pt x="28" y="59"/>
                    </a:lnTo>
                    <a:lnTo>
                      <a:pt x="28" y="61"/>
                    </a:lnTo>
                    <a:lnTo>
                      <a:pt x="29" y="61"/>
                    </a:lnTo>
                    <a:lnTo>
                      <a:pt x="29" y="62"/>
                    </a:lnTo>
                    <a:lnTo>
                      <a:pt x="29" y="64"/>
                    </a:lnTo>
                    <a:lnTo>
                      <a:pt x="29" y="65"/>
                    </a:lnTo>
                    <a:lnTo>
                      <a:pt x="31" y="67"/>
                    </a:lnTo>
                    <a:lnTo>
                      <a:pt x="31" y="67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2" y="69"/>
                    </a:lnTo>
                    <a:lnTo>
                      <a:pt x="32" y="71"/>
                    </a:lnTo>
                    <a:lnTo>
                      <a:pt x="34" y="72"/>
                    </a:lnTo>
                    <a:lnTo>
                      <a:pt x="34" y="74"/>
                    </a:lnTo>
                    <a:lnTo>
                      <a:pt x="34" y="75"/>
                    </a:lnTo>
                    <a:lnTo>
                      <a:pt x="34" y="77"/>
                    </a:lnTo>
                    <a:lnTo>
                      <a:pt x="35" y="77"/>
                    </a:lnTo>
                    <a:lnTo>
                      <a:pt x="35" y="78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7" y="81"/>
                    </a:lnTo>
                    <a:lnTo>
                      <a:pt x="37" y="81"/>
                    </a:lnTo>
                    <a:lnTo>
                      <a:pt x="37" y="83"/>
                    </a:lnTo>
                    <a:lnTo>
                      <a:pt x="37" y="83"/>
                    </a:lnTo>
                    <a:lnTo>
                      <a:pt x="37" y="84"/>
                    </a:lnTo>
                    <a:lnTo>
                      <a:pt x="37" y="84"/>
                    </a:lnTo>
                    <a:lnTo>
                      <a:pt x="38" y="86"/>
                    </a:lnTo>
                    <a:lnTo>
                      <a:pt x="38" y="86"/>
                    </a:lnTo>
                    <a:lnTo>
                      <a:pt x="38" y="87"/>
                    </a:lnTo>
                    <a:lnTo>
                      <a:pt x="38" y="87"/>
                    </a:lnTo>
                    <a:lnTo>
                      <a:pt x="38" y="89"/>
                    </a:lnTo>
                    <a:lnTo>
                      <a:pt x="38" y="89"/>
                    </a:lnTo>
                    <a:lnTo>
                      <a:pt x="40" y="90"/>
                    </a:lnTo>
                    <a:lnTo>
                      <a:pt x="40" y="92"/>
                    </a:lnTo>
                    <a:lnTo>
                      <a:pt x="40" y="92"/>
                    </a:lnTo>
                    <a:lnTo>
                      <a:pt x="40" y="93"/>
                    </a:lnTo>
                    <a:lnTo>
                      <a:pt x="41" y="95"/>
                    </a:lnTo>
                    <a:lnTo>
                      <a:pt x="41" y="96"/>
                    </a:lnTo>
                    <a:lnTo>
                      <a:pt x="41" y="96"/>
                    </a:lnTo>
                    <a:lnTo>
                      <a:pt x="41" y="98"/>
                    </a:lnTo>
                    <a:lnTo>
                      <a:pt x="43" y="99"/>
                    </a:lnTo>
                    <a:lnTo>
                      <a:pt x="43" y="101"/>
                    </a:lnTo>
                    <a:lnTo>
                      <a:pt x="43" y="101"/>
                    </a:lnTo>
                    <a:lnTo>
                      <a:pt x="43" y="102"/>
                    </a:lnTo>
                    <a:lnTo>
                      <a:pt x="43" y="104"/>
                    </a:lnTo>
                    <a:lnTo>
                      <a:pt x="44" y="105"/>
                    </a:lnTo>
                    <a:lnTo>
                      <a:pt x="44" y="106"/>
                    </a:lnTo>
                    <a:lnTo>
                      <a:pt x="44" y="108"/>
                    </a:lnTo>
                    <a:lnTo>
                      <a:pt x="44" y="108"/>
                    </a:lnTo>
                    <a:lnTo>
                      <a:pt x="46" y="109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46" y="112"/>
                    </a:lnTo>
                    <a:lnTo>
                      <a:pt x="46" y="112"/>
                    </a:lnTo>
                    <a:lnTo>
                      <a:pt x="47" y="114"/>
                    </a:lnTo>
                    <a:lnTo>
                      <a:pt x="47" y="115"/>
                    </a:lnTo>
                    <a:lnTo>
                      <a:pt x="47" y="115"/>
                    </a:lnTo>
                    <a:lnTo>
                      <a:pt x="47" y="117"/>
                    </a:lnTo>
                    <a:lnTo>
                      <a:pt x="47" y="117"/>
                    </a:lnTo>
                    <a:lnTo>
                      <a:pt x="47" y="118"/>
                    </a:lnTo>
                    <a:lnTo>
                      <a:pt x="49" y="118"/>
                    </a:lnTo>
                    <a:lnTo>
                      <a:pt x="49" y="120"/>
                    </a:lnTo>
                    <a:lnTo>
                      <a:pt x="49" y="120"/>
                    </a:lnTo>
                    <a:lnTo>
                      <a:pt x="49" y="121"/>
                    </a:lnTo>
                    <a:lnTo>
                      <a:pt x="49" y="121"/>
                    </a:lnTo>
                    <a:lnTo>
                      <a:pt x="49" y="123"/>
                    </a:lnTo>
                    <a:lnTo>
                      <a:pt x="50" y="123"/>
                    </a:lnTo>
                    <a:lnTo>
                      <a:pt x="50" y="124"/>
                    </a:lnTo>
                    <a:lnTo>
                      <a:pt x="50" y="126"/>
                    </a:lnTo>
                    <a:lnTo>
                      <a:pt x="50" y="127"/>
                    </a:lnTo>
                    <a:lnTo>
                      <a:pt x="52" y="127"/>
                    </a:lnTo>
                    <a:lnTo>
                      <a:pt x="52" y="129"/>
                    </a:lnTo>
                    <a:lnTo>
                      <a:pt x="52" y="130"/>
                    </a:lnTo>
                    <a:lnTo>
                      <a:pt x="52" y="132"/>
                    </a:lnTo>
                    <a:lnTo>
                      <a:pt x="53" y="133"/>
                    </a:lnTo>
                    <a:lnTo>
                      <a:pt x="53" y="133"/>
                    </a:lnTo>
                    <a:lnTo>
                      <a:pt x="53" y="135"/>
                    </a:lnTo>
                    <a:lnTo>
                      <a:pt x="53" y="136"/>
                    </a:lnTo>
                    <a:lnTo>
                      <a:pt x="55" y="138"/>
                    </a:lnTo>
                    <a:lnTo>
                      <a:pt x="55" y="138"/>
                    </a:lnTo>
                    <a:lnTo>
                      <a:pt x="55" y="139"/>
                    </a:lnTo>
                    <a:lnTo>
                      <a:pt x="55" y="141"/>
                    </a:lnTo>
                    <a:lnTo>
                      <a:pt x="55" y="142"/>
                    </a:lnTo>
                    <a:lnTo>
                      <a:pt x="56" y="142"/>
                    </a:lnTo>
                    <a:lnTo>
                      <a:pt x="56" y="144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6" y="146"/>
                    </a:lnTo>
                    <a:lnTo>
                      <a:pt x="56" y="146"/>
                    </a:lnTo>
                    <a:lnTo>
                      <a:pt x="57" y="148"/>
                    </a:lnTo>
                    <a:lnTo>
                      <a:pt x="57" y="148"/>
                    </a:lnTo>
                    <a:lnTo>
                      <a:pt x="57" y="149"/>
                    </a:lnTo>
                    <a:lnTo>
                      <a:pt x="57" y="149"/>
                    </a:lnTo>
                    <a:lnTo>
                      <a:pt x="57" y="149"/>
                    </a:lnTo>
                    <a:lnTo>
                      <a:pt x="57" y="151"/>
                    </a:lnTo>
                    <a:lnTo>
                      <a:pt x="57" y="151"/>
                    </a:lnTo>
                    <a:lnTo>
                      <a:pt x="57" y="152"/>
                    </a:lnTo>
                    <a:lnTo>
                      <a:pt x="57" y="152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5"/>
                    </a:lnTo>
                    <a:lnTo>
                      <a:pt x="57" y="157"/>
                    </a:lnTo>
                    <a:lnTo>
                      <a:pt x="57" y="157"/>
                    </a:lnTo>
                    <a:lnTo>
                      <a:pt x="57" y="158"/>
                    </a:lnTo>
                    <a:lnTo>
                      <a:pt x="59" y="160"/>
                    </a:lnTo>
                    <a:lnTo>
                      <a:pt x="59" y="160"/>
                    </a:lnTo>
                    <a:lnTo>
                      <a:pt x="59" y="161"/>
                    </a:lnTo>
                    <a:lnTo>
                      <a:pt x="59" y="163"/>
                    </a:lnTo>
                    <a:lnTo>
                      <a:pt x="59" y="163"/>
                    </a:lnTo>
                    <a:lnTo>
                      <a:pt x="59" y="164"/>
                    </a:lnTo>
                    <a:lnTo>
                      <a:pt x="59" y="166"/>
                    </a:lnTo>
                    <a:lnTo>
                      <a:pt x="59" y="166"/>
                    </a:lnTo>
                    <a:lnTo>
                      <a:pt x="59" y="167"/>
                    </a:lnTo>
                    <a:lnTo>
                      <a:pt x="59" y="169"/>
                    </a:lnTo>
                    <a:lnTo>
                      <a:pt x="59" y="169"/>
                    </a:lnTo>
                    <a:lnTo>
                      <a:pt x="59" y="170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3"/>
                    </a:lnTo>
                    <a:lnTo>
                      <a:pt x="59" y="173"/>
                    </a:lnTo>
                    <a:lnTo>
                      <a:pt x="59" y="173"/>
                    </a:lnTo>
                    <a:lnTo>
                      <a:pt x="59" y="175"/>
                    </a:lnTo>
                    <a:lnTo>
                      <a:pt x="59" y="175"/>
                    </a:lnTo>
                    <a:lnTo>
                      <a:pt x="59" y="176"/>
                    </a:lnTo>
                    <a:lnTo>
                      <a:pt x="60" y="176"/>
                    </a:lnTo>
                    <a:lnTo>
                      <a:pt x="60" y="176"/>
                    </a:lnTo>
                    <a:lnTo>
                      <a:pt x="60" y="178"/>
                    </a:lnTo>
                    <a:lnTo>
                      <a:pt x="60" y="178"/>
                    </a:lnTo>
                    <a:lnTo>
                      <a:pt x="60" y="178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82"/>
                    </a:lnTo>
                    <a:lnTo>
                      <a:pt x="60" y="182"/>
                    </a:lnTo>
                    <a:lnTo>
                      <a:pt x="60" y="183"/>
                    </a:lnTo>
                    <a:lnTo>
                      <a:pt x="60" y="183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5"/>
                    </a:lnTo>
                    <a:lnTo>
                      <a:pt x="62" y="186"/>
                    </a:lnTo>
                    <a:lnTo>
                      <a:pt x="62" y="186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8"/>
                    </a:lnTo>
                    <a:lnTo>
                      <a:pt x="62" y="189"/>
                    </a:lnTo>
                    <a:lnTo>
                      <a:pt x="62" y="189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1"/>
                    </a:lnTo>
                    <a:lnTo>
                      <a:pt x="62" y="192"/>
                    </a:lnTo>
                    <a:lnTo>
                      <a:pt x="62" y="192"/>
                    </a:lnTo>
                    <a:lnTo>
                      <a:pt x="62" y="192"/>
                    </a:lnTo>
                    <a:lnTo>
                      <a:pt x="62" y="194"/>
                    </a:lnTo>
                    <a:lnTo>
                      <a:pt x="62" y="194"/>
                    </a:lnTo>
                    <a:lnTo>
                      <a:pt x="62" y="195"/>
                    </a:lnTo>
                    <a:lnTo>
                      <a:pt x="63" y="195"/>
                    </a:lnTo>
                    <a:lnTo>
                      <a:pt x="63" y="195"/>
                    </a:lnTo>
                    <a:lnTo>
                      <a:pt x="63" y="197"/>
                    </a:lnTo>
                    <a:lnTo>
                      <a:pt x="62" y="198"/>
                    </a:lnTo>
                    <a:lnTo>
                      <a:pt x="62" y="198"/>
                    </a:lnTo>
                    <a:lnTo>
                      <a:pt x="62" y="200"/>
                    </a:lnTo>
                    <a:lnTo>
                      <a:pt x="62" y="200"/>
                    </a:lnTo>
                    <a:lnTo>
                      <a:pt x="62" y="201"/>
                    </a:lnTo>
                    <a:lnTo>
                      <a:pt x="62" y="203"/>
                    </a:lnTo>
                    <a:lnTo>
                      <a:pt x="62" y="204"/>
                    </a:lnTo>
                    <a:lnTo>
                      <a:pt x="62" y="204"/>
                    </a:lnTo>
                    <a:lnTo>
                      <a:pt x="62" y="206"/>
                    </a:lnTo>
                    <a:lnTo>
                      <a:pt x="62" y="207"/>
                    </a:lnTo>
                    <a:lnTo>
                      <a:pt x="62" y="209"/>
                    </a:lnTo>
                    <a:lnTo>
                      <a:pt x="62" y="210"/>
                    </a:lnTo>
                    <a:lnTo>
                      <a:pt x="62" y="21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82" name="Freeform 405"/>
              <p:cNvSpPr>
                <a:spLocks/>
              </p:cNvSpPr>
              <p:nvPr/>
            </p:nvSpPr>
            <p:spPr bwMode="auto">
              <a:xfrm>
                <a:off x="2396" y="3175"/>
                <a:ext cx="101" cy="101"/>
              </a:xfrm>
              <a:custGeom>
                <a:avLst/>
                <a:gdLst>
                  <a:gd name="T0" fmla="*/ 136 w 303"/>
                  <a:gd name="T1" fmla="*/ 0 h 302"/>
                  <a:gd name="T2" fmla="*/ 114 w 303"/>
                  <a:gd name="T3" fmla="*/ 5 h 302"/>
                  <a:gd name="T4" fmla="*/ 93 w 303"/>
                  <a:gd name="T5" fmla="*/ 12 h 302"/>
                  <a:gd name="T6" fmla="*/ 74 w 303"/>
                  <a:gd name="T7" fmla="*/ 21 h 302"/>
                  <a:gd name="T8" fmla="*/ 56 w 303"/>
                  <a:gd name="T9" fmla="*/ 34 h 302"/>
                  <a:gd name="T10" fmla="*/ 40 w 303"/>
                  <a:gd name="T11" fmla="*/ 49 h 302"/>
                  <a:gd name="T12" fmla="*/ 26 w 303"/>
                  <a:gd name="T13" fmla="*/ 67 h 302"/>
                  <a:gd name="T14" fmla="*/ 15 w 303"/>
                  <a:gd name="T15" fmla="*/ 85 h 302"/>
                  <a:gd name="T16" fmla="*/ 7 w 303"/>
                  <a:gd name="T17" fmla="*/ 105 h 302"/>
                  <a:gd name="T18" fmla="*/ 3 w 303"/>
                  <a:gd name="T19" fmla="*/ 128 h 302"/>
                  <a:gd name="T20" fmla="*/ 0 w 303"/>
                  <a:gd name="T21" fmla="*/ 151 h 302"/>
                  <a:gd name="T22" fmla="*/ 1 w 303"/>
                  <a:gd name="T23" fmla="*/ 166 h 302"/>
                  <a:gd name="T24" fmla="*/ 6 w 303"/>
                  <a:gd name="T25" fmla="*/ 188 h 302"/>
                  <a:gd name="T26" fmla="*/ 12 w 303"/>
                  <a:gd name="T27" fmla="*/ 211 h 302"/>
                  <a:gd name="T28" fmla="*/ 22 w 303"/>
                  <a:gd name="T29" fmla="*/ 230 h 302"/>
                  <a:gd name="T30" fmla="*/ 35 w 303"/>
                  <a:gd name="T31" fmla="*/ 248 h 302"/>
                  <a:gd name="T32" fmla="*/ 50 w 303"/>
                  <a:gd name="T33" fmla="*/ 262 h 302"/>
                  <a:gd name="T34" fmla="*/ 66 w 303"/>
                  <a:gd name="T35" fmla="*/ 277 h 302"/>
                  <a:gd name="T36" fmla="*/ 86 w 303"/>
                  <a:gd name="T37" fmla="*/ 288 h 302"/>
                  <a:gd name="T38" fmla="*/ 106 w 303"/>
                  <a:gd name="T39" fmla="*/ 295 h 302"/>
                  <a:gd name="T40" fmla="*/ 129 w 303"/>
                  <a:gd name="T41" fmla="*/ 301 h 302"/>
                  <a:gd name="T42" fmla="*/ 152 w 303"/>
                  <a:gd name="T43" fmla="*/ 302 h 302"/>
                  <a:gd name="T44" fmla="*/ 167 w 303"/>
                  <a:gd name="T45" fmla="*/ 301 h 302"/>
                  <a:gd name="T46" fmla="*/ 189 w 303"/>
                  <a:gd name="T47" fmla="*/ 298 h 302"/>
                  <a:gd name="T48" fmla="*/ 210 w 303"/>
                  <a:gd name="T49" fmla="*/ 290 h 302"/>
                  <a:gd name="T50" fmla="*/ 231 w 303"/>
                  <a:gd name="T51" fmla="*/ 280 h 302"/>
                  <a:gd name="T52" fmla="*/ 249 w 303"/>
                  <a:gd name="T53" fmla="*/ 268 h 302"/>
                  <a:gd name="T54" fmla="*/ 263 w 303"/>
                  <a:gd name="T55" fmla="*/ 253 h 302"/>
                  <a:gd name="T56" fmla="*/ 277 w 303"/>
                  <a:gd name="T57" fmla="*/ 236 h 302"/>
                  <a:gd name="T58" fmla="*/ 289 w 303"/>
                  <a:gd name="T59" fmla="*/ 216 h 302"/>
                  <a:gd name="T60" fmla="*/ 296 w 303"/>
                  <a:gd name="T61" fmla="*/ 196 h 302"/>
                  <a:gd name="T62" fmla="*/ 302 w 303"/>
                  <a:gd name="T63" fmla="*/ 174 h 302"/>
                  <a:gd name="T64" fmla="*/ 303 w 303"/>
                  <a:gd name="T65" fmla="*/ 151 h 302"/>
                  <a:gd name="T66" fmla="*/ 302 w 303"/>
                  <a:gd name="T67" fmla="*/ 135 h 302"/>
                  <a:gd name="T68" fmla="*/ 299 w 303"/>
                  <a:gd name="T69" fmla="*/ 113 h 302"/>
                  <a:gd name="T70" fmla="*/ 291 w 303"/>
                  <a:gd name="T71" fmla="*/ 92 h 302"/>
                  <a:gd name="T72" fmla="*/ 281 w 303"/>
                  <a:gd name="T73" fmla="*/ 73 h 302"/>
                  <a:gd name="T74" fmla="*/ 268 w 303"/>
                  <a:gd name="T75" fmla="*/ 55 h 302"/>
                  <a:gd name="T76" fmla="*/ 253 w 303"/>
                  <a:gd name="T77" fmla="*/ 39 h 302"/>
                  <a:gd name="T78" fmla="*/ 237 w 303"/>
                  <a:gd name="T79" fmla="*/ 25 h 302"/>
                  <a:gd name="T80" fmla="*/ 217 w 303"/>
                  <a:gd name="T81" fmla="*/ 15 h 302"/>
                  <a:gd name="T82" fmla="*/ 197 w 303"/>
                  <a:gd name="T83" fmla="*/ 6 h 302"/>
                  <a:gd name="T84" fmla="*/ 174 w 303"/>
                  <a:gd name="T85" fmla="*/ 2 h 302"/>
                  <a:gd name="T86" fmla="*/ 152 w 303"/>
                  <a:gd name="T87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302">
                    <a:moveTo>
                      <a:pt x="152" y="0"/>
                    </a:moveTo>
                    <a:lnTo>
                      <a:pt x="143" y="0"/>
                    </a:lnTo>
                    <a:lnTo>
                      <a:pt x="136" y="0"/>
                    </a:lnTo>
                    <a:lnTo>
                      <a:pt x="129" y="2"/>
                    </a:lnTo>
                    <a:lnTo>
                      <a:pt x="121" y="3"/>
                    </a:lnTo>
                    <a:lnTo>
                      <a:pt x="114" y="5"/>
                    </a:lnTo>
                    <a:lnTo>
                      <a:pt x="106" y="6"/>
                    </a:lnTo>
                    <a:lnTo>
                      <a:pt x="99" y="9"/>
                    </a:lnTo>
                    <a:lnTo>
                      <a:pt x="93" y="12"/>
                    </a:lnTo>
                    <a:lnTo>
                      <a:pt x="86" y="15"/>
                    </a:lnTo>
                    <a:lnTo>
                      <a:pt x="80" y="18"/>
                    </a:lnTo>
                    <a:lnTo>
                      <a:pt x="74" y="21"/>
                    </a:lnTo>
                    <a:lnTo>
                      <a:pt x="66" y="25"/>
                    </a:lnTo>
                    <a:lnTo>
                      <a:pt x="60" y="30"/>
                    </a:lnTo>
                    <a:lnTo>
                      <a:pt x="56" y="34"/>
                    </a:lnTo>
                    <a:lnTo>
                      <a:pt x="50" y="39"/>
                    </a:lnTo>
                    <a:lnTo>
                      <a:pt x="44" y="45"/>
                    </a:lnTo>
                    <a:lnTo>
                      <a:pt x="40" y="49"/>
                    </a:lnTo>
                    <a:lnTo>
                      <a:pt x="35" y="55"/>
                    </a:lnTo>
                    <a:lnTo>
                      <a:pt x="31" y="61"/>
                    </a:lnTo>
                    <a:lnTo>
                      <a:pt x="26" y="67"/>
                    </a:lnTo>
                    <a:lnTo>
                      <a:pt x="22" y="73"/>
                    </a:lnTo>
                    <a:lnTo>
                      <a:pt x="19" y="79"/>
                    </a:lnTo>
                    <a:lnTo>
                      <a:pt x="15" y="85"/>
                    </a:lnTo>
                    <a:lnTo>
                      <a:pt x="12" y="92"/>
                    </a:lnTo>
                    <a:lnTo>
                      <a:pt x="10" y="99"/>
                    </a:lnTo>
                    <a:lnTo>
                      <a:pt x="7" y="105"/>
                    </a:lnTo>
                    <a:lnTo>
                      <a:pt x="6" y="113"/>
                    </a:lnTo>
                    <a:lnTo>
                      <a:pt x="3" y="120"/>
                    </a:lnTo>
                    <a:lnTo>
                      <a:pt x="3" y="128"/>
                    </a:lnTo>
                    <a:lnTo>
                      <a:pt x="1" y="135"/>
                    </a:lnTo>
                    <a:lnTo>
                      <a:pt x="1" y="144"/>
                    </a:lnTo>
                    <a:lnTo>
                      <a:pt x="0" y="151"/>
                    </a:lnTo>
                    <a:lnTo>
                      <a:pt x="0" y="151"/>
                    </a:lnTo>
                    <a:lnTo>
                      <a:pt x="1" y="159"/>
                    </a:lnTo>
                    <a:lnTo>
                      <a:pt x="1" y="166"/>
                    </a:lnTo>
                    <a:lnTo>
                      <a:pt x="3" y="174"/>
                    </a:lnTo>
                    <a:lnTo>
                      <a:pt x="3" y="181"/>
                    </a:lnTo>
                    <a:lnTo>
                      <a:pt x="6" y="188"/>
                    </a:lnTo>
                    <a:lnTo>
                      <a:pt x="7" y="196"/>
                    </a:lnTo>
                    <a:lnTo>
                      <a:pt x="10" y="203"/>
                    </a:lnTo>
                    <a:lnTo>
                      <a:pt x="12" y="211"/>
                    </a:lnTo>
                    <a:lnTo>
                      <a:pt x="15" y="216"/>
                    </a:lnTo>
                    <a:lnTo>
                      <a:pt x="19" y="224"/>
                    </a:lnTo>
                    <a:lnTo>
                      <a:pt x="22" y="230"/>
                    </a:lnTo>
                    <a:lnTo>
                      <a:pt x="26" y="236"/>
                    </a:lnTo>
                    <a:lnTo>
                      <a:pt x="31" y="242"/>
                    </a:lnTo>
                    <a:lnTo>
                      <a:pt x="35" y="248"/>
                    </a:lnTo>
                    <a:lnTo>
                      <a:pt x="40" y="253"/>
                    </a:lnTo>
                    <a:lnTo>
                      <a:pt x="44" y="258"/>
                    </a:lnTo>
                    <a:lnTo>
                      <a:pt x="50" y="262"/>
                    </a:lnTo>
                    <a:lnTo>
                      <a:pt x="56" y="268"/>
                    </a:lnTo>
                    <a:lnTo>
                      <a:pt x="60" y="273"/>
                    </a:lnTo>
                    <a:lnTo>
                      <a:pt x="66" y="277"/>
                    </a:lnTo>
                    <a:lnTo>
                      <a:pt x="74" y="280"/>
                    </a:lnTo>
                    <a:lnTo>
                      <a:pt x="80" y="285"/>
                    </a:lnTo>
                    <a:lnTo>
                      <a:pt x="86" y="288"/>
                    </a:lnTo>
                    <a:lnTo>
                      <a:pt x="93" y="290"/>
                    </a:lnTo>
                    <a:lnTo>
                      <a:pt x="99" y="293"/>
                    </a:lnTo>
                    <a:lnTo>
                      <a:pt x="106" y="295"/>
                    </a:lnTo>
                    <a:lnTo>
                      <a:pt x="114" y="298"/>
                    </a:lnTo>
                    <a:lnTo>
                      <a:pt x="121" y="299"/>
                    </a:lnTo>
                    <a:lnTo>
                      <a:pt x="129" y="301"/>
                    </a:lnTo>
                    <a:lnTo>
                      <a:pt x="136" y="301"/>
                    </a:lnTo>
                    <a:lnTo>
                      <a:pt x="143" y="302"/>
                    </a:lnTo>
                    <a:lnTo>
                      <a:pt x="152" y="302"/>
                    </a:lnTo>
                    <a:lnTo>
                      <a:pt x="152" y="302"/>
                    </a:lnTo>
                    <a:lnTo>
                      <a:pt x="160" y="302"/>
                    </a:lnTo>
                    <a:lnTo>
                      <a:pt x="167" y="301"/>
                    </a:lnTo>
                    <a:lnTo>
                      <a:pt x="174" y="301"/>
                    </a:lnTo>
                    <a:lnTo>
                      <a:pt x="182" y="299"/>
                    </a:lnTo>
                    <a:lnTo>
                      <a:pt x="189" y="298"/>
                    </a:lnTo>
                    <a:lnTo>
                      <a:pt x="197" y="295"/>
                    </a:lnTo>
                    <a:lnTo>
                      <a:pt x="204" y="293"/>
                    </a:lnTo>
                    <a:lnTo>
                      <a:pt x="210" y="290"/>
                    </a:lnTo>
                    <a:lnTo>
                      <a:pt x="217" y="288"/>
                    </a:lnTo>
                    <a:lnTo>
                      <a:pt x="223" y="285"/>
                    </a:lnTo>
                    <a:lnTo>
                      <a:pt x="231" y="280"/>
                    </a:lnTo>
                    <a:lnTo>
                      <a:pt x="237" y="277"/>
                    </a:lnTo>
                    <a:lnTo>
                      <a:pt x="243" y="273"/>
                    </a:lnTo>
                    <a:lnTo>
                      <a:pt x="249" y="268"/>
                    </a:lnTo>
                    <a:lnTo>
                      <a:pt x="253" y="262"/>
                    </a:lnTo>
                    <a:lnTo>
                      <a:pt x="259" y="258"/>
                    </a:lnTo>
                    <a:lnTo>
                      <a:pt x="263" y="253"/>
                    </a:lnTo>
                    <a:lnTo>
                      <a:pt x="268" y="248"/>
                    </a:lnTo>
                    <a:lnTo>
                      <a:pt x="272" y="242"/>
                    </a:lnTo>
                    <a:lnTo>
                      <a:pt x="277" y="236"/>
                    </a:lnTo>
                    <a:lnTo>
                      <a:pt x="281" y="230"/>
                    </a:lnTo>
                    <a:lnTo>
                      <a:pt x="284" y="224"/>
                    </a:lnTo>
                    <a:lnTo>
                      <a:pt x="289" y="216"/>
                    </a:lnTo>
                    <a:lnTo>
                      <a:pt x="291" y="211"/>
                    </a:lnTo>
                    <a:lnTo>
                      <a:pt x="294" y="203"/>
                    </a:lnTo>
                    <a:lnTo>
                      <a:pt x="296" y="196"/>
                    </a:lnTo>
                    <a:lnTo>
                      <a:pt x="299" y="188"/>
                    </a:lnTo>
                    <a:lnTo>
                      <a:pt x="300" y="181"/>
                    </a:lnTo>
                    <a:lnTo>
                      <a:pt x="302" y="174"/>
                    </a:lnTo>
                    <a:lnTo>
                      <a:pt x="302" y="166"/>
                    </a:lnTo>
                    <a:lnTo>
                      <a:pt x="303" y="159"/>
                    </a:lnTo>
                    <a:lnTo>
                      <a:pt x="303" y="151"/>
                    </a:lnTo>
                    <a:lnTo>
                      <a:pt x="303" y="151"/>
                    </a:lnTo>
                    <a:lnTo>
                      <a:pt x="303" y="144"/>
                    </a:lnTo>
                    <a:lnTo>
                      <a:pt x="302" y="135"/>
                    </a:lnTo>
                    <a:lnTo>
                      <a:pt x="302" y="128"/>
                    </a:lnTo>
                    <a:lnTo>
                      <a:pt x="300" y="120"/>
                    </a:lnTo>
                    <a:lnTo>
                      <a:pt x="299" y="113"/>
                    </a:lnTo>
                    <a:lnTo>
                      <a:pt x="296" y="105"/>
                    </a:lnTo>
                    <a:lnTo>
                      <a:pt x="294" y="99"/>
                    </a:lnTo>
                    <a:lnTo>
                      <a:pt x="291" y="92"/>
                    </a:lnTo>
                    <a:lnTo>
                      <a:pt x="289" y="85"/>
                    </a:lnTo>
                    <a:lnTo>
                      <a:pt x="284" y="79"/>
                    </a:lnTo>
                    <a:lnTo>
                      <a:pt x="281" y="73"/>
                    </a:lnTo>
                    <a:lnTo>
                      <a:pt x="277" y="67"/>
                    </a:lnTo>
                    <a:lnTo>
                      <a:pt x="272" y="61"/>
                    </a:lnTo>
                    <a:lnTo>
                      <a:pt x="268" y="55"/>
                    </a:lnTo>
                    <a:lnTo>
                      <a:pt x="263" y="49"/>
                    </a:lnTo>
                    <a:lnTo>
                      <a:pt x="259" y="45"/>
                    </a:lnTo>
                    <a:lnTo>
                      <a:pt x="253" y="39"/>
                    </a:lnTo>
                    <a:lnTo>
                      <a:pt x="249" y="34"/>
                    </a:lnTo>
                    <a:lnTo>
                      <a:pt x="243" y="30"/>
                    </a:lnTo>
                    <a:lnTo>
                      <a:pt x="237" y="25"/>
                    </a:lnTo>
                    <a:lnTo>
                      <a:pt x="231" y="21"/>
                    </a:lnTo>
                    <a:lnTo>
                      <a:pt x="223" y="18"/>
                    </a:lnTo>
                    <a:lnTo>
                      <a:pt x="217" y="15"/>
                    </a:lnTo>
                    <a:lnTo>
                      <a:pt x="210" y="12"/>
                    </a:lnTo>
                    <a:lnTo>
                      <a:pt x="204" y="9"/>
                    </a:lnTo>
                    <a:lnTo>
                      <a:pt x="197" y="6"/>
                    </a:lnTo>
                    <a:lnTo>
                      <a:pt x="189" y="5"/>
                    </a:lnTo>
                    <a:lnTo>
                      <a:pt x="182" y="3"/>
                    </a:lnTo>
                    <a:lnTo>
                      <a:pt x="174" y="2"/>
                    </a:lnTo>
                    <a:lnTo>
                      <a:pt x="167" y="0"/>
                    </a:lnTo>
                    <a:lnTo>
                      <a:pt x="160" y="0"/>
                    </a:lnTo>
                    <a:lnTo>
                      <a:pt x="152" y="0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6" name="Rectangle 407"/>
            <p:cNvSpPr>
              <a:spLocks noChangeArrowheads="1"/>
            </p:cNvSpPr>
            <p:nvPr/>
          </p:nvSpPr>
          <p:spPr bwMode="auto">
            <a:xfrm>
              <a:off x="2381" y="3177"/>
              <a:ext cx="69" cy="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408"/>
            <p:cNvSpPr>
              <a:spLocks/>
            </p:cNvSpPr>
            <p:nvPr/>
          </p:nvSpPr>
          <p:spPr bwMode="auto">
            <a:xfrm>
              <a:off x="2381" y="3177"/>
              <a:ext cx="69" cy="99"/>
            </a:xfrm>
            <a:custGeom>
              <a:avLst/>
              <a:gdLst>
                <a:gd name="T0" fmla="*/ 207 w 207"/>
                <a:gd name="T1" fmla="*/ 296 h 296"/>
                <a:gd name="T2" fmla="*/ 0 w 207"/>
                <a:gd name="T3" fmla="*/ 296 h 296"/>
                <a:gd name="T4" fmla="*/ 0 w 207"/>
                <a:gd name="T5" fmla="*/ 0 h 296"/>
                <a:gd name="T6" fmla="*/ 207 w 207"/>
                <a:gd name="T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96">
                  <a:moveTo>
                    <a:pt x="207" y="296"/>
                  </a:moveTo>
                  <a:lnTo>
                    <a:pt x="0" y="296"/>
                  </a:lnTo>
                  <a:lnTo>
                    <a:pt x="0" y="0"/>
                  </a:lnTo>
                  <a:lnTo>
                    <a:pt x="20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409"/>
            <p:cNvSpPr>
              <a:spLocks/>
            </p:cNvSpPr>
            <p:nvPr/>
          </p:nvSpPr>
          <p:spPr bwMode="auto">
            <a:xfrm>
              <a:off x="2401" y="3325"/>
              <a:ext cx="99" cy="99"/>
            </a:xfrm>
            <a:custGeom>
              <a:avLst/>
              <a:gdLst>
                <a:gd name="T0" fmla="*/ 141 w 296"/>
                <a:gd name="T1" fmla="*/ 0 h 296"/>
                <a:gd name="T2" fmla="*/ 119 w 296"/>
                <a:gd name="T3" fmla="*/ 3 h 296"/>
                <a:gd name="T4" fmla="*/ 98 w 296"/>
                <a:gd name="T5" fmla="*/ 9 h 296"/>
                <a:gd name="T6" fmla="*/ 79 w 296"/>
                <a:gd name="T7" fmla="*/ 18 h 296"/>
                <a:gd name="T8" fmla="*/ 61 w 296"/>
                <a:gd name="T9" fmla="*/ 30 h 296"/>
                <a:gd name="T10" fmla="*/ 44 w 296"/>
                <a:gd name="T11" fmla="*/ 43 h 296"/>
                <a:gd name="T12" fmla="*/ 30 w 296"/>
                <a:gd name="T13" fmla="*/ 59 h 296"/>
                <a:gd name="T14" fmla="*/ 19 w 296"/>
                <a:gd name="T15" fmla="*/ 77 h 296"/>
                <a:gd name="T16" fmla="*/ 10 w 296"/>
                <a:gd name="T17" fmla="*/ 96 h 296"/>
                <a:gd name="T18" fmla="*/ 4 w 296"/>
                <a:gd name="T19" fmla="*/ 119 h 296"/>
                <a:gd name="T20" fmla="*/ 2 w 296"/>
                <a:gd name="T21" fmla="*/ 141 h 296"/>
                <a:gd name="T22" fmla="*/ 2 w 296"/>
                <a:gd name="T23" fmla="*/ 156 h 296"/>
                <a:gd name="T24" fmla="*/ 4 w 296"/>
                <a:gd name="T25" fmla="*/ 178 h 296"/>
                <a:gd name="T26" fmla="*/ 10 w 296"/>
                <a:gd name="T27" fmla="*/ 199 h 296"/>
                <a:gd name="T28" fmla="*/ 19 w 296"/>
                <a:gd name="T29" fmla="*/ 218 h 296"/>
                <a:gd name="T30" fmla="*/ 30 w 296"/>
                <a:gd name="T31" fmla="*/ 237 h 296"/>
                <a:gd name="T32" fmla="*/ 44 w 296"/>
                <a:gd name="T33" fmla="*/ 252 h 296"/>
                <a:gd name="T34" fmla="*/ 61 w 296"/>
                <a:gd name="T35" fmla="*/ 267 h 296"/>
                <a:gd name="T36" fmla="*/ 79 w 296"/>
                <a:gd name="T37" fmla="*/ 278 h 296"/>
                <a:gd name="T38" fmla="*/ 98 w 296"/>
                <a:gd name="T39" fmla="*/ 287 h 296"/>
                <a:gd name="T40" fmla="*/ 119 w 296"/>
                <a:gd name="T41" fmla="*/ 293 h 296"/>
                <a:gd name="T42" fmla="*/ 141 w 296"/>
                <a:gd name="T43" fmla="*/ 296 h 296"/>
                <a:gd name="T44" fmla="*/ 157 w 296"/>
                <a:gd name="T45" fmla="*/ 296 h 296"/>
                <a:gd name="T46" fmla="*/ 179 w 296"/>
                <a:gd name="T47" fmla="*/ 293 h 296"/>
                <a:gd name="T48" fmla="*/ 200 w 296"/>
                <a:gd name="T49" fmla="*/ 287 h 296"/>
                <a:gd name="T50" fmla="*/ 219 w 296"/>
                <a:gd name="T51" fmla="*/ 278 h 296"/>
                <a:gd name="T52" fmla="*/ 237 w 296"/>
                <a:gd name="T53" fmla="*/ 267 h 296"/>
                <a:gd name="T54" fmla="*/ 253 w 296"/>
                <a:gd name="T55" fmla="*/ 252 h 296"/>
                <a:gd name="T56" fmla="*/ 268 w 296"/>
                <a:gd name="T57" fmla="*/ 237 h 296"/>
                <a:gd name="T58" fmla="*/ 278 w 296"/>
                <a:gd name="T59" fmla="*/ 218 h 296"/>
                <a:gd name="T60" fmla="*/ 287 w 296"/>
                <a:gd name="T61" fmla="*/ 199 h 296"/>
                <a:gd name="T62" fmla="*/ 293 w 296"/>
                <a:gd name="T63" fmla="*/ 178 h 296"/>
                <a:gd name="T64" fmla="*/ 296 w 296"/>
                <a:gd name="T65" fmla="*/ 156 h 296"/>
                <a:gd name="T66" fmla="*/ 296 w 296"/>
                <a:gd name="T67" fmla="*/ 141 h 296"/>
                <a:gd name="T68" fmla="*/ 293 w 296"/>
                <a:gd name="T69" fmla="*/ 119 h 296"/>
                <a:gd name="T70" fmla="*/ 287 w 296"/>
                <a:gd name="T71" fmla="*/ 96 h 296"/>
                <a:gd name="T72" fmla="*/ 278 w 296"/>
                <a:gd name="T73" fmla="*/ 77 h 296"/>
                <a:gd name="T74" fmla="*/ 268 w 296"/>
                <a:gd name="T75" fmla="*/ 59 h 296"/>
                <a:gd name="T76" fmla="*/ 253 w 296"/>
                <a:gd name="T77" fmla="*/ 43 h 296"/>
                <a:gd name="T78" fmla="*/ 237 w 296"/>
                <a:gd name="T79" fmla="*/ 30 h 296"/>
                <a:gd name="T80" fmla="*/ 219 w 296"/>
                <a:gd name="T81" fmla="*/ 18 h 296"/>
                <a:gd name="T82" fmla="*/ 200 w 296"/>
                <a:gd name="T83" fmla="*/ 9 h 296"/>
                <a:gd name="T84" fmla="*/ 179 w 296"/>
                <a:gd name="T85" fmla="*/ 3 h 296"/>
                <a:gd name="T86" fmla="*/ 157 w 296"/>
                <a:gd name="T87" fmla="*/ 0 h 296"/>
                <a:gd name="T88" fmla="*/ 148 w 296"/>
                <a:gd name="T89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6" h="296">
                  <a:moveTo>
                    <a:pt x="148" y="148"/>
                  </a:moveTo>
                  <a:lnTo>
                    <a:pt x="148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26" y="2"/>
                  </a:lnTo>
                  <a:lnTo>
                    <a:pt x="119" y="3"/>
                  </a:lnTo>
                  <a:lnTo>
                    <a:pt x="113" y="5"/>
                  </a:lnTo>
                  <a:lnTo>
                    <a:pt x="105" y="6"/>
                  </a:lnTo>
                  <a:lnTo>
                    <a:pt x="98" y="9"/>
                  </a:lnTo>
                  <a:lnTo>
                    <a:pt x="92" y="12"/>
                  </a:lnTo>
                  <a:lnTo>
                    <a:pt x="84" y="15"/>
                  </a:lnTo>
                  <a:lnTo>
                    <a:pt x="79" y="18"/>
                  </a:lnTo>
                  <a:lnTo>
                    <a:pt x="73" y="21"/>
                  </a:lnTo>
                  <a:lnTo>
                    <a:pt x="67" y="25"/>
                  </a:lnTo>
                  <a:lnTo>
                    <a:pt x="61" y="30"/>
                  </a:lnTo>
                  <a:lnTo>
                    <a:pt x="55" y="34"/>
                  </a:lnTo>
                  <a:lnTo>
                    <a:pt x="49" y="39"/>
                  </a:lnTo>
                  <a:lnTo>
                    <a:pt x="44" y="43"/>
                  </a:lnTo>
                  <a:lnTo>
                    <a:pt x="39" y="47"/>
                  </a:lnTo>
                  <a:lnTo>
                    <a:pt x="34" y="53"/>
                  </a:lnTo>
                  <a:lnTo>
                    <a:pt x="30" y="59"/>
                  </a:lnTo>
                  <a:lnTo>
                    <a:pt x="27" y="65"/>
                  </a:lnTo>
                  <a:lnTo>
                    <a:pt x="22" y="71"/>
                  </a:lnTo>
                  <a:lnTo>
                    <a:pt x="19" y="77"/>
                  </a:lnTo>
                  <a:lnTo>
                    <a:pt x="15" y="83"/>
                  </a:lnTo>
                  <a:lnTo>
                    <a:pt x="12" y="90"/>
                  </a:lnTo>
                  <a:lnTo>
                    <a:pt x="10" y="96"/>
                  </a:lnTo>
                  <a:lnTo>
                    <a:pt x="7" y="104"/>
                  </a:lnTo>
                  <a:lnTo>
                    <a:pt x="6" y="111"/>
                  </a:lnTo>
                  <a:lnTo>
                    <a:pt x="4" y="119"/>
                  </a:lnTo>
                  <a:lnTo>
                    <a:pt x="3" y="124"/>
                  </a:lnTo>
                  <a:lnTo>
                    <a:pt x="2" y="132"/>
                  </a:lnTo>
                  <a:lnTo>
                    <a:pt x="2" y="141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2" y="156"/>
                  </a:lnTo>
                  <a:lnTo>
                    <a:pt x="2" y="163"/>
                  </a:lnTo>
                  <a:lnTo>
                    <a:pt x="3" y="170"/>
                  </a:lnTo>
                  <a:lnTo>
                    <a:pt x="4" y="178"/>
                  </a:lnTo>
                  <a:lnTo>
                    <a:pt x="6" y="185"/>
                  </a:lnTo>
                  <a:lnTo>
                    <a:pt x="7" y="191"/>
                  </a:lnTo>
                  <a:lnTo>
                    <a:pt x="10" y="199"/>
                  </a:lnTo>
                  <a:lnTo>
                    <a:pt x="12" y="206"/>
                  </a:lnTo>
                  <a:lnTo>
                    <a:pt x="15" y="212"/>
                  </a:lnTo>
                  <a:lnTo>
                    <a:pt x="19" y="218"/>
                  </a:lnTo>
                  <a:lnTo>
                    <a:pt x="22" y="225"/>
                  </a:lnTo>
                  <a:lnTo>
                    <a:pt x="27" y="231"/>
                  </a:lnTo>
                  <a:lnTo>
                    <a:pt x="30" y="237"/>
                  </a:lnTo>
                  <a:lnTo>
                    <a:pt x="34" y="241"/>
                  </a:lnTo>
                  <a:lnTo>
                    <a:pt x="39" y="247"/>
                  </a:lnTo>
                  <a:lnTo>
                    <a:pt x="44" y="252"/>
                  </a:lnTo>
                  <a:lnTo>
                    <a:pt x="49" y="258"/>
                  </a:lnTo>
                  <a:lnTo>
                    <a:pt x="55" y="262"/>
                  </a:lnTo>
                  <a:lnTo>
                    <a:pt x="61" y="267"/>
                  </a:lnTo>
                  <a:lnTo>
                    <a:pt x="67" y="271"/>
                  </a:lnTo>
                  <a:lnTo>
                    <a:pt x="73" y="274"/>
                  </a:lnTo>
                  <a:lnTo>
                    <a:pt x="79" y="278"/>
                  </a:lnTo>
                  <a:lnTo>
                    <a:pt x="84" y="281"/>
                  </a:lnTo>
                  <a:lnTo>
                    <a:pt x="92" y="284"/>
                  </a:lnTo>
                  <a:lnTo>
                    <a:pt x="98" y="287"/>
                  </a:lnTo>
                  <a:lnTo>
                    <a:pt x="105" y="289"/>
                  </a:lnTo>
                  <a:lnTo>
                    <a:pt x="113" y="292"/>
                  </a:lnTo>
                  <a:lnTo>
                    <a:pt x="119" y="293"/>
                  </a:lnTo>
                  <a:lnTo>
                    <a:pt x="126" y="295"/>
                  </a:lnTo>
                  <a:lnTo>
                    <a:pt x="133" y="295"/>
                  </a:lnTo>
                  <a:lnTo>
                    <a:pt x="141" y="296"/>
                  </a:lnTo>
                  <a:lnTo>
                    <a:pt x="148" y="296"/>
                  </a:lnTo>
                  <a:lnTo>
                    <a:pt x="148" y="296"/>
                  </a:lnTo>
                  <a:lnTo>
                    <a:pt x="157" y="296"/>
                  </a:lnTo>
                  <a:lnTo>
                    <a:pt x="164" y="295"/>
                  </a:lnTo>
                  <a:lnTo>
                    <a:pt x="172" y="295"/>
                  </a:lnTo>
                  <a:lnTo>
                    <a:pt x="179" y="293"/>
                  </a:lnTo>
                  <a:lnTo>
                    <a:pt x="185" y="292"/>
                  </a:lnTo>
                  <a:lnTo>
                    <a:pt x="193" y="289"/>
                  </a:lnTo>
                  <a:lnTo>
                    <a:pt x="200" y="287"/>
                  </a:lnTo>
                  <a:lnTo>
                    <a:pt x="206" y="284"/>
                  </a:lnTo>
                  <a:lnTo>
                    <a:pt x="213" y="281"/>
                  </a:lnTo>
                  <a:lnTo>
                    <a:pt x="219" y="278"/>
                  </a:lnTo>
                  <a:lnTo>
                    <a:pt x="225" y="274"/>
                  </a:lnTo>
                  <a:lnTo>
                    <a:pt x="231" y="271"/>
                  </a:lnTo>
                  <a:lnTo>
                    <a:pt x="237" y="267"/>
                  </a:lnTo>
                  <a:lnTo>
                    <a:pt x="243" y="262"/>
                  </a:lnTo>
                  <a:lnTo>
                    <a:pt x="249" y="258"/>
                  </a:lnTo>
                  <a:lnTo>
                    <a:pt x="253" y="252"/>
                  </a:lnTo>
                  <a:lnTo>
                    <a:pt x="259" y="247"/>
                  </a:lnTo>
                  <a:lnTo>
                    <a:pt x="264" y="241"/>
                  </a:lnTo>
                  <a:lnTo>
                    <a:pt x="268" y="237"/>
                  </a:lnTo>
                  <a:lnTo>
                    <a:pt x="271" y="231"/>
                  </a:lnTo>
                  <a:lnTo>
                    <a:pt x="275" y="225"/>
                  </a:lnTo>
                  <a:lnTo>
                    <a:pt x="278" y="218"/>
                  </a:lnTo>
                  <a:lnTo>
                    <a:pt x="283" y="212"/>
                  </a:lnTo>
                  <a:lnTo>
                    <a:pt x="286" y="206"/>
                  </a:lnTo>
                  <a:lnTo>
                    <a:pt x="287" y="199"/>
                  </a:lnTo>
                  <a:lnTo>
                    <a:pt x="290" y="191"/>
                  </a:lnTo>
                  <a:lnTo>
                    <a:pt x="292" y="185"/>
                  </a:lnTo>
                  <a:lnTo>
                    <a:pt x="293" y="178"/>
                  </a:lnTo>
                  <a:lnTo>
                    <a:pt x="295" y="170"/>
                  </a:lnTo>
                  <a:lnTo>
                    <a:pt x="296" y="163"/>
                  </a:lnTo>
                  <a:lnTo>
                    <a:pt x="296" y="156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296" y="141"/>
                  </a:lnTo>
                  <a:lnTo>
                    <a:pt x="296" y="132"/>
                  </a:lnTo>
                  <a:lnTo>
                    <a:pt x="295" y="124"/>
                  </a:lnTo>
                  <a:lnTo>
                    <a:pt x="293" y="119"/>
                  </a:lnTo>
                  <a:lnTo>
                    <a:pt x="292" y="111"/>
                  </a:lnTo>
                  <a:lnTo>
                    <a:pt x="290" y="104"/>
                  </a:lnTo>
                  <a:lnTo>
                    <a:pt x="287" y="96"/>
                  </a:lnTo>
                  <a:lnTo>
                    <a:pt x="286" y="90"/>
                  </a:lnTo>
                  <a:lnTo>
                    <a:pt x="283" y="83"/>
                  </a:lnTo>
                  <a:lnTo>
                    <a:pt x="278" y="77"/>
                  </a:lnTo>
                  <a:lnTo>
                    <a:pt x="275" y="71"/>
                  </a:lnTo>
                  <a:lnTo>
                    <a:pt x="271" y="65"/>
                  </a:lnTo>
                  <a:lnTo>
                    <a:pt x="268" y="59"/>
                  </a:lnTo>
                  <a:lnTo>
                    <a:pt x="264" y="53"/>
                  </a:lnTo>
                  <a:lnTo>
                    <a:pt x="259" y="47"/>
                  </a:lnTo>
                  <a:lnTo>
                    <a:pt x="253" y="43"/>
                  </a:lnTo>
                  <a:lnTo>
                    <a:pt x="249" y="39"/>
                  </a:lnTo>
                  <a:lnTo>
                    <a:pt x="243" y="34"/>
                  </a:lnTo>
                  <a:lnTo>
                    <a:pt x="237" y="30"/>
                  </a:lnTo>
                  <a:lnTo>
                    <a:pt x="231" y="25"/>
                  </a:lnTo>
                  <a:lnTo>
                    <a:pt x="225" y="21"/>
                  </a:lnTo>
                  <a:lnTo>
                    <a:pt x="219" y="18"/>
                  </a:lnTo>
                  <a:lnTo>
                    <a:pt x="213" y="15"/>
                  </a:lnTo>
                  <a:lnTo>
                    <a:pt x="206" y="12"/>
                  </a:lnTo>
                  <a:lnTo>
                    <a:pt x="200" y="9"/>
                  </a:lnTo>
                  <a:lnTo>
                    <a:pt x="193" y="6"/>
                  </a:lnTo>
                  <a:lnTo>
                    <a:pt x="185" y="5"/>
                  </a:lnTo>
                  <a:lnTo>
                    <a:pt x="179" y="3"/>
                  </a:lnTo>
                  <a:lnTo>
                    <a:pt x="172" y="2"/>
                  </a:lnTo>
                  <a:lnTo>
                    <a:pt x="164" y="0"/>
                  </a:lnTo>
                  <a:lnTo>
                    <a:pt x="157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410"/>
            <p:cNvSpPr>
              <a:spLocks/>
            </p:cNvSpPr>
            <p:nvPr/>
          </p:nvSpPr>
          <p:spPr bwMode="auto">
            <a:xfrm>
              <a:off x="2396" y="3329"/>
              <a:ext cx="101" cy="101"/>
            </a:xfrm>
            <a:custGeom>
              <a:avLst/>
              <a:gdLst>
                <a:gd name="T0" fmla="*/ 136 w 303"/>
                <a:gd name="T1" fmla="*/ 0 h 302"/>
                <a:gd name="T2" fmla="*/ 114 w 303"/>
                <a:gd name="T3" fmla="*/ 5 h 302"/>
                <a:gd name="T4" fmla="*/ 93 w 303"/>
                <a:gd name="T5" fmla="*/ 12 h 302"/>
                <a:gd name="T6" fmla="*/ 74 w 303"/>
                <a:gd name="T7" fmla="*/ 21 h 302"/>
                <a:gd name="T8" fmla="*/ 56 w 303"/>
                <a:gd name="T9" fmla="*/ 34 h 302"/>
                <a:gd name="T10" fmla="*/ 40 w 303"/>
                <a:gd name="T11" fmla="*/ 49 h 302"/>
                <a:gd name="T12" fmla="*/ 26 w 303"/>
                <a:gd name="T13" fmla="*/ 67 h 302"/>
                <a:gd name="T14" fmla="*/ 15 w 303"/>
                <a:gd name="T15" fmla="*/ 85 h 302"/>
                <a:gd name="T16" fmla="*/ 7 w 303"/>
                <a:gd name="T17" fmla="*/ 106 h 302"/>
                <a:gd name="T18" fmla="*/ 3 w 303"/>
                <a:gd name="T19" fmla="*/ 128 h 302"/>
                <a:gd name="T20" fmla="*/ 0 w 303"/>
                <a:gd name="T21" fmla="*/ 151 h 302"/>
                <a:gd name="T22" fmla="*/ 1 w 303"/>
                <a:gd name="T23" fmla="*/ 166 h 302"/>
                <a:gd name="T24" fmla="*/ 6 w 303"/>
                <a:gd name="T25" fmla="*/ 188 h 302"/>
                <a:gd name="T26" fmla="*/ 12 w 303"/>
                <a:gd name="T27" fmla="*/ 211 h 302"/>
                <a:gd name="T28" fmla="*/ 22 w 303"/>
                <a:gd name="T29" fmla="*/ 230 h 302"/>
                <a:gd name="T30" fmla="*/ 35 w 303"/>
                <a:gd name="T31" fmla="*/ 248 h 302"/>
                <a:gd name="T32" fmla="*/ 50 w 303"/>
                <a:gd name="T33" fmla="*/ 262 h 302"/>
                <a:gd name="T34" fmla="*/ 66 w 303"/>
                <a:gd name="T35" fmla="*/ 277 h 302"/>
                <a:gd name="T36" fmla="*/ 86 w 303"/>
                <a:gd name="T37" fmla="*/ 288 h 302"/>
                <a:gd name="T38" fmla="*/ 106 w 303"/>
                <a:gd name="T39" fmla="*/ 295 h 302"/>
                <a:gd name="T40" fmla="*/ 129 w 303"/>
                <a:gd name="T41" fmla="*/ 301 h 302"/>
                <a:gd name="T42" fmla="*/ 152 w 303"/>
                <a:gd name="T43" fmla="*/ 302 h 302"/>
                <a:gd name="T44" fmla="*/ 167 w 303"/>
                <a:gd name="T45" fmla="*/ 301 h 302"/>
                <a:gd name="T46" fmla="*/ 189 w 303"/>
                <a:gd name="T47" fmla="*/ 298 h 302"/>
                <a:gd name="T48" fmla="*/ 210 w 303"/>
                <a:gd name="T49" fmla="*/ 291 h 302"/>
                <a:gd name="T50" fmla="*/ 231 w 303"/>
                <a:gd name="T51" fmla="*/ 280 h 302"/>
                <a:gd name="T52" fmla="*/ 249 w 303"/>
                <a:gd name="T53" fmla="*/ 268 h 302"/>
                <a:gd name="T54" fmla="*/ 263 w 303"/>
                <a:gd name="T55" fmla="*/ 254 h 302"/>
                <a:gd name="T56" fmla="*/ 277 w 303"/>
                <a:gd name="T57" fmla="*/ 236 h 302"/>
                <a:gd name="T58" fmla="*/ 289 w 303"/>
                <a:gd name="T59" fmla="*/ 217 h 302"/>
                <a:gd name="T60" fmla="*/ 296 w 303"/>
                <a:gd name="T61" fmla="*/ 196 h 302"/>
                <a:gd name="T62" fmla="*/ 302 w 303"/>
                <a:gd name="T63" fmla="*/ 174 h 302"/>
                <a:gd name="T64" fmla="*/ 303 w 303"/>
                <a:gd name="T65" fmla="*/ 151 h 302"/>
                <a:gd name="T66" fmla="*/ 302 w 303"/>
                <a:gd name="T67" fmla="*/ 135 h 302"/>
                <a:gd name="T68" fmla="*/ 299 w 303"/>
                <a:gd name="T69" fmla="*/ 113 h 302"/>
                <a:gd name="T70" fmla="*/ 291 w 303"/>
                <a:gd name="T71" fmla="*/ 92 h 302"/>
                <a:gd name="T72" fmla="*/ 281 w 303"/>
                <a:gd name="T73" fmla="*/ 73 h 302"/>
                <a:gd name="T74" fmla="*/ 268 w 303"/>
                <a:gd name="T75" fmla="*/ 55 h 302"/>
                <a:gd name="T76" fmla="*/ 253 w 303"/>
                <a:gd name="T77" fmla="*/ 39 h 302"/>
                <a:gd name="T78" fmla="*/ 237 w 303"/>
                <a:gd name="T79" fmla="*/ 26 h 302"/>
                <a:gd name="T80" fmla="*/ 217 w 303"/>
                <a:gd name="T81" fmla="*/ 15 h 302"/>
                <a:gd name="T82" fmla="*/ 197 w 303"/>
                <a:gd name="T83" fmla="*/ 6 h 302"/>
                <a:gd name="T84" fmla="*/ 174 w 303"/>
                <a:gd name="T85" fmla="*/ 2 h 302"/>
                <a:gd name="T86" fmla="*/ 152 w 303"/>
                <a:gd name="T8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03" h="302">
                  <a:moveTo>
                    <a:pt x="152" y="0"/>
                  </a:moveTo>
                  <a:lnTo>
                    <a:pt x="143" y="0"/>
                  </a:lnTo>
                  <a:lnTo>
                    <a:pt x="136" y="0"/>
                  </a:lnTo>
                  <a:lnTo>
                    <a:pt x="129" y="2"/>
                  </a:lnTo>
                  <a:lnTo>
                    <a:pt x="121" y="3"/>
                  </a:lnTo>
                  <a:lnTo>
                    <a:pt x="114" y="5"/>
                  </a:lnTo>
                  <a:lnTo>
                    <a:pt x="106" y="6"/>
                  </a:lnTo>
                  <a:lnTo>
                    <a:pt x="99" y="9"/>
                  </a:lnTo>
                  <a:lnTo>
                    <a:pt x="93" y="12"/>
                  </a:lnTo>
                  <a:lnTo>
                    <a:pt x="86" y="15"/>
                  </a:lnTo>
                  <a:lnTo>
                    <a:pt x="80" y="18"/>
                  </a:lnTo>
                  <a:lnTo>
                    <a:pt x="74" y="21"/>
                  </a:lnTo>
                  <a:lnTo>
                    <a:pt x="66" y="26"/>
                  </a:lnTo>
                  <a:lnTo>
                    <a:pt x="60" y="30"/>
                  </a:lnTo>
                  <a:lnTo>
                    <a:pt x="56" y="34"/>
                  </a:lnTo>
                  <a:lnTo>
                    <a:pt x="50" y="39"/>
                  </a:lnTo>
                  <a:lnTo>
                    <a:pt x="44" y="45"/>
                  </a:lnTo>
                  <a:lnTo>
                    <a:pt x="40" y="49"/>
                  </a:lnTo>
                  <a:lnTo>
                    <a:pt x="35" y="55"/>
                  </a:lnTo>
                  <a:lnTo>
                    <a:pt x="31" y="61"/>
                  </a:lnTo>
                  <a:lnTo>
                    <a:pt x="26" y="67"/>
                  </a:lnTo>
                  <a:lnTo>
                    <a:pt x="22" y="73"/>
                  </a:lnTo>
                  <a:lnTo>
                    <a:pt x="19" y="79"/>
                  </a:lnTo>
                  <a:lnTo>
                    <a:pt x="15" y="85"/>
                  </a:lnTo>
                  <a:lnTo>
                    <a:pt x="12" y="92"/>
                  </a:lnTo>
                  <a:lnTo>
                    <a:pt x="10" y="100"/>
                  </a:lnTo>
                  <a:lnTo>
                    <a:pt x="7" y="106"/>
                  </a:lnTo>
                  <a:lnTo>
                    <a:pt x="6" y="113"/>
                  </a:lnTo>
                  <a:lnTo>
                    <a:pt x="3" y="120"/>
                  </a:lnTo>
                  <a:lnTo>
                    <a:pt x="3" y="128"/>
                  </a:lnTo>
                  <a:lnTo>
                    <a:pt x="1" y="135"/>
                  </a:lnTo>
                  <a:lnTo>
                    <a:pt x="1" y="144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1" y="159"/>
                  </a:lnTo>
                  <a:lnTo>
                    <a:pt x="1" y="166"/>
                  </a:lnTo>
                  <a:lnTo>
                    <a:pt x="3" y="174"/>
                  </a:lnTo>
                  <a:lnTo>
                    <a:pt x="3" y="181"/>
                  </a:lnTo>
                  <a:lnTo>
                    <a:pt x="6" y="188"/>
                  </a:lnTo>
                  <a:lnTo>
                    <a:pt x="7" y="196"/>
                  </a:lnTo>
                  <a:lnTo>
                    <a:pt x="10" y="203"/>
                  </a:lnTo>
                  <a:lnTo>
                    <a:pt x="12" y="211"/>
                  </a:lnTo>
                  <a:lnTo>
                    <a:pt x="15" y="217"/>
                  </a:lnTo>
                  <a:lnTo>
                    <a:pt x="19" y="224"/>
                  </a:lnTo>
                  <a:lnTo>
                    <a:pt x="22" y="230"/>
                  </a:lnTo>
                  <a:lnTo>
                    <a:pt x="26" y="236"/>
                  </a:lnTo>
                  <a:lnTo>
                    <a:pt x="31" y="242"/>
                  </a:lnTo>
                  <a:lnTo>
                    <a:pt x="35" y="248"/>
                  </a:lnTo>
                  <a:lnTo>
                    <a:pt x="40" y="254"/>
                  </a:lnTo>
                  <a:lnTo>
                    <a:pt x="44" y="258"/>
                  </a:lnTo>
                  <a:lnTo>
                    <a:pt x="50" y="262"/>
                  </a:lnTo>
                  <a:lnTo>
                    <a:pt x="56" y="268"/>
                  </a:lnTo>
                  <a:lnTo>
                    <a:pt x="60" y="273"/>
                  </a:lnTo>
                  <a:lnTo>
                    <a:pt x="66" y="277"/>
                  </a:lnTo>
                  <a:lnTo>
                    <a:pt x="74" y="280"/>
                  </a:lnTo>
                  <a:lnTo>
                    <a:pt x="80" y="285"/>
                  </a:lnTo>
                  <a:lnTo>
                    <a:pt x="86" y="288"/>
                  </a:lnTo>
                  <a:lnTo>
                    <a:pt x="93" y="291"/>
                  </a:lnTo>
                  <a:lnTo>
                    <a:pt x="99" y="294"/>
                  </a:lnTo>
                  <a:lnTo>
                    <a:pt x="106" y="295"/>
                  </a:lnTo>
                  <a:lnTo>
                    <a:pt x="114" y="298"/>
                  </a:lnTo>
                  <a:lnTo>
                    <a:pt x="121" y="300"/>
                  </a:lnTo>
                  <a:lnTo>
                    <a:pt x="129" y="301"/>
                  </a:lnTo>
                  <a:lnTo>
                    <a:pt x="136" y="301"/>
                  </a:lnTo>
                  <a:lnTo>
                    <a:pt x="143" y="302"/>
                  </a:lnTo>
                  <a:lnTo>
                    <a:pt x="152" y="302"/>
                  </a:lnTo>
                  <a:lnTo>
                    <a:pt x="152" y="302"/>
                  </a:lnTo>
                  <a:lnTo>
                    <a:pt x="160" y="302"/>
                  </a:lnTo>
                  <a:lnTo>
                    <a:pt x="167" y="301"/>
                  </a:lnTo>
                  <a:lnTo>
                    <a:pt x="174" y="301"/>
                  </a:lnTo>
                  <a:lnTo>
                    <a:pt x="182" y="300"/>
                  </a:lnTo>
                  <a:lnTo>
                    <a:pt x="189" y="298"/>
                  </a:lnTo>
                  <a:lnTo>
                    <a:pt x="197" y="295"/>
                  </a:lnTo>
                  <a:lnTo>
                    <a:pt x="204" y="294"/>
                  </a:lnTo>
                  <a:lnTo>
                    <a:pt x="210" y="291"/>
                  </a:lnTo>
                  <a:lnTo>
                    <a:pt x="217" y="288"/>
                  </a:lnTo>
                  <a:lnTo>
                    <a:pt x="223" y="285"/>
                  </a:lnTo>
                  <a:lnTo>
                    <a:pt x="231" y="280"/>
                  </a:lnTo>
                  <a:lnTo>
                    <a:pt x="237" y="277"/>
                  </a:lnTo>
                  <a:lnTo>
                    <a:pt x="243" y="273"/>
                  </a:lnTo>
                  <a:lnTo>
                    <a:pt x="249" y="268"/>
                  </a:lnTo>
                  <a:lnTo>
                    <a:pt x="253" y="262"/>
                  </a:lnTo>
                  <a:lnTo>
                    <a:pt x="259" y="258"/>
                  </a:lnTo>
                  <a:lnTo>
                    <a:pt x="263" y="254"/>
                  </a:lnTo>
                  <a:lnTo>
                    <a:pt x="268" y="248"/>
                  </a:lnTo>
                  <a:lnTo>
                    <a:pt x="272" y="242"/>
                  </a:lnTo>
                  <a:lnTo>
                    <a:pt x="277" y="236"/>
                  </a:lnTo>
                  <a:lnTo>
                    <a:pt x="281" y="230"/>
                  </a:lnTo>
                  <a:lnTo>
                    <a:pt x="284" y="224"/>
                  </a:lnTo>
                  <a:lnTo>
                    <a:pt x="289" y="217"/>
                  </a:lnTo>
                  <a:lnTo>
                    <a:pt x="291" y="211"/>
                  </a:lnTo>
                  <a:lnTo>
                    <a:pt x="294" y="203"/>
                  </a:lnTo>
                  <a:lnTo>
                    <a:pt x="296" y="196"/>
                  </a:lnTo>
                  <a:lnTo>
                    <a:pt x="299" y="188"/>
                  </a:lnTo>
                  <a:lnTo>
                    <a:pt x="300" y="181"/>
                  </a:lnTo>
                  <a:lnTo>
                    <a:pt x="302" y="174"/>
                  </a:lnTo>
                  <a:lnTo>
                    <a:pt x="302" y="166"/>
                  </a:lnTo>
                  <a:lnTo>
                    <a:pt x="303" y="159"/>
                  </a:lnTo>
                  <a:lnTo>
                    <a:pt x="303" y="151"/>
                  </a:lnTo>
                  <a:lnTo>
                    <a:pt x="303" y="151"/>
                  </a:lnTo>
                  <a:lnTo>
                    <a:pt x="303" y="144"/>
                  </a:lnTo>
                  <a:lnTo>
                    <a:pt x="302" y="135"/>
                  </a:lnTo>
                  <a:lnTo>
                    <a:pt x="302" y="128"/>
                  </a:lnTo>
                  <a:lnTo>
                    <a:pt x="300" y="120"/>
                  </a:lnTo>
                  <a:lnTo>
                    <a:pt x="299" y="113"/>
                  </a:lnTo>
                  <a:lnTo>
                    <a:pt x="296" y="106"/>
                  </a:lnTo>
                  <a:lnTo>
                    <a:pt x="294" y="100"/>
                  </a:lnTo>
                  <a:lnTo>
                    <a:pt x="291" y="92"/>
                  </a:lnTo>
                  <a:lnTo>
                    <a:pt x="289" y="85"/>
                  </a:lnTo>
                  <a:lnTo>
                    <a:pt x="284" y="79"/>
                  </a:lnTo>
                  <a:lnTo>
                    <a:pt x="281" y="73"/>
                  </a:lnTo>
                  <a:lnTo>
                    <a:pt x="277" y="67"/>
                  </a:lnTo>
                  <a:lnTo>
                    <a:pt x="272" y="61"/>
                  </a:lnTo>
                  <a:lnTo>
                    <a:pt x="268" y="55"/>
                  </a:lnTo>
                  <a:lnTo>
                    <a:pt x="263" y="49"/>
                  </a:lnTo>
                  <a:lnTo>
                    <a:pt x="259" y="45"/>
                  </a:lnTo>
                  <a:lnTo>
                    <a:pt x="253" y="39"/>
                  </a:lnTo>
                  <a:lnTo>
                    <a:pt x="249" y="34"/>
                  </a:lnTo>
                  <a:lnTo>
                    <a:pt x="243" y="30"/>
                  </a:lnTo>
                  <a:lnTo>
                    <a:pt x="237" y="26"/>
                  </a:lnTo>
                  <a:lnTo>
                    <a:pt x="231" y="21"/>
                  </a:lnTo>
                  <a:lnTo>
                    <a:pt x="223" y="18"/>
                  </a:lnTo>
                  <a:lnTo>
                    <a:pt x="217" y="15"/>
                  </a:lnTo>
                  <a:lnTo>
                    <a:pt x="210" y="12"/>
                  </a:lnTo>
                  <a:lnTo>
                    <a:pt x="204" y="9"/>
                  </a:lnTo>
                  <a:lnTo>
                    <a:pt x="197" y="6"/>
                  </a:lnTo>
                  <a:lnTo>
                    <a:pt x="189" y="5"/>
                  </a:lnTo>
                  <a:lnTo>
                    <a:pt x="182" y="3"/>
                  </a:lnTo>
                  <a:lnTo>
                    <a:pt x="174" y="2"/>
                  </a:lnTo>
                  <a:lnTo>
                    <a:pt x="167" y="0"/>
                  </a:lnTo>
                  <a:lnTo>
                    <a:pt x="160" y="0"/>
                  </a:lnTo>
                  <a:lnTo>
                    <a:pt x="15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Rectangle 411"/>
            <p:cNvSpPr>
              <a:spLocks noChangeArrowheads="1"/>
            </p:cNvSpPr>
            <p:nvPr/>
          </p:nvSpPr>
          <p:spPr bwMode="auto">
            <a:xfrm>
              <a:off x="2381" y="3325"/>
              <a:ext cx="69" cy="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412"/>
            <p:cNvSpPr>
              <a:spLocks/>
            </p:cNvSpPr>
            <p:nvPr/>
          </p:nvSpPr>
          <p:spPr bwMode="auto">
            <a:xfrm>
              <a:off x="2381" y="3325"/>
              <a:ext cx="69" cy="99"/>
            </a:xfrm>
            <a:custGeom>
              <a:avLst/>
              <a:gdLst>
                <a:gd name="T0" fmla="*/ 207 w 207"/>
                <a:gd name="T1" fmla="*/ 296 h 296"/>
                <a:gd name="T2" fmla="*/ 0 w 207"/>
                <a:gd name="T3" fmla="*/ 296 h 296"/>
                <a:gd name="T4" fmla="*/ 0 w 207"/>
                <a:gd name="T5" fmla="*/ 0 h 296"/>
                <a:gd name="T6" fmla="*/ 207 w 207"/>
                <a:gd name="T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96">
                  <a:moveTo>
                    <a:pt x="207" y="296"/>
                  </a:moveTo>
                  <a:lnTo>
                    <a:pt x="0" y="296"/>
                  </a:lnTo>
                  <a:lnTo>
                    <a:pt x="0" y="0"/>
                  </a:lnTo>
                  <a:lnTo>
                    <a:pt x="20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413"/>
            <p:cNvSpPr>
              <a:spLocks/>
            </p:cNvSpPr>
            <p:nvPr/>
          </p:nvSpPr>
          <p:spPr bwMode="auto">
            <a:xfrm>
              <a:off x="2401" y="3473"/>
              <a:ext cx="99" cy="99"/>
            </a:xfrm>
            <a:custGeom>
              <a:avLst/>
              <a:gdLst>
                <a:gd name="T0" fmla="*/ 141 w 296"/>
                <a:gd name="T1" fmla="*/ 0 h 296"/>
                <a:gd name="T2" fmla="*/ 119 w 296"/>
                <a:gd name="T3" fmla="*/ 3 h 296"/>
                <a:gd name="T4" fmla="*/ 98 w 296"/>
                <a:gd name="T5" fmla="*/ 9 h 296"/>
                <a:gd name="T6" fmla="*/ 79 w 296"/>
                <a:gd name="T7" fmla="*/ 18 h 296"/>
                <a:gd name="T8" fmla="*/ 61 w 296"/>
                <a:gd name="T9" fmla="*/ 30 h 296"/>
                <a:gd name="T10" fmla="*/ 44 w 296"/>
                <a:gd name="T11" fmla="*/ 43 h 296"/>
                <a:gd name="T12" fmla="*/ 30 w 296"/>
                <a:gd name="T13" fmla="*/ 59 h 296"/>
                <a:gd name="T14" fmla="*/ 19 w 296"/>
                <a:gd name="T15" fmla="*/ 77 h 296"/>
                <a:gd name="T16" fmla="*/ 10 w 296"/>
                <a:gd name="T17" fmla="*/ 97 h 296"/>
                <a:gd name="T18" fmla="*/ 4 w 296"/>
                <a:gd name="T19" fmla="*/ 119 h 296"/>
                <a:gd name="T20" fmla="*/ 2 w 296"/>
                <a:gd name="T21" fmla="*/ 141 h 296"/>
                <a:gd name="T22" fmla="*/ 2 w 296"/>
                <a:gd name="T23" fmla="*/ 156 h 296"/>
                <a:gd name="T24" fmla="*/ 4 w 296"/>
                <a:gd name="T25" fmla="*/ 178 h 296"/>
                <a:gd name="T26" fmla="*/ 10 w 296"/>
                <a:gd name="T27" fmla="*/ 199 h 296"/>
                <a:gd name="T28" fmla="*/ 19 w 296"/>
                <a:gd name="T29" fmla="*/ 218 h 296"/>
                <a:gd name="T30" fmla="*/ 30 w 296"/>
                <a:gd name="T31" fmla="*/ 237 h 296"/>
                <a:gd name="T32" fmla="*/ 44 w 296"/>
                <a:gd name="T33" fmla="*/ 252 h 296"/>
                <a:gd name="T34" fmla="*/ 61 w 296"/>
                <a:gd name="T35" fmla="*/ 267 h 296"/>
                <a:gd name="T36" fmla="*/ 79 w 296"/>
                <a:gd name="T37" fmla="*/ 279 h 296"/>
                <a:gd name="T38" fmla="*/ 98 w 296"/>
                <a:gd name="T39" fmla="*/ 287 h 296"/>
                <a:gd name="T40" fmla="*/ 119 w 296"/>
                <a:gd name="T41" fmla="*/ 293 h 296"/>
                <a:gd name="T42" fmla="*/ 141 w 296"/>
                <a:gd name="T43" fmla="*/ 296 h 296"/>
                <a:gd name="T44" fmla="*/ 157 w 296"/>
                <a:gd name="T45" fmla="*/ 296 h 296"/>
                <a:gd name="T46" fmla="*/ 179 w 296"/>
                <a:gd name="T47" fmla="*/ 293 h 296"/>
                <a:gd name="T48" fmla="*/ 200 w 296"/>
                <a:gd name="T49" fmla="*/ 287 h 296"/>
                <a:gd name="T50" fmla="*/ 219 w 296"/>
                <a:gd name="T51" fmla="*/ 279 h 296"/>
                <a:gd name="T52" fmla="*/ 237 w 296"/>
                <a:gd name="T53" fmla="*/ 267 h 296"/>
                <a:gd name="T54" fmla="*/ 253 w 296"/>
                <a:gd name="T55" fmla="*/ 252 h 296"/>
                <a:gd name="T56" fmla="*/ 268 w 296"/>
                <a:gd name="T57" fmla="*/ 237 h 296"/>
                <a:gd name="T58" fmla="*/ 278 w 296"/>
                <a:gd name="T59" fmla="*/ 218 h 296"/>
                <a:gd name="T60" fmla="*/ 287 w 296"/>
                <a:gd name="T61" fmla="*/ 199 h 296"/>
                <a:gd name="T62" fmla="*/ 293 w 296"/>
                <a:gd name="T63" fmla="*/ 178 h 296"/>
                <a:gd name="T64" fmla="*/ 296 w 296"/>
                <a:gd name="T65" fmla="*/ 156 h 296"/>
                <a:gd name="T66" fmla="*/ 296 w 296"/>
                <a:gd name="T67" fmla="*/ 141 h 296"/>
                <a:gd name="T68" fmla="*/ 293 w 296"/>
                <a:gd name="T69" fmla="*/ 119 h 296"/>
                <a:gd name="T70" fmla="*/ 287 w 296"/>
                <a:gd name="T71" fmla="*/ 97 h 296"/>
                <a:gd name="T72" fmla="*/ 278 w 296"/>
                <a:gd name="T73" fmla="*/ 77 h 296"/>
                <a:gd name="T74" fmla="*/ 268 w 296"/>
                <a:gd name="T75" fmla="*/ 59 h 296"/>
                <a:gd name="T76" fmla="*/ 253 w 296"/>
                <a:gd name="T77" fmla="*/ 43 h 296"/>
                <a:gd name="T78" fmla="*/ 237 w 296"/>
                <a:gd name="T79" fmla="*/ 30 h 296"/>
                <a:gd name="T80" fmla="*/ 219 w 296"/>
                <a:gd name="T81" fmla="*/ 18 h 296"/>
                <a:gd name="T82" fmla="*/ 200 w 296"/>
                <a:gd name="T83" fmla="*/ 9 h 296"/>
                <a:gd name="T84" fmla="*/ 179 w 296"/>
                <a:gd name="T85" fmla="*/ 3 h 296"/>
                <a:gd name="T86" fmla="*/ 157 w 296"/>
                <a:gd name="T87" fmla="*/ 0 h 296"/>
                <a:gd name="T88" fmla="*/ 148 w 296"/>
                <a:gd name="T89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6" h="296">
                  <a:moveTo>
                    <a:pt x="148" y="148"/>
                  </a:moveTo>
                  <a:lnTo>
                    <a:pt x="148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26" y="2"/>
                  </a:lnTo>
                  <a:lnTo>
                    <a:pt x="119" y="3"/>
                  </a:lnTo>
                  <a:lnTo>
                    <a:pt x="113" y="5"/>
                  </a:lnTo>
                  <a:lnTo>
                    <a:pt x="105" y="6"/>
                  </a:lnTo>
                  <a:lnTo>
                    <a:pt x="98" y="9"/>
                  </a:lnTo>
                  <a:lnTo>
                    <a:pt x="92" y="12"/>
                  </a:lnTo>
                  <a:lnTo>
                    <a:pt x="84" y="15"/>
                  </a:lnTo>
                  <a:lnTo>
                    <a:pt x="79" y="18"/>
                  </a:lnTo>
                  <a:lnTo>
                    <a:pt x="73" y="21"/>
                  </a:lnTo>
                  <a:lnTo>
                    <a:pt x="67" y="25"/>
                  </a:lnTo>
                  <a:lnTo>
                    <a:pt x="61" y="30"/>
                  </a:lnTo>
                  <a:lnTo>
                    <a:pt x="55" y="34"/>
                  </a:lnTo>
                  <a:lnTo>
                    <a:pt x="49" y="39"/>
                  </a:lnTo>
                  <a:lnTo>
                    <a:pt x="44" y="43"/>
                  </a:lnTo>
                  <a:lnTo>
                    <a:pt x="39" y="48"/>
                  </a:lnTo>
                  <a:lnTo>
                    <a:pt x="34" y="54"/>
                  </a:lnTo>
                  <a:lnTo>
                    <a:pt x="30" y="59"/>
                  </a:lnTo>
                  <a:lnTo>
                    <a:pt x="27" y="65"/>
                  </a:lnTo>
                  <a:lnTo>
                    <a:pt x="22" y="71"/>
                  </a:lnTo>
                  <a:lnTo>
                    <a:pt x="19" y="77"/>
                  </a:lnTo>
                  <a:lnTo>
                    <a:pt x="15" y="83"/>
                  </a:lnTo>
                  <a:lnTo>
                    <a:pt x="12" y="91"/>
                  </a:lnTo>
                  <a:lnTo>
                    <a:pt x="10" y="97"/>
                  </a:lnTo>
                  <a:lnTo>
                    <a:pt x="7" y="104"/>
                  </a:lnTo>
                  <a:lnTo>
                    <a:pt x="6" y="111"/>
                  </a:lnTo>
                  <a:lnTo>
                    <a:pt x="4" y="119"/>
                  </a:lnTo>
                  <a:lnTo>
                    <a:pt x="3" y="125"/>
                  </a:lnTo>
                  <a:lnTo>
                    <a:pt x="2" y="132"/>
                  </a:lnTo>
                  <a:lnTo>
                    <a:pt x="2" y="141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2" y="156"/>
                  </a:lnTo>
                  <a:lnTo>
                    <a:pt x="2" y="163"/>
                  </a:lnTo>
                  <a:lnTo>
                    <a:pt x="3" y="171"/>
                  </a:lnTo>
                  <a:lnTo>
                    <a:pt x="4" y="178"/>
                  </a:lnTo>
                  <a:lnTo>
                    <a:pt x="6" y="185"/>
                  </a:lnTo>
                  <a:lnTo>
                    <a:pt x="7" y="191"/>
                  </a:lnTo>
                  <a:lnTo>
                    <a:pt x="10" y="199"/>
                  </a:lnTo>
                  <a:lnTo>
                    <a:pt x="12" y="206"/>
                  </a:lnTo>
                  <a:lnTo>
                    <a:pt x="15" y="212"/>
                  </a:lnTo>
                  <a:lnTo>
                    <a:pt x="19" y="218"/>
                  </a:lnTo>
                  <a:lnTo>
                    <a:pt x="22" y="225"/>
                  </a:lnTo>
                  <a:lnTo>
                    <a:pt x="27" y="231"/>
                  </a:lnTo>
                  <a:lnTo>
                    <a:pt x="30" y="237"/>
                  </a:lnTo>
                  <a:lnTo>
                    <a:pt x="34" y="242"/>
                  </a:lnTo>
                  <a:lnTo>
                    <a:pt x="39" y="248"/>
                  </a:lnTo>
                  <a:lnTo>
                    <a:pt x="44" y="252"/>
                  </a:lnTo>
                  <a:lnTo>
                    <a:pt x="49" y="258"/>
                  </a:lnTo>
                  <a:lnTo>
                    <a:pt x="55" y="262"/>
                  </a:lnTo>
                  <a:lnTo>
                    <a:pt x="61" y="267"/>
                  </a:lnTo>
                  <a:lnTo>
                    <a:pt x="67" y="271"/>
                  </a:lnTo>
                  <a:lnTo>
                    <a:pt x="73" y="274"/>
                  </a:lnTo>
                  <a:lnTo>
                    <a:pt x="79" y="279"/>
                  </a:lnTo>
                  <a:lnTo>
                    <a:pt x="84" y="282"/>
                  </a:lnTo>
                  <a:lnTo>
                    <a:pt x="92" y="285"/>
                  </a:lnTo>
                  <a:lnTo>
                    <a:pt x="98" y="287"/>
                  </a:lnTo>
                  <a:lnTo>
                    <a:pt x="105" y="289"/>
                  </a:lnTo>
                  <a:lnTo>
                    <a:pt x="113" y="292"/>
                  </a:lnTo>
                  <a:lnTo>
                    <a:pt x="119" y="293"/>
                  </a:lnTo>
                  <a:lnTo>
                    <a:pt x="126" y="295"/>
                  </a:lnTo>
                  <a:lnTo>
                    <a:pt x="133" y="295"/>
                  </a:lnTo>
                  <a:lnTo>
                    <a:pt x="141" y="296"/>
                  </a:lnTo>
                  <a:lnTo>
                    <a:pt x="148" y="296"/>
                  </a:lnTo>
                  <a:lnTo>
                    <a:pt x="148" y="296"/>
                  </a:lnTo>
                  <a:lnTo>
                    <a:pt x="157" y="296"/>
                  </a:lnTo>
                  <a:lnTo>
                    <a:pt x="164" y="295"/>
                  </a:lnTo>
                  <a:lnTo>
                    <a:pt x="172" y="295"/>
                  </a:lnTo>
                  <a:lnTo>
                    <a:pt x="179" y="293"/>
                  </a:lnTo>
                  <a:lnTo>
                    <a:pt x="185" y="292"/>
                  </a:lnTo>
                  <a:lnTo>
                    <a:pt x="193" y="289"/>
                  </a:lnTo>
                  <a:lnTo>
                    <a:pt x="200" y="287"/>
                  </a:lnTo>
                  <a:lnTo>
                    <a:pt x="206" y="285"/>
                  </a:lnTo>
                  <a:lnTo>
                    <a:pt x="213" y="282"/>
                  </a:lnTo>
                  <a:lnTo>
                    <a:pt x="219" y="279"/>
                  </a:lnTo>
                  <a:lnTo>
                    <a:pt x="225" y="274"/>
                  </a:lnTo>
                  <a:lnTo>
                    <a:pt x="231" y="271"/>
                  </a:lnTo>
                  <a:lnTo>
                    <a:pt x="237" y="267"/>
                  </a:lnTo>
                  <a:lnTo>
                    <a:pt x="243" y="262"/>
                  </a:lnTo>
                  <a:lnTo>
                    <a:pt x="249" y="258"/>
                  </a:lnTo>
                  <a:lnTo>
                    <a:pt x="253" y="252"/>
                  </a:lnTo>
                  <a:lnTo>
                    <a:pt x="259" y="248"/>
                  </a:lnTo>
                  <a:lnTo>
                    <a:pt x="264" y="242"/>
                  </a:lnTo>
                  <a:lnTo>
                    <a:pt x="268" y="237"/>
                  </a:lnTo>
                  <a:lnTo>
                    <a:pt x="271" y="231"/>
                  </a:lnTo>
                  <a:lnTo>
                    <a:pt x="275" y="225"/>
                  </a:lnTo>
                  <a:lnTo>
                    <a:pt x="278" y="218"/>
                  </a:lnTo>
                  <a:lnTo>
                    <a:pt x="283" y="212"/>
                  </a:lnTo>
                  <a:lnTo>
                    <a:pt x="286" y="206"/>
                  </a:lnTo>
                  <a:lnTo>
                    <a:pt x="287" y="199"/>
                  </a:lnTo>
                  <a:lnTo>
                    <a:pt x="290" y="191"/>
                  </a:lnTo>
                  <a:lnTo>
                    <a:pt x="292" y="185"/>
                  </a:lnTo>
                  <a:lnTo>
                    <a:pt x="293" y="178"/>
                  </a:lnTo>
                  <a:lnTo>
                    <a:pt x="295" y="171"/>
                  </a:lnTo>
                  <a:lnTo>
                    <a:pt x="296" y="163"/>
                  </a:lnTo>
                  <a:lnTo>
                    <a:pt x="296" y="156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296" y="141"/>
                  </a:lnTo>
                  <a:lnTo>
                    <a:pt x="296" y="132"/>
                  </a:lnTo>
                  <a:lnTo>
                    <a:pt x="295" y="125"/>
                  </a:lnTo>
                  <a:lnTo>
                    <a:pt x="293" y="119"/>
                  </a:lnTo>
                  <a:lnTo>
                    <a:pt x="292" y="111"/>
                  </a:lnTo>
                  <a:lnTo>
                    <a:pt x="290" y="104"/>
                  </a:lnTo>
                  <a:lnTo>
                    <a:pt x="287" y="97"/>
                  </a:lnTo>
                  <a:lnTo>
                    <a:pt x="286" y="91"/>
                  </a:lnTo>
                  <a:lnTo>
                    <a:pt x="283" y="83"/>
                  </a:lnTo>
                  <a:lnTo>
                    <a:pt x="278" y="77"/>
                  </a:lnTo>
                  <a:lnTo>
                    <a:pt x="275" y="71"/>
                  </a:lnTo>
                  <a:lnTo>
                    <a:pt x="271" y="65"/>
                  </a:lnTo>
                  <a:lnTo>
                    <a:pt x="268" y="59"/>
                  </a:lnTo>
                  <a:lnTo>
                    <a:pt x="264" y="54"/>
                  </a:lnTo>
                  <a:lnTo>
                    <a:pt x="259" y="48"/>
                  </a:lnTo>
                  <a:lnTo>
                    <a:pt x="253" y="43"/>
                  </a:lnTo>
                  <a:lnTo>
                    <a:pt x="249" y="39"/>
                  </a:lnTo>
                  <a:lnTo>
                    <a:pt x="243" y="34"/>
                  </a:lnTo>
                  <a:lnTo>
                    <a:pt x="237" y="30"/>
                  </a:lnTo>
                  <a:lnTo>
                    <a:pt x="231" y="25"/>
                  </a:lnTo>
                  <a:lnTo>
                    <a:pt x="225" y="21"/>
                  </a:lnTo>
                  <a:lnTo>
                    <a:pt x="219" y="18"/>
                  </a:lnTo>
                  <a:lnTo>
                    <a:pt x="213" y="15"/>
                  </a:lnTo>
                  <a:lnTo>
                    <a:pt x="206" y="12"/>
                  </a:lnTo>
                  <a:lnTo>
                    <a:pt x="200" y="9"/>
                  </a:lnTo>
                  <a:lnTo>
                    <a:pt x="193" y="6"/>
                  </a:lnTo>
                  <a:lnTo>
                    <a:pt x="185" y="5"/>
                  </a:lnTo>
                  <a:lnTo>
                    <a:pt x="179" y="3"/>
                  </a:lnTo>
                  <a:lnTo>
                    <a:pt x="172" y="2"/>
                  </a:lnTo>
                  <a:lnTo>
                    <a:pt x="164" y="0"/>
                  </a:lnTo>
                  <a:lnTo>
                    <a:pt x="157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414"/>
            <p:cNvSpPr>
              <a:spLocks/>
            </p:cNvSpPr>
            <p:nvPr/>
          </p:nvSpPr>
          <p:spPr bwMode="auto">
            <a:xfrm>
              <a:off x="2396" y="3470"/>
              <a:ext cx="101" cy="100"/>
            </a:xfrm>
            <a:custGeom>
              <a:avLst/>
              <a:gdLst>
                <a:gd name="T0" fmla="*/ 136 w 303"/>
                <a:gd name="T1" fmla="*/ 0 h 302"/>
                <a:gd name="T2" fmla="*/ 114 w 303"/>
                <a:gd name="T3" fmla="*/ 4 h 302"/>
                <a:gd name="T4" fmla="*/ 93 w 303"/>
                <a:gd name="T5" fmla="*/ 11 h 302"/>
                <a:gd name="T6" fmla="*/ 74 w 303"/>
                <a:gd name="T7" fmla="*/ 20 h 302"/>
                <a:gd name="T8" fmla="*/ 56 w 303"/>
                <a:gd name="T9" fmla="*/ 34 h 302"/>
                <a:gd name="T10" fmla="*/ 40 w 303"/>
                <a:gd name="T11" fmla="*/ 48 h 302"/>
                <a:gd name="T12" fmla="*/ 26 w 303"/>
                <a:gd name="T13" fmla="*/ 66 h 302"/>
                <a:gd name="T14" fmla="*/ 15 w 303"/>
                <a:gd name="T15" fmla="*/ 84 h 302"/>
                <a:gd name="T16" fmla="*/ 7 w 303"/>
                <a:gd name="T17" fmla="*/ 105 h 302"/>
                <a:gd name="T18" fmla="*/ 3 w 303"/>
                <a:gd name="T19" fmla="*/ 127 h 302"/>
                <a:gd name="T20" fmla="*/ 0 w 303"/>
                <a:gd name="T21" fmla="*/ 151 h 302"/>
                <a:gd name="T22" fmla="*/ 1 w 303"/>
                <a:gd name="T23" fmla="*/ 165 h 302"/>
                <a:gd name="T24" fmla="*/ 6 w 303"/>
                <a:gd name="T25" fmla="*/ 188 h 302"/>
                <a:gd name="T26" fmla="*/ 12 w 303"/>
                <a:gd name="T27" fmla="*/ 210 h 302"/>
                <a:gd name="T28" fmla="*/ 22 w 303"/>
                <a:gd name="T29" fmla="*/ 229 h 302"/>
                <a:gd name="T30" fmla="*/ 35 w 303"/>
                <a:gd name="T31" fmla="*/ 247 h 302"/>
                <a:gd name="T32" fmla="*/ 50 w 303"/>
                <a:gd name="T33" fmla="*/ 262 h 302"/>
                <a:gd name="T34" fmla="*/ 66 w 303"/>
                <a:gd name="T35" fmla="*/ 276 h 302"/>
                <a:gd name="T36" fmla="*/ 86 w 303"/>
                <a:gd name="T37" fmla="*/ 287 h 302"/>
                <a:gd name="T38" fmla="*/ 106 w 303"/>
                <a:gd name="T39" fmla="*/ 294 h 302"/>
                <a:gd name="T40" fmla="*/ 129 w 303"/>
                <a:gd name="T41" fmla="*/ 300 h 302"/>
                <a:gd name="T42" fmla="*/ 152 w 303"/>
                <a:gd name="T43" fmla="*/ 302 h 302"/>
                <a:gd name="T44" fmla="*/ 167 w 303"/>
                <a:gd name="T45" fmla="*/ 300 h 302"/>
                <a:gd name="T46" fmla="*/ 189 w 303"/>
                <a:gd name="T47" fmla="*/ 297 h 302"/>
                <a:gd name="T48" fmla="*/ 210 w 303"/>
                <a:gd name="T49" fmla="*/ 290 h 302"/>
                <a:gd name="T50" fmla="*/ 231 w 303"/>
                <a:gd name="T51" fmla="*/ 279 h 302"/>
                <a:gd name="T52" fmla="*/ 249 w 303"/>
                <a:gd name="T53" fmla="*/ 268 h 302"/>
                <a:gd name="T54" fmla="*/ 263 w 303"/>
                <a:gd name="T55" fmla="*/ 253 h 302"/>
                <a:gd name="T56" fmla="*/ 277 w 303"/>
                <a:gd name="T57" fmla="*/ 235 h 302"/>
                <a:gd name="T58" fmla="*/ 289 w 303"/>
                <a:gd name="T59" fmla="*/ 216 h 302"/>
                <a:gd name="T60" fmla="*/ 296 w 303"/>
                <a:gd name="T61" fmla="*/ 195 h 302"/>
                <a:gd name="T62" fmla="*/ 302 w 303"/>
                <a:gd name="T63" fmla="*/ 173 h 302"/>
                <a:gd name="T64" fmla="*/ 303 w 303"/>
                <a:gd name="T65" fmla="*/ 151 h 302"/>
                <a:gd name="T66" fmla="*/ 302 w 303"/>
                <a:gd name="T67" fmla="*/ 134 h 302"/>
                <a:gd name="T68" fmla="*/ 299 w 303"/>
                <a:gd name="T69" fmla="*/ 112 h 302"/>
                <a:gd name="T70" fmla="*/ 291 w 303"/>
                <a:gd name="T71" fmla="*/ 91 h 302"/>
                <a:gd name="T72" fmla="*/ 281 w 303"/>
                <a:gd name="T73" fmla="*/ 72 h 302"/>
                <a:gd name="T74" fmla="*/ 268 w 303"/>
                <a:gd name="T75" fmla="*/ 54 h 302"/>
                <a:gd name="T76" fmla="*/ 253 w 303"/>
                <a:gd name="T77" fmla="*/ 38 h 302"/>
                <a:gd name="T78" fmla="*/ 237 w 303"/>
                <a:gd name="T79" fmla="*/ 25 h 302"/>
                <a:gd name="T80" fmla="*/ 217 w 303"/>
                <a:gd name="T81" fmla="*/ 14 h 302"/>
                <a:gd name="T82" fmla="*/ 197 w 303"/>
                <a:gd name="T83" fmla="*/ 6 h 302"/>
                <a:gd name="T84" fmla="*/ 174 w 303"/>
                <a:gd name="T85" fmla="*/ 1 h 302"/>
                <a:gd name="T86" fmla="*/ 152 w 303"/>
                <a:gd name="T8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03" h="302">
                  <a:moveTo>
                    <a:pt x="152" y="0"/>
                  </a:moveTo>
                  <a:lnTo>
                    <a:pt x="143" y="0"/>
                  </a:lnTo>
                  <a:lnTo>
                    <a:pt x="136" y="0"/>
                  </a:lnTo>
                  <a:lnTo>
                    <a:pt x="129" y="1"/>
                  </a:lnTo>
                  <a:lnTo>
                    <a:pt x="121" y="3"/>
                  </a:lnTo>
                  <a:lnTo>
                    <a:pt x="114" y="4"/>
                  </a:lnTo>
                  <a:lnTo>
                    <a:pt x="106" y="6"/>
                  </a:lnTo>
                  <a:lnTo>
                    <a:pt x="99" y="8"/>
                  </a:lnTo>
                  <a:lnTo>
                    <a:pt x="93" y="11"/>
                  </a:lnTo>
                  <a:lnTo>
                    <a:pt x="86" y="14"/>
                  </a:lnTo>
                  <a:lnTo>
                    <a:pt x="80" y="17"/>
                  </a:lnTo>
                  <a:lnTo>
                    <a:pt x="74" y="20"/>
                  </a:lnTo>
                  <a:lnTo>
                    <a:pt x="66" y="25"/>
                  </a:lnTo>
                  <a:lnTo>
                    <a:pt x="60" y="29"/>
                  </a:lnTo>
                  <a:lnTo>
                    <a:pt x="56" y="34"/>
                  </a:lnTo>
                  <a:lnTo>
                    <a:pt x="50" y="38"/>
                  </a:lnTo>
                  <a:lnTo>
                    <a:pt x="44" y="44"/>
                  </a:lnTo>
                  <a:lnTo>
                    <a:pt x="40" y="48"/>
                  </a:lnTo>
                  <a:lnTo>
                    <a:pt x="35" y="54"/>
                  </a:lnTo>
                  <a:lnTo>
                    <a:pt x="31" y="60"/>
                  </a:lnTo>
                  <a:lnTo>
                    <a:pt x="26" y="66"/>
                  </a:lnTo>
                  <a:lnTo>
                    <a:pt x="22" y="72"/>
                  </a:lnTo>
                  <a:lnTo>
                    <a:pt x="19" y="78"/>
                  </a:lnTo>
                  <a:lnTo>
                    <a:pt x="15" y="84"/>
                  </a:lnTo>
                  <a:lnTo>
                    <a:pt x="12" y="91"/>
                  </a:lnTo>
                  <a:lnTo>
                    <a:pt x="10" y="99"/>
                  </a:lnTo>
                  <a:lnTo>
                    <a:pt x="7" y="105"/>
                  </a:lnTo>
                  <a:lnTo>
                    <a:pt x="6" y="112"/>
                  </a:lnTo>
                  <a:lnTo>
                    <a:pt x="3" y="120"/>
                  </a:lnTo>
                  <a:lnTo>
                    <a:pt x="3" y="127"/>
                  </a:lnTo>
                  <a:lnTo>
                    <a:pt x="1" y="134"/>
                  </a:lnTo>
                  <a:lnTo>
                    <a:pt x="1" y="143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1" y="158"/>
                  </a:lnTo>
                  <a:lnTo>
                    <a:pt x="1" y="165"/>
                  </a:lnTo>
                  <a:lnTo>
                    <a:pt x="3" y="173"/>
                  </a:lnTo>
                  <a:lnTo>
                    <a:pt x="3" y="180"/>
                  </a:lnTo>
                  <a:lnTo>
                    <a:pt x="6" y="188"/>
                  </a:lnTo>
                  <a:lnTo>
                    <a:pt x="7" y="195"/>
                  </a:lnTo>
                  <a:lnTo>
                    <a:pt x="10" y="202"/>
                  </a:lnTo>
                  <a:lnTo>
                    <a:pt x="12" y="210"/>
                  </a:lnTo>
                  <a:lnTo>
                    <a:pt x="15" y="216"/>
                  </a:lnTo>
                  <a:lnTo>
                    <a:pt x="19" y="223"/>
                  </a:lnTo>
                  <a:lnTo>
                    <a:pt x="22" y="229"/>
                  </a:lnTo>
                  <a:lnTo>
                    <a:pt x="26" y="235"/>
                  </a:lnTo>
                  <a:lnTo>
                    <a:pt x="31" y="241"/>
                  </a:lnTo>
                  <a:lnTo>
                    <a:pt x="35" y="247"/>
                  </a:lnTo>
                  <a:lnTo>
                    <a:pt x="40" y="253"/>
                  </a:lnTo>
                  <a:lnTo>
                    <a:pt x="44" y="257"/>
                  </a:lnTo>
                  <a:lnTo>
                    <a:pt x="50" y="262"/>
                  </a:lnTo>
                  <a:lnTo>
                    <a:pt x="56" y="268"/>
                  </a:lnTo>
                  <a:lnTo>
                    <a:pt x="60" y="272"/>
                  </a:lnTo>
                  <a:lnTo>
                    <a:pt x="66" y="276"/>
                  </a:lnTo>
                  <a:lnTo>
                    <a:pt x="74" y="279"/>
                  </a:lnTo>
                  <a:lnTo>
                    <a:pt x="80" y="284"/>
                  </a:lnTo>
                  <a:lnTo>
                    <a:pt x="86" y="287"/>
                  </a:lnTo>
                  <a:lnTo>
                    <a:pt x="93" y="290"/>
                  </a:lnTo>
                  <a:lnTo>
                    <a:pt x="99" y="293"/>
                  </a:lnTo>
                  <a:lnTo>
                    <a:pt x="106" y="294"/>
                  </a:lnTo>
                  <a:lnTo>
                    <a:pt x="114" y="297"/>
                  </a:lnTo>
                  <a:lnTo>
                    <a:pt x="121" y="299"/>
                  </a:lnTo>
                  <a:lnTo>
                    <a:pt x="129" y="300"/>
                  </a:lnTo>
                  <a:lnTo>
                    <a:pt x="136" y="300"/>
                  </a:lnTo>
                  <a:lnTo>
                    <a:pt x="143" y="302"/>
                  </a:lnTo>
                  <a:lnTo>
                    <a:pt x="152" y="302"/>
                  </a:lnTo>
                  <a:lnTo>
                    <a:pt x="152" y="302"/>
                  </a:lnTo>
                  <a:lnTo>
                    <a:pt x="160" y="302"/>
                  </a:lnTo>
                  <a:lnTo>
                    <a:pt x="167" y="300"/>
                  </a:lnTo>
                  <a:lnTo>
                    <a:pt x="174" y="300"/>
                  </a:lnTo>
                  <a:lnTo>
                    <a:pt x="182" y="299"/>
                  </a:lnTo>
                  <a:lnTo>
                    <a:pt x="189" y="297"/>
                  </a:lnTo>
                  <a:lnTo>
                    <a:pt x="197" y="294"/>
                  </a:lnTo>
                  <a:lnTo>
                    <a:pt x="204" y="293"/>
                  </a:lnTo>
                  <a:lnTo>
                    <a:pt x="210" y="290"/>
                  </a:lnTo>
                  <a:lnTo>
                    <a:pt x="217" y="287"/>
                  </a:lnTo>
                  <a:lnTo>
                    <a:pt x="223" y="284"/>
                  </a:lnTo>
                  <a:lnTo>
                    <a:pt x="231" y="279"/>
                  </a:lnTo>
                  <a:lnTo>
                    <a:pt x="237" y="276"/>
                  </a:lnTo>
                  <a:lnTo>
                    <a:pt x="243" y="272"/>
                  </a:lnTo>
                  <a:lnTo>
                    <a:pt x="249" y="268"/>
                  </a:lnTo>
                  <a:lnTo>
                    <a:pt x="253" y="262"/>
                  </a:lnTo>
                  <a:lnTo>
                    <a:pt x="259" y="257"/>
                  </a:lnTo>
                  <a:lnTo>
                    <a:pt x="263" y="253"/>
                  </a:lnTo>
                  <a:lnTo>
                    <a:pt x="268" y="247"/>
                  </a:lnTo>
                  <a:lnTo>
                    <a:pt x="272" y="241"/>
                  </a:lnTo>
                  <a:lnTo>
                    <a:pt x="277" y="235"/>
                  </a:lnTo>
                  <a:lnTo>
                    <a:pt x="281" y="229"/>
                  </a:lnTo>
                  <a:lnTo>
                    <a:pt x="284" y="223"/>
                  </a:lnTo>
                  <a:lnTo>
                    <a:pt x="289" y="216"/>
                  </a:lnTo>
                  <a:lnTo>
                    <a:pt x="291" y="210"/>
                  </a:lnTo>
                  <a:lnTo>
                    <a:pt x="294" y="202"/>
                  </a:lnTo>
                  <a:lnTo>
                    <a:pt x="296" y="195"/>
                  </a:lnTo>
                  <a:lnTo>
                    <a:pt x="299" y="188"/>
                  </a:lnTo>
                  <a:lnTo>
                    <a:pt x="300" y="180"/>
                  </a:lnTo>
                  <a:lnTo>
                    <a:pt x="302" y="173"/>
                  </a:lnTo>
                  <a:lnTo>
                    <a:pt x="302" y="165"/>
                  </a:lnTo>
                  <a:lnTo>
                    <a:pt x="303" y="158"/>
                  </a:lnTo>
                  <a:lnTo>
                    <a:pt x="303" y="151"/>
                  </a:lnTo>
                  <a:lnTo>
                    <a:pt x="303" y="151"/>
                  </a:lnTo>
                  <a:lnTo>
                    <a:pt x="303" y="143"/>
                  </a:lnTo>
                  <a:lnTo>
                    <a:pt x="302" y="134"/>
                  </a:lnTo>
                  <a:lnTo>
                    <a:pt x="302" y="127"/>
                  </a:lnTo>
                  <a:lnTo>
                    <a:pt x="300" y="120"/>
                  </a:lnTo>
                  <a:lnTo>
                    <a:pt x="299" y="112"/>
                  </a:lnTo>
                  <a:lnTo>
                    <a:pt x="296" y="105"/>
                  </a:lnTo>
                  <a:lnTo>
                    <a:pt x="294" y="99"/>
                  </a:lnTo>
                  <a:lnTo>
                    <a:pt x="291" y="91"/>
                  </a:lnTo>
                  <a:lnTo>
                    <a:pt x="289" y="84"/>
                  </a:lnTo>
                  <a:lnTo>
                    <a:pt x="284" y="78"/>
                  </a:lnTo>
                  <a:lnTo>
                    <a:pt x="281" y="72"/>
                  </a:lnTo>
                  <a:lnTo>
                    <a:pt x="277" y="66"/>
                  </a:lnTo>
                  <a:lnTo>
                    <a:pt x="272" y="60"/>
                  </a:lnTo>
                  <a:lnTo>
                    <a:pt x="268" y="54"/>
                  </a:lnTo>
                  <a:lnTo>
                    <a:pt x="263" y="48"/>
                  </a:lnTo>
                  <a:lnTo>
                    <a:pt x="259" y="44"/>
                  </a:lnTo>
                  <a:lnTo>
                    <a:pt x="253" y="38"/>
                  </a:lnTo>
                  <a:lnTo>
                    <a:pt x="249" y="34"/>
                  </a:lnTo>
                  <a:lnTo>
                    <a:pt x="243" y="29"/>
                  </a:lnTo>
                  <a:lnTo>
                    <a:pt x="237" y="25"/>
                  </a:lnTo>
                  <a:lnTo>
                    <a:pt x="231" y="20"/>
                  </a:lnTo>
                  <a:lnTo>
                    <a:pt x="223" y="17"/>
                  </a:lnTo>
                  <a:lnTo>
                    <a:pt x="217" y="14"/>
                  </a:lnTo>
                  <a:lnTo>
                    <a:pt x="210" y="11"/>
                  </a:lnTo>
                  <a:lnTo>
                    <a:pt x="204" y="8"/>
                  </a:lnTo>
                  <a:lnTo>
                    <a:pt x="197" y="6"/>
                  </a:lnTo>
                  <a:lnTo>
                    <a:pt x="189" y="4"/>
                  </a:lnTo>
                  <a:lnTo>
                    <a:pt x="182" y="3"/>
                  </a:lnTo>
                  <a:lnTo>
                    <a:pt x="174" y="1"/>
                  </a:lnTo>
                  <a:lnTo>
                    <a:pt x="167" y="0"/>
                  </a:lnTo>
                  <a:lnTo>
                    <a:pt x="160" y="0"/>
                  </a:lnTo>
                  <a:lnTo>
                    <a:pt x="15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415"/>
            <p:cNvSpPr>
              <a:spLocks noChangeArrowheads="1"/>
            </p:cNvSpPr>
            <p:nvPr/>
          </p:nvSpPr>
          <p:spPr bwMode="auto">
            <a:xfrm>
              <a:off x="2381" y="3473"/>
              <a:ext cx="69" cy="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416"/>
            <p:cNvSpPr>
              <a:spLocks/>
            </p:cNvSpPr>
            <p:nvPr/>
          </p:nvSpPr>
          <p:spPr bwMode="auto">
            <a:xfrm>
              <a:off x="2381" y="3473"/>
              <a:ext cx="69" cy="99"/>
            </a:xfrm>
            <a:custGeom>
              <a:avLst/>
              <a:gdLst>
                <a:gd name="T0" fmla="*/ 207 w 207"/>
                <a:gd name="T1" fmla="*/ 296 h 296"/>
                <a:gd name="T2" fmla="*/ 0 w 207"/>
                <a:gd name="T3" fmla="*/ 296 h 296"/>
                <a:gd name="T4" fmla="*/ 0 w 207"/>
                <a:gd name="T5" fmla="*/ 0 h 296"/>
                <a:gd name="T6" fmla="*/ 207 w 207"/>
                <a:gd name="T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96">
                  <a:moveTo>
                    <a:pt x="207" y="296"/>
                  </a:moveTo>
                  <a:lnTo>
                    <a:pt x="0" y="296"/>
                  </a:lnTo>
                  <a:lnTo>
                    <a:pt x="0" y="0"/>
                  </a:lnTo>
                  <a:lnTo>
                    <a:pt x="20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Line 417"/>
            <p:cNvSpPr>
              <a:spLocks noChangeShapeType="1"/>
            </p:cNvSpPr>
            <p:nvPr/>
          </p:nvSpPr>
          <p:spPr bwMode="auto">
            <a:xfrm>
              <a:off x="1572" y="3670"/>
              <a:ext cx="80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Line 418"/>
            <p:cNvSpPr>
              <a:spLocks noChangeShapeType="1"/>
            </p:cNvSpPr>
            <p:nvPr/>
          </p:nvSpPr>
          <p:spPr bwMode="auto">
            <a:xfrm flipH="1">
              <a:off x="1917" y="3651"/>
              <a:ext cx="50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Line 419"/>
            <p:cNvSpPr>
              <a:spLocks noChangeShapeType="1"/>
            </p:cNvSpPr>
            <p:nvPr/>
          </p:nvSpPr>
          <p:spPr bwMode="auto">
            <a:xfrm flipH="1" flipV="1">
              <a:off x="1917" y="3651"/>
              <a:ext cx="50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Line 420"/>
            <p:cNvSpPr>
              <a:spLocks noChangeShapeType="1"/>
            </p:cNvSpPr>
            <p:nvPr/>
          </p:nvSpPr>
          <p:spPr bwMode="auto">
            <a:xfrm flipH="1">
              <a:off x="1710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Line 421"/>
            <p:cNvSpPr>
              <a:spLocks noChangeShapeType="1"/>
            </p:cNvSpPr>
            <p:nvPr/>
          </p:nvSpPr>
          <p:spPr bwMode="auto">
            <a:xfrm flipH="1" flipV="1">
              <a:off x="1710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Line 422"/>
            <p:cNvSpPr>
              <a:spLocks noChangeShapeType="1"/>
            </p:cNvSpPr>
            <p:nvPr/>
          </p:nvSpPr>
          <p:spPr bwMode="auto">
            <a:xfrm flipH="1">
              <a:off x="2144" y="3651"/>
              <a:ext cx="60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Line 423"/>
            <p:cNvSpPr>
              <a:spLocks noChangeShapeType="1"/>
            </p:cNvSpPr>
            <p:nvPr/>
          </p:nvSpPr>
          <p:spPr bwMode="auto">
            <a:xfrm flipH="1" flipV="1">
              <a:off x="2144" y="3651"/>
              <a:ext cx="60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Line 424"/>
            <p:cNvSpPr>
              <a:spLocks noChangeShapeType="1"/>
            </p:cNvSpPr>
            <p:nvPr/>
          </p:nvSpPr>
          <p:spPr bwMode="auto">
            <a:xfrm flipH="1">
              <a:off x="1611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Line 425"/>
            <p:cNvSpPr>
              <a:spLocks noChangeShapeType="1"/>
            </p:cNvSpPr>
            <p:nvPr/>
          </p:nvSpPr>
          <p:spPr bwMode="auto">
            <a:xfrm flipH="1" flipV="1">
              <a:off x="1611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Line 426"/>
            <p:cNvSpPr>
              <a:spLocks noChangeShapeType="1"/>
            </p:cNvSpPr>
            <p:nvPr/>
          </p:nvSpPr>
          <p:spPr bwMode="auto">
            <a:xfrm flipH="1">
              <a:off x="1809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427"/>
            <p:cNvSpPr>
              <a:spLocks noChangeShapeType="1"/>
            </p:cNvSpPr>
            <p:nvPr/>
          </p:nvSpPr>
          <p:spPr bwMode="auto">
            <a:xfrm flipH="1" flipV="1">
              <a:off x="1809" y="3651"/>
              <a:ext cx="5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428"/>
            <p:cNvSpPr>
              <a:spLocks noChangeShapeType="1"/>
            </p:cNvSpPr>
            <p:nvPr/>
          </p:nvSpPr>
          <p:spPr bwMode="auto">
            <a:xfrm flipH="1">
              <a:off x="2253" y="3651"/>
              <a:ext cx="4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Line 429"/>
            <p:cNvSpPr>
              <a:spLocks noChangeShapeType="1"/>
            </p:cNvSpPr>
            <p:nvPr/>
          </p:nvSpPr>
          <p:spPr bwMode="auto">
            <a:xfrm flipH="1" flipV="1">
              <a:off x="2253" y="3651"/>
              <a:ext cx="49" cy="4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430"/>
            <p:cNvSpPr>
              <a:spLocks/>
            </p:cNvSpPr>
            <p:nvPr/>
          </p:nvSpPr>
          <p:spPr bwMode="auto">
            <a:xfrm>
              <a:off x="2401" y="3621"/>
              <a:ext cx="99" cy="99"/>
            </a:xfrm>
            <a:custGeom>
              <a:avLst/>
              <a:gdLst>
                <a:gd name="T0" fmla="*/ 141 w 296"/>
                <a:gd name="T1" fmla="*/ 0 h 297"/>
                <a:gd name="T2" fmla="*/ 119 w 296"/>
                <a:gd name="T3" fmla="*/ 3 h 297"/>
                <a:gd name="T4" fmla="*/ 98 w 296"/>
                <a:gd name="T5" fmla="*/ 9 h 297"/>
                <a:gd name="T6" fmla="*/ 79 w 296"/>
                <a:gd name="T7" fmla="*/ 18 h 297"/>
                <a:gd name="T8" fmla="*/ 61 w 296"/>
                <a:gd name="T9" fmla="*/ 30 h 297"/>
                <a:gd name="T10" fmla="*/ 44 w 296"/>
                <a:gd name="T11" fmla="*/ 43 h 297"/>
                <a:gd name="T12" fmla="*/ 30 w 296"/>
                <a:gd name="T13" fmla="*/ 60 h 297"/>
                <a:gd name="T14" fmla="*/ 19 w 296"/>
                <a:gd name="T15" fmla="*/ 77 h 297"/>
                <a:gd name="T16" fmla="*/ 10 w 296"/>
                <a:gd name="T17" fmla="*/ 97 h 297"/>
                <a:gd name="T18" fmla="*/ 4 w 296"/>
                <a:gd name="T19" fmla="*/ 119 h 297"/>
                <a:gd name="T20" fmla="*/ 2 w 296"/>
                <a:gd name="T21" fmla="*/ 141 h 297"/>
                <a:gd name="T22" fmla="*/ 2 w 296"/>
                <a:gd name="T23" fmla="*/ 156 h 297"/>
                <a:gd name="T24" fmla="*/ 4 w 296"/>
                <a:gd name="T25" fmla="*/ 178 h 297"/>
                <a:gd name="T26" fmla="*/ 10 w 296"/>
                <a:gd name="T27" fmla="*/ 199 h 297"/>
                <a:gd name="T28" fmla="*/ 19 w 296"/>
                <a:gd name="T29" fmla="*/ 218 h 297"/>
                <a:gd name="T30" fmla="*/ 30 w 296"/>
                <a:gd name="T31" fmla="*/ 237 h 297"/>
                <a:gd name="T32" fmla="*/ 44 w 296"/>
                <a:gd name="T33" fmla="*/ 252 h 297"/>
                <a:gd name="T34" fmla="*/ 61 w 296"/>
                <a:gd name="T35" fmla="*/ 267 h 297"/>
                <a:gd name="T36" fmla="*/ 79 w 296"/>
                <a:gd name="T37" fmla="*/ 279 h 297"/>
                <a:gd name="T38" fmla="*/ 98 w 296"/>
                <a:gd name="T39" fmla="*/ 288 h 297"/>
                <a:gd name="T40" fmla="*/ 119 w 296"/>
                <a:gd name="T41" fmla="*/ 294 h 297"/>
                <a:gd name="T42" fmla="*/ 141 w 296"/>
                <a:gd name="T43" fmla="*/ 297 h 297"/>
                <a:gd name="T44" fmla="*/ 157 w 296"/>
                <a:gd name="T45" fmla="*/ 297 h 297"/>
                <a:gd name="T46" fmla="*/ 179 w 296"/>
                <a:gd name="T47" fmla="*/ 294 h 297"/>
                <a:gd name="T48" fmla="*/ 200 w 296"/>
                <a:gd name="T49" fmla="*/ 288 h 297"/>
                <a:gd name="T50" fmla="*/ 219 w 296"/>
                <a:gd name="T51" fmla="*/ 279 h 297"/>
                <a:gd name="T52" fmla="*/ 237 w 296"/>
                <a:gd name="T53" fmla="*/ 267 h 297"/>
                <a:gd name="T54" fmla="*/ 253 w 296"/>
                <a:gd name="T55" fmla="*/ 252 h 297"/>
                <a:gd name="T56" fmla="*/ 268 w 296"/>
                <a:gd name="T57" fmla="*/ 237 h 297"/>
                <a:gd name="T58" fmla="*/ 278 w 296"/>
                <a:gd name="T59" fmla="*/ 218 h 297"/>
                <a:gd name="T60" fmla="*/ 287 w 296"/>
                <a:gd name="T61" fmla="*/ 199 h 297"/>
                <a:gd name="T62" fmla="*/ 293 w 296"/>
                <a:gd name="T63" fmla="*/ 178 h 297"/>
                <a:gd name="T64" fmla="*/ 296 w 296"/>
                <a:gd name="T65" fmla="*/ 156 h 297"/>
                <a:gd name="T66" fmla="*/ 296 w 296"/>
                <a:gd name="T67" fmla="*/ 141 h 297"/>
                <a:gd name="T68" fmla="*/ 293 w 296"/>
                <a:gd name="T69" fmla="*/ 119 h 297"/>
                <a:gd name="T70" fmla="*/ 287 w 296"/>
                <a:gd name="T71" fmla="*/ 97 h 297"/>
                <a:gd name="T72" fmla="*/ 278 w 296"/>
                <a:gd name="T73" fmla="*/ 77 h 297"/>
                <a:gd name="T74" fmla="*/ 268 w 296"/>
                <a:gd name="T75" fmla="*/ 60 h 297"/>
                <a:gd name="T76" fmla="*/ 253 w 296"/>
                <a:gd name="T77" fmla="*/ 43 h 297"/>
                <a:gd name="T78" fmla="*/ 237 w 296"/>
                <a:gd name="T79" fmla="*/ 30 h 297"/>
                <a:gd name="T80" fmla="*/ 219 w 296"/>
                <a:gd name="T81" fmla="*/ 18 h 297"/>
                <a:gd name="T82" fmla="*/ 200 w 296"/>
                <a:gd name="T83" fmla="*/ 9 h 297"/>
                <a:gd name="T84" fmla="*/ 179 w 296"/>
                <a:gd name="T85" fmla="*/ 3 h 297"/>
                <a:gd name="T86" fmla="*/ 157 w 296"/>
                <a:gd name="T87" fmla="*/ 0 h 297"/>
                <a:gd name="T88" fmla="*/ 148 w 296"/>
                <a:gd name="T89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6" h="297">
                  <a:moveTo>
                    <a:pt x="148" y="148"/>
                  </a:moveTo>
                  <a:lnTo>
                    <a:pt x="148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26" y="2"/>
                  </a:lnTo>
                  <a:lnTo>
                    <a:pt x="119" y="3"/>
                  </a:lnTo>
                  <a:lnTo>
                    <a:pt x="113" y="5"/>
                  </a:lnTo>
                  <a:lnTo>
                    <a:pt x="105" y="6"/>
                  </a:lnTo>
                  <a:lnTo>
                    <a:pt x="98" y="9"/>
                  </a:lnTo>
                  <a:lnTo>
                    <a:pt x="92" y="12"/>
                  </a:lnTo>
                  <a:lnTo>
                    <a:pt x="84" y="15"/>
                  </a:lnTo>
                  <a:lnTo>
                    <a:pt x="79" y="18"/>
                  </a:lnTo>
                  <a:lnTo>
                    <a:pt x="73" y="21"/>
                  </a:lnTo>
                  <a:lnTo>
                    <a:pt x="67" y="26"/>
                  </a:lnTo>
                  <a:lnTo>
                    <a:pt x="61" y="30"/>
                  </a:lnTo>
                  <a:lnTo>
                    <a:pt x="55" y="34"/>
                  </a:lnTo>
                  <a:lnTo>
                    <a:pt x="49" y="39"/>
                  </a:lnTo>
                  <a:lnTo>
                    <a:pt x="44" y="43"/>
                  </a:lnTo>
                  <a:lnTo>
                    <a:pt x="39" y="48"/>
                  </a:lnTo>
                  <a:lnTo>
                    <a:pt x="34" y="54"/>
                  </a:lnTo>
                  <a:lnTo>
                    <a:pt x="30" y="60"/>
                  </a:lnTo>
                  <a:lnTo>
                    <a:pt x="27" y="66"/>
                  </a:lnTo>
                  <a:lnTo>
                    <a:pt x="22" y="71"/>
                  </a:lnTo>
                  <a:lnTo>
                    <a:pt x="19" y="77"/>
                  </a:lnTo>
                  <a:lnTo>
                    <a:pt x="15" y="83"/>
                  </a:lnTo>
                  <a:lnTo>
                    <a:pt x="12" y="91"/>
                  </a:lnTo>
                  <a:lnTo>
                    <a:pt x="10" y="97"/>
                  </a:lnTo>
                  <a:lnTo>
                    <a:pt x="7" y="104"/>
                  </a:lnTo>
                  <a:lnTo>
                    <a:pt x="6" y="111"/>
                  </a:lnTo>
                  <a:lnTo>
                    <a:pt x="4" y="119"/>
                  </a:lnTo>
                  <a:lnTo>
                    <a:pt x="3" y="125"/>
                  </a:lnTo>
                  <a:lnTo>
                    <a:pt x="2" y="132"/>
                  </a:lnTo>
                  <a:lnTo>
                    <a:pt x="2" y="141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2" y="156"/>
                  </a:lnTo>
                  <a:lnTo>
                    <a:pt x="2" y="163"/>
                  </a:lnTo>
                  <a:lnTo>
                    <a:pt x="3" y="171"/>
                  </a:lnTo>
                  <a:lnTo>
                    <a:pt x="4" y="178"/>
                  </a:lnTo>
                  <a:lnTo>
                    <a:pt x="6" y="185"/>
                  </a:lnTo>
                  <a:lnTo>
                    <a:pt x="7" y="191"/>
                  </a:lnTo>
                  <a:lnTo>
                    <a:pt x="10" y="199"/>
                  </a:lnTo>
                  <a:lnTo>
                    <a:pt x="12" y="206"/>
                  </a:lnTo>
                  <a:lnTo>
                    <a:pt x="15" y="212"/>
                  </a:lnTo>
                  <a:lnTo>
                    <a:pt x="19" y="218"/>
                  </a:lnTo>
                  <a:lnTo>
                    <a:pt x="22" y="225"/>
                  </a:lnTo>
                  <a:lnTo>
                    <a:pt x="27" y="231"/>
                  </a:lnTo>
                  <a:lnTo>
                    <a:pt x="30" y="237"/>
                  </a:lnTo>
                  <a:lnTo>
                    <a:pt x="34" y="242"/>
                  </a:lnTo>
                  <a:lnTo>
                    <a:pt x="39" y="248"/>
                  </a:lnTo>
                  <a:lnTo>
                    <a:pt x="44" y="252"/>
                  </a:lnTo>
                  <a:lnTo>
                    <a:pt x="49" y="258"/>
                  </a:lnTo>
                  <a:lnTo>
                    <a:pt x="55" y="262"/>
                  </a:lnTo>
                  <a:lnTo>
                    <a:pt x="61" y="267"/>
                  </a:lnTo>
                  <a:lnTo>
                    <a:pt x="67" y="271"/>
                  </a:lnTo>
                  <a:lnTo>
                    <a:pt x="73" y="274"/>
                  </a:lnTo>
                  <a:lnTo>
                    <a:pt x="79" y="279"/>
                  </a:lnTo>
                  <a:lnTo>
                    <a:pt x="84" y="282"/>
                  </a:lnTo>
                  <a:lnTo>
                    <a:pt x="92" y="285"/>
                  </a:lnTo>
                  <a:lnTo>
                    <a:pt x="98" y="288"/>
                  </a:lnTo>
                  <a:lnTo>
                    <a:pt x="105" y="289"/>
                  </a:lnTo>
                  <a:lnTo>
                    <a:pt x="113" y="292"/>
                  </a:lnTo>
                  <a:lnTo>
                    <a:pt x="119" y="294"/>
                  </a:lnTo>
                  <a:lnTo>
                    <a:pt x="126" y="295"/>
                  </a:lnTo>
                  <a:lnTo>
                    <a:pt x="133" y="295"/>
                  </a:lnTo>
                  <a:lnTo>
                    <a:pt x="141" y="297"/>
                  </a:lnTo>
                  <a:lnTo>
                    <a:pt x="148" y="297"/>
                  </a:lnTo>
                  <a:lnTo>
                    <a:pt x="148" y="297"/>
                  </a:lnTo>
                  <a:lnTo>
                    <a:pt x="157" y="297"/>
                  </a:lnTo>
                  <a:lnTo>
                    <a:pt x="164" y="295"/>
                  </a:lnTo>
                  <a:lnTo>
                    <a:pt x="172" y="295"/>
                  </a:lnTo>
                  <a:lnTo>
                    <a:pt x="179" y="294"/>
                  </a:lnTo>
                  <a:lnTo>
                    <a:pt x="185" y="292"/>
                  </a:lnTo>
                  <a:lnTo>
                    <a:pt x="193" y="289"/>
                  </a:lnTo>
                  <a:lnTo>
                    <a:pt x="200" y="288"/>
                  </a:lnTo>
                  <a:lnTo>
                    <a:pt x="206" y="285"/>
                  </a:lnTo>
                  <a:lnTo>
                    <a:pt x="213" y="282"/>
                  </a:lnTo>
                  <a:lnTo>
                    <a:pt x="219" y="279"/>
                  </a:lnTo>
                  <a:lnTo>
                    <a:pt x="225" y="274"/>
                  </a:lnTo>
                  <a:lnTo>
                    <a:pt x="231" y="271"/>
                  </a:lnTo>
                  <a:lnTo>
                    <a:pt x="237" y="267"/>
                  </a:lnTo>
                  <a:lnTo>
                    <a:pt x="243" y="262"/>
                  </a:lnTo>
                  <a:lnTo>
                    <a:pt x="249" y="258"/>
                  </a:lnTo>
                  <a:lnTo>
                    <a:pt x="253" y="252"/>
                  </a:lnTo>
                  <a:lnTo>
                    <a:pt x="259" y="248"/>
                  </a:lnTo>
                  <a:lnTo>
                    <a:pt x="264" y="242"/>
                  </a:lnTo>
                  <a:lnTo>
                    <a:pt x="268" y="237"/>
                  </a:lnTo>
                  <a:lnTo>
                    <a:pt x="271" y="231"/>
                  </a:lnTo>
                  <a:lnTo>
                    <a:pt x="275" y="225"/>
                  </a:lnTo>
                  <a:lnTo>
                    <a:pt x="278" y="218"/>
                  </a:lnTo>
                  <a:lnTo>
                    <a:pt x="283" y="212"/>
                  </a:lnTo>
                  <a:lnTo>
                    <a:pt x="286" y="206"/>
                  </a:lnTo>
                  <a:lnTo>
                    <a:pt x="287" y="199"/>
                  </a:lnTo>
                  <a:lnTo>
                    <a:pt x="290" y="191"/>
                  </a:lnTo>
                  <a:lnTo>
                    <a:pt x="292" y="185"/>
                  </a:lnTo>
                  <a:lnTo>
                    <a:pt x="293" y="178"/>
                  </a:lnTo>
                  <a:lnTo>
                    <a:pt x="295" y="171"/>
                  </a:lnTo>
                  <a:lnTo>
                    <a:pt x="296" y="163"/>
                  </a:lnTo>
                  <a:lnTo>
                    <a:pt x="296" y="156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296" y="141"/>
                  </a:lnTo>
                  <a:lnTo>
                    <a:pt x="296" y="132"/>
                  </a:lnTo>
                  <a:lnTo>
                    <a:pt x="295" y="125"/>
                  </a:lnTo>
                  <a:lnTo>
                    <a:pt x="293" y="119"/>
                  </a:lnTo>
                  <a:lnTo>
                    <a:pt x="292" y="111"/>
                  </a:lnTo>
                  <a:lnTo>
                    <a:pt x="290" y="104"/>
                  </a:lnTo>
                  <a:lnTo>
                    <a:pt x="287" y="97"/>
                  </a:lnTo>
                  <a:lnTo>
                    <a:pt x="286" y="91"/>
                  </a:lnTo>
                  <a:lnTo>
                    <a:pt x="283" y="83"/>
                  </a:lnTo>
                  <a:lnTo>
                    <a:pt x="278" y="77"/>
                  </a:lnTo>
                  <a:lnTo>
                    <a:pt x="275" y="71"/>
                  </a:lnTo>
                  <a:lnTo>
                    <a:pt x="271" y="66"/>
                  </a:lnTo>
                  <a:lnTo>
                    <a:pt x="268" y="60"/>
                  </a:lnTo>
                  <a:lnTo>
                    <a:pt x="264" y="54"/>
                  </a:lnTo>
                  <a:lnTo>
                    <a:pt x="259" y="48"/>
                  </a:lnTo>
                  <a:lnTo>
                    <a:pt x="253" y="43"/>
                  </a:lnTo>
                  <a:lnTo>
                    <a:pt x="249" y="39"/>
                  </a:lnTo>
                  <a:lnTo>
                    <a:pt x="243" y="34"/>
                  </a:lnTo>
                  <a:lnTo>
                    <a:pt x="237" y="30"/>
                  </a:lnTo>
                  <a:lnTo>
                    <a:pt x="231" y="26"/>
                  </a:lnTo>
                  <a:lnTo>
                    <a:pt x="225" y="21"/>
                  </a:lnTo>
                  <a:lnTo>
                    <a:pt x="219" y="18"/>
                  </a:lnTo>
                  <a:lnTo>
                    <a:pt x="213" y="15"/>
                  </a:lnTo>
                  <a:lnTo>
                    <a:pt x="206" y="12"/>
                  </a:lnTo>
                  <a:lnTo>
                    <a:pt x="200" y="9"/>
                  </a:lnTo>
                  <a:lnTo>
                    <a:pt x="193" y="6"/>
                  </a:lnTo>
                  <a:lnTo>
                    <a:pt x="185" y="5"/>
                  </a:lnTo>
                  <a:lnTo>
                    <a:pt x="179" y="3"/>
                  </a:lnTo>
                  <a:lnTo>
                    <a:pt x="172" y="2"/>
                  </a:lnTo>
                  <a:lnTo>
                    <a:pt x="164" y="0"/>
                  </a:lnTo>
                  <a:lnTo>
                    <a:pt x="157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431"/>
            <p:cNvSpPr>
              <a:spLocks/>
            </p:cNvSpPr>
            <p:nvPr/>
          </p:nvSpPr>
          <p:spPr bwMode="auto">
            <a:xfrm>
              <a:off x="2396" y="3617"/>
              <a:ext cx="101" cy="100"/>
            </a:xfrm>
            <a:custGeom>
              <a:avLst/>
              <a:gdLst>
                <a:gd name="T0" fmla="*/ 136 w 303"/>
                <a:gd name="T1" fmla="*/ 0 h 302"/>
                <a:gd name="T2" fmla="*/ 114 w 303"/>
                <a:gd name="T3" fmla="*/ 4 h 302"/>
                <a:gd name="T4" fmla="*/ 93 w 303"/>
                <a:gd name="T5" fmla="*/ 12 h 302"/>
                <a:gd name="T6" fmla="*/ 74 w 303"/>
                <a:gd name="T7" fmla="*/ 20 h 302"/>
                <a:gd name="T8" fmla="*/ 56 w 303"/>
                <a:gd name="T9" fmla="*/ 34 h 302"/>
                <a:gd name="T10" fmla="*/ 40 w 303"/>
                <a:gd name="T11" fmla="*/ 49 h 302"/>
                <a:gd name="T12" fmla="*/ 26 w 303"/>
                <a:gd name="T13" fmla="*/ 66 h 302"/>
                <a:gd name="T14" fmla="*/ 15 w 303"/>
                <a:gd name="T15" fmla="*/ 84 h 302"/>
                <a:gd name="T16" fmla="*/ 7 w 303"/>
                <a:gd name="T17" fmla="*/ 105 h 302"/>
                <a:gd name="T18" fmla="*/ 3 w 303"/>
                <a:gd name="T19" fmla="*/ 127 h 302"/>
                <a:gd name="T20" fmla="*/ 0 w 303"/>
                <a:gd name="T21" fmla="*/ 151 h 302"/>
                <a:gd name="T22" fmla="*/ 1 w 303"/>
                <a:gd name="T23" fmla="*/ 166 h 302"/>
                <a:gd name="T24" fmla="*/ 6 w 303"/>
                <a:gd name="T25" fmla="*/ 188 h 302"/>
                <a:gd name="T26" fmla="*/ 12 w 303"/>
                <a:gd name="T27" fmla="*/ 210 h 302"/>
                <a:gd name="T28" fmla="*/ 22 w 303"/>
                <a:gd name="T29" fmla="*/ 229 h 302"/>
                <a:gd name="T30" fmla="*/ 35 w 303"/>
                <a:gd name="T31" fmla="*/ 247 h 302"/>
                <a:gd name="T32" fmla="*/ 50 w 303"/>
                <a:gd name="T33" fmla="*/ 262 h 302"/>
                <a:gd name="T34" fmla="*/ 66 w 303"/>
                <a:gd name="T35" fmla="*/ 277 h 302"/>
                <a:gd name="T36" fmla="*/ 86 w 303"/>
                <a:gd name="T37" fmla="*/ 287 h 302"/>
                <a:gd name="T38" fmla="*/ 106 w 303"/>
                <a:gd name="T39" fmla="*/ 294 h 302"/>
                <a:gd name="T40" fmla="*/ 129 w 303"/>
                <a:gd name="T41" fmla="*/ 300 h 302"/>
                <a:gd name="T42" fmla="*/ 152 w 303"/>
                <a:gd name="T43" fmla="*/ 302 h 302"/>
                <a:gd name="T44" fmla="*/ 167 w 303"/>
                <a:gd name="T45" fmla="*/ 300 h 302"/>
                <a:gd name="T46" fmla="*/ 189 w 303"/>
                <a:gd name="T47" fmla="*/ 297 h 302"/>
                <a:gd name="T48" fmla="*/ 210 w 303"/>
                <a:gd name="T49" fmla="*/ 290 h 302"/>
                <a:gd name="T50" fmla="*/ 231 w 303"/>
                <a:gd name="T51" fmla="*/ 280 h 302"/>
                <a:gd name="T52" fmla="*/ 249 w 303"/>
                <a:gd name="T53" fmla="*/ 268 h 302"/>
                <a:gd name="T54" fmla="*/ 263 w 303"/>
                <a:gd name="T55" fmla="*/ 253 h 302"/>
                <a:gd name="T56" fmla="*/ 277 w 303"/>
                <a:gd name="T57" fmla="*/ 235 h 302"/>
                <a:gd name="T58" fmla="*/ 289 w 303"/>
                <a:gd name="T59" fmla="*/ 216 h 302"/>
                <a:gd name="T60" fmla="*/ 296 w 303"/>
                <a:gd name="T61" fmla="*/ 195 h 302"/>
                <a:gd name="T62" fmla="*/ 302 w 303"/>
                <a:gd name="T63" fmla="*/ 173 h 302"/>
                <a:gd name="T64" fmla="*/ 303 w 303"/>
                <a:gd name="T65" fmla="*/ 151 h 302"/>
                <a:gd name="T66" fmla="*/ 302 w 303"/>
                <a:gd name="T67" fmla="*/ 134 h 302"/>
                <a:gd name="T68" fmla="*/ 299 w 303"/>
                <a:gd name="T69" fmla="*/ 112 h 302"/>
                <a:gd name="T70" fmla="*/ 291 w 303"/>
                <a:gd name="T71" fmla="*/ 92 h 302"/>
                <a:gd name="T72" fmla="*/ 281 w 303"/>
                <a:gd name="T73" fmla="*/ 72 h 302"/>
                <a:gd name="T74" fmla="*/ 268 w 303"/>
                <a:gd name="T75" fmla="*/ 55 h 302"/>
                <a:gd name="T76" fmla="*/ 253 w 303"/>
                <a:gd name="T77" fmla="*/ 38 h 302"/>
                <a:gd name="T78" fmla="*/ 237 w 303"/>
                <a:gd name="T79" fmla="*/ 25 h 302"/>
                <a:gd name="T80" fmla="*/ 217 w 303"/>
                <a:gd name="T81" fmla="*/ 15 h 302"/>
                <a:gd name="T82" fmla="*/ 197 w 303"/>
                <a:gd name="T83" fmla="*/ 6 h 302"/>
                <a:gd name="T84" fmla="*/ 174 w 303"/>
                <a:gd name="T85" fmla="*/ 1 h 302"/>
                <a:gd name="T86" fmla="*/ 152 w 303"/>
                <a:gd name="T8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03" h="302">
                  <a:moveTo>
                    <a:pt x="152" y="0"/>
                  </a:moveTo>
                  <a:lnTo>
                    <a:pt x="143" y="0"/>
                  </a:lnTo>
                  <a:lnTo>
                    <a:pt x="136" y="0"/>
                  </a:lnTo>
                  <a:lnTo>
                    <a:pt x="129" y="1"/>
                  </a:lnTo>
                  <a:lnTo>
                    <a:pt x="121" y="3"/>
                  </a:lnTo>
                  <a:lnTo>
                    <a:pt x="114" y="4"/>
                  </a:lnTo>
                  <a:lnTo>
                    <a:pt x="106" y="6"/>
                  </a:lnTo>
                  <a:lnTo>
                    <a:pt x="99" y="9"/>
                  </a:lnTo>
                  <a:lnTo>
                    <a:pt x="93" y="12"/>
                  </a:lnTo>
                  <a:lnTo>
                    <a:pt x="86" y="15"/>
                  </a:lnTo>
                  <a:lnTo>
                    <a:pt x="80" y="18"/>
                  </a:lnTo>
                  <a:lnTo>
                    <a:pt x="74" y="20"/>
                  </a:lnTo>
                  <a:lnTo>
                    <a:pt x="66" y="25"/>
                  </a:lnTo>
                  <a:lnTo>
                    <a:pt x="60" y="29"/>
                  </a:lnTo>
                  <a:lnTo>
                    <a:pt x="56" y="34"/>
                  </a:lnTo>
                  <a:lnTo>
                    <a:pt x="50" y="38"/>
                  </a:lnTo>
                  <a:lnTo>
                    <a:pt x="44" y="44"/>
                  </a:lnTo>
                  <a:lnTo>
                    <a:pt x="40" y="49"/>
                  </a:lnTo>
                  <a:lnTo>
                    <a:pt x="35" y="55"/>
                  </a:lnTo>
                  <a:lnTo>
                    <a:pt x="31" y="60"/>
                  </a:lnTo>
                  <a:lnTo>
                    <a:pt x="26" y="66"/>
                  </a:lnTo>
                  <a:lnTo>
                    <a:pt x="22" y="72"/>
                  </a:lnTo>
                  <a:lnTo>
                    <a:pt x="19" y="78"/>
                  </a:lnTo>
                  <a:lnTo>
                    <a:pt x="15" y="84"/>
                  </a:lnTo>
                  <a:lnTo>
                    <a:pt x="12" y="92"/>
                  </a:lnTo>
                  <a:lnTo>
                    <a:pt x="10" y="99"/>
                  </a:lnTo>
                  <a:lnTo>
                    <a:pt x="7" y="105"/>
                  </a:lnTo>
                  <a:lnTo>
                    <a:pt x="6" y="112"/>
                  </a:lnTo>
                  <a:lnTo>
                    <a:pt x="3" y="120"/>
                  </a:lnTo>
                  <a:lnTo>
                    <a:pt x="3" y="127"/>
                  </a:lnTo>
                  <a:lnTo>
                    <a:pt x="1" y="134"/>
                  </a:lnTo>
                  <a:lnTo>
                    <a:pt x="1" y="143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1" y="158"/>
                  </a:lnTo>
                  <a:lnTo>
                    <a:pt x="1" y="166"/>
                  </a:lnTo>
                  <a:lnTo>
                    <a:pt x="3" y="173"/>
                  </a:lnTo>
                  <a:lnTo>
                    <a:pt x="3" y="180"/>
                  </a:lnTo>
                  <a:lnTo>
                    <a:pt x="6" y="188"/>
                  </a:lnTo>
                  <a:lnTo>
                    <a:pt x="7" y="195"/>
                  </a:lnTo>
                  <a:lnTo>
                    <a:pt x="10" y="203"/>
                  </a:lnTo>
                  <a:lnTo>
                    <a:pt x="12" y="210"/>
                  </a:lnTo>
                  <a:lnTo>
                    <a:pt x="15" y="216"/>
                  </a:lnTo>
                  <a:lnTo>
                    <a:pt x="19" y="223"/>
                  </a:lnTo>
                  <a:lnTo>
                    <a:pt x="22" y="229"/>
                  </a:lnTo>
                  <a:lnTo>
                    <a:pt x="26" y="235"/>
                  </a:lnTo>
                  <a:lnTo>
                    <a:pt x="31" y="241"/>
                  </a:lnTo>
                  <a:lnTo>
                    <a:pt x="35" y="247"/>
                  </a:lnTo>
                  <a:lnTo>
                    <a:pt x="40" y="253"/>
                  </a:lnTo>
                  <a:lnTo>
                    <a:pt x="44" y="257"/>
                  </a:lnTo>
                  <a:lnTo>
                    <a:pt x="50" y="262"/>
                  </a:lnTo>
                  <a:lnTo>
                    <a:pt x="56" y="268"/>
                  </a:lnTo>
                  <a:lnTo>
                    <a:pt x="60" y="272"/>
                  </a:lnTo>
                  <a:lnTo>
                    <a:pt x="66" y="277"/>
                  </a:lnTo>
                  <a:lnTo>
                    <a:pt x="74" y="280"/>
                  </a:lnTo>
                  <a:lnTo>
                    <a:pt x="80" y="284"/>
                  </a:lnTo>
                  <a:lnTo>
                    <a:pt x="86" y="287"/>
                  </a:lnTo>
                  <a:lnTo>
                    <a:pt x="93" y="290"/>
                  </a:lnTo>
                  <a:lnTo>
                    <a:pt x="99" y="293"/>
                  </a:lnTo>
                  <a:lnTo>
                    <a:pt x="106" y="294"/>
                  </a:lnTo>
                  <a:lnTo>
                    <a:pt x="114" y="297"/>
                  </a:lnTo>
                  <a:lnTo>
                    <a:pt x="121" y="299"/>
                  </a:lnTo>
                  <a:lnTo>
                    <a:pt x="129" y="300"/>
                  </a:lnTo>
                  <a:lnTo>
                    <a:pt x="136" y="300"/>
                  </a:lnTo>
                  <a:lnTo>
                    <a:pt x="143" y="302"/>
                  </a:lnTo>
                  <a:lnTo>
                    <a:pt x="152" y="302"/>
                  </a:lnTo>
                  <a:lnTo>
                    <a:pt x="152" y="302"/>
                  </a:lnTo>
                  <a:lnTo>
                    <a:pt x="160" y="302"/>
                  </a:lnTo>
                  <a:lnTo>
                    <a:pt x="167" y="300"/>
                  </a:lnTo>
                  <a:lnTo>
                    <a:pt x="174" y="300"/>
                  </a:lnTo>
                  <a:lnTo>
                    <a:pt x="182" y="299"/>
                  </a:lnTo>
                  <a:lnTo>
                    <a:pt x="189" y="297"/>
                  </a:lnTo>
                  <a:lnTo>
                    <a:pt x="197" y="294"/>
                  </a:lnTo>
                  <a:lnTo>
                    <a:pt x="204" y="293"/>
                  </a:lnTo>
                  <a:lnTo>
                    <a:pt x="210" y="290"/>
                  </a:lnTo>
                  <a:lnTo>
                    <a:pt x="217" y="287"/>
                  </a:lnTo>
                  <a:lnTo>
                    <a:pt x="223" y="284"/>
                  </a:lnTo>
                  <a:lnTo>
                    <a:pt x="231" y="280"/>
                  </a:lnTo>
                  <a:lnTo>
                    <a:pt x="237" y="277"/>
                  </a:lnTo>
                  <a:lnTo>
                    <a:pt x="243" y="272"/>
                  </a:lnTo>
                  <a:lnTo>
                    <a:pt x="249" y="268"/>
                  </a:lnTo>
                  <a:lnTo>
                    <a:pt x="253" y="262"/>
                  </a:lnTo>
                  <a:lnTo>
                    <a:pt x="259" y="257"/>
                  </a:lnTo>
                  <a:lnTo>
                    <a:pt x="263" y="253"/>
                  </a:lnTo>
                  <a:lnTo>
                    <a:pt x="268" y="247"/>
                  </a:lnTo>
                  <a:lnTo>
                    <a:pt x="272" y="241"/>
                  </a:lnTo>
                  <a:lnTo>
                    <a:pt x="277" y="235"/>
                  </a:lnTo>
                  <a:lnTo>
                    <a:pt x="281" y="229"/>
                  </a:lnTo>
                  <a:lnTo>
                    <a:pt x="284" y="223"/>
                  </a:lnTo>
                  <a:lnTo>
                    <a:pt x="289" y="216"/>
                  </a:lnTo>
                  <a:lnTo>
                    <a:pt x="291" y="210"/>
                  </a:lnTo>
                  <a:lnTo>
                    <a:pt x="294" y="203"/>
                  </a:lnTo>
                  <a:lnTo>
                    <a:pt x="296" y="195"/>
                  </a:lnTo>
                  <a:lnTo>
                    <a:pt x="299" y="188"/>
                  </a:lnTo>
                  <a:lnTo>
                    <a:pt x="300" y="180"/>
                  </a:lnTo>
                  <a:lnTo>
                    <a:pt x="302" y="173"/>
                  </a:lnTo>
                  <a:lnTo>
                    <a:pt x="302" y="166"/>
                  </a:lnTo>
                  <a:lnTo>
                    <a:pt x="303" y="158"/>
                  </a:lnTo>
                  <a:lnTo>
                    <a:pt x="303" y="151"/>
                  </a:lnTo>
                  <a:lnTo>
                    <a:pt x="303" y="151"/>
                  </a:lnTo>
                  <a:lnTo>
                    <a:pt x="303" y="143"/>
                  </a:lnTo>
                  <a:lnTo>
                    <a:pt x="302" y="134"/>
                  </a:lnTo>
                  <a:lnTo>
                    <a:pt x="302" y="127"/>
                  </a:lnTo>
                  <a:lnTo>
                    <a:pt x="300" y="120"/>
                  </a:lnTo>
                  <a:lnTo>
                    <a:pt x="299" y="112"/>
                  </a:lnTo>
                  <a:lnTo>
                    <a:pt x="296" y="105"/>
                  </a:lnTo>
                  <a:lnTo>
                    <a:pt x="294" y="99"/>
                  </a:lnTo>
                  <a:lnTo>
                    <a:pt x="291" y="92"/>
                  </a:lnTo>
                  <a:lnTo>
                    <a:pt x="289" y="84"/>
                  </a:lnTo>
                  <a:lnTo>
                    <a:pt x="284" y="78"/>
                  </a:lnTo>
                  <a:lnTo>
                    <a:pt x="281" y="72"/>
                  </a:lnTo>
                  <a:lnTo>
                    <a:pt x="277" y="66"/>
                  </a:lnTo>
                  <a:lnTo>
                    <a:pt x="272" y="60"/>
                  </a:lnTo>
                  <a:lnTo>
                    <a:pt x="268" y="55"/>
                  </a:lnTo>
                  <a:lnTo>
                    <a:pt x="263" y="49"/>
                  </a:lnTo>
                  <a:lnTo>
                    <a:pt x="259" y="44"/>
                  </a:lnTo>
                  <a:lnTo>
                    <a:pt x="253" y="38"/>
                  </a:lnTo>
                  <a:lnTo>
                    <a:pt x="249" y="34"/>
                  </a:lnTo>
                  <a:lnTo>
                    <a:pt x="243" y="29"/>
                  </a:lnTo>
                  <a:lnTo>
                    <a:pt x="237" y="25"/>
                  </a:lnTo>
                  <a:lnTo>
                    <a:pt x="231" y="20"/>
                  </a:lnTo>
                  <a:lnTo>
                    <a:pt x="223" y="18"/>
                  </a:lnTo>
                  <a:lnTo>
                    <a:pt x="217" y="15"/>
                  </a:lnTo>
                  <a:lnTo>
                    <a:pt x="210" y="12"/>
                  </a:lnTo>
                  <a:lnTo>
                    <a:pt x="204" y="9"/>
                  </a:lnTo>
                  <a:lnTo>
                    <a:pt x="197" y="6"/>
                  </a:lnTo>
                  <a:lnTo>
                    <a:pt x="189" y="4"/>
                  </a:lnTo>
                  <a:lnTo>
                    <a:pt x="182" y="3"/>
                  </a:lnTo>
                  <a:lnTo>
                    <a:pt x="174" y="1"/>
                  </a:lnTo>
                  <a:lnTo>
                    <a:pt x="167" y="0"/>
                  </a:lnTo>
                  <a:lnTo>
                    <a:pt x="160" y="0"/>
                  </a:lnTo>
                  <a:lnTo>
                    <a:pt x="15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432"/>
            <p:cNvSpPr>
              <a:spLocks noChangeArrowheads="1"/>
            </p:cNvSpPr>
            <p:nvPr/>
          </p:nvSpPr>
          <p:spPr bwMode="auto">
            <a:xfrm>
              <a:off x="2381" y="3621"/>
              <a:ext cx="69" cy="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16" name="Freeform 433"/>
            <p:cNvSpPr>
              <a:spLocks/>
            </p:cNvSpPr>
            <p:nvPr/>
          </p:nvSpPr>
          <p:spPr bwMode="auto">
            <a:xfrm>
              <a:off x="2381" y="3621"/>
              <a:ext cx="69" cy="99"/>
            </a:xfrm>
            <a:custGeom>
              <a:avLst/>
              <a:gdLst>
                <a:gd name="T0" fmla="*/ 207 w 207"/>
                <a:gd name="T1" fmla="*/ 297 h 297"/>
                <a:gd name="T2" fmla="*/ 0 w 207"/>
                <a:gd name="T3" fmla="*/ 297 h 297"/>
                <a:gd name="T4" fmla="*/ 0 w 207"/>
                <a:gd name="T5" fmla="*/ 0 h 297"/>
                <a:gd name="T6" fmla="*/ 207 w 207"/>
                <a:gd name="T7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97">
                  <a:moveTo>
                    <a:pt x="207" y="297"/>
                  </a:moveTo>
                  <a:lnTo>
                    <a:pt x="0" y="297"/>
                  </a:lnTo>
                  <a:lnTo>
                    <a:pt x="0" y="0"/>
                  </a:lnTo>
                  <a:lnTo>
                    <a:pt x="20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17" name="Freeform 434"/>
            <p:cNvSpPr>
              <a:spLocks/>
            </p:cNvSpPr>
            <p:nvPr/>
          </p:nvSpPr>
          <p:spPr bwMode="auto">
            <a:xfrm>
              <a:off x="2500" y="3384"/>
              <a:ext cx="187" cy="50"/>
            </a:xfrm>
            <a:custGeom>
              <a:avLst/>
              <a:gdLst>
                <a:gd name="T0" fmla="*/ 0 w 563"/>
                <a:gd name="T1" fmla="*/ 0 h 148"/>
                <a:gd name="T2" fmla="*/ 148 w 563"/>
                <a:gd name="T3" fmla="*/ 0 h 148"/>
                <a:gd name="T4" fmla="*/ 148 w 563"/>
                <a:gd name="T5" fmla="*/ 148 h 148"/>
                <a:gd name="T6" fmla="*/ 563 w 563"/>
                <a:gd name="T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3" h="148">
                  <a:moveTo>
                    <a:pt x="0" y="0"/>
                  </a:moveTo>
                  <a:lnTo>
                    <a:pt x="148" y="0"/>
                  </a:lnTo>
                  <a:lnTo>
                    <a:pt x="148" y="148"/>
                  </a:lnTo>
                  <a:lnTo>
                    <a:pt x="563" y="148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0" name="Freeform 435"/>
            <p:cNvSpPr>
              <a:spLocks/>
            </p:cNvSpPr>
            <p:nvPr/>
          </p:nvSpPr>
          <p:spPr bwMode="auto">
            <a:xfrm>
              <a:off x="2500" y="3473"/>
              <a:ext cx="187" cy="49"/>
            </a:xfrm>
            <a:custGeom>
              <a:avLst/>
              <a:gdLst>
                <a:gd name="T0" fmla="*/ 0 w 563"/>
                <a:gd name="T1" fmla="*/ 148 h 148"/>
                <a:gd name="T2" fmla="*/ 148 w 563"/>
                <a:gd name="T3" fmla="*/ 148 h 148"/>
                <a:gd name="T4" fmla="*/ 148 w 563"/>
                <a:gd name="T5" fmla="*/ 0 h 148"/>
                <a:gd name="T6" fmla="*/ 563 w 563"/>
                <a:gd name="T7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3" h="148">
                  <a:moveTo>
                    <a:pt x="0" y="148"/>
                  </a:moveTo>
                  <a:lnTo>
                    <a:pt x="148" y="148"/>
                  </a:lnTo>
                  <a:lnTo>
                    <a:pt x="148" y="0"/>
                  </a:lnTo>
                  <a:lnTo>
                    <a:pt x="563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1" name="Freeform 436"/>
            <p:cNvSpPr>
              <a:spLocks/>
            </p:cNvSpPr>
            <p:nvPr/>
          </p:nvSpPr>
          <p:spPr bwMode="auto">
            <a:xfrm>
              <a:off x="2500" y="3226"/>
              <a:ext cx="177" cy="168"/>
            </a:xfrm>
            <a:custGeom>
              <a:avLst/>
              <a:gdLst>
                <a:gd name="T0" fmla="*/ 0 w 533"/>
                <a:gd name="T1" fmla="*/ 0 h 503"/>
                <a:gd name="T2" fmla="*/ 296 w 533"/>
                <a:gd name="T3" fmla="*/ 0 h 503"/>
                <a:gd name="T4" fmla="*/ 296 w 533"/>
                <a:gd name="T5" fmla="*/ 503 h 503"/>
                <a:gd name="T6" fmla="*/ 533 w 533"/>
                <a:gd name="T7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3" h="503">
                  <a:moveTo>
                    <a:pt x="0" y="0"/>
                  </a:moveTo>
                  <a:lnTo>
                    <a:pt x="296" y="0"/>
                  </a:lnTo>
                  <a:lnTo>
                    <a:pt x="296" y="503"/>
                  </a:lnTo>
                  <a:lnTo>
                    <a:pt x="533" y="50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2" name="Freeform 437"/>
            <p:cNvSpPr>
              <a:spLocks/>
            </p:cNvSpPr>
            <p:nvPr/>
          </p:nvSpPr>
          <p:spPr bwMode="auto">
            <a:xfrm>
              <a:off x="2500" y="3503"/>
              <a:ext cx="177" cy="167"/>
            </a:xfrm>
            <a:custGeom>
              <a:avLst/>
              <a:gdLst>
                <a:gd name="T0" fmla="*/ 0 w 533"/>
                <a:gd name="T1" fmla="*/ 503 h 503"/>
                <a:gd name="T2" fmla="*/ 296 w 533"/>
                <a:gd name="T3" fmla="*/ 503 h 503"/>
                <a:gd name="T4" fmla="*/ 296 w 533"/>
                <a:gd name="T5" fmla="*/ 0 h 503"/>
                <a:gd name="T6" fmla="*/ 533 w 533"/>
                <a:gd name="T7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3" h="503">
                  <a:moveTo>
                    <a:pt x="0" y="503"/>
                  </a:moveTo>
                  <a:lnTo>
                    <a:pt x="296" y="503"/>
                  </a:lnTo>
                  <a:lnTo>
                    <a:pt x="296" y="0"/>
                  </a:lnTo>
                  <a:lnTo>
                    <a:pt x="533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3" name="Freeform 438"/>
            <p:cNvSpPr>
              <a:spLocks/>
            </p:cNvSpPr>
            <p:nvPr/>
          </p:nvSpPr>
          <p:spPr bwMode="auto">
            <a:xfrm>
              <a:off x="3240" y="3562"/>
              <a:ext cx="50" cy="39"/>
            </a:xfrm>
            <a:custGeom>
              <a:avLst/>
              <a:gdLst>
                <a:gd name="T0" fmla="*/ 0 w 149"/>
                <a:gd name="T1" fmla="*/ 118 h 118"/>
                <a:gd name="T2" fmla="*/ 149 w 149"/>
                <a:gd name="T3" fmla="*/ 59 h 118"/>
                <a:gd name="T4" fmla="*/ 0 w 149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118">
                  <a:moveTo>
                    <a:pt x="0" y="118"/>
                  </a:moveTo>
                  <a:lnTo>
                    <a:pt x="149" y="59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4" name="Freeform 439"/>
            <p:cNvSpPr>
              <a:spLocks/>
            </p:cNvSpPr>
            <p:nvPr/>
          </p:nvSpPr>
          <p:spPr bwMode="auto">
            <a:xfrm>
              <a:off x="3457" y="3315"/>
              <a:ext cx="109" cy="99"/>
            </a:xfrm>
            <a:custGeom>
              <a:avLst/>
              <a:gdLst>
                <a:gd name="T0" fmla="*/ 326 w 326"/>
                <a:gd name="T1" fmla="*/ 0 h 296"/>
                <a:gd name="T2" fmla="*/ 178 w 326"/>
                <a:gd name="T3" fmla="*/ 0 h 296"/>
                <a:gd name="T4" fmla="*/ 178 w 326"/>
                <a:gd name="T5" fmla="*/ 296 h 296"/>
                <a:gd name="T6" fmla="*/ 0 w 326"/>
                <a:gd name="T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6" h="296">
                  <a:moveTo>
                    <a:pt x="326" y="0"/>
                  </a:moveTo>
                  <a:lnTo>
                    <a:pt x="178" y="0"/>
                  </a:lnTo>
                  <a:lnTo>
                    <a:pt x="178" y="296"/>
                  </a:lnTo>
                  <a:lnTo>
                    <a:pt x="0" y="296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5" name="Freeform 440"/>
            <p:cNvSpPr>
              <a:spLocks/>
            </p:cNvSpPr>
            <p:nvPr/>
          </p:nvSpPr>
          <p:spPr bwMode="auto">
            <a:xfrm>
              <a:off x="3181" y="3226"/>
              <a:ext cx="395" cy="188"/>
            </a:xfrm>
            <a:custGeom>
              <a:avLst/>
              <a:gdLst>
                <a:gd name="T0" fmla="*/ 0 w 1184"/>
                <a:gd name="T1" fmla="*/ 563 h 563"/>
                <a:gd name="T2" fmla="*/ 0 w 1184"/>
                <a:gd name="T3" fmla="*/ 0 h 563"/>
                <a:gd name="T4" fmla="*/ 1184 w 1184"/>
                <a:gd name="T5" fmla="*/ 0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84" h="563">
                  <a:moveTo>
                    <a:pt x="0" y="563"/>
                  </a:moveTo>
                  <a:lnTo>
                    <a:pt x="0" y="0"/>
                  </a:lnTo>
                  <a:lnTo>
                    <a:pt x="118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6" name="Freeform 441"/>
            <p:cNvSpPr>
              <a:spLocks/>
            </p:cNvSpPr>
            <p:nvPr/>
          </p:nvSpPr>
          <p:spPr bwMode="auto">
            <a:xfrm>
              <a:off x="3171" y="3404"/>
              <a:ext cx="20" cy="20"/>
            </a:xfrm>
            <a:custGeom>
              <a:avLst/>
              <a:gdLst>
                <a:gd name="T0" fmla="*/ 28 w 59"/>
                <a:gd name="T1" fmla="*/ 0 h 59"/>
                <a:gd name="T2" fmla="*/ 24 w 59"/>
                <a:gd name="T3" fmla="*/ 0 h 59"/>
                <a:gd name="T4" fmla="*/ 21 w 59"/>
                <a:gd name="T5" fmla="*/ 1 h 59"/>
                <a:gd name="T6" fmla="*/ 16 w 59"/>
                <a:gd name="T7" fmla="*/ 3 h 59"/>
                <a:gd name="T8" fmla="*/ 13 w 59"/>
                <a:gd name="T9" fmla="*/ 6 h 59"/>
                <a:gd name="T10" fmla="*/ 9 w 59"/>
                <a:gd name="T11" fmla="*/ 9 h 59"/>
                <a:gd name="T12" fmla="*/ 6 w 59"/>
                <a:gd name="T13" fmla="*/ 12 h 59"/>
                <a:gd name="T14" fmla="*/ 5 w 59"/>
                <a:gd name="T15" fmla="*/ 15 h 59"/>
                <a:gd name="T16" fmla="*/ 3 w 59"/>
                <a:gd name="T17" fmla="*/ 19 h 59"/>
                <a:gd name="T18" fmla="*/ 2 w 59"/>
                <a:gd name="T19" fmla="*/ 24 h 59"/>
                <a:gd name="T20" fmla="*/ 2 w 59"/>
                <a:gd name="T21" fmla="*/ 28 h 59"/>
                <a:gd name="T22" fmla="*/ 2 w 59"/>
                <a:gd name="T23" fmla="*/ 31 h 59"/>
                <a:gd name="T24" fmla="*/ 2 w 59"/>
                <a:gd name="T25" fmla="*/ 36 h 59"/>
                <a:gd name="T26" fmla="*/ 3 w 59"/>
                <a:gd name="T27" fmla="*/ 40 h 59"/>
                <a:gd name="T28" fmla="*/ 5 w 59"/>
                <a:gd name="T29" fmla="*/ 43 h 59"/>
                <a:gd name="T30" fmla="*/ 6 w 59"/>
                <a:gd name="T31" fmla="*/ 47 h 59"/>
                <a:gd name="T32" fmla="*/ 9 w 59"/>
                <a:gd name="T33" fmla="*/ 50 h 59"/>
                <a:gd name="T34" fmla="*/ 13 w 59"/>
                <a:gd name="T35" fmla="*/ 53 h 59"/>
                <a:gd name="T36" fmla="*/ 16 w 59"/>
                <a:gd name="T37" fmla="*/ 55 h 59"/>
                <a:gd name="T38" fmla="*/ 21 w 59"/>
                <a:gd name="T39" fmla="*/ 56 h 59"/>
                <a:gd name="T40" fmla="*/ 24 w 59"/>
                <a:gd name="T41" fmla="*/ 58 h 59"/>
                <a:gd name="T42" fmla="*/ 28 w 59"/>
                <a:gd name="T43" fmla="*/ 59 h 59"/>
                <a:gd name="T44" fmla="*/ 33 w 59"/>
                <a:gd name="T45" fmla="*/ 59 h 59"/>
                <a:gd name="T46" fmla="*/ 37 w 59"/>
                <a:gd name="T47" fmla="*/ 58 h 59"/>
                <a:gd name="T48" fmla="*/ 40 w 59"/>
                <a:gd name="T49" fmla="*/ 56 h 59"/>
                <a:gd name="T50" fmla="*/ 45 w 59"/>
                <a:gd name="T51" fmla="*/ 55 h 59"/>
                <a:gd name="T52" fmla="*/ 48 w 59"/>
                <a:gd name="T53" fmla="*/ 53 h 59"/>
                <a:gd name="T54" fmla="*/ 52 w 59"/>
                <a:gd name="T55" fmla="*/ 50 h 59"/>
                <a:gd name="T56" fmla="*/ 55 w 59"/>
                <a:gd name="T57" fmla="*/ 47 h 59"/>
                <a:gd name="T58" fmla="*/ 56 w 59"/>
                <a:gd name="T59" fmla="*/ 43 h 59"/>
                <a:gd name="T60" fmla="*/ 58 w 59"/>
                <a:gd name="T61" fmla="*/ 40 h 59"/>
                <a:gd name="T62" fmla="*/ 59 w 59"/>
                <a:gd name="T63" fmla="*/ 36 h 59"/>
                <a:gd name="T64" fmla="*/ 59 w 59"/>
                <a:gd name="T65" fmla="*/ 31 h 59"/>
                <a:gd name="T66" fmla="*/ 59 w 59"/>
                <a:gd name="T67" fmla="*/ 28 h 59"/>
                <a:gd name="T68" fmla="*/ 59 w 59"/>
                <a:gd name="T69" fmla="*/ 24 h 59"/>
                <a:gd name="T70" fmla="*/ 58 w 59"/>
                <a:gd name="T71" fmla="*/ 19 h 59"/>
                <a:gd name="T72" fmla="*/ 56 w 59"/>
                <a:gd name="T73" fmla="*/ 15 h 59"/>
                <a:gd name="T74" fmla="*/ 55 w 59"/>
                <a:gd name="T75" fmla="*/ 12 h 59"/>
                <a:gd name="T76" fmla="*/ 52 w 59"/>
                <a:gd name="T77" fmla="*/ 9 h 59"/>
                <a:gd name="T78" fmla="*/ 48 w 59"/>
                <a:gd name="T79" fmla="*/ 6 h 59"/>
                <a:gd name="T80" fmla="*/ 45 w 59"/>
                <a:gd name="T81" fmla="*/ 3 h 59"/>
                <a:gd name="T82" fmla="*/ 40 w 59"/>
                <a:gd name="T83" fmla="*/ 1 h 59"/>
                <a:gd name="T84" fmla="*/ 37 w 59"/>
                <a:gd name="T85" fmla="*/ 0 h 59"/>
                <a:gd name="T86" fmla="*/ 33 w 59"/>
                <a:gd name="T87" fmla="*/ 0 h 59"/>
                <a:gd name="T88" fmla="*/ 30 w 59"/>
                <a:gd name="T8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9"/>
                  </a:lnTo>
                  <a:lnTo>
                    <a:pt x="9" y="50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3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8" y="56"/>
                  </a:lnTo>
                  <a:lnTo>
                    <a:pt x="19" y="56"/>
                  </a:lnTo>
                  <a:lnTo>
                    <a:pt x="21" y="56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8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0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6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5"/>
                  </a:lnTo>
                  <a:lnTo>
                    <a:pt x="48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0" y="50"/>
                  </a:lnTo>
                  <a:lnTo>
                    <a:pt x="52" y="50"/>
                  </a:lnTo>
                  <a:lnTo>
                    <a:pt x="52" y="49"/>
                  </a:lnTo>
                  <a:lnTo>
                    <a:pt x="53" y="47"/>
                  </a:lnTo>
                  <a:lnTo>
                    <a:pt x="55" y="47"/>
                  </a:lnTo>
                  <a:lnTo>
                    <a:pt x="55" y="46"/>
                  </a:lnTo>
                  <a:lnTo>
                    <a:pt x="56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9" y="38"/>
                  </a:lnTo>
                  <a:lnTo>
                    <a:pt x="59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9" y="22"/>
                  </a:lnTo>
                  <a:lnTo>
                    <a:pt x="59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8" y="16"/>
                  </a:lnTo>
                  <a:lnTo>
                    <a:pt x="56" y="15"/>
                  </a:lnTo>
                  <a:lnTo>
                    <a:pt x="56" y="13"/>
                  </a:lnTo>
                  <a:lnTo>
                    <a:pt x="55" y="13"/>
                  </a:lnTo>
                  <a:lnTo>
                    <a:pt x="55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7" name="Freeform 442"/>
            <p:cNvSpPr>
              <a:spLocks/>
            </p:cNvSpPr>
            <p:nvPr/>
          </p:nvSpPr>
          <p:spPr bwMode="auto">
            <a:xfrm>
              <a:off x="3175" y="3398"/>
              <a:ext cx="24" cy="24"/>
            </a:xfrm>
            <a:custGeom>
              <a:avLst/>
              <a:gdLst>
                <a:gd name="T0" fmla="*/ 33 w 73"/>
                <a:gd name="T1" fmla="*/ 1 h 72"/>
                <a:gd name="T2" fmla="*/ 28 w 73"/>
                <a:gd name="T3" fmla="*/ 1 h 72"/>
                <a:gd name="T4" fmla="*/ 22 w 73"/>
                <a:gd name="T5" fmla="*/ 3 h 72"/>
                <a:gd name="T6" fmla="*/ 18 w 73"/>
                <a:gd name="T7" fmla="*/ 6 h 72"/>
                <a:gd name="T8" fmla="*/ 13 w 73"/>
                <a:gd name="T9" fmla="*/ 9 h 72"/>
                <a:gd name="T10" fmla="*/ 10 w 73"/>
                <a:gd name="T11" fmla="*/ 12 h 72"/>
                <a:gd name="T12" fmla="*/ 6 w 73"/>
                <a:gd name="T13" fmla="*/ 16 h 72"/>
                <a:gd name="T14" fmla="*/ 4 w 73"/>
                <a:gd name="T15" fmla="*/ 20 h 72"/>
                <a:gd name="T16" fmla="*/ 1 w 73"/>
                <a:gd name="T17" fmla="*/ 26 h 72"/>
                <a:gd name="T18" fmla="*/ 1 w 73"/>
                <a:gd name="T19" fmla="*/ 31 h 72"/>
                <a:gd name="T20" fmla="*/ 0 w 73"/>
                <a:gd name="T21" fmla="*/ 37 h 72"/>
                <a:gd name="T22" fmla="*/ 0 w 73"/>
                <a:gd name="T23" fmla="*/ 40 h 72"/>
                <a:gd name="T24" fmla="*/ 1 w 73"/>
                <a:gd name="T25" fmla="*/ 46 h 72"/>
                <a:gd name="T26" fmla="*/ 3 w 73"/>
                <a:gd name="T27" fmla="*/ 50 h 72"/>
                <a:gd name="T28" fmla="*/ 6 w 73"/>
                <a:gd name="T29" fmla="*/ 56 h 72"/>
                <a:gd name="T30" fmla="*/ 9 w 73"/>
                <a:gd name="T31" fmla="*/ 59 h 72"/>
                <a:gd name="T32" fmla="*/ 12 w 73"/>
                <a:gd name="T33" fmla="*/ 63 h 72"/>
                <a:gd name="T34" fmla="*/ 16 w 73"/>
                <a:gd name="T35" fmla="*/ 66 h 72"/>
                <a:gd name="T36" fmla="*/ 21 w 73"/>
                <a:gd name="T37" fmla="*/ 69 h 72"/>
                <a:gd name="T38" fmla="*/ 25 w 73"/>
                <a:gd name="T39" fmla="*/ 71 h 72"/>
                <a:gd name="T40" fmla="*/ 31 w 73"/>
                <a:gd name="T41" fmla="*/ 72 h 72"/>
                <a:gd name="T42" fmla="*/ 37 w 73"/>
                <a:gd name="T43" fmla="*/ 72 h 72"/>
                <a:gd name="T44" fmla="*/ 40 w 73"/>
                <a:gd name="T45" fmla="*/ 72 h 72"/>
                <a:gd name="T46" fmla="*/ 46 w 73"/>
                <a:gd name="T47" fmla="*/ 72 h 72"/>
                <a:gd name="T48" fmla="*/ 50 w 73"/>
                <a:gd name="T49" fmla="*/ 69 h 72"/>
                <a:gd name="T50" fmla="*/ 55 w 73"/>
                <a:gd name="T51" fmla="*/ 68 h 72"/>
                <a:gd name="T52" fmla="*/ 59 w 73"/>
                <a:gd name="T53" fmla="*/ 65 h 72"/>
                <a:gd name="T54" fmla="*/ 64 w 73"/>
                <a:gd name="T55" fmla="*/ 60 h 72"/>
                <a:gd name="T56" fmla="*/ 67 w 73"/>
                <a:gd name="T57" fmla="*/ 57 h 72"/>
                <a:gd name="T58" fmla="*/ 70 w 73"/>
                <a:gd name="T59" fmla="*/ 52 h 72"/>
                <a:gd name="T60" fmla="*/ 71 w 73"/>
                <a:gd name="T61" fmla="*/ 47 h 72"/>
                <a:gd name="T62" fmla="*/ 73 w 73"/>
                <a:gd name="T63" fmla="*/ 43 h 72"/>
                <a:gd name="T64" fmla="*/ 73 w 73"/>
                <a:gd name="T65" fmla="*/ 37 h 72"/>
                <a:gd name="T66" fmla="*/ 73 w 73"/>
                <a:gd name="T67" fmla="*/ 32 h 72"/>
                <a:gd name="T68" fmla="*/ 71 w 73"/>
                <a:gd name="T69" fmla="*/ 28 h 72"/>
                <a:gd name="T70" fmla="*/ 70 w 73"/>
                <a:gd name="T71" fmla="*/ 22 h 72"/>
                <a:gd name="T72" fmla="*/ 68 w 73"/>
                <a:gd name="T73" fmla="*/ 18 h 72"/>
                <a:gd name="T74" fmla="*/ 65 w 73"/>
                <a:gd name="T75" fmla="*/ 13 h 72"/>
                <a:gd name="T76" fmla="*/ 61 w 73"/>
                <a:gd name="T77" fmla="*/ 10 h 72"/>
                <a:gd name="T78" fmla="*/ 56 w 73"/>
                <a:gd name="T79" fmla="*/ 7 h 72"/>
                <a:gd name="T80" fmla="*/ 52 w 73"/>
                <a:gd name="T81" fmla="*/ 4 h 72"/>
                <a:gd name="T82" fmla="*/ 47 w 73"/>
                <a:gd name="T83" fmla="*/ 3 h 72"/>
                <a:gd name="T84" fmla="*/ 41 w 73"/>
                <a:gd name="T85" fmla="*/ 1 h 72"/>
                <a:gd name="T86" fmla="*/ 37 w 73"/>
                <a:gd name="T8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" h="72">
                  <a:moveTo>
                    <a:pt x="37" y="0"/>
                  </a:moveTo>
                  <a:lnTo>
                    <a:pt x="34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5" y="3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4" y="55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7" y="57"/>
                  </a:lnTo>
                  <a:lnTo>
                    <a:pt x="9" y="59"/>
                  </a:lnTo>
                  <a:lnTo>
                    <a:pt x="10" y="60"/>
                  </a:lnTo>
                  <a:lnTo>
                    <a:pt x="10" y="62"/>
                  </a:lnTo>
                  <a:lnTo>
                    <a:pt x="12" y="63"/>
                  </a:lnTo>
                  <a:lnTo>
                    <a:pt x="13" y="65"/>
                  </a:lnTo>
                  <a:lnTo>
                    <a:pt x="15" y="65"/>
                  </a:lnTo>
                  <a:lnTo>
                    <a:pt x="16" y="66"/>
                  </a:lnTo>
                  <a:lnTo>
                    <a:pt x="18" y="68"/>
                  </a:lnTo>
                  <a:lnTo>
                    <a:pt x="19" y="68"/>
                  </a:lnTo>
                  <a:lnTo>
                    <a:pt x="21" y="69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71"/>
                  </a:lnTo>
                  <a:lnTo>
                    <a:pt x="28" y="72"/>
                  </a:lnTo>
                  <a:lnTo>
                    <a:pt x="30" y="72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4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8" y="72"/>
                  </a:lnTo>
                  <a:lnTo>
                    <a:pt x="40" y="72"/>
                  </a:lnTo>
                  <a:lnTo>
                    <a:pt x="41" y="72"/>
                  </a:lnTo>
                  <a:lnTo>
                    <a:pt x="44" y="72"/>
                  </a:lnTo>
                  <a:lnTo>
                    <a:pt x="46" y="72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69"/>
                  </a:lnTo>
                  <a:lnTo>
                    <a:pt x="52" y="69"/>
                  </a:lnTo>
                  <a:lnTo>
                    <a:pt x="53" y="68"/>
                  </a:lnTo>
                  <a:lnTo>
                    <a:pt x="55" y="68"/>
                  </a:lnTo>
                  <a:lnTo>
                    <a:pt x="56" y="66"/>
                  </a:lnTo>
                  <a:lnTo>
                    <a:pt x="58" y="65"/>
                  </a:lnTo>
                  <a:lnTo>
                    <a:pt x="59" y="65"/>
                  </a:lnTo>
                  <a:lnTo>
                    <a:pt x="61" y="63"/>
                  </a:lnTo>
                  <a:lnTo>
                    <a:pt x="62" y="62"/>
                  </a:lnTo>
                  <a:lnTo>
                    <a:pt x="64" y="60"/>
                  </a:lnTo>
                  <a:lnTo>
                    <a:pt x="65" y="59"/>
                  </a:lnTo>
                  <a:lnTo>
                    <a:pt x="65" y="57"/>
                  </a:lnTo>
                  <a:lnTo>
                    <a:pt x="67" y="57"/>
                  </a:lnTo>
                  <a:lnTo>
                    <a:pt x="68" y="56"/>
                  </a:lnTo>
                  <a:lnTo>
                    <a:pt x="68" y="55"/>
                  </a:lnTo>
                  <a:lnTo>
                    <a:pt x="70" y="52"/>
                  </a:lnTo>
                  <a:lnTo>
                    <a:pt x="70" y="50"/>
                  </a:lnTo>
                  <a:lnTo>
                    <a:pt x="71" y="49"/>
                  </a:lnTo>
                  <a:lnTo>
                    <a:pt x="71" y="47"/>
                  </a:lnTo>
                  <a:lnTo>
                    <a:pt x="71" y="46"/>
                  </a:lnTo>
                  <a:lnTo>
                    <a:pt x="73" y="44"/>
                  </a:lnTo>
                  <a:lnTo>
                    <a:pt x="73" y="43"/>
                  </a:lnTo>
                  <a:lnTo>
                    <a:pt x="73" y="40"/>
                  </a:lnTo>
                  <a:lnTo>
                    <a:pt x="73" y="38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3" y="32"/>
                  </a:lnTo>
                  <a:lnTo>
                    <a:pt x="73" y="31"/>
                  </a:lnTo>
                  <a:lnTo>
                    <a:pt x="73" y="29"/>
                  </a:lnTo>
                  <a:lnTo>
                    <a:pt x="71" y="28"/>
                  </a:lnTo>
                  <a:lnTo>
                    <a:pt x="71" y="26"/>
                  </a:lnTo>
                  <a:lnTo>
                    <a:pt x="71" y="25"/>
                  </a:lnTo>
                  <a:lnTo>
                    <a:pt x="70" y="22"/>
                  </a:lnTo>
                  <a:lnTo>
                    <a:pt x="70" y="20"/>
                  </a:lnTo>
                  <a:lnTo>
                    <a:pt x="68" y="19"/>
                  </a:lnTo>
                  <a:lnTo>
                    <a:pt x="68" y="18"/>
                  </a:lnTo>
                  <a:lnTo>
                    <a:pt x="67" y="16"/>
                  </a:lnTo>
                  <a:lnTo>
                    <a:pt x="65" y="15"/>
                  </a:lnTo>
                  <a:lnTo>
                    <a:pt x="65" y="13"/>
                  </a:lnTo>
                  <a:lnTo>
                    <a:pt x="64" y="12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7"/>
                  </a:lnTo>
                  <a:lnTo>
                    <a:pt x="56" y="7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2" y="4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28" name="Rectangle 443"/>
            <p:cNvSpPr>
              <a:spLocks noChangeArrowheads="1"/>
            </p:cNvSpPr>
            <p:nvPr/>
          </p:nvSpPr>
          <p:spPr bwMode="auto">
            <a:xfrm>
              <a:off x="3387" y="2740"/>
              <a:ext cx="10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900">
                  <a:solidFill>
                    <a:srgbClr val="000000"/>
                  </a:solidFill>
                  <a:latin typeface="Times-Roman" charset="0"/>
                </a:rPr>
                <a:t>Q</a:t>
              </a: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-Roman" charset="0"/>
                  <a:cs typeface="Arial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29" name="Rectangle 444"/>
            <p:cNvSpPr>
              <a:spLocks noChangeArrowheads="1"/>
            </p:cNvSpPr>
            <p:nvPr/>
          </p:nvSpPr>
          <p:spPr bwMode="auto">
            <a:xfrm>
              <a:off x="3243" y="3346"/>
              <a:ext cx="9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900">
                  <a:solidFill>
                    <a:srgbClr val="000000"/>
                  </a:solidFill>
                  <a:latin typeface="Times-Roman" charset="0"/>
                </a:rPr>
                <a:t>D</a:t>
              </a: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-Roman" charset="0"/>
                  <a:cs typeface="Arial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30" name="Line 445"/>
            <p:cNvSpPr>
              <a:spLocks noChangeShapeType="1"/>
            </p:cNvSpPr>
            <p:nvPr/>
          </p:nvSpPr>
          <p:spPr bwMode="auto">
            <a:xfrm>
              <a:off x="3141" y="3582"/>
              <a:ext cx="9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1" name="Line 446"/>
            <p:cNvSpPr>
              <a:spLocks noChangeShapeType="1"/>
            </p:cNvSpPr>
            <p:nvPr/>
          </p:nvSpPr>
          <p:spPr bwMode="auto">
            <a:xfrm>
              <a:off x="3615" y="3098"/>
              <a:ext cx="0" cy="8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2" name="Line 447"/>
            <p:cNvSpPr>
              <a:spLocks noChangeShapeType="1"/>
            </p:cNvSpPr>
            <p:nvPr/>
          </p:nvSpPr>
          <p:spPr bwMode="auto">
            <a:xfrm flipH="1">
              <a:off x="3655" y="3266"/>
              <a:ext cx="6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3" name="Line 448"/>
            <p:cNvSpPr>
              <a:spLocks noChangeShapeType="1"/>
            </p:cNvSpPr>
            <p:nvPr/>
          </p:nvSpPr>
          <p:spPr bwMode="auto">
            <a:xfrm>
              <a:off x="3783" y="3147"/>
              <a:ext cx="0" cy="8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4" name="Rectangle 449"/>
            <p:cNvSpPr>
              <a:spLocks noChangeArrowheads="1"/>
            </p:cNvSpPr>
            <p:nvPr/>
          </p:nvSpPr>
          <p:spPr bwMode="auto">
            <a:xfrm>
              <a:off x="3240" y="3325"/>
              <a:ext cx="217" cy="336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5" name="Freeform 450"/>
            <p:cNvSpPr>
              <a:spLocks/>
            </p:cNvSpPr>
            <p:nvPr/>
          </p:nvSpPr>
          <p:spPr bwMode="auto">
            <a:xfrm>
              <a:off x="3576" y="3167"/>
              <a:ext cx="79" cy="207"/>
            </a:xfrm>
            <a:custGeom>
              <a:avLst/>
              <a:gdLst>
                <a:gd name="T0" fmla="*/ 237 w 237"/>
                <a:gd name="T1" fmla="*/ 504 h 622"/>
                <a:gd name="T2" fmla="*/ 237 w 237"/>
                <a:gd name="T3" fmla="*/ 119 h 622"/>
                <a:gd name="T4" fmla="*/ 0 w 237"/>
                <a:gd name="T5" fmla="*/ 0 h 622"/>
                <a:gd name="T6" fmla="*/ 0 w 237"/>
                <a:gd name="T7" fmla="*/ 622 h 622"/>
                <a:gd name="T8" fmla="*/ 237 w 237"/>
                <a:gd name="T9" fmla="*/ 504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" h="622">
                  <a:moveTo>
                    <a:pt x="237" y="504"/>
                  </a:moveTo>
                  <a:lnTo>
                    <a:pt x="237" y="119"/>
                  </a:lnTo>
                  <a:lnTo>
                    <a:pt x="0" y="0"/>
                  </a:lnTo>
                  <a:lnTo>
                    <a:pt x="0" y="622"/>
                  </a:lnTo>
                  <a:lnTo>
                    <a:pt x="237" y="504"/>
                  </a:lnTo>
                  <a:close/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6" name="Freeform 451"/>
            <p:cNvSpPr>
              <a:spLocks/>
            </p:cNvSpPr>
            <p:nvPr/>
          </p:nvSpPr>
          <p:spPr bwMode="auto">
            <a:xfrm>
              <a:off x="3724" y="3207"/>
              <a:ext cx="128" cy="128"/>
            </a:xfrm>
            <a:custGeom>
              <a:avLst/>
              <a:gdLst>
                <a:gd name="T0" fmla="*/ 385 w 385"/>
                <a:gd name="T1" fmla="*/ 177 h 385"/>
                <a:gd name="T2" fmla="*/ 0 w 385"/>
                <a:gd name="T3" fmla="*/ 385 h 385"/>
                <a:gd name="T4" fmla="*/ 0 w 385"/>
                <a:gd name="T5" fmla="*/ 0 h 385"/>
                <a:gd name="T6" fmla="*/ 385 w 385"/>
                <a:gd name="T7" fmla="*/ 177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5" h="385">
                  <a:moveTo>
                    <a:pt x="385" y="177"/>
                  </a:moveTo>
                  <a:lnTo>
                    <a:pt x="0" y="385"/>
                  </a:lnTo>
                  <a:lnTo>
                    <a:pt x="0" y="0"/>
                  </a:lnTo>
                  <a:lnTo>
                    <a:pt x="385" y="177"/>
                  </a:lnTo>
                  <a:close/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7" name="Line 452"/>
            <p:cNvSpPr>
              <a:spLocks noChangeShapeType="1"/>
            </p:cNvSpPr>
            <p:nvPr/>
          </p:nvSpPr>
          <p:spPr bwMode="auto">
            <a:xfrm>
              <a:off x="2865" y="3374"/>
              <a:ext cx="5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8" name="Line 453"/>
            <p:cNvSpPr>
              <a:spLocks noChangeShapeType="1"/>
            </p:cNvSpPr>
            <p:nvPr/>
          </p:nvSpPr>
          <p:spPr bwMode="auto">
            <a:xfrm flipH="1">
              <a:off x="3122" y="3414"/>
              <a:ext cx="118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39" name="Freeform 454"/>
            <p:cNvSpPr>
              <a:spLocks/>
            </p:cNvSpPr>
            <p:nvPr/>
          </p:nvSpPr>
          <p:spPr bwMode="auto">
            <a:xfrm>
              <a:off x="2945" y="3344"/>
              <a:ext cx="177" cy="70"/>
            </a:xfrm>
            <a:custGeom>
              <a:avLst/>
              <a:gdLst>
                <a:gd name="T0" fmla="*/ 104 w 531"/>
                <a:gd name="T1" fmla="*/ 0 h 212"/>
                <a:gd name="T2" fmla="*/ 178 w 531"/>
                <a:gd name="T3" fmla="*/ 0 h 212"/>
                <a:gd name="T4" fmla="*/ 215 w 531"/>
                <a:gd name="T5" fmla="*/ 0 h 212"/>
                <a:gd name="T6" fmla="*/ 233 w 531"/>
                <a:gd name="T7" fmla="*/ 2 h 212"/>
                <a:gd name="T8" fmla="*/ 240 w 531"/>
                <a:gd name="T9" fmla="*/ 2 h 212"/>
                <a:gd name="T10" fmla="*/ 249 w 531"/>
                <a:gd name="T11" fmla="*/ 2 h 212"/>
                <a:gd name="T12" fmla="*/ 255 w 531"/>
                <a:gd name="T13" fmla="*/ 3 h 212"/>
                <a:gd name="T14" fmla="*/ 260 w 531"/>
                <a:gd name="T15" fmla="*/ 3 h 212"/>
                <a:gd name="T16" fmla="*/ 267 w 531"/>
                <a:gd name="T17" fmla="*/ 5 h 212"/>
                <a:gd name="T18" fmla="*/ 276 w 531"/>
                <a:gd name="T19" fmla="*/ 6 h 212"/>
                <a:gd name="T20" fmla="*/ 282 w 531"/>
                <a:gd name="T21" fmla="*/ 6 h 212"/>
                <a:gd name="T22" fmla="*/ 288 w 531"/>
                <a:gd name="T23" fmla="*/ 8 h 212"/>
                <a:gd name="T24" fmla="*/ 294 w 531"/>
                <a:gd name="T25" fmla="*/ 9 h 212"/>
                <a:gd name="T26" fmla="*/ 302 w 531"/>
                <a:gd name="T27" fmla="*/ 12 h 212"/>
                <a:gd name="T28" fmla="*/ 311 w 531"/>
                <a:gd name="T29" fmla="*/ 15 h 212"/>
                <a:gd name="T30" fmla="*/ 319 w 531"/>
                <a:gd name="T31" fmla="*/ 17 h 212"/>
                <a:gd name="T32" fmla="*/ 325 w 531"/>
                <a:gd name="T33" fmla="*/ 20 h 212"/>
                <a:gd name="T34" fmla="*/ 331 w 531"/>
                <a:gd name="T35" fmla="*/ 23 h 212"/>
                <a:gd name="T36" fmla="*/ 338 w 531"/>
                <a:gd name="T37" fmla="*/ 26 h 212"/>
                <a:gd name="T38" fmla="*/ 347 w 531"/>
                <a:gd name="T39" fmla="*/ 30 h 212"/>
                <a:gd name="T40" fmla="*/ 351 w 531"/>
                <a:gd name="T41" fmla="*/ 33 h 212"/>
                <a:gd name="T42" fmla="*/ 357 w 531"/>
                <a:gd name="T43" fmla="*/ 36 h 212"/>
                <a:gd name="T44" fmla="*/ 363 w 531"/>
                <a:gd name="T45" fmla="*/ 39 h 212"/>
                <a:gd name="T46" fmla="*/ 369 w 531"/>
                <a:gd name="T47" fmla="*/ 43 h 212"/>
                <a:gd name="T48" fmla="*/ 377 w 531"/>
                <a:gd name="T49" fmla="*/ 46 h 212"/>
                <a:gd name="T50" fmla="*/ 381 w 531"/>
                <a:gd name="T51" fmla="*/ 49 h 212"/>
                <a:gd name="T52" fmla="*/ 385 w 531"/>
                <a:gd name="T53" fmla="*/ 52 h 212"/>
                <a:gd name="T54" fmla="*/ 390 w 531"/>
                <a:gd name="T55" fmla="*/ 55 h 212"/>
                <a:gd name="T56" fmla="*/ 396 w 531"/>
                <a:gd name="T57" fmla="*/ 60 h 212"/>
                <a:gd name="T58" fmla="*/ 400 w 531"/>
                <a:gd name="T59" fmla="*/ 63 h 212"/>
                <a:gd name="T60" fmla="*/ 403 w 531"/>
                <a:gd name="T61" fmla="*/ 64 h 212"/>
                <a:gd name="T62" fmla="*/ 406 w 531"/>
                <a:gd name="T63" fmla="*/ 67 h 212"/>
                <a:gd name="T64" fmla="*/ 411 w 531"/>
                <a:gd name="T65" fmla="*/ 70 h 212"/>
                <a:gd name="T66" fmla="*/ 415 w 531"/>
                <a:gd name="T67" fmla="*/ 73 h 212"/>
                <a:gd name="T68" fmla="*/ 418 w 531"/>
                <a:gd name="T69" fmla="*/ 76 h 212"/>
                <a:gd name="T70" fmla="*/ 421 w 531"/>
                <a:gd name="T71" fmla="*/ 77 h 212"/>
                <a:gd name="T72" fmla="*/ 424 w 531"/>
                <a:gd name="T73" fmla="*/ 80 h 212"/>
                <a:gd name="T74" fmla="*/ 428 w 531"/>
                <a:gd name="T75" fmla="*/ 83 h 212"/>
                <a:gd name="T76" fmla="*/ 433 w 531"/>
                <a:gd name="T77" fmla="*/ 86 h 212"/>
                <a:gd name="T78" fmla="*/ 436 w 531"/>
                <a:gd name="T79" fmla="*/ 89 h 212"/>
                <a:gd name="T80" fmla="*/ 440 w 531"/>
                <a:gd name="T81" fmla="*/ 92 h 212"/>
                <a:gd name="T82" fmla="*/ 443 w 531"/>
                <a:gd name="T83" fmla="*/ 95 h 212"/>
                <a:gd name="T84" fmla="*/ 449 w 531"/>
                <a:gd name="T85" fmla="*/ 101 h 212"/>
                <a:gd name="T86" fmla="*/ 454 w 531"/>
                <a:gd name="T87" fmla="*/ 105 h 212"/>
                <a:gd name="T88" fmla="*/ 456 w 531"/>
                <a:gd name="T89" fmla="*/ 110 h 212"/>
                <a:gd name="T90" fmla="*/ 459 w 531"/>
                <a:gd name="T91" fmla="*/ 114 h 212"/>
                <a:gd name="T92" fmla="*/ 465 w 531"/>
                <a:gd name="T93" fmla="*/ 120 h 212"/>
                <a:gd name="T94" fmla="*/ 471 w 531"/>
                <a:gd name="T95" fmla="*/ 128 h 212"/>
                <a:gd name="T96" fmla="*/ 476 w 531"/>
                <a:gd name="T97" fmla="*/ 132 h 212"/>
                <a:gd name="T98" fmla="*/ 479 w 531"/>
                <a:gd name="T99" fmla="*/ 137 h 212"/>
                <a:gd name="T100" fmla="*/ 483 w 531"/>
                <a:gd name="T101" fmla="*/ 143 h 212"/>
                <a:gd name="T102" fmla="*/ 489 w 531"/>
                <a:gd name="T103" fmla="*/ 150 h 212"/>
                <a:gd name="T104" fmla="*/ 495 w 531"/>
                <a:gd name="T105" fmla="*/ 159 h 212"/>
                <a:gd name="T106" fmla="*/ 499 w 531"/>
                <a:gd name="T107" fmla="*/ 165 h 212"/>
                <a:gd name="T108" fmla="*/ 502 w 531"/>
                <a:gd name="T109" fmla="*/ 171 h 212"/>
                <a:gd name="T110" fmla="*/ 508 w 531"/>
                <a:gd name="T111" fmla="*/ 177 h 212"/>
                <a:gd name="T112" fmla="*/ 514 w 531"/>
                <a:gd name="T113" fmla="*/ 185 h 212"/>
                <a:gd name="T114" fmla="*/ 519 w 531"/>
                <a:gd name="T115" fmla="*/ 193 h 212"/>
                <a:gd name="T116" fmla="*/ 523 w 531"/>
                <a:gd name="T117" fmla="*/ 197 h 212"/>
                <a:gd name="T118" fmla="*/ 526 w 531"/>
                <a:gd name="T119" fmla="*/ 203 h 212"/>
                <a:gd name="T120" fmla="*/ 531 w 531"/>
                <a:gd name="T121" fmla="*/ 20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1" h="212">
                  <a:moveTo>
                    <a:pt x="0" y="0"/>
                  </a:moveTo>
                  <a:lnTo>
                    <a:pt x="21" y="0"/>
                  </a:lnTo>
                  <a:lnTo>
                    <a:pt x="39" y="0"/>
                  </a:lnTo>
                  <a:lnTo>
                    <a:pt x="57" y="0"/>
                  </a:lnTo>
                  <a:lnTo>
                    <a:pt x="74" y="0"/>
                  </a:lnTo>
                  <a:lnTo>
                    <a:pt x="89" y="0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1" y="0"/>
                  </a:lnTo>
                  <a:lnTo>
                    <a:pt x="151" y="0"/>
                  </a:lnTo>
                  <a:lnTo>
                    <a:pt x="162" y="0"/>
                  </a:lnTo>
                  <a:lnTo>
                    <a:pt x="169" y="0"/>
                  </a:lnTo>
                  <a:lnTo>
                    <a:pt x="178" y="0"/>
                  </a:lnTo>
                  <a:lnTo>
                    <a:pt x="185" y="0"/>
                  </a:lnTo>
                  <a:lnTo>
                    <a:pt x="191" y="0"/>
                  </a:lnTo>
                  <a:lnTo>
                    <a:pt x="197" y="0"/>
                  </a:lnTo>
                  <a:lnTo>
                    <a:pt x="203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5" y="0"/>
                  </a:lnTo>
                  <a:lnTo>
                    <a:pt x="220" y="0"/>
                  </a:lnTo>
                  <a:lnTo>
                    <a:pt x="223" y="0"/>
                  </a:lnTo>
                  <a:lnTo>
                    <a:pt x="224" y="0"/>
                  </a:lnTo>
                  <a:lnTo>
                    <a:pt x="227" y="0"/>
                  </a:lnTo>
                  <a:lnTo>
                    <a:pt x="228" y="0"/>
                  </a:lnTo>
                  <a:lnTo>
                    <a:pt x="230" y="2"/>
                  </a:lnTo>
                  <a:lnTo>
                    <a:pt x="233" y="2"/>
                  </a:lnTo>
                  <a:lnTo>
                    <a:pt x="234" y="2"/>
                  </a:lnTo>
                  <a:lnTo>
                    <a:pt x="236" y="2"/>
                  </a:lnTo>
                  <a:lnTo>
                    <a:pt x="237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40" y="2"/>
                  </a:lnTo>
                  <a:lnTo>
                    <a:pt x="242" y="2"/>
                  </a:lnTo>
                  <a:lnTo>
                    <a:pt x="243" y="2"/>
                  </a:lnTo>
                  <a:lnTo>
                    <a:pt x="245" y="2"/>
                  </a:lnTo>
                  <a:lnTo>
                    <a:pt x="246" y="2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249" y="2"/>
                  </a:lnTo>
                  <a:lnTo>
                    <a:pt x="251" y="2"/>
                  </a:lnTo>
                  <a:lnTo>
                    <a:pt x="251" y="2"/>
                  </a:lnTo>
                  <a:lnTo>
                    <a:pt x="252" y="3"/>
                  </a:lnTo>
                  <a:lnTo>
                    <a:pt x="252" y="3"/>
                  </a:lnTo>
                  <a:lnTo>
                    <a:pt x="254" y="3"/>
                  </a:lnTo>
                  <a:lnTo>
                    <a:pt x="254" y="3"/>
                  </a:lnTo>
                  <a:lnTo>
                    <a:pt x="255" y="3"/>
                  </a:lnTo>
                  <a:lnTo>
                    <a:pt x="255" y="3"/>
                  </a:lnTo>
                  <a:lnTo>
                    <a:pt x="257" y="3"/>
                  </a:lnTo>
                  <a:lnTo>
                    <a:pt x="257" y="3"/>
                  </a:lnTo>
                  <a:lnTo>
                    <a:pt x="258" y="3"/>
                  </a:lnTo>
                  <a:lnTo>
                    <a:pt x="258" y="3"/>
                  </a:lnTo>
                  <a:lnTo>
                    <a:pt x="260" y="3"/>
                  </a:lnTo>
                  <a:lnTo>
                    <a:pt x="260" y="3"/>
                  </a:lnTo>
                  <a:lnTo>
                    <a:pt x="261" y="3"/>
                  </a:lnTo>
                  <a:lnTo>
                    <a:pt x="262" y="3"/>
                  </a:lnTo>
                  <a:lnTo>
                    <a:pt x="262" y="3"/>
                  </a:lnTo>
                  <a:lnTo>
                    <a:pt x="264" y="3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7" y="5"/>
                  </a:lnTo>
                  <a:lnTo>
                    <a:pt x="268" y="5"/>
                  </a:lnTo>
                  <a:lnTo>
                    <a:pt x="270" y="5"/>
                  </a:lnTo>
                  <a:lnTo>
                    <a:pt x="271" y="5"/>
                  </a:lnTo>
                  <a:lnTo>
                    <a:pt x="271" y="5"/>
                  </a:lnTo>
                  <a:lnTo>
                    <a:pt x="273" y="5"/>
                  </a:lnTo>
                  <a:lnTo>
                    <a:pt x="274" y="5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77" y="6"/>
                  </a:lnTo>
                  <a:lnTo>
                    <a:pt x="279" y="6"/>
                  </a:lnTo>
                  <a:lnTo>
                    <a:pt x="280" y="6"/>
                  </a:lnTo>
                  <a:lnTo>
                    <a:pt x="280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3" y="6"/>
                  </a:lnTo>
                  <a:lnTo>
                    <a:pt x="285" y="6"/>
                  </a:lnTo>
                  <a:lnTo>
                    <a:pt x="285" y="8"/>
                  </a:lnTo>
                  <a:lnTo>
                    <a:pt x="286" y="8"/>
                  </a:lnTo>
                  <a:lnTo>
                    <a:pt x="286" y="8"/>
                  </a:lnTo>
                  <a:lnTo>
                    <a:pt x="288" y="8"/>
                  </a:lnTo>
                  <a:lnTo>
                    <a:pt x="288" y="8"/>
                  </a:lnTo>
                  <a:lnTo>
                    <a:pt x="289" y="8"/>
                  </a:lnTo>
                  <a:lnTo>
                    <a:pt x="289" y="8"/>
                  </a:lnTo>
                  <a:lnTo>
                    <a:pt x="291" y="8"/>
                  </a:lnTo>
                  <a:lnTo>
                    <a:pt x="291" y="9"/>
                  </a:lnTo>
                  <a:lnTo>
                    <a:pt x="292" y="9"/>
                  </a:lnTo>
                  <a:lnTo>
                    <a:pt x="294" y="9"/>
                  </a:lnTo>
                  <a:lnTo>
                    <a:pt x="294" y="9"/>
                  </a:lnTo>
                  <a:lnTo>
                    <a:pt x="295" y="9"/>
                  </a:lnTo>
                  <a:lnTo>
                    <a:pt x="297" y="11"/>
                  </a:lnTo>
                  <a:lnTo>
                    <a:pt x="298" y="11"/>
                  </a:lnTo>
                  <a:lnTo>
                    <a:pt x="298" y="11"/>
                  </a:lnTo>
                  <a:lnTo>
                    <a:pt x="300" y="11"/>
                  </a:lnTo>
                  <a:lnTo>
                    <a:pt x="301" y="12"/>
                  </a:lnTo>
                  <a:lnTo>
                    <a:pt x="302" y="12"/>
                  </a:lnTo>
                  <a:lnTo>
                    <a:pt x="304" y="12"/>
                  </a:lnTo>
                  <a:lnTo>
                    <a:pt x="304" y="12"/>
                  </a:lnTo>
                  <a:lnTo>
                    <a:pt x="305" y="14"/>
                  </a:lnTo>
                  <a:lnTo>
                    <a:pt x="307" y="14"/>
                  </a:lnTo>
                  <a:lnTo>
                    <a:pt x="308" y="14"/>
                  </a:lnTo>
                  <a:lnTo>
                    <a:pt x="310" y="15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4" y="15"/>
                  </a:lnTo>
                  <a:lnTo>
                    <a:pt x="314" y="17"/>
                  </a:lnTo>
                  <a:lnTo>
                    <a:pt x="316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9" y="17"/>
                  </a:lnTo>
                  <a:lnTo>
                    <a:pt x="319" y="18"/>
                  </a:lnTo>
                  <a:lnTo>
                    <a:pt x="320" y="18"/>
                  </a:lnTo>
                  <a:lnTo>
                    <a:pt x="322" y="18"/>
                  </a:lnTo>
                  <a:lnTo>
                    <a:pt x="322" y="18"/>
                  </a:lnTo>
                  <a:lnTo>
                    <a:pt x="323" y="20"/>
                  </a:lnTo>
                  <a:lnTo>
                    <a:pt x="323" y="20"/>
                  </a:lnTo>
                  <a:lnTo>
                    <a:pt x="325" y="20"/>
                  </a:lnTo>
                  <a:lnTo>
                    <a:pt x="325" y="20"/>
                  </a:lnTo>
                  <a:lnTo>
                    <a:pt x="326" y="20"/>
                  </a:lnTo>
                  <a:lnTo>
                    <a:pt x="326" y="21"/>
                  </a:lnTo>
                  <a:lnTo>
                    <a:pt x="328" y="21"/>
                  </a:lnTo>
                  <a:lnTo>
                    <a:pt x="329" y="21"/>
                  </a:lnTo>
                  <a:lnTo>
                    <a:pt x="329" y="23"/>
                  </a:lnTo>
                  <a:lnTo>
                    <a:pt x="331" y="23"/>
                  </a:lnTo>
                  <a:lnTo>
                    <a:pt x="332" y="23"/>
                  </a:lnTo>
                  <a:lnTo>
                    <a:pt x="332" y="24"/>
                  </a:lnTo>
                  <a:lnTo>
                    <a:pt x="334" y="24"/>
                  </a:lnTo>
                  <a:lnTo>
                    <a:pt x="335" y="26"/>
                  </a:lnTo>
                  <a:lnTo>
                    <a:pt x="337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9" y="27"/>
                  </a:lnTo>
                  <a:lnTo>
                    <a:pt x="341" y="27"/>
                  </a:lnTo>
                  <a:lnTo>
                    <a:pt x="342" y="29"/>
                  </a:lnTo>
                  <a:lnTo>
                    <a:pt x="342" y="29"/>
                  </a:lnTo>
                  <a:lnTo>
                    <a:pt x="344" y="30"/>
                  </a:lnTo>
                  <a:lnTo>
                    <a:pt x="345" y="30"/>
                  </a:lnTo>
                  <a:lnTo>
                    <a:pt x="347" y="30"/>
                  </a:lnTo>
                  <a:lnTo>
                    <a:pt x="347" y="31"/>
                  </a:lnTo>
                  <a:lnTo>
                    <a:pt x="348" y="31"/>
                  </a:lnTo>
                  <a:lnTo>
                    <a:pt x="348" y="31"/>
                  </a:lnTo>
                  <a:lnTo>
                    <a:pt x="350" y="31"/>
                  </a:lnTo>
                  <a:lnTo>
                    <a:pt x="350" y="33"/>
                  </a:lnTo>
                  <a:lnTo>
                    <a:pt x="351" y="33"/>
                  </a:lnTo>
                  <a:lnTo>
                    <a:pt x="351" y="33"/>
                  </a:lnTo>
                  <a:lnTo>
                    <a:pt x="353" y="33"/>
                  </a:lnTo>
                  <a:lnTo>
                    <a:pt x="353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6" y="34"/>
                  </a:lnTo>
                  <a:lnTo>
                    <a:pt x="356" y="36"/>
                  </a:lnTo>
                  <a:lnTo>
                    <a:pt x="357" y="36"/>
                  </a:lnTo>
                  <a:lnTo>
                    <a:pt x="357" y="36"/>
                  </a:lnTo>
                  <a:lnTo>
                    <a:pt x="359" y="37"/>
                  </a:lnTo>
                  <a:lnTo>
                    <a:pt x="359" y="37"/>
                  </a:lnTo>
                  <a:lnTo>
                    <a:pt x="360" y="37"/>
                  </a:lnTo>
                  <a:lnTo>
                    <a:pt x="360" y="37"/>
                  </a:lnTo>
                  <a:lnTo>
                    <a:pt x="362" y="39"/>
                  </a:lnTo>
                  <a:lnTo>
                    <a:pt x="363" y="39"/>
                  </a:lnTo>
                  <a:lnTo>
                    <a:pt x="363" y="40"/>
                  </a:lnTo>
                  <a:lnTo>
                    <a:pt x="365" y="40"/>
                  </a:lnTo>
                  <a:lnTo>
                    <a:pt x="366" y="40"/>
                  </a:lnTo>
                  <a:lnTo>
                    <a:pt x="368" y="42"/>
                  </a:lnTo>
                  <a:lnTo>
                    <a:pt x="368" y="42"/>
                  </a:lnTo>
                  <a:lnTo>
                    <a:pt x="369" y="42"/>
                  </a:lnTo>
                  <a:lnTo>
                    <a:pt x="369" y="43"/>
                  </a:lnTo>
                  <a:lnTo>
                    <a:pt x="371" y="43"/>
                  </a:lnTo>
                  <a:lnTo>
                    <a:pt x="372" y="45"/>
                  </a:lnTo>
                  <a:lnTo>
                    <a:pt x="372" y="45"/>
                  </a:lnTo>
                  <a:lnTo>
                    <a:pt x="374" y="45"/>
                  </a:lnTo>
                  <a:lnTo>
                    <a:pt x="375" y="46"/>
                  </a:lnTo>
                  <a:lnTo>
                    <a:pt x="375" y="46"/>
                  </a:lnTo>
                  <a:lnTo>
                    <a:pt x="377" y="46"/>
                  </a:lnTo>
                  <a:lnTo>
                    <a:pt x="377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9" y="48"/>
                  </a:lnTo>
                  <a:lnTo>
                    <a:pt x="379" y="49"/>
                  </a:lnTo>
                  <a:lnTo>
                    <a:pt x="379" y="49"/>
                  </a:lnTo>
                  <a:lnTo>
                    <a:pt x="381" y="49"/>
                  </a:lnTo>
                  <a:lnTo>
                    <a:pt x="381" y="49"/>
                  </a:lnTo>
                  <a:lnTo>
                    <a:pt x="382" y="51"/>
                  </a:lnTo>
                  <a:lnTo>
                    <a:pt x="382" y="51"/>
                  </a:lnTo>
                  <a:lnTo>
                    <a:pt x="382" y="51"/>
                  </a:lnTo>
                  <a:lnTo>
                    <a:pt x="384" y="51"/>
                  </a:lnTo>
                  <a:lnTo>
                    <a:pt x="384" y="52"/>
                  </a:lnTo>
                  <a:lnTo>
                    <a:pt x="385" y="52"/>
                  </a:lnTo>
                  <a:lnTo>
                    <a:pt x="385" y="52"/>
                  </a:lnTo>
                  <a:lnTo>
                    <a:pt x="387" y="52"/>
                  </a:lnTo>
                  <a:lnTo>
                    <a:pt x="387" y="54"/>
                  </a:lnTo>
                  <a:lnTo>
                    <a:pt x="388" y="54"/>
                  </a:lnTo>
                  <a:lnTo>
                    <a:pt x="388" y="54"/>
                  </a:lnTo>
                  <a:lnTo>
                    <a:pt x="390" y="55"/>
                  </a:lnTo>
                  <a:lnTo>
                    <a:pt x="390" y="55"/>
                  </a:lnTo>
                  <a:lnTo>
                    <a:pt x="391" y="57"/>
                  </a:lnTo>
                  <a:lnTo>
                    <a:pt x="393" y="57"/>
                  </a:lnTo>
                  <a:lnTo>
                    <a:pt x="393" y="57"/>
                  </a:lnTo>
                  <a:lnTo>
                    <a:pt x="393" y="58"/>
                  </a:lnTo>
                  <a:lnTo>
                    <a:pt x="394" y="58"/>
                  </a:lnTo>
                  <a:lnTo>
                    <a:pt x="396" y="58"/>
                  </a:lnTo>
                  <a:lnTo>
                    <a:pt x="396" y="60"/>
                  </a:lnTo>
                  <a:lnTo>
                    <a:pt x="397" y="60"/>
                  </a:lnTo>
                  <a:lnTo>
                    <a:pt x="397" y="60"/>
                  </a:lnTo>
                  <a:lnTo>
                    <a:pt x="399" y="61"/>
                  </a:lnTo>
                  <a:lnTo>
                    <a:pt x="399" y="61"/>
                  </a:lnTo>
                  <a:lnTo>
                    <a:pt x="399" y="61"/>
                  </a:lnTo>
                  <a:lnTo>
                    <a:pt x="400" y="61"/>
                  </a:lnTo>
                  <a:lnTo>
                    <a:pt x="400" y="63"/>
                  </a:lnTo>
                  <a:lnTo>
                    <a:pt x="402" y="63"/>
                  </a:lnTo>
                  <a:lnTo>
                    <a:pt x="402" y="63"/>
                  </a:lnTo>
                  <a:lnTo>
                    <a:pt x="402" y="63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5" y="64"/>
                  </a:lnTo>
                  <a:lnTo>
                    <a:pt x="405" y="66"/>
                  </a:lnTo>
                  <a:lnTo>
                    <a:pt x="405" y="66"/>
                  </a:lnTo>
                  <a:lnTo>
                    <a:pt x="406" y="66"/>
                  </a:lnTo>
                  <a:lnTo>
                    <a:pt x="406" y="66"/>
                  </a:lnTo>
                  <a:lnTo>
                    <a:pt x="406" y="67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8"/>
                  </a:lnTo>
                  <a:lnTo>
                    <a:pt x="409" y="68"/>
                  </a:lnTo>
                  <a:lnTo>
                    <a:pt x="409" y="68"/>
                  </a:lnTo>
                  <a:lnTo>
                    <a:pt x="411" y="70"/>
                  </a:lnTo>
                  <a:lnTo>
                    <a:pt x="411" y="70"/>
                  </a:lnTo>
                  <a:lnTo>
                    <a:pt x="411" y="70"/>
                  </a:lnTo>
                  <a:lnTo>
                    <a:pt x="412" y="70"/>
                  </a:lnTo>
                  <a:lnTo>
                    <a:pt x="412" y="71"/>
                  </a:lnTo>
                  <a:lnTo>
                    <a:pt x="414" y="71"/>
                  </a:lnTo>
                  <a:lnTo>
                    <a:pt x="414" y="71"/>
                  </a:lnTo>
                  <a:lnTo>
                    <a:pt x="414" y="73"/>
                  </a:lnTo>
                  <a:lnTo>
                    <a:pt x="415" y="73"/>
                  </a:lnTo>
                  <a:lnTo>
                    <a:pt x="415" y="73"/>
                  </a:lnTo>
                  <a:lnTo>
                    <a:pt x="416" y="73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8" y="74"/>
                  </a:lnTo>
                  <a:lnTo>
                    <a:pt x="418" y="76"/>
                  </a:lnTo>
                  <a:lnTo>
                    <a:pt x="418" y="76"/>
                  </a:lnTo>
                  <a:lnTo>
                    <a:pt x="419" y="76"/>
                  </a:lnTo>
                  <a:lnTo>
                    <a:pt x="419" y="76"/>
                  </a:lnTo>
                  <a:lnTo>
                    <a:pt x="419" y="76"/>
                  </a:lnTo>
                  <a:lnTo>
                    <a:pt x="419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2" y="79"/>
                  </a:lnTo>
                  <a:lnTo>
                    <a:pt x="422" y="79"/>
                  </a:lnTo>
                  <a:lnTo>
                    <a:pt x="422" y="79"/>
                  </a:lnTo>
                  <a:lnTo>
                    <a:pt x="424" y="79"/>
                  </a:lnTo>
                  <a:lnTo>
                    <a:pt x="424" y="80"/>
                  </a:lnTo>
                  <a:lnTo>
                    <a:pt x="425" y="80"/>
                  </a:lnTo>
                  <a:lnTo>
                    <a:pt x="425" y="80"/>
                  </a:lnTo>
                  <a:lnTo>
                    <a:pt x="427" y="82"/>
                  </a:lnTo>
                  <a:lnTo>
                    <a:pt x="427" y="82"/>
                  </a:lnTo>
                  <a:lnTo>
                    <a:pt x="428" y="82"/>
                  </a:lnTo>
                  <a:lnTo>
                    <a:pt x="428" y="82"/>
                  </a:lnTo>
                  <a:lnTo>
                    <a:pt x="428" y="83"/>
                  </a:lnTo>
                  <a:lnTo>
                    <a:pt x="430" y="83"/>
                  </a:lnTo>
                  <a:lnTo>
                    <a:pt x="430" y="83"/>
                  </a:lnTo>
                  <a:lnTo>
                    <a:pt x="431" y="85"/>
                  </a:lnTo>
                  <a:lnTo>
                    <a:pt x="431" y="85"/>
                  </a:lnTo>
                  <a:lnTo>
                    <a:pt x="433" y="85"/>
                  </a:lnTo>
                  <a:lnTo>
                    <a:pt x="433" y="86"/>
                  </a:lnTo>
                  <a:lnTo>
                    <a:pt x="433" y="86"/>
                  </a:lnTo>
                  <a:lnTo>
                    <a:pt x="434" y="86"/>
                  </a:lnTo>
                  <a:lnTo>
                    <a:pt x="434" y="86"/>
                  </a:lnTo>
                  <a:lnTo>
                    <a:pt x="434" y="88"/>
                  </a:lnTo>
                  <a:lnTo>
                    <a:pt x="436" y="88"/>
                  </a:lnTo>
                  <a:lnTo>
                    <a:pt x="436" y="88"/>
                  </a:lnTo>
                  <a:lnTo>
                    <a:pt x="436" y="88"/>
                  </a:lnTo>
                  <a:lnTo>
                    <a:pt x="436" y="89"/>
                  </a:lnTo>
                  <a:lnTo>
                    <a:pt x="437" y="89"/>
                  </a:lnTo>
                  <a:lnTo>
                    <a:pt x="437" y="89"/>
                  </a:lnTo>
                  <a:lnTo>
                    <a:pt x="437" y="89"/>
                  </a:lnTo>
                  <a:lnTo>
                    <a:pt x="439" y="91"/>
                  </a:lnTo>
                  <a:lnTo>
                    <a:pt x="439" y="91"/>
                  </a:lnTo>
                  <a:lnTo>
                    <a:pt x="439" y="91"/>
                  </a:lnTo>
                  <a:lnTo>
                    <a:pt x="440" y="92"/>
                  </a:lnTo>
                  <a:lnTo>
                    <a:pt x="440" y="92"/>
                  </a:lnTo>
                  <a:lnTo>
                    <a:pt x="440" y="92"/>
                  </a:lnTo>
                  <a:lnTo>
                    <a:pt x="442" y="94"/>
                  </a:lnTo>
                  <a:lnTo>
                    <a:pt x="442" y="94"/>
                  </a:lnTo>
                  <a:lnTo>
                    <a:pt x="443" y="94"/>
                  </a:lnTo>
                  <a:lnTo>
                    <a:pt x="443" y="95"/>
                  </a:lnTo>
                  <a:lnTo>
                    <a:pt x="443" y="95"/>
                  </a:lnTo>
                  <a:lnTo>
                    <a:pt x="445" y="97"/>
                  </a:lnTo>
                  <a:lnTo>
                    <a:pt x="446" y="97"/>
                  </a:lnTo>
                  <a:lnTo>
                    <a:pt x="446" y="98"/>
                  </a:lnTo>
                  <a:lnTo>
                    <a:pt x="446" y="98"/>
                  </a:lnTo>
                  <a:lnTo>
                    <a:pt x="448" y="100"/>
                  </a:lnTo>
                  <a:lnTo>
                    <a:pt x="448" y="100"/>
                  </a:lnTo>
                  <a:lnTo>
                    <a:pt x="449" y="101"/>
                  </a:lnTo>
                  <a:lnTo>
                    <a:pt x="449" y="101"/>
                  </a:lnTo>
                  <a:lnTo>
                    <a:pt x="451" y="103"/>
                  </a:lnTo>
                  <a:lnTo>
                    <a:pt x="451" y="103"/>
                  </a:lnTo>
                  <a:lnTo>
                    <a:pt x="451" y="104"/>
                  </a:lnTo>
                  <a:lnTo>
                    <a:pt x="452" y="104"/>
                  </a:lnTo>
                  <a:lnTo>
                    <a:pt x="452" y="105"/>
                  </a:lnTo>
                  <a:lnTo>
                    <a:pt x="454" y="105"/>
                  </a:lnTo>
                  <a:lnTo>
                    <a:pt x="454" y="105"/>
                  </a:lnTo>
                  <a:lnTo>
                    <a:pt x="454" y="107"/>
                  </a:lnTo>
                  <a:lnTo>
                    <a:pt x="455" y="107"/>
                  </a:lnTo>
                  <a:lnTo>
                    <a:pt x="455" y="107"/>
                  </a:lnTo>
                  <a:lnTo>
                    <a:pt x="455" y="108"/>
                  </a:lnTo>
                  <a:lnTo>
                    <a:pt x="455" y="108"/>
                  </a:lnTo>
                  <a:lnTo>
                    <a:pt x="456" y="110"/>
                  </a:lnTo>
                  <a:lnTo>
                    <a:pt x="456" y="110"/>
                  </a:lnTo>
                  <a:lnTo>
                    <a:pt x="456" y="110"/>
                  </a:lnTo>
                  <a:lnTo>
                    <a:pt x="458" y="111"/>
                  </a:lnTo>
                  <a:lnTo>
                    <a:pt x="458" y="111"/>
                  </a:lnTo>
                  <a:lnTo>
                    <a:pt x="459" y="113"/>
                  </a:lnTo>
                  <a:lnTo>
                    <a:pt x="459" y="113"/>
                  </a:lnTo>
                  <a:lnTo>
                    <a:pt x="459" y="114"/>
                  </a:lnTo>
                  <a:lnTo>
                    <a:pt x="461" y="114"/>
                  </a:lnTo>
                  <a:lnTo>
                    <a:pt x="461" y="116"/>
                  </a:lnTo>
                  <a:lnTo>
                    <a:pt x="462" y="116"/>
                  </a:lnTo>
                  <a:lnTo>
                    <a:pt x="462" y="117"/>
                  </a:lnTo>
                  <a:lnTo>
                    <a:pt x="464" y="119"/>
                  </a:lnTo>
                  <a:lnTo>
                    <a:pt x="465" y="119"/>
                  </a:lnTo>
                  <a:lnTo>
                    <a:pt x="465" y="120"/>
                  </a:lnTo>
                  <a:lnTo>
                    <a:pt x="467" y="122"/>
                  </a:lnTo>
                  <a:lnTo>
                    <a:pt x="467" y="122"/>
                  </a:lnTo>
                  <a:lnTo>
                    <a:pt x="468" y="123"/>
                  </a:lnTo>
                  <a:lnTo>
                    <a:pt x="468" y="123"/>
                  </a:lnTo>
                  <a:lnTo>
                    <a:pt x="470" y="125"/>
                  </a:lnTo>
                  <a:lnTo>
                    <a:pt x="470" y="126"/>
                  </a:lnTo>
                  <a:lnTo>
                    <a:pt x="471" y="128"/>
                  </a:lnTo>
                  <a:lnTo>
                    <a:pt x="471" y="128"/>
                  </a:lnTo>
                  <a:lnTo>
                    <a:pt x="473" y="129"/>
                  </a:lnTo>
                  <a:lnTo>
                    <a:pt x="473" y="129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76" y="134"/>
                  </a:lnTo>
                  <a:lnTo>
                    <a:pt x="477" y="134"/>
                  </a:lnTo>
                  <a:lnTo>
                    <a:pt x="477" y="135"/>
                  </a:lnTo>
                  <a:lnTo>
                    <a:pt x="477" y="135"/>
                  </a:lnTo>
                  <a:lnTo>
                    <a:pt x="479" y="137"/>
                  </a:lnTo>
                  <a:lnTo>
                    <a:pt x="479" y="137"/>
                  </a:lnTo>
                  <a:lnTo>
                    <a:pt x="479" y="137"/>
                  </a:lnTo>
                  <a:lnTo>
                    <a:pt x="480" y="138"/>
                  </a:lnTo>
                  <a:lnTo>
                    <a:pt x="480" y="138"/>
                  </a:lnTo>
                  <a:lnTo>
                    <a:pt x="482" y="140"/>
                  </a:lnTo>
                  <a:lnTo>
                    <a:pt x="482" y="141"/>
                  </a:lnTo>
                  <a:lnTo>
                    <a:pt x="482" y="141"/>
                  </a:lnTo>
                  <a:lnTo>
                    <a:pt x="483" y="143"/>
                  </a:lnTo>
                  <a:lnTo>
                    <a:pt x="483" y="143"/>
                  </a:lnTo>
                  <a:lnTo>
                    <a:pt x="485" y="144"/>
                  </a:lnTo>
                  <a:lnTo>
                    <a:pt x="485" y="145"/>
                  </a:lnTo>
                  <a:lnTo>
                    <a:pt x="486" y="147"/>
                  </a:lnTo>
                  <a:lnTo>
                    <a:pt x="488" y="147"/>
                  </a:lnTo>
                  <a:lnTo>
                    <a:pt x="488" y="148"/>
                  </a:lnTo>
                  <a:lnTo>
                    <a:pt x="489" y="150"/>
                  </a:lnTo>
                  <a:lnTo>
                    <a:pt x="489" y="150"/>
                  </a:lnTo>
                  <a:lnTo>
                    <a:pt x="491" y="151"/>
                  </a:lnTo>
                  <a:lnTo>
                    <a:pt x="491" y="153"/>
                  </a:lnTo>
                  <a:lnTo>
                    <a:pt x="492" y="154"/>
                  </a:lnTo>
                  <a:lnTo>
                    <a:pt x="492" y="156"/>
                  </a:lnTo>
                  <a:lnTo>
                    <a:pt x="493" y="157"/>
                  </a:lnTo>
                  <a:lnTo>
                    <a:pt x="493" y="157"/>
                  </a:lnTo>
                  <a:lnTo>
                    <a:pt x="495" y="159"/>
                  </a:lnTo>
                  <a:lnTo>
                    <a:pt x="495" y="160"/>
                  </a:lnTo>
                  <a:lnTo>
                    <a:pt x="496" y="160"/>
                  </a:lnTo>
                  <a:lnTo>
                    <a:pt x="496" y="162"/>
                  </a:lnTo>
                  <a:lnTo>
                    <a:pt x="498" y="162"/>
                  </a:lnTo>
                  <a:lnTo>
                    <a:pt x="498" y="163"/>
                  </a:lnTo>
                  <a:lnTo>
                    <a:pt x="498" y="163"/>
                  </a:lnTo>
                  <a:lnTo>
                    <a:pt x="499" y="165"/>
                  </a:lnTo>
                  <a:lnTo>
                    <a:pt x="499" y="165"/>
                  </a:lnTo>
                  <a:lnTo>
                    <a:pt x="499" y="166"/>
                  </a:lnTo>
                  <a:lnTo>
                    <a:pt x="501" y="166"/>
                  </a:lnTo>
                  <a:lnTo>
                    <a:pt x="501" y="168"/>
                  </a:lnTo>
                  <a:lnTo>
                    <a:pt x="501" y="168"/>
                  </a:lnTo>
                  <a:lnTo>
                    <a:pt x="502" y="169"/>
                  </a:lnTo>
                  <a:lnTo>
                    <a:pt x="502" y="171"/>
                  </a:lnTo>
                  <a:lnTo>
                    <a:pt x="504" y="171"/>
                  </a:lnTo>
                  <a:lnTo>
                    <a:pt x="504" y="172"/>
                  </a:lnTo>
                  <a:lnTo>
                    <a:pt x="505" y="172"/>
                  </a:lnTo>
                  <a:lnTo>
                    <a:pt x="505" y="174"/>
                  </a:lnTo>
                  <a:lnTo>
                    <a:pt x="507" y="175"/>
                  </a:lnTo>
                  <a:lnTo>
                    <a:pt x="507" y="175"/>
                  </a:lnTo>
                  <a:lnTo>
                    <a:pt x="508" y="177"/>
                  </a:lnTo>
                  <a:lnTo>
                    <a:pt x="508" y="178"/>
                  </a:lnTo>
                  <a:lnTo>
                    <a:pt x="510" y="180"/>
                  </a:lnTo>
                  <a:lnTo>
                    <a:pt x="511" y="181"/>
                  </a:lnTo>
                  <a:lnTo>
                    <a:pt x="511" y="182"/>
                  </a:lnTo>
                  <a:lnTo>
                    <a:pt x="511" y="182"/>
                  </a:lnTo>
                  <a:lnTo>
                    <a:pt x="513" y="184"/>
                  </a:lnTo>
                  <a:lnTo>
                    <a:pt x="514" y="185"/>
                  </a:lnTo>
                  <a:lnTo>
                    <a:pt x="514" y="187"/>
                  </a:lnTo>
                  <a:lnTo>
                    <a:pt x="516" y="187"/>
                  </a:lnTo>
                  <a:lnTo>
                    <a:pt x="516" y="188"/>
                  </a:lnTo>
                  <a:lnTo>
                    <a:pt x="517" y="190"/>
                  </a:lnTo>
                  <a:lnTo>
                    <a:pt x="517" y="191"/>
                  </a:lnTo>
                  <a:lnTo>
                    <a:pt x="519" y="191"/>
                  </a:lnTo>
                  <a:lnTo>
                    <a:pt x="519" y="193"/>
                  </a:lnTo>
                  <a:lnTo>
                    <a:pt x="520" y="193"/>
                  </a:lnTo>
                  <a:lnTo>
                    <a:pt x="520" y="194"/>
                  </a:lnTo>
                  <a:lnTo>
                    <a:pt x="520" y="194"/>
                  </a:lnTo>
                  <a:lnTo>
                    <a:pt x="522" y="196"/>
                  </a:lnTo>
                  <a:lnTo>
                    <a:pt x="522" y="196"/>
                  </a:lnTo>
                  <a:lnTo>
                    <a:pt x="522" y="197"/>
                  </a:lnTo>
                  <a:lnTo>
                    <a:pt x="523" y="197"/>
                  </a:lnTo>
                  <a:lnTo>
                    <a:pt x="523" y="199"/>
                  </a:lnTo>
                  <a:lnTo>
                    <a:pt x="523" y="199"/>
                  </a:lnTo>
                  <a:lnTo>
                    <a:pt x="525" y="200"/>
                  </a:lnTo>
                  <a:lnTo>
                    <a:pt x="525" y="200"/>
                  </a:lnTo>
                  <a:lnTo>
                    <a:pt x="525" y="202"/>
                  </a:lnTo>
                  <a:lnTo>
                    <a:pt x="526" y="202"/>
                  </a:lnTo>
                  <a:lnTo>
                    <a:pt x="526" y="203"/>
                  </a:lnTo>
                  <a:lnTo>
                    <a:pt x="526" y="203"/>
                  </a:lnTo>
                  <a:lnTo>
                    <a:pt x="528" y="205"/>
                  </a:lnTo>
                  <a:lnTo>
                    <a:pt x="528" y="205"/>
                  </a:lnTo>
                  <a:lnTo>
                    <a:pt x="528" y="206"/>
                  </a:lnTo>
                  <a:lnTo>
                    <a:pt x="529" y="208"/>
                  </a:lnTo>
                  <a:lnTo>
                    <a:pt x="529" y="208"/>
                  </a:lnTo>
                  <a:lnTo>
                    <a:pt x="531" y="209"/>
                  </a:lnTo>
                  <a:lnTo>
                    <a:pt x="531" y="211"/>
                  </a:lnTo>
                  <a:lnTo>
                    <a:pt x="531" y="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0" name="Freeform 455"/>
            <p:cNvSpPr>
              <a:spLocks/>
            </p:cNvSpPr>
            <p:nvPr/>
          </p:nvSpPr>
          <p:spPr bwMode="auto">
            <a:xfrm>
              <a:off x="2945" y="3344"/>
              <a:ext cx="177" cy="70"/>
            </a:xfrm>
            <a:custGeom>
              <a:avLst/>
              <a:gdLst>
                <a:gd name="T0" fmla="*/ 104 w 531"/>
                <a:gd name="T1" fmla="*/ 0 h 212"/>
                <a:gd name="T2" fmla="*/ 178 w 531"/>
                <a:gd name="T3" fmla="*/ 0 h 212"/>
                <a:gd name="T4" fmla="*/ 215 w 531"/>
                <a:gd name="T5" fmla="*/ 0 h 212"/>
                <a:gd name="T6" fmla="*/ 233 w 531"/>
                <a:gd name="T7" fmla="*/ 2 h 212"/>
                <a:gd name="T8" fmla="*/ 240 w 531"/>
                <a:gd name="T9" fmla="*/ 2 h 212"/>
                <a:gd name="T10" fmla="*/ 249 w 531"/>
                <a:gd name="T11" fmla="*/ 2 h 212"/>
                <a:gd name="T12" fmla="*/ 255 w 531"/>
                <a:gd name="T13" fmla="*/ 3 h 212"/>
                <a:gd name="T14" fmla="*/ 260 w 531"/>
                <a:gd name="T15" fmla="*/ 3 h 212"/>
                <a:gd name="T16" fmla="*/ 267 w 531"/>
                <a:gd name="T17" fmla="*/ 5 h 212"/>
                <a:gd name="T18" fmla="*/ 276 w 531"/>
                <a:gd name="T19" fmla="*/ 6 h 212"/>
                <a:gd name="T20" fmla="*/ 282 w 531"/>
                <a:gd name="T21" fmla="*/ 6 h 212"/>
                <a:gd name="T22" fmla="*/ 288 w 531"/>
                <a:gd name="T23" fmla="*/ 8 h 212"/>
                <a:gd name="T24" fmla="*/ 294 w 531"/>
                <a:gd name="T25" fmla="*/ 9 h 212"/>
                <a:gd name="T26" fmla="*/ 302 w 531"/>
                <a:gd name="T27" fmla="*/ 12 h 212"/>
                <a:gd name="T28" fmla="*/ 311 w 531"/>
                <a:gd name="T29" fmla="*/ 15 h 212"/>
                <a:gd name="T30" fmla="*/ 319 w 531"/>
                <a:gd name="T31" fmla="*/ 17 h 212"/>
                <a:gd name="T32" fmla="*/ 325 w 531"/>
                <a:gd name="T33" fmla="*/ 20 h 212"/>
                <a:gd name="T34" fmla="*/ 331 w 531"/>
                <a:gd name="T35" fmla="*/ 23 h 212"/>
                <a:gd name="T36" fmla="*/ 338 w 531"/>
                <a:gd name="T37" fmla="*/ 26 h 212"/>
                <a:gd name="T38" fmla="*/ 347 w 531"/>
                <a:gd name="T39" fmla="*/ 30 h 212"/>
                <a:gd name="T40" fmla="*/ 351 w 531"/>
                <a:gd name="T41" fmla="*/ 33 h 212"/>
                <a:gd name="T42" fmla="*/ 357 w 531"/>
                <a:gd name="T43" fmla="*/ 36 h 212"/>
                <a:gd name="T44" fmla="*/ 363 w 531"/>
                <a:gd name="T45" fmla="*/ 39 h 212"/>
                <a:gd name="T46" fmla="*/ 369 w 531"/>
                <a:gd name="T47" fmla="*/ 43 h 212"/>
                <a:gd name="T48" fmla="*/ 377 w 531"/>
                <a:gd name="T49" fmla="*/ 46 h 212"/>
                <a:gd name="T50" fmla="*/ 381 w 531"/>
                <a:gd name="T51" fmla="*/ 49 h 212"/>
                <a:gd name="T52" fmla="*/ 385 w 531"/>
                <a:gd name="T53" fmla="*/ 52 h 212"/>
                <a:gd name="T54" fmla="*/ 390 w 531"/>
                <a:gd name="T55" fmla="*/ 55 h 212"/>
                <a:gd name="T56" fmla="*/ 396 w 531"/>
                <a:gd name="T57" fmla="*/ 60 h 212"/>
                <a:gd name="T58" fmla="*/ 400 w 531"/>
                <a:gd name="T59" fmla="*/ 63 h 212"/>
                <a:gd name="T60" fmla="*/ 403 w 531"/>
                <a:gd name="T61" fmla="*/ 64 h 212"/>
                <a:gd name="T62" fmla="*/ 406 w 531"/>
                <a:gd name="T63" fmla="*/ 67 h 212"/>
                <a:gd name="T64" fmla="*/ 411 w 531"/>
                <a:gd name="T65" fmla="*/ 70 h 212"/>
                <a:gd name="T66" fmla="*/ 415 w 531"/>
                <a:gd name="T67" fmla="*/ 73 h 212"/>
                <a:gd name="T68" fmla="*/ 418 w 531"/>
                <a:gd name="T69" fmla="*/ 76 h 212"/>
                <a:gd name="T70" fmla="*/ 421 w 531"/>
                <a:gd name="T71" fmla="*/ 77 h 212"/>
                <a:gd name="T72" fmla="*/ 424 w 531"/>
                <a:gd name="T73" fmla="*/ 80 h 212"/>
                <a:gd name="T74" fmla="*/ 428 w 531"/>
                <a:gd name="T75" fmla="*/ 83 h 212"/>
                <a:gd name="T76" fmla="*/ 433 w 531"/>
                <a:gd name="T77" fmla="*/ 86 h 212"/>
                <a:gd name="T78" fmla="*/ 436 w 531"/>
                <a:gd name="T79" fmla="*/ 89 h 212"/>
                <a:gd name="T80" fmla="*/ 440 w 531"/>
                <a:gd name="T81" fmla="*/ 92 h 212"/>
                <a:gd name="T82" fmla="*/ 443 w 531"/>
                <a:gd name="T83" fmla="*/ 95 h 212"/>
                <a:gd name="T84" fmla="*/ 449 w 531"/>
                <a:gd name="T85" fmla="*/ 101 h 212"/>
                <a:gd name="T86" fmla="*/ 454 w 531"/>
                <a:gd name="T87" fmla="*/ 105 h 212"/>
                <a:gd name="T88" fmla="*/ 456 w 531"/>
                <a:gd name="T89" fmla="*/ 110 h 212"/>
                <a:gd name="T90" fmla="*/ 459 w 531"/>
                <a:gd name="T91" fmla="*/ 114 h 212"/>
                <a:gd name="T92" fmla="*/ 465 w 531"/>
                <a:gd name="T93" fmla="*/ 120 h 212"/>
                <a:gd name="T94" fmla="*/ 471 w 531"/>
                <a:gd name="T95" fmla="*/ 128 h 212"/>
                <a:gd name="T96" fmla="*/ 476 w 531"/>
                <a:gd name="T97" fmla="*/ 132 h 212"/>
                <a:gd name="T98" fmla="*/ 479 w 531"/>
                <a:gd name="T99" fmla="*/ 137 h 212"/>
                <a:gd name="T100" fmla="*/ 483 w 531"/>
                <a:gd name="T101" fmla="*/ 143 h 212"/>
                <a:gd name="T102" fmla="*/ 489 w 531"/>
                <a:gd name="T103" fmla="*/ 150 h 212"/>
                <a:gd name="T104" fmla="*/ 495 w 531"/>
                <a:gd name="T105" fmla="*/ 159 h 212"/>
                <a:gd name="T106" fmla="*/ 499 w 531"/>
                <a:gd name="T107" fmla="*/ 165 h 212"/>
                <a:gd name="T108" fmla="*/ 502 w 531"/>
                <a:gd name="T109" fmla="*/ 171 h 212"/>
                <a:gd name="T110" fmla="*/ 508 w 531"/>
                <a:gd name="T111" fmla="*/ 177 h 212"/>
                <a:gd name="T112" fmla="*/ 514 w 531"/>
                <a:gd name="T113" fmla="*/ 185 h 212"/>
                <a:gd name="T114" fmla="*/ 519 w 531"/>
                <a:gd name="T115" fmla="*/ 193 h 212"/>
                <a:gd name="T116" fmla="*/ 523 w 531"/>
                <a:gd name="T117" fmla="*/ 197 h 212"/>
                <a:gd name="T118" fmla="*/ 526 w 531"/>
                <a:gd name="T119" fmla="*/ 203 h 212"/>
                <a:gd name="T120" fmla="*/ 531 w 531"/>
                <a:gd name="T121" fmla="*/ 20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1" h="212">
                  <a:moveTo>
                    <a:pt x="0" y="0"/>
                  </a:moveTo>
                  <a:lnTo>
                    <a:pt x="21" y="0"/>
                  </a:lnTo>
                  <a:lnTo>
                    <a:pt x="39" y="0"/>
                  </a:lnTo>
                  <a:lnTo>
                    <a:pt x="57" y="0"/>
                  </a:lnTo>
                  <a:lnTo>
                    <a:pt x="74" y="0"/>
                  </a:lnTo>
                  <a:lnTo>
                    <a:pt x="89" y="0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1" y="0"/>
                  </a:lnTo>
                  <a:lnTo>
                    <a:pt x="151" y="0"/>
                  </a:lnTo>
                  <a:lnTo>
                    <a:pt x="162" y="0"/>
                  </a:lnTo>
                  <a:lnTo>
                    <a:pt x="169" y="0"/>
                  </a:lnTo>
                  <a:lnTo>
                    <a:pt x="178" y="0"/>
                  </a:lnTo>
                  <a:lnTo>
                    <a:pt x="185" y="0"/>
                  </a:lnTo>
                  <a:lnTo>
                    <a:pt x="191" y="0"/>
                  </a:lnTo>
                  <a:lnTo>
                    <a:pt x="197" y="0"/>
                  </a:lnTo>
                  <a:lnTo>
                    <a:pt x="203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5" y="0"/>
                  </a:lnTo>
                  <a:lnTo>
                    <a:pt x="220" y="0"/>
                  </a:lnTo>
                  <a:lnTo>
                    <a:pt x="223" y="0"/>
                  </a:lnTo>
                  <a:lnTo>
                    <a:pt x="224" y="0"/>
                  </a:lnTo>
                  <a:lnTo>
                    <a:pt x="227" y="0"/>
                  </a:lnTo>
                  <a:lnTo>
                    <a:pt x="228" y="0"/>
                  </a:lnTo>
                  <a:lnTo>
                    <a:pt x="230" y="2"/>
                  </a:lnTo>
                  <a:lnTo>
                    <a:pt x="233" y="2"/>
                  </a:lnTo>
                  <a:lnTo>
                    <a:pt x="234" y="2"/>
                  </a:lnTo>
                  <a:lnTo>
                    <a:pt x="236" y="2"/>
                  </a:lnTo>
                  <a:lnTo>
                    <a:pt x="237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39" y="2"/>
                  </a:lnTo>
                  <a:lnTo>
                    <a:pt x="240" y="2"/>
                  </a:lnTo>
                  <a:lnTo>
                    <a:pt x="242" y="2"/>
                  </a:lnTo>
                  <a:lnTo>
                    <a:pt x="243" y="2"/>
                  </a:lnTo>
                  <a:lnTo>
                    <a:pt x="245" y="2"/>
                  </a:lnTo>
                  <a:lnTo>
                    <a:pt x="246" y="2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249" y="2"/>
                  </a:lnTo>
                  <a:lnTo>
                    <a:pt x="251" y="2"/>
                  </a:lnTo>
                  <a:lnTo>
                    <a:pt x="251" y="2"/>
                  </a:lnTo>
                  <a:lnTo>
                    <a:pt x="252" y="3"/>
                  </a:lnTo>
                  <a:lnTo>
                    <a:pt x="252" y="3"/>
                  </a:lnTo>
                  <a:lnTo>
                    <a:pt x="254" y="3"/>
                  </a:lnTo>
                  <a:lnTo>
                    <a:pt x="254" y="3"/>
                  </a:lnTo>
                  <a:lnTo>
                    <a:pt x="255" y="3"/>
                  </a:lnTo>
                  <a:lnTo>
                    <a:pt x="255" y="3"/>
                  </a:lnTo>
                  <a:lnTo>
                    <a:pt x="257" y="3"/>
                  </a:lnTo>
                  <a:lnTo>
                    <a:pt x="257" y="3"/>
                  </a:lnTo>
                  <a:lnTo>
                    <a:pt x="258" y="3"/>
                  </a:lnTo>
                  <a:lnTo>
                    <a:pt x="258" y="3"/>
                  </a:lnTo>
                  <a:lnTo>
                    <a:pt x="260" y="3"/>
                  </a:lnTo>
                  <a:lnTo>
                    <a:pt x="260" y="3"/>
                  </a:lnTo>
                  <a:lnTo>
                    <a:pt x="261" y="3"/>
                  </a:lnTo>
                  <a:lnTo>
                    <a:pt x="262" y="3"/>
                  </a:lnTo>
                  <a:lnTo>
                    <a:pt x="262" y="3"/>
                  </a:lnTo>
                  <a:lnTo>
                    <a:pt x="264" y="3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7" y="5"/>
                  </a:lnTo>
                  <a:lnTo>
                    <a:pt x="268" y="5"/>
                  </a:lnTo>
                  <a:lnTo>
                    <a:pt x="270" y="5"/>
                  </a:lnTo>
                  <a:lnTo>
                    <a:pt x="271" y="5"/>
                  </a:lnTo>
                  <a:lnTo>
                    <a:pt x="271" y="5"/>
                  </a:lnTo>
                  <a:lnTo>
                    <a:pt x="273" y="5"/>
                  </a:lnTo>
                  <a:lnTo>
                    <a:pt x="274" y="5"/>
                  </a:lnTo>
                  <a:lnTo>
                    <a:pt x="276" y="6"/>
                  </a:lnTo>
                  <a:lnTo>
                    <a:pt x="276" y="6"/>
                  </a:lnTo>
                  <a:lnTo>
                    <a:pt x="277" y="6"/>
                  </a:lnTo>
                  <a:lnTo>
                    <a:pt x="279" y="6"/>
                  </a:lnTo>
                  <a:lnTo>
                    <a:pt x="280" y="6"/>
                  </a:lnTo>
                  <a:lnTo>
                    <a:pt x="280" y="6"/>
                  </a:lnTo>
                  <a:lnTo>
                    <a:pt x="282" y="6"/>
                  </a:lnTo>
                  <a:lnTo>
                    <a:pt x="282" y="6"/>
                  </a:lnTo>
                  <a:lnTo>
                    <a:pt x="283" y="6"/>
                  </a:lnTo>
                  <a:lnTo>
                    <a:pt x="285" y="6"/>
                  </a:lnTo>
                  <a:lnTo>
                    <a:pt x="285" y="8"/>
                  </a:lnTo>
                  <a:lnTo>
                    <a:pt x="286" y="8"/>
                  </a:lnTo>
                  <a:lnTo>
                    <a:pt x="286" y="8"/>
                  </a:lnTo>
                  <a:lnTo>
                    <a:pt x="288" y="8"/>
                  </a:lnTo>
                  <a:lnTo>
                    <a:pt x="288" y="8"/>
                  </a:lnTo>
                  <a:lnTo>
                    <a:pt x="289" y="8"/>
                  </a:lnTo>
                  <a:lnTo>
                    <a:pt x="289" y="8"/>
                  </a:lnTo>
                  <a:lnTo>
                    <a:pt x="291" y="8"/>
                  </a:lnTo>
                  <a:lnTo>
                    <a:pt x="291" y="9"/>
                  </a:lnTo>
                  <a:lnTo>
                    <a:pt x="292" y="9"/>
                  </a:lnTo>
                  <a:lnTo>
                    <a:pt x="294" y="9"/>
                  </a:lnTo>
                  <a:lnTo>
                    <a:pt x="294" y="9"/>
                  </a:lnTo>
                  <a:lnTo>
                    <a:pt x="295" y="9"/>
                  </a:lnTo>
                  <a:lnTo>
                    <a:pt x="297" y="11"/>
                  </a:lnTo>
                  <a:lnTo>
                    <a:pt x="298" y="11"/>
                  </a:lnTo>
                  <a:lnTo>
                    <a:pt x="298" y="11"/>
                  </a:lnTo>
                  <a:lnTo>
                    <a:pt x="300" y="11"/>
                  </a:lnTo>
                  <a:lnTo>
                    <a:pt x="301" y="12"/>
                  </a:lnTo>
                  <a:lnTo>
                    <a:pt x="302" y="12"/>
                  </a:lnTo>
                  <a:lnTo>
                    <a:pt x="304" y="12"/>
                  </a:lnTo>
                  <a:lnTo>
                    <a:pt x="304" y="12"/>
                  </a:lnTo>
                  <a:lnTo>
                    <a:pt x="305" y="14"/>
                  </a:lnTo>
                  <a:lnTo>
                    <a:pt x="307" y="14"/>
                  </a:lnTo>
                  <a:lnTo>
                    <a:pt x="308" y="14"/>
                  </a:lnTo>
                  <a:lnTo>
                    <a:pt x="310" y="15"/>
                  </a:lnTo>
                  <a:lnTo>
                    <a:pt x="311" y="15"/>
                  </a:lnTo>
                  <a:lnTo>
                    <a:pt x="313" y="15"/>
                  </a:lnTo>
                  <a:lnTo>
                    <a:pt x="314" y="15"/>
                  </a:lnTo>
                  <a:lnTo>
                    <a:pt x="314" y="17"/>
                  </a:lnTo>
                  <a:lnTo>
                    <a:pt x="316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9" y="17"/>
                  </a:lnTo>
                  <a:lnTo>
                    <a:pt x="319" y="18"/>
                  </a:lnTo>
                  <a:lnTo>
                    <a:pt x="320" y="18"/>
                  </a:lnTo>
                  <a:lnTo>
                    <a:pt x="322" y="18"/>
                  </a:lnTo>
                  <a:lnTo>
                    <a:pt x="322" y="18"/>
                  </a:lnTo>
                  <a:lnTo>
                    <a:pt x="323" y="20"/>
                  </a:lnTo>
                  <a:lnTo>
                    <a:pt x="323" y="20"/>
                  </a:lnTo>
                  <a:lnTo>
                    <a:pt x="325" y="20"/>
                  </a:lnTo>
                  <a:lnTo>
                    <a:pt x="325" y="20"/>
                  </a:lnTo>
                  <a:lnTo>
                    <a:pt x="326" y="20"/>
                  </a:lnTo>
                  <a:lnTo>
                    <a:pt x="326" y="21"/>
                  </a:lnTo>
                  <a:lnTo>
                    <a:pt x="328" y="21"/>
                  </a:lnTo>
                  <a:lnTo>
                    <a:pt x="329" y="21"/>
                  </a:lnTo>
                  <a:lnTo>
                    <a:pt x="329" y="23"/>
                  </a:lnTo>
                  <a:lnTo>
                    <a:pt x="331" y="23"/>
                  </a:lnTo>
                  <a:lnTo>
                    <a:pt x="332" y="23"/>
                  </a:lnTo>
                  <a:lnTo>
                    <a:pt x="332" y="24"/>
                  </a:lnTo>
                  <a:lnTo>
                    <a:pt x="334" y="24"/>
                  </a:lnTo>
                  <a:lnTo>
                    <a:pt x="335" y="26"/>
                  </a:lnTo>
                  <a:lnTo>
                    <a:pt x="337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9" y="27"/>
                  </a:lnTo>
                  <a:lnTo>
                    <a:pt x="341" y="27"/>
                  </a:lnTo>
                  <a:lnTo>
                    <a:pt x="342" y="29"/>
                  </a:lnTo>
                  <a:lnTo>
                    <a:pt x="342" y="29"/>
                  </a:lnTo>
                  <a:lnTo>
                    <a:pt x="344" y="30"/>
                  </a:lnTo>
                  <a:lnTo>
                    <a:pt x="345" y="30"/>
                  </a:lnTo>
                  <a:lnTo>
                    <a:pt x="347" y="30"/>
                  </a:lnTo>
                  <a:lnTo>
                    <a:pt x="347" y="31"/>
                  </a:lnTo>
                  <a:lnTo>
                    <a:pt x="348" y="31"/>
                  </a:lnTo>
                  <a:lnTo>
                    <a:pt x="348" y="31"/>
                  </a:lnTo>
                  <a:lnTo>
                    <a:pt x="350" y="31"/>
                  </a:lnTo>
                  <a:lnTo>
                    <a:pt x="350" y="33"/>
                  </a:lnTo>
                  <a:lnTo>
                    <a:pt x="351" y="33"/>
                  </a:lnTo>
                  <a:lnTo>
                    <a:pt x="351" y="33"/>
                  </a:lnTo>
                  <a:lnTo>
                    <a:pt x="353" y="33"/>
                  </a:lnTo>
                  <a:lnTo>
                    <a:pt x="353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6" y="34"/>
                  </a:lnTo>
                  <a:lnTo>
                    <a:pt x="356" y="36"/>
                  </a:lnTo>
                  <a:lnTo>
                    <a:pt x="357" y="36"/>
                  </a:lnTo>
                  <a:lnTo>
                    <a:pt x="357" y="36"/>
                  </a:lnTo>
                  <a:lnTo>
                    <a:pt x="359" y="37"/>
                  </a:lnTo>
                  <a:lnTo>
                    <a:pt x="359" y="37"/>
                  </a:lnTo>
                  <a:lnTo>
                    <a:pt x="360" y="37"/>
                  </a:lnTo>
                  <a:lnTo>
                    <a:pt x="360" y="37"/>
                  </a:lnTo>
                  <a:lnTo>
                    <a:pt x="362" y="39"/>
                  </a:lnTo>
                  <a:lnTo>
                    <a:pt x="363" y="39"/>
                  </a:lnTo>
                  <a:lnTo>
                    <a:pt x="363" y="40"/>
                  </a:lnTo>
                  <a:lnTo>
                    <a:pt x="365" y="40"/>
                  </a:lnTo>
                  <a:lnTo>
                    <a:pt x="366" y="40"/>
                  </a:lnTo>
                  <a:lnTo>
                    <a:pt x="368" y="42"/>
                  </a:lnTo>
                  <a:lnTo>
                    <a:pt x="368" y="42"/>
                  </a:lnTo>
                  <a:lnTo>
                    <a:pt x="369" y="42"/>
                  </a:lnTo>
                  <a:lnTo>
                    <a:pt x="369" y="43"/>
                  </a:lnTo>
                  <a:lnTo>
                    <a:pt x="371" y="43"/>
                  </a:lnTo>
                  <a:lnTo>
                    <a:pt x="372" y="45"/>
                  </a:lnTo>
                  <a:lnTo>
                    <a:pt x="372" y="45"/>
                  </a:lnTo>
                  <a:lnTo>
                    <a:pt x="374" y="45"/>
                  </a:lnTo>
                  <a:lnTo>
                    <a:pt x="375" y="46"/>
                  </a:lnTo>
                  <a:lnTo>
                    <a:pt x="375" y="46"/>
                  </a:lnTo>
                  <a:lnTo>
                    <a:pt x="377" y="46"/>
                  </a:lnTo>
                  <a:lnTo>
                    <a:pt x="377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9" y="48"/>
                  </a:lnTo>
                  <a:lnTo>
                    <a:pt x="379" y="49"/>
                  </a:lnTo>
                  <a:lnTo>
                    <a:pt x="379" y="49"/>
                  </a:lnTo>
                  <a:lnTo>
                    <a:pt x="381" y="49"/>
                  </a:lnTo>
                  <a:lnTo>
                    <a:pt x="381" y="49"/>
                  </a:lnTo>
                  <a:lnTo>
                    <a:pt x="382" y="51"/>
                  </a:lnTo>
                  <a:lnTo>
                    <a:pt x="382" y="51"/>
                  </a:lnTo>
                  <a:lnTo>
                    <a:pt x="382" y="51"/>
                  </a:lnTo>
                  <a:lnTo>
                    <a:pt x="384" y="51"/>
                  </a:lnTo>
                  <a:lnTo>
                    <a:pt x="384" y="52"/>
                  </a:lnTo>
                  <a:lnTo>
                    <a:pt x="385" y="52"/>
                  </a:lnTo>
                  <a:lnTo>
                    <a:pt x="385" y="52"/>
                  </a:lnTo>
                  <a:lnTo>
                    <a:pt x="387" y="52"/>
                  </a:lnTo>
                  <a:lnTo>
                    <a:pt x="387" y="54"/>
                  </a:lnTo>
                  <a:lnTo>
                    <a:pt x="388" y="54"/>
                  </a:lnTo>
                  <a:lnTo>
                    <a:pt x="388" y="54"/>
                  </a:lnTo>
                  <a:lnTo>
                    <a:pt x="390" y="55"/>
                  </a:lnTo>
                  <a:lnTo>
                    <a:pt x="390" y="55"/>
                  </a:lnTo>
                  <a:lnTo>
                    <a:pt x="391" y="57"/>
                  </a:lnTo>
                  <a:lnTo>
                    <a:pt x="393" y="57"/>
                  </a:lnTo>
                  <a:lnTo>
                    <a:pt x="393" y="57"/>
                  </a:lnTo>
                  <a:lnTo>
                    <a:pt x="393" y="58"/>
                  </a:lnTo>
                  <a:lnTo>
                    <a:pt x="394" y="58"/>
                  </a:lnTo>
                  <a:lnTo>
                    <a:pt x="396" y="58"/>
                  </a:lnTo>
                  <a:lnTo>
                    <a:pt x="396" y="60"/>
                  </a:lnTo>
                  <a:lnTo>
                    <a:pt x="397" y="60"/>
                  </a:lnTo>
                  <a:lnTo>
                    <a:pt x="397" y="60"/>
                  </a:lnTo>
                  <a:lnTo>
                    <a:pt x="399" y="61"/>
                  </a:lnTo>
                  <a:lnTo>
                    <a:pt x="399" y="61"/>
                  </a:lnTo>
                  <a:lnTo>
                    <a:pt x="399" y="61"/>
                  </a:lnTo>
                  <a:lnTo>
                    <a:pt x="400" y="61"/>
                  </a:lnTo>
                  <a:lnTo>
                    <a:pt x="400" y="63"/>
                  </a:lnTo>
                  <a:lnTo>
                    <a:pt x="402" y="63"/>
                  </a:lnTo>
                  <a:lnTo>
                    <a:pt x="402" y="63"/>
                  </a:lnTo>
                  <a:lnTo>
                    <a:pt x="402" y="63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3" y="64"/>
                  </a:lnTo>
                  <a:lnTo>
                    <a:pt x="405" y="64"/>
                  </a:lnTo>
                  <a:lnTo>
                    <a:pt x="405" y="66"/>
                  </a:lnTo>
                  <a:lnTo>
                    <a:pt x="405" y="66"/>
                  </a:lnTo>
                  <a:lnTo>
                    <a:pt x="406" y="66"/>
                  </a:lnTo>
                  <a:lnTo>
                    <a:pt x="406" y="66"/>
                  </a:lnTo>
                  <a:lnTo>
                    <a:pt x="406" y="67"/>
                  </a:lnTo>
                  <a:lnTo>
                    <a:pt x="406" y="67"/>
                  </a:lnTo>
                  <a:lnTo>
                    <a:pt x="408" y="67"/>
                  </a:lnTo>
                  <a:lnTo>
                    <a:pt x="408" y="67"/>
                  </a:lnTo>
                  <a:lnTo>
                    <a:pt x="409" y="68"/>
                  </a:lnTo>
                  <a:lnTo>
                    <a:pt x="409" y="68"/>
                  </a:lnTo>
                  <a:lnTo>
                    <a:pt x="409" y="68"/>
                  </a:lnTo>
                  <a:lnTo>
                    <a:pt x="411" y="70"/>
                  </a:lnTo>
                  <a:lnTo>
                    <a:pt x="411" y="70"/>
                  </a:lnTo>
                  <a:lnTo>
                    <a:pt x="411" y="70"/>
                  </a:lnTo>
                  <a:lnTo>
                    <a:pt x="412" y="70"/>
                  </a:lnTo>
                  <a:lnTo>
                    <a:pt x="412" y="71"/>
                  </a:lnTo>
                  <a:lnTo>
                    <a:pt x="414" y="71"/>
                  </a:lnTo>
                  <a:lnTo>
                    <a:pt x="414" y="71"/>
                  </a:lnTo>
                  <a:lnTo>
                    <a:pt x="414" y="73"/>
                  </a:lnTo>
                  <a:lnTo>
                    <a:pt x="415" y="73"/>
                  </a:lnTo>
                  <a:lnTo>
                    <a:pt x="415" y="73"/>
                  </a:lnTo>
                  <a:lnTo>
                    <a:pt x="416" y="73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6" y="74"/>
                  </a:lnTo>
                  <a:lnTo>
                    <a:pt x="418" y="74"/>
                  </a:lnTo>
                  <a:lnTo>
                    <a:pt x="418" y="76"/>
                  </a:lnTo>
                  <a:lnTo>
                    <a:pt x="418" y="76"/>
                  </a:lnTo>
                  <a:lnTo>
                    <a:pt x="419" y="76"/>
                  </a:lnTo>
                  <a:lnTo>
                    <a:pt x="419" y="76"/>
                  </a:lnTo>
                  <a:lnTo>
                    <a:pt x="419" y="76"/>
                  </a:lnTo>
                  <a:lnTo>
                    <a:pt x="419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1" y="77"/>
                  </a:lnTo>
                  <a:lnTo>
                    <a:pt x="422" y="79"/>
                  </a:lnTo>
                  <a:lnTo>
                    <a:pt x="422" y="79"/>
                  </a:lnTo>
                  <a:lnTo>
                    <a:pt x="422" y="79"/>
                  </a:lnTo>
                  <a:lnTo>
                    <a:pt x="424" y="79"/>
                  </a:lnTo>
                  <a:lnTo>
                    <a:pt x="424" y="80"/>
                  </a:lnTo>
                  <a:lnTo>
                    <a:pt x="425" y="80"/>
                  </a:lnTo>
                  <a:lnTo>
                    <a:pt x="425" y="80"/>
                  </a:lnTo>
                  <a:lnTo>
                    <a:pt x="427" y="82"/>
                  </a:lnTo>
                  <a:lnTo>
                    <a:pt x="427" y="82"/>
                  </a:lnTo>
                  <a:lnTo>
                    <a:pt x="428" y="82"/>
                  </a:lnTo>
                  <a:lnTo>
                    <a:pt x="428" y="82"/>
                  </a:lnTo>
                  <a:lnTo>
                    <a:pt x="428" y="83"/>
                  </a:lnTo>
                  <a:lnTo>
                    <a:pt x="430" y="83"/>
                  </a:lnTo>
                  <a:lnTo>
                    <a:pt x="430" y="83"/>
                  </a:lnTo>
                  <a:lnTo>
                    <a:pt x="431" y="85"/>
                  </a:lnTo>
                  <a:lnTo>
                    <a:pt x="431" y="85"/>
                  </a:lnTo>
                  <a:lnTo>
                    <a:pt x="433" y="85"/>
                  </a:lnTo>
                  <a:lnTo>
                    <a:pt x="433" y="86"/>
                  </a:lnTo>
                  <a:lnTo>
                    <a:pt x="433" y="86"/>
                  </a:lnTo>
                  <a:lnTo>
                    <a:pt x="434" y="86"/>
                  </a:lnTo>
                  <a:lnTo>
                    <a:pt x="434" y="86"/>
                  </a:lnTo>
                  <a:lnTo>
                    <a:pt x="434" y="88"/>
                  </a:lnTo>
                  <a:lnTo>
                    <a:pt x="436" y="88"/>
                  </a:lnTo>
                  <a:lnTo>
                    <a:pt x="436" y="88"/>
                  </a:lnTo>
                  <a:lnTo>
                    <a:pt x="436" y="88"/>
                  </a:lnTo>
                  <a:lnTo>
                    <a:pt x="436" y="89"/>
                  </a:lnTo>
                  <a:lnTo>
                    <a:pt x="437" y="89"/>
                  </a:lnTo>
                  <a:lnTo>
                    <a:pt x="437" y="89"/>
                  </a:lnTo>
                  <a:lnTo>
                    <a:pt x="437" y="89"/>
                  </a:lnTo>
                  <a:lnTo>
                    <a:pt x="439" y="91"/>
                  </a:lnTo>
                  <a:lnTo>
                    <a:pt x="439" y="91"/>
                  </a:lnTo>
                  <a:lnTo>
                    <a:pt x="439" y="91"/>
                  </a:lnTo>
                  <a:lnTo>
                    <a:pt x="440" y="92"/>
                  </a:lnTo>
                  <a:lnTo>
                    <a:pt x="440" y="92"/>
                  </a:lnTo>
                  <a:lnTo>
                    <a:pt x="440" y="92"/>
                  </a:lnTo>
                  <a:lnTo>
                    <a:pt x="442" y="94"/>
                  </a:lnTo>
                  <a:lnTo>
                    <a:pt x="442" y="94"/>
                  </a:lnTo>
                  <a:lnTo>
                    <a:pt x="443" y="94"/>
                  </a:lnTo>
                  <a:lnTo>
                    <a:pt x="443" y="95"/>
                  </a:lnTo>
                  <a:lnTo>
                    <a:pt x="443" y="95"/>
                  </a:lnTo>
                  <a:lnTo>
                    <a:pt x="445" y="97"/>
                  </a:lnTo>
                  <a:lnTo>
                    <a:pt x="446" y="97"/>
                  </a:lnTo>
                  <a:lnTo>
                    <a:pt x="446" y="98"/>
                  </a:lnTo>
                  <a:lnTo>
                    <a:pt x="446" y="98"/>
                  </a:lnTo>
                  <a:lnTo>
                    <a:pt x="448" y="100"/>
                  </a:lnTo>
                  <a:lnTo>
                    <a:pt x="448" y="100"/>
                  </a:lnTo>
                  <a:lnTo>
                    <a:pt x="449" y="101"/>
                  </a:lnTo>
                  <a:lnTo>
                    <a:pt x="449" y="101"/>
                  </a:lnTo>
                  <a:lnTo>
                    <a:pt x="451" y="103"/>
                  </a:lnTo>
                  <a:lnTo>
                    <a:pt x="451" y="103"/>
                  </a:lnTo>
                  <a:lnTo>
                    <a:pt x="451" y="104"/>
                  </a:lnTo>
                  <a:lnTo>
                    <a:pt x="452" y="104"/>
                  </a:lnTo>
                  <a:lnTo>
                    <a:pt x="452" y="105"/>
                  </a:lnTo>
                  <a:lnTo>
                    <a:pt x="454" y="105"/>
                  </a:lnTo>
                  <a:lnTo>
                    <a:pt x="454" y="105"/>
                  </a:lnTo>
                  <a:lnTo>
                    <a:pt x="454" y="107"/>
                  </a:lnTo>
                  <a:lnTo>
                    <a:pt x="455" y="107"/>
                  </a:lnTo>
                  <a:lnTo>
                    <a:pt x="455" y="107"/>
                  </a:lnTo>
                  <a:lnTo>
                    <a:pt x="455" y="108"/>
                  </a:lnTo>
                  <a:lnTo>
                    <a:pt x="455" y="108"/>
                  </a:lnTo>
                  <a:lnTo>
                    <a:pt x="456" y="110"/>
                  </a:lnTo>
                  <a:lnTo>
                    <a:pt x="456" y="110"/>
                  </a:lnTo>
                  <a:lnTo>
                    <a:pt x="456" y="110"/>
                  </a:lnTo>
                  <a:lnTo>
                    <a:pt x="458" y="111"/>
                  </a:lnTo>
                  <a:lnTo>
                    <a:pt x="458" y="111"/>
                  </a:lnTo>
                  <a:lnTo>
                    <a:pt x="459" y="113"/>
                  </a:lnTo>
                  <a:lnTo>
                    <a:pt x="459" y="113"/>
                  </a:lnTo>
                  <a:lnTo>
                    <a:pt x="459" y="114"/>
                  </a:lnTo>
                  <a:lnTo>
                    <a:pt x="461" y="114"/>
                  </a:lnTo>
                  <a:lnTo>
                    <a:pt x="461" y="116"/>
                  </a:lnTo>
                  <a:lnTo>
                    <a:pt x="462" y="116"/>
                  </a:lnTo>
                  <a:lnTo>
                    <a:pt x="462" y="117"/>
                  </a:lnTo>
                  <a:lnTo>
                    <a:pt x="464" y="119"/>
                  </a:lnTo>
                  <a:lnTo>
                    <a:pt x="465" y="119"/>
                  </a:lnTo>
                  <a:lnTo>
                    <a:pt x="465" y="120"/>
                  </a:lnTo>
                  <a:lnTo>
                    <a:pt x="467" y="122"/>
                  </a:lnTo>
                  <a:lnTo>
                    <a:pt x="467" y="122"/>
                  </a:lnTo>
                  <a:lnTo>
                    <a:pt x="468" y="123"/>
                  </a:lnTo>
                  <a:lnTo>
                    <a:pt x="468" y="123"/>
                  </a:lnTo>
                  <a:lnTo>
                    <a:pt x="470" y="125"/>
                  </a:lnTo>
                  <a:lnTo>
                    <a:pt x="470" y="126"/>
                  </a:lnTo>
                  <a:lnTo>
                    <a:pt x="471" y="128"/>
                  </a:lnTo>
                  <a:lnTo>
                    <a:pt x="471" y="128"/>
                  </a:lnTo>
                  <a:lnTo>
                    <a:pt x="473" y="129"/>
                  </a:lnTo>
                  <a:lnTo>
                    <a:pt x="473" y="129"/>
                  </a:lnTo>
                  <a:lnTo>
                    <a:pt x="474" y="131"/>
                  </a:lnTo>
                  <a:lnTo>
                    <a:pt x="474" y="131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76" y="134"/>
                  </a:lnTo>
                  <a:lnTo>
                    <a:pt x="477" y="134"/>
                  </a:lnTo>
                  <a:lnTo>
                    <a:pt x="477" y="135"/>
                  </a:lnTo>
                  <a:lnTo>
                    <a:pt x="477" y="135"/>
                  </a:lnTo>
                  <a:lnTo>
                    <a:pt x="479" y="137"/>
                  </a:lnTo>
                  <a:lnTo>
                    <a:pt x="479" y="137"/>
                  </a:lnTo>
                  <a:lnTo>
                    <a:pt x="479" y="137"/>
                  </a:lnTo>
                  <a:lnTo>
                    <a:pt x="480" y="138"/>
                  </a:lnTo>
                  <a:lnTo>
                    <a:pt x="480" y="138"/>
                  </a:lnTo>
                  <a:lnTo>
                    <a:pt x="482" y="140"/>
                  </a:lnTo>
                  <a:lnTo>
                    <a:pt x="482" y="141"/>
                  </a:lnTo>
                  <a:lnTo>
                    <a:pt x="482" y="141"/>
                  </a:lnTo>
                  <a:lnTo>
                    <a:pt x="483" y="143"/>
                  </a:lnTo>
                  <a:lnTo>
                    <a:pt x="483" y="143"/>
                  </a:lnTo>
                  <a:lnTo>
                    <a:pt x="485" y="144"/>
                  </a:lnTo>
                  <a:lnTo>
                    <a:pt x="485" y="145"/>
                  </a:lnTo>
                  <a:lnTo>
                    <a:pt x="486" y="147"/>
                  </a:lnTo>
                  <a:lnTo>
                    <a:pt x="488" y="147"/>
                  </a:lnTo>
                  <a:lnTo>
                    <a:pt x="488" y="148"/>
                  </a:lnTo>
                  <a:lnTo>
                    <a:pt x="489" y="150"/>
                  </a:lnTo>
                  <a:lnTo>
                    <a:pt x="489" y="150"/>
                  </a:lnTo>
                  <a:lnTo>
                    <a:pt x="491" y="151"/>
                  </a:lnTo>
                  <a:lnTo>
                    <a:pt x="491" y="153"/>
                  </a:lnTo>
                  <a:lnTo>
                    <a:pt x="492" y="154"/>
                  </a:lnTo>
                  <a:lnTo>
                    <a:pt x="492" y="156"/>
                  </a:lnTo>
                  <a:lnTo>
                    <a:pt x="493" y="157"/>
                  </a:lnTo>
                  <a:lnTo>
                    <a:pt x="493" y="157"/>
                  </a:lnTo>
                  <a:lnTo>
                    <a:pt x="495" y="159"/>
                  </a:lnTo>
                  <a:lnTo>
                    <a:pt x="495" y="160"/>
                  </a:lnTo>
                  <a:lnTo>
                    <a:pt x="496" y="160"/>
                  </a:lnTo>
                  <a:lnTo>
                    <a:pt x="496" y="162"/>
                  </a:lnTo>
                  <a:lnTo>
                    <a:pt x="498" y="162"/>
                  </a:lnTo>
                  <a:lnTo>
                    <a:pt x="498" y="163"/>
                  </a:lnTo>
                  <a:lnTo>
                    <a:pt x="498" y="163"/>
                  </a:lnTo>
                  <a:lnTo>
                    <a:pt x="499" y="165"/>
                  </a:lnTo>
                  <a:lnTo>
                    <a:pt x="499" y="165"/>
                  </a:lnTo>
                  <a:lnTo>
                    <a:pt x="499" y="166"/>
                  </a:lnTo>
                  <a:lnTo>
                    <a:pt x="501" y="166"/>
                  </a:lnTo>
                  <a:lnTo>
                    <a:pt x="501" y="168"/>
                  </a:lnTo>
                  <a:lnTo>
                    <a:pt x="501" y="168"/>
                  </a:lnTo>
                  <a:lnTo>
                    <a:pt x="502" y="169"/>
                  </a:lnTo>
                  <a:lnTo>
                    <a:pt x="502" y="171"/>
                  </a:lnTo>
                  <a:lnTo>
                    <a:pt x="504" y="171"/>
                  </a:lnTo>
                  <a:lnTo>
                    <a:pt x="504" y="172"/>
                  </a:lnTo>
                  <a:lnTo>
                    <a:pt x="505" y="172"/>
                  </a:lnTo>
                  <a:lnTo>
                    <a:pt x="505" y="174"/>
                  </a:lnTo>
                  <a:lnTo>
                    <a:pt x="507" y="175"/>
                  </a:lnTo>
                  <a:lnTo>
                    <a:pt x="507" y="175"/>
                  </a:lnTo>
                  <a:lnTo>
                    <a:pt x="508" y="177"/>
                  </a:lnTo>
                  <a:lnTo>
                    <a:pt x="508" y="178"/>
                  </a:lnTo>
                  <a:lnTo>
                    <a:pt x="510" y="180"/>
                  </a:lnTo>
                  <a:lnTo>
                    <a:pt x="511" y="181"/>
                  </a:lnTo>
                  <a:lnTo>
                    <a:pt x="511" y="182"/>
                  </a:lnTo>
                  <a:lnTo>
                    <a:pt x="511" y="182"/>
                  </a:lnTo>
                  <a:lnTo>
                    <a:pt x="513" y="184"/>
                  </a:lnTo>
                  <a:lnTo>
                    <a:pt x="514" y="185"/>
                  </a:lnTo>
                  <a:lnTo>
                    <a:pt x="514" y="187"/>
                  </a:lnTo>
                  <a:lnTo>
                    <a:pt x="516" y="187"/>
                  </a:lnTo>
                  <a:lnTo>
                    <a:pt x="516" y="188"/>
                  </a:lnTo>
                  <a:lnTo>
                    <a:pt x="517" y="190"/>
                  </a:lnTo>
                  <a:lnTo>
                    <a:pt x="517" y="191"/>
                  </a:lnTo>
                  <a:lnTo>
                    <a:pt x="519" y="191"/>
                  </a:lnTo>
                  <a:lnTo>
                    <a:pt x="519" y="193"/>
                  </a:lnTo>
                  <a:lnTo>
                    <a:pt x="520" y="193"/>
                  </a:lnTo>
                  <a:lnTo>
                    <a:pt x="520" y="194"/>
                  </a:lnTo>
                  <a:lnTo>
                    <a:pt x="520" y="194"/>
                  </a:lnTo>
                  <a:lnTo>
                    <a:pt x="522" y="196"/>
                  </a:lnTo>
                  <a:lnTo>
                    <a:pt x="522" y="196"/>
                  </a:lnTo>
                  <a:lnTo>
                    <a:pt x="522" y="197"/>
                  </a:lnTo>
                  <a:lnTo>
                    <a:pt x="523" y="197"/>
                  </a:lnTo>
                  <a:lnTo>
                    <a:pt x="523" y="199"/>
                  </a:lnTo>
                  <a:lnTo>
                    <a:pt x="523" y="199"/>
                  </a:lnTo>
                  <a:lnTo>
                    <a:pt x="525" y="200"/>
                  </a:lnTo>
                  <a:lnTo>
                    <a:pt x="525" y="200"/>
                  </a:lnTo>
                  <a:lnTo>
                    <a:pt x="525" y="202"/>
                  </a:lnTo>
                  <a:lnTo>
                    <a:pt x="526" y="202"/>
                  </a:lnTo>
                  <a:lnTo>
                    <a:pt x="526" y="203"/>
                  </a:lnTo>
                  <a:lnTo>
                    <a:pt x="526" y="203"/>
                  </a:lnTo>
                  <a:lnTo>
                    <a:pt x="528" y="205"/>
                  </a:lnTo>
                  <a:lnTo>
                    <a:pt x="528" y="205"/>
                  </a:lnTo>
                  <a:lnTo>
                    <a:pt x="528" y="206"/>
                  </a:lnTo>
                  <a:lnTo>
                    <a:pt x="529" y="208"/>
                  </a:lnTo>
                  <a:lnTo>
                    <a:pt x="529" y="208"/>
                  </a:lnTo>
                  <a:lnTo>
                    <a:pt x="531" y="209"/>
                  </a:lnTo>
                  <a:lnTo>
                    <a:pt x="531" y="211"/>
                  </a:lnTo>
                  <a:lnTo>
                    <a:pt x="531" y="21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1" name="Freeform 456"/>
            <p:cNvSpPr>
              <a:spLocks/>
            </p:cNvSpPr>
            <p:nvPr/>
          </p:nvSpPr>
          <p:spPr bwMode="auto">
            <a:xfrm>
              <a:off x="2945" y="3414"/>
              <a:ext cx="177" cy="71"/>
            </a:xfrm>
            <a:custGeom>
              <a:avLst/>
              <a:gdLst>
                <a:gd name="T0" fmla="*/ 104 w 531"/>
                <a:gd name="T1" fmla="*/ 212 h 212"/>
                <a:gd name="T2" fmla="*/ 178 w 531"/>
                <a:gd name="T3" fmla="*/ 212 h 212"/>
                <a:gd name="T4" fmla="*/ 215 w 531"/>
                <a:gd name="T5" fmla="*/ 212 h 212"/>
                <a:gd name="T6" fmla="*/ 233 w 531"/>
                <a:gd name="T7" fmla="*/ 210 h 212"/>
                <a:gd name="T8" fmla="*/ 240 w 531"/>
                <a:gd name="T9" fmla="*/ 210 h 212"/>
                <a:gd name="T10" fmla="*/ 249 w 531"/>
                <a:gd name="T11" fmla="*/ 210 h 212"/>
                <a:gd name="T12" fmla="*/ 255 w 531"/>
                <a:gd name="T13" fmla="*/ 209 h 212"/>
                <a:gd name="T14" fmla="*/ 260 w 531"/>
                <a:gd name="T15" fmla="*/ 209 h 212"/>
                <a:gd name="T16" fmla="*/ 267 w 531"/>
                <a:gd name="T17" fmla="*/ 207 h 212"/>
                <a:gd name="T18" fmla="*/ 276 w 531"/>
                <a:gd name="T19" fmla="*/ 206 h 212"/>
                <a:gd name="T20" fmla="*/ 282 w 531"/>
                <a:gd name="T21" fmla="*/ 206 h 212"/>
                <a:gd name="T22" fmla="*/ 288 w 531"/>
                <a:gd name="T23" fmla="*/ 204 h 212"/>
                <a:gd name="T24" fmla="*/ 294 w 531"/>
                <a:gd name="T25" fmla="*/ 203 h 212"/>
                <a:gd name="T26" fmla="*/ 302 w 531"/>
                <a:gd name="T27" fmla="*/ 200 h 212"/>
                <a:gd name="T28" fmla="*/ 311 w 531"/>
                <a:gd name="T29" fmla="*/ 197 h 212"/>
                <a:gd name="T30" fmla="*/ 319 w 531"/>
                <a:gd name="T31" fmla="*/ 196 h 212"/>
                <a:gd name="T32" fmla="*/ 325 w 531"/>
                <a:gd name="T33" fmla="*/ 193 h 212"/>
                <a:gd name="T34" fmla="*/ 331 w 531"/>
                <a:gd name="T35" fmla="*/ 190 h 212"/>
                <a:gd name="T36" fmla="*/ 338 w 531"/>
                <a:gd name="T37" fmla="*/ 187 h 212"/>
                <a:gd name="T38" fmla="*/ 347 w 531"/>
                <a:gd name="T39" fmla="*/ 182 h 212"/>
                <a:gd name="T40" fmla="*/ 351 w 531"/>
                <a:gd name="T41" fmla="*/ 179 h 212"/>
                <a:gd name="T42" fmla="*/ 357 w 531"/>
                <a:gd name="T43" fmla="*/ 176 h 212"/>
                <a:gd name="T44" fmla="*/ 363 w 531"/>
                <a:gd name="T45" fmla="*/ 173 h 212"/>
                <a:gd name="T46" fmla="*/ 369 w 531"/>
                <a:gd name="T47" fmla="*/ 169 h 212"/>
                <a:gd name="T48" fmla="*/ 377 w 531"/>
                <a:gd name="T49" fmla="*/ 166 h 212"/>
                <a:gd name="T50" fmla="*/ 381 w 531"/>
                <a:gd name="T51" fmla="*/ 163 h 212"/>
                <a:gd name="T52" fmla="*/ 385 w 531"/>
                <a:gd name="T53" fmla="*/ 160 h 212"/>
                <a:gd name="T54" fmla="*/ 390 w 531"/>
                <a:gd name="T55" fmla="*/ 157 h 212"/>
                <a:gd name="T56" fmla="*/ 396 w 531"/>
                <a:gd name="T57" fmla="*/ 153 h 212"/>
                <a:gd name="T58" fmla="*/ 400 w 531"/>
                <a:gd name="T59" fmla="*/ 150 h 212"/>
                <a:gd name="T60" fmla="*/ 403 w 531"/>
                <a:gd name="T61" fmla="*/ 148 h 212"/>
                <a:gd name="T62" fmla="*/ 406 w 531"/>
                <a:gd name="T63" fmla="*/ 145 h 212"/>
                <a:gd name="T64" fmla="*/ 411 w 531"/>
                <a:gd name="T65" fmla="*/ 142 h 212"/>
                <a:gd name="T66" fmla="*/ 415 w 531"/>
                <a:gd name="T67" fmla="*/ 139 h 212"/>
                <a:gd name="T68" fmla="*/ 418 w 531"/>
                <a:gd name="T69" fmla="*/ 136 h 212"/>
                <a:gd name="T70" fmla="*/ 421 w 531"/>
                <a:gd name="T71" fmla="*/ 135 h 212"/>
                <a:gd name="T72" fmla="*/ 424 w 531"/>
                <a:gd name="T73" fmla="*/ 132 h 212"/>
                <a:gd name="T74" fmla="*/ 428 w 531"/>
                <a:gd name="T75" fmla="*/ 129 h 212"/>
                <a:gd name="T76" fmla="*/ 433 w 531"/>
                <a:gd name="T77" fmla="*/ 126 h 212"/>
                <a:gd name="T78" fmla="*/ 436 w 531"/>
                <a:gd name="T79" fmla="*/ 124 h 212"/>
                <a:gd name="T80" fmla="*/ 440 w 531"/>
                <a:gd name="T81" fmla="*/ 121 h 212"/>
                <a:gd name="T82" fmla="*/ 443 w 531"/>
                <a:gd name="T83" fmla="*/ 117 h 212"/>
                <a:gd name="T84" fmla="*/ 449 w 531"/>
                <a:gd name="T85" fmla="*/ 111 h 212"/>
                <a:gd name="T86" fmla="*/ 454 w 531"/>
                <a:gd name="T87" fmla="*/ 107 h 212"/>
                <a:gd name="T88" fmla="*/ 456 w 531"/>
                <a:gd name="T89" fmla="*/ 102 h 212"/>
                <a:gd name="T90" fmla="*/ 459 w 531"/>
                <a:gd name="T91" fmla="*/ 98 h 212"/>
                <a:gd name="T92" fmla="*/ 465 w 531"/>
                <a:gd name="T93" fmla="*/ 92 h 212"/>
                <a:gd name="T94" fmla="*/ 471 w 531"/>
                <a:gd name="T95" fmla="*/ 84 h 212"/>
                <a:gd name="T96" fmla="*/ 476 w 531"/>
                <a:gd name="T97" fmla="*/ 80 h 212"/>
                <a:gd name="T98" fmla="*/ 479 w 531"/>
                <a:gd name="T99" fmla="*/ 76 h 212"/>
                <a:gd name="T100" fmla="*/ 483 w 531"/>
                <a:gd name="T101" fmla="*/ 70 h 212"/>
                <a:gd name="T102" fmla="*/ 489 w 531"/>
                <a:gd name="T103" fmla="*/ 62 h 212"/>
                <a:gd name="T104" fmla="*/ 495 w 531"/>
                <a:gd name="T105" fmla="*/ 53 h 212"/>
                <a:gd name="T106" fmla="*/ 499 w 531"/>
                <a:gd name="T107" fmla="*/ 47 h 212"/>
                <a:gd name="T108" fmla="*/ 502 w 531"/>
                <a:gd name="T109" fmla="*/ 42 h 212"/>
                <a:gd name="T110" fmla="*/ 508 w 531"/>
                <a:gd name="T111" fmla="*/ 36 h 212"/>
                <a:gd name="T112" fmla="*/ 514 w 531"/>
                <a:gd name="T113" fmla="*/ 27 h 212"/>
                <a:gd name="T114" fmla="*/ 519 w 531"/>
                <a:gd name="T115" fmla="*/ 19 h 212"/>
                <a:gd name="T116" fmla="*/ 523 w 531"/>
                <a:gd name="T117" fmla="*/ 15 h 212"/>
                <a:gd name="T118" fmla="*/ 526 w 531"/>
                <a:gd name="T119" fmla="*/ 9 h 212"/>
                <a:gd name="T120" fmla="*/ 531 w 531"/>
                <a:gd name="T121" fmla="*/ 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1" h="212">
                  <a:moveTo>
                    <a:pt x="0" y="212"/>
                  </a:moveTo>
                  <a:lnTo>
                    <a:pt x="21" y="212"/>
                  </a:lnTo>
                  <a:lnTo>
                    <a:pt x="39" y="212"/>
                  </a:lnTo>
                  <a:lnTo>
                    <a:pt x="57" y="212"/>
                  </a:lnTo>
                  <a:lnTo>
                    <a:pt x="74" y="212"/>
                  </a:lnTo>
                  <a:lnTo>
                    <a:pt x="89" y="212"/>
                  </a:lnTo>
                  <a:lnTo>
                    <a:pt x="104" y="212"/>
                  </a:lnTo>
                  <a:lnTo>
                    <a:pt x="117" y="212"/>
                  </a:lnTo>
                  <a:lnTo>
                    <a:pt x="129" y="212"/>
                  </a:lnTo>
                  <a:lnTo>
                    <a:pt x="141" y="212"/>
                  </a:lnTo>
                  <a:lnTo>
                    <a:pt x="151" y="212"/>
                  </a:lnTo>
                  <a:lnTo>
                    <a:pt x="162" y="212"/>
                  </a:lnTo>
                  <a:lnTo>
                    <a:pt x="169" y="212"/>
                  </a:lnTo>
                  <a:lnTo>
                    <a:pt x="178" y="212"/>
                  </a:lnTo>
                  <a:lnTo>
                    <a:pt x="185" y="212"/>
                  </a:lnTo>
                  <a:lnTo>
                    <a:pt x="191" y="212"/>
                  </a:lnTo>
                  <a:lnTo>
                    <a:pt x="197" y="212"/>
                  </a:lnTo>
                  <a:lnTo>
                    <a:pt x="203" y="212"/>
                  </a:lnTo>
                  <a:lnTo>
                    <a:pt x="208" y="212"/>
                  </a:lnTo>
                  <a:lnTo>
                    <a:pt x="212" y="212"/>
                  </a:lnTo>
                  <a:lnTo>
                    <a:pt x="215" y="212"/>
                  </a:lnTo>
                  <a:lnTo>
                    <a:pt x="220" y="212"/>
                  </a:lnTo>
                  <a:lnTo>
                    <a:pt x="223" y="212"/>
                  </a:lnTo>
                  <a:lnTo>
                    <a:pt x="224" y="212"/>
                  </a:lnTo>
                  <a:lnTo>
                    <a:pt x="227" y="212"/>
                  </a:lnTo>
                  <a:lnTo>
                    <a:pt x="228" y="212"/>
                  </a:lnTo>
                  <a:lnTo>
                    <a:pt x="230" y="210"/>
                  </a:lnTo>
                  <a:lnTo>
                    <a:pt x="233" y="210"/>
                  </a:lnTo>
                  <a:lnTo>
                    <a:pt x="234" y="210"/>
                  </a:lnTo>
                  <a:lnTo>
                    <a:pt x="236" y="210"/>
                  </a:lnTo>
                  <a:lnTo>
                    <a:pt x="237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40" y="210"/>
                  </a:lnTo>
                  <a:lnTo>
                    <a:pt x="242" y="210"/>
                  </a:lnTo>
                  <a:lnTo>
                    <a:pt x="243" y="210"/>
                  </a:lnTo>
                  <a:lnTo>
                    <a:pt x="245" y="210"/>
                  </a:lnTo>
                  <a:lnTo>
                    <a:pt x="246" y="210"/>
                  </a:lnTo>
                  <a:lnTo>
                    <a:pt x="248" y="210"/>
                  </a:lnTo>
                  <a:lnTo>
                    <a:pt x="248" y="210"/>
                  </a:lnTo>
                  <a:lnTo>
                    <a:pt x="249" y="210"/>
                  </a:lnTo>
                  <a:lnTo>
                    <a:pt x="251" y="210"/>
                  </a:lnTo>
                  <a:lnTo>
                    <a:pt x="251" y="210"/>
                  </a:lnTo>
                  <a:lnTo>
                    <a:pt x="252" y="210"/>
                  </a:lnTo>
                  <a:lnTo>
                    <a:pt x="252" y="210"/>
                  </a:lnTo>
                  <a:lnTo>
                    <a:pt x="254" y="210"/>
                  </a:lnTo>
                  <a:lnTo>
                    <a:pt x="254" y="209"/>
                  </a:lnTo>
                  <a:lnTo>
                    <a:pt x="255" y="209"/>
                  </a:lnTo>
                  <a:lnTo>
                    <a:pt x="255" y="209"/>
                  </a:lnTo>
                  <a:lnTo>
                    <a:pt x="257" y="209"/>
                  </a:lnTo>
                  <a:lnTo>
                    <a:pt x="257" y="209"/>
                  </a:lnTo>
                  <a:lnTo>
                    <a:pt x="258" y="209"/>
                  </a:lnTo>
                  <a:lnTo>
                    <a:pt x="258" y="209"/>
                  </a:lnTo>
                  <a:lnTo>
                    <a:pt x="260" y="209"/>
                  </a:lnTo>
                  <a:lnTo>
                    <a:pt x="260" y="209"/>
                  </a:lnTo>
                  <a:lnTo>
                    <a:pt x="261" y="209"/>
                  </a:lnTo>
                  <a:lnTo>
                    <a:pt x="262" y="209"/>
                  </a:lnTo>
                  <a:lnTo>
                    <a:pt x="262" y="209"/>
                  </a:lnTo>
                  <a:lnTo>
                    <a:pt x="264" y="209"/>
                  </a:lnTo>
                  <a:lnTo>
                    <a:pt x="265" y="209"/>
                  </a:lnTo>
                  <a:lnTo>
                    <a:pt x="265" y="207"/>
                  </a:lnTo>
                  <a:lnTo>
                    <a:pt x="267" y="207"/>
                  </a:lnTo>
                  <a:lnTo>
                    <a:pt x="268" y="207"/>
                  </a:lnTo>
                  <a:lnTo>
                    <a:pt x="270" y="207"/>
                  </a:lnTo>
                  <a:lnTo>
                    <a:pt x="271" y="207"/>
                  </a:lnTo>
                  <a:lnTo>
                    <a:pt x="271" y="207"/>
                  </a:lnTo>
                  <a:lnTo>
                    <a:pt x="273" y="207"/>
                  </a:lnTo>
                  <a:lnTo>
                    <a:pt x="274" y="207"/>
                  </a:lnTo>
                  <a:lnTo>
                    <a:pt x="276" y="206"/>
                  </a:lnTo>
                  <a:lnTo>
                    <a:pt x="276" y="206"/>
                  </a:lnTo>
                  <a:lnTo>
                    <a:pt x="277" y="206"/>
                  </a:lnTo>
                  <a:lnTo>
                    <a:pt x="279" y="206"/>
                  </a:lnTo>
                  <a:lnTo>
                    <a:pt x="280" y="206"/>
                  </a:lnTo>
                  <a:lnTo>
                    <a:pt x="280" y="206"/>
                  </a:lnTo>
                  <a:lnTo>
                    <a:pt x="282" y="206"/>
                  </a:lnTo>
                  <a:lnTo>
                    <a:pt x="282" y="206"/>
                  </a:lnTo>
                  <a:lnTo>
                    <a:pt x="283" y="206"/>
                  </a:lnTo>
                  <a:lnTo>
                    <a:pt x="285" y="204"/>
                  </a:lnTo>
                  <a:lnTo>
                    <a:pt x="285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8" y="204"/>
                  </a:lnTo>
                  <a:lnTo>
                    <a:pt x="288" y="204"/>
                  </a:lnTo>
                  <a:lnTo>
                    <a:pt x="289" y="204"/>
                  </a:lnTo>
                  <a:lnTo>
                    <a:pt x="289" y="204"/>
                  </a:lnTo>
                  <a:lnTo>
                    <a:pt x="291" y="203"/>
                  </a:lnTo>
                  <a:lnTo>
                    <a:pt x="291" y="203"/>
                  </a:lnTo>
                  <a:lnTo>
                    <a:pt x="292" y="203"/>
                  </a:lnTo>
                  <a:lnTo>
                    <a:pt x="294" y="203"/>
                  </a:lnTo>
                  <a:lnTo>
                    <a:pt x="294" y="203"/>
                  </a:lnTo>
                  <a:lnTo>
                    <a:pt x="295" y="203"/>
                  </a:lnTo>
                  <a:lnTo>
                    <a:pt x="297" y="201"/>
                  </a:lnTo>
                  <a:lnTo>
                    <a:pt x="298" y="201"/>
                  </a:lnTo>
                  <a:lnTo>
                    <a:pt x="298" y="201"/>
                  </a:lnTo>
                  <a:lnTo>
                    <a:pt x="300" y="201"/>
                  </a:lnTo>
                  <a:lnTo>
                    <a:pt x="301" y="200"/>
                  </a:lnTo>
                  <a:lnTo>
                    <a:pt x="302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5" y="198"/>
                  </a:lnTo>
                  <a:lnTo>
                    <a:pt x="307" y="198"/>
                  </a:lnTo>
                  <a:lnTo>
                    <a:pt x="308" y="198"/>
                  </a:lnTo>
                  <a:lnTo>
                    <a:pt x="310" y="197"/>
                  </a:lnTo>
                  <a:lnTo>
                    <a:pt x="311" y="197"/>
                  </a:lnTo>
                  <a:lnTo>
                    <a:pt x="313" y="197"/>
                  </a:lnTo>
                  <a:lnTo>
                    <a:pt x="314" y="197"/>
                  </a:lnTo>
                  <a:lnTo>
                    <a:pt x="314" y="196"/>
                  </a:lnTo>
                  <a:lnTo>
                    <a:pt x="316" y="196"/>
                  </a:lnTo>
                  <a:lnTo>
                    <a:pt x="317" y="196"/>
                  </a:lnTo>
                  <a:lnTo>
                    <a:pt x="317" y="196"/>
                  </a:lnTo>
                  <a:lnTo>
                    <a:pt x="319" y="196"/>
                  </a:lnTo>
                  <a:lnTo>
                    <a:pt x="319" y="194"/>
                  </a:lnTo>
                  <a:lnTo>
                    <a:pt x="320" y="194"/>
                  </a:lnTo>
                  <a:lnTo>
                    <a:pt x="322" y="194"/>
                  </a:lnTo>
                  <a:lnTo>
                    <a:pt x="322" y="194"/>
                  </a:lnTo>
                  <a:lnTo>
                    <a:pt x="323" y="194"/>
                  </a:lnTo>
                  <a:lnTo>
                    <a:pt x="323" y="193"/>
                  </a:lnTo>
                  <a:lnTo>
                    <a:pt x="325" y="193"/>
                  </a:lnTo>
                  <a:lnTo>
                    <a:pt x="325" y="193"/>
                  </a:lnTo>
                  <a:lnTo>
                    <a:pt x="326" y="193"/>
                  </a:lnTo>
                  <a:lnTo>
                    <a:pt x="326" y="191"/>
                  </a:lnTo>
                  <a:lnTo>
                    <a:pt x="328" y="191"/>
                  </a:lnTo>
                  <a:lnTo>
                    <a:pt x="329" y="191"/>
                  </a:lnTo>
                  <a:lnTo>
                    <a:pt x="329" y="190"/>
                  </a:lnTo>
                  <a:lnTo>
                    <a:pt x="331" y="190"/>
                  </a:lnTo>
                  <a:lnTo>
                    <a:pt x="332" y="190"/>
                  </a:lnTo>
                  <a:lnTo>
                    <a:pt x="332" y="188"/>
                  </a:lnTo>
                  <a:lnTo>
                    <a:pt x="334" y="188"/>
                  </a:lnTo>
                  <a:lnTo>
                    <a:pt x="335" y="188"/>
                  </a:lnTo>
                  <a:lnTo>
                    <a:pt x="337" y="187"/>
                  </a:lnTo>
                  <a:lnTo>
                    <a:pt x="338" y="187"/>
                  </a:lnTo>
                  <a:lnTo>
                    <a:pt x="338" y="187"/>
                  </a:lnTo>
                  <a:lnTo>
                    <a:pt x="339" y="185"/>
                  </a:lnTo>
                  <a:lnTo>
                    <a:pt x="341" y="185"/>
                  </a:lnTo>
                  <a:lnTo>
                    <a:pt x="342" y="184"/>
                  </a:lnTo>
                  <a:lnTo>
                    <a:pt x="342" y="184"/>
                  </a:lnTo>
                  <a:lnTo>
                    <a:pt x="344" y="184"/>
                  </a:lnTo>
                  <a:lnTo>
                    <a:pt x="345" y="182"/>
                  </a:lnTo>
                  <a:lnTo>
                    <a:pt x="347" y="182"/>
                  </a:lnTo>
                  <a:lnTo>
                    <a:pt x="347" y="181"/>
                  </a:lnTo>
                  <a:lnTo>
                    <a:pt x="348" y="181"/>
                  </a:lnTo>
                  <a:lnTo>
                    <a:pt x="348" y="181"/>
                  </a:lnTo>
                  <a:lnTo>
                    <a:pt x="350" y="181"/>
                  </a:lnTo>
                  <a:lnTo>
                    <a:pt x="350" y="179"/>
                  </a:lnTo>
                  <a:lnTo>
                    <a:pt x="351" y="179"/>
                  </a:lnTo>
                  <a:lnTo>
                    <a:pt x="351" y="179"/>
                  </a:lnTo>
                  <a:lnTo>
                    <a:pt x="353" y="179"/>
                  </a:lnTo>
                  <a:lnTo>
                    <a:pt x="353" y="178"/>
                  </a:lnTo>
                  <a:lnTo>
                    <a:pt x="354" y="178"/>
                  </a:lnTo>
                  <a:lnTo>
                    <a:pt x="354" y="178"/>
                  </a:lnTo>
                  <a:lnTo>
                    <a:pt x="356" y="178"/>
                  </a:lnTo>
                  <a:lnTo>
                    <a:pt x="356" y="176"/>
                  </a:lnTo>
                  <a:lnTo>
                    <a:pt x="357" y="176"/>
                  </a:lnTo>
                  <a:lnTo>
                    <a:pt x="357" y="176"/>
                  </a:lnTo>
                  <a:lnTo>
                    <a:pt x="359" y="175"/>
                  </a:lnTo>
                  <a:lnTo>
                    <a:pt x="359" y="175"/>
                  </a:lnTo>
                  <a:lnTo>
                    <a:pt x="360" y="175"/>
                  </a:lnTo>
                  <a:lnTo>
                    <a:pt x="360" y="175"/>
                  </a:lnTo>
                  <a:lnTo>
                    <a:pt x="362" y="173"/>
                  </a:lnTo>
                  <a:lnTo>
                    <a:pt x="363" y="173"/>
                  </a:lnTo>
                  <a:lnTo>
                    <a:pt x="363" y="172"/>
                  </a:lnTo>
                  <a:lnTo>
                    <a:pt x="365" y="172"/>
                  </a:lnTo>
                  <a:lnTo>
                    <a:pt x="366" y="172"/>
                  </a:lnTo>
                  <a:lnTo>
                    <a:pt x="368" y="170"/>
                  </a:lnTo>
                  <a:lnTo>
                    <a:pt x="368" y="170"/>
                  </a:lnTo>
                  <a:lnTo>
                    <a:pt x="369" y="170"/>
                  </a:lnTo>
                  <a:lnTo>
                    <a:pt x="369" y="169"/>
                  </a:lnTo>
                  <a:lnTo>
                    <a:pt x="371" y="169"/>
                  </a:lnTo>
                  <a:lnTo>
                    <a:pt x="372" y="167"/>
                  </a:lnTo>
                  <a:lnTo>
                    <a:pt x="372" y="167"/>
                  </a:lnTo>
                  <a:lnTo>
                    <a:pt x="374" y="167"/>
                  </a:lnTo>
                  <a:lnTo>
                    <a:pt x="375" y="166"/>
                  </a:lnTo>
                  <a:lnTo>
                    <a:pt x="375" y="166"/>
                  </a:lnTo>
                  <a:lnTo>
                    <a:pt x="377" y="166"/>
                  </a:lnTo>
                  <a:lnTo>
                    <a:pt x="377" y="164"/>
                  </a:lnTo>
                  <a:lnTo>
                    <a:pt x="378" y="164"/>
                  </a:lnTo>
                  <a:lnTo>
                    <a:pt x="378" y="164"/>
                  </a:lnTo>
                  <a:lnTo>
                    <a:pt x="379" y="164"/>
                  </a:lnTo>
                  <a:lnTo>
                    <a:pt x="379" y="163"/>
                  </a:lnTo>
                  <a:lnTo>
                    <a:pt x="379" y="163"/>
                  </a:lnTo>
                  <a:lnTo>
                    <a:pt x="381" y="163"/>
                  </a:lnTo>
                  <a:lnTo>
                    <a:pt x="381" y="163"/>
                  </a:lnTo>
                  <a:lnTo>
                    <a:pt x="382" y="161"/>
                  </a:lnTo>
                  <a:lnTo>
                    <a:pt x="382" y="161"/>
                  </a:lnTo>
                  <a:lnTo>
                    <a:pt x="382" y="161"/>
                  </a:lnTo>
                  <a:lnTo>
                    <a:pt x="384" y="161"/>
                  </a:lnTo>
                  <a:lnTo>
                    <a:pt x="384" y="160"/>
                  </a:lnTo>
                  <a:lnTo>
                    <a:pt x="385" y="160"/>
                  </a:lnTo>
                  <a:lnTo>
                    <a:pt x="385" y="160"/>
                  </a:lnTo>
                  <a:lnTo>
                    <a:pt x="387" y="160"/>
                  </a:lnTo>
                  <a:lnTo>
                    <a:pt x="387" y="159"/>
                  </a:lnTo>
                  <a:lnTo>
                    <a:pt x="388" y="159"/>
                  </a:lnTo>
                  <a:lnTo>
                    <a:pt x="388" y="159"/>
                  </a:lnTo>
                  <a:lnTo>
                    <a:pt x="390" y="157"/>
                  </a:lnTo>
                  <a:lnTo>
                    <a:pt x="390" y="157"/>
                  </a:lnTo>
                  <a:lnTo>
                    <a:pt x="391" y="157"/>
                  </a:lnTo>
                  <a:lnTo>
                    <a:pt x="393" y="156"/>
                  </a:lnTo>
                  <a:lnTo>
                    <a:pt x="393" y="156"/>
                  </a:lnTo>
                  <a:lnTo>
                    <a:pt x="393" y="156"/>
                  </a:lnTo>
                  <a:lnTo>
                    <a:pt x="394" y="154"/>
                  </a:lnTo>
                  <a:lnTo>
                    <a:pt x="396" y="154"/>
                  </a:lnTo>
                  <a:lnTo>
                    <a:pt x="396" y="153"/>
                  </a:lnTo>
                  <a:lnTo>
                    <a:pt x="397" y="153"/>
                  </a:lnTo>
                  <a:lnTo>
                    <a:pt x="397" y="153"/>
                  </a:lnTo>
                  <a:lnTo>
                    <a:pt x="399" y="151"/>
                  </a:lnTo>
                  <a:lnTo>
                    <a:pt x="399" y="151"/>
                  </a:lnTo>
                  <a:lnTo>
                    <a:pt x="399" y="151"/>
                  </a:lnTo>
                  <a:lnTo>
                    <a:pt x="400" y="151"/>
                  </a:lnTo>
                  <a:lnTo>
                    <a:pt x="400" y="150"/>
                  </a:lnTo>
                  <a:lnTo>
                    <a:pt x="402" y="150"/>
                  </a:lnTo>
                  <a:lnTo>
                    <a:pt x="402" y="150"/>
                  </a:lnTo>
                  <a:lnTo>
                    <a:pt x="402" y="150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5" y="148"/>
                  </a:lnTo>
                  <a:lnTo>
                    <a:pt x="405" y="147"/>
                  </a:lnTo>
                  <a:lnTo>
                    <a:pt x="405" y="147"/>
                  </a:lnTo>
                  <a:lnTo>
                    <a:pt x="406" y="147"/>
                  </a:lnTo>
                  <a:lnTo>
                    <a:pt x="406" y="147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8" y="145"/>
                  </a:lnTo>
                  <a:lnTo>
                    <a:pt x="408" y="145"/>
                  </a:lnTo>
                  <a:lnTo>
                    <a:pt x="409" y="144"/>
                  </a:lnTo>
                  <a:lnTo>
                    <a:pt x="409" y="144"/>
                  </a:lnTo>
                  <a:lnTo>
                    <a:pt x="409" y="144"/>
                  </a:lnTo>
                  <a:lnTo>
                    <a:pt x="411" y="142"/>
                  </a:lnTo>
                  <a:lnTo>
                    <a:pt x="411" y="142"/>
                  </a:lnTo>
                  <a:lnTo>
                    <a:pt x="411" y="142"/>
                  </a:lnTo>
                  <a:lnTo>
                    <a:pt x="412" y="142"/>
                  </a:lnTo>
                  <a:lnTo>
                    <a:pt x="412" y="141"/>
                  </a:lnTo>
                  <a:lnTo>
                    <a:pt x="414" y="141"/>
                  </a:lnTo>
                  <a:lnTo>
                    <a:pt x="414" y="141"/>
                  </a:lnTo>
                  <a:lnTo>
                    <a:pt x="414" y="139"/>
                  </a:lnTo>
                  <a:lnTo>
                    <a:pt x="415" y="139"/>
                  </a:lnTo>
                  <a:lnTo>
                    <a:pt x="415" y="139"/>
                  </a:lnTo>
                  <a:lnTo>
                    <a:pt x="416" y="139"/>
                  </a:lnTo>
                  <a:lnTo>
                    <a:pt x="416" y="138"/>
                  </a:lnTo>
                  <a:lnTo>
                    <a:pt x="416" y="138"/>
                  </a:lnTo>
                  <a:lnTo>
                    <a:pt x="416" y="138"/>
                  </a:lnTo>
                  <a:lnTo>
                    <a:pt x="418" y="138"/>
                  </a:lnTo>
                  <a:lnTo>
                    <a:pt x="418" y="136"/>
                  </a:lnTo>
                  <a:lnTo>
                    <a:pt x="418" y="136"/>
                  </a:lnTo>
                  <a:lnTo>
                    <a:pt x="419" y="136"/>
                  </a:lnTo>
                  <a:lnTo>
                    <a:pt x="419" y="136"/>
                  </a:lnTo>
                  <a:lnTo>
                    <a:pt x="419" y="136"/>
                  </a:lnTo>
                  <a:lnTo>
                    <a:pt x="419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4" y="133"/>
                  </a:lnTo>
                  <a:lnTo>
                    <a:pt x="424" y="132"/>
                  </a:lnTo>
                  <a:lnTo>
                    <a:pt x="425" y="132"/>
                  </a:lnTo>
                  <a:lnTo>
                    <a:pt x="425" y="132"/>
                  </a:lnTo>
                  <a:lnTo>
                    <a:pt x="427" y="130"/>
                  </a:lnTo>
                  <a:lnTo>
                    <a:pt x="427" y="130"/>
                  </a:lnTo>
                  <a:lnTo>
                    <a:pt x="428" y="130"/>
                  </a:lnTo>
                  <a:lnTo>
                    <a:pt x="428" y="130"/>
                  </a:lnTo>
                  <a:lnTo>
                    <a:pt x="428" y="129"/>
                  </a:lnTo>
                  <a:lnTo>
                    <a:pt x="430" y="129"/>
                  </a:lnTo>
                  <a:lnTo>
                    <a:pt x="430" y="129"/>
                  </a:lnTo>
                  <a:lnTo>
                    <a:pt x="431" y="127"/>
                  </a:lnTo>
                  <a:lnTo>
                    <a:pt x="431" y="127"/>
                  </a:lnTo>
                  <a:lnTo>
                    <a:pt x="433" y="127"/>
                  </a:lnTo>
                  <a:lnTo>
                    <a:pt x="433" y="127"/>
                  </a:lnTo>
                  <a:lnTo>
                    <a:pt x="433" y="126"/>
                  </a:lnTo>
                  <a:lnTo>
                    <a:pt x="434" y="126"/>
                  </a:lnTo>
                  <a:lnTo>
                    <a:pt x="434" y="126"/>
                  </a:lnTo>
                  <a:lnTo>
                    <a:pt x="434" y="126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7" y="123"/>
                  </a:lnTo>
                  <a:lnTo>
                    <a:pt x="437" y="123"/>
                  </a:lnTo>
                  <a:lnTo>
                    <a:pt x="437" y="123"/>
                  </a:lnTo>
                  <a:lnTo>
                    <a:pt x="439" y="123"/>
                  </a:lnTo>
                  <a:lnTo>
                    <a:pt x="439" y="121"/>
                  </a:lnTo>
                  <a:lnTo>
                    <a:pt x="439" y="121"/>
                  </a:lnTo>
                  <a:lnTo>
                    <a:pt x="440" y="121"/>
                  </a:lnTo>
                  <a:lnTo>
                    <a:pt x="440" y="120"/>
                  </a:lnTo>
                  <a:lnTo>
                    <a:pt x="440" y="120"/>
                  </a:lnTo>
                  <a:lnTo>
                    <a:pt x="442" y="119"/>
                  </a:lnTo>
                  <a:lnTo>
                    <a:pt x="442" y="119"/>
                  </a:lnTo>
                  <a:lnTo>
                    <a:pt x="443" y="119"/>
                  </a:lnTo>
                  <a:lnTo>
                    <a:pt x="443" y="117"/>
                  </a:lnTo>
                  <a:lnTo>
                    <a:pt x="443" y="117"/>
                  </a:lnTo>
                  <a:lnTo>
                    <a:pt x="445" y="116"/>
                  </a:lnTo>
                  <a:lnTo>
                    <a:pt x="446" y="116"/>
                  </a:lnTo>
                  <a:lnTo>
                    <a:pt x="446" y="114"/>
                  </a:lnTo>
                  <a:lnTo>
                    <a:pt x="446" y="114"/>
                  </a:lnTo>
                  <a:lnTo>
                    <a:pt x="448" y="113"/>
                  </a:lnTo>
                  <a:lnTo>
                    <a:pt x="448" y="113"/>
                  </a:lnTo>
                  <a:lnTo>
                    <a:pt x="449" y="111"/>
                  </a:lnTo>
                  <a:lnTo>
                    <a:pt x="449" y="111"/>
                  </a:lnTo>
                  <a:lnTo>
                    <a:pt x="451" y="110"/>
                  </a:lnTo>
                  <a:lnTo>
                    <a:pt x="451" y="110"/>
                  </a:lnTo>
                  <a:lnTo>
                    <a:pt x="451" y="108"/>
                  </a:lnTo>
                  <a:lnTo>
                    <a:pt x="452" y="108"/>
                  </a:lnTo>
                  <a:lnTo>
                    <a:pt x="452" y="107"/>
                  </a:lnTo>
                  <a:lnTo>
                    <a:pt x="454" y="107"/>
                  </a:lnTo>
                  <a:lnTo>
                    <a:pt x="454" y="107"/>
                  </a:lnTo>
                  <a:lnTo>
                    <a:pt x="454" y="105"/>
                  </a:lnTo>
                  <a:lnTo>
                    <a:pt x="455" y="105"/>
                  </a:lnTo>
                  <a:lnTo>
                    <a:pt x="455" y="105"/>
                  </a:lnTo>
                  <a:lnTo>
                    <a:pt x="455" y="104"/>
                  </a:lnTo>
                  <a:lnTo>
                    <a:pt x="455" y="104"/>
                  </a:lnTo>
                  <a:lnTo>
                    <a:pt x="456" y="102"/>
                  </a:lnTo>
                  <a:lnTo>
                    <a:pt x="456" y="102"/>
                  </a:lnTo>
                  <a:lnTo>
                    <a:pt x="456" y="102"/>
                  </a:lnTo>
                  <a:lnTo>
                    <a:pt x="458" y="101"/>
                  </a:lnTo>
                  <a:lnTo>
                    <a:pt x="458" y="101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9" y="98"/>
                  </a:lnTo>
                  <a:lnTo>
                    <a:pt x="461" y="98"/>
                  </a:lnTo>
                  <a:lnTo>
                    <a:pt x="461" y="96"/>
                  </a:lnTo>
                  <a:lnTo>
                    <a:pt x="462" y="96"/>
                  </a:lnTo>
                  <a:lnTo>
                    <a:pt x="462" y="95"/>
                  </a:lnTo>
                  <a:lnTo>
                    <a:pt x="464" y="93"/>
                  </a:lnTo>
                  <a:lnTo>
                    <a:pt x="465" y="93"/>
                  </a:lnTo>
                  <a:lnTo>
                    <a:pt x="465" y="92"/>
                  </a:lnTo>
                  <a:lnTo>
                    <a:pt x="467" y="90"/>
                  </a:lnTo>
                  <a:lnTo>
                    <a:pt x="467" y="90"/>
                  </a:lnTo>
                  <a:lnTo>
                    <a:pt x="468" y="89"/>
                  </a:lnTo>
                  <a:lnTo>
                    <a:pt x="468" y="89"/>
                  </a:lnTo>
                  <a:lnTo>
                    <a:pt x="470" y="87"/>
                  </a:lnTo>
                  <a:lnTo>
                    <a:pt x="470" y="86"/>
                  </a:lnTo>
                  <a:lnTo>
                    <a:pt x="471" y="84"/>
                  </a:lnTo>
                  <a:lnTo>
                    <a:pt x="471" y="84"/>
                  </a:lnTo>
                  <a:lnTo>
                    <a:pt x="473" y="83"/>
                  </a:lnTo>
                  <a:lnTo>
                    <a:pt x="473" y="83"/>
                  </a:lnTo>
                  <a:lnTo>
                    <a:pt x="474" y="82"/>
                  </a:lnTo>
                  <a:lnTo>
                    <a:pt x="474" y="82"/>
                  </a:lnTo>
                  <a:lnTo>
                    <a:pt x="476" y="80"/>
                  </a:lnTo>
                  <a:lnTo>
                    <a:pt x="476" y="80"/>
                  </a:lnTo>
                  <a:lnTo>
                    <a:pt x="476" y="79"/>
                  </a:lnTo>
                  <a:lnTo>
                    <a:pt x="477" y="79"/>
                  </a:lnTo>
                  <a:lnTo>
                    <a:pt x="477" y="77"/>
                  </a:lnTo>
                  <a:lnTo>
                    <a:pt x="477" y="77"/>
                  </a:lnTo>
                  <a:lnTo>
                    <a:pt x="479" y="76"/>
                  </a:lnTo>
                  <a:lnTo>
                    <a:pt x="479" y="76"/>
                  </a:lnTo>
                  <a:lnTo>
                    <a:pt x="479" y="76"/>
                  </a:lnTo>
                  <a:lnTo>
                    <a:pt x="480" y="74"/>
                  </a:lnTo>
                  <a:lnTo>
                    <a:pt x="480" y="74"/>
                  </a:lnTo>
                  <a:lnTo>
                    <a:pt x="482" y="73"/>
                  </a:lnTo>
                  <a:lnTo>
                    <a:pt x="482" y="71"/>
                  </a:lnTo>
                  <a:lnTo>
                    <a:pt x="482" y="71"/>
                  </a:lnTo>
                  <a:lnTo>
                    <a:pt x="483" y="70"/>
                  </a:lnTo>
                  <a:lnTo>
                    <a:pt x="483" y="70"/>
                  </a:lnTo>
                  <a:lnTo>
                    <a:pt x="485" y="68"/>
                  </a:lnTo>
                  <a:lnTo>
                    <a:pt x="485" y="67"/>
                  </a:lnTo>
                  <a:lnTo>
                    <a:pt x="486" y="65"/>
                  </a:lnTo>
                  <a:lnTo>
                    <a:pt x="488" y="65"/>
                  </a:lnTo>
                  <a:lnTo>
                    <a:pt x="488" y="64"/>
                  </a:lnTo>
                  <a:lnTo>
                    <a:pt x="489" y="62"/>
                  </a:lnTo>
                  <a:lnTo>
                    <a:pt x="489" y="62"/>
                  </a:lnTo>
                  <a:lnTo>
                    <a:pt x="491" y="61"/>
                  </a:lnTo>
                  <a:lnTo>
                    <a:pt x="491" y="59"/>
                  </a:lnTo>
                  <a:lnTo>
                    <a:pt x="492" y="58"/>
                  </a:lnTo>
                  <a:lnTo>
                    <a:pt x="492" y="56"/>
                  </a:lnTo>
                  <a:lnTo>
                    <a:pt x="493" y="55"/>
                  </a:lnTo>
                  <a:lnTo>
                    <a:pt x="493" y="55"/>
                  </a:lnTo>
                  <a:lnTo>
                    <a:pt x="495" y="53"/>
                  </a:lnTo>
                  <a:lnTo>
                    <a:pt x="495" y="52"/>
                  </a:lnTo>
                  <a:lnTo>
                    <a:pt x="496" y="52"/>
                  </a:lnTo>
                  <a:lnTo>
                    <a:pt x="496" y="50"/>
                  </a:lnTo>
                  <a:lnTo>
                    <a:pt x="498" y="50"/>
                  </a:lnTo>
                  <a:lnTo>
                    <a:pt x="498" y="49"/>
                  </a:lnTo>
                  <a:lnTo>
                    <a:pt x="498" y="49"/>
                  </a:lnTo>
                  <a:lnTo>
                    <a:pt x="499" y="47"/>
                  </a:lnTo>
                  <a:lnTo>
                    <a:pt x="499" y="47"/>
                  </a:lnTo>
                  <a:lnTo>
                    <a:pt x="499" y="46"/>
                  </a:lnTo>
                  <a:lnTo>
                    <a:pt x="501" y="46"/>
                  </a:lnTo>
                  <a:lnTo>
                    <a:pt x="501" y="45"/>
                  </a:lnTo>
                  <a:lnTo>
                    <a:pt x="501" y="45"/>
                  </a:lnTo>
                  <a:lnTo>
                    <a:pt x="502" y="43"/>
                  </a:lnTo>
                  <a:lnTo>
                    <a:pt x="502" y="42"/>
                  </a:lnTo>
                  <a:lnTo>
                    <a:pt x="504" y="42"/>
                  </a:lnTo>
                  <a:lnTo>
                    <a:pt x="504" y="40"/>
                  </a:lnTo>
                  <a:lnTo>
                    <a:pt x="505" y="40"/>
                  </a:lnTo>
                  <a:lnTo>
                    <a:pt x="505" y="39"/>
                  </a:lnTo>
                  <a:lnTo>
                    <a:pt x="507" y="37"/>
                  </a:lnTo>
                  <a:lnTo>
                    <a:pt x="507" y="37"/>
                  </a:lnTo>
                  <a:lnTo>
                    <a:pt x="508" y="36"/>
                  </a:lnTo>
                  <a:lnTo>
                    <a:pt x="508" y="34"/>
                  </a:lnTo>
                  <a:lnTo>
                    <a:pt x="510" y="33"/>
                  </a:lnTo>
                  <a:lnTo>
                    <a:pt x="511" y="31"/>
                  </a:lnTo>
                  <a:lnTo>
                    <a:pt x="511" y="30"/>
                  </a:lnTo>
                  <a:lnTo>
                    <a:pt x="511" y="30"/>
                  </a:lnTo>
                  <a:lnTo>
                    <a:pt x="513" y="28"/>
                  </a:lnTo>
                  <a:lnTo>
                    <a:pt x="514" y="27"/>
                  </a:lnTo>
                  <a:lnTo>
                    <a:pt x="514" y="27"/>
                  </a:lnTo>
                  <a:lnTo>
                    <a:pt x="516" y="25"/>
                  </a:lnTo>
                  <a:lnTo>
                    <a:pt x="516" y="24"/>
                  </a:lnTo>
                  <a:lnTo>
                    <a:pt x="517" y="22"/>
                  </a:lnTo>
                  <a:lnTo>
                    <a:pt x="517" y="22"/>
                  </a:lnTo>
                  <a:lnTo>
                    <a:pt x="519" y="21"/>
                  </a:lnTo>
                  <a:lnTo>
                    <a:pt x="519" y="19"/>
                  </a:lnTo>
                  <a:lnTo>
                    <a:pt x="520" y="19"/>
                  </a:lnTo>
                  <a:lnTo>
                    <a:pt x="520" y="18"/>
                  </a:lnTo>
                  <a:lnTo>
                    <a:pt x="520" y="18"/>
                  </a:lnTo>
                  <a:lnTo>
                    <a:pt x="522" y="16"/>
                  </a:lnTo>
                  <a:lnTo>
                    <a:pt x="522" y="16"/>
                  </a:lnTo>
                  <a:lnTo>
                    <a:pt x="522" y="15"/>
                  </a:lnTo>
                  <a:lnTo>
                    <a:pt x="523" y="15"/>
                  </a:lnTo>
                  <a:lnTo>
                    <a:pt x="523" y="13"/>
                  </a:lnTo>
                  <a:lnTo>
                    <a:pt x="523" y="13"/>
                  </a:lnTo>
                  <a:lnTo>
                    <a:pt x="525" y="12"/>
                  </a:lnTo>
                  <a:lnTo>
                    <a:pt x="525" y="12"/>
                  </a:lnTo>
                  <a:lnTo>
                    <a:pt x="525" y="10"/>
                  </a:lnTo>
                  <a:lnTo>
                    <a:pt x="526" y="10"/>
                  </a:lnTo>
                  <a:lnTo>
                    <a:pt x="526" y="9"/>
                  </a:lnTo>
                  <a:lnTo>
                    <a:pt x="526" y="9"/>
                  </a:lnTo>
                  <a:lnTo>
                    <a:pt x="528" y="7"/>
                  </a:lnTo>
                  <a:lnTo>
                    <a:pt x="528" y="7"/>
                  </a:lnTo>
                  <a:lnTo>
                    <a:pt x="528" y="6"/>
                  </a:lnTo>
                  <a:lnTo>
                    <a:pt x="529" y="5"/>
                  </a:lnTo>
                  <a:lnTo>
                    <a:pt x="529" y="5"/>
                  </a:lnTo>
                  <a:lnTo>
                    <a:pt x="531" y="3"/>
                  </a:lnTo>
                  <a:lnTo>
                    <a:pt x="531" y="2"/>
                  </a:lnTo>
                  <a:lnTo>
                    <a:pt x="531" y="0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2" name="Freeform 457"/>
            <p:cNvSpPr>
              <a:spLocks/>
            </p:cNvSpPr>
            <p:nvPr/>
          </p:nvSpPr>
          <p:spPr bwMode="auto">
            <a:xfrm>
              <a:off x="2945" y="3414"/>
              <a:ext cx="177" cy="71"/>
            </a:xfrm>
            <a:custGeom>
              <a:avLst/>
              <a:gdLst>
                <a:gd name="T0" fmla="*/ 104 w 531"/>
                <a:gd name="T1" fmla="*/ 212 h 212"/>
                <a:gd name="T2" fmla="*/ 178 w 531"/>
                <a:gd name="T3" fmla="*/ 212 h 212"/>
                <a:gd name="T4" fmla="*/ 215 w 531"/>
                <a:gd name="T5" fmla="*/ 212 h 212"/>
                <a:gd name="T6" fmla="*/ 233 w 531"/>
                <a:gd name="T7" fmla="*/ 210 h 212"/>
                <a:gd name="T8" fmla="*/ 240 w 531"/>
                <a:gd name="T9" fmla="*/ 210 h 212"/>
                <a:gd name="T10" fmla="*/ 249 w 531"/>
                <a:gd name="T11" fmla="*/ 210 h 212"/>
                <a:gd name="T12" fmla="*/ 255 w 531"/>
                <a:gd name="T13" fmla="*/ 209 h 212"/>
                <a:gd name="T14" fmla="*/ 260 w 531"/>
                <a:gd name="T15" fmla="*/ 209 h 212"/>
                <a:gd name="T16" fmla="*/ 267 w 531"/>
                <a:gd name="T17" fmla="*/ 207 h 212"/>
                <a:gd name="T18" fmla="*/ 276 w 531"/>
                <a:gd name="T19" fmla="*/ 206 h 212"/>
                <a:gd name="T20" fmla="*/ 282 w 531"/>
                <a:gd name="T21" fmla="*/ 206 h 212"/>
                <a:gd name="T22" fmla="*/ 288 w 531"/>
                <a:gd name="T23" fmla="*/ 204 h 212"/>
                <a:gd name="T24" fmla="*/ 294 w 531"/>
                <a:gd name="T25" fmla="*/ 203 h 212"/>
                <a:gd name="T26" fmla="*/ 302 w 531"/>
                <a:gd name="T27" fmla="*/ 200 h 212"/>
                <a:gd name="T28" fmla="*/ 311 w 531"/>
                <a:gd name="T29" fmla="*/ 197 h 212"/>
                <a:gd name="T30" fmla="*/ 319 w 531"/>
                <a:gd name="T31" fmla="*/ 196 h 212"/>
                <a:gd name="T32" fmla="*/ 325 w 531"/>
                <a:gd name="T33" fmla="*/ 193 h 212"/>
                <a:gd name="T34" fmla="*/ 331 w 531"/>
                <a:gd name="T35" fmla="*/ 190 h 212"/>
                <a:gd name="T36" fmla="*/ 338 w 531"/>
                <a:gd name="T37" fmla="*/ 187 h 212"/>
                <a:gd name="T38" fmla="*/ 347 w 531"/>
                <a:gd name="T39" fmla="*/ 182 h 212"/>
                <a:gd name="T40" fmla="*/ 351 w 531"/>
                <a:gd name="T41" fmla="*/ 179 h 212"/>
                <a:gd name="T42" fmla="*/ 357 w 531"/>
                <a:gd name="T43" fmla="*/ 176 h 212"/>
                <a:gd name="T44" fmla="*/ 363 w 531"/>
                <a:gd name="T45" fmla="*/ 173 h 212"/>
                <a:gd name="T46" fmla="*/ 369 w 531"/>
                <a:gd name="T47" fmla="*/ 169 h 212"/>
                <a:gd name="T48" fmla="*/ 377 w 531"/>
                <a:gd name="T49" fmla="*/ 166 h 212"/>
                <a:gd name="T50" fmla="*/ 381 w 531"/>
                <a:gd name="T51" fmla="*/ 163 h 212"/>
                <a:gd name="T52" fmla="*/ 385 w 531"/>
                <a:gd name="T53" fmla="*/ 160 h 212"/>
                <a:gd name="T54" fmla="*/ 390 w 531"/>
                <a:gd name="T55" fmla="*/ 157 h 212"/>
                <a:gd name="T56" fmla="*/ 396 w 531"/>
                <a:gd name="T57" fmla="*/ 153 h 212"/>
                <a:gd name="T58" fmla="*/ 400 w 531"/>
                <a:gd name="T59" fmla="*/ 150 h 212"/>
                <a:gd name="T60" fmla="*/ 403 w 531"/>
                <a:gd name="T61" fmla="*/ 148 h 212"/>
                <a:gd name="T62" fmla="*/ 406 w 531"/>
                <a:gd name="T63" fmla="*/ 145 h 212"/>
                <a:gd name="T64" fmla="*/ 411 w 531"/>
                <a:gd name="T65" fmla="*/ 142 h 212"/>
                <a:gd name="T66" fmla="*/ 415 w 531"/>
                <a:gd name="T67" fmla="*/ 139 h 212"/>
                <a:gd name="T68" fmla="*/ 418 w 531"/>
                <a:gd name="T69" fmla="*/ 136 h 212"/>
                <a:gd name="T70" fmla="*/ 421 w 531"/>
                <a:gd name="T71" fmla="*/ 135 h 212"/>
                <a:gd name="T72" fmla="*/ 424 w 531"/>
                <a:gd name="T73" fmla="*/ 132 h 212"/>
                <a:gd name="T74" fmla="*/ 428 w 531"/>
                <a:gd name="T75" fmla="*/ 129 h 212"/>
                <a:gd name="T76" fmla="*/ 433 w 531"/>
                <a:gd name="T77" fmla="*/ 126 h 212"/>
                <a:gd name="T78" fmla="*/ 436 w 531"/>
                <a:gd name="T79" fmla="*/ 124 h 212"/>
                <a:gd name="T80" fmla="*/ 440 w 531"/>
                <a:gd name="T81" fmla="*/ 121 h 212"/>
                <a:gd name="T82" fmla="*/ 443 w 531"/>
                <a:gd name="T83" fmla="*/ 117 h 212"/>
                <a:gd name="T84" fmla="*/ 449 w 531"/>
                <a:gd name="T85" fmla="*/ 111 h 212"/>
                <a:gd name="T86" fmla="*/ 454 w 531"/>
                <a:gd name="T87" fmla="*/ 107 h 212"/>
                <a:gd name="T88" fmla="*/ 456 w 531"/>
                <a:gd name="T89" fmla="*/ 102 h 212"/>
                <a:gd name="T90" fmla="*/ 459 w 531"/>
                <a:gd name="T91" fmla="*/ 98 h 212"/>
                <a:gd name="T92" fmla="*/ 465 w 531"/>
                <a:gd name="T93" fmla="*/ 92 h 212"/>
                <a:gd name="T94" fmla="*/ 471 w 531"/>
                <a:gd name="T95" fmla="*/ 84 h 212"/>
                <a:gd name="T96" fmla="*/ 476 w 531"/>
                <a:gd name="T97" fmla="*/ 80 h 212"/>
                <a:gd name="T98" fmla="*/ 479 w 531"/>
                <a:gd name="T99" fmla="*/ 76 h 212"/>
                <a:gd name="T100" fmla="*/ 483 w 531"/>
                <a:gd name="T101" fmla="*/ 70 h 212"/>
                <a:gd name="T102" fmla="*/ 489 w 531"/>
                <a:gd name="T103" fmla="*/ 62 h 212"/>
                <a:gd name="T104" fmla="*/ 495 w 531"/>
                <a:gd name="T105" fmla="*/ 53 h 212"/>
                <a:gd name="T106" fmla="*/ 499 w 531"/>
                <a:gd name="T107" fmla="*/ 47 h 212"/>
                <a:gd name="T108" fmla="*/ 502 w 531"/>
                <a:gd name="T109" fmla="*/ 42 h 212"/>
                <a:gd name="T110" fmla="*/ 508 w 531"/>
                <a:gd name="T111" fmla="*/ 36 h 212"/>
                <a:gd name="T112" fmla="*/ 514 w 531"/>
                <a:gd name="T113" fmla="*/ 27 h 212"/>
                <a:gd name="T114" fmla="*/ 519 w 531"/>
                <a:gd name="T115" fmla="*/ 19 h 212"/>
                <a:gd name="T116" fmla="*/ 523 w 531"/>
                <a:gd name="T117" fmla="*/ 15 h 212"/>
                <a:gd name="T118" fmla="*/ 526 w 531"/>
                <a:gd name="T119" fmla="*/ 9 h 212"/>
                <a:gd name="T120" fmla="*/ 531 w 531"/>
                <a:gd name="T121" fmla="*/ 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1" h="212">
                  <a:moveTo>
                    <a:pt x="0" y="212"/>
                  </a:moveTo>
                  <a:lnTo>
                    <a:pt x="21" y="212"/>
                  </a:lnTo>
                  <a:lnTo>
                    <a:pt x="39" y="212"/>
                  </a:lnTo>
                  <a:lnTo>
                    <a:pt x="57" y="212"/>
                  </a:lnTo>
                  <a:lnTo>
                    <a:pt x="74" y="212"/>
                  </a:lnTo>
                  <a:lnTo>
                    <a:pt x="89" y="212"/>
                  </a:lnTo>
                  <a:lnTo>
                    <a:pt x="104" y="212"/>
                  </a:lnTo>
                  <a:lnTo>
                    <a:pt x="117" y="212"/>
                  </a:lnTo>
                  <a:lnTo>
                    <a:pt x="129" y="212"/>
                  </a:lnTo>
                  <a:lnTo>
                    <a:pt x="141" y="212"/>
                  </a:lnTo>
                  <a:lnTo>
                    <a:pt x="151" y="212"/>
                  </a:lnTo>
                  <a:lnTo>
                    <a:pt x="162" y="212"/>
                  </a:lnTo>
                  <a:lnTo>
                    <a:pt x="169" y="212"/>
                  </a:lnTo>
                  <a:lnTo>
                    <a:pt x="178" y="212"/>
                  </a:lnTo>
                  <a:lnTo>
                    <a:pt x="185" y="212"/>
                  </a:lnTo>
                  <a:lnTo>
                    <a:pt x="191" y="212"/>
                  </a:lnTo>
                  <a:lnTo>
                    <a:pt x="197" y="212"/>
                  </a:lnTo>
                  <a:lnTo>
                    <a:pt x="203" y="212"/>
                  </a:lnTo>
                  <a:lnTo>
                    <a:pt x="208" y="212"/>
                  </a:lnTo>
                  <a:lnTo>
                    <a:pt x="212" y="212"/>
                  </a:lnTo>
                  <a:lnTo>
                    <a:pt x="215" y="212"/>
                  </a:lnTo>
                  <a:lnTo>
                    <a:pt x="220" y="212"/>
                  </a:lnTo>
                  <a:lnTo>
                    <a:pt x="223" y="212"/>
                  </a:lnTo>
                  <a:lnTo>
                    <a:pt x="224" y="212"/>
                  </a:lnTo>
                  <a:lnTo>
                    <a:pt x="227" y="212"/>
                  </a:lnTo>
                  <a:lnTo>
                    <a:pt x="228" y="212"/>
                  </a:lnTo>
                  <a:lnTo>
                    <a:pt x="230" y="210"/>
                  </a:lnTo>
                  <a:lnTo>
                    <a:pt x="233" y="210"/>
                  </a:lnTo>
                  <a:lnTo>
                    <a:pt x="234" y="210"/>
                  </a:lnTo>
                  <a:lnTo>
                    <a:pt x="236" y="210"/>
                  </a:lnTo>
                  <a:lnTo>
                    <a:pt x="237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40" y="210"/>
                  </a:lnTo>
                  <a:lnTo>
                    <a:pt x="242" y="210"/>
                  </a:lnTo>
                  <a:lnTo>
                    <a:pt x="243" y="210"/>
                  </a:lnTo>
                  <a:lnTo>
                    <a:pt x="245" y="210"/>
                  </a:lnTo>
                  <a:lnTo>
                    <a:pt x="246" y="210"/>
                  </a:lnTo>
                  <a:lnTo>
                    <a:pt x="248" y="210"/>
                  </a:lnTo>
                  <a:lnTo>
                    <a:pt x="248" y="210"/>
                  </a:lnTo>
                  <a:lnTo>
                    <a:pt x="249" y="210"/>
                  </a:lnTo>
                  <a:lnTo>
                    <a:pt x="251" y="210"/>
                  </a:lnTo>
                  <a:lnTo>
                    <a:pt x="251" y="210"/>
                  </a:lnTo>
                  <a:lnTo>
                    <a:pt x="252" y="210"/>
                  </a:lnTo>
                  <a:lnTo>
                    <a:pt x="252" y="210"/>
                  </a:lnTo>
                  <a:lnTo>
                    <a:pt x="254" y="210"/>
                  </a:lnTo>
                  <a:lnTo>
                    <a:pt x="254" y="209"/>
                  </a:lnTo>
                  <a:lnTo>
                    <a:pt x="255" y="209"/>
                  </a:lnTo>
                  <a:lnTo>
                    <a:pt x="255" y="209"/>
                  </a:lnTo>
                  <a:lnTo>
                    <a:pt x="257" y="209"/>
                  </a:lnTo>
                  <a:lnTo>
                    <a:pt x="257" y="209"/>
                  </a:lnTo>
                  <a:lnTo>
                    <a:pt x="258" y="209"/>
                  </a:lnTo>
                  <a:lnTo>
                    <a:pt x="258" y="209"/>
                  </a:lnTo>
                  <a:lnTo>
                    <a:pt x="260" y="209"/>
                  </a:lnTo>
                  <a:lnTo>
                    <a:pt x="260" y="209"/>
                  </a:lnTo>
                  <a:lnTo>
                    <a:pt x="261" y="209"/>
                  </a:lnTo>
                  <a:lnTo>
                    <a:pt x="262" y="209"/>
                  </a:lnTo>
                  <a:lnTo>
                    <a:pt x="262" y="209"/>
                  </a:lnTo>
                  <a:lnTo>
                    <a:pt x="264" y="209"/>
                  </a:lnTo>
                  <a:lnTo>
                    <a:pt x="265" y="209"/>
                  </a:lnTo>
                  <a:lnTo>
                    <a:pt x="265" y="207"/>
                  </a:lnTo>
                  <a:lnTo>
                    <a:pt x="267" y="207"/>
                  </a:lnTo>
                  <a:lnTo>
                    <a:pt x="268" y="207"/>
                  </a:lnTo>
                  <a:lnTo>
                    <a:pt x="270" y="207"/>
                  </a:lnTo>
                  <a:lnTo>
                    <a:pt x="271" y="207"/>
                  </a:lnTo>
                  <a:lnTo>
                    <a:pt x="271" y="207"/>
                  </a:lnTo>
                  <a:lnTo>
                    <a:pt x="273" y="207"/>
                  </a:lnTo>
                  <a:lnTo>
                    <a:pt x="274" y="207"/>
                  </a:lnTo>
                  <a:lnTo>
                    <a:pt x="276" y="206"/>
                  </a:lnTo>
                  <a:lnTo>
                    <a:pt x="276" y="206"/>
                  </a:lnTo>
                  <a:lnTo>
                    <a:pt x="277" y="206"/>
                  </a:lnTo>
                  <a:lnTo>
                    <a:pt x="279" y="206"/>
                  </a:lnTo>
                  <a:lnTo>
                    <a:pt x="280" y="206"/>
                  </a:lnTo>
                  <a:lnTo>
                    <a:pt x="280" y="206"/>
                  </a:lnTo>
                  <a:lnTo>
                    <a:pt x="282" y="206"/>
                  </a:lnTo>
                  <a:lnTo>
                    <a:pt x="282" y="206"/>
                  </a:lnTo>
                  <a:lnTo>
                    <a:pt x="283" y="206"/>
                  </a:lnTo>
                  <a:lnTo>
                    <a:pt x="285" y="204"/>
                  </a:lnTo>
                  <a:lnTo>
                    <a:pt x="285" y="204"/>
                  </a:lnTo>
                  <a:lnTo>
                    <a:pt x="286" y="204"/>
                  </a:lnTo>
                  <a:lnTo>
                    <a:pt x="286" y="204"/>
                  </a:lnTo>
                  <a:lnTo>
                    <a:pt x="288" y="204"/>
                  </a:lnTo>
                  <a:lnTo>
                    <a:pt x="288" y="204"/>
                  </a:lnTo>
                  <a:lnTo>
                    <a:pt x="289" y="204"/>
                  </a:lnTo>
                  <a:lnTo>
                    <a:pt x="289" y="204"/>
                  </a:lnTo>
                  <a:lnTo>
                    <a:pt x="291" y="203"/>
                  </a:lnTo>
                  <a:lnTo>
                    <a:pt x="291" y="203"/>
                  </a:lnTo>
                  <a:lnTo>
                    <a:pt x="292" y="203"/>
                  </a:lnTo>
                  <a:lnTo>
                    <a:pt x="294" y="203"/>
                  </a:lnTo>
                  <a:lnTo>
                    <a:pt x="294" y="203"/>
                  </a:lnTo>
                  <a:lnTo>
                    <a:pt x="295" y="203"/>
                  </a:lnTo>
                  <a:lnTo>
                    <a:pt x="297" y="201"/>
                  </a:lnTo>
                  <a:lnTo>
                    <a:pt x="298" y="201"/>
                  </a:lnTo>
                  <a:lnTo>
                    <a:pt x="298" y="201"/>
                  </a:lnTo>
                  <a:lnTo>
                    <a:pt x="300" y="201"/>
                  </a:lnTo>
                  <a:lnTo>
                    <a:pt x="301" y="200"/>
                  </a:lnTo>
                  <a:lnTo>
                    <a:pt x="302" y="200"/>
                  </a:lnTo>
                  <a:lnTo>
                    <a:pt x="304" y="200"/>
                  </a:lnTo>
                  <a:lnTo>
                    <a:pt x="304" y="200"/>
                  </a:lnTo>
                  <a:lnTo>
                    <a:pt x="305" y="198"/>
                  </a:lnTo>
                  <a:lnTo>
                    <a:pt x="307" y="198"/>
                  </a:lnTo>
                  <a:lnTo>
                    <a:pt x="308" y="198"/>
                  </a:lnTo>
                  <a:lnTo>
                    <a:pt x="310" y="197"/>
                  </a:lnTo>
                  <a:lnTo>
                    <a:pt x="311" y="197"/>
                  </a:lnTo>
                  <a:lnTo>
                    <a:pt x="313" y="197"/>
                  </a:lnTo>
                  <a:lnTo>
                    <a:pt x="314" y="197"/>
                  </a:lnTo>
                  <a:lnTo>
                    <a:pt x="314" y="196"/>
                  </a:lnTo>
                  <a:lnTo>
                    <a:pt x="316" y="196"/>
                  </a:lnTo>
                  <a:lnTo>
                    <a:pt x="317" y="196"/>
                  </a:lnTo>
                  <a:lnTo>
                    <a:pt x="317" y="196"/>
                  </a:lnTo>
                  <a:lnTo>
                    <a:pt x="319" y="196"/>
                  </a:lnTo>
                  <a:lnTo>
                    <a:pt x="319" y="194"/>
                  </a:lnTo>
                  <a:lnTo>
                    <a:pt x="320" y="194"/>
                  </a:lnTo>
                  <a:lnTo>
                    <a:pt x="322" y="194"/>
                  </a:lnTo>
                  <a:lnTo>
                    <a:pt x="322" y="194"/>
                  </a:lnTo>
                  <a:lnTo>
                    <a:pt x="323" y="194"/>
                  </a:lnTo>
                  <a:lnTo>
                    <a:pt x="323" y="193"/>
                  </a:lnTo>
                  <a:lnTo>
                    <a:pt x="325" y="193"/>
                  </a:lnTo>
                  <a:lnTo>
                    <a:pt x="325" y="193"/>
                  </a:lnTo>
                  <a:lnTo>
                    <a:pt x="326" y="193"/>
                  </a:lnTo>
                  <a:lnTo>
                    <a:pt x="326" y="191"/>
                  </a:lnTo>
                  <a:lnTo>
                    <a:pt x="328" y="191"/>
                  </a:lnTo>
                  <a:lnTo>
                    <a:pt x="329" y="191"/>
                  </a:lnTo>
                  <a:lnTo>
                    <a:pt x="329" y="190"/>
                  </a:lnTo>
                  <a:lnTo>
                    <a:pt x="331" y="190"/>
                  </a:lnTo>
                  <a:lnTo>
                    <a:pt x="332" y="190"/>
                  </a:lnTo>
                  <a:lnTo>
                    <a:pt x="332" y="188"/>
                  </a:lnTo>
                  <a:lnTo>
                    <a:pt x="334" y="188"/>
                  </a:lnTo>
                  <a:lnTo>
                    <a:pt x="335" y="188"/>
                  </a:lnTo>
                  <a:lnTo>
                    <a:pt x="337" y="187"/>
                  </a:lnTo>
                  <a:lnTo>
                    <a:pt x="338" y="187"/>
                  </a:lnTo>
                  <a:lnTo>
                    <a:pt x="338" y="187"/>
                  </a:lnTo>
                  <a:lnTo>
                    <a:pt x="339" y="185"/>
                  </a:lnTo>
                  <a:lnTo>
                    <a:pt x="341" y="185"/>
                  </a:lnTo>
                  <a:lnTo>
                    <a:pt x="342" y="184"/>
                  </a:lnTo>
                  <a:lnTo>
                    <a:pt x="342" y="184"/>
                  </a:lnTo>
                  <a:lnTo>
                    <a:pt x="344" y="184"/>
                  </a:lnTo>
                  <a:lnTo>
                    <a:pt x="345" y="182"/>
                  </a:lnTo>
                  <a:lnTo>
                    <a:pt x="347" y="182"/>
                  </a:lnTo>
                  <a:lnTo>
                    <a:pt x="347" y="181"/>
                  </a:lnTo>
                  <a:lnTo>
                    <a:pt x="348" y="181"/>
                  </a:lnTo>
                  <a:lnTo>
                    <a:pt x="348" y="181"/>
                  </a:lnTo>
                  <a:lnTo>
                    <a:pt x="350" y="181"/>
                  </a:lnTo>
                  <a:lnTo>
                    <a:pt x="350" y="179"/>
                  </a:lnTo>
                  <a:lnTo>
                    <a:pt x="351" y="179"/>
                  </a:lnTo>
                  <a:lnTo>
                    <a:pt x="351" y="179"/>
                  </a:lnTo>
                  <a:lnTo>
                    <a:pt x="353" y="179"/>
                  </a:lnTo>
                  <a:lnTo>
                    <a:pt x="353" y="178"/>
                  </a:lnTo>
                  <a:lnTo>
                    <a:pt x="354" y="178"/>
                  </a:lnTo>
                  <a:lnTo>
                    <a:pt x="354" y="178"/>
                  </a:lnTo>
                  <a:lnTo>
                    <a:pt x="356" y="178"/>
                  </a:lnTo>
                  <a:lnTo>
                    <a:pt x="356" y="176"/>
                  </a:lnTo>
                  <a:lnTo>
                    <a:pt x="357" y="176"/>
                  </a:lnTo>
                  <a:lnTo>
                    <a:pt x="357" y="176"/>
                  </a:lnTo>
                  <a:lnTo>
                    <a:pt x="359" y="175"/>
                  </a:lnTo>
                  <a:lnTo>
                    <a:pt x="359" y="175"/>
                  </a:lnTo>
                  <a:lnTo>
                    <a:pt x="360" y="175"/>
                  </a:lnTo>
                  <a:lnTo>
                    <a:pt x="360" y="175"/>
                  </a:lnTo>
                  <a:lnTo>
                    <a:pt x="362" y="173"/>
                  </a:lnTo>
                  <a:lnTo>
                    <a:pt x="363" y="173"/>
                  </a:lnTo>
                  <a:lnTo>
                    <a:pt x="363" y="172"/>
                  </a:lnTo>
                  <a:lnTo>
                    <a:pt x="365" y="172"/>
                  </a:lnTo>
                  <a:lnTo>
                    <a:pt x="366" y="172"/>
                  </a:lnTo>
                  <a:lnTo>
                    <a:pt x="368" y="170"/>
                  </a:lnTo>
                  <a:lnTo>
                    <a:pt x="368" y="170"/>
                  </a:lnTo>
                  <a:lnTo>
                    <a:pt x="369" y="170"/>
                  </a:lnTo>
                  <a:lnTo>
                    <a:pt x="369" y="169"/>
                  </a:lnTo>
                  <a:lnTo>
                    <a:pt x="371" y="169"/>
                  </a:lnTo>
                  <a:lnTo>
                    <a:pt x="372" y="167"/>
                  </a:lnTo>
                  <a:lnTo>
                    <a:pt x="372" y="167"/>
                  </a:lnTo>
                  <a:lnTo>
                    <a:pt x="374" y="167"/>
                  </a:lnTo>
                  <a:lnTo>
                    <a:pt x="375" y="166"/>
                  </a:lnTo>
                  <a:lnTo>
                    <a:pt x="375" y="166"/>
                  </a:lnTo>
                  <a:lnTo>
                    <a:pt x="377" y="166"/>
                  </a:lnTo>
                  <a:lnTo>
                    <a:pt x="377" y="164"/>
                  </a:lnTo>
                  <a:lnTo>
                    <a:pt x="378" y="164"/>
                  </a:lnTo>
                  <a:lnTo>
                    <a:pt x="378" y="164"/>
                  </a:lnTo>
                  <a:lnTo>
                    <a:pt x="379" y="164"/>
                  </a:lnTo>
                  <a:lnTo>
                    <a:pt x="379" y="163"/>
                  </a:lnTo>
                  <a:lnTo>
                    <a:pt x="379" y="163"/>
                  </a:lnTo>
                  <a:lnTo>
                    <a:pt x="381" y="163"/>
                  </a:lnTo>
                  <a:lnTo>
                    <a:pt x="381" y="163"/>
                  </a:lnTo>
                  <a:lnTo>
                    <a:pt x="382" y="161"/>
                  </a:lnTo>
                  <a:lnTo>
                    <a:pt x="382" y="161"/>
                  </a:lnTo>
                  <a:lnTo>
                    <a:pt x="382" y="161"/>
                  </a:lnTo>
                  <a:lnTo>
                    <a:pt x="384" y="161"/>
                  </a:lnTo>
                  <a:lnTo>
                    <a:pt x="384" y="160"/>
                  </a:lnTo>
                  <a:lnTo>
                    <a:pt x="385" y="160"/>
                  </a:lnTo>
                  <a:lnTo>
                    <a:pt x="385" y="160"/>
                  </a:lnTo>
                  <a:lnTo>
                    <a:pt x="387" y="160"/>
                  </a:lnTo>
                  <a:lnTo>
                    <a:pt x="387" y="159"/>
                  </a:lnTo>
                  <a:lnTo>
                    <a:pt x="388" y="159"/>
                  </a:lnTo>
                  <a:lnTo>
                    <a:pt x="388" y="159"/>
                  </a:lnTo>
                  <a:lnTo>
                    <a:pt x="390" y="157"/>
                  </a:lnTo>
                  <a:lnTo>
                    <a:pt x="390" y="157"/>
                  </a:lnTo>
                  <a:lnTo>
                    <a:pt x="391" y="157"/>
                  </a:lnTo>
                  <a:lnTo>
                    <a:pt x="393" y="156"/>
                  </a:lnTo>
                  <a:lnTo>
                    <a:pt x="393" y="156"/>
                  </a:lnTo>
                  <a:lnTo>
                    <a:pt x="393" y="156"/>
                  </a:lnTo>
                  <a:lnTo>
                    <a:pt x="394" y="154"/>
                  </a:lnTo>
                  <a:lnTo>
                    <a:pt x="396" y="154"/>
                  </a:lnTo>
                  <a:lnTo>
                    <a:pt x="396" y="153"/>
                  </a:lnTo>
                  <a:lnTo>
                    <a:pt x="397" y="153"/>
                  </a:lnTo>
                  <a:lnTo>
                    <a:pt x="397" y="153"/>
                  </a:lnTo>
                  <a:lnTo>
                    <a:pt x="399" y="151"/>
                  </a:lnTo>
                  <a:lnTo>
                    <a:pt x="399" y="151"/>
                  </a:lnTo>
                  <a:lnTo>
                    <a:pt x="399" y="151"/>
                  </a:lnTo>
                  <a:lnTo>
                    <a:pt x="400" y="151"/>
                  </a:lnTo>
                  <a:lnTo>
                    <a:pt x="400" y="150"/>
                  </a:lnTo>
                  <a:lnTo>
                    <a:pt x="402" y="150"/>
                  </a:lnTo>
                  <a:lnTo>
                    <a:pt x="402" y="150"/>
                  </a:lnTo>
                  <a:lnTo>
                    <a:pt x="402" y="150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3" y="148"/>
                  </a:lnTo>
                  <a:lnTo>
                    <a:pt x="405" y="148"/>
                  </a:lnTo>
                  <a:lnTo>
                    <a:pt x="405" y="147"/>
                  </a:lnTo>
                  <a:lnTo>
                    <a:pt x="405" y="147"/>
                  </a:lnTo>
                  <a:lnTo>
                    <a:pt x="406" y="147"/>
                  </a:lnTo>
                  <a:lnTo>
                    <a:pt x="406" y="147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8" y="145"/>
                  </a:lnTo>
                  <a:lnTo>
                    <a:pt x="408" y="145"/>
                  </a:lnTo>
                  <a:lnTo>
                    <a:pt x="409" y="144"/>
                  </a:lnTo>
                  <a:lnTo>
                    <a:pt x="409" y="144"/>
                  </a:lnTo>
                  <a:lnTo>
                    <a:pt x="409" y="144"/>
                  </a:lnTo>
                  <a:lnTo>
                    <a:pt x="411" y="142"/>
                  </a:lnTo>
                  <a:lnTo>
                    <a:pt x="411" y="142"/>
                  </a:lnTo>
                  <a:lnTo>
                    <a:pt x="411" y="142"/>
                  </a:lnTo>
                  <a:lnTo>
                    <a:pt x="412" y="142"/>
                  </a:lnTo>
                  <a:lnTo>
                    <a:pt x="412" y="141"/>
                  </a:lnTo>
                  <a:lnTo>
                    <a:pt x="414" y="141"/>
                  </a:lnTo>
                  <a:lnTo>
                    <a:pt x="414" y="141"/>
                  </a:lnTo>
                  <a:lnTo>
                    <a:pt x="414" y="139"/>
                  </a:lnTo>
                  <a:lnTo>
                    <a:pt x="415" y="139"/>
                  </a:lnTo>
                  <a:lnTo>
                    <a:pt x="415" y="139"/>
                  </a:lnTo>
                  <a:lnTo>
                    <a:pt x="416" y="139"/>
                  </a:lnTo>
                  <a:lnTo>
                    <a:pt x="416" y="138"/>
                  </a:lnTo>
                  <a:lnTo>
                    <a:pt x="416" y="138"/>
                  </a:lnTo>
                  <a:lnTo>
                    <a:pt x="416" y="138"/>
                  </a:lnTo>
                  <a:lnTo>
                    <a:pt x="418" y="138"/>
                  </a:lnTo>
                  <a:lnTo>
                    <a:pt x="418" y="136"/>
                  </a:lnTo>
                  <a:lnTo>
                    <a:pt x="418" y="136"/>
                  </a:lnTo>
                  <a:lnTo>
                    <a:pt x="419" y="136"/>
                  </a:lnTo>
                  <a:lnTo>
                    <a:pt x="419" y="136"/>
                  </a:lnTo>
                  <a:lnTo>
                    <a:pt x="419" y="136"/>
                  </a:lnTo>
                  <a:lnTo>
                    <a:pt x="419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1" y="135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4" y="133"/>
                  </a:lnTo>
                  <a:lnTo>
                    <a:pt x="424" y="132"/>
                  </a:lnTo>
                  <a:lnTo>
                    <a:pt x="425" y="132"/>
                  </a:lnTo>
                  <a:lnTo>
                    <a:pt x="425" y="132"/>
                  </a:lnTo>
                  <a:lnTo>
                    <a:pt x="427" y="130"/>
                  </a:lnTo>
                  <a:lnTo>
                    <a:pt x="427" y="130"/>
                  </a:lnTo>
                  <a:lnTo>
                    <a:pt x="428" y="130"/>
                  </a:lnTo>
                  <a:lnTo>
                    <a:pt x="428" y="130"/>
                  </a:lnTo>
                  <a:lnTo>
                    <a:pt x="428" y="129"/>
                  </a:lnTo>
                  <a:lnTo>
                    <a:pt x="430" y="129"/>
                  </a:lnTo>
                  <a:lnTo>
                    <a:pt x="430" y="129"/>
                  </a:lnTo>
                  <a:lnTo>
                    <a:pt x="431" y="127"/>
                  </a:lnTo>
                  <a:lnTo>
                    <a:pt x="431" y="127"/>
                  </a:lnTo>
                  <a:lnTo>
                    <a:pt x="433" y="127"/>
                  </a:lnTo>
                  <a:lnTo>
                    <a:pt x="433" y="127"/>
                  </a:lnTo>
                  <a:lnTo>
                    <a:pt x="433" y="126"/>
                  </a:lnTo>
                  <a:lnTo>
                    <a:pt x="434" y="126"/>
                  </a:lnTo>
                  <a:lnTo>
                    <a:pt x="434" y="126"/>
                  </a:lnTo>
                  <a:lnTo>
                    <a:pt x="434" y="126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6" y="124"/>
                  </a:lnTo>
                  <a:lnTo>
                    <a:pt x="437" y="123"/>
                  </a:lnTo>
                  <a:lnTo>
                    <a:pt x="437" y="123"/>
                  </a:lnTo>
                  <a:lnTo>
                    <a:pt x="437" y="123"/>
                  </a:lnTo>
                  <a:lnTo>
                    <a:pt x="439" y="123"/>
                  </a:lnTo>
                  <a:lnTo>
                    <a:pt x="439" y="121"/>
                  </a:lnTo>
                  <a:lnTo>
                    <a:pt x="439" y="121"/>
                  </a:lnTo>
                  <a:lnTo>
                    <a:pt x="440" y="121"/>
                  </a:lnTo>
                  <a:lnTo>
                    <a:pt x="440" y="120"/>
                  </a:lnTo>
                  <a:lnTo>
                    <a:pt x="440" y="120"/>
                  </a:lnTo>
                  <a:lnTo>
                    <a:pt x="442" y="119"/>
                  </a:lnTo>
                  <a:lnTo>
                    <a:pt x="442" y="119"/>
                  </a:lnTo>
                  <a:lnTo>
                    <a:pt x="443" y="119"/>
                  </a:lnTo>
                  <a:lnTo>
                    <a:pt x="443" y="117"/>
                  </a:lnTo>
                  <a:lnTo>
                    <a:pt x="443" y="117"/>
                  </a:lnTo>
                  <a:lnTo>
                    <a:pt x="445" y="116"/>
                  </a:lnTo>
                  <a:lnTo>
                    <a:pt x="446" y="116"/>
                  </a:lnTo>
                  <a:lnTo>
                    <a:pt x="446" y="114"/>
                  </a:lnTo>
                  <a:lnTo>
                    <a:pt x="446" y="114"/>
                  </a:lnTo>
                  <a:lnTo>
                    <a:pt x="448" y="113"/>
                  </a:lnTo>
                  <a:lnTo>
                    <a:pt x="448" y="113"/>
                  </a:lnTo>
                  <a:lnTo>
                    <a:pt x="449" y="111"/>
                  </a:lnTo>
                  <a:lnTo>
                    <a:pt x="449" y="111"/>
                  </a:lnTo>
                  <a:lnTo>
                    <a:pt x="451" y="110"/>
                  </a:lnTo>
                  <a:lnTo>
                    <a:pt x="451" y="110"/>
                  </a:lnTo>
                  <a:lnTo>
                    <a:pt x="451" y="108"/>
                  </a:lnTo>
                  <a:lnTo>
                    <a:pt x="452" y="108"/>
                  </a:lnTo>
                  <a:lnTo>
                    <a:pt x="452" y="107"/>
                  </a:lnTo>
                  <a:lnTo>
                    <a:pt x="454" y="107"/>
                  </a:lnTo>
                  <a:lnTo>
                    <a:pt x="454" y="107"/>
                  </a:lnTo>
                  <a:lnTo>
                    <a:pt x="454" y="105"/>
                  </a:lnTo>
                  <a:lnTo>
                    <a:pt x="455" y="105"/>
                  </a:lnTo>
                  <a:lnTo>
                    <a:pt x="455" y="105"/>
                  </a:lnTo>
                  <a:lnTo>
                    <a:pt x="455" y="104"/>
                  </a:lnTo>
                  <a:lnTo>
                    <a:pt x="455" y="104"/>
                  </a:lnTo>
                  <a:lnTo>
                    <a:pt x="456" y="102"/>
                  </a:lnTo>
                  <a:lnTo>
                    <a:pt x="456" y="102"/>
                  </a:lnTo>
                  <a:lnTo>
                    <a:pt x="456" y="102"/>
                  </a:lnTo>
                  <a:lnTo>
                    <a:pt x="458" y="101"/>
                  </a:lnTo>
                  <a:lnTo>
                    <a:pt x="458" y="101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9" y="98"/>
                  </a:lnTo>
                  <a:lnTo>
                    <a:pt x="461" y="98"/>
                  </a:lnTo>
                  <a:lnTo>
                    <a:pt x="461" y="96"/>
                  </a:lnTo>
                  <a:lnTo>
                    <a:pt x="462" y="96"/>
                  </a:lnTo>
                  <a:lnTo>
                    <a:pt x="462" y="95"/>
                  </a:lnTo>
                  <a:lnTo>
                    <a:pt x="464" y="93"/>
                  </a:lnTo>
                  <a:lnTo>
                    <a:pt x="465" y="93"/>
                  </a:lnTo>
                  <a:lnTo>
                    <a:pt x="465" y="92"/>
                  </a:lnTo>
                  <a:lnTo>
                    <a:pt x="467" y="90"/>
                  </a:lnTo>
                  <a:lnTo>
                    <a:pt x="467" y="90"/>
                  </a:lnTo>
                  <a:lnTo>
                    <a:pt x="468" y="89"/>
                  </a:lnTo>
                  <a:lnTo>
                    <a:pt x="468" y="89"/>
                  </a:lnTo>
                  <a:lnTo>
                    <a:pt x="470" y="87"/>
                  </a:lnTo>
                  <a:lnTo>
                    <a:pt x="470" y="86"/>
                  </a:lnTo>
                  <a:lnTo>
                    <a:pt x="471" y="84"/>
                  </a:lnTo>
                  <a:lnTo>
                    <a:pt x="471" y="84"/>
                  </a:lnTo>
                  <a:lnTo>
                    <a:pt x="473" y="83"/>
                  </a:lnTo>
                  <a:lnTo>
                    <a:pt x="473" y="83"/>
                  </a:lnTo>
                  <a:lnTo>
                    <a:pt x="474" y="82"/>
                  </a:lnTo>
                  <a:lnTo>
                    <a:pt x="474" y="82"/>
                  </a:lnTo>
                  <a:lnTo>
                    <a:pt x="476" y="80"/>
                  </a:lnTo>
                  <a:lnTo>
                    <a:pt x="476" y="80"/>
                  </a:lnTo>
                  <a:lnTo>
                    <a:pt x="476" y="79"/>
                  </a:lnTo>
                  <a:lnTo>
                    <a:pt x="477" y="79"/>
                  </a:lnTo>
                  <a:lnTo>
                    <a:pt x="477" y="77"/>
                  </a:lnTo>
                  <a:lnTo>
                    <a:pt x="477" y="77"/>
                  </a:lnTo>
                  <a:lnTo>
                    <a:pt x="479" y="76"/>
                  </a:lnTo>
                  <a:lnTo>
                    <a:pt x="479" y="76"/>
                  </a:lnTo>
                  <a:lnTo>
                    <a:pt x="479" y="76"/>
                  </a:lnTo>
                  <a:lnTo>
                    <a:pt x="480" y="74"/>
                  </a:lnTo>
                  <a:lnTo>
                    <a:pt x="480" y="74"/>
                  </a:lnTo>
                  <a:lnTo>
                    <a:pt x="482" y="73"/>
                  </a:lnTo>
                  <a:lnTo>
                    <a:pt x="482" y="71"/>
                  </a:lnTo>
                  <a:lnTo>
                    <a:pt x="482" y="71"/>
                  </a:lnTo>
                  <a:lnTo>
                    <a:pt x="483" y="70"/>
                  </a:lnTo>
                  <a:lnTo>
                    <a:pt x="483" y="70"/>
                  </a:lnTo>
                  <a:lnTo>
                    <a:pt x="485" y="68"/>
                  </a:lnTo>
                  <a:lnTo>
                    <a:pt x="485" y="67"/>
                  </a:lnTo>
                  <a:lnTo>
                    <a:pt x="486" y="65"/>
                  </a:lnTo>
                  <a:lnTo>
                    <a:pt x="488" y="65"/>
                  </a:lnTo>
                  <a:lnTo>
                    <a:pt x="488" y="64"/>
                  </a:lnTo>
                  <a:lnTo>
                    <a:pt x="489" y="62"/>
                  </a:lnTo>
                  <a:lnTo>
                    <a:pt x="489" y="62"/>
                  </a:lnTo>
                  <a:lnTo>
                    <a:pt x="491" y="61"/>
                  </a:lnTo>
                  <a:lnTo>
                    <a:pt x="491" y="59"/>
                  </a:lnTo>
                  <a:lnTo>
                    <a:pt x="492" y="58"/>
                  </a:lnTo>
                  <a:lnTo>
                    <a:pt x="492" y="56"/>
                  </a:lnTo>
                  <a:lnTo>
                    <a:pt x="493" y="55"/>
                  </a:lnTo>
                  <a:lnTo>
                    <a:pt x="493" y="55"/>
                  </a:lnTo>
                  <a:lnTo>
                    <a:pt x="495" y="53"/>
                  </a:lnTo>
                  <a:lnTo>
                    <a:pt x="495" y="52"/>
                  </a:lnTo>
                  <a:lnTo>
                    <a:pt x="496" y="52"/>
                  </a:lnTo>
                  <a:lnTo>
                    <a:pt x="496" y="50"/>
                  </a:lnTo>
                  <a:lnTo>
                    <a:pt x="498" y="50"/>
                  </a:lnTo>
                  <a:lnTo>
                    <a:pt x="498" y="49"/>
                  </a:lnTo>
                  <a:lnTo>
                    <a:pt x="498" y="49"/>
                  </a:lnTo>
                  <a:lnTo>
                    <a:pt x="499" y="47"/>
                  </a:lnTo>
                  <a:lnTo>
                    <a:pt x="499" y="47"/>
                  </a:lnTo>
                  <a:lnTo>
                    <a:pt x="499" y="46"/>
                  </a:lnTo>
                  <a:lnTo>
                    <a:pt x="501" y="46"/>
                  </a:lnTo>
                  <a:lnTo>
                    <a:pt x="501" y="45"/>
                  </a:lnTo>
                  <a:lnTo>
                    <a:pt x="501" y="45"/>
                  </a:lnTo>
                  <a:lnTo>
                    <a:pt x="502" y="43"/>
                  </a:lnTo>
                  <a:lnTo>
                    <a:pt x="502" y="42"/>
                  </a:lnTo>
                  <a:lnTo>
                    <a:pt x="504" y="42"/>
                  </a:lnTo>
                  <a:lnTo>
                    <a:pt x="504" y="40"/>
                  </a:lnTo>
                  <a:lnTo>
                    <a:pt x="505" y="40"/>
                  </a:lnTo>
                  <a:lnTo>
                    <a:pt x="505" y="39"/>
                  </a:lnTo>
                  <a:lnTo>
                    <a:pt x="507" y="37"/>
                  </a:lnTo>
                  <a:lnTo>
                    <a:pt x="507" y="37"/>
                  </a:lnTo>
                  <a:lnTo>
                    <a:pt x="508" y="36"/>
                  </a:lnTo>
                  <a:lnTo>
                    <a:pt x="508" y="34"/>
                  </a:lnTo>
                  <a:lnTo>
                    <a:pt x="510" y="33"/>
                  </a:lnTo>
                  <a:lnTo>
                    <a:pt x="511" y="31"/>
                  </a:lnTo>
                  <a:lnTo>
                    <a:pt x="511" y="30"/>
                  </a:lnTo>
                  <a:lnTo>
                    <a:pt x="511" y="30"/>
                  </a:lnTo>
                  <a:lnTo>
                    <a:pt x="513" y="28"/>
                  </a:lnTo>
                  <a:lnTo>
                    <a:pt x="514" y="27"/>
                  </a:lnTo>
                  <a:lnTo>
                    <a:pt x="514" y="27"/>
                  </a:lnTo>
                  <a:lnTo>
                    <a:pt x="516" y="25"/>
                  </a:lnTo>
                  <a:lnTo>
                    <a:pt x="516" y="24"/>
                  </a:lnTo>
                  <a:lnTo>
                    <a:pt x="517" y="22"/>
                  </a:lnTo>
                  <a:lnTo>
                    <a:pt x="517" y="22"/>
                  </a:lnTo>
                  <a:lnTo>
                    <a:pt x="519" y="21"/>
                  </a:lnTo>
                  <a:lnTo>
                    <a:pt x="519" y="19"/>
                  </a:lnTo>
                  <a:lnTo>
                    <a:pt x="520" y="19"/>
                  </a:lnTo>
                  <a:lnTo>
                    <a:pt x="520" y="18"/>
                  </a:lnTo>
                  <a:lnTo>
                    <a:pt x="520" y="18"/>
                  </a:lnTo>
                  <a:lnTo>
                    <a:pt x="522" y="16"/>
                  </a:lnTo>
                  <a:lnTo>
                    <a:pt x="522" y="16"/>
                  </a:lnTo>
                  <a:lnTo>
                    <a:pt x="522" y="15"/>
                  </a:lnTo>
                  <a:lnTo>
                    <a:pt x="523" y="15"/>
                  </a:lnTo>
                  <a:lnTo>
                    <a:pt x="523" y="13"/>
                  </a:lnTo>
                  <a:lnTo>
                    <a:pt x="523" y="13"/>
                  </a:lnTo>
                  <a:lnTo>
                    <a:pt x="525" y="12"/>
                  </a:lnTo>
                  <a:lnTo>
                    <a:pt x="525" y="12"/>
                  </a:lnTo>
                  <a:lnTo>
                    <a:pt x="525" y="10"/>
                  </a:lnTo>
                  <a:lnTo>
                    <a:pt x="526" y="10"/>
                  </a:lnTo>
                  <a:lnTo>
                    <a:pt x="526" y="9"/>
                  </a:lnTo>
                  <a:lnTo>
                    <a:pt x="526" y="9"/>
                  </a:lnTo>
                  <a:lnTo>
                    <a:pt x="528" y="7"/>
                  </a:lnTo>
                  <a:lnTo>
                    <a:pt x="528" y="7"/>
                  </a:lnTo>
                  <a:lnTo>
                    <a:pt x="528" y="6"/>
                  </a:lnTo>
                  <a:lnTo>
                    <a:pt x="529" y="5"/>
                  </a:lnTo>
                  <a:lnTo>
                    <a:pt x="529" y="5"/>
                  </a:lnTo>
                  <a:lnTo>
                    <a:pt x="531" y="3"/>
                  </a:lnTo>
                  <a:lnTo>
                    <a:pt x="531" y="2"/>
                  </a:lnTo>
                  <a:lnTo>
                    <a:pt x="531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3" name="Freeform 458"/>
            <p:cNvSpPr>
              <a:spLocks/>
            </p:cNvSpPr>
            <p:nvPr/>
          </p:nvSpPr>
          <p:spPr bwMode="auto">
            <a:xfrm>
              <a:off x="2943" y="3344"/>
              <a:ext cx="22" cy="70"/>
            </a:xfrm>
            <a:custGeom>
              <a:avLst/>
              <a:gdLst>
                <a:gd name="T0" fmla="*/ 5 w 64"/>
                <a:gd name="T1" fmla="*/ 8 h 212"/>
                <a:gd name="T2" fmla="*/ 8 w 64"/>
                <a:gd name="T3" fmla="*/ 14 h 212"/>
                <a:gd name="T4" fmla="*/ 11 w 64"/>
                <a:gd name="T5" fmla="*/ 20 h 212"/>
                <a:gd name="T6" fmla="*/ 14 w 64"/>
                <a:gd name="T7" fmla="*/ 24 h 212"/>
                <a:gd name="T8" fmla="*/ 15 w 64"/>
                <a:gd name="T9" fmla="*/ 27 h 212"/>
                <a:gd name="T10" fmla="*/ 17 w 64"/>
                <a:gd name="T11" fmla="*/ 30 h 212"/>
                <a:gd name="T12" fmla="*/ 18 w 64"/>
                <a:gd name="T13" fmla="*/ 34 h 212"/>
                <a:gd name="T14" fmla="*/ 20 w 64"/>
                <a:gd name="T15" fmla="*/ 37 h 212"/>
                <a:gd name="T16" fmla="*/ 21 w 64"/>
                <a:gd name="T17" fmla="*/ 42 h 212"/>
                <a:gd name="T18" fmla="*/ 23 w 64"/>
                <a:gd name="T19" fmla="*/ 46 h 212"/>
                <a:gd name="T20" fmla="*/ 24 w 64"/>
                <a:gd name="T21" fmla="*/ 49 h 212"/>
                <a:gd name="T22" fmla="*/ 26 w 64"/>
                <a:gd name="T23" fmla="*/ 52 h 212"/>
                <a:gd name="T24" fmla="*/ 27 w 64"/>
                <a:gd name="T25" fmla="*/ 54 h 212"/>
                <a:gd name="T26" fmla="*/ 29 w 64"/>
                <a:gd name="T27" fmla="*/ 58 h 212"/>
                <a:gd name="T28" fmla="*/ 30 w 64"/>
                <a:gd name="T29" fmla="*/ 61 h 212"/>
                <a:gd name="T30" fmla="*/ 32 w 64"/>
                <a:gd name="T31" fmla="*/ 66 h 212"/>
                <a:gd name="T32" fmla="*/ 33 w 64"/>
                <a:gd name="T33" fmla="*/ 70 h 212"/>
                <a:gd name="T34" fmla="*/ 35 w 64"/>
                <a:gd name="T35" fmla="*/ 76 h 212"/>
                <a:gd name="T36" fmla="*/ 36 w 64"/>
                <a:gd name="T37" fmla="*/ 79 h 212"/>
                <a:gd name="T38" fmla="*/ 37 w 64"/>
                <a:gd name="T39" fmla="*/ 83 h 212"/>
                <a:gd name="T40" fmla="*/ 39 w 64"/>
                <a:gd name="T41" fmla="*/ 86 h 212"/>
                <a:gd name="T42" fmla="*/ 39 w 64"/>
                <a:gd name="T43" fmla="*/ 89 h 212"/>
                <a:gd name="T44" fmla="*/ 40 w 64"/>
                <a:gd name="T45" fmla="*/ 92 h 212"/>
                <a:gd name="T46" fmla="*/ 42 w 64"/>
                <a:gd name="T47" fmla="*/ 97 h 212"/>
                <a:gd name="T48" fmla="*/ 43 w 64"/>
                <a:gd name="T49" fmla="*/ 101 h 212"/>
                <a:gd name="T50" fmla="*/ 45 w 64"/>
                <a:gd name="T51" fmla="*/ 107 h 212"/>
                <a:gd name="T52" fmla="*/ 46 w 64"/>
                <a:gd name="T53" fmla="*/ 111 h 212"/>
                <a:gd name="T54" fmla="*/ 48 w 64"/>
                <a:gd name="T55" fmla="*/ 114 h 212"/>
                <a:gd name="T56" fmla="*/ 48 w 64"/>
                <a:gd name="T57" fmla="*/ 117 h 212"/>
                <a:gd name="T58" fmla="*/ 49 w 64"/>
                <a:gd name="T59" fmla="*/ 120 h 212"/>
                <a:gd name="T60" fmla="*/ 51 w 64"/>
                <a:gd name="T61" fmla="*/ 123 h 212"/>
                <a:gd name="T62" fmla="*/ 52 w 64"/>
                <a:gd name="T63" fmla="*/ 128 h 212"/>
                <a:gd name="T64" fmla="*/ 54 w 64"/>
                <a:gd name="T65" fmla="*/ 134 h 212"/>
                <a:gd name="T66" fmla="*/ 55 w 64"/>
                <a:gd name="T67" fmla="*/ 138 h 212"/>
                <a:gd name="T68" fmla="*/ 55 w 64"/>
                <a:gd name="T69" fmla="*/ 143 h 212"/>
                <a:gd name="T70" fmla="*/ 57 w 64"/>
                <a:gd name="T71" fmla="*/ 145 h 212"/>
                <a:gd name="T72" fmla="*/ 58 w 64"/>
                <a:gd name="T73" fmla="*/ 148 h 212"/>
                <a:gd name="T74" fmla="*/ 58 w 64"/>
                <a:gd name="T75" fmla="*/ 151 h 212"/>
                <a:gd name="T76" fmla="*/ 58 w 64"/>
                <a:gd name="T77" fmla="*/ 154 h 212"/>
                <a:gd name="T78" fmla="*/ 60 w 64"/>
                <a:gd name="T79" fmla="*/ 157 h 212"/>
                <a:gd name="T80" fmla="*/ 60 w 64"/>
                <a:gd name="T81" fmla="*/ 162 h 212"/>
                <a:gd name="T82" fmla="*/ 60 w 64"/>
                <a:gd name="T83" fmla="*/ 166 h 212"/>
                <a:gd name="T84" fmla="*/ 60 w 64"/>
                <a:gd name="T85" fmla="*/ 169 h 212"/>
                <a:gd name="T86" fmla="*/ 60 w 64"/>
                <a:gd name="T87" fmla="*/ 174 h 212"/>
                <a:gd name="T88" fmla="*/ 61 w 64"/>
                <a:gd name="T89" fmla="*/ 175 h 212"/>
                <a:gd name="T90" fmla="*/ 61 w 64"/>
                <a:gd name="T91" fmla="*/ 178 h 212"/>
                <a:gd name="T92" fmla="*/ 61 w 64"/>
                <a:gd name="T93" fmla="*/ 180 h 212"/>
                <a:gd name="T94" fmla="*/ 61 w 64"/>
                <a:gd name="T95" fmla="*/ 181 h 212"/>
                <a:gd name="T96" fmla="*/ 63 w 64"/>
                <a:gd name="T97" fmla="*/ 184 h 212"/>
                <a:gd name="T98" fmla="*/ 63 w 64"/>
                <a:gd name="T99" fmla="*/ 187 h 212"/>
                <a:gd name="T100" fmla="*/ 63 w 64"/>
                <a:gd name="T101" fmla="*/ 188 h 212"/>
                <a:gd name="T102" fmla="*/ 63 w 64"/>
                <a:gd name="T103" fmla="*/ 191 h 212"/>
                <a:gd name="T104" fmla="*/ 64 w 64"/>
                <a:gd name="T105" fmla="*/ 193 h 212"/>
                <a:gd name="T106" fmla="*/ 64 w 64"/>
                <a:gd name="T107" fmla="*/ 196 h 212"/>
                <a:gd name="T108" fmla="*/ 64 w 64"/>
                <a:gd name="T109" fmla="*/ 199 h 212"/>
                <a:gd name="T110" fmla="*/ 64 w 64"/>
                <a:gd name="T111" fmla="*/ 203 h 212"/>
                <a:gd name="T112" fmla="*/ 63 w 64"/>
                <a:gd name="T113" fmla="*/ 208 h 212"/>
                <a:gd name="T114" fmla="*/ 0 w 64"/>
                <a:gd name="T115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4" h="212">
                  <a:moveTo>
                    <a:pt x="0" y="0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1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3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6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7" y="29"/>
                  </a:lnTo>
                  <a:lnTo>
                    <a:pt x="17" y="30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0" y="36"/>
                  </a:lnTo>
                  <a:lnTo>
                    <a:pt x="20" y="37"/>
                  </a:lnTo>
                  <a:lnTo>
                    <a:pt x="20" y="37"/>
                  </a:lnTo>
                  <a:lnTo>
                    <a:pt x="21" y="39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3" y="46"/>
                  </a:lnTo>
                  <a:lnTo>
                    <a:pt x="24" y="46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0" y="61"/>
                  </a:lnTo>
                  <a:lnTo>
                    <a:pt x="30" y="63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2" y="66"/>
                  </a:lnTo>
                  <a:lnTo>
                    <a:pt x="32" y="67"/>
                  </a:lnTo>
                  <a:lnTo>
                    <a:pt x="32" y="68"/>
                  </a:lnTo>
                  <a:lnTo>
                    <a:pt x="32" y="68"/>
                  </a:lnTo>
                  <a:lnTo>
                    <a:pt x="33" y="70"/>
                  </a:lnTo>
                  <a:lnTo>
                    <a:pt x="33" y="71"/>
                  </a:lnTo>
                  <a:lnTo>
                    <a:pt x="35" y="73"/>
                  </a:lnTo>
                  <a:lnTo>
                    <a:pt x="35" y="74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6" y="77"/>
                  </a:lnTo>
                  <a:lnTo>
                    <a:pt x="36" y="79"/>
                  </a:lnTo>
                  <a:lnTo>
                    <a:pt x="36" y="79"/>
                  </a:lnTo>
                  <a:lnTo>
                    <a:pt x="36" y="80"/>
                  </a:lnTo>
                  <a:lnTo>
                    <a:pt x="37" y="80"/>
                  </a:lnTo>
                  <a:lnTo>
                    <a:pt x="37" y="82"/>
                  </a:lnTo>
                  <a:lnTo>
                    <a:pt x="37" y="83"/>
                  </a:lnTo>
                  <a:lnTo>
                    <a:pt x="37" y="83"/>
                  </a:lnTo>
                  <a:lnTo>
                    <a:pt x="37" y="85"/>
                  </a:lnTo>
                  <a:lnTo>
                    <a:pt x="39" y="85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9"/>
                  </a:lnTo>
                  <a:lnTo>
                    <a:pt x="40" y="89"/>
                  </a:lnTo>
                  <a:lnTo>
                    <a:pt x="40" y="91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4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2" y="97"/>
                  </a:lnTo>
                  <a:lnTo>
                    <a:pt x="42" y="98"/>
                  </a:lnTo>
                  <a:lnTo>
                    <a:pt x="43" y="100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3"/>
                  </a:lnTo>
                  <a:lnTo>
                    <a:pt x="45" y="104"/>
                  </a:lnTo>
                  <a:lnTo>
                    <a:pt x="45" y="105"/>
                  </a:lnTo>
                  <a:lnTo>
                    <a:pt x="45" y="107"/>
                  </a:lnTo>
                  <a:lnTo>
                    <a:pt x="45" y="107"/>
                  </a:lnTo>
                  <a:lnTo>
                    <a:pt x="46" y="108"/>
                  </a:lnTo>
                  <a:lnTo>
                    <a:pt x="46" y="110"/>
                  </a:lnTo>
                  <a:lnTo>
                    <a:pt x="46" y="111"/>
                  </a:lnTo>
                  <a:lnTo>
                    <a:pt x="46" y="111"/>
                  </a:lnTo>
                  <a:lnTo>
                    <a:pt x="46" y="113"/>
                  </a:lnTo>
                  <a:lnTo>
                    <a:pt x="48" y="113"/>
                  </a:lnTo>
                  <a:lnTo>
                    <a:pt x="48" y="114"/>
                  </a:lnTo>
                  <a:lnTo>
                    <a:pt x="48" y="114"/>
                  </a:lnTo>
                  <a:lnTo>
                    <a:pt x="48" y="116"/>
                  </a:lnTo>
                  <a:lnTo>
                    <a:pt x="48" y="116"/>
                  </a:lnTo>
                  <a:lnTo>
                    <a:pt x="48" y="117"/>
                  </a:lnTo>
                  <a:lnTo>
                    <a:pt x="49" y="117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49" y="120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51" y="123"/>
                  </a:lnTo>
                  <a:lnTo>
                    <a:pt x="51" y="123"/>
                  </a:lnTo>
                  <a:lnTo>
                    <a:pt x="51" y="125"/>
                  </a:lnTo>
                  <a:lnTo>
                    <a:pt x="51" y="126"/>
                  </a:lnTo>
                  <a:lnTo>
                    <a:pt x="51" y="126"/>
                  </a:lnTo>
                  <a:lnTo>
                    <a:pt x="52" y="128"/>
                  </a:lnTo>
                  <a:lnTo>
                    <a:pt x="52" y="129"/>
                  </a:lnTo>
                  <a:lnTo>
                    <a:pt x="52" y="131"/>
                  </a:lnTo>
                  <a:lnTo>
                    <a:pt x="52" y="132"/>
                  </a:lnTo>
                  <a:lnTo>
                    <a:pt x="54" y="134"/>
                  </a:lnTo>
                  <a:lnTo>
                    <a:pt x="54" y="134"/>
                  </a:lnTo>
                  <a:lnTo>
                    <a:pt x="54" y="135"/>
                  </a:lnTo>
                  <a:lnTo>
                    <a:pt x="54" y="137"/>
                  </a:lnTo>
                  <a:lnTo>
                    <a:pt x="55" y="138"/>
                  </a:lnTo>
                  <a:lnTo>
                    <a:pt x="55" y="138"/>
                  </a:lnTo>
                  <a:lnTo>
                    <a:pt x="55" y="140"/>
                  </a:lnTo>
                  <a:lnTo>
                    <a:pt x="55" y="141"/>
                  </a:lnTo>
                  <a:lnTo>
                    <a:pt x="55" y="143"/>
                  </a:lnTo>
                  <a:lnTo>
                    <a:pt x="57" y="143"/>
                  </a:lnTo>
                  <a:lnTo>
                    <a:pt x="57" y="144"/>
                  </a:lnTo>
                  <a:lnTo>
                    <a:pt x="57" y="144"/>
                  </a:lnTo>
                  <a:lnTo>
                    <a:pt x="57" y="145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50"/>
                  </a:lnTo>
                  <a:lnTo>
                    <a:pt x="58" y="150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58" y="153"/>
                  </a:lnTo>
                  <a:lnTo>
                    <a:pt x="58" y="153"/>
                  </a:lnTo>
                  <a:lnTo>
                    <a:pt x="58" y="154"/>
                  </a:lnTo>
                  <a:lnTo>
                    <a:pt x="58" y="154"/>
                  </a:lnTo>
                  <a:lnTo>
                    <a:pt x="58" y="156"/>
                  </a:lnTo>
                  <a:lnTo>
                    <a:pt x="60" y="157"/>
                  </a:lnTo>
                  <a:lnTo>
                    <a:pt x="60" y="157"/>
                  </a:lnTo>
                  <a:lnTo>
                    <a:pt x="60" y="159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2"/>
                  </a:lnTo>
                  <a:lnTo>
                    <a:pt x="60" y="163"/>
                  </a:lnTo>
                  <a:lnTo>
                    <a:pt x="60" y="163"/>
                  </a:lnTo>
                  <a:lnTo>
                    <a:pt x="60" y="165"/>
                  </a:lnTo>
                  <a:lnTo>
                    <a:pt x="60" y="166"/>
                  </a:lnTo>
                  <a:lnTo>
                    <a:pt x="60" y="166"/>
                  </a:lnTo>
                  <a:lnTo>
                    <a:pt x="60" y="168"/>
                  </a:lnTo>
                  <a:lnTo>
                    <a:pt x="60" y="169"/>
                  </a:lnTo>
                  <a:lnTo>
                    <a:pt x="60" y="169"/>
                  </a:lnTo>
                  <a:lnTo>
                    <a:pt x="60" y="171"/>
                  </a:lnTo>
                  <a:lnTo>
                    <a:pt x="60" y="172"/>
                  </a:lnTo>
                  <a:lnTo>
                    <a:pt x="60" y="172"/>
                  </a:lnTo>
                  <a:lnTo>
                    <a:pt x="60" y="174"/>
                  </a:lnTo>
                  <a:lnTo>
                    <a:pt x="61" y="174"/>
                  </a:lnTo>
                  <a:lnTo>
                    <a:pt x="61" y="174"/>
                  </a:lnTo>
                  <a:lnTo>
                    <a:pt x="61" y="175"/>
                  </a:lnTo>
                  <a:lnTo>
                    <a:pt x="61" y="175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2"/>
                  </a:lnTo>
                  <a:lnTo>
                    <a:pt x="61" y="182"/>
                  </a:lnTo>
                  <a:lnTo>
                    <a:pt x="61" y="184"/>
                  </a:lnTo>
                  <a:lnTo>
                    <a:pt x="63" y="184"/>
                  </a:lnTo>
                  <a:lnTo>
                    <a:pt x="63" y="185"/>
                  </a:lnTo>
                  <a:lnTo>
                    <a:pt x="63" y="185"/>
                  </a:lnTo>
                  <a:lnTo>
                    <a:pt x="63" y="185"/>
                  </a:lnTo>
                  <a:lnTo>
                    <a:pt x="63" y="187"/>
                  </a:lnTo>
                  <a:lnTo>
                    <a:pt x="63" y="187"/>
                  </a:lnTo>
                  <a:lnTo>
                    <a:pt x="63" y="188"/>
                  </a:lnTo>
                  <a:lnTo>
                    <a:pt x="63" y="188"/>
                  </a:lnTo>
                  <a:lnTo>
                    <a:pt x="63" y="188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63" y="191"/>
                  </a:lnTo>
                  <a:lnTo>
                    <a:pt x="63" y="191"/>
                  </a:lnTo>
                  <a:lnTo>
                    <a:pt x="63" y="191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4"/>
                  </a:lnTo>
                  <a:lnTo>
                    <a:pt x="64" y="194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7"/>
                  </a:lnTo>
                  <a:lnTo>
                    <a:pt x="64" y="197"/>
                  </a:lnTo>
                  <a:lnTo>
                    <a:pt x="64" y="199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4" y="202"/>
                  </a:lnTo>
                  <a:lnTo>
                    <a:pt x="64" y="203"/>
                  </a:lnTo>
                  <a:lnTo>
                    <a:pt x="63" y="203"/>
                  </a:lnTo>
                  <a:lnTo>
                    <a:pt x="63" y="205"/>
                  </a:lnTo>
                  <a:lnTo>
                    <a:pt x="63" y="206"/>
                  </a:lnTo>
                  <a:lnTo>
                    <a:pt x="63" y="208"/>
                  </a:lnTo>
                  <a:lnTo>
                    <a:pt x="63" y="209"/>
                  </a:lnTo>
                  <a:lnTo>
                    <a:pt x="63" y="211"/>
                  </a:lnTo>
                  <a:lnTo>
                    <a:pt x="63" y="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4" name="Freeform 459"/>
            <p:cNvSpPr>
              <a:spLocks/>
            </p:cNvSpPr>
            <p:nvPr/>
          </p:nvSpPr>
          <p:spPr bwMode="auto">
            <a:xfrm>
              <a:off x="2943" y="3344"/>
              <a:ext cx="22" cy="70"/>
            </a:xfrm>
            <a:custGeom>
              <a:avLst/>
              <a:gdLst>
                <a:gd name="T0" fmla="*/ 5 w 64"/>
                <a:gd name="T1" fmla="*/ 8 h 212"/>
                <a:gd name="T2" fmla="*/ 8 w 64"/>
                <a:gd name="T3" fmla="*/ 14 h 212"/>
                <a:gd name="T4" fmla="*/ 11 w 64"/>
                <a:gd name="T5" fmla="*/ 20 h 212"/>
                <a:gd name="T6" fmla="*/ 14 w 64"/>
                <a:gd name="T7" fmla="*/ 24 h 212"/>
                <a:gd name="T8" fmla="*/ 15 w 64"/>
                <a:gd name="T9" fmla="*/ 27 h 212"/>
                <a:gd name="T10" fmla="*/ 17 w 64"/>
                <a:gd name="T11" fmla="*/ 30 h 212"/>
                <a:gd name="T12" fmla="*/ 18 w 64"/>
                <a:gd name="T13" fmla="*/ 34 h 212"/>
                <a:gd name="T14" fmla="*/ 20 w 64"/>
                <a:gd name="T15" fmla="*/ 37 h 212"/>
                <a:gd name="T16" fmla="*/ 21 w 64"/>
                <a:gd name="T17" fmla="*/ 42 h 212"/>
                <a:gd name="T18" fmla="*/ 23 w 64"/>
                <a:gd name="T19" fmla="*/ 46 h 212"/>
                <a:gd name="T20" fmla="*/ 24 w 64"/>
                <a:gd name="T21" fmla="*/ 49 h 212"/>
                <a:gd name="T22" fmla="*/ 26 w 64"/>
                <a:gd name="T23" fmla="*/ 52 h 212"/>
                <a:gd name="T24" fmla="*/ 27 w 64"/>
                <a:gd name="T25" fmla="*/ 54 h 212"/>
                <a:gd name="T26" fmla="*/ 29 w 64"/>
                <a:gd name="T27" fmla="*/ 58 h 212"/>
                <a:gd name="T28" fmla="*/ 30 w 64"/>
                <a:gd name="T29" fmla="*/ 61 h 212"/>
                <a:gd name="T30" fmla="*/ 32 w 64"/>
                <a:gd name="T31" fmla="*/ 66 h 212"/>
                <a:gd name="T32" fmla="*/ 33 w 64"/>
                <a:gd name="T33" fmla="*/ 70 h 212"/>
                <a:gd name="T34" fmla="*/ 35 w 64"/>
                <a:gd name="T35" fmla="*/ 76 h 212"/>
                <a:gd name="T36" fmla="*/ 36 w 64"/>
                <a:gd name="T37" fmla="*/ 79 h 212"/>
                <a:gd name="T38" fmla="*/ 37 w 64"/>
                <a:gd name="T39" fmla="*/ 83 h 212"/>
                <a:gd name="T40" fmla="*/ 39 w 64"/>
                <a:gd name="T41" fmla="*/ 86 h 212"/>
                <a:gd name="T42" fmla="*/ 39 w 64"/>
                <a:gd name="T43" fmla="*/ 89 h 212"/>
                <a:gd name="T44" fmla="*/ 40 w 64"/>
                <a:gd name="T45" fmla="*/ 92 h 212"/>
                <a:gd name="T46" fmla="*/ 42 w 64"/>
                <a:gd name="T47" fmla="*/ 97 h 212"/>
                <a:gd name="T48" fmla="*/ 43 w 64"/>
                <a:gd name="T49" fmla="*/ 101 h 212"/>
                <a:gd name="T50" fmla="*/ 45 w 64"/>
                <a:gd name="T51" fmla="*/ 107 h 212"/>
                <a:gd name="T52" fmla="*/ 46 w 64"/>
                <a:gd name="T53" fmla="*/ 111 h 212"/>
                <a:gd name="T54" fmla="*/ 48 w 64"/>
                <a:gd name="T55" fmla="*/ 114 h 212"/>
                <a:gd name="T56" fmla="*/ 48 w 64"/>
                <a:gd name="T57" fmla="*/ 117 h 212"/>
                <a:gd name="T58" fmla="*/ 49 w 64"/>
                <a:gd name="T59" fmla="*/ 120 h 212"/>
                <a:gd name="T60" fmla="*/ 51 w 64"/>
                <a:gd name="T61" fmla="*/ 123 h 212"/>
                <a:gd name="T62" fmla="*/ 52 w 64"/>
                <a:gd name="T63" fmla="*/ 128 h 212"/>
                <a:gd name="T64" fmla="*/ 54 w 64"/>
                <a:gd name="T65" fmla="*/ 134 h 212"/>
                <a:gd name="T66" fmla="*/ 55 w 64"/>
                <a:gd name="T67" fmla="*/ 138 h 212"/>
                <a:gd name="T68" fmla="*/ 55 w 64"/>
                <a:gd name="T69" fmla="*/ 143 h 212"/>
                <a:gd name="T70" fmla="*/ 57 w 64"/>
                <a:gd name="T71" fmla="*/ 145 h 212"/>
                <a:gd name="T72" fmla="*/ 58 w 64"/>
                <a:gd name="T73" fmla="*/ 148 h 212"/>
                <a:gd name="T74" fmla="*/ 58 w 64"/>
                <a:gd name="T75" fmla="*/ 151 h 212"/>
                <a:gd name="T76" fmla="*/ 58 w 64"/>
                <a:gd name="T77" fmla="*/ 154 h 212"/>
                <a:gd name="T78" fmla="*/ 60 w 64"/>
                <a:gd name="T79" fmla="*/ 157 h 212"/>
                <a:gd name="T80" fmla="*/ 60 w 64"/>
                <a:gd name="T81" fmla="*/ 162 h 212"/>
                <a:gd name="T82" fmla="*/ 60 w 64"/>
                <a:gd name="T83" fmla="*/ 166 h 212"/>
                <a:gd name="T84" fmla="*/ 60 w 64"/>
                <a:gd name="T85" fmla="*/ 169 h 212"/>
                <a:gd name="T86" fmla="*/ 60 w 64"/>
                <a:gd name="T87" fmla="*/ 174 h 212"/>
                <a:gd name="T88" fmla="*/ 61 w 64"/>
                <a:gd name="T89" fmla="*/ 175 h 212"/>
                <a:gd name="T90" fmla="*/ 61 w 64"/>
                <a:gd name="T91" fmla="*/ 178 h 212"/>
                <a:gd name="T92" fmla="*/ 61 w 64"/>
                <a:gd name="T93" fmla="*/ 180 h 212"/>
                <a:gd name="T94" fmla="*/ 61 w 64"/>
                <a:gd name="T95" fmla="*/ 181 h 212"/>
                <a:gd name="T96" fmla="*/ 63 w 64"/>
                <a:gd name="T97" fmla="*/ 184 h 212"/>
                <a:gd name="T98" fmla="*/ 63 w 64"/>
                <a:gd name="T99" fmla="*/ 187 h 212"/>
                <a:gd name="T100" fmla="*/ 63 w 64"/>
                <a:gd name="T101" fmla="*/ 188 h 212"/>
                <a:gd name="T102" fmla="*/ 63 w 64"/>
                <a:gd name="T103" fmla="*/ 191 h 212"/>
                <a:gd name="T104" fmla="*/ 64 w 64"/>
                <a:gd name="T105" fmla="*/ 193 h 212"/>
                <a:gd name="T106" fmla="*/ 64 w 64"/>
                <a:gd name="T107" fmla="*/ 196 h 212"/>
                <a:gd name="T108" fmla="*/ 64 w 64"/>
                <a:gd name="T109" fmla="*/ 199 h 212"/>
                <a:gd name="T110" fmla="*/ 64 w 64"/>
                <a:gd name="T111" fmla="*/ 203 h 212"/>
                <a:gd name="T112" fmla="*/ 63 w 64"/>
                <a:gd name="T113" fmla="*/ 20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" h="212">
                  <a:moveTo>
                    <a:pt x="0" y="0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1"/>
                  </a:lnTo>
                  <a:lnTo>
                    <a:pt x="8" y="12"/>
                  </a:lnTo>
                  <a:lnTo>
                    <a:pt x="8" y="14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3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6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7" y="29"/>
                  </a:lnTo>
                  <a:lnTo>
                    <a:pt x="17" y="30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0" y="36"/>
                  </a:lnTo>
                  <a:lnTo>
                    <a:pt x="20" y="37"/>
                  </a:lnTo>
                  <a:lnTo>
                    <a:pt x="20" y="37"/>
                  </a:lnTo>
                  <a:lnTo>
                    <a:pt x="21" y="39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3" y="46"/>
                  </a:lnTo>
                  <a:lnTo>
                    <a:pt x="24" y="46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0" y="61"/>
                  </a:lnTo>
                  <a:lnTo>
                    <a:pt x="30" y="63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2" y="66"/>
                  </a:lnTo>
                  <a:lnTo>
                    <a:pt x="32" y="67"/>
                  </a:lnTo>
                  <a:lnTo>
                    <a:pt x="32" y="68"/>
                  </a:lnTo>
                  <a:lnTo>
                    <a:pt x="32" y="68"/>
                  </a:lnTo>
                  <a:lnTo>
                    <a:pt x="33" y="70"/>
                  </a:lnTo>
                  <a:lnTo>
                    <a:pt x="33" y="71"/>
                  </a:lnTo>
                  <a:lnTo>
                    <a:pt x="35" y="73"/>
                  </a:lnTo>
                  <a:lnTo>
                    <a:pt x="35" y="74"/>
                  </a:lnTo>
                  <a:lnTo>
                    <a:pt x="35" y="76"/>
                  </a:lnTo>
                  <a:lnTo>
                    <a:pt x="35" y="76"/>
                  </a:lnTo>
                  <a:lnTo>
                    <a:pt x="36" y="77"/>
                  </a:lnTo>
                  <a:lnTo>
                    <a:pt x="36" y="79"/>
                  </a:lnTo>
                  <a:lnTo>
                    <a:pt x="36" y="79"/>
                  </a:lnTo>
                  <a:lnTo>
                    <a:pt x="36" y="80"/>
                  </a:lnTo>
                  <a:lnTo>
                    <a:pt x="37" y="80"/>
                  </a:lnTo>
                  <a:lnTo>
                    <a:pt x="37" y="82"/>
                  </a:lnTo>
                  <a:lnTo>
                    <a:pt x="37" y="83"/>
                  </a:lnTo>
                  <a:lnTo>
                    <a:pt x="37" y="83"/>
                  </a:lnTo>
                  <a:lnTo>
                    <a:pt x="37" y="85"/>
                  </a:lnTo>
                  <a:lnTo>
                    <a:pt x="39" y="85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9"/>
                  </a:lnTo>
                  <a:lnTo>
                    <a:pt x="40" y="89"/>
                  </a:lnTo>
                  <a:lnTo>
                    <a:pt x="40" y="91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4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2" y="97"/>
                  </a:lnTo>
                  <a:lnTo>
                    <a:pt x="42" y="98"/>
                  </a:lnTo>
                  <a:lnTo>
                    <a:pt x="43" y="100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3"/>
                  </a:lnTo>
                  <a:lnTo>
                    <a:pt x="45" y="104"/>
                  </a:lnTo>
                  <a:lnTo>
                    <a:pt x="45" y="105"/>
                  </a:lnTo>
                  <a:lnTo>
                    <a:pt x="45" y="107"/>
                  </a:lnTo>
                  <a:lnTo>
                    <a:pt x="45" y="107"/>
                  </a:lnTo>
                  <a:lnTo>
                    <a:pt x="46" y="108"/>
                  </a:lnTo>
                  <a:lnTo>
                    <a:pt x="46" y="110"/>
                  </a:lnTo>
                  <a:lnTo>
                    <a:pt x="46" y="111"/>
                  </a:lnTo>
                  <a:lnTo>
                    <a:pt x="46" y="111"/>
                  </a:lnTo>
                  <a:lnTo>
                    <a:pt x="46" y="113"/>
                  </a:lnTo>
                  <a:lnTo>
                    <a:pt x="48" y="113"/>
                  </a:lnTo>
                  <a:lnTo>
                    <a:pt x="48" y="114"/>
                  </a:lnTo>
                  <a:lnTo>
                    <a:pt x="48" y="114"/>
                  </a:lnTo>
                  <a:lnTo>
                    <a:pt x="48" y="116"/>
                  </a:lnTo>
                  <a:lnTo>
                    <a:pt x="48" y="116"/>
                  </a:lnTo>
                  <a:lnTo>
                    <a:pt x="48" y="117"/>
                  </a:lnTo>
                  <a:lnTo>
                    <a:pt x="49" y="117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49" y="120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51" y="123"/>
                  </a:lnTo>
                  <a:lnTo>
                    <a:pt x="51" y="123"/>
                  </a:lnTo>
                  <a:lnTo>
                    <a:pt x="51" y="125"/>
                  </a:lnTo>
                  <a:lnTo>
                    <a:pt x="51" y="126"/>
                  </a:lnTo>
                  <a:lnTo>
                    <a:pt x="51" y="126"/>
                  </a:lnTo>
                  <a:lnTo>
                    <a:pt x="52" y="128"/>
                  </a:lnTo>
                  <a:lnTo>
                    <a:pt x="52" y="129"/>
                  </a:lnTo>
                  <a:lnTo>
                    <a:pt x="52" y="131"/>
                  </a:lnTo>
                  <a:lnTo>
                    <a:pt x="52" y="132"/>
                  </a:lnTo>
                  <a:lnTo>
                    <a:pt x="54" y="134"/>
                  </a:lnTo>
                  <a:lnTo>
                    <a:pt x="54" y="134"/>
                  </a:lnTo>
                  <a:lnTo>
                    <a:pt x="54" y="135"/>
                  </a:lnTo>
                  <a:lnTo>
                    <a:pt x="54" y="137"/>
                  </a:lnTo>
                  <a:lnTo>
                    <a:pt x="55" y="138"/>
                  </a:lnTo>
                  <a:lnTo>
                    <a:pt x="55" y="138"/>
                  </a:lnTo>
                  <a:lnTo>
                    <a:pt x="55" y="140"/>
                  </a:lnTo>
                  <a:lnTo>
                    <a:pt x="55" y="141"/>
                  </a:lnTo>
                  <a:lnTo>
                    <a:pt x="55" y="143"/>
                  </a:lnTo>
                  <a:lnTo>
                    <a:pt x="57" y="143"/>
                  </a:lnTo>
                  <a:lnTo>
                    <a:pt x="57" y="144"/>
                  </a:lnTo>
                  <a:lnTo>
                    <a:pt x="57" y="144"/>
                  </a:lnTo>
                  <a:lnTo>
                    <a:pt x="57" y="145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50"/>
                  </a:lnTo>
                  <a:lnTo>
                    <a:pt x="58" y="150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58" y="153"/>
                  </a:lnTo>
                  <a:lnTo>
                    <a:pt x="58" y="153"/>
                  </a:lnTo>
                  <a:lnTo>
                    <a:pt x="58" y="154"/>
                  </a:lnTo>
                  <a:lnTo>
                    <a:pt x="58" y="154"/>
                  </a:lnTo>
                  <a:lnTo>
                    <a:pt x="58" y="156"/>
                  </a:lnTo>
                  <a:lnTo>
                    <a:pt x="60" y="157"/>
                  </a:lnTo>
                  <a:lnTo>
                    <a:pt x="60" y="157"/>
                  </a:lnTo>
                  <a:lnTo>
                    <a:pt x="60" y="159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2"/>
                  </a:lnTo>
                  <a:lnTo>
                    <a:pt x="60" y="163"/>
                  </a:lnTo>
                  <a:lnTo>
                    <a:pt x="60" y="163"/>
                  </a:lnTo>
                  <a:lnTo>
                    <a:pt x="60" y="165"/>
                  </a:lnTo>
                  <a:lnTo>
                    <a:pt x="60" y="166"/>
                  </a:lnTo>
                  <a:lnTo>
                    <a:pt x="60" y="166"/>
                  </a:lnTo>
                  <a:lnTo>
                    <a:pt x="60" y="168"/>
                  </a:lnTo>
                  <a:lnTo>
                    <a:pt x="60" y="169"/>
                  </a:lnTo>
                  <a:lnTo>
                    <a:pt x="60" y="169"/>
                  </a:lnTo>
                  <a:lnTo>
                    <a:pt x="60" y="171"/>
                  </a:lnTo>
                  <a:lnTo>
                    <a:pt x="60" y="172"/>
                  </a:lnTo>
                  <a:lnTo>
                    <a:pt x="60" y="172"/>
                  </a:lnTo>
                  <a:lnTo>
                    <a:pt x="60" y="174"/>
                  </a:lnTo>
                  <a:lnTo>
                    <a:pt x="61" y="174"/>
                  </a:lnTo>
                  <a:lnTo>
                    <a:pt x="61" y="174"/>
                  </a:lnTo>
                  <a:lnTo>
                    <a:pt x="61" y="175"/>
                  </a:lnTo>
                  <a:lnTo>
                    <a:pt x="61" y="175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2"/>
                  </a:lnTo>
                  <a:lnTo>
                    <a:pt x="61" y="182"/>
                  </a:lnTo>
                  <a:lnTo>
                    <a:pt x="61" y="184"/>
                  </a:lnTo>
                  <a:lnTo>
                    <a:pt x="63" y="184"/>
                  </a:lnTo>
                  <a:lnTo>
                    <a:pt x="63" y="185"/>
                  </a:lnTo>
                  <a:lnTo>
                    <a:pt x="63" y="185"/>
                  </a:lnTo>
                  <a:lnTo>
                    <a:pt x="63" y="185"/>
                  </a:lnTo>
                  <a:lnTo>
                    <a:pt x="63" y="187"/>
                  </a:lnTo>
                  <a:lnTo>
                    <a:pt x="63" y="187"/>
                  </a:lnTo>
                  <a:lnTo>
                    <a:pt x="63" y="188"/>
                  </a:lnTo>
                  <a:lnTo>
                    <a:pt x="63" y="188"/>
                  </a:lnTo>
                  <a:lnTo>
                    <a:pt x="63" y="188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63" y="191"/>
                  </a:lnTo>
                  <a:lnTo>
                    <a:pt x="63" y="191"/>
                  </a:lnTo>
                  <a:lnTo>
                    <a:pt x="63" y="191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4"/>
                  </a:lnTo>
                  <a:lnTo>
                    <a:pt x="64" y="194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7"/>
                  </a:lnTo>
                  <a:lnTo>
                    <a:pt x="64" y="197"/>
                  </a:lnTo>
                  <a:lnTo>
                    <a:pt x="64" y="199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4" y="202"/>
                  </a:lnTo>
                  <a:lnTo>
                    <a:pt x="64" y="203"/>
                  </a:lnTo>
                  <a:lnTo>
                    <a:pt x="63" y="203"/>
                  </a:lnTo>
                  <a:lnTo>
                    <a:pt x="63" y="205"/>
                  </a:lnTo>
                  <a:lnTo>
                    <a:pt x="63" y="206"/>
                  </a:lnTo>
                  <a:lnTo>
                    <a:pt x="63" y="208"/>
                  </a:lnTo>
                  <a:lnTo>
                    <a:pt x="63" y="209"/>
                  </a:lnTo>
                  <a:lnTo>
                    <a:pt x="63" y="211"/>
                  </a:lnTo>
                  <a:lnTo>
                    <a:pt x="63" y="21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5" name="Freeform 460"/>
            <p:cNvSpPr>
              <a:spLocks/>
            </p:cNvSpPr>
            <p:nvPr/>
          </p:nvSpPr>
          <p:spPr bwMode="auto">
            <a:xfrm>
              <a:off x="2943" y="3414"/>
              <a:ext cx="22" cy="71"/>
            </a:xfrm>
            <a:custGeom>
              <a:avLst/>
              <a:gdLst>
                <a:gd name="T0" fmla="*/ 5 w 64"/>
                <a:gd name="T1" fmla="*/ 204 h 212"/>
                <a:gd name="T2" fmla="*/ 8 w 64"/>
                <a:gd name="T3" fmla="*/ 198 h 212"/>
                <a:gd name="T4" fmla="*/ 11 w 64"/>
                <a:gd name="T5" fmla="*/ 193 h 212"/>
                <a:gd name="T6" fmla="*/ 14 w 64"/>
                <a:gd name="T7" fmla="*/ 188 h 212"/>
                <a:gd name="T8" fmla="*/ 15 w 64"/>
                <a:gd name="T9" fmla="*/ 185 h 212"/>
                <a:gd name="T10" fmla="*/ 17 w 64"/>
                <a:gd name="T11" fmla="*/ 182 h 212"/>
                <a:gd name="T12" fmla="*/ 18 w 64"/>
                <a:gd name="T13" fmla="*/ 178 h 212"/>
                <a:gd name="T14" fmla="*/ 20 w 64"/>
                <a:gd name="T15" fmla="*/ 175 h 212"/>
                <a:gd name="T16" fmla="*/ 21 w 64"/>
                <a:gd name="T17" fmla="*/ 170 h 212"/>
                <a:gd name="T18" fmla="*/ 23 w 64"/>
                <a:gd name="T19" fmla="*/ 166 h 212"/>
                <a:gd name="T20" fmla="*/ 24 w 64"/>
                <a:gd name="T21" fmla="*/ 163 h 212"/>
                <a:gd name="T22" fmla="*/ 26 w 64"/>
                <a:gd name="T23" fmla="*/ 160 h 212"/>
                <a:gd name="T24" fmla="*/ 27 w 64"/>
                <a:gd name="T25" fmla="*/ 157 h 212"/>
                <a:gd name="T26" fmla="*/ 29 w 64"/>
                <a:gd name="T27" fmla="*/ 154 h 212"/>
                <a:gd name="T28" fmla="*/ 30 w 64"/>
                <a:gd name="T29" fmla="*/ 151 h 212"/>
                <a:gd name="T30" fmla="*/ 32 w 64"/>
                <a:gd name="T31" fmla="*/ 147 h 212"/>
                <a:gd name="T32" fmla="*/ 33 w 64"/>
                <a:gd name="T33" fmla="*/ 142 h 212"/>
                <a:gd name="T34" fmla="*/ 35 w 64"/>
                <a:gd name="T35" fmla="*/ 136 h 212"/>
                <a:gd name="T36" fmla="*/ 36 w 64"/>
                <a:gd name="T37" fmla="*/ 133 h 212"/>
                <a:gd name="T38" fmla="*/ 37 w 64"/>
                <a:gd name="T39" fmla="*/ 129 h 212"/>
                <a:gd name="T40" fmla="*/ 39 w 64"/>
                <a:gd name="T41" fmla="*/ 126 h 212"/>
                <a:gd name="T42" fmla="*/ 39 w 64"/>
                <a:gd name="T43" fmla="*/ 123 h 212"/>
                <a:gd name="T44" fmla="*/ 40 w 64"/>
                <a:gd name="T45" fmla="*/ 120 h 212"/>
                <a:gd name="T46" fmla="*/ 42 w 64"/>
                <a:gd name="T47" fmla="*/ 116 h 212"/>
                <a:gd name="T48" fmla="*/ 43 w 64"/>
                <a:gd name="T49" fmla="*/ 111 h 212"/>
                <a:gd name="T50" fmla="*/ 45 w 64"/>
                <a:gd name="T51" fmla="*/ 105 h 212"/>
                <a:gd name="T52" fmla="*/ 46 w 64"/>
                <a:gd name="T53" fmla="*/ 102 h 212"/>
                <a:gd name="T54" fmla="*/ 48 w 64"/>
                <a:gd name="T55" fmla="*/ 98 h 212"/>
                <a:gd name="T56" fmla="*/ 48 w 64"/>
                <a:gd name="T57" fmla="*/ 95 h 212"/>
                <a:gd name="T58" fmla="*/ 49 w 64"/>
                <a:gd name="T59" fmla="*/ 92 h 212"/>
                <a:gd name="T60" fmla="*/ 51 w 64"/>
                <a:gd name="T61" fmla="*/ 89 h 212"/>
                <a:gd name="T62" fmla="*/ 52 w 64"/>
                <a:gd name="T63" fmla="*/ 84 h 212"/>
                <a:gd name="T64" fmla="*/ 54 w 64"/>
                <a:gd name="T65" fmla="*/ 79 h 212"/>
                <a:gd name="T66" fmla="*/ 55 w 64"/>
                <a:gd name="T67" fmla="*/ 74 h 212"/>
                <a:gd name="T68" fmla="*/ 55 w 64"/>
                <a:gd name="T69" fmla="*/ 70 h 212"/>
                <a:gd name="T70" fmla="*/ 57 w 64"/>
                <a:gd name="T71" fmla="*/ 67 h 212"/>
                <a:gd name="T72" fmla="*/ 58 w 64"/>
                <a:gd name="T73" fmla="*/ 64 h 212"/>
                <a:gd name="T74" fmla="*/ 58 w 64"/>
                <a:gd name="T75" fmla="*/ 61 h 212"/>
                <a:gd name="T76" fmla="*/ 58 w 64"/>
                <a:gd name="T77" fmla="*/ 58 h 212"/>
                <a:gd name="T78" fmla="*/ 60 w 64"/>
                <a:gd name="T79" fmla="*/ 55 h 212"/>
                <a:gd name="T80" fmla="*/ 60 w 64"/>
                <a:gd name="T81" fmla="*/ 50 h 212"/>
                <a:gd name="T82" fmla="*/ 60 w 64"/>
                <a:gd name="T83" fmla="*/ 46 h 212"/>
                <a:gd name="T84" fmla="*/ 60 w 64"/>
                <a:gd name="T85" fmla="*/ 43 h 212"/>
                <a:gd name="T86" fmla="*/ 60 w 64"/>
                <a:gd name="T87" fmla="*/ 40 h 212"/>
                <a:gd name="T88" fmla="*/ 61 w 64"/>
                <a:gd name="T89" fmla="*/ 37 h 212"/>
                <a:gd name="T90" fmla="*/ 61 w 64"/>
                <a:gd name="T91" fmla="*/ 34 h 212"/>
                <a:gd name="T92" fmla="*/ 61 w 64"/>
                <a:gd name="T93" fmla="*/ 33 h 212"/>
                <a:gd name="T94" fmla="*/ 61 w 64"/>
                <a:gd name="T95" fmla="*/ 31 h 212"/>
                <a:gd name="T96" fmla="*/ 63 w 64"/>
                <a:gd name="T97" fmla="*/ 28 h 212"/>
                <a:gd name="T98" fmla="*/ 63 w 64"/>
                <a:gd name="T99" fmla="*/ 27 h 212"/>
                <a:gd name="T100" fmla="*/ 63 w 64"/>
                <a:gd name="T101" fmla="*/ 24 h 212"/>
                <a:gd name="T102" fmla="*/ 63 w 64"/>
                <a:gd name="T103" fmla="*/ 21 h 212"/>
                <a:gd name="T104" fmla="*/ 64 w 64"/>
                <a:gd name="T105" fmla="*/ 19 h 212"/>
                <a:gd name="T106" fmla="*/ 64 w 64"/>
                <a:gd name="T107" fmla="*/ 16 h 212"/>
                <a:gd name="T108" fmla="*/ 64 w 64"/>
                <a:gd name="T109" fmla="*/ 13 h 212"/>
                <a:gd name="T110" fmla="*/ 64 w 64"/>
                <a:gd name="T111" fmla="*/ 9 h 212"/>
                <a:gd name="T112" fmla="*/ 63 w 64"/>
                <a:gd name="T113" fmla="*/ 5 h 212"/>
                <a:gd name="T114" fmla="*/ 0 w 64"/>
                <a:gd name="T11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4" h="212">
                  <a:moveTo>
                    <a:pt x="0" y="212"/>
                  </a:moveTo>
                  <a:lnTo>
                    <a:pt x="2" y="209"/>
                  </a:lnTo>
                  <a:lnTo>
                    <a:pt x="3" y="207"/>
                  </a:lnTo>
                  <a:lnTo>
                    <a:pt x="5" y="204"/>
                  </a:lnTo>
                  <a:lnTo>
                    <a:pt x="5" y="203"/>
                  </a:lnTo>
                  <a:lnTo>
                    <a:pt x="6" y="201"/>
                  </a:lnTo>
                  <a:lnTo>
                    <a:pt x="8" y="200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9" y="196"/>
                  </a:lnTo>
                  <a:lnTo>
                    <a:pt x="11" y="194"/>
                  </a:lnTo>
                  <a:lnTo>
                    <a:pt x="11" y="193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2" y="190"/>
                  </a:lnTo>
                  <a:lnTo>
                    <a:pt x="14" y="188"/>
                  </a:lnTo>
                  <a:lnTo>
                    <a:pt x="14" y="188"/>
                  </a:lnTo>
                  <a:lnTo>
                    <a:pt x="14" y="187"/>
                  </a:lnTo>
                  <a:lnTo>
                    <a:pt x="15" y="187"/>
                  </a:lnTo>
                  <a:lnTo>
                    <a:pt x="15" y="185"/>
                  </a:lnTo>
                  <a:lnTo>
                    <a:pt x="15" y="184"/>
                  </a:lnTo>
                  <a:lnTo>
                    <a:pt x="17" y="184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7" y="181"/>
                  </a:lnTo>
                  <a:lnTo>
                    <a:pt x="18" y="181"/>
                  </a:lnTo>
                  <a:lnTo>
                    <a:pt x="18" y="179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20" y="176"/>
                  </a:lnTo>
                  <a:lnTo>
                    <a:pt x="20" y="175"/>
                  </a:lnTo>
                  <a:lnTo>
                    <a:pt x="20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72"/>
                  </a:lnTo>
                  <a:lnTo>
                    <a:pt x="21" y="170"/>
                  </a:lnTo>
                  <a:lnTo>
                    <a:pt x="23" y="169"/>
                  </a:lnTo>
                  <a:lnTo>
                    <a:pt x="23" y="169"/>
                  </a:lnTo>
                  <a:lnTo>
                    <a:pt x="23" y="167"/>
                  </a:lnTo>
                  <a:lnTo>
                    <a:pt x="23" y="166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4" y="163"/>
                  </a:lnTo>
                  <a:lnTo>
                    <a:pt x="26" y="163"/>
                  </a:lnTo>
                  <a:lnTo>
                    <a:pt x="26" y="161"/>
                  </a:lnTo>
                  <a:lnTo>
                    <a:pt x="26" y="161"/>
                  </a:lnTo>
                  <a:lnTo>
                    <a:pt x="26" y="160"/>
                  </a:lnTo>
                  <a:lnTo>
                    <a:pt x="26" y="160"/>
                  </a:lnTo>
                  <a:lnTo>
                    <a:pt x="27" y="159"/>
                  </a:lnTo>
                  <a:lnTo>
                    <a:pt x="27" y="159"/>
                  </a:lnTo>
                  <a:lnTo>
                    <a:pt x="27" y="157"/>
                  </a:lnTo>
                  <a:lnTo>
                    <a:pt x="27" y="157"/>
                  </a:lnTo>
                  <a:lnTo>
                    <a:pt x="27" y="156"/>
                  </a:lnTo>
                  <a:lnTo>
                    <a:pt x="27" y="156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2" y="147"/>
                  </a:lnTo>
                  <a:lnTo>
                    <a:pt x="32" y="145"/>
                  </a:lnTo>
                  <a:lnTo>
                    <a:pt x="32" y="144"/>
                  </a:lnTo>
                  <a:lnTo>
                    <a:pt x="32" y="144"/>
                  </a:lnTo>
                  <a:lnTo>
                    <a:pt x="33" y="142"/>
                  </a:lnTo>
                  <a:lnTo>
                    <a:pt x="33" y="141"/>
                  </a:lnTo>
                  <a:lnTo>
                    <a:pt x="35" y="139"/>
                  </a:lnTo>
                  <a:lnTo>
                    <a:pt x="35" y="138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9"/>
                  </a:lnTo>
                  <a:lnTo>
                    <a:pt x="37" y="129"/>
                  </a:lnTo>
                  <a:lnTo>
                    <a:pt x="37" y="127"/>
                  </a:lnTo>
                  <a:lnTo>
                    <a:pt x="39" y="127"/>
                  </a:lnTo>
                  <a:lnTo>
                    <a:pt x="39" y="126"/>
                  </a:lnTo>
                  <a:lnTo>
                    <a:pt x="39" y="126"/>
                  </a:lnTo>
                  <a:lnTo>
                    <a:pt x="39" y="124"/>
                  </a:lnTo>
                  <a:lnTo>
                    <a:pt x="39" y="124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0" y="121"/>
                  </a:lnTo>
                  <a:lnTo>
                    <a:pt x="40" y="120"/>
                  </a:lnTo>
                  <a:lnTo>
                    <a:pt x="40" y="119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2" y="116"/>
                  </a:lnTo>
                  <a:lnTo>
                    <a:pt x="42" y="114"/>
                  </a:lnTo>
                  <a:lnTo>
                    <a:pt x="43" y="113"/>
                  </a:lnTo>
                  <a:lnTo>
                    <a:pt x="43" y="111"/>
                  </a:lnTo>
                  <a:lnTo>
                    <a:pt x="43" y="111"/>
                  </a:lnTo>
                  <a:lnTo>
                    <a:pt x="43" y="110"/>
                  </a:lnTo>
                  <a:lnTo>
                    <a:pt x="45" y="108"/>
                  </a:lnTo>
                  <a:lnTo>
                    <a:pt x="45" y="107"/>
                  </a:lnTo>
                  <a:lnTo>
                    <a:pt x="45" y="105"/>
                  </a:lnTo>
                  <a:lnTo>
                    <a:pt x="45" y="105"/>
                  </a:lnTo>
                  <a:lnTo>
                    <a:pt x="46" y="104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46" y="101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8"/>
                  </a:lnTo>
                  <a:lnTo>
                    <a:pt x="48" y="9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5"/>
                  </a:lnTo>
                  <a:lnTo>
                    <a:pt x="49" y="95"/>
                  </a:lnTo>
                  <a:lnTo>
                    <a:pt x="49" y="93"/>
                  </a:lnTo>
                  <a:lnTo>
                    <a:pt x="49" y="93"/>
                  </a:lnTo>
                  <a:lnTo>
                    <a:pt x="49" y="92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51" y="89"/>
                  </a:lnTo>
                  <a:lnTo>
                    <a:pt x="51" y="89"/>
                  </a:lnTo>
                  <a:lnTo>
                    <a:pt x="51" y="87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2" y="82"/>
                  </a:lnTo>
                  <a:lnTo>
                    <a:pt x="52" y="80"/>
                  </a:lnTo>
                  <a:lnTo>
                    <a:pt x="54" y="79"/>
                  </a:lnTo>
                  <a:lnTo>
                    <a:pt x="54" y="79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5" y="73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7" y="70"/>
                  </a:lnTo>
                  <a:lnTo>
                    <a:pt x="57" y="68"/>
                  </a:lnTo>
                  <a:lnTo>
                    <a:pt x="57" y="68"/>
                  </a:lnTo>
                  <a:lnTo>
                    <a:pt x="57" y="67"/>
                  </a:lnTo>
                  <a:lnTo>
                    <a:pt x="57" y="65"/>
                  </a:lnTo>
                  <a:lnTo>
                    <a:pt x="57" y="6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58" y="62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9"/>
                  </a:lnTo>
                  <a:lnTo>
                    <a:pt x="58" y="59"/>
                  </a:lnTo>
                  <a:lnTo>
                    <a:pt x="58" y="58"/>
                  </a:lnTo>
                  <a:lnTo>
                    <a:pt x="58" y="58"/>
                  </a:lnTo>
                  <a:lnTo>
                    <a:pt x="58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0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0"/>
                  </a:lnTo>
                  <a:lnTo>
                    <a:pt x="60" y="49"/>
                  </a:lnTo>
                  <a:lnTo>
                    <a:pt x="60" y="49"/>
                  </a:lnTo>
                  <a:lnTo>
                    <a:pt x="60" y="47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60" y="45"/>
                  </a:lnTo>
                  <a:lnTo>
                    <a:pt x="60" y="43"/>
                  </a:lnTo>
                  <a:lnTo>
                    <a:pt x="60" y="43"/>
                  </a:lnTo>
                  <a:lnTo>
                    <a:pt x="60" y="42"/>
                  </a:lnTo>
                  <a:lnTo>
                    <a:pt x="60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61" y="39"/>
                  </a:lnTo>
                  <a:lnTo>
                    <a:pt x="61" y="39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3" y="28"/>
                  </a:lnTo>
                  <a:lnTo>
                    <a:pt x="63" y="28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3" y="25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8"/>
                  </a:lnTo>
                  <a:lnTo>
                    <a:pt x="64" y="18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3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4" y="9"/>
                  </a:lnTo>
                  <a:lnTo>
                    <a:pt x="63" y="9"/>
                  </a:lnTo>
                  <a:lnTo>
                    <a:pt x="63" y="7"/>
                  </a:lnTo>
                  <a:lnTo>
                    <a:pt x="63" y="6"/>
                  </a:lnTo>
                  <a:lnTo>
                    <a:pt x="63" y="5"/>
                  </a:lnTo>
                  <a:lnTo>
                    <a:pt x="63" y="3"/>
                  </a:lnTo>
                  <a:lnTo>
                    <a:pt x="63" y="2"/>
                  </a:lnTo>
                  <a:lnTo>
                    <a:pt x="63" y="0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6" name="Freeform 461"/>
            <p:cNvSpPr>
              <a:spLocks/>
            </p:cNvSpPr>
            <p:nvPr/>
          </p:nvSpPr>
          <p:spPr bwMode="auto">
            <a:xfrm>
              <a:off x="2943" y="3414"/>
              <a:ext cx="22" cy="71"/>
            </a:xfrm>
            <a:custGeom>
              <a:avLst/>
              <a:gdLst>
                <a:gd name="T0" fmla="*/ 5 w 64"/>
                <a:gd name="T1" fmla="*/ 204 h 212"/>
                <a:gd name="T2" fmla="*/ 8 w 64"/>
                <a:gd name="T3" fmla="*/ 198 h 212"/>
                <a:gd name="T4" fmla="*/ 11 w 64"/>
                <a:gd name="T5" fmla="*/ 193 h 212"/>
                <a:gd name="T6" fmla="*/ 14 w 64"/>
                <a:gd name="T7" fmla="*/ 188 h 212"/>
                <a:gd name="T8" fmla="*/ 15 w 64"/>
                <a:gd name="T9" fmla="*/ 185 h 212"/>
                <a:gd name="T10" fmla="*/ 17 w 64"/>
                <a:gd name="T11" fmla="*/ 182 h 212"/>
                <a:gd name="T12" fmla="*/ 18 w 64"/>
                <a:gd name="T13" fmla="*/ 178 h 212"/>
                <a:gd name="T14" fmla="*/ 20 w 64"/>
                <a:gd name="T15" fmla="*/ 175 h 212"/>
                <a:gd name="T16" fmla="*/ 21 w 64"/>
                <a:gd name="T17" fmla="*/ 170 h 212"/>
                <a:gd name="T18" fmla="*/ 23 w 64"/>
                <a:gd name="T19" fmla="*/ 166 h 212"/>
                <a:gd name="T20" fmla="*/ 24 w 64"/>
                <a:gd name="T21" fmla="*/ 163 h 212"/>
                <a:gd name="T22" fmla="*/ 26 w 64"/>
                <a:gd name="T23" fmla="*/ 160 h 212"/>
                <a:gd name="T24" fmla="*/ 27 w 64"/>
                <a:gd name="T25" fmla="*/ 157 h 212"/>
                <a:gd name="T26" fmla="*/ 29 w 64"/>
                <a:gd name="T27" fmla="*/ 154 h 212"/>
                <a:gd name="T28" fmla="*/ 30 w 64"/>
                <a:gd name="T29" fmla="*/ 151 h 212"/>
                <a:gd name="T30" fmla="*/ 32 w 64"/>
                <a:gd name="T31" fmla="*/ 147 h 212"/>
                <a:gd name="T32" fmla="*/ 33 w 64"/>
                <a:gd name="T33" fmla="*/ 142 h 212"/>
                <a:gd name="T34" fmla="*/ 35 w 64"/>
                <a:gd name="T35" fmla="*/ 136 h 212"/>
                <a:gd name="T36" fmla="*/ 36 w 64"/>
                <a:gd name="T37" fmla="*/ 133 h 212"/>
                <a:gd name="T38" fmla="*/ 37 w 64"/>
                <a:gd name="T39" fmla="*/ 129 h 212"/>
                <a:gd name="T40" fmla="*/ 39 w 64"/>
                <a:gd name="T41" fmla="*/ 126 h 212"/>
                <a:gd name="T42" fmla="*/ 39 w 64"/>
                <a:gd name="T43" fmla="*/ 123 h 212"/>
                <a:gd name="T44" fmla="*/ 40 w 64"/>
                <a:gd name="T45" fmla="*/ 120 h 212"/>
                <a:gd name="T46" fmla="*/ 42 w 64"/>
                <a:gd name="T47" fmla="*/ 116 h 212"/>
                <a:gd name="T48" fmla="*/ 43 w 64"/>
                <a:gd name="T49" fmla="*/ 111 h 212"/>
                <a:gd name="T50" fmla="*/ 45 w 64"/>
                <a:gd name="T51" fmla="*/ 105 h 212"/>
                <a:gd name="T52" fmla="*/ 46 w 64"/>
                <a:gd name="T53" fmla="*/ 102 h 212"/>
                <a:gd name="T54" fmla="*/ 48 w 64"/>
                <a:gd name="T55" fmla="*/ 98 h 212"/>
                <a:gd name="T56" fmla="*/ 48 w 64"/>
                <a:gd name="T57" fmla="*/ 95 h 212"/>
                <a:gd name="T58" fmla="*/ 49 w 64"/>
                <a:gd name="T59" fmla="*/ 92 h 212"/>
                <a:gd name="T60" fmla="*/ 51 w 64"/>
                <a:gd name="T61" fmla="*/ 89 h 212"/>
                <a:gd name="T62" fmla="*/ 52 w 64"/>
                <a:gd name="T63" fmla="*/ 84 h 212"/>
                <a:gd name="T64" fmla="*/ 54 w 64"/>
                <a:gd name="T65" fmla="*/ 79 h 212"/>
                <a:gd name="T66" fmla="*/ 55 w 64"/>
                <a:gd name="T67" fmla="*/ 74 h 212"/>
                <a:gd name="T68" fmla="*/ 55 w 64"/>
                <a:gd name="T69" fmla="*/ 70 h 212"/>
                <a:gd name="T70" fmla="*/ 57 w 64"/>
                <a:gd name="T71" fmla="*/ 67 h 212"/>
                <a:gd name="T72" fmla="*/ 58 w 64"/>
                <a:gd name="T73" fmla="*/ 64 h 212"/>
                <a:gd name="T74" fmla="*/ 58 w 64"/>
                <a:gd name="T75" fmla="*/ 61 h 212"/>
                <a:gd name="T76" fmla="*/ 58 w 64"/>
                <a:gd name="T77" fmla="*/ 58 h 212"/>
                <a:gd name="T78" fmla="*/ 60 w 64"/>
                <a:gd name="T79" fmla="*/ 55 h 212"/>
                <a:gd name="T80" fmla="*/ 60 w 64"/>
                <a:gd name="T81" fmla="*/ 50 h 212"/>
                <a:gd name="T82" fmla="*/ 60 w 64"/>
                <a:gd name="T83" fmla="*/ 46 h 212"/>
                <a:gd name="T84" fmla="*/ 60 w 64"/>
                <a:gd name="T85" fmla="*/ 43 h 212"/>
                <a:gd name="T86" fmla="*/ 60 w 64"/>
                <a:gd name="T87" fmla="*/ 40 h 212"/>
                <a:gd name="T88" fmla="*/ 61 w 64"/>
                <a:gd name="T89" fmla="*/ 37 h 212"/>
                <a:gd name="T90" fmla="*/ 61 w 64"/>
                <a:gd name="T91" fmla="*/ 34 h 212"/>
                <a:gd name="T92" fmla="*/ 61 w 64"/>
                <a:gd name="T93" fmla="*/ 33 h 212"/>
                <a:gd name="T94" fmla="*/ 61 w 64"/>
                <a:gd name="T95" fmla="*/ 31 h 212"/>
                <a:gd name="T96" fmla="*/ 63 w 64"/>
                <a:gd name="T97" fmla="*/ 28 h 212"/>
                <a:gd name="T98" fmla="*/ 63 w 64"/>
                <a:gd name="T99" fmla="*/ 27 h 212"/>
                <a:gd name="T100" fmla="*/ 63 w 64"/>
                <a:gd name="T101" fmla="*/ 24 h 212"/>
                <a:gd name="T102" fmla="*/ 63 w 64"/>
                <a:gd name="T103" fmla="*/ 21 h 212"/>
                <a:gd name="T104" fmla="*/ 64 w 64"/>
                <a:gd name="T105" fmla="*/ 19 h 212"/>
                <a:gd name="T106" fmla="*/ 64 w 64"/>
                <a:gd name="T107" fmla="*/ 16 h 212"/>
                <a:gd name="T108" fmla="*/ 64 w 64"/>
                <a:gd name="T109" fmla="*/ 13 h 212"/>
                <a:gd name="T110" fmla="*/ 64 w 64"/>
                <a:gd name="T111" fmla="*/ 9 h 212"/>
                <a:gd name="T112" fmla="*/ 63 w 64"/>
                <a:gd name="T113" fmla="*/ 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" h="212">
                  <a:moveTo>
                    <a:pt x="0" y="212"/>
                  </a:moveTo>
                  <a:lnTo>
                    <a:pt x="2" y="209"/>
                  </a:lnTo>
                  <a:lnTo>
                    <a:pt x="3" y="207"/>
                  </a:lnTo>
                  <a:lnTo>
                    <a:pt x="5" y="204"/>
                  </a:lnTo>
                  <a:lnTo>
                    <a:pt x="5" y="203"/>
                  </a:lnTo>
                  <a:lnTo>
                    <a:pt x="6" y="201"/>
                  </a:lnTo>
                  <a:lnTo>
                    <a:pt x="8" y="200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9" y="196"/>
                  </a:lnTo>
                  <a:lnTo>
                    <a:pt x="11" y="194"/>
                  </a:lnTo>
                  <a:lnTo>
                    <a:pt x="11" y="193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2" y="190"/>
                  </a:lnTo>
                  <a:lnTo>
                    <a:pt x="14" y="188"/>
                  </a:lnTo>
                  <a:lnTo>
                    <a:pt x="14" y="188"/>
                  </a:lnTo>
                  <a:lnTo>
                    <a:pt x="14" y="187"/>
                  </a:lnTo>
                  <a:lnTo>
                    <a:pt x="15" y="187"/>
                  </a:lnTo>
                  <a:lnTo>
                    <a:pt x="15" y="185"/>
                  </a:lnTo>
                  <a:lnTo>
                    <a:pt x="15" y="184"/>
                  </a:lnTo>
                  <a:lnTo>
                    <a:pt x="17" y="184"/>
                  </a:lnTo>
                  <a:lnTo>
                    <a:pt x="17" y="182"/>
                  </a:lnTo>
                  <a:lnTo>
                    <a:pt x="17" y="182"/>
                  </a:lnTo>
                  <a:lnTo>
                    <a:pt x="17" y="181"/>
                  </a:lnTo>
                  <a:lnTo>
                    <a:pt x="18" y="181"/>
                  </a:lnTo>
                  <a:lnTo>
                    <a:pt x="18" y="179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20" y="176"/>
                  </a:lnTo>
                  <a:lnTo>
                    <a:pt x="20" y="175"/>
                  </a:lnTo>
                  <a:lnTo>
                    <a:pt x="20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72"/>
                  </a:lnTo>
                  <a:lnTo>
                    <a:pt x="21" y="170"/>
                  </a:lnTo>
                  <a:lnTo>
                    <a:pt x="23" y="169"/>
                  </a:lnTo>
                  <a:lnTo>
                    <a:pt x="23" y="169"/>
                  </a:lnTo>
                  <a:lnTo>
                    <a:pt x="23" y="167"/>
                  </a:lnTo>
                  <a:lnTo>
                    <a:pt x="23" y="166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4" y="163"/>
                  </a:lnTo>
                  <a:lnTo>
                    <a:pt x="26" y="163"/>
                  </a:lnTo>
                  <a:lnTo>
                    <a:pt x="26" y="161"/>
                  </a:lnTo>
                  <a:lnTo>
                    <a:pt x="26" y="161"/>
                  </a:lnTo>
                  <a:lnTo>
                    <a:pt x="26" y="160"/>
                  </a:lnTo>
                  <a:lnTo>
                    <a:pt x="26" y="160"/>
                  </a:lnTo>
                  <a:lnTo>
                    <a:pt x="27" y="159"/>
                  </a:lnTo>
                  <a:lnTo>
                    <a:pt x="27" y="159"/>
                  </a:lnTo>
                  <a:lnTo>
                    <a:pt x="27" y="157"/>
                  </a:lnTo>
                  <a:lnTo>
                    <a:pt x="27" y="157"/>
                  </a:lnTo>
                  <a:lnTo>
                    <a:pt x="27" y="156"/>
                  </a:lnTo>
                  <a:lnTo>
                    <a:pt x="27" y="156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2" y="147"/>
                  </a:lnTo>
                  <a:lnTo>
                    <a:pt x="32" y="145"/>
                  </a:lnTo>
                  <a:lnTo>
                    <a:pt x="32" y="144"/>
                  </a:lnTo>
                  <a:lnTo>
                    <a:pt x="32" y="144"/>
                  </a:lnTo>
                  <a:lnTo>
                    <a:pt x="33" y="142"/>
                  </a:lnTo>
                  <a:lnTo>
                    <a:pt x="33" y="141"/>
                  </a:lnTo>
                  <a:lnTo>
                    <a:pt x="35" y="139"/>
                  </a:lnTo>
                  <a:lnTo>
                    <a:pt x="35" y="138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9"/>
                  </a:lnTo>
                  <a:lnTo>
                    <a:pt x="37" y="129"/>
                  </a:lnTo>
                  <a:lnTo>
                    <a:pt x="37" y="127"/>
                  </a:lnTo>
                  <a:lnTo>
                    <a:pt x="39" y="127"/>
                  </a:lnTo>
                  <a:lnTo>
                    <a:pt x="39" y="126"/>
                  </a:lnTo>
                  <a:lnTo>
                    <a:pt x="39" y="126"/>
                  </a:lnTo>
                  <a:lnTo>
                    <a:pt x="39" y="124"/>
                  </a:lnTo>
                  <a:lnTo>
                    <a:pt x="39" y="124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0" y="121"/>
                  </a:lnTo>
                  <a:lnTo>
                    <a:pt x="40" y="120"/>
                  </a:lnTo>
                  <a:lnTo>
                    <a:pt x="40" y="119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2" y="116"/>
                  </a:lnTo>
                  <a:lnTo>
                    <a:pt x="42" y="114"/>
                  </a:lnTo>
                  <a:lnTo>
                    <a:pt x="43" y="113"/>
                  </a:lnTo>
                  <a:lnTo>
                    <a:pt x="43" y="111"/>
                  </a:lnTo>
                  <a:lnTo>
                    <a:pt x="43" y="111"/>
                  </a:lnTo>
                  <a:lnTo>
                    <a:pt x="43" y="110"/>
                  </a:lnTo>
                  <a:lnTo>
                    <a:pt x="45" y="108"/>
                  </a:lnTo>
                  <a:lnTo>
                    <a:pt x="45" y="107"/>
                  </a:lnTo>
                  <a:lnTo>
                    <a:pt x="45" y="105"/>
                  </a:lnTo>
                  <a:lnTo>
                    <a:pt x="45" y="105"/>
                  </a:lnTo>
                  <a:lnTo>
                    <a:pt x="46" y="104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46" y="101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8"/>
                  </a:lnTo>
                  <a:lnTo>
                    <a:pt x="48" y="98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5"/>
                  </a:lnTo>
                  <a:lnTo>
                    <a:pt x="49" y="95"/>
                  </a:lnTo>
                  <a:lnTo>
                    <a:pt x="49" y="93"/>
                  </a:lnTo>
                  <a:lnTo>
                    <a:pt x="49" y="93"/>
                  </a:lnTo>
                  <a:lnTo>
                    <a:pt x="49" y="92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51" y="89"/>
                  </a:lnTo>
                  <a:lnTo>
                    <a:pt x="51" y="89"/>
                  </a:lnTo>
                  <a:lnTo>
                    <a:pt x="51" y="87"/>
                  </a:lnTo>
                  <a:lnTo>
                    <a:pt x="51" y="86"/>
                  </a:lnTo>
                  <a:lnTo>
                    <a:pt x="51" y="86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2" y="82"/>
                  </a:lnTo>
                  <a:lnTo>
                    <a:pt x="52" y="80"/>
                  </a:lnTo>
                  <a:lnTo>
                    <a:pt x="54" y="79"/>
                  </a:lnTo>
                  <a:lnTo>
                    <a:pt x="54" y="79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5" y="73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7" y="70"/>
                  </a:lnTo>
                  <a:lnTo>
                    <a:pt x="57" y="68"/>
                  </a:lnTo>
                  <a:lnTo>
                    <a:pt x="57" y="68"/>
                  </a:lnTo>
                  <a:lnTo>
                    <a:pt x="57" y="67"/>
                  </a:lnTo>
                  <a:lnTo>
                    <a:pt x="57" y="65"/>
                  </a:lnTo>
                  <a:lnTo>
                    <a:pt x="57" y="6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58" y="62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9"/>
                  </a:lnTo>
                  <a:lnTo>
                    <a:pt x="58" y="59"/>
                  </a:lnTo>
                  <a:lnTo>
                    <a:pt x="58" y="58"/>
                  </a:lnTo>
                  <a:lnTo>
                    <a:pt x="58" y="58"/>
                  </a:lnTo>
                  <a:lnTo>
                    <a:pt x="58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0" y="53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0"/>
                  </a:lnTo>
                  <a:lnTo>
                    <a:pt x="60" y="49"/>
                  </a:lnTo>
                  <a:lnTo>
                    <a:pt x="60" y="49"/>
                  </a:lnTo>
                  <a:lnTo>
                    <a:pt x="60" y="47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60" y="45"/>
                  </a:lnTo>
                  <a:lnTo>
                    <a:pt x="60" y="43"/>
                  </a:lnTo>
                  <a:lnTo>
                    <a:pt x="60" y="43"/>
                  </a:lnTo>
                  <a:lnTo>
                    <a:pt x="60" y="42"/>
                  </a:lnTo>
                  <a:lnTo>
                    <a:pt x="60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61" y="39"/>
                  </a:lnTo>
                  <a:lnTo>
                    <a:pt x="61" y="39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3" y="28"/>
                  </a:lnTo>
                  <a:lnTo>
                    <a:pt x="63" y="28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3" y="25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8"/>
                  </a:lnTo>
                  <a:lnTo>
                    <a:pt x="64" y="18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3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4" y="9"/>
                  </a:lnTo>
                  <a:lnTo>
                    <a:pt x="63" y="9"/>
                  </a:lnTo>
                  <a:lnTo>
                    <a:pt x="63" y="7"/>
                  </a:lnTo>
                  <a:lnTo>
                    <a:pt x="63" y="6"/>
                  </a:lnTo>
                  <a:lnTo>
                    <a:pt x="63" y="5"/>
                  </a:lnTo>
                  <a:lnTo>
                    <a:pt x="63" y="3"/>
                  </a:lnTo>
                  <a:lnTo>
                    <a:pt x="63" y="2"/>
                  </a:lnTo>
                  <a:lnTo>
                    <a:pt x="63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7" name="Freeform 462"/>
            <p:cNvSpPr>
              <a:spLocks/>
            </p:cNvSpPr>
            <p:nvPr/>
          </p:nvSpPr>
          <p:spPr bwMode="auto">
            <a:xfrm>
              <a:off x="2915" y="3344"/>
              <a:ext cx="22" cy="70"/>
            </a:xfrm>
            <a:custGeom>
              <a:avLst/>
              <a:gdLst>
                <a:gd name="T0" fmla="*/ 4 w 64"/>
                <a:gd name="T1" fmla="*/ 8 h 212"/>
                <a:gd name="T2" fmla="*/ 7 w 64"/>
                <a:gd name="T3" fmla="*/ 14 h 212"/>
                <a:gd name="T4" fmla="*/ 10 w 64"/>
                <a:gd name="T5" fmla="*/ 20 h 212"/>
                <a:gd name="T6" fmla="*/ 13 w 64"/>
                <a:gd name="T7" fmla="*/ 24 h 212"/>
                <a:gd name="T8" fmla="*/ 15 w 64"/>
                <a:gd name="T9" fmla="*/ 27 h 212"/>
                <a:gd name="T10" fmla="*/ 16 w 64"/>
                <a:gd name="T11" fmla="*/ 30 h 212"/>
                <a:gd name="T12" fmla="*/ 18 w 64"/>
                <a:gd name="T13" fmla="*/ 34 h 212"/>
                <a:gd name="T14" fmla="*/ 19 w 64"/>
                <a:gd name="T15" fmla="*/ 37 h 212"/>
                <a:gd name="T16" fmla="*/ 21 w 64"/>
                <a:gd name="T17" fmla="*/ 42 h 212"/>
                <a:gd name="T18" fmla="*/ 22 w 64"/>
                <a:gd name="T19" fmla="*/ 46 h 212"/>
                <a:gd name="T20" fmla="*/ 24 w 64"/>
                <a:gd name="T21" fmla="*/ 49 h 212"/>
                <a:gd name="T22" fmla="*/ 25 w 64"/>
                <a:gd name="T23" fmla="*/ 52 h 212"/>
                <a:gd name="T24" fmla="*/ 27 w 64"/>
                <a:gd name="T25" fmla="*/ 54 h 212"/>
                <a:gd name="T26" fmla="*/ 28 w 64"/>
                <a:gd name="T27" fmla="*/ 58 h 212"/>
                <a:gd name="T28" fmla="*/ 30 w 64"/>
                <a:gd name="T29" fmla="*/ 61 h 212"/>
                <a:gd name="T30" fmla="*/ 31 w 64"/>
                <a:gd name="T31" fmla="*/ 66 h 212"/>
                <a:gd name="T32" fmla="*/ 33 w 64"/>
                <a:gd name="T33" fmla="*/ 70 h 212"/>
                <a:gd name="T34" fmla="*/ 34 w 64"/>
                <a:gd name="T35" fmla="*/ 76 h 212"/>
                <a:gd name="T36" fmla="*/ 36 w 64"/>
                <a:gd name="T37" fmla="*/ 79 h 212"/>
                <a:gd name="T38" fmla="*/ 37 w 64"/>
                <a:gd name="T39" fmla="*/ 83 h 212"/>
                <a:gd name="T40" fmla="*/ 39 w 64"/>
                <a:gd name="T41" fmla="*/ 86 h 212"/>
                <a:gd name="T42" fmla="*/ 39 w 64"/>
                <a:gd name="T43" fmla="*/ 89 h 212"/>
                <a:gd name="T44" fmla="*/ 40 w 64"/>
                <a:gd name="T45" fmla="*/ 92 h 212"/>
                <a:gd name="T46" fmla="*/ 42 w 64"/>
                <a:gd name="T47" fmla="*/ 97 h 212"/>
                <a:gd name="T48" fmla="*/ 43 w 64"/>
                <a:gd name="T49" fmla="*/ 101 h 212"/>
                <a:gd name="T50" fmla="*/ 44 w 64"/>
                <a:gd name="T51" fmla="*/ 107 h 212"/>
                <a:gd name="T52" fmla="*/ 46 w 64"/>
                <a:gd name="T53" fmla="*/ 111 h 212"/>
                <a:gd name="T54" fmla="*/ 47 w 64"/>
                <a:gd name="T55" fmla="*/ 114 h 212"/>
                <a:gd name="T56" fmla="*/ 47 w 64"/>
                <a:gd name="T57" fmla="*/ 117 h 212"/>
                <a:gd name="T58" fmla="*/ 49 w 64"/>
                <a:gd name="T59" fmla="*/ 120 h 212"/>
                <a:gd name="T60" fmla="*/ 50 w 64"/>
                <a:gd name="T61" fmla="*/ 123 h 212"/>
                <a:gd name="T62" fmla="*/ 52 w 64"/>
                <a:gd name="T63" fmla="*/ 128 h 212"/>
                <a:gd name="T64" fmla="*/ 53 w 64"/>
                <a:gd name="T65" fmla="*/ 134 h 212"/>
                <a:gd name="T66" fmla="*/ 55 w 64"/>
                <a:gd name="T67" fmla="*/ 138 h 212"/>
                <a:gd name="T68" fmla="*/ 56 w 64"/>
                <a:gd name="T69" fmla="*/ 143 h 212"/>
                <a:gd name="T70" fmla="*/ 56 w 64"/>
                <a:gd name="T71" fmla="*/ 145 h 212"/>
                <a:gd name="T72" fmla="*/ 58 w 64"/>
                <a:gd name="T73" fmla="*/ 148 h 212"/>
                <a:gd name="T74" fmla="*/ 58 w 64"/>
                <a:gd name="T75" fmla="*/ 151 h 212"/>
                <a:gd name="T76" fmla="*/ 58 w 64"/>
                <a:gd name="T77" fmla="*/ 154 h 212"/>
                <a:gd name="T78" fmla="*/ 59 w 64"/>
                <a:gd name="T79" fmla="*/ 157 h 212"/>
                <a:gd name="T80" fmla="*/ 59 w 64"/>
                <a:gd name="T81" fmla="*/ 162 h 212"/>
                <a:gd name="T82" fmla="*/ 59 w 64"/>
                <a:gd name="T83" fmla="*/ 166 h 212"/>
                <a:gd name="T84" fmla="*/ 59 w 64"/>
                <a:gd name="T85" fmla="*/ 169 h 212"/>
                <a:gd name="T86" fmla="*/ 59 w 64"/>
                <a:gd name="T87" fmla="*/ 174 h 212"/>
                <a:gd name="T88" fmla="*/ 61 w 64"/>
                <a:gd name="T89" fmla="*/ 175 h 212"/>
                <a:gd name="T90" fmla="*/ 61 w 64"/>
                <a:gd name="T91" fmla="*/ 178 h 212"/>
                <a:gd name="T92" fmla="*/ 61 w 64"/>
                <a:gd name="T93" fmla="*/ 180 h 212"/>
                <a:gd name="T94" fmla="*/ 61 w 64"/>
                <a:gd name="T95" fmla="*/ 181 h 212"/>
                <a:gd name="T96" fmla="*/ 62 w 64"/>
                <a:gd name="T97" fmla="*/ 184 h 212"/>
                <a:gd name="T98" fmla="*/ 62 w 64"/>
                <a:gd name="T99" fmla="*/ 187 h 212"/>
                <a:gd name="T100" fmla="*/ 62 w 64"/>
                <a:gd name="T101" fmla="*/ 188 h 212"/>
                <a:gd name="T102" fmla="*/ 64 w 64"/>
                <a:gd name="T103" fmla="*/ 191 h 212"/>
                <a:gd name="T104" fmla="*/ 64 w 64"/>
                <a:gd name="T105" fmla="*/ 193 h 212"/>
                <a:gd name="T106" fmla="*/ 64 w 64"/>
                <a:gd name="T107" fmla="*/ 196 h 212"/>
                <a:gd name="T108" fmla="*/ 64 w 64"/>
                <a:gd name="T109" fmla="*/ 199 h 212"/>
                <a:gd name="T110" fmla="*/ 64 w 64"/>
                <a:gd name="T111" fmla="*/ 203 h 212"/>
                <a:gd name="T112" fmla="*/ 62 w 64"/>
                <a:gd name="T113" fmla="*/ 208 h 212"/>
                <a:gd name="T114" fmla="*/ 0 w 64"/>
                <a:gd name="T115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4" h="212">
                  <a:moveTo>
                    <a:pt x="0" y="0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4" y="8"/>
                  </a:lnTo>
                  <a:lnTo>
                    <a:pt x="4" y="9"/>
                  </a:lnTo>
                  <a:lnTo>
                    <a:pt x="6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3" y="23"/>
                  </a:lnTo>
                  <a:lnTo>
                    <a:pt x="13" y="24"/>
                  </a:lnTo>
                  <a:lnTo>
                    <a:pt x="13" y="24"/>
                  </a:lnTo>
                  <a:lnTo>
                    <a:pt x="13" y="26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6" y="29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9" y="36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1" y="39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5"/>
                  </a:lnTo>
                  <a:lnTo>
                    <a:pt x="22" y="46"/>
                  </a:lnTo>
                  <a:lnTo>
                    <a:pt x="24" y="46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9"/>
                  </a:lnTo>
                  <a:lnTo>
                    <a:pt x="25" y="49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5" y="52"/>
                  </a:lnTo>
                  <a:lnTo>
                    <a:pt x="25" y="52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8" y="58"/>
                  </a:lnTo>
                  <a:lnTo>
                    <a:pt x="28" y="58"/>
                  </a:lnTo>
                  <a:lnTo>
                    <a:pt x="28" y="60"/>
                  </a:lnTo>
                  <a:lnTo>
                    <a:pt x="28" y="60"/>
                  </a:lnTo>
                  <a:lnTo>
                    <a:pt x="30" y="61"/>
                  </a:lnTo>
                  <a:lnTo>
                    <a:pt x="30" y="63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1" y="66"/>
                  </a:lnTo>
                  <a:lnTo>
                    <a:pt x="31" y="67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3" y="70"/>
                  </a:lnTo>
                  <a:lnTo>
                    <a:pt x="33" y="71"/>
                  </a:lnTo>
                  <a:lnTo>
                    <a:pt x="34" y="73"/>
                  </a:lnTo>
                  <a:lnTo>
                    <a:pt x="34" y="74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6" y="77"/>
                  </a:lnTo>
                  <a:lnTo>
                    <a:pt x="36" y="79"/>
                  </a:lnTo>
                  <a:lnTo>
                    <a:pt x="36" y="79"/>
                  </a:lnTo>
                  <a:lnTo>
                    <a:pt x="36" y="80"/>
                  </a:lnTo>
                  <a:lnTo>
                    <a:pt x="37" y="80"/>
                  </a:lnTo>
                  <a:lnTo>
                    <a:pt x="37" y="82"/>
                  </a:lnTo>
                  <a:lnTo>
                    <a:pt x="37" y="83"/>
                  </a:lnTo>
                  <a:lnTo>
                    <a:pt x="37" y="83"/>
                  </a:lnTo>
                  <a:lnTo>
                    <a:pt x="37" y="85"/>
                  </a:lnTo>
                  <a:lnTo>
                    <a:pt x="39" y="85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9"/>
                  </a:lnTo>
                  <a:lnTo>
                    <a:pt x="40" y="89"/>
                  </a:lnTo>
                  <a:lnTo>
                    <a:pt x="40" y="91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4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2" y="97"/>
                  </a:lnTo>
                  <a:lnTo>
                    <a:pt x="42" y="98"/>
                  </a:lnTo>
                  <a:lnTo>
                    <a:pt x="43" y="100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3"/>
                  </a:lnTo>
                  <a:lnTo>
                    <a:pt x="44" y="104"/>
                  </a:lnTo>
                  <a:lnTo>
                    <a:pt x="44" y="105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6" y="108"/>
                  </a:lnTo>
                  <a:lnTo>
                    <a:pt x="46" y="110"/>
                  </a:lnTo>
                  <a:lnTo>
                    <a:pt x="46" y="111"/>
                  </a:lnTo>
                  <a:lnTo>
                    <a:pt x="46" y="111"/>
                  </a:lnTo>
                  <a:lnTo>
                    <a:pt x="46" y="113"/>
                  </a:lnTo>
                  <a:lnTo>
                    <a:pt x="47" y="113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7"/>
                  </a:lnTo>
                  <a:lnTo>
                    <a:pt x="49" y="117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49" y="120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50" y="123"/>
                  </a:lnTo>
                  <a:lnTo>
                    <a:pt x="50" y="123"/>
                  </a:lnTo>
                  <a:lnTo>
                    <a:pt x="50" y="125"/>
                  </a:lnTo>
                  <a:lnTo>
                    <a:pt x="50" y="126"/>
                  </a:lnTo>
                  <a:lnTo>
                    <a:pt x="52" y="126"/>
                  </a:lnTo>
                  <a:lnTo>
                    <a:pt x="52" y="128"/>
                  </a:lnTo>
                  <a:lnTo>
                    <a:pt x="52" y="129"/>
                  </a:lnTo>
                  <a:lnTo>
                    <a:pt x="52" y="131"/>
                  </a:lnTo>
                  <a:lnTo>
                    <a:pt x="53" y="132"/>
                  </a:lnTo>
                  <a:lnTo>
                    <a:pt x="53" y="134"/>
                  </a:lnTo>
                  <a:lnTo>
                    <a:pt x="53" y="134"/>
                  </a:lnTo>
                  <a:lnTo>
                    <a:pt x="53" y="135"/>
                  </a:lnTo>
                  <a:lnTo>
                    <a:pt x="53" y="137"/>
                  </a:lnTo>
                  <a:lnTo>
                    <a:pt x="55" y="138"/>
                  </a:lnTo>
                  <a:lnTo>
                    <a:pt x="55" y="138"/>
                  </a:lnTo>
                  <a:lnTo>
                    <a:pt x="55" y="140"/>
                  </a:lnTo>
                  <a:lnTo>
                    <a:pt x="55" y="141"/>
                  </a:lnTo>
                  <a:lnTo>
                    <a:pt x="56" y="143"/>
                  </a:lnTo>
                  <a:lnTo>
                    <a:pt x="56" y="143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5"/>
                  </a:lnTo>
                  <a:lnTo>
                    <a:pt x="56" y="147"/>
                  </a:lnTo>
                  <a:lnTo>
                    <a:pt x="58" y="147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50"/>
                  </a:lnTo>
                  <a:lnTo>
                    <a:pt x="58" y="150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58" y="153"/>
                  </a:lnTo>
                  <a:lnTo>
                    <a:pt x="58" y="153"/>
                  </a:lnTo>
                  <a:lnTo>
                    <a:pt x="58" y="154"/>
                  </a:lnTo>
                  <a:lnTo>
                    <a:pt x="58" y="154"/>
                  </a:lnTo>
                  <a:lnTo>
                    <a:pt x="59" y="156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59" y="159"/>
                  </a:lnTo>
                  <a:lnTo>
                    <a:pt x="59" y="160"/>
                  </a:lnTo>
                  <a:lnTo>
                    <a:pt x="59" y="160"/>
                  </a:lnTo>
                  <a:lnTo>
                    <a:pt x="59" y="162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5"/>
                  </a:lnTo>
                  <a:lnTo>
                    <a:pt x="59" y="166"/>
                  </a:lnTo>
                  <a:lnTo>
                    <a:pt x="59" y="166"/>
                  </a:lnTo>
                  <a:lnTo>
                    <a:pt x="59" y="168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71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59" y="174"/>
                  </a:lnTo>
                  <a:lnTo>
                    <a:pt x="61" y="174"/>
                  </a:lnTo>
                  <a:lnTo>
                    <a:pt x="61" y="174"/>
                  </a:lnTo>
                  <a:lnTo>
                    <a:pt x="61" y="175"/>
                  </a:lnTo>
                  <a:lnTo>
                    <a:pt x="61" y="175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2"/>
                  </a:lnTo>
                  <a:lnTo>
                    <a:pt x="61" y="182"/>
                  </a:lnTo>
                  <a:lnTo>
                    <a:pt x="62" y="184"/>
                  </a:lnTo>
                  <a:lnTo>
                    <a:pt x="62" y="184"/>
                  </a:lnTo>
                  <a:lnTo>
                    <a:pt x="62" y="185"/>
                  </a:lnTo>
                  <a:lnTo>
                    <a:pt x="62" y="185"/>
                  </a:lnTo>
                  <a:lnTo>
                    <a:pt x="62" y="185"/>
                  </a:lnTo>
                  <a:lnTo>
                    <a:pt x="62" y="187"/>
                  </a:lnTo>
                  <a:lnTo>
                    <a:pt x="62" y="187"/>
                  </a:lnTo>
                  <a:lnTo>
                    <a:pt x="62" y="188"/>
                  </a:lnTo>
                  <a:lnTo>
                    <a:pt x="62" y="188"/>
                  </a:lnTo>
                  <a:lnTo>
                    <a:pt x="62" y="188"/>
                  </a:lnTo>
                  <a:lnTo>
                    <a:pt x="62" y="190"/>
                  </a:lnTo>
                  <a:lnTo>
                    <a:pt x="62" y="190"/>
                  </a:lnTo>
                  <a:lnTo>
                    <a:pt x="62" y="191"/>
                  </a:lnTo>
                  <a:lnTo>
                    <a:pt x="64" y="191"/>
                  </a:lnTo>
                  <a:lnTo>
                    <a:pt x="64" y="191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4"/>
                  </a:lnTo>
                  <a:lnTo>
                    <a:pt x="64" y="194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7"/>
                  </a:lnTo>
                  <a:lnTo>
                    <a:pt x="64" y="197"/>
                  </a:lnTo>
                  <a:lnTo>
                    <a:pt x="64" y="199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4" y="202"/>
                  </a:lnTo>
                  <a:lnTo>
                    <a:pt x="64" y="203"/>
                  </a:lnTo>
                  <a:lnTo>
                    <a:pt x="64" y="203"/>
                  </a:lnTo>
                  <a:lnTo>
                    <a:pt x="64" y="205"/>
                  </a:lnTo>
                  <a:lnTo>
                    <a:pt x="62" y="206"/>
                  </a:lnTo>
                  <a:lnTo>
                    <a:pt x="62" y="208"/>
                  </a:lnTo>
                  <a:lnTo>
                    <a:pt x="62" y="209"/>
                  </a:lnTo>
                  <a:lnTo>
                    <a:pt x="62" y="211"/>
                  </a:lnTo>
                  <a:lnTo>
                    <a:pt x="62" y="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8" name="Freeform 463"/>
            <p:cNvSpPr>
              <a:spLocks/>
            </p:cNvSpPr>
            <p:nvPr/>
          </p:nvSpPr>
          <p:spPr bwMode="auto">
            <a:xfrm>
              <a:off x="2915" y="3344"/>
              <a:ext cx="22" cy="70"/>
            </a:xfrm>
            <a:custGeom>
              <a:avLst/>
              <a:gdLst>
                <a:gd name="T0" fmla="*/ 4 w 64"/>
                <a:gd name="T1" fmla="*/ 8 h 212"/>
                <a:gd name="T2" fmla="*/ 7 w 64"/>
                <a:gd name="T3" fmla="*/ 14 h 212"/>
                <a:gd name="T4" fmla="*/ 10 w 64"/>
                <a:gd name="T5" fmla="*/ 20 h 212"/>
                <a:gd name="T6" fmla="*/ 13 w 64"/>
                <a:gd name="T7" fmla="*/ 24 h 212"/>
                <a:gd name="T8" fmla="*/ 15 w 64"/>
                <a:gd name="T9" fmla="*/ 27 h 212"/>
                <a:gd name="T10" fmla="*/ 16 w 64"/>
                <a:gd name="T11" fmla="*/ 30 h 212"/>
                <a:gd name="T12" fmla="*/ 18 w 64"/>
                <a:gd name="T13" fmla="*/ 34 h 212"/>
                <a:gd name="T14" fmla="*/ 19 w 64"/>
                <a:gd name="T15" fmla="*/ 37 h 212"/>
                <a:gd name="T16" fmla="*/ 21 w 64"/>
                <a:gd name="T17" fmla="*/ 42 h 212"/>
                <a:gd name="T18" fmla="*/ 22 w 64"/>
                <a:gd name="T19" fmla="*/ 46 h 212"/>
                <a:gd name="T20" fmla="*/ 24 w 64"/>
                <a:gd name="T21" fmla="*/ 49 h 212"/>
                <a:gd name="T22" fmla="*/ 25 w 64"/>
                <a:gd name="T23" fmla="*/ 52 h 212"/>
                <a:gd name="T24" fmla="*/ 27 w 64"/>
                <a:gd name="T25" fmla="*/ 54 h 212"/>
                <a:gd name="T26" fmla="*/ 28 w 64"/>
                <a:gd name="T27" fmla="*/ 58 h 212"/>
                <a:gd name="T28" fmla="*/ 30 w 64"/>
                <a:gd name="T29" fmla="*/ 61 h 212"/>
                <a:gd name="T30" fmla="*/ 31 w 64"/>
                <a:gd name="T31" fmla="*/ 66 h 212"/>
                <a:gd name="T32" fmla="*/ 33 w 64"/>
                <a:gd name="T33" fmla="*/ 70 h 212"/>
                <a:gd name="T34" fmla="*/ 34 w 64"/>
                <a:gd name="T35" fmla="*/ 76 h 212"/>
                <a:gd name="T36" fmla="*/ 36 w 64"/>
                <a:gd name="T37" fmla="*/ 79 h 212"/>
                <a:gd name="T38" fmla="*/ 37 w 64"/>
                <a:gd name="T39" fmla="*/ 83 h 212"/>
                <a:gd name="T40" fmla="*/ 39 w 64"/>
                <a:gd name="T41" fmla="*/ 86 h 212"/>
                <a:gd name="T42" fmla="*/ 39 w 64"/>
                <a:gd name="T43" fmla="*/ 89 h 212"/>
                <a:gd name="T44" fmla="*/ 40 w 64"/>
                <a:gd name="T45" fmla="*/ 92 h 212"/>
                <a:gd name="T46" fmla="*/ 42 w 64"/>
                <a:gd name="T47" fmla="*/ 97 h 212"/>
                <a:gd name="T48" fmla="*/ 43 w 64"/>
                <a:gd name="T49" fmla="*/ 101 h 212"/>
                <a:gd name="T50" fmla="*/ 44 w 64"/>
                <a:gd name="T51" fmla="*/ 107 h 212"/>
                <a:gd name="T52" fmla="*/ 46 w 64"/>
                <a:gd name="T53" fmla="*/ 111 h 212"/>
                <a:gd name="T54" fmla="*/ 47 w 64"/>
                <a:gd name="T55" fmla="*/ 114 h 212"/>
                <a:gd name="T56" fmla="*/ 47 w 64"/>
                <a:gd name="T57" fmla="*/ 117 h 212"/>
                <a:gd name="T58" fmla="*/ 49 w 64"/>
                <a:gd name="T59" fmla="*/ 120 h 212"/>
                <a:gd name="T60" fmla="*/ 50 w 64"/>
                <a:gd name="T61" fmla="*/ 123 h 212"/>
                <a:gd name="T62" fmla="*/ 52 w 64"/>
                <a:gd name="T63" fmla="*/ 128 h 212"/>
                <a:gd name="T64" fmla="*/ 53 w 64"/>
                <a:gd name="T65" fmla="*/ 134 h 212"/>
                <a:gd name="T66" fmla="*/ 55 w 64"/>
                <a:gd name="T67" fmla="*/ 138 h 212"/>
                <a:gd name="T68" fmla="*/ 56 w 64"/>
                <a:gd name="T69" fmla="*/ 143 h 212"/>
                <a:gd name="T70" fmla="*/ 56 w 64"/>
                <a:gd name="T71" fmla="*/ 145 h 212"/>
                <a:gd name="T72" fmla="*/ 58 w 64"/>
                <a:gd name="T73" fmla="*/ 148 h 212"/>
                <a:gd name="T74" fmla="*/ 58 w 64"/>
                <a:gd name="T75" fmla="*/ 151 h 212"/>
                <a:gd name="T76" fmla="*/ 58 w 64"/>
                <a:gd name="T77" fmla="*/ 154 h 212"/>
                <a:gd name="T78" fmla="*/ 59 w 64"/>
                <a:gd name="T79" fmla="*/ 157 h 212"/>
                <a:gd name="T80" fmla="*/ 59 w 64"/>
                <a:gd name="T81" fmla="*/ 162 h 212"/>
                <a:gd name="T82" fmla="*/ 59 w 64"/>
                <a:gd name="T83" fmla="*/ 166 h 212"/>
                <a:gd name="T84" fmla="*/ 59 w 64"/>
                <a:gd name="T85" fmla="*/ 169 h 212"/>
                <a:gd name="T86" fmla="*/ 59 w 64"/>
                <a:gd name="T87" fmla="*/ 174 h 212"/>
                <a:gd name="T88" fmla="*/ 61 w 64"/>
                <a:gd name="T89" fmla="*/ 175 h 212"/>
                <a:gd name="T90" fmla="*/ 61 w 64"/>
                <a:gd name="T91" fmla="*/ 178 h 212"/>
                <a:gd name="T92" fmla="*/ 61 w 64"/>
                <a:gd name="T93" fmla="*/ 180 h 212"/>
                <a:gd name="T94" fmla="*/ 61 w 64"/>
                <a:gd name="T95" fmla="*/ 181 h 212"/>
                <a:gd name="T96" fmla="*/ 62 w 64"/>
                <a:gd name="T97" fmla="*/ 184 h 212"/>
                <a:gd name="T98" fmla="*/ 62 w 64"/>
                <a:gd name="T99" fmla="*/ 187 h 212"/>
                <a:gd name="T100" fmla="*/ 62 w 64"/>
                <a:gd name="T101" fmla="*/ 188 h 212"/>
                <a:gd name="T102" fmla="*/ 64 w 64"/>
                <a:gd name="T103" fmla="*/ 191 h 212"/>
                <a:gd name="T104" fmla="*/ 64 w 64"/>
                <a:gd name="T105" fmla="*/ 193 h 212"/>
                <a:gd name="T106" fmla="*/ 64 w 64"/>
                <a:gd name="T107" fmla="*/ 196 h 212"/>
                <a:gd name="T108" fmla="*/ 64 w 64"/>
                <a:gd name="T109" fmla="*/ 199 h 212"/>
                <a:gd name="T110" fmla="*/ 64 w 64"/>
                <a:gd name="T111" fmla="*/ 203 h 212"/>
                <a:gd name="T112" fmla="*/ 62 w 64"/>
                <a:gd name="T113" fmla="*/ 20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" h="212">
                  <a:moveTo>
                    <a:pt x="0" y="0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4" y="8"/>
                  </a:lnTo>
                  <a:lnTo>
                    <a:pt x="4" y="9"/>
                  </a:lnTo>
                  <a:lnTo>
                    <a:pt x="6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3" y="23"/>
                  </a:lnTo>
                  <a:lnTo>
                    <a:pt x="13" y="24"/>
                  </a:lnTo>
                  <a:lnTo>
                    <a:pt x="13" y="24"/>
                  </a:lnTo>
                  <a:lnTo>
                    <a:pt x="13" y="26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6" y="29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9" y="36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1" y="39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5"/>
                  </a:lnTo>
                  <a:lnTo>
                    <a:pt x="22" y="46"/>
                  </a:lnTo>
                  <a:lnTo>
                    <a:pt x="24" y="46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9"/>
                  </a:lnTo>
                  <a:lnTo>
                    <a:pt x="25" y="49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5" y="52"/>
                  </a:lnTo>
                  <a:lnTo>
                    <a:pt x="25" y="52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5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8" y="58"/>
                  </a:lnTo>
                  <a:lnTo>
                    <a:pt x="28" y="58"/>
                  </a:lnTo>
                  <a:lnTo>
                    <a:pt x="28" y="60"/>
                  </a:lnTo>
                  <a:lnTo>
                    <a:pt x="28" y="60"/>
                  </a:lnTo>
                  <a:lnTo>
                    <a:pt x="30" y="61"/>
                  </a:lnTo>
                  <a:lnTo>
                    <a:pt x="30" y="63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1" y="66"/>
                  </a:lnTo>
                  <a:lnTo>
                    <a:pt x="31" y="67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3" y="70"/>
                  </a:lnTo>
                  <a:lnTo>
                    <a:pt x="33" y="71"/>
                  </a:lnTo>
                  <a:lnTo>
                    <a:pt x="34" y="73"/>
                  </a:lnTo>
                  <a:lnTo>
                    <a:pt x="34" y="74"/>
                  </a:lnTo>
                  <a:lnTo>
                    <a:pt x="34" y="76"/>
                  </a:lnTo>
                  <a:lnTo>
                    <a:pt x="34" y="76"/>
                  </a:lnTo>
                  <a:lnTo>
                    <a:pt x="36" y="77"/>
                  </a:lnTo>
                  <a:lnTo>
                    <a:pt x="36" y="79"/>
                  </a:lnTo>
                  <a:lnTo>
                    <a:pt x="36" y="79"/>
                  </a:lnTo>
                  <a:lnTo>
                    <a:pt x="36" y="80"/>
                  </a:lnTo>
                  <a:lnTo>
                    <a:pt x="37" y="80"/>
                  </a:lnTo>
                  <a:lnTo>
                    <a:pt x="37" y="82"/>
                  </a:lnTo>
                  <a:lnTo>
                    <a:pt x="37" y="83"/>
                  </a:lnTo>
                  <a:lnTo>
                    <a:pt x="37" y="83"/>
                  </a:lnTo>
                  <a:lnTo>
                    <a:pt x="37" y="85"/>
                  </a:lnTo>
                  <a:lnTo>
                    <a:pt x="39" y="85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8"/>
                  </a:lnTo>
                  <a:lnTo>
                    <a:pt x="39" y="88"/>
                  </a:lnTo>
                  <a:lnTo>
                    <a:pt x="39" y="89"/>
                  </a:lnTo>
                  <a:lnTo>
                    <a:pt x="40" y="89"/>
                  </a:lnTo>
                  <a:lnTo>
                    <a:pt x="40" y="91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4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2" y="97"/>
                  </a:lnTo>
                  <a:lnTo>
                    <a:pt x="42" y="98"/>
                  </a:lnTo>
                  <a:lnTo>
                    <a:pt x="43" y="100"/>
                  </a:lnTo>
                  <a:lnTo>
                    <a:pt x="43" y="101"/>
                  </a:lnTo>
                  <a:lnTo>
                    <a:pt x="43" y="101"/>
                  </a:lnTo>
                  <a:lnTo>
                    <a:pt x="43" y="103"/>
                  </a:lnTo>
                  <a:lnTo>
                    <a:pt x="44" y="104"/>
                  </a:lnTo>
                  <a:lnTo>
                    <a:pt x="44" y="105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6" y="108"/>
                  </a:lnTo>
                  <a:lnTo>
                    <a:pt x="46" y="110"/>
                  </a:lnTo>
                  <a:lnTo>
                    <a:pt x="46" y="111"/>
                  </a:lnTo>
                  <a:lnTo>
                    <a:pt x="46" y="111"/>
                  </a:lnTo>
                  <a:lnTo>
                    <a:pt x="46" y="113"/>
                  </a:lnTo>
                  <a:lnTo>
                    <a:pt x="47" y="113"/>
                  </a:lnTo>
                  <a:lnTo>
                    <a:pt x="47" y="114"/>
                  </a:lnTo>
                  <a:lnTo>
                    <a:pt x="47" y="114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7"/>
                  </a:lnTo>
                  <a:lnTo>
                    <a:pt x="49" y="117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49" y="120"/>
                  </a:lnTo>
                  <a:lnTo>
                    <a:pt x="49" y="122"/>
                  </a:lnTo>
                  <a:lnTo>
                    <a:pt x="49" y="122"/>
                  </a:lnTo>
                  <a:lnTo>
                    <a:pt x="50" y="123"/>
                  </a:lnTo>
                  <a:lnTo>
                    <a:pt x="50" y="123"/>
                  </a:lnTo>
                  <a:lnTo>
                    <a:pt x="50" y="125"/>
                  </a:lnTo>
                  <a:lnTo>
                    <a:pt x="50" y="126"/>
                  </a:lnTo>
                  <a:lnTo>
                    <a:pt x="52" y="126"/>
                  </a:lnTo>
                  <a:lnTo>
                    <a:pt x="52" y="128"/>
                  </a:lnTo>
                  <a:lnTo>
                    <a:pt x="52" y="129"/>
                  </a:lnTo>
                  <a:lnTo>
                    <a:pt x="52" y="131"/>
                  </a:lnTo>
                  <a:lnTo>
                    <a:pt x="53" y="132"/>
                  </a:lnTo>
                  <a:lnTo>
                    <a:pt x="53" y="134"/>
                  </a:lnTo>
                  <a:lnTo>
                    <a:pt x="53" y="134"/>
                  </a:lnTo>
                  <a:lnTo>
                    <a:pt x="53" y="135"/>
                  </a:lnTo>
                  <a:lnTo>
                    <a:pt x="53" y="137"/>
                  </a:lnTo>
                  <a:lnTo>
                    <a:pt x="55" y="138"/>
                  </a:lnTo>
                  <a:lnTo>
                    <a:pt x="55" y="138"/>
                  </a:lnTo>
                  <a:lnTo>
                    <a:pt x="55" y="140"/>
                  </a:lnTo>
                  <a:lnTo>
                    <a:pt x="55" y="141"/>
                  </a:lnTo>
                  <a:lnTo>
                    <a:pt x="56" y="143"/>
                  </a:lnTo>
                  <a:lnTo>
                    <a:pt x="56" y="143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5"/>
                  </a:lnTo>
                  <a:lnTo>
                    <a:pt x="56" y="147"/>
                  </a:lnTo>
                  <a:lnTo>
                    <a:pt x="58" y="147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48"/>
                  </a:lnTo>
                  <a:lnTo>
                    <a:pt x="58" y="150"/>
                  </a:lnTo>
                  <a:lnTo>
                    <a:pt x="58" y="150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58" y="153"/>
                  </a:lnTo>
                  <a:lnTo>
                    <a:pt x="58" y="153"/>
                  </a:lnTo>
                  <a:lnTo>
                    <a:pt x="58" y="154"/>
                  </a:lnTo>
                  <a:lnTo>
                    <a:pt x="58" y="154"/>
                  </a:lnTo>
                  <a:lnTo>
                    <a:pt x="59" y="156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59" y="159"/>
                  </a:lnTo>
                  <a:lnTo>
                    <a:pt x="59" y="160"/>
                  </a:lnTo>
                  <a:lnTo>
                    <a:pt x="59" y="160"/>
                  </a:lnTo>
                  <a:lnTo>
                    <a:pt x="59" y="162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5"/>
                  </a:lnTo>
                  <a:lnTo>
                    <a:pt x="59" y="166"/>
                  </a:lnTo>
                  <a:lnTo>
                    <a:pt x="59" y="166"/>
                  </a:lnTo>
                  <a:lnTo>
                    <a:pt x="59" y="168"/>
                  </a:lnTo>
                  <a:lnTo>
                    <a:pt x="59" y="169"/>
                  </a:lnTo>
                  <a:lnTo>
                    <a:pt x="59" y="169"/>
                  </a:lnTo>
                  <a:lnTo>
                    <a:pt x="59" y="171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59" y="174"/>
                  </a:lnTo>
                  <a:lnTo>
                    <a:pt x="61" y="174"/>
                  </a:lnTo>
                  <a:lnTo>
                    <a:pt x="61" y="174"/>
                  </a:lnTo>
                  <a:lnTo>
                    <a:pt x="61" y="175"/>
                  </a:lnTo>
                  <a:lnTo>
                    <a:pt x="61" y="175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78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1"/>
                  </a:lnTo>
                  <a:lnTo>
                    <a:pt x="61" y="182"/>
                  </a:lnTo>
                  <a:lnTo>
                    <a:pt x="61" y="182"/>
                  </a:lnTo>
                  <a:lnTo>
                    <a:pt x="62" y="184"/>
                  </a:lnTo>
                  <a:lnTo>
                    <a:pt x="62" y="184"/>
                  </a:lnTo>
                  <a:lnTo>
                    <a:pt x="62" y="185"/>
                  </a:lnTo>
                  <a:lnTo>
                    <a:pt x="62" y="185"/>
                  </a:lnTo>
                  <a:lnTo>
                    <a:pt x="62" y="185"/>
                  </a:lnTo>
                  <a:lnTo>
                    <a:pt x="62" y="187"/>
                  </a:lnTo>
                  <a:lnTo>
                    <a:pt x="62" y="187"/>
                  </a:lnTo>
                  <a:lnTo>
                    <a:pt x="62" y="188"/>
                  </a:lnTo>
                  <a:lnTo>
                    <a:pt x="62" y="188"/>
                  </a:lnTo>
                  <a:lnTo>
                    <a:pt x="62" y="188"/>
                  </a:lnTo>
                  <a:lnTo>
                    <a:pt x="62" y="190"/>
                  </a:lnTo>
                  <a:lnTo>
                    <a:pt x="62" y="190"/>
                  </a:lnTo>
                  <a:lnTo>
                    <a:pt x="62" y="191"/>
                  </a:lnTo>
                  <a:lnTo>
                    <a:pt x="64" y="191"/>
                  </a:lnTo>
                  <a:lnTo>
                    <a:pt x="64" y="191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3"/>
                  </a:lnTo>
                  <a:lnTo>
                    <a:pt x="64" y="194"/>
                  </a:lnTo>
                  <a:lnTo>
                    <a:pt x="64" y="194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6"/>
                  </a:lnTo>
                  <a:lnTo>
                    <a:pt x="64" y="197"/>
                  </a:lnTo>
                  <a:lnTo>
                    <a:pt x="64" y="197"/>
                  </a:lnTo>
                  <a:lnTo>
                    <a:pt x="64" y="199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4" y="202"/>
                  </a:lnTo>
                  <a:lnTo>
                    <a:pt x="64" y="203"/>
                  </a:lnTo>
                  <a:lnTo>
                    <a:pt x="64" y="203"/>
                  </a:lnTo>
                  <a:lnTo>
                    <a:pt x="64" y="205"/>
                  </a:lnTo>
                  <a:lnTo>
                    <a:pt x="62" y="206"/>
                  </a:lnTo>
                  <a:lnTo>
                    <a:pt x="62" y="208"/>
                  </a:lnTo>
                  <a:lnTo>
                    <a:pt x="62" y="209"/>
                  </a:lnTo>
                  <a:lnTo>
                    <a:pt x="62" y="211"/>
                  </a:lnTo>
                  <a:lnTo>
                    <a:pt x="62" y="21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49" name="Freeform 464"/>
            <p:cNvSpPr>
              <a:spLocks/>
            </p:cNvSpPr>
            <p:nvPr/>
          </p:nvSpPr>
          <p:spPr bwMode="auto">
            <a:xfrm>
              <a:off x="2915" y="3414"/>
              <a:ext cx="22" cy="71"/>
            </a:xfrm>
            <a:custGeom>
              <a:avLst/>
              <a:gdLst>
                <a:gd name="T0" fmla="*/ 4 w 64"/>
                <a:gd name="T1" fmla="*/ 204 h 212"/>
                <a:gd name="T2" fmla="*/ 7 w 64"/>
                <a:gd name="T3" fmla="*/ 198 h 212"/>
                <a:gd name="T4" fmla="*/ 10 w 64"/>
                <a:gd name="T5" fmla="*/ 193 h 212"/>
                <a:gd name="T6" fmla="*/ 13 w 64"/>
                <a:gd name="T7" fmla="*/ 188 h 212"/>
                <a:gd name="T8" fmla="*/ 15 w 64"/>
                <a:gd name="T9" fmla="*/ 185 h 212"/>
                <a:gd name="T10" fmla="*/ 16 w 64"/>
                <a:gd name="T11" fmla="*/ 182 h 212"/>
                <a:gd name="T12" fmla="*/ 18 w 64"/>
                <a:gd name="T13" fmla="*/ 178 h 212"/>
                <a:gd name="T14" fmla="*/ 19 w 64"/>
                <a:gd name="T15" fmla="*/ 175 h 212"/>
                <a:gd name="T16" fmla="*/ 21 w 64"/>
                <a:gd name="T17" fmla="*/ 170 h 212"/>
                <a:gd name="T18" fmla="*/ 22 w 64"/>
                <a:gd name="T19" fmla="*/ 166 h 212"/>
                <a:gd name="T20" fmla="*/ 24 w 64"/>
                <a:gd name="T21" fmla="*/ 163 h 212"/>
                <a:gd name="T22" fmla="*/ 25 w 64"/>
                <a:gd name="T23" fmla="*/ 160 h 212"/>
                <a:gd name="T24" fmla="*/ 27 w 64"/>
                <a:gd name="T25" fmla="*/ 157 h 212"/>
                <a:gd name="T26" fmla="*/ 28 w 64"/>
                <a:gd name="T27" fmla="*/ 154 h 212"/>
                <a:gd name="T28" fmla="*/ 30 w 64"/>
                <a:gd name="T29" fmla="*/ 151 h 212"/>
                <a:gd name="T30" fmla="*/ 31 w 64"/>
                <a:gd name="T31" fmla="*/ 147 h 212"/>
                <a:gd name="T32" fmla="*/ 33 w 64"/>
                <a:gd name="T33" fmla="*/ 142 h 212"/>
                <a:gd name="T34" fmla="*/ 34 w 64"/>
                <a:gd name="T35" fmla="*/ 136 h 212"/>
                <a:gd name="T36" fmla="*/ 36 w 64"/>
                <a:gd name="T37" fmla="*/ 133 h 212"/>
                <a:gd name="T38" fmla="*/ 37 w 64"/>
                <a:gd name="T39" fmla="*/ 129 h 212"/>
                <a:gd name="T40" fmla="*/ 39 w 64"/>
                <a:gd name="T41" fmla="*/ 126 h 212"/>
                <a:gd name="T42" fmla="*/ 39 w 64"/>
                <a:gd name="T43" fmla="*/ 123 h 212"/>
                <a:gd name="T44" fmla="*/ 40 w 64"/>
                <a:gd name="T45" fmla="*/ 120 h 212"/>
                <a:gd name="T46" fmla="*/ 42 w 64"/>
                <a:gd name="T47" fmla="*/ 116 h 212"/>
                <a:gd name="T48" fmla="*/ 43 w 64"/>
                <a:gd name="T49" fmla="*/ 111 h 212"/>
                <a:gd name="T50" fmla="*/ 44 w 64"/>
                <a:gd name="T51" fmla="*/ 105 h 212"/>
                <a:gd name="T52" fmla="*/ 46 w 64"/>
                <a:gd name="T53" fmla="*/ 102 h 212"/>
                <a:gd name="T54" fmla="*/ 47 w 64"/>
                <a:gd name="T55" fmla="*/ 98 h 212"/>
                <a:gd name="T56" fmla="*/ 47 w 64"/>
                <a:gd name="T57" fmla="*/ 95 h 212"/>
                <a:gd name="T58" fmla="*/ 49 w 64"/>
                <a:gd name="T59" fmla="*/ 92 h 212"/>
                <a:gd name="T60" fmla="*/ 50 w 64"/>
                <a:gd name="T61" fmla="*/ 89 h 212"/>
                <a:gd name="T62" fmla="*/ 52 w 64"/>
                <a:gd name="T63" fmla="*/ 84 h 212"/>
                <a:gd name="T64" fmla="*/ 53 w 64"/>
                <a:gd name="T65" fmla="*/ 79 h 212"/>
                <a:gd name="T66" fmla="*/ 55 w 64"/>
                <a:gd name="T67" fmla="*/ 74 h 212"/>
                <a:gd name="T68" fmla="*/ 56 w 64"/>
                <a:gd name="T69" fmla="*/ 70 h 212"/>
                <a:gd name="T70" fmla="*/ 56 w 64"/>
                <a:gd name="T71" fmla="*/ 67 h 212"/>
                <a:gd name="T72" fmla="*/ 58 w 64"/>
                <a:gd name="T73" fmla="*/ 64 h 212"/>
                <a:gd name="T74" fmla="*/ 58 w 64"/>
                <a:gd name="T75" fmla="*/ 61 h 212"/>
                <a:gd name="T76" fmla="*/ 58 w 64"/>
                <a:gd name="T77" fmla="*/ 58 h 212"/>
                <a:gd name="T78" fmla="*/ 59 w 64"/>
                <a:gd name="T79" fmla="*/ 55 h 212"/>
                <a:gd name="T80" fmla="*/ 59 w 64"/>
                <a:gd name="T81" fmla="*/ 50 h 212"/>
                <a:gd name="T82" fmla="*/ 59 w 64"/>
                <a:gd name="T83" fmla="*/ 46 h 212"/>
                <a:gd name="T84" fmla="*/ 59 w 64"/>
                <a:gd name="T85" fmla="*/ 43 h 212"/>
                <a:gd name="T86" fmla="*/ 59 w 64"/>
                <a:gd name="T87" fmla="*/ 40 h 212"/>
                <a:gd name="T88" fmla="*/ 61 w 64"/>
                <a:gd name="T89" fmla="*/ 37 h 212"/>
                <a:gd name="T90" fmla="*/ 61 w 64"/>
                <a:gd name="T91" fmla="*/ 34 h 212"/>
                <a:gd name="T92" fmla="*/ 61 w 64"/>
                <a:gd name="T93" fmla="*/ 33 h 212"/>
                <a:gd name="T94" fmla="*/ 61 w 64"/>
                <a:gd name="T95" fmla="*/ 31 h 212"/>
                <a:gd name="T96" fmla="*/ 62 w 64"/>
                <a:gd name="T97" fmla="*/ 28 h 212"/>
                <a:gd name="T98" fmla="*/ 62 w 64"/>
                <a:gd name="T99" fmla="*/ 27 h 212"/>
                <a:gd name="T100" fmla="*/ 62 w 64"/>
                <a:gd name="T101" fmla="*/ 24 h 212"/>
                <a:gd name="T102" fmla="*/ 64 w 64"/>
                <a:gd name="T103" fmla="*/ 21 h 212"/>
                <a:gd name="T104" fmla="*/ 64 w 64"/>
                <a:gd name="T105" fmla="*/ 19 h 212"/>
                <a:gd name="T106" fmla="*/ 64 w 64"/>
                <a:gd name="T107" fmla="*/ 16 h 212"/>
                <a:gd name="T108" fmla="*/ 64 w 64"/>
                <a:gd name="T109" fmla="*/ 13 h 212"/>
                <a:gd name="T110" fmla="*/ 64 w 64"/>
                <a:gd name="T111" fmla="*/ 9 h 212"/>
                <a:gd name="T112" fmla="*/ 62 w 64"/>
                <a:gd name="T113" fmla="*/ 5 h 212"/>
                <a:gd name="T114" fmla="*/ 0 w 64"/>
                <a:gd name="T11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4" h="212">
                  <a:moveTo>
                    <a:pt x="0" y="212"/>
                  </a:moveTo>
                  <a:lnTo>
                    <a:pt x="2" y="209"/>
                  </a:lnTo>
                  <a:lnTo>
                    <a:pt x="3" y="207"/>
                  </a:lnTo>
                  <a:lnTo>
                    <a:pt x="4" y="204"/>
                  </a:lnTo>
                  <a:lnTo>
                    <a:pt x="4" y="203"/>
                  </a:lnTo>
                  <a:lnTo>
                    <a:pt x="6" y="201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3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3" y="190"/>
                  </a:lnTo>
                  <a:lnTo>
                    <a:pt x="13" y="188"/>
                  </a:lnTo>
                  <a:lnTo>
                    <a:pt x="13" y="188"/>
                  </a:lnTo>
                  <a:lnTo>
                    <a:pt x="13" y="187"/>
                  </a:lnTo>
                  <a:lnTo>
                    <a:pt x="15" y="187"/>
                  </a:lnTo>
                  <a:lnTo>
                    <a:pt x="15" y="185"/>
                  </a:lnTo>
                  <a:lnTo>
                    <a:pt x="15" y="184"/>
                  </a:lnTo>
                  <a:lnTo>
                    <a:pt x="16" y="184"/>
                  </a:lnTo>
                  <a:lnTo>
                    <a:pt x="16" y="182"/>
                  </a:lnTo>
                  <a:lnTo>
                    <a:pt x="16" y="182"/>
                  </a:lnTo>
                  <a:lnTo>
                    <a:pt x="16" y="181"/>
                  </a:lnTo>
                  <a:lnTo>
                    <a:pt x="18" y="181"/>
                  </a:lnTo>
                  <a:lnTo>
                    <a:pt x="18" y="179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19" y="176"/>
                  </a:lnTo>
                  <a:lnTo>
                    <a:pt x="19" y="175"/>
                  </a:lnTo>
                  <a:lnTo>
                    <a:pt x="19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72"/>
                  </a:lnTo>
                  <a:lnTo>
                    <a:pt x="21" y="170"/>
                  </a:lnTo>
                  <a:lnTo>
                    <a:pt x="22" y="169"/>
                  </a:lnTo>
                  <a:lnTo>
                    <a:pt x="22" y="169"/>
                  </a:lnTo>
                  <a:lnTo>
                    <a:pt x="22" y="167"/>
                  </a:lnTo>
                  <a:lnTo>
                    <a:pt x="22" y="166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4" y="163"/>
                  </a:lnTo>
                  <a:lnTo>
                    <a:pt x="25" y="163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25" y="160"/>
                  </a:lnTo>
                  <a:lnTo>
                    <a:pt x="25" y="160"/>
                  </a:lnTo>
                  <a:lnTo>
                    <a:pt x="27" y="159"/>
                  </a:lnTo>
                  <a:lnTo>
                    <a:pt x="27" y="159"/>
                  </a:lnTo>
                  <a:lnTo>
                    <a:pt x="27" y="157"/>
                  </a:lnTo>
                  <a:lnTo>
                    <a:pt x="27" y="157"/>
                  </a:lnTo>
                  <a:lnTo>
                    <a:pt x="27" y="156"/>
                  </a:lnTo>
                  <a:lnTo>
                    <a:pt x="27" y="156"/>
                  </a:lnTo>
                  <a:lnTo>
                    <a:pt x="28" y="154"/>
                  </a:lnTo>
                  <a:lnTo>
                    <a:pt x="28" y="154"/>
                  </a:lnTo>
                  <a:lnTo>
                    <a:pt x="28" y="153"/>
                  </a:lnTo>
                  <a:lnTo>
                    <a:pt x="28" y="153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1" y="147"/>
                  </a:lnTo>
                  <a:lnTo>
                    <a:pt x="31" y="145"/>
                  </a:lnTo>
                  <a:lnTo>
                    <a:pt x="31" y="144"/>
                  </a:lnTo>
                  <a:lnTo>
                    <a:pt x="31" y="144"/>
                  </a:lnTo>
                  <a:lnTo>
                    <a:pt x="33" y="142"/>
                  </a:lnTo>
                  <a:lnTo>
                    <a:pt x="33" y="141"/>
                  </a:lnTo>
                  <a:lnTo>
                    <a:pt x="34" y="139"/>
                  </a:lnTo>
                  <a:lnTo>
                    <a:pt x="34" y="138"/>
                  </a:lnTo>
                  <a:lnTo>
                    <a:pt x="34" y="136"/>
                  </a:lnTo>
                  <a:lnTo>
                    <a:pt x="34" y="136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9"/>
                  </a:lnTo>
                  <a:lnTo>
                    <a:pt x="37" y="129"/>
                  </a:lnTo>
                  <a:lnTo>
                    <a:pt x="37" y="127"/>
                  </a:lnTo>
                  <a:lnTo>
                    <a:pt x="39" y="127"/>
                  </a:lnTo>
                  <a:lnTo>
                    <a:pt x="39" y="126"/>
                  </a:lnTo>
                  <a:lnTo>
                    <a:pt x="39" y="126"/>
                  </a:lnTo>
                  <a:lnTo>
                    <a:pt x="39" y="124"/>
                  </a:lnTo>
                  <a:lnTo>
                    <a:pt x="39" y="124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0" y="121"/>
                  </a:lnTo>
                  <a:lnTo>
                    <a:pt x="40" y="120"/>
                  </a:lnTo>
                  <a:lnTo>
                    <a:pt x="40" y="119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2" y="116"/>
                  </a:lnTo>
                  <a:lnTo>
                    <a:pt x="42" y="114"/>
                  </a:lnTo>
                  <a:lnTo>
                    <a:pt x="43" y="113"/>
                  </a:lnTo>
                  <a:lnTo>
                    <a:pt x="43" y="111"/>
                  </a:lnTo>
                  <a:lnTo>
                    <a:pt x="43" y="111"/>
                  </a:lnTo>
                  <a:lnTo>
                    <a:pt x="43" y="110"/>
                  </a:lnTo>
                  <a:lnTo>
                    <a:pt x="44" y="108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6" y="104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46" y="101"/>
                  </a:lnTo>
                  <a:lnTo>
                    <a:pt x="46" y="99"/>
                  </a:lnTo>
                  <a:lnTo>
                    <a:pt x="47" y="99"/>
                  </a:lnTo>
                  <a:lnTo>
                    <a:pt x="47" y="98"/>
                  </a:lnTo>
                  <a:lnTo>
                    <a:pt x="47" y="98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7" y="95"/>
                  </a:lnTo>
                  <a:lnTo>
                    <a:pt x="49" y="95"/>
                  </a:lnTo>
                  <a:lnTo>
                    <a:pt x="49" y="93"/>
                  </a:lnTo>
                  <a:lnTo>
                    <a:pt x="49" y="93"/>
                  </a:lnTo>
                  <a:lnTo>
                    <a:pt x="49" y="92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50" y="89"/>
                  </a:lnTo>
                  <a:lnTo>
                    <a:pt x="50" y="89"/>
                  </a:lnTo>
                  <a:lnTo>
                    <a:pt x="50" y="87"/>
                  </a:lnTo>
                  <a:lnTo>
                    <a:pt x="50" y="86"/>
                  </a:lnTo>
                  <a:lnTo>
                    <a:pt x="52" y="86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2" y="82"/>
                  </a:lnTo>
                  <a:lnTo>
                    <a:pt x="53" y="80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3" y="77"/>
                  </a:lnTo>
                  <a:lnTo>
                    <a:pt x="53" y="76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5" y="73"/>
                  </a:lnTo>
                  <a:lnTo>
                    <a:pt x="55" y="71"/>
                  </a:lnTo>
                  <a:lnTo>
                    <a:pt x="56" y="70"/>
                  </a:lnTo>
                  <a:lnTo>
                    <a:pt x="56" y="70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6" y="67"/>
                  </a:lnTo>
                  <a:lnTo>
                    <a:pt x="56" y="65"/>
                  </a:lnTo>
                  <a:lnTo>
                    <a:pt x="58" y="6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58" y="62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9"/>
                  </a:lnTo>
                  <a:lnTo>
                    <a:pt x="58" y="59"/>
                  </a:lnTo>
                  <a:lnTo>
                    <a:pt x="58" y="58"/>
                  </a:lnTo>
                  <a:lnTo>
                    <a:pt x="58" y="58"/>
                  </a:lnTo>
                  <a:lnTo>
                    <a:pt x="59" y="56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3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9" y="50"/>
                  </a:lnTo>
                  <a:lnTo>
                    <a:pt x="59" y="49"/>
                  </a:lnTo>
                  <a:lnTo>
                    <a:pt x="59" y="49"/>
                  </a:lnTo>
                  <a:lnTo>
                    <a:pt x="59" y="47"/>
                  </a:lnTo>
                  <a:lnTo>
                    <a:pt x="59" y="46"/>
                  </a:lnTo>
                  <a:lnTo>
                    <a:pt x="59" y="46"/>
                  </a:lnTo>
                  <a:lnTo>
                    <a:pt x="59" y="45"/>
                  </a:lnTo>
                  <a:lnTo>
                    <a:pt x="59" y="43"/>
                  </a:lnTo>
                  <a:lnTo>
                    <a:pt x="59" y="43"/>
                  </a:lnTo>
                  <a:lnTo>
                    <a:pt x="59" y="42"/>
                  </a:lnTo>
                  <a:lnTo>
                    <a:pt x="59" y="42"/>
                  </a:lnTo>
                  <a:lnTo>
                    <a:pt x="59" y="40"/>
                  </a:lnTo>
                  <a:lnTo>
                    <a:pt x="59" y="40"/>
                  </a:lnTo>
                  <a:lnTo>
                    <a:pt x="61" y="39"/>
                  </a:lnTo>
                  <a:lnTo>
                    <a:pt x="61" y="39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2" y="30"/>
                  </a:lnTo>
                  <a:lnTo>
                    <a:pt x="62" y="28"/>
                  </a:lnTo>
                  <a:lnTo>
                    <a:pt x="62" y="28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1"/>
                  </a:lnTo>
                  <a:lnTo>
                    <a:pt x="64" y="21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8"/>
                  </a:lnTo>
                  <a:lnTo>
                    <a:pt x="64" y="18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3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4" y="9"/>
                  </a:lnTo>
                  <a:lnTo>
                    <a:pt x="64" y="9"/>
                  </a:lnTo>
                  <a:lnTo>
                    <a:pt x="64" y="7"/>
                  </a:lnTo>
                  <a:lnTo>
                    <a:pt x="62" y="6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0" name="Freeform 465"/>
            <p:cNvSpPr>
              <a:spLocks/>
            </p:cNvSpPr>
            <p:nvPr/>
          </p:nvSpPr>
          <p:spPr bwMode="auto">
            <a:xfrm>
              <a:off x="2915" y="3414"/>
              <a:ext cx="22" cy="71"/>
            </a:xfrm>
            <a:custGeom>
              <a:avLst/>
              <a:gdLst>
                <a:gd name="T0" fmla="*/ 4 w 64"/>
                <a:gd name="T1" fmla="*/ 204 h 212"/>
                <a:gd name="T2" fmla="*/ 7 w 64"/>
                <a:gd name="T3" fmla="*/ 198 h 212"/>
                <a:gd name="T4" fmla="*/ 10 w 64"/>
                <a:gd name="T5" fmla="*/ 193 h 212"/>
                <a:gd name="T6" fmla="*/ 13 w 64"/>
                <a:gd name="T7" fmla="*/ 188 h 212"/>
                <a:gd name="T8" fmla="*/ 15 w 64"/>
                <a:gd name="T9" fmla="*/ 185 h 212"/>
                <a:gd name="T10" fmla="*/ 16 w 64"/>
                <a:gd name="T11" fmla="*/ 182 h 212"/>
                <a:gd name="T12" fmla="*/ 18 w 64"/>
                <a:gd name="T13" fmla="*/ 178 h 212"/>
                <a:gd name="T14" fmla="*/ 19 w 64"/>
                <a:gd name="T15" fmla="*/ 175 h 212"/>
                <a:gd name="T16" fmla="*/ 21 w 64"/>
                <a:gd name="T17" fmla="*/ 170 h 212"/>
                <a:gd name="T18" fmla="*/ 22 w 64"/>
                <a:gd name="T19" fmla="*/ 166 h 212"/>
                <a:gd name="T20" fmla="*/ 24 w 64"/>
                <a:gd name="T21" fmla="*/ 163 h 212"/>
                <a:gd name="T22" fmla="*/ 25 w 64"/>
                <a:gd name="T23" fmla="*/ 160 h 212"/>
                <a:gd name="T24" fmla="*/ 27 w 64"/>
                <a:gd name="T25" fmla="*/ 157 h 212"/>
                <a:gd name="T26" fmla="*/ 28 w 64"/>
                <a:gd name="T27" fmla="*/ 154 h 212"/>
                <a:gd name="T28" fmla="*/ 30 w 64"/>
                <a:gd name="T29" fmla="*/ 151 h 212"/>
                <a:gd name="T30" fmla="*/ 31 w 64"/>
                <a:gd name="T31" fmla="*/ 147 h 212"/>
                <a:gd name="T32" fmla="*/ 33 w 64"/>
                <a:gd name="T33" fmla="*/ 142 h 212"/>
                <a:gd name="T34" fmla="*/ 34 w 64"/>
                <a:gd name="T35" fmla="*/ 136 h 212"/>
                <a:gd name="T36" fmla="*/ 36 w 64"/>
                <a:gd name="T37" fmla="*/ 133 h 212"/>
                <a:gd name="T38" fmla="*/ 37 w 64"/>
                <a:gd name="T39" fmla="*/ 129 h 212"/>
                <a:gd name="T40" fmla="*/ 39 w 64"/>
                <a:gd name="T41" fmla="*/ 126 h 212"/>
                <a:gd name="T42" fmla="*/ 39 w 64"/>
                <a:gd name="T43" fmla="*/ 123 h 212"/>
                <a:gd name="T44" fmla="*/ 40 w 64"/>
                <a:gd name="T45" fmla="*/ 120 h 212"/>
                <a:gd name="T46" fmla="*/ 42 w 64"/>
                <a:gd name="T47" fmla="*/ 116 h 212"/>
                <a:gd name="T48" fmla="*/ 43 w 64"/>
                <a:gd name="T49" fmla="*/ 111 h 212"/>
                <a:gd name="T50" fmla="*/ 44 w 64"/>
                <a:gd name="T51" fmla="*/ 105 h 212"/>
                <a:gd name="T52" fmla="*/ 46 w 64"/>
                <a:gd name="T53" fmla="*/ 102 h 212"/>
                <a:gd name="T54" fmla="*/ 47 w 64"/>
                <a:gd name="T55" fmla="*/ 98 h 212"/>
                <a:gd name="T56" fmla="*/ 47 w 64"/>
                <a:gd name="T57" fmla="*/ 95 h 212"/>
                <a:gd name="T58" fmla="*/ 49 w 64"/>
                <a:gd name="T59" fmla="*/ 92 h 212"/>
                <a:gd name="T60" fmla="*/ 50 w 64"/>
                <a:gd name="T61" fmla="*/ 89 h 212"/>
                <a:gd name="T62" fmla="*/ 52 w 64"/>
                <a:gd name="T63" fmla="*/ 84 h 212"/>
                <a:gd name="T64" fmla="*/ 53 w 64"/>
                <a:gd name="T65" fmla="*/ 79 h 212"/>
                <a:gd name="T66" fmla="*/ 55 w 64"/>
                <a:gd name="T67" fmla="*/ 74 h 212"/>
                <a:gd name="T68" fmla="*/ 56 w 64"/>
                <a:gd name="T69" fmla="*/ 70 h 212"/>
                <a:gd name="T70" fmla="*/ 56 w 64"/>
                <a:gd name="T71" fmla="*/ 67 h 212"/>
                <a:gd name="T72" fmla="*/ 58 w 64"/>
                <a:gd name="T73" fmla="*/ 64 h 212"/>
                <a:gd name="T74" fmla="*/ 58 w 64"/>
                <a:gd name="T75" fmla="*/ 61 h 212"/>
                <a:gd name="T76" fmla="*/ 58 w 64"/>
                <a:gd name="T77" fmla="*/ 58 h 212"/>
                <a:gd name="T78" fmla="*/ 59 w 64"/>
                <a:gd name="T79" fmla="*/ 55 h 212"/>
                <a:gd name="T80" fmla="*/ 59 w 64"/>
                <a:gd name="T81" fmla="*/ 50 h 212"/>
                <a:gd name="T82" fmla="*/ 59 w 64"/>
                <a:gd name="T83" fmla="*/ 46 h 212"/>
                <a:gd name="T84" fmla="*/ 59 w 64"/>
                <a:gd name="T85" fmla="*/ 43 h 212"/>
                <a:gd name="T86" fmla="*/ 59 w 64"/>
                <a:gd name="T87" fmla="*/ 40 h 212"/>
                <a:gd name="T88" fmla="*/ 61 w 64"/>
                <a:gd name="T89" fmla="*/ 37 h 212"/>
                <a:gd name="T90" fmla="*/ 61 w 64"/>
                <a:gd name="T91" fmla="*/ 34 h 212"/>
                <a:gd name="T92" fmla="*/ 61 w 64"/>
                <a:gd name="T93" fmla="*/ 33 h 212"/>
                <a:gd name="T94" fmla="*/ 61 w 64"/>
                <a:gd name="T95" fmla="*/ 31 h 212"/>
                <a:gd name="T96" fmla="*/ 62 w 64"/>
                <a:gd name="T97" fmla="*/ 28 h 212"/>
                <a:gd name="T98" fmla="*/ 62 w 64"/>
                <a:gd name="T99" fmla="*/ 27 h 212"/>
                <a:gd name="T100" fmla="*/ 62 w 64"/>
                <a:gd name="T101" fmla="*/ 24 h 212"/>
                <a:gd name="T102" fmla="*/ 64 w 64"/>
                <a:gd name="T103" fmla="*/ 21 h 212"/>
                <a:gd name="T104" fmla="*/ 64 w 64"/>
                <a:gd name="T105" fmla="*/ 19 h 212"/>
                <a:gd name="T106" fmla="*/ 64 w 64"/>
                <a:gd name="T107" fmla="*/ 16 h 212"/>
                <a:gd name="T108" fmla="*/ 64 w 64"/>
                <a:gd name="T109" fmla="*/ 13 h 212"/>
                <a:gd name="T110" fmla="*/ 64 w 64"/>
                <a:gd name="T111" fmla="*/ 9 h 212"/>
                <a:gd name="T112" fmla="*/ 62 w 64"/>
                <a:gd name="T113" fmla="*/ 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" h="212">
                  <a:moveTo>
                    <a:pt x="0" y="212"/>
                  </a:moveTo>
                  <a:lnTo>
                    <a:pt x="2" y="209"/>
                  </a:lnTo>
                  <a:lnTo>
                    <a:pt x="3" y="207"/>
                  </a:lnTo>
                  <a:lnTo>
                    <a:pt x="4" y="204"/>
                  </a:lnTo>
                  <a:lnTo>
                    <a:pt x="4" y="203"/>
                  </a:lnTo>
                  <a:lnTo>
                    <a:pt x="6" y="201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3"/>
                  </a:lnTo>
                  <a:lnTo>
                    <a:pt x="12" y="191"/>
                  </a:lnTo>
                  <a:lnTo>
                    <a:pt x="12" y="191"/>
                  </a:lnTo>
                  <a:lnTo>
                    <a:pt x="13" y="190"/>
                  </a:lnTo>
                  <a:lnTo>
                    <a:pt x="13" y="188"/>
                  </a:lnTo>
                  <a:lnTo>
                    <a:pt x="13" y="188"/>
                  </a:lnTo>
                  <a:lnTo>
                    <a:pt x="13" y="187"/>
                  </a:lnTo>
                  <a:lnTo>
                    <a:pt x="15" y="187"/>
                  </a:lnTo>
                  <a:lnTo>
                    <a:pt x="15" y="185"/>
                  </a:lnTo>
                  <a:lnTo>
                    <a:pt x="15" y="184"/>
                  </a:lnTo>
                  <a:lnTo>
                    <a:pt x="16" y="184"/>
                  </a:lnTo>
                  <a:lnTo>
                    <a:pt x="16" y="182"/>
                  </a:lnTo>
                  <a:lnTo>
                    <a:pt x="16" y="182"/>
                  </a:lnTo>
                  <a:lnTo>
                    <a:pt x="16" y="181"/>
                  </a:lnTo>
                  <a:lnTo>
                    <a:pt x="18" y="181"/>
                  </a:lnTo>
                  <a:lnTo>
                    <a:pt x="18" y="179"/>
                  </a:lnTo>
                  <a:lnTo>
                    <a:pt x="18" y="178"/>
                  </a:lnTo>
                  <a:lnTo>
                    <a:pt x="18" y="178"/>
                  </a:lnTo>
                  <a:lnTo>
                    <a:pt x="19" y="176"/>
                  </a:lnTo>
                  <a:lnTo>
                    <a:pt x="19" y="175"/>
                  </a:lnTo>
                  <a:lnTo>
                    <a:pt x="19" y="175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72"/>
                  </a:lnTo>
                  <a:lnTo>
                    <a:pt x="21" y="170"/>
                  </a:lnTo>
                  <a:lnTo>
                    <a:pt x="22" y="169"/>
                  </a:lnTo>
                  <a:lnTo>
                    <a:pt x="22" y="169"/>
                  </a:lnTo>
                  <a:lnTo>
                    <a:pt x="22" y="167"/>
                  </a:lnTo>
                  <a:lnTo>
                    <a:pt x="22" y="166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4" y="163"/>
                  </a:lnTo>
                  <a:lnTo>
                    <a:pt x="25" y="163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25" y="160"/>
                  </a:lnTo>
                  <a:lnTo>
                    <a:pt x="25" y="160"/>
                  </a:lnTo>
                  <a:lnTo>
                    <a:pt x="27" y="159"/>
                  </a:lnTo>
                  <a:lnTo>
                    <a:pt x="27" y="159"/>
                  </a:lnTo>
                  <a:lnTo>
                    <a:pt x="27" y="157"/>
                  </a:lnTo>
                  <a:lnTo>
                    <a:pt x="27" y="157"/>
                  </a:lnTo>
                  <a:lnTo>
                    <a:pt x="27" y="156"/>
                  </a:lnTo>
                  <a:lnTo>
                    <a:pt x="27" y="156"/>
                  </a:lnTo>
                  <a:lnTo>
                    <a:pt x="28" y="154"/>
                  </a:lnTo>
                  <a:lnTo>
                    <a:pt x="28" y="154"/>
                  </a:lnTo>
                  <a:lnTo>
                    <a:pt x="28" y="153"/>
                  </a:lnTo>
                  <a:lnTo>
                    <a:pt x="28" y="153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48"/>
                  </a:lnTo>
                  <a:lnTo>
                    <a:pt x="30" y="148"/>
                  </a:lnTo>
                  <a:lnTo>
                    <a:pt x="31" y="147"/>
                  </a:lnTo>
                  <a:lnTo>
                    <a:pt x="31" y="145"/>
                  </a:lnTo>
                  <a:lnTo>
                    <a:pt x="31" y="144"/>
                  </a:lnTo>
                  <a:lnTo>
                    <a:pt x="31" y="144"/>
                  </a:lnTo>
                  <a:lnTo>
                    <a:pt x="33" y="142"/>
                  </a:lnTo>
                  <a:lnTo>
                    <a:pt x="33" y="141"/>
                  </a:lnTo>
                  <a:lnTo>
                    <a:pt x="34" y="139"/>
                  </a:lnTo>
                  <a:lnTo>
                    <a:pt x="34" y="138"/>
                  </a:lnTo>
                  <a:lnTo>
                    <a:pt x="34" y="136"/>
                  </a:lnTo>
                  <a:lnTo>
                    <a:pt x="34" y="136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9"/>
                  </a:lnTo>
                  <a:lnTo>
                    <a:pt x="37" y="129"/>
                  </a:lnTo>
                  <a:lnTo>
                    <a:pt x="37" y="127"/>
                  </a:lnTo>
                  <a:lnTo>
                    <a:pt x="39" y="127"/>
                  </a:lnTo>
                  <a:lnTo>
                    <a:pt x="39" y="126"/>
                  </a:lnTo>
                  <a:lnTo>
                    <a:pt x="39" y="126"/>
                  </a:lnTo>
                  <a:lnTo>
                    <a:pt x="39" y="124"/>
                  </a:lnTo>
                  <a:lnTo>
                    <a:pt x="39" y="124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0" y="121"/>
                  </a:lnTo>
                  <a:lnTo>
                    <a:pt x="40" y="121"/>
                  </a:lnTo>
                  <a:lnTo>
                    <a:pt x="40" y="120"/>
                  </a:lnTo>
                  <a:lnTo>
                    <a:pt x="40" y="119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2" y="116"/>
                  </a:lnTo>
                  <a:lnTo>
                    <a:pt x="42" y="114"/>
                  </a:lnTo>
                  <a:lnTo>
                    <a:pt x="43" y="113"/>
                  </a:lnTo>
                  <a:lnTo>
                    <a:pt x="43" y="111"/>
                  </a:lnTo>
                  <a:lnTo>
                    <a:pt x="43" y="111"/>
                  </a:lnTo>
                  <a:lnTo>
                    <a:pt x="43" y="110"/>
                  </a:lnTo>
                  <a:lnTo>
                    <a:pt x="44" y="108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4" y="105"/>
                  </a:lnTo>
                  <a:lnTo>
                    <a:pt x="46" y="104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46" y="101"/>
                  </a:lnTo>
                  <a:lnTo>
                    <a:pt x="46" y="99"/>
                  </a:lnTo>
                  <a:lnTo>
                    <a:pt x="47" y="99"/>
                  </a:lnTo>
                  <a:lnTo>
                    <a:pt x="47" y="98"/>
                  </a:lnTo>
                  <a:lnTo>
                    <a:pt x="47" y="98"/>
                  </a:lnTo>
                  <a:lnTo>
                    <a:pt x="47" y="96"/>
                  </a:lnTo>
                  <a:lnTo>
                    <a:pt x="47" y="96"/>
                  </a:lnTo>
                  <a:lnTo>
                    <a:pt x="47" y="95"/>
                  </a:lnTo>
                  <a:lnTo>
                    <a:pt x="49" y="95"/>
                  </a:lnTo>
                  <a:lnTo>
                    <a:pt x="49" y="93"/>
                  </a:lnTo>
                  <a:lnTo>
                    <a:pt x="49" y="93"/>
                  </a:lnTo>
                  <a:lnTo>
                    <a:pt x="49" y="92"/>
                  </a:lnTo>
                  <a:lnTo>
                    <a:pt x="49" y="90"/>
                  </a:lnTo>
                  <a:lnTo>
                    <a:pt x="49" y="90"/>
                  </a:lnTo>
                  <a:lnTo>
                    <a:pt x="50" y="89"/>
                  </a:lnTo>
                  <a:lnTo>
                    <a:pt x="50" y="89"/>
                  </a:lnTo>
                  <a:lnTo>
                    <a:pt x="50" y="87"/>
                  </a:lnTo>
                  <a:lnTo>
                    <a:pt x="50" y="86"/>
                  </a:lnTo>
                  <a:lnTo>
                    <a:pt x="52" y="86"/>
                  </a:lnTo>
                  <a:lnTo>
                    <a:pt x="52" y="84"/>
                  </a:lnTo>
                  <a:lnTo>
                    <a:pt x="52" y="83"/>
                  </a:lnTo>
                  <a:lnTo>
                    <a:pt x="52" y="82"/>
                  </a:lnTo>
                  <a:lnTo>
                    <a:pt x="53" y="80"/>
                  </a:lnTo>
                  <a:lnTo>
                    <a:pt x="53" y="79"/>
                  </a:lnTo>
                  <a:lnTo>
                    <a:pt x="53" y="79"/>
                  </a:lnTo>
                  <a:lnTo>
                    <a:pt x="53" y="77"/>
                  </a:lnTo>
                  <a:lnTo>
                    <a:pt x="53" y="76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5" y="73"/>
                  </a:lnTo>
                  <a:lnTo>
                    <a:pt x="55" y="71"/>
                  </a:lnTo>
                  <a:lnTo>
                    <a:pt x="56" y="70"/>
                  </a:lnTo>
                  <a:lnTo>
                    <a:pt x="56" y="70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6" y="67"/>
                  </a:lnTo>
                  <a:lnTo>
                    <a:pt x="56" y="65"/>
                  </a:lnTo>
                  <a:lnTo>
                    <a:pt x="58" y="6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58" y="62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9"/>
                  </a:lnTo>
                  <a:lnTo>
                    <a:pt x="58" y="59"/>
                  </a:lnTo>
                  <a:lnTo>
                    <a:pt x="58" y="58"/>
                  </a:lnTo>
                  <a:lnTo>
                    <a:pt x="58" y="58"/>
                  </a:lnTo>
                  <a:lnTo>
                    <a:pt x="59" y="56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59" y="53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9" y="50"/>
                  </a:lnTo>
                  <a:lnTo>
                    <a:pt x="59" y="49"/>
                  </a:lnTo>
                  <a:lnTo>
                    <a:pt x="59" y="49"/>
                  </a:lnTo>
                  <a:lnTo>
                    <a:pt x="59" y="47"/>
                  </a:lnTo>
                  <a:lnTo>
                    <a:pt x="59" y="46"/>
                  </a:lnTo>
                  <a:lnTo>
                    <a:pt x="59" y="46"/>
                  </a:lnTo>
                  <a:lnTo>
                    <a:pt x="59" y="45"/>
                  </a:lnTo>
                  <a:lnTo>
                    <a:pt x="59" y="43"/>
                  </a:lnTo>
                  <a:lnTo>
                    <a:pt x="59" y="43"/>
                  </a:lnTo>
                  <a:lnTo>
                    <a:pt x="59" y="42"/>
                  </a:lnTo>
                  <a:lnTo>
                    <a:pt x="59" y="42"/>
                  </a:lnTo>
                  <a:lnTo>
                    <a:pt x="59" y="40"/>
                  </a:lnTo>
                  <a:lnTo>
                    <a:pt x="59" y="40"/>
                  </a:lnTo>
                  <a:lnTo>
                    <a:pt x="61" y="39"/>
                  </a:lnTo>
                  <a:lnTo>
                    <a:pt x="61" y="39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7"/>
                  </a:lnTo>
                  <a:lnTo>
                    <a:pt x="61" y="36"/>
                  </a:lnTo>
                  <a:lnTo>
                    <a:pt x="61" y="36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1" y="30"/>
                  </a:lnTo>
                  <a:lnTo>
                    <a:pt x="61" y="30"/>
                  </a:lnTo>
                  <a:lnTo>
                    <a:pt x="62" y="30"/>
                  </a:lnTo>
                  <a:lnTo>
                    <a:pt x="62" y="28"/>
                  </a:lnTo>
                  <a:lnTo>
                    <a:pt x="62" y="28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1"/>
                  </a:lnTo>
                  <a:lnTo>
                    <a:pt x="64" y="21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8"/>
                  </a:lnTo>
                  <a:lnTo>
                    <a:pt x="64" y="18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3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4" y="9"/>
                  </a:lnTo>
                  <a:lnTo>
                    <a:pt x="64" y="9"/>
                  </a:lnTo>
                  <a:lnTo>
                    <a:pt x="64" y="7"/>
                  </a:lnTo>
                  <a:lnTo>
                    <a:pt x="62" y="6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2" y="2"/>
                  </a:lnTo>
                  <a:lnTo>
                    <a:pt x="62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1" name="Line 466"/>
            <p:cNvSpPr>
              <a:spLocks noChangeShapeType="1"/>
            </p:cNvSpPr>
            <p:nvPr/>
          </p:nvSpPr>
          <p:spPr bwMode="auto">
            <a:xfrm flipH="1">
              <a:off x="2845" y="3453"/>
              <a:ext cx="8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2" name="Line 467"/>
            <p:cNvSpPr>
              <a:spLocks noChangeShapeType="1"/>
            </p:cNvSpPr>
            <p:nvPr/>
          </p:nvSpPr>
          <p:spPr bwMode="auto">
            <a:xfrm>
              <a:off x="2865" y="3236"/>
              <a:ext cx="0" cy="13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3" name="Line 468"/>
            <p:cNvSpPr>
              <a:spLocks noChangeShapeType="1"/>
            </p:cNvSpPr>
            <p:nvPr/>
          </p:nvSpPr>
          <p:spPr bwMode="auto">
            <a:xfrm>
              <a:off x="3951" y="1479"/>
              <a:ext cx="0" cy="1787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4" name="Line 469"/>
            <p:cNvSpPr>
              <a:spLocks noChangeShapeType="1"/>
            </p:cNvSpPr>
            <p:nvPr/>
          </p:nvSpPr>
          <p:spPr bwMode="auto">
            <a:xfrm>
              <a:off x="4148" y="1479"/>
              <a:ext cx="0" cy="117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5" name="Line 470"/>
            <p:cNvSpPr>
              <a:spLocks noChangeShapeType="1"/>
            </p:cNvSpPr>
            <p:nvPr/>
          </p:nvSpPr>
          <p:spPr bwMode="auto">
            <a:xfrm flipH="1">
              <a:off x="3852" y="2052"/>
              <a:ext cx="80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6" name="Line 471"/>
            <p:cNvSpPr>
              <a:spLocks noChangeShapeType="1"/>
            </p:cNvSpPr>
            <p:nvPr/>
          </p:nvSpPr>
          <p:spPr bwMode="auto">
            <a:xfrm>
              <a:off x="4346" y="1479"/>
              <a:ext cx="0" cy="56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7" name="Rectangle 472"/>
            <p:cNvSpPr>
              <a:spLocks noChangeArrowheads="1"/>
            </p:cNvSpPr>
            <p:nvPr/>
          </p:nvSpPr>
          <p:spPr bwMode="auto">
            <a:xfrm>
              <a:off x="4642" y="1973"/>
              <a:ext cx="138" cy="148"/>
            </a:xfrm>
            <a:prstGeom prst="rect">
              <a:avLst/>
            </a:prstGeom>
            <a:solidFill>
              <a:srgbClr val="E5E5E5"/>
            </a:solidFill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8" name="Rectangle 473"/>
            <p:cNvSpPr>
              <a:spLocks noChangeArrowheads="1"/>
            </p:cNvSpPr>
            <p:nvPr/>
          </p:nvSpPr>
          <p:spPr bwMode="auto">
            <a:xfrm>
              <a:off x="4642" y="2585"/>
              <a:ext cx="138" cy="138"/>
            </a:xfrm>
            <a:prstGeom prst="rect">
              <a:avLst/>
            </a:prstGeom>
            <a:solidFill>
              <a:srgbClr val="E5E5E5"/>
            </a:solidFill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59" name="Rectangle 474"/>
            <p:cNvSpPr>
              <a:spLocks noChangeArrowheads="1"/>
            </p:cNvSpPr>
            <p:nvPr/>
          </p:nvSpPr>
          <p:spPr bwMode="auto">
            <a:xfrm>
              <a:off x="4642" y="3197"/>
              <a:ext cx="138" cy="148"/>
            </a:xfrm>
            <a:prstGeom prst="rect">
              <a:avLst/>
            </a:prstGeom>
            <a:solidFill>
              <a:srgbClr val="E5E5E5"/>
            </a:solidFill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0" name="Line 475"/>
            <p:cNvSpPr>
              <a:spLocks noChangeShapeType="1"/>
            </p:cNvSpPr>
            <p:nvPr/>
          </p:nvSpPr>
          <p:spPr bwMode="auto">
            <a:xfrm flipH="1">
              <a:off x="3852" y="2654"/>
              <a:ext cx="79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1" name="Line 476"/>
            <p:cNvSpPr>
              <a:spLocks noChangeShapeType="1"/>
            </p:cNvSpPr>
            <p:nvPr/>
          </p:nvSpPr>
          <p:spPr bwMode="auto">
            <a:xfrm flipH="1">
              <a:off x="3852" y="3266"/>
              <a:ext cx="79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2" name="Freeform 477"/>
            <p:cNvSpPr>
              <a:spLocks/>
            </p:cNvSpPr>
            <p:nvPr/>
          </p:nvSpPr>
          <p:spPr bwMode="auto">
            <a:xfrm>
              <a:off x="4139" y="2644"/>
              <a:ext cx="19" cy="20"/>
            </a:xfrm>
            <a:custGeom>
              <a:avLst/>
              <a:gdLst>
                <a:gd name="T0" fmla="*/ 28 w 59"/>
                <a:gd name="T1" fmla="*/ 0 h 59"/>
                <a:gd name="T2" fmla="*/ 23 w 59"/>
                <a:gd name="T3" fmla="*/ 0 h 59"/>
                <a:gd name="T4" fmla="*/ 20 w 59"/>
                <a:gd name="T5" fmla="*/ 1 h 59"/>
                <a:gd name="T6" fmla="*/ 16 w 59"/>
                <a:gd name="T7" fmla="*/ 3 h 59"/>
                <a:gd name="T8" fmla="*/ 13 w 59"/>
                <a:gd name="T9" fmla="*/ 6 h 59"/>
                <a:gd name="T10" fmla="*/ 8 w 59"/>
                <a:gd name="T11" fmla="*/ 9 h 59"/>
                <a:gd name="T12" fmla="*/ 5 w 59"/>
                <a:gd name="T13" fmla="*/ 12 h 59"/>
                <a:gd name="T14" fmla="*/ 4 w 59"/>
                <a:gd name="T15" fmla="*/ 15 h 59"/>
                <a:gd name="T16" fmla="*/ 2 w 59"/>
                <a:gd name="T17" fmla="*/ 19 h 59"/>
                <a:gd name="T18" fmla="*/ 1 w 59"/>
                <a:gd name="T19" fmla="*/ 24 h 59"/>
                <a:gd name="T20" fmla="*/ 1 w 59"/>
                <a:gd name="T21" fmla="*/ 28 h 59"/>
                <a:gd name="T22" fmla="*/ 1 w 59"/>
                <a:gd name="T23" fmla="*/ 31 h 59"/>
                <a:gd name="T24" fmla="*/ 1 w 59"/>
                <a:gd name="T25" fmla="*/ 36 h 59"/>
                <a:gd name="T26" fmla="*/ 2 w 59"/>
                <a:gd name="T27" fmla="*/ 40 h 59"/>
                <a:gd name="T28" fmla="*/ 4 w 59"/>
                <a:gd name="T29" fmla="*/ 43 h 59"/>
                <a:gd name="T30" fmla="*/ 5 w 59"/>
                <a:gd name="T31" fmla="*/ 47 h 59"/>
                <a:gd name="T32" fmla="*/ 8 w 59"/>
                <a:gd name="T33" fmla="*/ 50 h 59"/>
                <a:gd name="T34" fmla="*/ 13 w 59"/>
                <a:gd name="T35" fmla="*/ 53 h 59"/>
                <a:gd name="T36" fmla="*/ 16 w 59"/>
                <a:gd name="T37" fmla="*/ 55 h 59"/>
                <a:gd name="T38" fmla="*/ 20 w 59"/>
                <a:gd name="T39" fmla="*/ 56 h 59"/>
                <a:gd name="T40" fmla="*/ 23 w 59"/>
                <a:gd name="T41" fmla="*/ 58 h 59"/>
                <a:gd name="T42" fmla="*/ 28 w 59"/>
                <a:gd name="T43" fmla="*/ 59 h 59"/>
                <a:gd name="T44" fmla="*/ 32 w 59"/>
                <a:gd name="T45" fmla="*/ 59 h 59"/>
                <a:gd name="T46" fmla="*/ 37 w 59"/>
                <a:gd name="T47" fmla="*/ 58 h 59"/>
                <a:gd name="T48" fmla="*/ 39 w 59"/>
                <a:gd name="T49" fmla="*/ 56 h 59"/>
                <a:gd name="T50" fmla="*/ 44 w 59"/>
                <a:gd name="T51" fmla="*/ 55 h 59"/>
                <a:gd name="T52" fmla="*/ 47 w 59"/>
                <a:gd name="T53" fmla="*/ 53 h 59"/>
                <a:gd name="T54" fmla="*/ 51 w 59"/>
                <a:gd name="T55" fmla="*/ 50 h 59"/>
                <a:gd name="T56" fmla="*/ 54 w 59"/>
                <a:gd name="T57" fmla="*/ 47 h 59"/>
                <a:gd name="T58" fmla="*/ 56 w 59"/>
                <a:gd name="T59" fmla="*/ 43 h 59"/>
                <a:gd name="T60" fmla="*/ 57 w 59"/>
                <a:gd name="T61" fmla="*/ 40 h 59"/>
                <a:gd name="T62" fmla="*/ 59 w 59"/>
                <a:gd name="T63" fmla="*/ 36 h 59"/>
                <a:gd name="T64" fmla="*/ 59 w 59"/>
                <a:gd name="T65" fmla="*/ 31 h 59"/>
                <a:gd name="T66" fmla="*/ 59 w 59"/>
                <a:gd name="T67" fmla="*/ 28 h 59"/>
                <a:gd name="T68" fmla="*/ 59 w 59"/>
                <a:gd name="T69" fmla="*/ 24 h 59"/>
                <a:gd name="T70" fmla="*/ 57 w 59"/>
                <a:gd name="T71" fmla="*/ 19 h 59"/>
                <a:gd name="T72" fmla="*/ 56 w 59"/>
                <a:gd name="T73" fmla="*/ 15 h 59"/>
                <a:gd name="T74" fmla="*/ 54 w 59"/>
                <a:gd name="T75" fmla="*/ 12 h 59"/>
                <a:gd name="T76" fmla="*/ 51 w 59"/>
                <a:gd name="T77" fmla="*/ 9 h 59"/>
                <a:gd name="T78" fmla="*/ 47 w 59"/>
                <a:gd name="T79" fmla="*/ 6 h 59"/>
                <a:gd name="T80" fmla="*/ 44 w 59"/>
                <a:gd name="T81" fmla="*/ 3 h 59"/>
                <a:gd name="T82" fmla="*/ 39 w 59"/>
                <a:gd name="T83" fmla="*/ 1 h 59"/>
                <a:gd name="T84" fmla="*/ 37 w 59"/>
                <a:gd name="T85" fmla="*/ 0 h 59"/>
                <a:gd name="T86" fmla="*/ 32 w 59"/>
                <a:gd name="T87" fmla="*/ 0 h 59"/>
                <a:gd name="T88" fmla="*/ 29 w 59"/>
                <a:gd name="T8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" h="59">
                  <a:moveTo>
                    <a:pt x="29" y="30"/>
                  </a:move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8" y="9"/>
                  </a:lnTo>
                  <a:lnTo>
                    <a:pt x="7" y="10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7" y="47"/>
                  </a:lnTo>
                  <a:lnTo>
                    <a:pt x="8" y="49"/>
                  </a:lnTo>
                  <a:lnTo>
                    <a:pt x="8" y="50"/>
                  </a:lnTo>
                  <a:lnTo>
                    <a:pt x="10" y="50"/>
                  </a:lnTo>
                  <a:lnTo>
                    <a:pt x="11" y="52"/>
                  </a:lnTo>
                  <a:lnTo>
                    <a:pt x="13" y="53"/>
                  </a:lnTo>
                  <a:lnTo>
                    <a:pt x="13" y="53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5" y="58"/>
                  </a:lnTo>
                  <a:lnTo>
                    <a:pt x="26" y="59"/>
                  </a:lnTo>
                  <a:lnTo>
                    <a:pt x="28" y="59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39" y="56"/>
                  </a:lnTo>
                  <a:lnTo>
                    <a:pt x="41" y="56"/>
                  </a:lnTo>
                  <a:lnTo>
                    <a:pt x="42" y="56"/>
                  </a:lnTo>
                  <a:lnTo>
                    <a:pt x="44" y="55"/>
                  </a:lnTo>
                  <a:lnTo>
                    <a:pt x="45" y="55"/>
                  </a:lnTo>
                  <a:lnTo>
                    <a:pt x="47" y="53"/>
                  </a:lnTo>
                  <a:lnTo>
                    <a:pt x="47" y="53"/>
                  </a:lnTo>
                  <a:lnTo>
                    <a:pt x="48" y="52"/>
                  </a:lnTo>
                  <a:lnTo>
                    <a:pt x="50" y="50"/>
                  </a:lnTo>
                  <a:lnTo>
                    <a:pt x="51" y="50"/>
                  </a:lnTo>
                  <a:lnTo>
                    <a:pt x="51" y="49"/>
                  </a:lnTo>
                  <a:lnTo>
                    <a:pt x="53" y="47"/>
                  </a:lnTo>
                  <a:lnTo>
                    <a:pt x="54" y="47"/>
                  </a:lnTo>
                  <a:lnTo>
                    <a:pt x="54" y="46"/>
                  </a:lnTo>
                  <a:lnTo>
                    <a:pt x="56" y="44"/>
                  </a:lnTo>
                  <a:lnTo>
                    <a:pt x="56" y="43"/>
                  </a:lnTo>
                  <a:lnTo>
                    <a:pt x="57" y="41"/>
                  </a:lnTo>
                  <a:lnTo>
                    <a:pt x="57" y="40"/>
                  </a:lnTo>
                  <a:lnTo>
                    <a:pt x="57" y="40"/>
                  </a:lnTo>
                  <a:lnTo>
                    <a:pt x="59" y="38"/>
                  </a:lnTo>
                  <a:lnTo>
                    <a:pt x="59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9" y="22"/>
                  </a:lnTo>
                  <a:lnTo>
                    <a:pt x="59" y="21"/>
                  </a:lnTo>
                  <a:lnTo>
                    <a:pt x="57" y="19"/>
                  </a:lnTo>
                  <a:lnTo>
                    <a:pt x="57" y="18"/>
                  </a:lnTo>
                  <a:lnTo>
                    <a:pt x="57" y="16"/>
                  </a:lnTo>
                  <a:lnTo>
                    <a:pt x="56" y="15"/>
                  </a:lnTo>
                  <a:lnTo>
                    <a:pt x="56" y="13"/>
                  </a:lnTo>
                  <a:lnTo>
                    <a:pt x="54" y="13"/>
                  </a:lnTo>
                  <a:lnTo>
                    <a:pt x="54" y="12"/>
                  </a:lnTo>
                  <a:lnTo>
                    <a:pt x="53" y="10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48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4" y="3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3" name="Freeform 478"/>
            <p:cNvSpPr>
              <a:spLocks/>
            </p:cNvSpPr>
            <p:nvPr/>
          </p:nvSpPr>
          <p:spPr bwMode="auto">
            <a:xfrm>
              <a:off x="4133" y="2647"/>
              <a:ext cx="24" cy="25"/>
            </a:xfrm>
            <a:custGeom>
              <a:avLst/>
              <a:gdLst>
                <a:gd name="T0" fmla="*/ 32 w 72"/>
                <a:gd name="T1" fmla="*/ 2 h 73"/>
                <a:gd name="T2" fmla="*/ 28 w 72"/>
                <a:gd name="T3" fmla="*/ 2 h 73"/>
                <a:gd name="T4" fmla="*/ 22 w 72"/>
                <a:gd name="T5" fmla="*/ 3 h 73"/>
                <a:gd name="T6" fmla="*/ 18 w 72"/>
                <a:gd name="T7" fmla="*/ 6 h 73"/>
                <a:gd name="T8" fmla="*/ 13 w 72"/>
                <a:gd name="T9" fmla="*/ 9 h 73"/>
                <a:gd name="T10" fmla="*/ 10 w 72"/>
                <a:gd name="T11" fmla="*/ 12 h 73"/>
                <a:gd name="T12" fmla="*/ 6 w 72"/>
                <a:gd name="T13" fmla="*/ 17 h 73"/>
                <a:gd name="T14" fmla="*/ 4 w 72"/>
                <a:gd name="T15" fmla="*/ 21 h 73"/>
                <a:gd name="T16" fmla="*/ 1 w 72"/>
                <a:gd name="T17" fmla="*/ 27 h 73"/>
                <a:gd name="T18" fmla="*/ 1 w 72"/>
                <a:gd name="T19" fmla="*/ 31 h 73"/>
                <a:gd name="T20" fmla="*/ 0 w 72"/>
                <a:gd name="T21" fmla="*/ 37 h 73"/>
                <a:gd name="T22" fmla="*/ 0 w 72"/>
                <a:gd name="T23" fmla="*/ 40 h 73"/>
                <a:gd name="T24" fmla="*/ 1 w 72"/>
                <a:gd name="T25" fmla="*/ 46 h 73"/>
                <a:gd name="T26" fmla="*/ 3 w 72"/>
                <a:gd name="T27" fmla="*/ 51 h 73"/>
                <a:gd name="T28" fmla="*/ 6 w 72"/>
                <a:gd name="T29" fmla="*/ 57 h 73"/>
                <a:gd name="T30" fmla="*/ 9 w 72"/>
                <a:gd name="T31" fmla="*/ 60 h 73"/>
                <a:gd name="T32" fmla="*/ 12 w 72"/>
                <a:gd name="T33" fmla="*/ 64 h 73"/>
                <a:gd name="T34" fmla="*/ 16 w 72"/>
                <a:gd name="T35" fmla="*/ 67 h 73"/>
                <a:gd name="T36" fmla="*/ 20 w 72"/>
                <a:gd name="T37" fmla="*/ 70 h 73"/>
                <a:gd name="T38" fmla="*/ 25 w 72"/>
                <a:gd name="T39" fmla="*/ 71 h 73"/>
                <a:gd name="T40" fmla="*/ 31 w 72"/>
                <a:gd name="T41" fmla="*/ 73 h 73"/>
                <a:gd name="T42" fmla="*/ 37 w 72"/>
                <a:gd name="T43" fmla="*/ 73 h 73"/>
                <a:gd name="T44" fmla="*/ 40 w 72"/>
                <a:gd name="T45" fmla="*/ 73 h 73"/>
                <a:gd name="T46" fmla="*/ 46 w 72"/>
                <a:gd name="T47" fmla="*/ 73 h 73"/>
                <a:gd name="T48" fmla="*/ 50 w 72"/>
                <a:gd name="T49" fmla="*/ 70 h 73"/>
                <a:gd name="T50" fmla="*/ 55 w 72"/>
                <a:gd name="T51" fmla="*/ 68 h 73"/>
                <a:gd name="T52" fmla="*/ 59 w 72"/>
                <a:gd name="T53" fmla="*/ 66 h 73"/>
                <a:gd name="T54" fmla="*/ 63 w 72"/>
                <a:gd name="T55" fmla="*/ 61 h 73"/>
                <a:gd name="T56" fmla="*/ 66 w 72"/>
                <a:gd name="T57" fmla="*/ 58 h 73"/>
                <a:gd name="T58" fmla="*/ 69 w 72"/>
                <a:gd name="T59" fmla="*/ 52 h 73"/>
                <a:gd name="T60" fmla="*/ 71 w 72"/>
                <a:gd name="T61" fmla="*/ 48 h 73"/>
                <a:gd name="T62" fmla="*/ 72 w 72"/>
                <a:gd name="T63" fmla="*/ 43 h 73"/>
                <a:gd name="T64" fmla="*/ 72 w 72"/>
                <a:gd name="T65" fmla="*/ 37 h 73"/>
                <a:gd name="T66" fmla="*/ 72 w 72"/>
                <a:gd name="T67" fmla="*/ 33 h 73"/>
                <a:gd name="T68" fmla="*/ 71 w 72"/>
                <a:gd name="T69" fmla="*/ 28 h 73"/>
                <a:gd name="T70" fmla="*/ 69 w 72"/>
                <a:gd name="T71" fmla="*/ 23 h 73"/>
                <a:gd name="T72" fmla="*/ 68 w 72"/>
                <a:gd name="T73" fmla="*/ 18 h 73"/>
                <a:gd name="T74" fmla="*/ 65 w 72"/>
                <a:gd name="T75" fmla="*/ 14 h 73"/>
                <a:gd name="T76" fmla="*/ 60 w 72"/>
                <a:gd name="T77" fmla="*/ 11 h 73"/>
                <a:gd name="T78" fmla="*/ 56 w 72"/>
                <a:gd name="T79" fmla="*/ 8 h 73"/>
                <a:gd name="T80" fmla="*/ 52 w 72"/>
                <a:gd name="T81" fmla="*/ 5 h 73"/>
                <a:gd name="T82" fmla="*/ 47 w 72"/>
                <a:gd name="T83" fmla="*/ 3 h 73"/>
                <a:gd name="T84" fmla="*/ 41 w 72"/>
                <a:gd name="T85" fmla="*/ 2 h 73"/>
                <a:gd name="T86" fmla="*/ 37 w 72"/>
                <a:gd name="T8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73">
                  <a:moveTo>
                    <a:pt x="37" y="0"/>
                  </a:move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5" y="3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5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9" y="14"/>
                  </a:lnTo>
                  <a:lnTo>
                    <a:pt x="7" y="15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4" y="52"/>
                  </a:lnTo>
                  <a:lnTo>
                    <a:pt x="4" y="55"/>
                  </a:lnTo>
                  <a:lnTo>
                    <a:pt x="6" y="57"/>
                  </a:lnTo>
                  <a:lnTo>
                    <a:pt x="6" y="58"/>
                  </a:lnTo>
                  <a:lnTo>
                    <a:pt x="7" y="58"/>
                  </a:lnTo>
                  <a:lnTo>
                    <a:pt x="9" y="60"/>
                  </a:lnTo>
                  <a:lnTo>
                    <a:pt x="10" y="61"/>
                  </a:lnTo>
                  <a:lnTo>
                    <a:pt x="10" y="63"/>
                  </a:lnTo>
                  <a:lnTo>
                    <a:pt x="12" y="64"/>
                  </a:lnTo>
                  <a:lnTo>
                    <a:pt x="13" y="66"/>
                  </a:lnTo>
                  <a:lnTo>
                    <a:pt x="15" y="66"/>
                  </a:lnTo>
                  <a:lnTo>
                    <a:pt x="16" y="67"/>
                  </a:lnTo>
                  <a:lnTo>
                    <a:pt x="18" y="68"/>
                  </a:lnTo>
                  <a:lnTo>
                    <a:pt x="19" y="68"/>
                  </a:lnTo>
                  <a:lnTo>
                    <a:pt x="20" y="70"/>
                  </a:lnTo>
                  <a:lnTo>
                    <a:pt x="22" y="70"/>
                  </a:lnTo>
                  <a:lnTo>
                    <a:pt x="23" y="71"/>
                  </a:lnTo>
                  <a:lnTo>
                    <a:pt x="25" y="71"/>
                  </a:lnTo>
                  <a:lnTo>
                    <a:pt x="28" y="73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8" y="73"/>
                  </a:lnTo>
                  <a:lnTo>
                    <a:pt x="40" y="73"/>
                  </a:lnTo>
                  <a:lnTo>
                    <a:pt x="41" y="73"/>
                  </a:lnTo>
                  <a:lnTo>
                    <a:pt x="44" y="73"/>
                  </a:lnTo>
                  <a:lnTo>
                    <a:pt x="46" y="73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70"/>
                  </a:lnTo>
                  <a:lnTo>
                    <a:pt x="52" y="70"/>
                  </a:lnTo>
                  <a:lnTo>
                    <a:pt x="53" y="68"/>
                  </a:lnTo>
                  <a:lnTo>
                    <a:pt x="55" y="68"/>
                  </a:lnTo>
                  <a:lnTo>
                    <a:pt x="56" y="67"/>
                  </a:lnTo>
                  <a:lnTo>
                    <a:pt x="57" y="66"/>
                  </a:lnTo>
                  <a:lnTo>
                    <a:pt x="59" y="66"/>
                  </a:lnTo>
                  <a:lnTo>
                    <a:pt x="60" y="64"/>
                  </a:lnTo>
                  <a:lnTo>
                    <a:pt x="62" y="63"/>
                  </a:lnTo>
                  <a:lnTo>
                    <a:pt x="63" y="61"/>
                  </a:lnTo>
                  <a:lnTo>
                    <a:pt x="65" y="60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8" y="57"/>
                  </a:lnTo>
                  <a:lnTo>
                    <a:pt x="68" y="55"/>
                  </a:lnTo>
                  <a:lnTo>
                    <a:pt x="69" y="52"/>
                  </a:lnTo>
                  <a:lnTo>
                    <a:pt x="69" y="51"/>
                  </a:lnTo>
                  <a:lnTo>
                    <a:pt x="71" y="49"/>
                  </a:lnTo>
                  <a:lnTo>
                    <a:pt x="71" y="48"/>
                  </a:lnTo>
                  <a:lnTo>
                    <a:pt x="71" y="46"/>
                  </a:lnTo>
                  <a:lnTo>
                    <a:pt x="72" y="45"/>
                  </a:lnTo>
                  <a:lnTo>
                    <a:pt x="72" y="43"/>
                  </a:lnTo>
                  <a:lnTo>
                    <a:pt x="72" y="40"/>
                  </a:lnTo>
                  <a:lnTo>
                    <a:pt x="72" y="39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6"/>
                  </a:lnTo>
                  <a:lnTo>
                    <a:pt x="72" y="33"/>
                  </a:lnTo>
                  <a:lnTo>
                    <a:pt x="72" y="31"/>
                  </a:lnTo>
                  <a:lnTo>
                    <a:pt x="72" y="30"/>
                  </a:lnTo>
                  <a:lnTo>
                    <a:pt x="71" y="28"/>
                  </a:lnTo>
                  <a:lnTo>
                    <a:pt x="71" y="27"/>
                  </a:lnTo>
                  <a:lnTo>
                    <a:pt x="71" y="26"/>
                  </a:lnTo>
                  <a:lnTo>
                    <a:pt x="69" y="23"/>
                  </a:lnTo>
                  <a:lnTo>
                    <a:pt x="69" y="21"/>
                  </a:lnTo>
                  <a:lnTo>
                    <a:pt x="68" y="20"/>
                  </a:lnTo>
                  <a:lnTo>
                    <a:pt x="68" y="18"/>
                  </a:lnTo>
                  <a:lnTo>
                    <a:pt x="66" y="17"/>
                  </a:lnTo>
                  <a:lnTo>
                    <a:pt x="65" y="15"/>
                  </a:lnTo>
                  <a:lnTo>
                    <a:pt x="65" y="14"/>
                  </a:lnTo>
                  <a:lnTo>
                    <a:pt x="63" y="12"/>
                  </a:lnTo>
                  <a:lnTo>
                    <a:pt x="62" y="12"/>
                  </a:lnTo>
                  <a:lnTo>
                    <a:pt x="60" y="11"/>
                  </a:lnTo>
                  <a:lnTo>
                    <a:pt x="59" y="9"/>
                  </a:lnTo>
                  <a:lnTo>
                    <a:pt x="57" y="8"/>
                  </a:lnTo>
                  <a:lnTo>
                    <a:pt x="56" y="8"/>
                  </a:lnTo>
                  <a:lnTo>
                    <a:pt x="55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2"/>
                  </a:lnTo>
                  <a:lnTo>
                    <a:pt x="44" y="2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4" name="Freeform 479"/>
            <p:cNvSpPr>
              <a:spLocks/>
            </p:cNvSpPr>
            <p:nvPr/>
          </p:nvSpPr>
          <p:spPr bwMode="auto">
            <a:xfrm>
              <a:off x="4336" y="2042"/>
              <a:ext cx="20" cy="20"/>
            </a:xfrm>
            <a:custGeom>
              <a:avLst/>
              <a:gdLst>
                <a:gd name="T0" fmla="*/ 28 w 59"/>
                <a:gd name="T1" fmla="*/ 0 h 59"/>
                <a:gd name="T2" fmla="*/ 24 w 59"/>
                <a:gd name="T3" fmla="*/ 0 h 59"/>
                <a:gd name="T4" fmla="*/ 21 w 59"/>
                <a:gd name="T5" fmla="*/ 1 h 59"/>
                <a:gd name="T6" fmla="*/ 16 w 59"/>
                <a:gd name="T7" fmla="*/ 3 h 59"/>
                <a:gd name="T8" fmla="*/ 13 w 59"/>
                <a:gd name="T9" fmla="*/ 6 h 59"/>
                <a:gd name="T10" fmla="*/ 9 w 59"/>
                <a:gd name="T11" fmla="*/ 9 h 59"/>
                <a:gd name="T12" fmla="*/ 6 w 59"/>
                <a:gd name="T13" fmla="*/ 12 h 59"/>
                <a:gd name="T14" fmla="*/ 4 w 59"/>
                <a:gd name="T15" fmla="*/ 15 h 59"/>
                <a:gd name="T16" fmla="*/ 3 w 59"/>
                <a:gd name="T17" fmla="*/ 19 h 59"/>
                <a:gd name="T18" fmla="*/ 1 w 59"/>
                <a:gd name="T19" fmla="*/ 23 h 59"/>
                <a:gd name="T20" fmla="*/ 1 w 59"/>
                <a:gd name="T21" fmla="*/ 28 h 59"/>
                <a:gd name="T22" fmla="*/ 1 w 59"/>
                <a:gd name="T23" fmla="*/ 31 h 59"/>
                <a:gd name="T24" fmla="*/ 1 w 59"/>
                <a:gd name="T25" fmla="*/ 35 h 59"/>
                <a:gd name="T26" fmla="*/ 3 w 59"/>
                <a:gd name="T27" fmla="*/ 40 h 59"/>
                <a:gd name="T28" fmla="*/ 4 w 59"/>
                <a:gd name="T29" fmla="*/ 43 h 59"/>
                <a:gd name="T30" fmla="*/ 6 w 59"/>
                <a:gd name="T31" fmla="*/ 47 h 59"/>
                <a:gd name="T32" fmla="*/ 9 w 59"/>
                <a:gd name="T33" fmla="*/ 50 h 59"/>
                <a:gd name="T34" fmla="*/ 13 w 59"/>
                <a:gd name="T35" fmla="*/ 53 h 59"/>
                <a:gd name="T36" fmla="*/ 16 w 59"/>
                <a:gd name="T37" fmla="*/ 55 h 59"/>
                <a:gd name="T38" fmla="*/ 21 w 59"/>
                <a:gd name="T39" fmla="*/ 56 h 59"/>
                <a:gd name="T40" fmla="*/ 24 w 59"/>
                <a:gd name="T41" fmla="*/ 58 h 59"/>
                <a:gd name="T42" fmla="*/ 28 w 59"/>
                <a:gd name="T43" fmla="*/ 59 h 59"/>
                <a:gd name="T44" fmla="*/ 32 w 59"/>
                <a:gd name="T45" fmla="*/ 59 h 59"/>
                <a:gd name="T46" fmla="*/ 37 w 59"/>
                <a:gd name="T47" fmla="*/ 58 h 59"/>
                <a:gd name="T48" fmla="*/ 40 w 59"/>
                <a:gd name="T49" fmla="*/ 56 h 59"/>
                <a:gd name="T50" fmla="*/ 44 w 59"/>
                <a:gd name="T51" fmla="*/ 55 h 59"/>
                <a:gd name="T52" fmla="*/ 47 w 59"/>
                <a:gd name="T53" fmla="*/ 53 h 59"/>
                <a:gd name="T54" fmla="*/ 52 w 59"/>
                <a:gd name="T55" fmla="*/ 50 h 59"/>
                <a:gd name="T56" fmla="*/ 55 w 59"/>
                <a:gd name="T57" fmla="*/ 47 h 59"/>
                <a:gd name="T58" fmla="*/ 56 w 59"/>
                <a:gd name="T59" fmla="*/ 43 h 59"/>
                <a:gd name="T60" fmla="*/ 58 w 59"/>
                <a:gd name="T61" fmla="*/ 40 h 59"/>
                <a:gd name="T62" fmla="*/ 59 w 59"/>
                <a:gd name="T63" fmla="*/ 35 h 59"/>
                <a:gd name="T64" fmla="*/ 59 w 59"/>
                <a:gd name="T65" fmla="*/ 31 h 59"/>
                <a:gd name="T66" fmla="*/ 59 w 59"/>
                <a:gd name="T67" fmla="*/ 28 h 59"/>
                <a:gd name="T68" fmla="*/ 59 w 59"/>
                <a:gd name="T69" fmla="*/ 23 h 59"/>
                <a:gd name="T70" fmla="*/ 58 w 59"/>
                <a:gd name="T71" fmla="*/ 19 h 59"/>
                <a:gd name="T72" fmla="*/ 56 w 59"/>
                <a:gd name="T73" fmla="*/ 15 h 59"/>
                <a:gd name="T74" fmla="*/ 55 w 59"/>
                <a:gd name="T75" fmla="*/ 12 h 59"/>
                <a:gd name="T76" fmla="*/ 52 w 59"/>
                <a:gd name="T77" fmla="*/ 9 h 59"/>
                <a:gd name="T78" fmla="*/ 47 w 59"/>
                <a:gd name="T79" fmla="*/ 6 h 59"/>
                <a:gd name="T80" fmla="*/ 44 w 59"/>
                <a:gd name="T81" fmla="*/ 3 h 59"/>
                <a:gd name="T82" fmla="*/ 40 w 59"/>
                <a:gd name="T83" fmla="*/ 1 h 59"/>
                <a:gd name="T84" fmla="*/ 37 w 59"/>
                <a:gd name="T85" fmla="*/ 0 h 59"/>
                <a:gd name="T86" fmla="*/ 32 w 59"/>
                <a:gd name="T87" fmla="*/ 0 h 59"/>
                <a:gd name="T88" fmla="*/ 29 w 59"/>
                <a:gd name="T89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" h="59">
                  <a:moveTo>
                    <a:pt x="29" y="29"/>
                  </a:move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7"/>
                  </a:lnTo>
                  <a:lnTo>
                    <a:pt x="9" y="49"/>
                  </a:lnTo>
                  <a:lnTo>
                    <a:pt x="9" y="50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3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8" y="56"/>
                  </a:lnTo>
                  <a:lnTo>
                    <a:pt x="19" y="56"/>
                  </a:lnTo>
                  <a:lnTo>
                    <a:pt x="21" y="56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8"/>
                  </a:lnTo>
                  <a:lnTo>
                    <a:pt x="26" y="59"/>
                  </a:lnTo>
                  <a:lnTo>
                    <a:pt x="28" y="59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6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5"/>
                  </a:lnTo>
                  <a:lnTo>
                    <a:pt x="47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0"/>
                  </a:lnTo>
                  <a:lnTo>
                    <a:pt x="52" y="50"/>
                  </a:lnTo>
                  <a:lnTo>
                    <a:pt x="52" y="49"/>
                  </a:lnTo>
                  <a:lnTo>
                    <a:pt x="53" y="47"/>
                  </a:lnTo>
                  <a:lnTo>
                    <a:pt x="55" y="47"/>
                  </a:lnTo>
                  <a:lnTo>
                    <a:pt x="55" y="46"/>
                  </a:lnTo>
                  <a:lnTo>
                    <a:pt x="56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9" y="38"/>
                  </a:lnTo>
                  <a:lnTo>
                    <a:pt x="59" y="37"/>
                  </a:lnTo>
                  <a:lnTo>
                    <a:pt x="59" y="35"/>
                  </a:lnTo>
                  <a:lnTo>
                    <a:pt x="59" y="34"/>
                  </a:lnTo>
                  <a:lnTo>
                    <a:pt x="59" y="32"/>
                  </a:lnTo>
                  <a:lnTo>
                    <a:pt x="59" y="31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28"/>
                  </a:lnTo>
                  <a:lnTo>
                    <a:pt x="59" y="26"/>
                  </a:lnTo>
                  <a:lnTo>
                    <a:pt x="59" y="25"/>
                  </a:lnTo>
                  <a:lnTo>
                    <a:pt x="59" y="23"/>
                  </a:lnTo>
                  <a:lnTo>
                    <a:pt x="59" y="22"/>
                  </a:lnTo>
                  <a:lnTo>
                    <a:pt x="59" y="20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8" y="16"/>
                  </a:lnTo>
                  <a:lnTo>
                    <a:pt x="56" y="15"/>
                  </a:lnTo>
                  <a:lnTo>
                    <a:pt x="56" y="13"/>
                  </a:lnTo>
                  <a:lnTo>
                    <a:pt x="55" y="13"/>
                  </a:lnTo>
                  <a:lnTo>
                    <a:pt x="55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5" name="Freeform 480"/>
            <p:cNvSpPr>
              <a:spLocks/>
            </p:cNvSpPr>
            <p:nvPr/>
          </p:nvSpPr>
          <p:spPr bwMode="auto">
            <a:xfrm>
              <a:off x="4340" y="2036"/>
              <a:ext cx="24" cy="24"/>
            </a:xfrm>
            <a:custGeom>
              <a:avLst/>
              <a:gdLst>
                <a:gd name="T0" fmla="*/ 32 w 72"/>
                <a:gd name="T1" fmla="*/ 1 h 72"/>
                <a:gd name="T2" fmla="*/ 28 w 72"/>
                <a:gd name="T3" fmla="*/ 1 h 72"/>
                <a:gd name="T4" fmla="*/ 22 w 72"/>
                <a:gd name="T5" fmla="*/ 2 h 72"/>
                <a:gd name="T6" fmla="*/ 17 w 72"/>
                <a:gd name="T7" fmla="*/ 5 h 72"/>
                <a:gd name="T8" fmla="*/ 13 w 72"/>
                <a:gd name="T9" fmla="*/ 8 h 72"/>
                <a:gd name="T10" fmla="*/ 10 w 72"/>
                <a:gd name="T11" fmla="*/ 11 h 72"/>
                <a:gd name="T12" fmla="*/ 6 w 72"/>
                <a:gd name="T13" fmla="*/ 16 h 72"/>
                <a:gd name="T14" fmla="*/ 4 w 72"/>
                <a:gd name="T15" fmla="*/ 20 h 72"/>
                <a:gd name="T16" fmla="*/ 1 w 72"/>
                <a:gd name="T17" fmla="*/ 26 h 72"/>
                <a:gd name="T18" fmla="*/ 1 w 72"/>
                <a:gd name="T19" fmla="*/ 31 h 72"/>
                <a:gd name="T20" fmla="*/ 0 w 72"/>
                <a:gd name="T21" fmla="*/ 37 h 72"/>
                <a:gd name="T22" fmla="*/ 0 w 72"/>
                <a:gd name="T23" fmla="*/ 39 h 72"/>
                <a:gd name="T24" fmla="*/ 1 w 72"/>
                <a:gd name="T25" fmla="*/ 45 h 72"/>
                <a:gd name="T26" fmla="*/ 3 w 72"/>
                <a:gd name="T27" fmla="*/ 50 h 72"/>
                <a:gd name="T28" fmla="*/ 6 w 72"/>
                <a:gd name="T29" fmla="*/ 56 h 72"/>
                <a:gd name="T30" fmla="*/ 9 w 72"/>
                <a:gd name="T31" fmla="*/ 59 h 72"/>
                <a:gd name="T32" fmla="*/ 12 w 72"/>
                <a:gd name="T33" fmla="*/ 63 h 72"/>
                <a:gd name="T34" fmla="*/ 16 w 72"/>
                <a:gd name="T35" fmla="*/ 66 h 72"/>
                <a:gd name="T36" fmla="*/ 20 w 72"/>
                <a:gd name="T37" fmla="*/ 69 h 72"/>
                <a:gd name="T38" fmla="*/ 25 w 72"/>
                <a:gd name="T39" fmla="*/ 71 h 72"/>
                <a:gd name="T40" fmla="*/ 31 w 72"/>
                <a:gd name="T41" fmla="*/ 72 h 72"/>
                <a:gd name="T42" fmla="*/ 37 w 72"/>
                <a:gd name="T43" fmla="*/ 72 h 72"/>
                <a:gd name="T44" fmla="*/ 40 w 72"/>
                <a:gd name="T45" fmla="*/ 72 h 72"/>
                <a:gd name="T46" fmla="*/ 46 w 72"/>
                <a:gd name="T47" fmla="*/ 72 h 72"/>
                <a:gd name="T48" fmla="*/ 50 w 72"/>
                <a:gd name="T49" fmla="*/ 69 h 72"/>
                <a:gd name="T50" fmla="*/ 54 w 72"/>
                <a:gd name="T51" fmla="*/ 68 h 72"/>
                <a:gd name="T52" fmla="*/ 59 w 72"/>
                <a:gd name="T53" fmla="*/ 65 h 72"/>
                <a:gd name="T54" fmla="*/ 63 w 72"/>
                <a:gd name="T55" fmla="*/ 60 h 72"/>
                <a:gd name="T56" fmla="*/ 66 w 72"/>
                <a:gd name="T57" fmla="*/ 57 h 72"/>
                <a:gd name="T58" fmla="*/ 69 w 72"/>
                <a:gd name="T59" fmla="*/ 51 h 72"/>
                <a:gd name="T60" fmla="*/ 71 w 72"/>
                <a:gd name="T61" fmla="*/ 47 h 72"/>
                <a:gd name="T62" fmla="*/ 72 w 72"/>
                <a:gd name="T63" fmla="*/ 42 h 72"/>
                <a:gd name="T64" fmla="*/ 72 w 72"/>
                <a:gd name="T65" fmla="*/ 37 h 72"/>
                <a:gd name="T66" fmla="*/ 72 w 72"/>
                <a:gd name="T67" fmla="*/ 32 h 72"/>
                <a:gd name="T68" fmla="*/ 71 w 72"/>
                <a:gd name="T69" fmla="*/ 28 h 72"/>
                <a:gd name="T70" fmla="*/ 69 w 72"/>
                <a:gd name="T71" fmla="*/ 22 h 72"/>
                <a:gd name="T72" fmla="*/ 68 w 72"/>
                <a:gd name="T73" fmla="*/ 17 h 72"/>
                <a:gd name="T74" fmla="*/ 65 w 72"/>
                <a:gd name="T75" fmla="*/ 13 h 72"/>
                <a:gd name="T76" fmla="*/ 60 w 72"/>
                <a:gd name="T77" fmla="*/ 10 h 72"/>
                <a:gd name="T78" fmla="*/ 56 w 72"/>
                <a:gd name="T79" fmla="*/ 7 h 72"/>
                <a:gd name="T80" fmla="*/ 52 w 72"/>
                <a:gd name="T81" fmla="*/ 4 h 72"/>
                <a:gd name="T82" fmla="*/ 47 w 72"/>
                <a:gd name="T83" fmla="*/ 2 h 72"/>
                <a:gd name="T84" fmla="*/ 41 w 72"/>
                <a:gd name="T85" fmla="*/ 1 h 72"/>
                <a:gd name="T86" fmla="*/ 37 w 72"/>
                <a:gd name="T8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72">
                  <a:moveTo>
                    <a:pt x="37" y="0"/>
                  </a:move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5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3" y="8"/>
                  </a:lnTo>
                  <a:lnTo>
                    <a:pt x="12" y="10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9" y="13"/>
                  </a:lnTo>
                  <a:lnTo>
                    <a:pt x="7" y="14"/>
                  </a:lnTo>
                  <a:lnTo>
                    <a:pt x="6" y="16"/>
                  </a:lnTo>
                  <a:lnTo>
                    <a:pt x="6" y="17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1" y="44"/>
                  </a:lnTo>
                  <a:lnTo>
                    <a:pt x="1" y="45"/>
                  </a:lnTo>
                  <a:lnTo>
                    <a:pt x="1" y="47"/>
                  </a:lnTo>
                  <a:lnTo>
                    <a:pt x="3" y="48"/>
                  </a:lnTo>
                  <a:lnTo>
                    <a:pt x="3" y="50"/>
                  </a:lnTo>
                  <a:lnTo>
                    <a:pt x="4" y="51"/>
                  </a:lnTo>
                  <a:lnTo>
                    <a:pt x="4" y="54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7" y="57"/>
                  </a:lnTo>
                  <a:lnTo>
                    <a:pt x="9" y="59"/>
                  </a:lnTo>
                  <a:lnTo>
                    <a:pt x="10" y="60"/>
                  </a:lnTo>
                  <a:lnTo>
                    <a:pt x="10" y="62"/>
                  </a:lnTo>
                  <a:lnTo>
                    <a:pt x="12" y="63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6" y="66"/>
                  </a:lnTo>
                  <a:lnTo>
                    <a:pt x="17" y="68"/>
                  </a:lnTo>
                  <a:lnTo>
                    <a:pt x="19" y="68"/>
                  </a:lnTo>
                  <a:lnTo>
                    <a:pt x="20" y="69"/>
                  </a:lnTo>
                  <a:lnTo>
                    <a:pt x="22" y="69"/>
                  </a:lnTo>
                  <a:lnTo>
                    <a:pt x="23" y="71"/>
                  </a:lnTo>
                  <a:lnTo>
                    <a:pt x="25" y="71"/>
                  </a:lnTo>
                  <a:lnTo>
                    <a:pt x="28" y="72"/>
                  </a:lnTo>
                  <a:lnTo>
                    <a:pt x="29" y="72"/>
                  </a:lnTo>
                  <a:lnTo>
                    <a:pt x="31" y="72"/>
                  </a:lnTo>
                  <a:lnTo>
                    <a:pt x="32" y="72"/>
                  </a:lnTo>
                  <a:lnTo>
                    <a:pt x="34" y="72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38" y="72"/>
                  </a:lnTo>
                  <a:lnTo>
                    <a:pt x="40" y="72"/>
                  </a:lnTo>
                  <a:lnTo>
                    <a:pt x="41" y="72"/>
                  </a:lnTo>
                  <a:lnTo>
                    <a:pt x="44" y="72"/>
                  </a:lnTo>
                  <a:lnTo>
                    <a:pt x="46" y="72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69"/>
                  </a:lnTo>
                  <a:lnTo>
                    <a:pt x="52" y="69"/>
                  </a:lnTo>
                  <a:lnTo>
                    <a:pt x="53" y="68"/>
                  </a:lnTo>
                  <a:lnTo>
                    <a:pt x="54" y="68"/>
                  </a:lnTo>
                  <a:lnTo>
                    <a:pt x="56" y="66"/>
                  </a:lnTo>
                  <a:lnTo>
                    <a:pt x="57" y="65"/>
                  </a:lnTo>
                  <a:lnTo>
                    <a:pt x="59" y="65"/>
                  </a:lnTo>
                  <a:lnTo>
                    <a:pt x="60" y="63"/>
                  </a:lnTo>
                  <a:lnTo>
                    <a:pt x="62" y="62"/>
                  </a:lnTo>
                  <a:lnTo>
                    <a:pt x="63" y="60"/>
                  </a:lnTo>
                  <a:lnTo>
                    <a:pt x="65" y="59"/>
                  </a:lnTo>
                  <a:lnTo>
                    <a:pt x="65" y="57"/>
                  </a:lnTo>
                  <a:lnTo>
                    <a:pt x="66" y="57"/>
                  </a:lnTo>
                  <a:lnTo>
                    <a:pt x="68" y="56"/>
                  </a:lnTo>
                  <a:lnTo>
                    <a:pt x="68" y="54"/>
                  </a:lnTo>
                  <a:lnTo>
                    <a:pt x="69" y="51"/>
                  </a:lnTo>
                  <a:lnTo>
                    <a:pt x="69" y="50"/>
                  </a:lnTo>
                  <a:lnTo>
                    <a:pt x="71" y="48"/>
                  </a:lnTo>
                  <a:lnTo>
                    <a:pt x="71" y="47"/>
                  </a:lnTo>
                  <a:lnTo>
                    <a:pt x="71" y="45"/>
                  </a:lnTo>
                  <a:lnTo>
                    <a:pt x="72" y="44"/>
                  </a:lnTo>
                  <a:lnTo>
                    <a:pt x="72" y="42"/>
                  </a:lnTo>
                  <a:lnTo>
                    <a:pt x="72" y="39"/>
                  </a:lnTo>
                  <a:lnTo>
                    <a:pt x="72" y="38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5"/>
                  </a:lnTo>
                  <a:lnTo>
                    <a:pt x="72" y="32"/>
                  </a:lnTo>
                  <a:lnTo>
                    <a:pt x="72" y="31"/>
                  </a:lnTo>
                  <a:lnTo>
                    <a:pt x="72" y="29"/>
                  </a:lnTo>
                  <a:lnTo>
                    <a:pt x="71" y="28"/>
                  </a:lnTo>
                  <a:lnTo>
                    <a:pt x="71" y="26"/>
                  </a:lnTo>
                  <a:lnTo>
                    <a:pt x="71" y="25"/>
                  </a:lnTo>
                  <a:lnTo>
                    <a:pt x="69" y="22"/>
                  </a:lnTo>
                  <a:lnTo>
                    <a:pt x="69" y="20"/>
                  </a:lnTo>
                  <a:lnTo>
                    <a:pt x="68" y="19"/>
                  </a:lnTo>
                  <a:lnTo>
                    <a:pt x="68" y="17"/>
                  </a:lnTo>
                  <a:lnTo>
                    <a:pt x="66" y="16"/>
                  </a:lnTo>
                  <a:lnTo>
                    <a:pt x="65" y="14"/>
                  </a:lnTo>
                  <a:lnTo>
                    <a:pt x="65" y="13"/>
                  </a:lnTo>
                  <a:lnTo>
                    <a:pt x="63" y="11"/>
                  </a:lnTo>
                  <a:lnTo>
                    <a:pt x="62" y="11"/>
                  </a:lnTo>
                  <a:lnTo>
                    <a:pt x="60" y="10"/>
                  </a:lnTo>
                  <a:lnTo>
                    <a:pt x="59" y="8"/>
                  </a:lnTo>
                  <a:lnTo>
                    <a:pt x="57" y="7"/>
                  </a:lnTo>
                  <a:lnTo>
                    <a:pt x="56" y="7"/>
                  </a:lnTo>
                  <a:lnTo>
                    <a:pt x="54" y="5"/>
                  </a:lnTo>
                  <a:lnTo>
                    <a:pt x="53" y="4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6" name="Freeform 481"/>
            <p:cNvSpPr>
              <a:spLocks/>
            </p:cNvSpPr>
            <p:nvPr/>
          </p:nvSpPr>
          <p:spPr bwMode="auto">
            <a:xfrm>
              <a:off x="3941" y="3256"/>
              <a:ext cx="20" cy="20"/>
            </a:xfrm>
            <a:custGeom>
              <a:avLst/>
              <a:gdLst>
                <a:gd name="T0" fmla="*/ 28 w 59"/>
                <a:gd name="T1" fmla="*/ 0 h 59"/>
                <a:gd name="T2" fmla="*/ 24 w 59"/>
                <a:gd name="T3" fmla="*/ 0 h 59"/>
                <a:gd name="T4" fmla="*/ 21 w 59"/>
                <a:gd name="T5" fmla="*/ 1 h 59"/>
                <a:gd name="T6" fmla="*/ 16 w 59"/>
                <a:gd name="T7" fmla="*/ 3 h 59"/>
                <a:gd name="T8" fmla="*/ 14 w 59"/>
                <a:gd name="T9" fmla="*/ 6 h 59"/>
                <a:gd name="T10" fmla="*/ 9 w 59"/>
                <a:gd name="T11" fmla="*/ 9 h 59"/>
                <a:gd name="T12" fmla="*/ 6 w 59"/>
                <a:gd name="T13" fmla="*/ 12 h 59"/>
                <a:gd name="T14" fmla="*/ 5 w 59"/>
                <a:gd name="T15" fmla="*/ 15 h 59"/>
                <a:gd name="T16" fmla="*/ 3 w 59"/>
                <a:gd name="T17" fmla="*/ 19 h 59"/>
                <a:gd name="T18" fmla="*/ 2 w 59"/>
                <a:gd name="T19" fmla="*/ 24 h 59"/>
                <a:gd name="T20" fmla="*/ 2 w 59"/>
                <a:gd name="T21" fmla="*/ 28 h 59"/>
                <a:gd name="T22" fmla="*/ 2 w 59"/>
                <a:gd name="T23" fmla="*/ 31 h 59"/>
                <a:gd name="T24" fmla="*/ 2 w 59"/>
                <a:gd name="T25" fmla="*/ 35 h 59"/>
                <a:gd name="T26" fmla="*/ 3 w 59"/>
                <a:gd name="T27" fmla="*/ 40 h 59"/>
                <a:gd name="T28" fmla="*/ 5 w 59"/>
                <a:gd name="T29" fmla="*/ 43 h 59"/>
                <a:gd name="T30" fmla="*/ 6 w 59"/>
                <a:gd name="T31" fmla="*/ 47 h 59"/>
                <a:gd name="T32" fmla="*/ 9 w 59"/>
                <a:gd name="T33" fmla="*/ 50 h 59"/>
                <a:gd name="T34" fmla="*/ 14 w 59"/>
                <a:gd name="T35" fmla="*/ 53 h 59"/>
                <a:gd name="T36" fmla="*/ 16 w 59"/>
                <a:gd name="T37" fmla="*/ 55 h 59"/>
                <a:gd name="T38" fmla="*/ 21 w 59"/>
                <a:gd name="T39" fmla="*/ 56 h 59"/>
                <a:gd name="T40" fmla="*/ 24 w 59"/>
                <a:gd name="T41" fmla="*/ 58 h 59"/>
                <a:gd name="T42" fmla="*/ 28 w 59"/>
                <a:gd name="T43" fmla="*/ 59 h 59"/>
                <a:gd name="T44" fmla="*/ 33 w 59"/>
                <a:gd name="T45" fmla="*/ 59 h 59"/>
                <a:gd name="T46" fmla="*/ 37 w 59"/>
                <a:gd name="T47" fmla="*/ 58 h 59"/>
                <a:gd name="T48" fmla="*/ 40 w 59"/>
                <a:gd name="T49" fmla="*/ 56 h 59"/>
                <a:gd name="T50" fmla="*/ 45 w 59"/>
                <a:gd name="T51" fmla="*/ 55 h 59"/>
                <a:gd name="T52" fmla="*/ 48 w 59"/>
                <a:gd name="T53" fmla="*/ 53 h 59"/>
                <a:gd name="T54" fmla="*/ 52 w 59"/>
                <a:gd name="T55" fmla="*/ 50 h 59"/>
                <a:gd name="T56" fmla="*/ 55 w 59"/>
                <a:gd name="T57" fmla="*/ 47 h 59"/>
                <a:gd name="T58" fmla="*/ 56 w 59"/>
                <a:gd name="T59" fmla="*/ 43 h 59"/>
                <a:gd name="T60" fmla="*/ 58 w 59"/>
                <a:gd name="T61" fmla="*/ 40 h 59"/>
                <a:gd name="T62" fmla="*/ 59 w 59"/>
                <a:gd name="T63" fmla="*/ 35 h 59"/>
                <a:gd name="T64" fmla="*/ 59 w 59"/>
                <a:gd name="T65" fmla="*/ 31 h 59"/>
                <a:gd name="T66" fmla="*/ 59 w 59"/>
                <a:gd name="T67" fmla="*/ 28 h 59"/>
                <a:gd name="T68" fmla="*/ 59 w 59"/>
                <a:gd name="T69" fmla="*/ 24 h 59"/>
                <a:gd name="T70" fmla="*/ 58 w 59"/>
                <a:gd name="T71" fmla="*/ 19 h 59"/>
                <a:gd name="T72" fmla="*/ 56 w 59"/>
                <a:gd name="T73" fmla="*/ 15 h 59"/>
                <a:gd name="T74" fmla="*/ 55 w 59"/>
                <a:gd name="T75" fmla="*/ 12 h 59"/>
                <a:gd name="T76" fmla="*/ 52 w 59"/>
                <a:gd name="T77" fmla="*/ 9 h 59"/>
                <a:gd name="T78" fmla="*/ 48 w 59"/>
                <a:gd name="T79" fmla="*/ 6 h 59"/>
                <a:gd name="T80" fmla="*/ 45 w 59"/>
                <a:gd name="T81" fmla="*/ 3 h 59"/>
                <a:gd name="T82" fmla="*/ 40 w 59"/>
                <a:gd name="T83" fmla="*/ 1 h 59"/>
                <a:gd name="T84" fmla="*/ 37 w 59"/>
                <a:gd name="T85" fmla="*/ 0 h 59"/>
                <a:gd name="T86" fmla="*/ 33 w 59"/>
                <a:gd name="T87" fmla="*/ 0 h 59"/>
                <a:gd name="T88" fmla="*/ 30 w 59"/>
                <a:gd name="T89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9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2" y="52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8" y="56"/>
                  </a:lnTo>
                  <a:lnTo>
                    <a:pt x="19" y="56"/>
                  </a:lnTo>
                  <a:lnTo>
                    <a:pt x="21" y="56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8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0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6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5"/>
                  </a:lnTo>
                  <a:lnTo>
                    <a:pt x="48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0"/>
                  </a:lnTo>
                  <a:lnTo>
                    <a:pt x="52" y="50"/>
                  </a:lnTo>
                  <a:lnTo>
                    <a:pt x="52" y="49"/>
                  </a:lnTo>
                  <a:lnTo>
                    <a:pt x="53" y="47"/>
                  </a:lnTo>
                  <a:lnTo>
                    <a:pt x="55" y="47"/>
                  </a:lnTo>
                  <a:lnTo>
                    <a:pt x="55" y="46"/>
                  </a:lnTo>
                  <a:lnTo>
                    <a:pt x="56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9" y="38"/>
                  </a:lnTo>
                  <a:lnTo>
                    <a:pt x="59" y="37"/>
                  </a:lnTo>
                  <a:lnTo>
                    <a:pt x="59" y="35"/>
                  </a:lnTo>
                  <a:lnTo>
                    <a:pt x="59" y="34"/>
                  </a:lnTo>
                  <a:lnTo>
                    <a:pt x="59" y="32"/>
                  </a:lnTo>
                  <a:lnTo>
                    <a:pt x="59" y="31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28"/>
                  </a:lnTo>
                  <a:lnTo>
                    <a:pt x="59" y="26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9" y="22"/>
                  </a:lnTo>
                  <a:lnTo>
                    <a:pt x="59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8" y="16"/>
                  </a:lnTo>
                  <a:lnTo>
                    <a:pt x="56" y="15"/>
                  </a:lnTo>
                  <a:lnTo>
                    <a:pt x="56" y="13"/>
                  </a:lnTo>
                  <a:lnTo>
                    <a:pt x="55" y="13"/>
                  </a:lnTo>
                  <a:lnTo>
                    <a:pt x="55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7" name="Freeform 482"/>
            <p:cNvSpPr>
              <a:spLocks/>
            </p:cNvSpPr>
            <p:nvPr/>
          </p:nvSpPr>
          <p:spPr bwMode="auto">
            <a:xfrm>
              <a:off x="3935" y="3259"/>
              <a:ext cx="24" cy="25"/>
            </a:xfrm>
            <a:custGeom>
              <a:avLst/>
              <a:gdLst>
                <a:gd name="T0" fmla="*/ 33 w 73"/>
                <a:gd name="T1" fmla="*/ 2 h 73"/>
                <a:gd name="T2" fmla="*/ 29 w 73"/>
                <a:gd name="T3" fmla="*/ 2 h 73"/>
                <a:gd name="T4" fmla="*/ 23 w 73"/>
                <a:gd name="T5" fmla="*/ 3 h 73"/>
                <a:gd name="T6" fmla="*/ 18 w 73"/>
                <a:gd name="T7" fmla="*/ 6 h 73"/>
                <a:gd name="T8" fmla="*/ 14 w 73"/>
                <a:gd name="T9" fmla="*/ 9 h 73"/>
                <a:gd name="T10" fmla="*/ 11 w 73"/>
                <a:gd name="T11" fmla="*/ 12 h 73"/>
                <a:gd name="T12" fmla="*/ 6 w 73"/>
                <a:gd name="T13" fmla="*/ 16 h 73"/>
                <a:gd name="T14" fmla="*/ 5 w 73"/>
                <a:gd name="T15" fmla="*/ 21 h 73"/>
                <a:gd name="T16" fmla="*/ 2 w 73"/>
                <a:gd name="T17" fmla="*/ 27 h 73"/>
                <a:gd name="T18" fmla="*/ 2 w 73"/>
                <a:gd name="T19" fmla="*/ 31 h 73"/>
                <a:gd name="T20" fmla="*/ 0 w 73"/>
                <a:gd name="T21" fmla="*/ 37 h 73"/>
                <a:gd name="T22" fmla="*/ 0 w 73"/>
                <a:gd name="T23" fmla="*/ 40 h 73"/>
                <a:gd name="T24" fmla="*/ 2 w 73"/>
                <a:gd name="T25" fmla="*/ 46 h 73"/>
                <a:gd name="T26" fmla="*/ 3 w 73"/>
                <a:gd name="T27" fmla="*/ 51 h 73"/>
                <a:gd name="T28" fmla="*/ 6 w 73"/>
                <a:gd name="T29" fmla="*/ 56 h 73"/>
                <a:gd name="T30" fmla="*/ 9 w 73"/>
                <a:gd name="T31" fmla="*/ 59 h 73"/>
                <a:gd name="T32" fmla="*/ 12 w 73"/>
                <a:gd name="T33" fmla="*/ 64 h 73"/>
                <a:gd name="T34" fmla="*/ 17 w 73"/>
                <a:gd name="T35" fmla="*/ 67 h 73"/>
                <a:gd name="T36" fmla="*/ 21 w 73"/>
                <a:gd name="T37" fmla="*/ 70 h 73"/>
                <a:gd name="T38" fmla="*/ 26 w 73"/>
                <a:gd name="T39" fmla="*/ 71 h 73"/>
                <a:gd name="T40" fmla="*/ 32 w 73"/>
                <a:gd name="T41" fmla="*/ 73 h 73"/>
                <a:gd name="T42" fmla="*/ 37 w 73"/>
                <a:gd name="T43" fmla="*/ 73 h 73"/>
                <a:gd name="T44" fmla="*/ 40 w 73"/>
                <a:gd name="T45" fmla="*/ 73 h 73"/>
                <a:gd name="T46" fmla="*/ 46 w 73"/>
                <a:gd name="T47" fmla="*/ 73 h 73"/>
                <a:gd name="T48" fmla="*/ 51 w 73"/>
                <a:gd name="T49" fmla="*/ 70 h 73"/>
                <a:gd name="T50" fmla="*/ 55 w 73"/>
                <a:gd name="T51" fmla="*/ 68 h 73"/>
                <a:gd name="T52" fmla="*/ 60 w 73"/>
                <a:gd name="T53" fmla="*/ 65 h 73"/>
                <a:gd name="T54" fmla="*/ 64 w 73"/>
                <a:gd name="T55" fmla="*/ 61 h 73"/>
                <a:gd name="T56" fmla="*/ 67 w 73"/>
                <a:gd name="T57" fmla="*/ 58 h 73"/>
                <a:gd name="T58" fmla="*/ 70 w 73"/>
                <a:gd name="T59" fmla="*/ 52 h 73"/>
                <a:gd name="T60" fmla="*/ 71 w 73"/>
                <a:gd name="T61" fmla="*/ 48 h 73"/>
                <a:gd name="T62" fmla="*/ 73 w 73"/>
                <a:gd name="T63" fmla="*/ 43 h 73"/>
                <a:gd name="T64" fmla="*/ 73 w 73"/>
                <a:gd name="T65" fmla="*/ 37 h 73"/>
                <a:gd name="T66" fmla="*/ 73 w 73"/>
                <a:gd name="T67" fmla="*/ 33 h 73"/>
                <a:gd name="T68" fmla="*/ 71 w 73"/>
                <a:gd name="T69" fmla="*/ 28 h 73"/>
                <a:gd name="T70" fmla="*/ 70 w 73"/>
                <a:gd name="T71" fmla="*/ 22 h 73"/>
                <a:gd name="T72" fmla="*/ 69 w 73"/>
                <a:gd name="T73" fmla="*/ 18 h 73"/>
                <a:gd name="T74" fmla="*/ 66 w 73"/>
                <a:gd name="T75" fmla="*/ 14 h 73"/>
                <a:gd name="T76" fmla="*/ 61 w 73"/>
                <a:gd name="T77" fmla="*/ 11 h 73"/>
                <a:gd name="T78" fmla="*/ 57 w 73"/>
                <a:gd name="T79" fmla="*/ 8 h 73"/>
                <a:gd name="T80" fmla="*/ 52 w 73"/>
                <a:gd name="T81" fmla="*/ 5 h 73"/>
                <a:gd name="T82" fmla="*/ 48 w 73"/>
                <a:gd name="T83" fmla="*/ 3 h 73"/>
                <a:gd name="T84" fmla="*/ 42 w 73"/>
                <a:gd name="T85" fmla="*/ 2 h 73"/>
                <a:gd name="T86" fmla="*/ 37 w 73"/>
                <a:gd name="T8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3" h="73">
                  <a:moveTo>
                    <a:pt x="37" y="0"/>
                  </a:moveTo>
                  <a:lnTo>
                    <a:pt x="34" y="2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6" y="3"/>
                  </a:lnTo>
                  <a:lnTo>
                    <a:pt x="24" y="3"/>
                  </a:lnTo>
                  <a:lnTo>
                    <a:pt x="23" y="3"/>
                  </a:lnTo>
                  <a:lnTo>
                    <a:pt x="21" y="5"/>
                  </a:lnTo>
                  <a:lnTo>
                    <a:pt x="20" y="5"/>
                  </a:lnTo>
                  <a:lnTo>
                    <a:pt x="18" y="6"/>
                  </a:lnTo>
                  <a:lnTo>
                    <a:pt x="17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2" y="11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9" y="14"/>
                  </a:lnTo>
                  <a:lnTo>
                    <a:pt x="8" y="15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8" y="58"/>
                  </a:lnTo>
                  <a:lnTo>
                    <a:pt x="9" y="59"/>
                  </a:lnTo>
                  <a:lnTo>
                    <a:pt x="11" y="61"/>
                  </a:lnTo>
                  <a:lnTo>
                    <a:pt x="11" y="62"/>
                  </a:lnTo>
                  <a:lnTo>
                    <a:pt x="12" y="64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8" y="68"/>
                  </a:lnTo>
                  <a:lnTo>
                    <a:pt x="20" y="68"/>
                  </a:lnTo>
                  <a:lnTo>
                    <a:pt x="21" y="70"/>
                  </a:lnTo>
                  <a:lnTo>
                    <a:pt x="23" y="70"/>
                  </a:lnTo>
                  <a:lnTo>
                    <a:pt x="24" y="71"/>
                  </a:lnTo>
                  <a:lnTo>
                    <a:pt x="26" y="71"/>
                  </a:lnTo>
                  <a:lnTo>
                    <a:pt x="29" y="73"/>
                  </a:lnTo>
                  <a:lnTo>
                    <a:pt x="30" y="73"/>
                  </a:lnTo>
                  <a:lnTo>
                    <a:pt x="32" y="73"/>
                  </a:lnTo>
                  <a:lnTo>
                    <a:pt x="33" y="73"/>
                  </a:lnTo>
                  <a:lnTo>
                    <a:pt x="3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9" y="73"/>
                  </a:lnTo>
                  <a:lnTo>
                    <a:pt x="40" y="73"/>
                  </a:lnTo>
                  <a:lnTo>
                    <a:pt x="42" y="73"/>
                  </a:lnTo>
                  <a:lnTo>
                    <a:pt x="45" y="73"/>
                  </a:lnTo>
                  <a:lnTo>
                    <a:pt x="46" y="73"/>
                  </a:lnTo>
                  <a:lnTo>
                    <a:pt x="48" y="71"/>
                  </a:lnTo>
                  <a:lnTo>
                    <a:pt x="49" y="71"/>
                  </a:lnTo>
                  <a:lnTo>
                    <a:pt x="51" y="70"/>
                  </a:lnTo>
                  <a:lnTo>
                    <a:pt x="52" y="70"/>
                  </a:lnTo>
                  <a:lnTo>
                    <a:pt x="54" y="68"/>
                  </a:lnTo>
                  <a:lnTo>
                    <a:pt x="55" y="68"/>
                  </a:lnTo>
                  <a:lnTo>
                    <a:pt x="57" y="67"/>
                  </a:lnTo>
                  <a:lnTo>
                    <a:pt x="58" y="65"/>
                  </a:lnTo>
                  <a:lnTo>
                    <a:pt x="60" y="65"/>
                  </a:lnTo>
                  <a:lnTo>
                    <a:pt x="61" y="64"/>
                  </a:lnTo>
                  <a:lnTo>
                    <a:pt x="63" y="62"/>
                  </a:lnTo>
                  <a:lnTo>
                    <a:pt x="64" y="61"/>
                  </a:lnTo>
                  <a:lnTo>
                    <a:pt x="66" y="59"/>
                  </a:lnTo>
                  <a:lnTo>
                    <a:pt x="66" y="58"/>
                  </a:lnTo>
                  <a:lnTo>
                    <a:pt x="67" y="58"/>
                  </a:lnTo>
                  <a:lnTo>
                    <a:pt x="69" y="56"/>
                  </a:lnTo>
                  <a:lnTo>
                    <a:pt x="69" y="55"/>
                  </a:lnTo>
                  <a:lnTo>
                    <a:pt x="70" y="52"/>
                  </a:lnTo>
                  <a:lnTo>
                    <a:pt x="70" y="51"/>
                  </a:lnTo>
                  <a:lnTo>
                    <a:pt x="71" y="49"/>
                  </a:lnTo>
                  <a:lnTo>
                    <a:pt x="71" y="48"/>
                  </a:lnTo>
                  <a:lnTo>
                    <a:pt x="71" y="46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3" y="40"/>
                  </a:lnTo>
                  <a:lnTo>
                    <a:pt x="73" y="39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73" y="36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0"/>
                  </a:lnTo>
                  <a:lnTo>
                    <a:pt x="71" y="28"/>
                  </a:lnTo>
                  <a:lnTo>
                    <a:pt x="71" y="27"/>
                  </a:lnTo>
                  <a:lnTo>
                    <a:pt x="71" y="25"/>
                  </a:lnTo>
                  <a:lnTo>
                    <a:pt x="70" y="22"/>
                  </a:lnTo>
                  <a:lnTo>
                    <a:pt x="70" y="21"/>
                  </a:lnTo>
                  <a:lnTo>
                    <a:pt x="69" y="19"/>
                  </a:lnTo>
                  <a:lnTo>
                    <a:pt x="69" y="18"/>
                  </a:lnTo>
                  <a:lnTo>
                    <a:pt x="67" y="16"/>
                  </a:lnTo>
                  <a:lnTo>
                    <a:pt x="66" y="15"/>
                  </a:lnTo>
                  <a:lnTo>
                    <a:pt x="66" y="14"/>
                  </a:lnTo>
                  <a:lnTo>
                    <a:pt x="64" y="12"/>
                  </a:lnTo>
                  <a:lnTo>
                    <a:pt x="63" y="12"/>
                  </a:lnTo>
                  <a:lnTo>
                    <a:pt x="61" y="11"/>
                  </a:lnTo>
                  <a:lnTo>
                    <a:pt x="60" y="9"/>
                  </a:lnTo>
                  <a:lnTo>
                    <a:pt x="58" y="8"/>
                  </a:lnTo>
                  <a:lnTo>
                    <a:pt x="57" y="8"/>
                  </a:lnTo>
                  <a:lnTo>
                    <a:pt x="55" y="6"/>
                  </a:lnTo>
                  <a:lnTo>
                    <a:pt x="54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3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8" name="Rectangle 483"/>
            <p:cNvSpPr>
              <a:spLocks noChangeArrowheads="1"/>
            </p:cNvSpPr>
            <p:nvPr/>
          </p:nvSpPr>
          <p:spPr bwMode="auto">
            <a:xfrm>
              <a:off x="4652" y="1312"/>
              <a:ext cx="138" cy="138"/>
            </a:xfrm>
            <a:prstGeom prst="rect">
              <a:avLst/>
            </a:prstGeom>
            <a:solidFill>
              <a:srgbClr val="E5E5E5"/>
            </a:solidFill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69" name="Freeform 484"/>
            <p:cNvSpPr>
              <a:spLocks/>
            </p:cNvSpPr>
            <p:nvPr/>
          </p:nvSpPr>
          <p:spPr bwMode="auto">
            <a:xfrm>
              <a:off x="1513" y="306"/>
              <a:ext cx="2932" cy="425"/>
            </a:xfrm>
            <a:custGeom>
              <a:avLst/>
              <a:gdLst>
                <a:gd name="T0" fmla="*/ 8796 w 8796"/>
                <a:gd name="T1" fmla="*/ 0 h 1717"/>
                <a:gd name="T2" fmla="*/ 8796 w 8796"/>
                <a:gd name="T3" fmla="*/ 1717 h 1717"/>
                <a:gd name="T4" fmla="*/ 0 w 8796"/>
                <a:gd name="T5" fmla="*/ 1717 h 1717"/>
                <a:gd name="T6" fmla="*/ 0 w 8796"/>
                <a:gd name="T7" fmla="*/ 0 h 1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96" h="1717">
                  <a:moveTo>
                    <a:pt x="8796" y="0"/>
                  </a:moveTo>
                  <a:lnTo>
                    <a:pt x="8796" y="1717"/>
                  </a:lnTo>
                  <a:lnTo>
                    <a:pt x="0" y="171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0" name="Rectangle 485"/>
            <p:cNvSpPr>
              <a:spLocks noChangeArrowheads="1"/>
            </p:cNvSpPr>
            <p:nvPr/>
          </p:nvSpPr>
          <p:spPr bwMode="auto">
            <a:xfrm>
              <a:off x="3377" y="3367"/>
              <a:ext cx="10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900">
                  <a:solidFill>
                    <a:srgbClr val="000000"/>
                  </a:solidFill>
                  <a:latin typeface="Times-Roman" charset="0"/>
                </a:rPr>
                <a:t>Q</a:t>
              </a: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-Roman" charset="0"/>
                  <a:cs typeface="Arial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71" name="Rectangle 486"/>
            <p:cNvSpPr>
              <a:spLocks noChangeArrowheads="1"/>
            </p:cNvSpPr>
            <p:nvPr/>
          </p:nvSpPr>
          <p:spPr bwMode="auto">
            <a:xfrm>
              <a:off x="2368" y="487"/>
              <a:ext cx="1400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-Roman" charset="0"/>
                  <a:cs typeface="Arial" pitchFamily="34" charset="0"/>
                </a:rPr>
                <a:t>PAL-like block (details not shown)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872" name="Freeform 487"/>
            <p:cNvSpPr>
              <a:spLocks/>
            </p:cNvSpPr>
            <p:nvPr/>
          </p:nvSpPr>
          <p:spPr bwMode="auto">
            <a:xfrm>
              <a:off x="2983" y="467"/>
              <a:ext cx="20" cy="20"/>
            </a:xfrm>
            <a:custGeom>
              <a:avLst/>
              <a:gdLst>
                <a:gd name="T0" fmla="*/ 33 w 60"/>
                <a:gd name="T1" fmla="*/ 59 h 59"/>
                <a:gd name="T2" fmla="*/ 37 w 60"/>
                <a:gd name="T3" fmla="*/ 58 h 59"/>
                <a:gd name="T4" fmla="*/ 40 w 60"/>
                <a:gd name="T5" fmla="*/ 56 h 59"/>
                <a:gd name="T6" fmla="*/ 45 w 60"/>
                <a:gd name="T7" fmla="*/ 55 h 59"/>
                <a:gd name="T8" fmla="*/ 48 w 60"/>
                <a:gd name="T9" fmla="*/ 53 h 59"/>
                <a:gd name="T10" fmla="*/ 52 w 60"/>
                <a:gd name="T11" fmla="*/ 50 h 59"/>
                <a:gd name="T12" fmla="*/ 55 w 60"/>
                <a:gd name="T13" fmla="*/ 47 h 59"/>
                <a:gd name="T14" fmla="*/ 57 w 60"/>
                <a:gd name="T15" fmla="*/ 43 h 59"/>
                <a:gd name="T16" fmla="*/ 58 w 60"/>
                <a:gd name="T17" fmla="*/ 40 h 59"/>
                <a:gd name="T18" fmla="*/ 60 w 60"/>
                <a:gd name="T19" fmla="*/ 35 h 59"/>
                <a:gd name="T20" fmla="*/ 60 w 60"/>
                <a:gd name="T21" fmla="*/ 31 h 59"/>
                <a:gd name="T22" fmla="*/ 60 w 60"/>
                <a:gd name="T23" fmla="*/ 28 h 59"/>
                <a:gd name="T24" fmla="*/ 60 w 60"/>
                <a:gd name="T25" fmla="*/ 24 h 59"/>
                <a:gd name="T26" fmla="*/ 58 w 60"/>
                <a:gd name="T27" fmla="*/ 19 h 59"/>
                <a:gd name="T28" fmla="*/ 57 w 60"/>
                <a:gd name="T29" fmla="*/ 15 h 59"/>
                <a:gd name="T30" fmla="*/ 55 w 60"/>
                <a:gd name="T31" fmla="*/ 12 h 59"/>
                <a:gd name="T32" fmla="*/ 52 w 60"/>
                <a:gd name="T33" fmla="*/ 9 h 59"/>
                <a:gd name="T34" fmla="*/ 48 w 60"/>
                <a:gd name="T35" fmla="*/ 6 h 59"/>
                <a:gd name="T36" fmla="*/ 45 w 60"/>
                <a:gd name="T37" fmla="*/ 3 h 59"/>
                <a:gd name="T38" fmla="*/ 40 w 60"/>
                <a:gd name="T39" fmla="*/ 1 h 59"/>
                <a:gd name="T40" fmla="*/ 37 w 60"/>
                <a:gd name="T41" fmla="*/ 0 h 59"/>
                <a:gd name="T42" fmla="*/ 33 w 60"/>
                <a:gd name="T43" fmla="*/ 0 h 59"/>
                <a:gd name="T44" fmla="*/ 29 w 60"/>
                <a:gd name="T45" fmla="*/ 0 h 59"/>
                <a:gd name="T46" fmla="*/ 24 w 60"/>
                <a:gd name="T47" fmla="*/ 0 h 59"/>
                <a:gd name="T48" fmla="*/ 21 w 60"/>
                <a:gd name="T49" fmla="*/ 1 h 59"/>
                <a:gd name="T50" fmla="*/ 17 w 60"/>
                <a:gd name="T51" fmla="*/ 3 h 59"/>
                <a:gd name="T52" fmla="*/ 14 w 60"/>
                <a:gd name="T53" fmla="*/ 6 h 59"/>
                <a:gd name="T54" fmla="*/ 9 w 60"/>
                <a:gd name="T55" fmla="*/ 9 h 59"/>
                <a:gd name="T56" fmla="*/ 6 w 60"/>
                <a:gd name="T57" fmla="*/ 12 h 59"/>
                <a:gd name="T58" fmla="*/ 5 w 60"/>
                <a:gd name="T59" fmla="*/ 15 h 59"/>
                <a:gd name="T60" fmla="*/ 3 w 60"/>
                <a:gd name="T61" fmla="*/ 19 h 59"/>
                <a:gd name="T62" fmla="*/ 2 w 60"/>
                <a:gd name="T63" fmla="*/ 24 h 59"/>
                <a:gd name="T64" fmla="*/ 2 w 60"/>
                <a:gd name="T65" fmla="*/ 28 h 59"/>
                <a:gd name="T66" fmla="*/ 2 w 60"/>
                <a:gd name="T67" fmla="*/ 31 h 59"/>
                <a:gd name="T68" fmla="*/ 2 w 60"/>
                <a:gd name="T69" fmla="*/ 35 h 59"/>
                <a:gd name="T70" fmla="*/ 3 w 60"/>
                <a:gd name="T71" fmla="*/ 40 h 59"/>
                <a:gd name="T72" fmla="*/ 5 w 60"/>
                <a:gd name="T73" fmla="*/ 43 h 59"/>
                <a:gd name="T74" fmla="*/ 6 w 60"/>
                <a:gd name="T75" fmla="*/ 47 h 59"/>
                <a:gd name="T76" fmla="*/ 9 w 60"/>
                <a:gd name="T77" fmla="*/ 50 h 59"/>
                <a:gd name="T78" fmla="*/ 14 w 60"/>
                <a:gd name="T79" fmla="*/ 53 h 59"/>
                <a:gd name="T80" fmla="*/ 17 w 60"/>
                <a:gd name="T81" fmla="*/ 55 h 59"/>
                <a:gd name="T82" fmla="*/ 21 w 60"/>
                <a:gd name="T83" fmla="*/ 56 h 59"/>
                <a:gd name="T84" fmla="*/ 24 w 60"/>
                <a:gd name="T85" fmla="*/ 58 h 59"/>
                <a:gd name="T86" fmla="*/ 29 w 60"/>
                <a:gd name="T87" fmla="*/ 59 h 59"/>
                <a:gd name="T88" fmla="*/ 30 w 60"/>
                <a:gd name="T8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6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5"/>
                  </a:lnTo>
                  <a:lnTo>
                    <a:pt x="48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2" y="50"/>
                  </a:lnTo>
                  <a:lnTo>
                    <a:pt x="52" y="49"/>
                  </a:lnTo>
                  <a:lnTo>
                    <a:pt x="54" y="47"/>
                  </a:lnTo>
                  <a:lnTo>
                    <a:pt x="55" y="47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60" y="38"/>
                  </a:lnTo>
                  <a:lnTo>
                    <a:pt x="60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60" y="22"/>
                  </a:lnTo>
                  <a:lnTo>
                    <a:pt x="60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8" y="16"/>
                  </a:lnTo>
                  <a:lnTo>
                    <a:pt x="57" y="15"/>
                  </a:lnTo>
                  <a:lnTo>
                    <a:pt x="57" y="13"/>
                  </a:lnTo>
                  <a:lnTo>
                    <a:pt x="55" y="13"/>
                  </a:lnTo>
                  <a:lnTo>
                    <a:pt x="55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2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1" y="56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9"/>
                  </a:lnTo>
                  <a:lnTo>
                    <a:pt x="29" y="59"/>
                  </a:lnTo>
                  <a:lnTo>
                    <a:pt x="30" y="59"/>
                  </a:lnTo>
                  <a:lnTo>
                    <a:pt x="30" y="59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3" name="Freeform 488"/>
            <p:cNvSpPr>
              <a:spLocks/>
            </p:cNvSpPr>
            <p:nvPr/>
          </p:nvSpPr>
          <p:spPr bwMode="auto">
            <a:xfrm>
              <a:off x="2978" y="460"/>
              <a:ext cx="24" cy="24"/>
            </a:xfrm>
            <a:custGeom>
              <a:avLst/>
              <a:gdLst>
                <a:gd name="T0" fmla="*/ 40 w 72"/>
                <a:gd name="T1" fmla="*/ 73 h 73"/>
                <a:gd name="T2" fmla="*/ 46 w 72"/>
                <a:gd name="T3" fmla="*/ 73 h 73"/>
                <a:gd name="T4" fmla="*/ 50 w 72"/>
                <a:gd name="T5" fmla="*/ 70 h 73"/>
                <a:gd name="T6" fmla="*/ 54 w 72"/>
                <a:gd name="T7" fmla="*/ 68 h 73"/>
                <a:gd name="T8" fmla="*/ 59 w 72"/>
                <a:gd name="T9" fmla="*/ 65 h 73"/>
                <a:gd name="T10" fmla="*/ 63 w 72"/>
                <a:gd name="T11" fmla="*/ 61 h 73"/>
                <a:gd name="T12" fmla="*/ 66 w 72"/>
                <a:gd name="T13" fmla="*/ 58 h 73"/>
                <a:gd name="T14" fmla="*/ 69 w 72"/>
                <a:gd name="T15" fmla="*/ 52 h 73"/>
                <a:gd name="T16" fmla="*/ 71 w 72"/>
                <a:gd name="T17" fmla="*/ 48 h 73"/>
                <a:gd name="T18" fmla="*/ 72 w 72"/>
                <a:gd name="T19" fmla="*/ 43 h 73"/>
                <a:gd name="T20" fmla="*/ 72 w 72"/>
                <a:gd name="T21" fmla="*/ 37 h 73"/>
                <a:gd name="T22" fmla="*/ 72 w 72"/>
                <a:gd name="T23" fmla="*/ 33 h 73"/>
                <a:gd name="T24" fmla="*/ 71 w 72"/>
                <a:gd name="T25" fmla="*/ 28 h 73"/>
                <a:gd name="T26" fmla="*/ 69 w 72"/>
                <a:gd name="T27" fmla="*/ 22 h 73"/>
                <a:gd name="T28" fmla="*/ 68 w 72"/>
                <a:gd name="T29" fmla="*/ 18 h 73"/>
                <a:gd name="T30" fmla="*/ 65 w 72"/>
                <a:gd name="T31" fmla="*/ 14 h 73"/>
                <a:gd name="T32" fmla="*/ 60 w 72"/>
                <a:gd name="T33" fmla="*/ 11 h 73"/>
                <a:gd name="T34" fmla="*/ 56 w 72"/>
                <a:gd name="T35" fmla="*/ 8 h 73"/>
                <a:gd name="T36" fmla="*/ 51 w 72"/>
                <a:gd name="T37" fmla="*/ 5 h 73"/>
                <a:gd name="T38" fmla="*/ 47 w 72"/>
                <a:gd name="T39" fmla="*/ 3 h 73"/>
                <a:gd name="T40" fmla="*/ 41 w 72"/>
                <a:gd name="T41" fmla="*/ 2 h 73"/>
                <a:gd name="T42" fmla="*/ 37 w 72"/>
                <a:gd name="T43" fmla="*/ 0 h 73"/>
                <a:gd name="T44" fmla="*/ 32 w 72"/>
                <a:gd name="T45" fmla="*/ 2 h 73"/>
                <a:gd name="T46" fmla="*/ 28 w 72"/>
                <a:gd name="T47" fmla="*/ 2 h 73"/>
                <a:gd name="T48" fmla="*/ 22 w 72"/>
                <a:gd name="T49" fmla="*/ 3 h 73"/>
                <a:gd name="T50" fmla="*/ 17 w 72"/>
                <a:gd name="T51" fmla="*/ 6 h 73"/>
                <a:gd name="T52" fmla="*/ 13 w 72"/>
                <a:gd name="T53" fmla="*/ 9 h 73"/>
                <a:gd name="T54" fmla="*/ 10 w 72"/>
                <a:gd name="T55" fmla="*/ 12 h 73"/>
                <a:gd name="T56" fmla="*/ 6 w 72"/>
                <a:gd name="T57" fmla="*/ 17 h 73"/>
                <a:gd name="T58" fmla="*/ 4 w 72"/>
                <a:gd name="T59" fmla="*/ 21 h 73"/>
                <a:gd name="T60" fmla="*/ 1 w 72"/>
                <a:gd name="T61" fmla="*/ 27 h 73"/>
                <a:gd name="T62" fmla="*/ 1 w 72"/>
                <a:gd name="T63" fmla="*/ 31 h 73"/>
                <a:gd name="T64" fmla="*/ 0 w 72"/>
                <a:gd name="T65" fmla="*/ 37 h 73"/>
                <a:gd name="T66" fmla="*/ 0 w 72"/>
                <a:gd name="T67" fmla="*/ 40 h 73"/>
                <a:gd name="T68" fmla="*/ 1 w 72"/>
                <a:gd name="T69" fmla="*/ 46 h 73"/>
                <a:gd name="T70" fmla="*/ 3 w 72"/>
                <a:gd name="T71" fmla="*/ 51 h 73"/>
                <a:gd name="T72" fmla="*/ 6 w 72"/>
                <a:gd name="T73" fmla="*/ 57 h 73"/>
                <a:gd name="T74" fmla="*/ 9 w 72"/>
                <a:gd name="T75" fmla="*/ 59 h 73"/>
                <a:gd name="T76" fmla="*/ 11 w 72"/>
                <a:gd name="T77" fmla="*/ 64 h 73"/>
                <a:gd name="T78" fmla="*/ 16 w 72"/>
                <a:gd name="T79" fmla="*/ 67 h 73"/>
                <a:gd name="T80" fmla="*/ 20 w 72"/>
                <a:gd name="T81" fmla="*/ 70 h 73"/>
                <a:gd name="T82" fmla="*/ 25 w 72"/>
                <a:gd name="T83" fmla="*/ 71 h 73"/>
                <a:gd name="T84" fmla="*/ 31 w 72"/>
                <a:gd name="T85" fmla="*/ 73 h 73"/>
                <a:gd name="T86" fmla="*/ 37 w 72"/>
                <a:gd name="T8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73">
                  <a:moveTo>
                    <a:pt x="37" y="73"/>
                  </a:moveTo>
                  <a:lnTo>
                    <a:pt x="38" y="73"/>
                  </a:lnTo>
                  <a:lnTo>
                    <a:pt x="40" y="73"/>
                  </a:lnTo>
                  <a:lnTo>
                    <a:pt x="41" y="73"/>
                  </a:lnTo>
                  <a:lnTo>
                    <a:pt x="44" y="73"/>
                  </a:lnTo>
                  <a:lnTo>
                    <a:pt x="46" y="73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70"/>
                  </a:lnTo>
                  <a:lnTo>
                    <a:pt x="51" y="70"/>
                  </a:lnTo>
                  <a:lnTo>
                    <a:pt x="53" y="68"/>
                  </a:lnTo>
                  <a:lnTo>
                    <a:pt x="54" y="68"/>
                  </a:lnTo>
                  <a:lnTo>
                    <a:pt x="56" y="67"/>
                  </a:lnTo>
                  <a:lnTo>
                    <a:pt x="57" y="65"/>
                  </a:lnTo>
                  <a:lnTo>
                    <a:pt x="59" y="65"/>
                  </a:lnTo>
                  <a:lnTo>
                    <a:pt x="60" y="64"/>
                  </a:lnTo>
                  <a:lnTo>
                    <a:pt x="62" y="62"/>
                  </a:lnTo>
                  <a:lnTo>
                    <a:pt x="63" y="61"/>
                  </a:lnTo>
                  <a:lnTo>
                    <a:pt x="65" y="59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8" y="57"/>
                  </a:lnTo>
                  <a:lnTo>
                    <a:pt x="68" y="55"/>
                  </a:lnTo>
                  <a:lnTo>
                    <a:pt x="69" y="52"/>
                  </a:lnTo>
                  <a:lnTo>
                    <a:pt x="69" y="51"/>
                  </a:lnTo>
                  <a:lnTo>
                    <a:pt x="71" y="49"/>
                  </a:lnTo>
                  <a:lnTo>
                    <a:pt x="71" y="48"/>
                  </a:lnTo>
                  <a:lnTo>
                    <a:pt x="71" y="46"/>
                  </a:lnTo>
                  <a:lnTo>
                    <a:pt x="72" y="45"/>
                  </a:lnTo>
                  <a:lnTo>
                    <a:pt x="72" y="43"/>
                  </a:lnTo>
                  <a:lnTo>
                    <a:pt x="72" y="40"/>
                  </a:lnTo>
                  <a:lnTo>
                    <a:pt x="72" y="39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6"/>
                  </a:lnTo>
                  <a:lnTo>
                    <a:pt x="72" y="33"/>
                  </a:lnTo>
                  <a:lnTo>
                    <a:pt x="72" y="31"/>
                  </a:lnTo>
                  <a:lnTo>
                    <a:pt x="72" y="30"/>
                  </a:lnTo>
                  <a:lnTo>
                    <a:pt x="71" y="28"/>
                  </a:lnTo>
                  <a:lnTo>
                    <a:pt x="71" y="27"/>
                  </a:lnTo>
                  <a:lnTo>
                    <a:pt x="71" y="25"/>
                  </a:lnTo>
                  <a:lnTo>
                    <a:pt x="69" y="22"/>
                  </a:lnTo>
                  <a:lnTo>
                    <a:pt x="69" y="21"/>
                  </a:lnTo>
                  <a:lnTo>
                    <a:pt x="68" y="20"/>
                  </a:lnTo>
                  <a:lnTo>
                    <a:pt x="68" y="18"/>
                  </a:lnTo>
                  <a:lnTo>
                    <a:pt x="66" y="17"/>
                  </a:lnTo>
                  <a:lnTo>
                    <a:pt x="65" y="15"/>
                  </a:lnTo>
                  <a:lnTo>
                    <a:pt x="65" y="14"/>
                  </a:lnTo>
                  <a:lnTo>
                    <a:pt x="63" y="12"/>
                  </a:lnTo>
                  <a:lnTo>
                    <a:pt x="62" y="12"/>
                  </a:lnTo>
                  <a:lnTo>
                    <a:pt x="60" y="11"/>
                  </a:lnTo>
                  <a:lnTo>
                    <a:pt x="59" y="9"/>
                  </a:lnTo>
                  <a:lnTo>
                    <a:pt x="57" y="8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53" y="5"/>
                  </a:lnTo>
                  <a:lnTo>
                    <a:pt x="51" y="5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2"/>
                  </a:lnTo>
                  <a:lnTo>
                    <a:pt x="44" y="2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5" y="3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5"/>
                  </a:lnTo>
                  <a:lnTo>
                    <a:pt x="19" y="5"/>
                  </a:lnTo>
                  <a:lnTo>
                    <a:pt x="17" y="6"/>
                  </a:lnTo>
                  <a:lnTo>
                    <a:pt x="16" y="8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9" y="14"/>
                  </a:lnTo>
                  <a:lnTo>
                    <a:pt x="7" y="15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4" y="52"/>
                  </a:lnTo>
                  <a:lnTo>
                    <a:pt x="4" y="55"/>
                  </a:lnTo>
                  <a:lnTo>
                    <a:pt x="6" y="57"/>
                  </a:lnTo>
                  <a:lnTo>
                    <a:pt x="6" y="58"/>
                  </a:lnTo>
                  <a:lnTo>
                    <a:pt x="7" y="58"/>
                  </a:lnTo>
                  <a:lnTo>
                    <a:pt x="9" y="59"/>
                  </a:lnTo>
                  <a:lnTo>
                    <a:pt x="10" y="61"/>
                  </a:lnTo>
                  <a:lnTo>
                    <a:pt x="10" y="62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6" y="67"/>
                  </a:lnTo>
                  <a:lnTo>
                    <a:pt x="17" y="68"/>
                  </a:lnTo>
                  <a:lnTo>
                    <a:pt x="19" y="68"/>
                  </a:lnTo>
                  <a:lnTo>
                    <a:pt x="20" y="70"/>
                  </a:lnTo>
                  <a:lnTo>
                    <a:pt x="22" y="70"/>
                  </a:lnTo>
                  <a:lnTo>
                    <a:pt x="23" y="71"/>
                  </a:lnTo>
                  <a:lnTo>
                    <a:pt x="25" y="71"/>
                  </a:lnTo>
                  <a:lnTo>
                    <a:pt x="28" y="73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4" y="73"/>
                  </a:lnTo>
                  <a:lnTo>
                    <a:pt x="37" y="7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4" name="Freeform 489"/>
            <p:cNvSpPr>
              <a:spLocks/>
            </p:cNvSpPr>
            <p:nvPr/>
          </p:nvSpPr>
          <p:spPr bwMode="auto">
            <a:xfrm>
              <a:off x="2983" y="408"/>
              <a:ext cx="20" cy="20"/>
            </a:xfrm>
            <a:custGeom>
              <a:avLst/>
              <a:gdLst>
                <a:gd name="T0" fmla="*/ 33 w 60"/>
                <a:gd name="T1" fmla="*/ 59 h 59"/>
                <a:gd name="T2" fmla="*/ 37 w 60"/>
                <a:gd name="T3" fmla="*/ 58 h 59"/>
                <a:gd name="T4" fmla="*/ 40 w 60"/>
                <a:gd name="T5" fmla="*/ 56 h 59"/>
                <a:gd name="T6" fmla="*/ 45 w 60"/>
                <a:gd name="T7" fmla="*/ 55 h 59"/>
                <a:gd name="T8" fmla="*/ 48 w 60"/>
                <a:gd name="T9" fmla="*/ 54 h 59"/>
                <a:gd name="T10" fmla="*/ 52 w 60"/>
                <a:gd name="T11" fmla="*/ 51 h 59"/>
                <a:gd name="T12" fmla="*/ 55 w 60"/>
                <a:gd name="T13" fmla="*/ 48 h 59"/>
                <a:gd name="T14" fmla="*/ 57 w 60"/>
                <a:gd name="T15" fmla="*/ 43 h 59"/>
                <a:gd name="T16" fmla="*/ 58 w 60"/>
                <a:gd name="T17" fmla="*/ 40 h 59"/>
                <a:gd name="T18" fmla="*/ 60 w 60"/>
                <a:gd name="T19" fmla="*/ 36 h 59"/>
                <a:gd name="T20" fmla="*/ 60 w 60"/>
                <a:gd name="T21" fmla="*/ 31 h 59"/>
                <a:gd name="T22" fmla="*/ 60 w 60"/>
                <a:gd name="T23" fmla="*/ 28 h 59"/>
                <a:gd name="T24" fmla="*/ 60 w 60"/>
                <a:gd name="T25" fmla="*/ 24 h 59"/>
                <a:gd name="T26" fmla="*/ 58 w 60"/>
                <a:gd name="T27" fmla="*/ 19 h 59"/>
                <a:gd name="T28" fmla="*/ 57 w 60"/>
                <a:gd name="T29" fmla="*/ 15 h 59"/>
                <a:gd name="T30" fmla="*/ 55 w 60"/>
                <a:gd name="T31" fmla="*/ 12 h 59"/>
                <a:gd name="T32" fmla="*/ 52 w 60"/>
                <a:gd name="T33" fmla="*/ 9 h 59"/>
                <a:gd name="T34" fmla="*/ 48 w 60"/>
                <a:gd name="T35" fmla="*/ 6 h 59"/>
                <a:gd name="T36" fmla="*/ 45 w 60"/>
                <a:gd name="T37" fmla="*/ 3 h 59"/>
                <a:gd name="T38" fmla="*/ 40 w 60"/>
                <a:gd name="T39" fmla="*/ 2 h 59"/>
                <a:gd name="T40" fmla="*/ 37 w 60"/>
                <a:gd name="T41" fmla="*/ 0 h 59"/>
                <a:gd name="T42" fmla="*/ 33 w 60"/>
                <a:gd name="T43" fmla="*/ 0 h 59"/>
                <a:gd name="T44" fmla="*/ 29 w 60"/>
                <a:gd name="T45" fmla="*/ 0 h 59"/>
                <a:gd name="T46" fmla="*/ 24 w 60"/>
                <a:gd name="T47" fmla="*/ 0 h 59"/>
                <a:gd name="T48" fmla="*/ 21 w 60"/>
                <a:gd name="T49" fmla="*/ 2 h 59"/>
                <a:gd name="T50" fmla="*/ 17 w 60"/>
                <a:gd name="T51" fmla="*/ 3 h 59"/>
                <a:gd name="T52" fmla="*/ 14 w 60"/>
                <a:gd name="T53" fmla="*/ 6 h 59"/>
                <a:gd name="T54" fmla="*/ 9 w 60"/>
                <a:gd name="T55" fmla="*/ 9 h 59"/>
                <a:gd name="T56" fmla="*/ 6 w 60"/>
                <a:gd name="T57" fmla="*/ 12 h 59"/>
                <a:gd name="T58" fmla="*/ 5 w 60"/>
                <a:gd name="T59" fmla="*/ 15 h 59"/>
                <a:gd name="T60" fmla="*/ 3 w 60"/>
                <a:gd name="T61" fmla="*/ 19 h 59"/>
                <a:gd name="T62" fmla="*/ 2 w 60"/>
                <a:gd name="T63" fmla="*/ 24 h 59"/>
                <a:gd name="T64" fmla="*/ 2 w 60"/>
                <a:gd name="T65" fmla="*/ 28 h 59"/>
                <a:gd name="T66" fmla="*/ 2 w 60"/>
                <a:gd name="T67" fmla="*/ 31 h 59"/>
                <a:gd name="T68" fmla="*/ 2 w 60"/>
                <a:gd name="T69" fmla="*/ 36 h 59"/>
                <a:gd name="T70" fmla="*/ 3 w 60"/>
                <a:gd name="T71" fmla="*/ 40 h 59"/>
                <a:gd name="T72" fmla="*/ 5 w 60"/>
                <a:gd name="T73" fmla="*/ 43 h 59"/>
                <a:gd name="T74" fmla="*/ 6 w 60"/>
                <a:gd name="T75" fmla="*/ 48 h 59"/>
                <a:gd name="T76" fmla="*/ 9 w 60"/>
                <a:gd name="T77" fmla="*/ 51 h 59"/>
                <a:gd name="T78" fmla="*/ 14 w 60"/>
                <a:gd name="T79" fmla="*/ 54 h 59"/>
                <a:gd name="T80" fmla="*/ 17 w 60"/>
                <a:gd name="T81" fmla="*/ 55 h 59"/>
                <a:gd name="T82" fmla="*/ 21 w 60"/>
                <a:gd name="T83" fmla="*/ 56 h 59"/>
                <a:gd name="T84" fmla="*/ 24 w 60"/>
                <a:gd name="T85" fmla="*/ 58 h 59"/>
                <a:gd name="T86" fmla="*/ 29 w 60"/>
                <a:gd name="T87" fmla="*/ 59 h 59"/>
                <a:gd name="T88" fmla="*/ 30 w 60"/>
                <a:gd name="T8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6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5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2" y="51"/>
                  </a:lnTo>
                  <a:lnTo>
                    <a:pt x="52" y="49"/>
                  </a:lnTo>
                  <a:lnTo>
                    <a:pt x="54" y="48"/>
                  </a:lnTo>
                  <a:lnTo>
                    <a:pt x="55" y="48"/>
                  </a:lnTo>
                  <a:lnTo>
                    <a:pt x="55" y="46"/>
                  </a:lnTo>
                  <a:lnTo>
                    <a:pt x="57" y="45"/>
                  </a:lnTo>
                  <a:lnTo>
                    <a:pt x="57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60" y="39"/>
                  </a:lnTo>
                  <a:lnTo>
                    <a:pt x="60" y="37"/>
                  </a:lnTo>
                  <a:lnTo>
                    <a:pt x="60" y="36"/>
                  </a:lnTo>
                  <a:lnTo>
                    <a:pt x="60" y="34"/>
                  </a:lnTo>
                  <a:lnTo>
                    <a:pt x="60" y="33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60" y="22"/>
                  </a:lnTo>
                  <a:lnTo>
                    <a:pt x="60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8" y="17"/>
                  </a:lnTo>
                  <a:lnTo>
                    <a:pt x="57" y="15"/>
                  </a:lnTo>
                  <a:lnTo>
                    <a:pt x="57" y="14"/>
                  </a:lnTo>
                  <a:lnTo>
                    <a:pt x="55" y="14"/>
                  </a:lnTo>
                  <a:lnTo>
                    <a:pt x="55" y="12"/>
                  </a:lnTo>
                  <a:lnTo>
                    <a:pt x="54" y="11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8" y="5"/>
                  </a:lnTo>
                  <a:lnTo>
                    <a:pt x="46" y="5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39" y="2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9" y="9"/>
                  </a:lnTo>
                  <a:lnTo>
                    <a:pt x="9" y="9"/>
                  </a:lnTo>
                  <a:lnTo>
                    <a:pt x="8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5" y="43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8" y="48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1" y="52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1" y="56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9"/>
                  </a:lnTo>
                  <a:lnTo>
                    <a:pt x="29" y="59"/>
                  </a:lnTo>
                  <a:lnTo>
                    <a:pt x="30" y="59"/>
                  </a:lnTo>
                  <a:lnTo>
                    <a:pt x="30" y="59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5" name="Freeform 490"/>
            <p:cNvSpPr>
              <a:spLocks/>
            </p:cNvSpPr>
            <p:nvPr/>
          </p:nvSpPr>
          <p:spPr bwMode="auto">
            <a:xfrm>
              <a:off x="2978" y="402"/>
              <a:ext cx="24" cy="24"/>
            </a:xfrm>
            <a:custGeom>
              <a:avLst/>
              <a:gdLst>
                <a:gd name="T0" fmla="*/ 40 w 72"/>
                <a:gd name="T1" fmla="*/ 73 h 73"/>
                <a:gd name="T2" fmla="*/ 46 w 72"/>
                <a:gd name="T3" fmla="*/ 73 h 73"/>
                <a:gd name="T4" fmla="*/ 50 w 72"/>
                <a:gd name="T5" fmla="*/ 70 h 73"/>
                <a:gd name="T6" fmla="*/ 54 w 72"/>
                <a:gd name="T7" fmla="*/ 68 h 73"/>
                <a:gd name="T8" fmla="*/ 59 w 72"/>
                <a:gd name="T9" fmla="*/ 65 h 73"/>
                <a:gd name="T10" fmla="*/ 63 w 72"/>
                <a:gd name="T11" fmla="*/ 61 h 73"/>
                <a:gd name="T12" fmla="*/ 66 w 72"/>
                <a:gd name="T13" fmla="*/ 58 h 73"/>
                <a:gd name="T14" fmla="*/ 69 w 72"/>
                <a:gd name="T15" fmla="*/ 52 h 73"/>
                <a:gd name="T16" fmla="*/ 71 w 72"/>
                <a:gd name="T17" fmla="*/ 47 h 73"/>
                <a:gd name="T18" fmla="*/ 72 w 72"/>
                <a:gd name="T19" fmla="*/ 43 h 73"/>
                <a:gd name="T20" fmla="*/ 72 w 72"/>
                <a:gd name="T21" fmla="*/ 37 h 73"/>
                <a:gd name="T22" fmla="*/ 72 w 72"/>
                <a:gd name="T23" fmla="*/ 33 h 73"/>
                <a:gd name="T24" fmla="*/ 71 w 72"/>
                <a:gd name="T25" fmla="*/ 28 h 73"/>
                <a:gd name="T26" fmla="*/ 69 w 72"/>
                <a:gd name="T27" fmla="*/ 22 h 73"/>
                <a:gd name="T28" fmla="*/ 68 w 72"/>
                <a:gd name="T29" fmla="*/ 18 h 73"/>
                <a:gd name="T30" fmla="*/ 65 w 72"/>
                <a:gd name="T31" fmla="*/ 13 h 73"/>
                <a:gd name="T32" fmla="*/ 60 w 72"/>
                <a:gd name="T33" fmla="*/ 10 h 73"/>
                <a:gd name="T34" fmla="*/ 56 w 72"/>
                <a:gd name="T35" fmla="*/ 7 h 73"/>
                <a:gd name="T36" fmla="*/ 51 w 72"/>
                <a:gd name="T37" fmla="*/ 4 h 73"/>
                <a:gd name="T38" fmla="*/ 47 w 72"/>
                <a:gd name="T39" fmla="*/ 3 h 73"/>
                <a:gd name="T40" fmla="*/ 41 w 72"/>
                <a:gd name="T41" fmla="*/ 1 h 73"/>
                <a:gd name="T42" fmla="*/ 37 w 72"/>
                <a:gd name="T43" fmla="*/ 0 h 73"/>
                <a:gd name="T44" fmla="*/ 32 w 72"/>
                <a:gd name="T45" fmla="*/ 1 h 73"/>
                <a:gd name="T46" fmla="*/ 28 w 72"/>
                <a:gd name="T47" fmla="*/ 1 h 73"/>
                <a:gd name="T48" fmla="*/ 22 w 72"/>
                <a:gd name="T49" fmla="*/ 3 h 73"/>
                <a:gd name="T50" fmla="*/ 17 w 72"/>
                <a:gd name="T51" fmla="*/ 6 h 73"/>
                <a:gd name="T52" fmla="*/ 13 w 72"/>
                <a:gd name="T53" fmla="*/ 9 h 73"/>
                <a:gd name="T54" fmla="*/ 10 w 72"/>
                <a:gd name="T55" fmla="*/ 12 h 73"/>
                <a:gd name="T56" fmla="*/ 6 w 72"/>
                <a:gd name="T57" fmla="*/ 16 h 73"/>
                <a:gd name="T58" fmla="*/ 4 w 72"/>
                <a:gd name="T59" fmla="*/ 21 h 73"/>
                <a:gd name="T60" fmla="*/ 1 w 72"/>
                <a:gd name="T61" fmla="*/ 27 h 73"/>
                <a:gd name="T62" fmla="*/ 1 w 72"/>
                <a:gd name="T63" fmla="*/ 31 h 73"/>
                <a:gd name="T64" fmla="*/ 0 w 72"/>
                <a:gd name="T65" fmla="*/ 37 h 73"/>
                <a:gd name="T66" fmla="*/ 0 w 72"/>
                <a:gd name="T67" fmla="*/ 40 h 73"/>
                <a:gd name="T68" fmla="*/ 1 w 72"/>
                <a:gd name="T69" fmla="*/ 46 h 73"/>
                <a:gd name="T70" fmla="*/ 3 w 72"/>
                <a:gd name="T71" fmla="*/ 50 h 73"/>
                <a:gd name="T72" fmla="*/ 6 w 72"/>
                <a:gd name="T73" fmla="*/ 56 h 73"/>
                <a:gd name="T74" fmla="*/ 9 w 72"/>
                <a:gd name="T75" fmla="*/ 59 h 73"/>
                <a:gd name="T76" fmla="*/ 11 w 72"/>
                <a:gd name="T77" fmla="*/ 64 h 73"/>
                <a:gd name="T78" fmla="*/ 16 w 72"/>
                <a:gd name="T79" fmla="*/ 67 h 73"/>
                <a:gd name="T80" fmla="*/ 20 w 72"/>
                <a:gd name="T81" fmla="*/ 70 h 73"/>
                <a:gd name="T82" fmla="*/ 25 w 72"/>
                <a:gd name="T83" fmla="*/ 71 h 73"/>
                <a:gd name="T84" fmla="*/ 31 w 72"/>
                <a:gd name="T85" fmla="*/ 73 h 73"/>
                <a:gd name="T86" fmla="*/ 37 w 72"/>
                <a:gd name="T8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73">
                  <a:moveTo>
                    <a:pt x="37" y="73"/>
                  </a:moveTo>
                  <a:lnTo>
                    <a:pt x="38" y="73"/>
                  </a:lnTo>
                  <a:lnTo>
                    <a:pt x="40" y="73"/>
                  </a:lnTo>
                  <a:lnTo>
                    <a:pt x="41" y="73"/>
                  </a:lnTo>
                  <a:lnTo>
                    <a:pt x="44" y="73"/>
                  </a:lnTo>
                  <a:lnTo>
                    <a:pt x="46" y="73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70"/>
                  </a:lnTo>
                  <a:lnTo>
                    <a:pt x="51" y="70"/>
                  </a:lnTo>
                  <a:lnTo>
                    <a:pt x="53" y="68"/>
                  </a:lnTo>
                  <a:lnTo>
                    <a:pt x="54" y="68"/>
                  </a:lnTo>
                  <a:lnTo>
                    <a:pt x="56" y="67"/>
                  </a:lnTo>
                  <a:lnTo>
                    <a:pt x="57" y="65"/>
                  </a:lnTo>
                  <a:lnTo>
                    <a:pt x="59" y="65"/>
                  </a:lnTo>
                  <a:lnTo>
                    <a:pt x="60" y="64"/>
                  </a:lnTo>
                  <a:lnTo>
                    <a:pt x="62" y="62"/>
                  </a:lnTo>
                  <a:lnTo>
                    <a:pt x="63" y="61"/>
                  </a:lnTo>
                  <a:lnTo>
                    <a:pt x="65" y="59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8" y="56"/>
                  </a:lnTo>
                  <a:lnTo>
                    <a:pt x="68" y="55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9"/>
                  </a:lnTo>
                  <a:lnTo>
                    <a:pt x="71" y="47"/>
                  </a:lnTo>
                  <a:lnTo>
                    <a:pt x="71" y="46"/>
                  </a:lnTo>
                  <a:lnTo>
                    <a:pt x="72" y="44"/>
                  </a:lnTo>
                  <a:lnTo>
                    <a:pt x="72" y="43"/>
                  </a:lnTo>
                  <a:lnTo>
                    <a:pt x="72" y="40"/>
                  </a:lnTo>
                  <a:lnTo>
                    <a:pt x="72" y="38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6"/>
                  </a:lnTo>
                  <a:lnTo>
                    <a:pt x="72" y="33"/>
                  </a:lnTo>
                  <a:lnTo>
                    <a:pt x="72" y="31"/>
                  </a:lnTo>
                  <a:lnTo>
                    <a:pt x="72" y="30"/>
                  </a:lnTo>
                  <a:lnTo>
                    <a:pt x="71" y="28"/>
                  </a:lnTo>
                  <a:lnTo>
                    <a:pt x="71" y="27"/>
                  </a:lnTo>
                  <a:lnTo>
                    <a:pt x="71" y="25"/>
                  </a:lnTo>
                  <a:lnTo>
                    <a:pt x="69" y="22"/>
                  </a:lnTo>
                  <a:lnTo>
                    <a:pt x="69" y="21"/>
                  </a:lnTo>
                  <a:lnTo>
                    <a:pt x="68" y="19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5" y="15"/>
                  </a:lnTo>
                  <a:lnTo>
                    <a:pt x="65" y="13"/>
                  </a:lnTo>
                  <a:lnTo>
                    <a:pt x="63" y="12"/>
                  </a:lnTo>
                  <a:lnTo>
                    <a:pt x="62" y="12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6" y="7"/>
                  </a:lnTo>
                  <a:lnTo>
                    <a:pt x="54" y="6"/>
                  </a:lnTo>
                  <a:lnTo>
                    <a:pt x="53" y="4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5" y="3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7" y="6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4" y="55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7" y="58"/>
                  </a:lnTo>
                  <a:lnTo>
                    <a:pt x="9" y="59"/>
                  </a:lnTo>
                  <a:lnTo>
                    <a:pt x="10" y="61"/>
                  </a:lnTo>
                  <a:lnTo>
                    <a:pt x="10" y="62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6" y="67"/>
                  </a:lnTo>
                  <a:lnTo>
                    <a:pt x="17" y="68"/>
                  </a:lnTo>
                  <a:lnTo>
                    <a:pt x="19" y="68"/>
                  </a:lnTo>
                  <a:lnTo>
                    <a:pt x="20" y="70"/>
                  </a:lnTo>
                  <a:lnTo>
                    <a:pt x="22" y="70"/>
                  </a:lnTo>
                  <a:lnTo>
                    <a:pt x="23" y="71"/>
                  </a:lnTo>
                  <a:lnTo>
                    <a:pt x="25" y="71"/>
                  </a:lnTo>
                  <a:lnTo>
                    <a:pt x="28" y="73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4" y="73"/>
                  </a:lnTo>
                  <a:lnTo>
                    <a:pt x="37" y="7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6" name="Freeform 491"/>
            <p:cNvSpPr>
              <a:spLocks/>
            </p:cNvSpPr>
            <p:nvPr/>
          </p:nvSpPr>
          <p:spPr bwMode="auto">
            <a:xfrm>
              <a:off x="2983" y="349"/>
              <a:ext cx="20" cy="20"/>
            </a:xfrm>
            <a:custGeom>
              <a:avLst/>
              <a:gdLst>
                <a:gd name="T0" fmla="*/ 33 w 60"/>
                <a:gd name="T1" fmla="*/ 59 h 59"/>
                <a:gd name="T2" fmla="*/ 37 w 60"/>
                <a:gd name="T3" fmla="*/ 57 h 59"/>
                <a:gd name="T4" fmla="*/ 40 w 60"/>
                <a:gd name="T5" fmla="*/ 56 h 59"/>
                <a:gd name="T6" fmla="*/ 45 w 60"/>
                <a:gd name="T7" fmla="*/ 54 h 59"/>
                <a:gd name="T8" fmla="*/ 48 w 60"/>
                <a:gd name="T9" fmla="*/ 53 h 59"/>
                <a:gd name="T10" fmla="*/ 52 w 60"/>
                <a:gd name="T11" fmla="*/ 50 h 59"/>
                <a:gd name="T12" fmla="*/ 55 w 60"/>
                <a:gd name="T13" fmla="*/ 47 h 59"/>
                <a:gd name="T14" fmla="*/ 57 w 60"/>
                <a:gd name="T15" fmla="*/ 43 h 59"/>
                <a:gd name="T16" fmla="*/ 58 w 60"/>
                <a:gd name="T17" fmla="*/ 40 h 59"/>
                <a:gd name="T18" fmla="*/ 60 w 60"/>
                <a:gd name="T19" fmla="*/ 35 h 59"/>
                <a:gd name="T20" fmla="*/ 60 w 60"/>
                <a:gd name="T21" fmla="*/ 31 h 59"/>
                <a:gd name="T22" fmla="*/ 60 w 60"/>
                <a:gd name="T23" fmla="*/ 28 h 59"/>
                <a:gd name="T24" fmla="*/ 60 w 60"/>
                <a:gd name="T25" fmla="*/ 23 h 59"/>
                <a:gd name="T26" fmla="*/ 58 w 60"/>
                <a:gd name="T27" fmla="*/ 19 h 59"/>
                <a:gd name="T28" fmla="*/ 57 w 60"/>
                <a:gd name="T29" fmla="*/ 14 h 59"/>
                <a:gd name="T30" fmla="*/ 55 w 60"/>
                <a:gd name="T31" fmla="*/ 11 h 59"/>
                <a:gd name="T32" fmla="*/ 52 w 60"/>
                <a:gd name="T33" fmla="*/ 8 h 59"/>
                <a:gd name="T34" fmla="*/ 48 w 60"/>
                <a:gd name="T35" fmla="*/ 5 h 59"/>
                <a:gd name="T36" fmla="*/ 45 w 60"/>
                <a:gd name="T37" fmla="*/ 3 h 59"/>
                <a:gd name="T38" fmla="*/ 40 w 60"/>
                <a:gd name="T39" fmla="*/ 1 h 59"/>
                <a:gd name="T40" fmla="*/ 37 w 60"/>
                <a:gd name="T41" fmla="*/ 0 h 59"/>
                <a:gd name="T42" fmla="*/ 33 w 60"/>
                <a:gd name="T43" fmla="*/ 0 h 59"/>
                <a:gd name="T44" fmla="*/ 29 w 60"/>
                <a:gd name="T45" fmla="*/ 0 h 59"/>
                <a:gd name="T46" fmla="*/ 24 w 60"/>
                <a:gd name="T47" fmla="*/ 0 h 59"/>
                <a:gd name="T48" fmla="*/ 21 w 60"/>
                <a:gd name="T49" fmla="*/ 1 h 59"/>
                <a:gd name="T50" fmla="*/ 17 w 60"/>
                <a:gd name="T51" fmla="*/ 3 h 59"/>
                <a:gd name="T52" fmla="*/ 14 w 60"/>
                <a:gd name="T53" fmla="*/ 5 h 59"/>
                <a:gd name="T54" fmla="*/ 9 w 60"/>
                <a:gd name="T55" fmla="*/ 8 h 59"/>
                <a:gd name="T56" fmla="*/ 6 w 60"/>
                <a:gd name="T57" fmla="*/ 11 h 59"/>
                <a:gd name="T58" fmla="*/ 5 w 60"/>
                <a:gd name="T59" fmla="*/ 14 h 59"/>
                <a:gd name="T60" fmla="*/ 3 w 60"/>
                <a:gd name="T61" fmla="*/ 19 h 59"/>
                <a:gd name="T62" fmla="*/ 2 w 60"/>
                <a:gd name="T63" fmla="*/ 23 h 59"/>
                <a:gd name="T64" fmla="*/ 2 w 60"/>
                <a:gd name="T65" fmla="*/ 28 h 59"/>
                <a:gd name="T66" fmla="*/ 2 w 60"/>
                <a:gd name="T67" fmla="*/ 31 h 59"/>
                <a:gd name="T68" fmla="*/ 2 w 60"/>
                <a:gd name="T69" fmla="*/ 35 h 59"/>
                <a:gd name="T70" fmla="*/ 3 w 60"/>
                <a:gd name="T71" fmla="*/ 40 h 59"/>
                <a:gd name="T72" fmla="*/ 5 w 60"/>
                <a:gd name="T73" fmla="*/ 43 h 59"/>
                <a:gd name="T74" fmla="*/ 6 w 60"/>
                <a:gd name="T75" fmla="*/ 47 h 59"/>
                <a:gd name="T76" fmla="*/ 9 w 60"/>
                <a:gd name="T77" fmla="*/ 50 h 59"/>
                <a:gd name="T78" fmla="*/ 14 w 60"/>
                <a:gd name="T79" fmla="*/ 53 h 59"/>
                <a:gd name="T80" fmla="*/ 17 w 60"/>
                <a:gd name="T81" fmla="*/ 54 h 59"/>
                <a:gd name="T82" fmla="*/ 21 w 60"/>
                <a:gd name="T83" fmla="*/ 56 h 59"/>
                <a:gd name="T84" fmla="*/ 24 w 60"/>
                <a:gd name="T85" fmla="*/ 57 h 59"/>
                <a:gd name="T86" fmla="*/ 29 w 60"/>
                <a:gd name="T87" fmla="*/ 59 h 59"/>
                <a:gd name="T88" fmla="*/ 30 w 60"/>
                <a:gd name="T89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7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39" y="57"/>
                  </a:lnTo>
                  <a:lnTo>
                    <a:pt x="40" y="56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4"/>
                  </a:lnTo>
                  <a:lnTo>
                    <a:pt x="46" y="54"/>
                  </a:lnTo>
                  <a:lnTo>
                    <a:pt x="48" y="53"/>
                  </a:lnTo>
                  <a:lnTo>
                    <a:pt x="48" y="53"/>
                  </a:lnTo>
                  <a:lnTo>
                    <a:pt x="49" y="51"/>
                  </a:lnTo>
                  <a:lnTo>
                    <a:pt x="51" y="51"/>
                  </a:lnTo>
                  <a:lnTo>
                    <a:pt x="52" y="50"/>
                  </a:lnTo>
                  <a:lnTo>
                    <a:pt x="52" y="48"/>
                  </a:lnTo>
                  <a:lnTo>
                    <a:pt x="54" y="47"/>
                  </a:lnTo>
                  <a:lnTo>
                    <a:pt x="55" y="47"/>
                  </a:lnTo>
                  <a:lnTo>
                    <a:pt x="55" y="45"/>
                  </a:lnTo>
                  <a:lnTo>
                    <a:pt x="57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60" y="38"/>
                  </a:lnTo>
                  <a:lnTo>
                    <a:pt x="60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60" y="22"/>
                  </a:lnTo>
                  <a:lnTo>
                    <a:pt x="60" y="20"/>
                  </a:lnTo>
                  <a:lnTo>
                    <a:pt x="58" y="19"/>
                  </a:lnTo>
                  <a:lnTo>
                    <a:pt x="58" y="17"/>
                  </a:lnTo>
                  <a:lnTo>
                    <a:pt x="58" y="16"/>
                  </a:lnTo>
                  <a:lnTo>
                    <a:pt x="57" y="14"/>
                  </a:lnTo>
                  <a:lnTo>
                    <a:pt x="57" y="13"/>
                  </a:lnTo>
                  <a:lnTo>
                    <a:pt x="55" y="13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8" y="5"/>
                  </a:lnTo>
                  <a:lnTo>
                    <a:pt x="48" y="4"/>
                  </a:lnTo>
                  <a:lnTo>
                    <a:pt x="46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2" y="5"/>
                  </a:lnTo>
                  <a:lnTo>
                    <a:pt x="11" y="7"/>
                  </a:lnTo>
                  <a:lnTo>
                    <a:pt x="9" y="8"/>
                  </a:lnTo>
                  <a:lnTo>
                    <a:pt x="9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1"/>
                  </a:lnTo>
                  <a:lnTo>
                    <a:pt x="12" y="51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5" y="54"/>
                  </a:lnTo>
                  <a:lnTo>
                    <a:pt x="17" y="54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1" y="56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4" y="57"/>
                  </a:lnTo>
                  <a:lnTo>
                    <a:pt x="26" y="57"/>
                  </a:lnTo>
                  <a:lnTo>
                    <a:pt x="27" y="59"/>
                  </a:lnTo>
                  <a:lnTo>
                    <a:pt x="29" y="59"/>
                  </a:lnTo>
                  <a:lnTo>
                    <a:pt x="30" y="59"/>
                  </a:lnTo>
                  <a:lnTo>
                    <a:pt x="30" y="59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7" name="Freeform 492"/>
            <p:cNvSpPr>
              <a:spLocks/>
            </p:cNvSpPr>
            <p:nvPr/>
          </p:nvSpPr>
          <p:spPr bwMode="auto">
            <a:xfrm>
              <a:off x="2978" y="340"/>
              <a:ext cx="24" cy="25"/>
            </a:xfrm>
            <a:custGeom>
              <a:avLst/>
              <a:gdLst>
                <a:gd name="T0" fmla="*/ 40 w 72"/>
                <a:gd name="T1" fmla="*/ 73 h 73"/>
                <a:gd name="T2" fmla="*/ 46 w 72"/>
                <a:gd name="T3" fmla="*/ 73 h 73"/>
                <a:gd name="T4" fmla="*/ 50 w 72"/>
                <a:gd name="T5" fmla="*/ 70 h 73"/>
                <a:gd name="T6" fmla="*/ 54 w 72"/>
                <a:gd name="T7" fmla="*/ 68 h 73"/>
                <a:gd name="T8" fmla="*/ 59 w 72"/>
                <a:gd name="T9" fmla="*/ 65 h 73"/>
                <a:gd name="T10" fmla="*/ 63 w 72"/>
                <a:gd name="T11" fmla="*/ 61 h 73"/>
                <a:gd name="T12" fmla="*/ 66 w 72"/>
                <a:gd name="T13" fmla="*/ 58 h 73"/>
                <a:gd name="T14" fmla="*/ 69 w 72"/>
                <a:gd name="T15" fmla="*/ 52 h 73"/>
                <a:gd name="T16" fmla="*/ 71 w 72"/>
                <a:gd name="T17" fmla="*/ 48 h 73"/>
                <a:gd name="T18" fmla="*/ 72 w 72"/>
                <a:gd name="T19" fmla="*/ 43 h 73"/>
                <a:gd name="T20" fmla="*/ 72 w 72"/>
                <a:gd name="T21" fmla="*/ 37 h 73"/>
                <a:gd name="T22" fmla="*/ 72 w 72"/>
                <a:gd name="T23" fmla="*/ 33 h 73"/>
                <a:gd name="T24" fmla="*/ 71 w 72"/>
                <a:gd name="T25" fmla="*/ 28 h 73"/>
                <a:gd name="T26" fmla="*/ 69 w 72"/>
                <a:gd name="T27" fmla="*/ 23 h 73"/>
                <a:gd name="T28" fmla="*/ 68 w 72"/>
                <a:gd name="T29" fmla="*/ 18 h 73"/>
                <a:gd name="T30" fmla="*/ 65 w 72"/>
                <a:gd name="T31" fmla="*/ 14 h 73"/>
                <a:gd name="T32" fmla="*/ 60 w 72"/>
                <a:gd name="T33" fmla="*/ 11 h 73"/>
                <a:gd name="T34" fmla="*/ 56 w 72"/>
                <a:gd name="T35" fmla="*/ 8 h 73"/>
                <a:gd name="T36" fmla="*/ 51 w 72"/>
                <a:gd name="T37" fmla="*/ 5 h 73"/>
                <a:gd name="T38" fmla="*/ 47 w 72"/>
                <a:gd name="T39" fmla="*/ 3 h 73"/>
                <a:gd name="T40" fmla="*/ 41 w 72"/>
                <a:gd name="T41" fmla="*/ 2 h 73"/>
                <a:gd name="T42" fmla="*/ 37 w 72"/>
                <a:gd name="T43" fmla="*/ 0 h 73"/>
                <a:gd name="T44" fmla="*/ 32 w 72"/>
                <a:gd name="T45" fmla="*/ 2 h 73"/>
                <a:gd name="T46" fmla="*/ 28 w 72"/>
                <a:gd name="T47" fmla="*/ 2 h 73"/>
                <a:gd name="T48" fmla="*/ 22 w 72"/>
                <a:gd name="T49" fmla="*/ 3 h 73"/>
                <a:gd name="T50" fmla="*/ 17 w 72"/>
                <a:gd name="T51" fmla="*/ 6 h 73"/>
                <a:gd name="T52" fmla="*/ 13 w 72"/>
                <a:gd name="T53" fmla="*/ 9 h 73"/>
                <a:gd name="T54" fmla="*/ 10 w 72"/>
                <a:gd name="T55" fmla="*/ 12 h 73"/>
                <a:gd name="T56" fmla="*/ 6 w 72"/>
                <a:gd name="T57" fmla="*/ 17 h 73"/>
                <a:gd name="T58" fmla="*/ 4 w 72"/>
                <a:gd name="T59" fmla="*/ 21 h 73"/>
                <a:gd name="T60" fmla="*/ 1 w 72"/>
                <a:gd name="T61" fmla="*/ 27 h 73"/>
                <a:gd name="T62" fmla="*/ 1 w 72"/>
                <a:gd name="T63" fmla="*/ 31 h 73"/>
                <a:gd name="T64" fmla="*/ 0 w 72"/>
                <a:gd name="T65" fmla="*/ 37 h 73"/>
                <a:gd name="T66" fmla="*/ 0 w 72"/>
                <a:gd name="T67" fmla="*/ 40 h 73"/>
                <a:gd name="T68" fmla="*/ 1 w 72"/>
                <a:gd name="T69" fmla="*/ 46 h 73"/>
                <a:gd name="T70" fmla="*/ 3 w 72"/>
                <a:gd name="T71" fmla="*/ 51 h 73"/>
                <a:gd name="T72" fmla="*/ 6 w 72"/>
                <a:gd name="T73" fmla="*/ 57 h 73"/>
                <a:gd name="T74" fmla="*/ 9 w 72"/>
                <a:gd name="T75" fmla="*/ 60 h 73"/>
                <a:gd name="T76" fmla="*/ 11 w 72"/>
                <a:gd name="T77" fmla="*/ 64 h 73"/>
                <a:gd name="T78" fmla="*/ 16 w 72"/>
                <a:gd name="T79" fmla="*/ 67 h 73"/>
                <a:gd name="T80" fmla="*/ 20 w 72"/>
                <a:gd name="T81" fmla="*/ 70 h 73"/>
                <a:gd name="T82" fmla="*/ 25 w 72"/>
                <a:gd name="T83" fmla="*/ 71 h 73"/>
                <a:gd name="T84" fmla="*/ 31 w 72"/>
                <a:gd name="T85" fmla="*/ 73 h 73"/>
                <a:gd name="T86" fmla="*/ 37 w 72"/>
                <a:gd name="T8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73">
                  <a:moveTo>
                    <a:pt x="37" y="73"/>
                  </a:moveTo>
                  <a:lnTo>
                    <a:pt x="38" y="73"/>
                  </a:lnTo>
                  <a:lnTo>
                    <a:pt x="40" y="73"/>
                  </a:lnTo>
                  <a:lnTo>
                    <a:pt x="41" y="73"/>
                  </a:lnTo>
                  <a:lnTo>
                    <a:pt x="44" y="73"/>
                  </a:lnTo>
                  <a:lnTo>
                    <a:pt x="46" y="73"/>
                  </a:lnTo>
                  <a:lnTo>
                    <a:pt x="47" y="71"/>
                  </a:lnTo>
                  <a:lnTo>
                    <a:pt x="49" y="71"/>
                  </a:lnTo>
                  <a:lnTo>
                    <a:pt x="50" y="70"/>
                  </a:lnTo>
                  <a:lnTo>
                    <a:pt x="51" y="70"/>
                  </a:lnTo>
                  <a:lnTo>
                    <a:pt x="53" y="68"/>
                  </a:lnTo>
                  <a:lnTo>
                    <a:pt x="54" y="68"/>
                  </a:lnTo>
                  <a:lnTo>
                    <a:pt x="56" y="67"/>
                  </a:lnTo>
                  <a:lnTo>
                    <a:pt x="57" y="65"/>
                  </a:lnTo>
                  <a:lnTo>
                    <a:pt x="59" y="65"/>
                  </a:lnTo>
                  <a:lnTo>
                    <a:pt x="60" y="64"/>
                  </a:lnTo>
                  <a:lnTo>
                    <a:pt x="62" y="63"/>
                  </a:lnTo>
                  <a:lnTo>
                    <a:pt x="63" y="61"/>
                  </a:lnTo>
                  <a:lnTo>
                    <a:pt x="65" y="60"/>
                  </a:lnTo>
                  <a:lnTo>
                    <a:pt x="65" y="58"/>
                  </a:lnTo>
                  <a:lnTo>
                    <a:pt x="66" y="58"/>
                  </a:lnTo>
                  <a:lnTo>
                    <a:pt x="68" y="57"/>
                  </a:lnTo>
                  <a:lnTo>
                    <a:pt x="68" y="55"/>
                  </a:lnTo>
                  <a:lnTo>
                    <a:pt x="69" y="52"/>
                  </a:lnTo>
                  <a:lnTo>
                    <a:pt x="69" y="51"/>
                  </a:lnTo>
                  <a:lnTo>
                    <a:pt x="71" y="49"/>
                  </a:lnTo>
                  <a:lnTo>
                    <a:pt x="71" y="48"/>
                  </a:lnTo>
                  <a:lnTo>
                    <a:pt x="71" y="46"/>
                  </a:lnTo>
                  <a:lnTo>
                    <a:pt x="72" y="45"/>
                  </a:lnTo>
                  <a:lnTo>
                    <a:pt x="72" y="43"/>
                  </a:lnTo>
                  <a:lnTo>
                    <a:pt x="72" y="40"/>
                  </a:lnTo>
                  <a:lnTo>
                    <a:pt x="72" y="39"/>
                  </a:lnTo>
                  <a:lnTo>
                    <a:pt x="72" y="37"/>
                  </a:lnTo>
                  <a:lnTo>
                    <a:pt x="72" y="37"/>
                  </a:lnTo>
                  <a:lnTo>
                    <a:pt x="72" y="36"/>
                  </a:lnTo>
                  <a:lnTo>
                    <a:pt x="72" y="33"/>
                  </a:lnTo>
                  <a:lnTo>
                    <a:pt x="72" y="31"/>
                  </a:lnTo>
                  <a:lnTo>
                    <a:pt x="72" y="30"/>
                  </a:lnTo>
                  <a:lnTo>
                    <a:pt x="71" y="28"/>
                  </a:lnTo>
                  <a:lnTo>
                    <a:pt x="71" y="27"/>
                  </a:lnTo>
                  <a:lnTo>
                    <a:pt x="71" y="25"/>
                  </a:lnTo>
                  <a:lnTo>
                    <a:pt x="69" y="23"/>
                  </a:lnTo>
                  <a:lnTo>
                    <a:pt x="69" y="21"/>
                  </a:lnTo>
                  <a:lnTo>
                    <a:pt x="68" y="20"/>
                  </a:lnTo>
                  <a:lnTo>
                    <a:pt x="68" y="18"/>
                  </a:lnTo>
                  <a:lnTo>
                    <a:pt x="66" y="17"/>
                  </a:lnTo>
                  <a:lnTo>
                    <a:pt x="65" y="15"/>
                  </a:lnTo>
                  <a:lnTo>
                    <a:pt x="65" y="14"/>
                  </a:lnTo>
                  <a:lnTo>
                    <a:pt x="63" y="12"/>
                  </a:lnTo>
                  <a:lnTo>
                    <a:pt x="62" y="12"/>
                  </a:lnTo>
                  <a:lnTo>
                    <a:pt x="60" y="11"/>
                  </a:lnTo>
                  <a:lnTo>
                    <a:pt x="59" y="9"/>
                  </a:lnTo>
                  <a:lnTo>
                    <a:pt x="57" y="8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53" y="5"/>
                  </a:lnTo>
                  <a:lnTo>
                    <a:pt x="51" y="5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2"/>
                  </a:lnTo>
                  <a:lnTo>
                    <a:pt x="44" y="2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4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5" y="3"/>
                  </a:lnTo>
                  <a:lnTo>
                    <a:pt x="23" y="3"/>
                  </a:lnTo>
                  <a:lnTo>
                    <a:pt x="22" y="3"/>
                  </a:lnTo>
                  <a:lnTo>
                    <a:pt x="20" y="5"/>
                  </a:lnTo>
                  <a:lnTo>
                    <a:pt x="19" y="5"/>
                  </a:lnTo>
                  <a:lnTo>
                    <a:pt x="17" y="6"/>
                  </a:lnTo>
                  <a:lnTo>
                    <a:pt x="16" y="8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9" y="14"/>
                  </a:lnTo>
                  <a:lnTo>
                    <a:pt x="7" y="15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4" y="52"/>
                  </a:lnTo>
                  <a:lnTo>
                    <a:pt x="4" y="55"/>
                  </a:lnTo>
                  <a:lnTo>
                    <a:pt x="6" y="57"/>
                  </a:lnTo>
                  <a:lnTo>
                    <a:pt x="6" y="58"/>
                  </a:lnTo>
                  <a:lnTo>
                    <a:pt x="7" y="58"/>
                  </a:lnTo>
                  <a:lnTo>
                    <a:pt x="9" y="60"/>
                  </a:lnTo>
                  <a:lnTo>
                    <a:pt x="10" y="61"/>
                  </a:lnTo>
                  <a:lnTo>
                    <a:pt x="10" y="63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6" y="67"/>
                  </a:lnTo>
                  <a:lnTo>
                    <a:pt x="17" y="68"/>
                  </a:lnTo>
                  <a:lnTo>
                    <a:pt x="19" y="68"/>
                  </a:lnTo>
                  <a:lnTo>
                    <a:pt x="20" y="70"/>
                  </a:lnTo>
                  <a:lnTo>
                    <a:pt x="22" y="70"/>
                  </a:lnTo>
                  <a:lnTo>
                    <a:pt x="23" y="71"/>
                  </a:lnTo>
                  <a:lnTo>
                    <a:pt x="25" y="71"/>
                  </a:lnTo>
                  <a:lnTo>
                    <a:pt x="28" y="73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2" y="73"/>
                  </a:lnTo>
                  <a:lnTo>
                    <a:pt x="34" y="73"/>
                  </a:lnTo>
                  <a:lnTo>
                    <a:pt x="37" y="7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8" name="Rectangle 493"/>
            <p:cNvSpPr>
              <a:spLocks noChangeArrowheads="1"/>
            </p:cNvSpPr>
            <p:nvPr/>
          </p:nvSpPr>
          <p:spPr bwMode="auto">
            <a:xfrm>
              <a:off x="1513" y="1479"/>
              <a:ext cx="2932" cy="2300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79" name="Line 494"/>
            <p:cNvSpPr>
              <a:spLocks noChangeShapeType="1"/>
            </p:cNvSpPr>
            <p:nvPr/>
          </p:nvSpPr>
          <p:spPr bwMode="auto">
            <a:xfrm>
              <a:off x="1641" y="1479"/>
              <a:ext cx="0" cy="6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80" name="Line 495"/>
            <p:cNvSpPr>
              <a:spLocks noChangeShapeType="1"/>
            </p:cNvSpPr>
            <p:nvPr/>
          </p:nvSpPr>
          <p:spPr bwMode="auto">
            <a:xfrm>
              <a:off x="1838" y="1479"/>
              <a:ext cx="0" cy="6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81" name="Line 496"/>
            <p:cNvSpPr>
              <a:spLocks noChangeShapeType="1"/>
            </p:cNvSpPr>
            <p:nvPr/>
          </p:nvSpPr>
          <p:spPr bwMode="auto">
            <a:xfrm>
              <a:off x="2174" y="1479"/>
              <a:ext cx="0" cy="6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882" name="Rectangle 497"/>
            <p:cNvSpPr>
              <a:spLocks noChangeArrowheads="1"/>
            </p:cNvSpPr>
            <p:nvPr/>
          </p:nvSpPr>
          <p:spPr bwMode="auto">
            <a:xfrm>
              <a:off x="2719" y="1730"/>
              <a:ext cx="636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-Roman" charset="0"/>
                  <a:cs typeface="Arial" pitchFamily="34" charset="0"/>
                </a:rPr>
                <a:t>PAL-like block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99" name="Title 1"/>
          <p:cNvSpPr txBox="1">
            <a:spLocks/>
          </p:cNvSpPr>
          <p:nvPr/>
        </p:nvSpPr>
        <p:spPr>
          <a:xfrm>
            <a:off x="460375" y="534988"/>
            <a:ext cx="8223250" cy="914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r>
              <a:rPr lang="en-GB"/>
              <a:t>2.5. </a:t>
            </a:r>
            <a:r>
              <a:rPr lang="en-US"/>
              <a:t>Complex PLDs </a:t>
            </a:r>
            <a:endParaRPr lang="en-GB" kern="0"/>
          </a:p>
        </p:txBody>
      </p:sp>
      <p:sp>
        <p:nvSpPr>
          <p:cNvPr id="50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01" name="Content Placeholder 2"/>
          <p:cNvSpPr txBox="1">
            <a:spLocks/>
          </p:cNvSpPr>
          <p:nvPr/>
        </p:nvSpPr>
        <p:spPr>
          <a:xfrm>
            <a:off x="460800" y="1753200"/>
            <a:ext cx="4423588" cy="3173497"/>
          </a:xfrm>
          <a:prstGeom prst="rect">
            <a:avLst/>
          </a:prstGeom>
        </p:spPr>
        <p:txBody>
          <a:bodyPr/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B050"/>
              </a:buClr>
            </a:pPr>
            <a:r>
              <a:rPr lang="en-US" b="1" kern="0"/>
              <a:t>A Section of CPLD</a:t>
            </a:r>
          </a:p>
          <a:p>
            <a:pPr lvl="1">
              <a:buClr>
                <a:schemeClr val="bg2">
                  <a:lumMod val="60000"/>
                  <a:lumOff val="40000"/>
                </a:schemeClr>
              </a:buClr>
            </a:pPr>
            <a:r>
              <a:rPr lang="en-US" kern="0"/>
              <a:t>Easy to reprogram even in the system</a:t>
            </a:r>
          </a:p>
          <a:p>
            <a:pPr lvl="1">
              <a:buClr>
                <a:schemeClr val="bg2">
                  <a:lumMod val="60000"/>
                  <a:lumOff val="40000"/>
                </a:schemeClr>
              </a:buClr>
            </a:pPr>
            <a:r>
              <a:rPr lang="en-US" kern="0"/>
              <a:t>High speed implementation</a:t>
            </a:r>
            <a:endParaRPr lang="en-GB" kern="0"/>
          </a:p>
        </p:txBody>
      </p:sp>
      <p:grpSp>
        <p:nvGrpSpPr>
          <p:cNvPr id="497" name="Group 496"/>
          <p:cNvGrpSpPr>
            <a:grpSpLocks noChangeAspect="1"/>
          </p:cNvGrpSpPr>
          <p:nvPr/>
        </p:nvGrpSpPr>
        <p:grpSpPr>
          <a:xfrm>
            <a:off x="360106" y="3475073"/>
            <a:ext cx="3680582" cy="2440743"/>
            <a:chOff x="467554" y="3495027"/>
            <a:chExt cx="3145797" cy="2086105"/>
          </a:xfrm>
        </p:grpSpPr>
        <p:grpSp>
          <p:nvGrpSpPr>
            <p:cNvPr id="558" name="Group 557"/>
            <p:cNvGrpSpPr>
              <a:grpSpLocks noChangeAspect="1"/>
            </p:cNvGrpSpPr>
            <p:nvPr/>
          </p:nvGrpSpPr>
          <p:grpSpPr>
            <a:xfrm>
              <a:off x="467554" y="3495027"/>
              <a:ext cx="3145797" cy="2086105"/>
              <a:chOff x="1069113" y="2118103"/>
              <a:chExt cx="4064862" cy="2695575"/>
            </a:xfrm>
          </p:grpSpPr>
          <p:grpSp>
            <p:nvGrpSpPr>
              <p:cNvPr id="559" name="Group 558"/>
              <p:cNvGrpSpPr/>
              <p:nvPr/>
            </p:nvGrpSpPr>
            <p:grpSpPr>
              <a:xfrm>
                <a:off x="1069113" y="2118103"/>
                <a:ext cx="4064862" cy="2695575"/>
                <a:chOff x="1069113" y="2114550"/>
                <a:chExt cx="4064862" cy="2695575"/>
              </a:xfrm>
            </p:grpSpPr>
            <p:pic>
              <p:nvPicPr>
                <p:cNvPr id="561" name="Picture 3" descr="F:\LogicBook\PowerPoint\chapter6\fig6.6.wmf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3021" r="12159" b="42690"/>
                <a:stretch/>
              </p:blipFill>
              <p:spPr bwMode="auto">
                <a:xfrm>
                  <a:off x="1143000" y="2114550"/>
                  <a:ext cx="3990975" cy="26955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62" name="Rectangle 5"/>
                <p:cNvSpPr>
                  <a:spLocks noChangeArrowheads="1"/>
                </p:cNvSpPr>
                <p:nvPr/>
              </p:nvSpPr>
              <p:spPr bwMode="auto">
                <a:xfrm>
                  <a:off x="3258000" y="4068000"/>
                  <a:ext cx="216000" cy="198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3" name="Rectangle 5"/>
                <p:cNvSpPr>
                  <a:spLocks noChangeArrowheads="1"/>
                </p:cNvSpPr>
                <p:nvPr/>
              </p:nvSpPr>
              <p:spPr bwMode="auto">
                <a:xfrm>
                  <a:off x="2135215" y="2628000"/>
                  <a:ext cx="216000" cy="21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4" name="Rectangle 5"/>
                <p:cNvSpPr>
                  <a:spLocks noChangeArrowheads="1"/>
                </p:cNvSpPr>
                <p:nvPr/>
              </p:nvSpPr>
              <p:spPr bwMode="auto">
                <a:xfrm>
                  <a:off x="2700000" y="2628000"/>
                  <a:ext cx="216000" cy="21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5" name="Rectangle 5"/>
                <p:cNvSpPr>
                  <a:spLocks noChangeArrowheads="1"/>
                </p:cNvSpPr>
                <p:nvPr/>
              </p:nvSpPr>
              <p:spPr bwMode="auto">
                <a:xfrm>
                  <a:off x="3276000" y="2628000"/>
                  <a:ext cx="198000" cy="21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6" name="Rectangle 565"/>
                <p:cNvSpPr>
                  <a:spLocks noChangeArrowheads="1"/>
                </p:cNvSpPr>
                <p:nvPr/>
              </p:nvSpPr>
              <p:spPr bwMode="auto">
                <a:xfrm>
                  <a:off x="3816000" y="2628000"/>
                  <a:ext cx="216000" cy="21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7" name="Rectangle 5"/>
                <p:cNvSpPr>
                  <a:spLocks noChangeArrowheads="1"/>
                </p:cNvSpPr>
                <p:nvPr/>
              </p:nvSpPr>
              <p:spPr bwMode="auto">
                <a:xfrm>
                  <a:off x="3810505" y="4068000"/>
                  <a:ext cx="216000" cy="198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8" name="Rectangle 5"/>
                <p:cNvSpPr>
                  <a:spLocks noChangeArrowheads="1"/>
                </p:cNvSpPr>
                <p:nvPr/>
              </p:nvSpPr>
              <p:spPr bwMode="auto">
                <a:xfrm>
                  <a:off x="2700000" y="4068000"/>
                  <a:ext cx="216000" cy="198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9" name="Rectangle 5"/>
                <p:cNvSpPr>
                  <a:spLocks noChangeArrowheads="1"/>
                </p:cNvSpPr>
                <p:nvPr/>
              </p:nvSpPr>
              <p:spPr bwMode="auto">
                <a:xfrm>
                  <a:off x="2135216" y="4068000"/>
                  <a:ext cx="216000" cy="198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78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 sz="600"/>
                </a:p>
              </p:txBody>
            </p:sp>
            <p:sp>
              <p:nvSpPr>
                <p:cNvPr id="570" name="Rectangle 569"/>
                <p:cNvSpPr/>
                <p:nvPr/>
              </p:nvSpPr>
              <p:spPr>
                <a:xfrm>
                  <a:off x="1069124" y="4038196"/>
                  <a:ext cx="1044000" cy="456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1" name="Line 58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1571012" y="4288061"/>
                  <a:ext cx="358899" cy="555759"/>
                </a:xfrm>
                <a:prstGeom prst="line">
                  <a:avLst/>
                </a:prstGeom>
                <a:noFill/>
                <a:ln w="11113">
                  <a:solidFill>
                    <a:srgbClr val="FF0000"/>
                  </a:solidFill>
                  <a:miter lim="800000"/>
                  <a:headEnd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2" name="Freeform 59"/>
                <p:cNvSpPr>
                  <a:spLocks/>
                </p:cNvSpPr>
                <p:nvPr/>
              </p:nvSpPr>
              <p:spPr bwMode="auto">
                <a:xfrm rot="3660000">
                  <a:off x="2029228" y="4286659"/>
                  <a:ext cx="86261" cy="141120"/>
                </a:xfrm>
                <a:custGeom>
                  <a:avLst/>
                  <a:gdLst>
                    <a:gd name="T0" fmla="*/ 28 w 56"/>
                    <a:gd name="T1" fmla="*/ 0 h 113"/>
                    <a:gd name="T2" fmla="*/ 0 w 56"/>
                    <a:gd name="T3" fmla="*/ 113 h 113"/>
                    <a:gd name="T4" fmla="*/ 56 w 56"/>
                    <a:gd name="T5" fmla="*/ 113 h 113"/>
                    <a:gd name="T6" fmla="*/ 28 w 56"/>
                    <a:gd name="T7" fmla="*/ 0 h 11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6"/>
                    <a:gd name="T13" fmla="*/ 0 h 113"/>
                    <a:gd name="T14" fmla="*/ 56 w 56"/>
                    <a:gd name="T15" fmla="*/ 113 h 11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6" h="113">
                      <a:moveTo>
                        <a:pt x="28" y="0"/>
                      </a:moveTo>
                      <a:lnTo>
                        <a:pt x="0" y="113"/>
                      </a:lnTo>
                      <a:lnTo>
                        <a:pt x="56" y="11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63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573" name="Rectangle 116"/>
                <p:cNvSpPr>
                  <a:spLocks noChangeArrowheads="1"/>
                </p:cNvSpPr>
                <p:nvPr/>
              </p:nvSpPr>
              <p:spPr bwMode="auto">
                <a:xfrm>
                  <a:off x="1069113" y="4356593"/>
                  <a:ext cx="384721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sz="900">
                      <a:solidFill>
                        <a:srgbClr val="FF0000"/>
                      </a:solidFill>
                      <a:latin typeface="Helvetica" panose="020B0604020202020204" pitchFamily="34" charset="0"/>
                    </a:rPr>
                    <a:t>storage</a:t>
                  </a:r>
                </a:p>
                <a:p>
                  <a:pPr algn="ctr" eaLnBrk="1" hangingPunct="1"/>
                  <a:r>
                    <a:rPr lang="en-US" sz="900">
                      <a:solidFill>
                        <a:srgbClr val="FF0000"/>
                      </a:solidFill>
                      <a:latin typeface="Helvetica" panose="020B0604020202020204" pitchFamily="34" charset="0"/>
                    </a:rPr>
                    <a:t> cell</a:t>
                  </a:r>
                  <a:endParaRPr lang="en-US" sz="90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560" name="TextBox 559"/>
              <p:cNvSpPr txBox="1"/>
              <p:nvPr/>
            </p:nvSpPr>
            <p:spPr>
              <a:xfrm>
                <a:off x="2047813" y="4068000"/>
                <a:ext cx="489852" cy="260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b="1"/>
                  <a:t>0/1</a:t>
                </a:r>
              </a:p>
            </p:txBody>
          </p:sp>
        </p:grpSp>
        <p:sp>
          <p:nvSpPr>
            <p:cNvPr id="574" name="TextBox 573"/>
            <p:cNvSpPr txBox="1"/>
            <p:nvPr/>
          </p:nvSpPr>
          <p:spPr>
            <a:xfrm>
              <a:off x="1678319" y="5004000"/>
              <a:ext cx="347795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  <p:sp>
          <p:nvSpPr>
            <p:cNvPr id="575" name="TextBox 574"/>
            <p:cNvSpPr txBox="1"/>
            <p:nvPr/>
          </p:nvSpPr>
          <p:spPr>
            <a:xfrm>
              <a:off x="2088000" y="5004000"/>
              <a:ext cx="347795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  <p:sp>
          <p:nvSpPr>
            <p:cNvPr id="576" name="TextBox 575"/>
            <p:cNvSpPr txBox="1"/>
            <p:nvPr/>
          </p:nvSpPr>
          <p:spPr>
            <a:xfrm>
              <a:off x="2520000" y="5004000"/>
              <a:ext cx="347795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  <p:sp>
          <p:nvSpPr>
            <p:cNvPr id="577" name="TextBox 576"/>
            <p:cNvSpPr txBox="1"/>
            <p:nvPr/>
          </p:nvSpPr>
          <p:spPr>
            <a:xfrm>
              <a:off x="1221422" y="3860919"/>
              <a:ext cx="3477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b="1"/>
                <a:t>0/1</a:t>
              </a:r>
            </a:p>
          </p:txBody>
        </p:sp>
        <p:sp>
          <p:nvSpPr>
            <p:cNvPr id="578" name="TextBox 577"/>
            <p:cNvSpPr txBox="1"/>
            <p:nvPr/>
          </p:nvSpPr>
          <p:spPr>
            <a:xfrm>
              <a:off x="1678319" y="3885897"/>
              <a:ext cx="347795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  <p:sp>
          <p:nvSpPr>
            <p:cNvPr id="579" name="TextBox 578"/>
            <p:cNvSpPr txBox="1"/>
            <p:nvPr/>
          </p:nvSpPr>
          <p:spPr>
            <a:xfrm>
              <a:off x="2115814" y="3885897"/>
              <a:ext cx="324000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  <p:sp>
          <p:nvSpPr>
            <p:cNvPr id="580" name="TextBox 579"/>
            <p:cNvSpPr txBox="1"/>
            <p:nvPr/>
          </p:nvSpPr>
          <p:spPr>
            <a:xfrm>
              <a:off x="2548916" y="3885897"/>
              <a:ext cx="347795" cy="20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b="1"/>
                <a:t>0/1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190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96"/>
    </mc:Choice>
    <mc:Fallback xmlns="">
      <p:transition spd="slow" advTm="5129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IC Tradeoffs, Trends and Comparisons</a:t>
            </a: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916824" y="1794453"/>
            <a:ext cx="6933461" cy="4452735"/>
            <a:chOff x="1141413" y="1220788"/>
            <a:chExt cx="7969495" cy="5118087"/>
          </a:xfrm>
        </p:grpSpPr>
        <p:grpSp>
          <p:nvGrpSpPr>
            <p:cNvPr id="41990" name="Group 269"/>
            <p:cNvGrpSpPr>
              <a:grpSpLocks noChangeAspect="1"/>
            </p:cNvGrpSpPr>
            <p:nvPr/>
          </p:nvGrpSpPr>
          <p:grpSpPr bwMode="auto">
            <a:xfrm>
              <a:off x="1504950" y="1220788"/>
              <a:ext cx="6878639" cy="4792662"/>
              <a:chOff x="948" y="769"/>
              <a:chExt cx="4333" cy="3019"/>
            </a:xfrm>
          </p:grpSpPr>
          <p:sp>
            <p:nvSpPr>
              <p:cNvPr id="42286" name="Oval 69"/>
              <p:cNvSpPr>
                <a:spLocks noChangeArrowheads="1"/>
              </p:cNvSpPr>
              <p:nvPr/>
            </p:nvSpPr>
            <p:spPr bwMode="auto">
              <a:xfrm>
                <a:off x="2780" y="2034"/>
                <a:ext cx="51" cy="52"/>
              </a:xfrm>
              <a:prstGeom prst="ellipse">
                <a:avLst/>
              </a:prstGeom>
              <a:solidFill>
                <a:srgbClr val="0079C1"/>
              </a:solidFill>
              <a:ln w="11113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87" name="Oval 70"/>
              <p:cNvSpPr>
                <a:spLocks noChangeArrowheads="1"/>
              </p:cNvSpPr>
              <p:nvPr/>
            </p:nvSpPr>
            <p:spPr bwMode="auto">
              <a:xfrm>
                <a:off x="2489" y="2200"/>
                <a:ext cx="52" cy="52"/>
              </a:xfrm>
              <a:prstGeom prst="ellipse">
                <a:avLst/>
              </a:prstGeom>
              <a:solidFill>
                <a:srgbClr val="0079C1"/>
              </a:solidFill>
              <a:ln w="11113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88" name="Oval 71"/>
              <p:cNvSpPr>
                <a:spLocks noChangeArrowheads="1"/>
              </p:cNvSpPr>
              <p:nvPr/>
            </p:nvSpPr>
            <p:spPr bwMode="auto">
              <a:xfrm>
                <a:off x="3505" y="2352"/>
                <a:ext cx="52" cy="52"/>
              </a:xfrm>
              <a:prstGeom prst="ellipse">
                <a:avLst/>
              </a:prstGeom>
              <a:solidFill>
                <a:srgbClr val="0079C1"/>
              </a:solidFill>
              <a:ln w="11113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89" name="Oval 72"/>
              <p:cNvSpPr>
                <a:spLocks noChangeArrowheads="1"/>
              </p:cNvSpPr>
              <p:nvPr/>
            </p:nvSpPr>
            <p:spPr bwMode="auto">
              <a:xfrm>
                <a:off x="3858" y="2179"/>
                <a:ext cx="52" cy="56"/>
              </a:xfrm>
              <a:prstGeom prst="ellipse">
                <a:avLst/>
              </a:prstGeom>
              <a:solidFill>
                <a:srgbClr val="0079C1"/>
              </a:solidFill>
              <a:ln w="11113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0" name="Oval 73"/>
              <p:cNvSpPr>
                <a:spLocks noChangeArrowheads="1"/>
              </p:cNvSpPr>
              <p:nvPr/>
            </p:nvSpPr>
            <p:spPr bwMode="auto">
              <a:xfrm>
                <a:off x="4259" y="2013"/>
                <a:ext cx="52" cy="56"/>
              </a:xfrm>
              <a:prstGeom prst="ellipse">
                <a:avLst/>
              </a:prstGeom>
              <a:solidFill>
                <a:srgbClr val="0079C1"/>
              </a:solidFill>
              <a:ln w="11113">
                <a:solidFill>
                  <a:srgbClr val="0079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1" name="Line 74"/>
              <p:cNvSpPr>
                <a:spLocks noChangeShapeType="1"/>
              </p:cNvSpPr>
              <p:nvPr/>
            </p:nvSpPr>
            <p:spPr bwMode="auto">
              <a:xfrm>
                <a:off x="2248" y="3126"/>
                <a:ext cx="183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92" name="Freeform 75"/>
              <p:cNvSpPr>
                <a:spLocks/>
              </p:cNvSpPr>
              <p:nvPr/>
            </p:nvSpPr>
            <p:spPr bwMode="auto">
              <a:xfrm>
                <a:off x="2430" y="3099"/>
                <a:ext cx="111" cy="55"/>
              </a:xfrm>
              <a:custGeom>
                <a:avLst/>
                <a:gdLst>
                  <a:gd name="T0" fmla="*/ 111 w 111"/>
                  <a:gd name="T1" fmla="*/ 27 h 55"/>
                  <a:gd name="T2" fmla="*/ 0 w 111"/>
                  <a:gd name="T3" fmla="*/ 0 h 55"/>
                  <a:gd name="T4" fmla="*/ 0 w 111"/>
                  <a:gd name="T5" fmla="*/ 55 h 55"/>
                  <a:gd name="T6" fmla="*/ 111 w 111"/>
                  <a:gd name="T7" fmla="*/ 27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55"/>
                  <a:gd name="T14" fmla="*/ 111 w 11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55">
                    <a:moveTo>
                      <a:pt x="111" y="27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111" y="27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3" name="Line 76"/>
              <p:cNvSpPr>
                <a:spLocks noChangeShapeType="1"/>
              </p:cNvSpPr>
              <p:nvPr/>
            </p:nvSpPr>
            <p:spPr bwMode="auto">
              <a:xfrm>
                <a:off x="2265" y="3271"/>
                <a:ext cx="183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94" name="Freeform 77"/>
              <p:cNvSpPr>
                <a:spLocks/>
              </p:cNvSpPr>
              <p:nvPr/>
            </p:nvSpPr>
            <p:spPr bwMode="auto">
              <a:xfrm>
                <a:off x="2427" y="3244"/>
                <a:ext cx="111" cy="55"/>
              </a:xfrm>
              <a:custGeom>
                <a:avLst/>
                <a:gdLst>
                  <a:gd name="T0" fmla="*/ 111 w 111"/>
                  <a:gd name="T1" fmla="*/ 27 h 55"/>
                  <a:gd name="T2" fmla="*/ 0 w 111"/>
                  <a:gd name="T3" fmla="*/ 0 h 55"/>
                  <a:gd name="T4" fmla="*/ 0 w 111"/>
                  <a:gd name="T5" fmla="*/ 55 h 55"/>
                  <a:gd name="T6" fmla="*/ 111 w 111"/>
                  <a:gd name="T7" fmla="*/ 27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55"/>
                  <a:gd name="T14" fmla="*/ 111 w 11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55">
                    <a:moveTo>
                      <a:pt x="111" y="27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111" y="27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5" name="Line 78"/>
              <p:cNvSpPr>
                <a:spLocks noChangeShapeType="1"/>
              </p:cNvSpPr>
              <p:nvPr/>
            </p:nvSpPr>
            <p:spPr bwMode="auto">
              <a:xfrm flipH="1">
                <a:off x="1051" y="2760"/>
                <a:ext cx="184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96" name="Freeform 79"/>
              <p:cNvSpPr>
                <a:spLocks/>
              </p:cNvSpPr>
              <p:nvPr/>
            </p:nvSpPr>
            <p:spPr bwMode="auto">
              <a:xfrm>
                <a:off x="962" y="2732"/>
                <a:ext cx="110" cy="56"/>
              </a:xfrm>
              <a:custGeom>
                <a:avLst/>
                <a:gdLst>
                  <a:gd name="T0" fmla="*/ 0 w 110"/>
                  <a:gd name="T1" fmla="*/ 28 h 56"/>
                  <a:gd name="T2" fmla="*/ 110 w 110"/>
                  <a:gd name="T3" fmla="*/ 0 h 56"/>
                  <a:gd name="T4" fmla="*/ 110 w 110"/>
                  <a:gd name="T5" fmla="*/ 56 h 56"/>
                  <a:gd name="T6" fmla="*/ 0 w 110"/>
                  <a:gd name="T7" fmla="*/ 28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56"/>
                  <a:gd name="T14" fmla="*/ 110 w 110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56">
                    <a:moveTo>
                      <a:pt x="0" y="28"/>
                    </a:moveTo>
                    <a:lnTo>
                      <a:pt x="110" y="0"/>
                    </a:lnTo>
                    <a:lnTo>
                      <a:pt x="110" y="56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7" name="Line 80"/>
              <p:cNvSpPr>
                <a:spLocks noChangeShapeType="1"/>
              </p:cNvSpPr>
              <p:nvPr/>
            </p:nvSpPr>
            <p:spPr bwMode="auto">
              <a:xfrm flipH="1">
                <a:off x="1051" y="2909"/>
                <a:ext cx="184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98" name="Freeform 81"/>
              <p:cNvSpPr>
                <a:spLocks/>
              </p:cNvSpPr>
              <p:nvPr/>
            </p:nvSpPr>
            <p:spPr bwMode="auto">
              <a:xfrm>
                <a:off x="962" y="2881"/>
                <a:ext cx="110" cy="55"/>
              </a:xfrm>
              <a:custGeom>
                <a:avLst/>
                <a:gdLst>
                  <a:gd name="T0" fmla="*/ 0 w 110"/>
                  <a:gd name="T1" fmla="*/ 28 h 55"/>
                  <a:gd name="T2" fmla="*/ 110 w 110"/>
                  <a:gd name="T3" fmla="*/ 0 h 55"/>
                  <a:gd name="T4" fmla="*/ 110 w 110"/>
                  <a:gd name="T5" fmla="*/ 55 h 55"/>
                  <a:gd name="T6" fmla="*/ 0 w 110"/>
                  <a:gd name="T7" fmla="*/ 28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55"/>
                  <a:gd name="T14" fmla="*/ 110 w 11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55">
                    <a:moveTo>
                      <a:pt x="0" y="28"/>
                    </a:moveTo>
                    <a:lnTo>
                      <a:pt x="110" y="0"/>
                    </a:lnTo>
                    <a:lnTo>
                      <a:pt x="110" y="55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99" name="Line 82"/>
              <p:cNvSpPr>
                <a:spLocks noChangeShapeType="1"/>
              </p:cNvSpPr>
              <p:nvPr/>
            </p:nvSpPr>
            <p:spPr bwMode="auto">
              <a:xfrm>
                <a:off x="2265" y="3420"/>
                <a:ext cx="183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300" name="Freeform 83"/>
              <p:cNvSpPr>
                <a:spLocks/>
              </p:cNvSpPr>
              <p:nvPr/>
            </p:nvSpPr>
            <p:spPr bwMode="auto">
              <a:xfrm>
                <a:off x="2427" y="3392"/>
                <a:ext cx="111" cy="56"/>
              </a:xfrm>
              <a:custGeom>
                <a:avLst/>
                <a:gdLst>
                  <a:gd name="T0" fmla="*/ 111 w 111"/>
                  <a:gd name="T1" fmla="*/ 28 h 56"/>
                  <a:gd name="T2" fmla="*/ 0 w 111"/>
                  <a:gd name="T3" fmla="*/ 0 h 56"/>
                  <a:gd name="T4" fmla="*/ 0 w 111"/>
                  <a:gd name="T5" fmla="*/ 56 h 56"/>
                  <a:gd name="T6" fmla="*/ 111 w 111"/>
                  <a:gd name="T7" fmla="*/ 28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56"/>
                  <a:gd name="T14" fmla="*/ 111 w 1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56">
                    <a:moveTo>
                      <a:pt x="111" y="28"/>
                    </a:moveTo>
                    <a:lnTo>
                      <a:pt x="0" y="0"/>
                    </a:lnTo>
                    <a:lnTo>
                      <a:pt x="0" y="56"/>
                    </a:lnTo>
                    <a:lnTo>
                      <a:pt x="111" y="28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01" name="Line 84"/>
              <p:cNvSpPr>
                <a:spLocks noChangeShapeType="1"/>
              </p:cNvSpPr>
              <p:nvPr/>
            </p:nvSpPr>
            <p:spPr bwMode="auto">
              <a:xfrm>
                <a:off x="2265" y="3569"/>
                <a:ext cx="183" cy="0"/>
              </a:xfrm>
              <a:prstGeom prst="line">
                <a:avLst/>
              </a:prstGeom>
              <a:noFill/>
              <a:ln w="22225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302" name="Freeform 85"/>
              <p:cNvSpPr>
                <a:spLocks/>
              </p:cNvSpPr>
              <p:nvPr/>
            </p:nvSpPr>
            <p:spPr bwMode="auto">
              <a:xfrm>
                <a:off x="2427" y="3541"/>
                <a:ext cx="111" cy="55"/>
              </a:xfrm>
              <a:custGeom>
                <a:avLst/>
                <a:gdLst>
                  <a:gd name="T0" fmla="*/ 111 w 111"/>
                  <a:gd name="T1" fmla="*/ 28 h 55"/>
                  <a:gd name="T2" fmla="*/ 0 w 111"/>
                  <a:gd name="T3" fmla="*/ 0 h 55"/>
                  <a:gd name="T4" fmla="*/ 0 w 111"/>
                  <a:gd name="T5" fmla="*/ 55 h 55"/>
                  <a:gd name="T6" fmla="*/ 111 w 111"/>
                  <a:gd name="T7" fmla="*/ 28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55"/>
                  <a:gd name="T14" fmla="*/ 111 w 11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55">
                    <a:moveTo>
                      <a:pt x="111" y="28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111" y="28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03" name="Rectangle 86"/>
              <p:cNvSpPr>
                <a:spLocks noChangeArrowheads="1"/>
              </p:cNvSpPr>
              <p:nvPr/>
            </p:nvSpPr>
            <p:spPr bwMode="auto">
              <a:xfrm>
                <a:off x="4345" y="1978"/>
                <a:ext cx="57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Full-custom</a:t>
                </a:r>
                <a:endParaRPr lang="en-US" altLang="en-US"/>
              </a:p>
            </p:txBody>
          </p:sp>
          <p:sp>
            <p:nvSpPr>
              <p:cNvPr id="42304" name="Rectangle 87"/>
              <p:cNvSpPr>
                <a:spLocks noChangeArrowheads="1"/>
              </p:cNvSpPr>
              <p:nvPr/>
            </p:nvSpPr>
            <p:spPr bwMode="auto">
              <a:xfrm>
                <a:off x="3931" y="2138"/>
                <a:ext cx="94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Standard cell ASIC</a:t>
                </a:r>
                <a:endParaRPr lang="en-US" altLang="en-US" dirty="0"/>
              </a:p>
            </p:txBody>
          </p:sp>
          <p:sp>
            <p:nvSpPr>
              <p:cNvPr id="42305" name="Rectangle 88"/>
              <p:cNvSpPr>
                <a:spLocks noChangeArrowheads="1"/>
              </p:cNvSpPr>
              <p:nvPr/>
            </p:nvSpPr>
            <p:spPr bwMode="auto">
              <a:xfrm>
                <a:off x="3603" y="2319"/>
                <a:ext cx="1678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Gate array (structured ASIC) </a:t>
                </a:r>
                <a:endParaRPr lang="en-US" altLang="en-US"/>
              </a:p>
            </p:txBody>
          </p:sp>
          <p:sp>
            <p:nvSpPr>
              <p:cNvPr id="42311" name="Rectangle 94"/>
              <p:cNvSpPr>
                <a:spLocks noChangeArrowheads="1"/>
              </p:cNvSpPr>
              <p:nvPr/>
            </p:nvSpPr>
            <p:spPr bwMode="auto">
              <a:xfrm>
                <a:off x="2866" y="2001"/>
                <a:ext cx="30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FPGA</a:t>
                </a:r>
                <a:endParaRPr lang="en-US" altLang="en-US"/>
              </a:p>
            </p:txBody>
          </p:sp>
          <p:sp>
            <p:nvSpPr>
              <p:cNvPr id="42312" name="Rectangle 95"/>
              <p:cNvSpPr>
                <a:spLocks noChangeArrowheads="1"/>
              </p:cNvSpPr>
              <p:nvPr/>
            </p:nvSpPr>
            <p:spPr bwMode="auto">
              <a:xfrm>
                <a:off x="2580" y="2161"/>
                <a:ext cx="62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SPLD/CPLD</a:t>
                </a:r>
                <a:endParaRPr lang="en-US" altLang="en-US"/>
              </a:p>
            </p:txBody>
          </p:sp>
          <p:sp>
            <p:nvSpPr>
              <p:cNvPr id="42313" name="Rectangle 100"/>
              <p:cNvSpPr>
                <a:spLocks noChangeArrowheads="1"/>
              </p:cNvSpPr>
              <p:nvPr/>
            </p:nvSpPr>
            <p:spPr bwMode="auto">
              <a:xfrm>
                <a:off x="948" y="3064"/>
                <a:ext cx="1129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Faster performance</a:t>
                </a:r>
                <a:endParaRPr lang="en-US" altLang="en-US"/>
              </a:p>
            </p:txBody>
          </p:sp>
          <p:sp>
            <p:nvSpPr>
              <p:cNvPr id="42319" name="Rectangle 106"/>
              <p:cNvSpPr>
                <a:spLocks noChangeArrowheads="1"/>
              </p:cNvSpPr>
              <p:nvPr/>
            </p:nvSpPr>
            <p:spPr bwMode="auto">
              <a:xfrm>
                <a:off x="948" y="3210"/>
                <a:ext cx="707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Smaller size</a:t>
                </a:r>
                <a:endParaRPr lang="en-US" altLang="en-US"/>
              </a:p>
            </p:txBody>
          </p:sp>
          <p:sp>
            <p:nvSpPr>
              <p:cNvPr id="42322" name="Rectangle 109"/>
              <p:cNvSpPr>
                <a:spLocks noChangeArrowheads="1"/>
              </p:cNvSpPr>
              <p:nvPr/>
            </p:nvSpPr>
            <p:spPr bwMode="auto">
              <a:xfrm>
                <a:off x="948" y="3353"/>
                <a:ext cx="742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Lower power</a:t>
                </a:r>
                <a:endParaRPr lang="en-US" altLang="en-US"/>
              </a:p>
            </p:txBody>
          </p:sp>
          <p:sp>
            <p:nvSpPr>
              <p:cNvPr id="42329" name="Rectangle 116"/>
              <p:cNvSpPr>
                <a:spLocks noChangeArrowheads="1"/>
              </p:cNvSpPr>
              <p:nvPr/>
            </p:nvSpPr>
            <p:spPr bwMode="auto">
              <a:xfrm>
                <a:off x="948" y="3654"/>
                <a:ext cx="69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More capacity</a:t>
                </a:r>
                <a:endParaRPr lang="en-US" altLang="en-US"/>
              </a:p>
            </p:txBody>
          </p:sp>
          <p:sp>
            <p:nvSpPr>
              <p:cNvPr id="42330" name="Rectangle 117"/>
              <p:cNvSpPr>
                <a:spLocks noChangeArrowheads="1"/>
              </p:cNvSpPr>
              <p:nvPr/>
            </p:nvSpPr>
            <p:spPr bwMode="auto">
              <a:xfrm>
                <a:off x="1280" y="2686"/>
                <a:ext cx="1082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Quicker availability</a:t>
                </a:r>
                <a:endParaRPr lang="en-US" altLang="en-US"/>
              </a:p>
            </p:txBody>
          </p:sp>
          <p:sp>
            <p:nvSpPr>
              <p:cNvPr id="42336" name="Rectangle 123"/>
              <p:cNvSpPr>
                <a:spLocks noChangeArrowheads="1"/>
              </p:cNvSpPr>
              <p:nvPr/>
            </p:nvSpPr>
            <p:spPr bwMode="auto">
              <a:xfrm>
                <a:off x="1280" y="2838"/>
                <a:ext cx="989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Lower NRE* cost</a:t>
                </a:r>
                <a:endParaRPr lang="en-US" altLang="en-US"/>
              </a:p>
            </p:txBody>
          </p:sp>
          <p:sp>
            <p:nvSpPr>
              <p:cNvPr id="42340" name="Freeform 127"/>
              <p:cNvSpPr>
                <a:spLocks/>
              </p:cNvSpPr>
              <p:nvPr/>
            </p:nvSpPr>
            <p:spPr bwMode="auto">
              <a:xfrm>
                <a:off x="2728" y="949"/>
                <a:ext cx="1254" cy="563"/>
              </a:xfrm>
              <a:custGeom>
                <a:avLst/>
                <a:gdLst>
                  <a:gd name="T0" fmla="*/ 345 w 1254"/>
                  <a:gd name="T1" fmla="*/ 10 h 563"/>
                  <a:gd name="T2" fmla="*/ 290 w 1254"/>
                  <a:gd name="T3" fmla="*/ 3 h 563"/>
                  <a:gd name="T4" fmla="*/ 242 w 1254"/>
                  <a:gd name="T5" fmla="*/ 10 h 563"/>
                  <a:gd name="T6" fmla="*/ 218 w 1254"/>
                  <a:gd name="T7" fmla="*/ 48 h 563"/>
                  <a:gd name="T8" fmla="*/ 228 w 1254"/>
                  <a:gd name="T9" fmla="*/ 86 h 563"/>
                  <a:gd name="T10" fmla="*/ 228 w 1254"/>
                  <a:gd name="T11" fmla="*/ 103 h 563"/>
                  <a:gd name="T12" fmla="*/ 238 w 1254"/>
                  <a:gd name="T13" fmla="*/ 135 h 563"/>
                  <a:gd name="T14" fmla="*/ 207 w 1254"/>
                  <a:gd name="T15" fmla="*/ 145 h 563"/>
                  <a:gd name="T16" fmla="*/ 148 w 1254"/>
                  <a:gd name="T17" fmla="*/ 166 h 563"/>
                  <a:gd name="T18" fmla="*/ 86 w 1254"/>
                  <a:gd name="T19" fmla="*/ 214 h 563"/>
                  <a:gd name="T20" fmla="*/ 59 w 1254"/>
                  <a:gd name="T21" fmla="*/ 314 h 563"/>
                  <a:gd name="T22" fmla="*/ 27 w 1254"/>
                  <a:gd name="T23" fmla="*/ 387 h 563"/>
                  <a:gd name="T24" fmla="*/ 0 w 1254"/>
                  <a:gd name="T25" fmla="*/ 408 h 563"/>
                  <a:gd name="T26" fmla="*/ 110 w 1254"/>
                  <a:gd name="T27" fmla="*/ 456 h 563"/>
                  <a:gd name="T28" fmla="*/ 542 w 1254"/>
                  <a:gd name="T29" fmla="*/ 563 h 563"/>
                  <a:gd name="T30" fmla="*/ 957 w 1254"/>
                  <a:gd name="T31" fmla="*/ 549 h 563"/>
                  <a:gd name="T32" fmla="*/ 1230 w 1254"/>
                  <a:gd name="T33" fmla="*/ 466 h 563"/>
                  <a:gd name="T34" fmla="*/ 1244 w 1254"/>
                  <a:gd name="T35" fmla="*/ 428 h 563"/>
                  <a:gd name="T36" fmla="*/ 1248 w 1254"/>
                  <a:gd name="T37" fmla="*/ 408 h 563"/>
                  <a:gd name="T38" fmla="*/ 1227 w 1254"/>
                  <a:gd name="T39" fmla="*/ 325 h 563"/>
                  <a:gd name="T40" fmla="*/ 1133 w 1254"/>
                  <a:gd name="T41" fmla="*/ 204 h 563"/>
                  <a:gd name="T42" fmla="*/ 1099 w 1254"/>
                  <a:gd name="T43" fmla="*/ 176 h 563"/>
                  <a:gd name="T44" fmla="*/ 1109 w 1254"/>
                  <a:gd name="T45" fmla="*/ 135 h 563"/>
                  <a:gd name="T46" fmla="*/ 1116 w 1254"/>
                  <a:gd name="T47" fmla="*/ 93 h 563"/>
                  <a:gd name="T48" fmla="*/ 1085 w 1254"/>
                  <a:gd name="T49" fmla="*/ 52 h 563"/>
                  <a:gd name="T50" fmla="*/ 1016 w 1254"/>
                  <a:gd name="T51" fmla="*/ 34 h 563"/>
                  <a:gd name="T52" fmla="*/ 777 w 1254"/>
                  <a:gd name="T53" fmla="*/ 325 h 563"/>
                  <a:gd name="T54" fmla="*/ 739 w 1254"/>
                  <a:gd name="T55" fmla="*/ 342 h 563"/>
                  <a:gd name="T56" fmla="*/ 608 w 1254"/>
                  <a:gd name="T57" fmla="*/ 332 h 563"/>
                  <a:gd name="T58" fmla="*/ 625 w 1254"/>
                  <a:gd name="T59" fmla="*/ 262 h 563"/>
                  <a:gd name="T60" fmla="*/ 359 w 1254"/>
                  <a:gd name="T61" fmla="*/ 14 h 563"/>
                  <a:gd name="T62" fmla="*/ 359 w 1254"/>
                  <a:gd name="T63" fmla="*/ 14 h 56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254"/>
                  <a:gd name="T97" fmla="*/ 0 h 563"/>
                  <a:gd name="T98" fmla="*/ 1254 w 1254"/>
                  <a:gd name="T99" fmla="*/ 563 h 563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254" h="563">
                    <a:moveTo>
                      <a:pt x="359" y="14"/>
                    </a:moveTo>
                    <a:lnTo>
                      <a:pt x="345" y="10"/>
                    </a:lnTo>
                    <a:lnTo>
                      <a:pt x="318" y="3"/>
                    </a:lnTo>
                    <a:lnTo>
                      <a:pt x="290" y="3"/>
                    </a:lnTo>
                    <a:lnTo>
                      <a:pt x="266" y="0"/>
                    </a:lnTo>
                    <a:lnTo>
                      <a:pt x="242" y="10"/>
                    </a:lnTo>
                    <a:lnTo>
                      <a:pt x="218" y="24"/>
                    </a:lnTo>
                    <a:lnTo>
                      <a:pt x="218" y="48"/>
                    </a:lnTo>
                    <a:lnTo>
                      <a:pt x="221" y="76"/>
                    </a:lnTo>
                    <a:lnTo>
                      <a:pt x="228" y="86"/>
                    </a:lnTo>
                    <a:lnTo>
                      <a:pt x="224" y="93"/>
                    </a:lnTo>
                    <a:lnTo>
                      <a:pt x="228" y="103"/>
                    </a:lnTo>
                    <a:lnTo>
                      <a:pt x="249" y="128"/>
                    </a:lnTo>
                    <a:lnTo>
                      <a:pt x="238" y="135"/>
                    </a:lnTo>
                    <a:lnTo>
                      <a:pt x="224" y="141"/>
                    </a:lnTo>
                    <a:lnTo>
                      <a:pt x="207" y="145"/>
                    </a:lnTo>
                    <a:lnTo>
                      <a:pt x="173" y="159"/>
                    </a:lnTo>
                    <a:lnTo>
                      <a:pt x="148" y="166"/>
                    </a:lnTo>
                    <a:lnTo>
                      <a:pt x="117" y="190"/>
                    </a:lnTo>
                    <a:lnTo>
                      <a:pt x="86" y="214"/>
                    </a:lnTo>
                    <a:lnTo>
                      <a:pt x="72" y="259"/>
                    </a:lnTo>
                    <a:lnTo>
                      <a:pt x="59" y="314"/>
                    </a:lnTo>
                    <a:lnTo>
                      <a:pt x="34" y="345"/>
                    </a:lnTo>
                    <a:lnTo>
                      <a:pt x="27" y="387"/>
                    </a:lnTo>
                    <a:lnTo>
                      <a:pt x="14" y="390"/>
                    </a:lnTo>
                    <a:lnTo>
                      <a:pt x="0" y="408"/>
                    </a:lnTo>
                    <a:lnTo>
                      <a:pt x="31" y="428"/>
                    </a:lnTo>
                    <a:lnTo>
                      <a:pt x="110" y="456"/>
                    </a:lnTo>
                    <a:lnTo>
                      <a:pt x="287" y="497"/>
                    </a:lnTo>
                    <a:lnTo>
                      <a:pt x="542" y="563"/>
                    </a:lnTo>
                    <a:lnTo>
                      <a:pt x="719" y="563"/>
                    </a:lnTo>
                    <a:lnTo>
                      <a:pt x="957" y="549"/>
                    </a:lnTo>
                    <a:lnTo>
                      <a:pt x="1099" y="525"/>
                    </a:lnTo>
                    <a:lnTo>
                      <a:pt x="1230" y="466"/>
                    </a:lnTo>
                    <a:lnTo>
                      <a:pt x="1254" y="442"/>
                    </a:lnTo>
                    <a:lnTo>
                      <a:pt x="1244" y="428"/>
                    </a:lnTo>
                    <a:lnTo>
                      <a:pt x="1248" y="418"/>
                    </a:lnTo>
                    <a:lnTo>
                      <a:pt x="1248" y="408"/>
                    </a:lnTo>
                    <a:lnTo>
                      <a:pt x="1248" y="394"/>
                    </a:lnTo>
                    <a:lnTo>
                      <a:pt x="1227" y="325"/>
                    </a:lnTo>
                    <a:lnTo>
                      <a:pt x="1182" y="259"/>
                    </a:lnTo>
                    <a:lnTo>
                      <a:pt x="1133" y="204"/>
                    </a:lnTo>
                    <a:lnTo>
                      <a:pt x="1106" y="179"/>
                    </a:lnTo>
                    <a:lnTo>
                      <a:pt x="1099" y="176"/>
                    </a:lnTo>
                    <a:lnTo>
                      <a:pt x="1099" y="159"/>
                    </a:lnTo>
                    <a:lnTo>
                      <a:pt x="1109" y="135"/>
                    </a:lnTo>
                    <a:lnTo>
                      <a:pt x="1120" y="124"/>
                    </a:lnTo>
                    <a:lnTo>
                      <a:pt x="1116" y="93"/>
                    </a:lnTo>
                    <a:lnTo>
                      <a:pt x="1109" y="69"/>
                    </a:lnTo>
                    <a:lnTo>
                      <a:pt x="1085" y="52"/>
                    </a:lnTo>
                    <a:lnTo>
                      <a:pt x="1068" y="34"/>
                    </a:lnTo>
                    <a:lnTo>
                      <a:pt x="1016" y="34"/>
                    </a:lnTo>
                    <a:lnTo>
                      <a:pt x="1006" y="38"/>
                    </a:lnTo>
                    <a:lnTo>
                      <a:pt x="777" y="325"/>
                    </a:lnTo>
                    <a:lnTo>
                      <a:pt x="760" y="345"/>
                    </a:lnTo>
                    <a:lnTo>
                      <a:pt x="739" y="342"/>
                    </a:lnTo>
                    <a:lnTo>
                      <a:pt x="712" y="352"/>
                    </a:lnTo>
                    <a:lnTo>
                      <a:pt x="608" y="332"/>
                    </a:lnTo>
                    <a:lnTo>
                      <a:pt x="577" y="321"/>
                    </a:lnTo>
                    <a:lnTo>
                      <a:pt x="625" y="262"/>
                    </a:lnTo>
                    <a:lnTo>
                      <a:pt x="542" y="186"/>
                    </a:lnTo>
                    <a:lnTo>
                      <a:pt x="359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1" name="Freeform 128"/>
              <p:cNvSpPr>
                <a:spLocks/>
              </p:cNvSpPr>
              <p:nvPr/>
            </p:nvSpPr>
            <p:spPr bwMode="auto">
              <a:xfrm>
                <a:off x="3080" y="772"/>
                <a:ext cx="657" cy="502"/>
              </a:xfrm>
              <a:custGeom>
                <a:avLst/>
                <a:gdLst>
                  <a:gd name="T0" fmla="*/ 28 w 657"/>
                  <a:gd name="T1" fmla="*/ 173 h 502"/>
                  <a:gd name="T2" fmla="*/ 52 w 657"/>
                  <a:gd name="T3" fmla="*/ 139 h 502"/>
                  <a:gd name="T4" fmla="*/ 63 w 657"/>
                  <a:gd name="T5" fmla="*/ 90 h 502"/>
                  <a:gd name="T6" fmla="*/ 87 w 657"/>
                  <a:gd name="T7" fmla="*/ 42 h 502"/>
                  <a:gd name="T8" fmla="*/ 145 w 657"/>
                  <a:gd name="T9" fmla="*/ 21 h 502"/>
                  <a:gd name="T10" fmla="*/ 187 w 657"/>
                  <a:gd name="T11" fmla="*/ 28 h 502"/>
                  <a:gd name="T12" fmla="*/ 222 w 657"/>
                  <a:gd name="T13" fmla="*/ 45 h 502"/>
                  <a:gd name="T14" fmla="*/ 225 w 657"/>
                  <a:gd name="T15" fmla="*/ 80 h 502"/>
                  <a:gd name="T16" fmla="*/ 235 w 657"/>
                  <a:gd name="T17" fmla="*/ 108 h 502"/>
                  <a:gd name="T18" fmla="*/ 225 w 657"/>
                  <a:gd name="T19" fmla="*/ 135 h 502"/>
                  <a:gd name="T20" fmla="*/ 273 w 657"/>
                  <a:gd name="T21" fmla="*/ 146 h 502"/>
                  <a:gd name="T22" fmla="*/ 294 w 657"/>
                  <a:gd name="T23" fmla="*/ 177 h 502"/>
                  <a:gd name="T24" fmla="*/ 339 w 657"/>
                  <a:gd name="T25" fmla="*/ 139 h 502"/>
                  <a:gd name="T26" fmla="*/ 329 w 657"/>
                  <a:gd name="T27" fmla="*/ 90 h 502"/>
                  <a:gd name="T28" fmla="*/ 315 w 657"/>
                  <a:gd name="T29" fmla="*/ 73 h 502"/>
                  <a:gd name="T30" fmla="*/ 342 w 657"/>
                  <a:gd name="T31" fmla="*/ 32 h 502"/>
                  <a:gd name="T32" fmla="*/ 367 w 657"/>
                  <a:gd name="T33" fmla="*/ 21 h 502"/>
                  <a:gd name="T34" fmla="*/ 405 w 657"/>
                  <a:gd name="T35" fmla="*/ 0 h 502"/>
                  <a:gd name="T36" fmla="*/ 450 w 657"/>
                  <a:gd name="T37" fmla="*/ 4 h 502"/>
                  <a:gd name="T38" fmla="*/ 484 w 657"/>
                  <a:gd name="T39" fmla="*/ 35 h 502"/>
                  <a:gd name="T40" fmla="*/ 477 w 657"/>
                  <a:gd name="T41" fmla="*/ 76 h 502"/>
                  <a:gd name="T42" fmla="*/ 488 w 657"/>
                  <a:gd name="T43" fmla="*/ 87 h 502"/>
                  <a:gd name="T44" fmla="*/ 550 w 657"/>
                  <a:gd name="T45" fmla="*/ 108 h 502"/>
                  <a:gd name="T46" fmla="*/ 605 w 657"/>
                  <a:gd name="T47" fmla="*/ 135 h 502"/>
                  <a:gd name="T48" fmla="*/ 633 w 657"/>
                  <a:gd name="T49" fmla="*/ 177 h 502"/>
                  <a:gd name="T50" fmla="*/ 453 w 657"/>
                  <a:gd name="T51" fmla="*/ 502 h 502"/>
                  <a:gd name="T52" fmla="*/ 401 w 657"/>
                  <a:gd name="T53" fmla="*/ 474 h 502"/>
                  <a:gd name="T54" fmla="*/ 405 w 657"/>
                  <a:gd name="T55" fmla="*/ 401 h 502"/>
                  <a:gd name="T56" fmla="*/ 349 w 657"/>
                  <a:gd name="T57" fmla="*/ 325 h 502"/>
                  <a:gd name="T58" fmla="*/ 332 w 657"/>
                  <a:gd name="T59" fmla="*/ 360 h 502"/>
                  <a:gd name="T60" fmla="*/ 329 w 657"/>
                  <a:gd name="T61" fmla="*/ 388 h 502"/>
                  <a:gd name="T62" fmla="*/ 294 w 657"/>
                  <a:gd name="T63" fmla="*/ 433 h 502"/>
                  <a:gd name="T64" fmla="*/ 0 w 657"/>
                  <a:gd name="T65" fmla="*/ 197 h 502"/>
                  <a:gd name="T66" fmla="*/ 0 w 657"/>
                  <a:gd name="T67" fmla="*/ 197 h 50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657"/>
                  <a:gd name="T103" fmla="*/ 0 h 502"/>
                  <a:gd name="T104" fmla="*/ 657 w 657"/>
                  <a:gd name="T105" fmla="*/ 502 h 502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657" h="502">
                    <a:moveTo>
                      <a:pt x="0" y="197"/>
                    </a:moveTo>
                    <a:lnTo>
                      <a:pt x="28" y="173"/>
                    </a:lnTo>
                    <a:lnTo>
                      <a:pt x="69" y="146"/>
                    </a:lnTo>
                    <a:lnTo>
                      <a:pt x="52" y="139"/>
                    </a:lnTo>
                    <a:lnTo>
                      <a:pt x="49" y="104"/>
                    </a:lnTo>
                    <a:lnTo>
                      <a:pt x="63" y="90"/>
                    </a:lnTo>
                    <a:lnTo>
                      <a:pt x="66" y="63"/>
                    </a:lnTo>
                    <a:lnTo>
                      <a:pt x="87" y="42"/>
                    </a:lnTo>
                    <a:lnTo>
                      <a:pt x="114" y="32"/>
                    </a:lnTo>
                    <a:lnTo>
                      <a:pt x="145" y="21"/>
                    </a:lnTo>
                    <a:lnTo>
                      <a:pt x="170" y="32"/>
                    </a:lnTo>
                    <a:lnTo>
                      <a:pt x="187" y="28"/>
                    </a:lnTo>
                    <a:lnTo>
                      <a:pt x="208" y="32"/>
                    </a:lnTo>
                    <a:lnTo>
                      <a:pt x="222" y="45"/>
                    </a:lnTo>
                    <a:lnTo>
                      <a:pt x="218" y="70"/>
                    </a:lnTo>
                    <a:lnTo>
                      <a:pt x="225" y="80"/>
                    </a:lnTo>
                    <a:lnTo>
                      <a:pt x="228" y="94"/>
                    </a:lnTo>
                    <a:lnTo>
                      <a:pt x="235" y="108"/>
                    </a:lnTo>
                    <a:lnTo>
                      <a:pt x="222" y="128"/>
                    </a:lnTo>
                    <a:lnTo>
                      <a:pt x="225" y="135"/>
                    </a:lnTo>
                    <a:lnTo>
                      <a:pt x="256" y="146"/>
                    </a:lnTo>
                    <a:lnTo>
                      <a:pt x="273" y="146"/>
                    </a:lnTo>
                    <a:lnTo>
                      <a:pt x="291" y="153"/>
                    </a:lnTo>
                    <a:lnTo>
                      <a:pt x="294" y="177"/>
                    </a:lnTo>
                    <a:lnTo>
                      <a:pt x="325" y="146"/>
                    </a:lnTo>
                    <a:lnTo>
                      <a:pt x="339" y="139"/>
                    </a:lnTo>
                    <a:lnTo>
                      <a:pt x="329" y="121"/>
                    </a:lnTo>
                    <a:lnTo>
                      <a:pt x="329" y="90"/>
                    </a:lnTo>
                    <a:lnTo>
                      <a:pt x="318" y="83"/>
                    </a:lnTo>
                    <a:lnTo>
                      <a:pt x="315" y="73"/>
                    </a:lnTo>
                    <a:lnTo>
                      <a:pt x="322" y="52"/>
                    </a:lnTo>
                    <a:lnTo>
                      <a:pt x="342" y="32"/>
                    </a:lnTo>
                    <a:lnTo>
                      <a:pt x="349" y="25"/>
                    </a:lnTo>
                    <a:lnTo>
                      <a:pt x="367" y="21"/>
                    </a:lnTo>
                    <a:lnTo>
                      <a:pt x="387" y="7"/>
                    </a:lnTo>
                    <a:lnTo>
                      <a:pt x="405" y="0"/>
                    </a:lnTo>
                    <a:lnTo>
                      <a:pt x="436" y="4"/>
                    </a:lnTo>
                    <a:lnTo>
                      <a:pt x="450" y="4"/>
                    </a:lnTo>
                    <a:lnTo>
                      <a:pt x="470" y="21"/>
                    </a:lnTo>
                    <a:lnTo>
                      <a:pt x="484" y="35"/>
                    </a:lnTo>
                    <a:lnTo>
                      <a:pt x="477" y="59"/>
                    </a:lnTo>
                    <a:lnTo>
                      <a:pt x="477" y="76"/>
                    </a:lnTo>
                    <a:lnTo>
                      <a:pt x="484" y="80"/>
                    </a:lnTo>
                    <a:lnTo>
                      <a:pt x="488" y="87"/>
                    </a:lnTo>
                    <a:lnTo>
                      <a:pt x="515" y="90"/>
                    </a:lnTo>
                    <a:lnTo>
                      <a:pt x="550" y="108"/>
                    </a:lnTo>
                    <a:lnTo>
                      <a:pt x="571" y="111"/>
                    </a:lnTo>
                    <a:lnTo>
                      <a:pt x="605" y="135"/>
                    </a:lnTo>
                    <a:lnTo>
                      <a:pt x="612" y="149"/>
                    </a:lnTo>
                    <a:lnTo>
                      <a:pt x="633" y="177"/>
                    </a:lnTo>
                    <a:lnTo>
                      <a:pt x="657" y="218"/>
                    </a:lnTo>
                    <a:lnTo>
                      <a:pt x="453" y="502"/>
                    </a:lnTo>
                    <a:lnTo>
                      <a:pt x="415" y="498"/>
                    </a:lnTo>
                    <a:lnTo>
                      <a:pt x="401" y="474"/>
                    </a:lnTo>
                    <a:lnTo>
                      <a:pt x="408" y="422"/>
                    </a:lnTo>
                    <a:lnTo>
                      <a:pt x="405" y="401"/>
                    </a:lnTo>
                    <a:lnTo>
                      <a:pt x="363" y="350"/>
                    </a:lnTo>
                    <a:lnTo>
                      <a:pt x="349" y="325"/>
                    </a:lnTo>
                    <a:lnTo>
                      <a:pt x="339" y="346"/>
                    </a:lnTo>
                    <a:lnTo>
                      <a:pt x="332" y="360"/>
                    </a:lnTo>
                    <a:lnTo>
                      <a:pt x="325" y="377"/>
                    </a:lnTo>
                    <a:lnTo>
                      <a:pt x="329" y="388"/>
                    </a:lnTo>
                    <a:lnTo>
                      <a:pt x="322" y="412"/>
                    </a:lnTo>
                    <a:lnTo>
                      <a:pt x="294" y="433"/>
                    </a:lnTo>
                    <a:lnTo>
                      <a:pt x="246" y="450"/>
                    </a:lnTo>
                    <a:lnTo>
                      <a:pt x="0" y="1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2" name="Freeform 129"/>
              <p:cNvSpPr>
                <a:spLocks/>
              </p:cNvSpPr>
              <p:nvPr/>
            </p:nvSpPr>
            <p:spPr bwMode="auto">
              <a:xfrm>
                <a:off x="3689" y="990"/>
                <a:ext cx="159" cy="121"/>
              </a:xfrm>
              <a:custGeom>
                <a:avLst/>
                <a:gdLst>
                  <a:gd name="T0" fmla="*/ 20 w 159"/>
                  <a:gd name="T1" fmla="*/ 62 h 121"/>
                  <a:gd name="T2" fmla="*/ 0 w 159"/>
                  <a:gd name="T3" fmla="*/ 59 h 121"/>
                  <a:gd name="T4" fmla="*/ 0 w 159"/>
                  <a:gd name="T5" fmla="*/ 45 h 121"/>
                  <a:gd name="T6" fmla="*/ 7 w 159"/>
                  <a:gd name="T7" fmla="*/ 31 h 121"/>
                  <a:gd name="T8" fmla="*/ 24 w 159"/>
                  <a:gd name="T9" fmla="*/ 24 h 121"/>
                  <a:gd name="T10" fmla="*/ 27 w 159"/>
                  <a:gd name="T11" fmla="*/ 14 h 121"/>
                  <a:gd name="T12" fmla="*/ 58 w 159"/>
                  <a:gd name="T13" fmla="*/ 0 h 121"/>
                  <a:gd name="T14" fmla="*/ 76 w 159"/>
                  <a:gd name="T15" fmla="*/ 0 h 121"/>
                  <a:gd name="T16" fmla="*/ 93 w 159"/>
                  <a:gd name="T17" fmla="*/ 0 h 121"/>
                  <a:gd name="T18" fmla="*/ 86 w 159"/>
                  <a:gd name="T19" fmla="*/ 7 h 121"/>
                  <a:gd name="T20" fmla="*/ 79 w 159"/>
                  <a:gd name="T21" fmla="*/ 14 h 121"/>
                  <a:gd name="T22" fmla="*/ 86 w 159"/>
                  <a:gd name="T23" fmla="*/ 21 h 121"/>
                  <a:gd name="T24" fmla="*/ 76 w 159"/>
                  <a:gd name="T25" fmla="*/ 24 h 121"/>
                  <a:gd name="T26" fmla="*/ 76 w 159"/>
                  <a:gd name="T27" fmla="*/ 35 h 121"/>
                  <a:gd name="T28" fmla="*/ 89 w 159"/>
                  <a:gd name="T29" fmla="*/ 38 h 121"/>
                  <a:gd name="T30" fmla="*/ 100 w 159"/>
                  <a:gd name="T31" fmla="*/ 21 h 121"/>
                  <a:gd name="T32" fmla="*/ 100 w 159"/>
                  <a:gd name="T33" fmla="*/ 11 h 121"/>
                  <a:gd name="T34" fmla="*/ 114 w 159"/>
                  <a:gd name="T35" fmla="*/ 11 h 121"/>
                  <a:gd name="T36" fmla="*/ 124 w 159"/>
                  <a:gd name="T37" fmla="*/ 24 h 121"/>
                  <a:gd name="T38" fmla="*/ 145 w 159"/>
                  <a:gd name="T39" fmla="*/ 31 h 121"/>
                  <a:gd name="T40" fmla="*/ 141 w 159"/>
                  <a:gd name="T41" fmla="*/ 59 h 121"/>
                  <a:gd name="T42" fmla="*/ 159 w 159"/>
                  <a:gd name="T43" fmla="*/ 76 h 121"/>
                  <a:gd name="T44" fmla="*/ 145 w 159"/>
                  <a:gd name="T45" fmla="*/ 90 h 121"/>
                  <a:gd name="T46" fmla="*/ 148 w 159"/>
                  <a:gd name="T47" fmla="*/ 107 h 121"/>
                  <a:gd name="T48" fmla="*/ 134 w 159"/>
                  <a:gd name="T49" fmla="*/ 118 h 121"/>
                  <a:gd name="T50" fmla="*/ 124 w 159"/>
                  <a:gd name="T51" fmla="*/ 121 h 121"/>
                  <a:gd name="T52" fmla="*/ 138 w 159"/>
                  <a:gd name="T53" fmla="*/ 97 h 121"/>
                  <a:gd name="T54" fmla="*/ 134 w 159"/>
                  <a:gd name="T55" fmla="*/ 90 h 121"/>
                  <a:gd name="T56" fmla="*/ 117 w 159"/>
                  <a:gd name="T57" fmla="*/ 83 h 121"/>
                  <a:gd name="T58" fmla="*/ 103 w 159"/>
                  <a:gd name="T59" fmla="*/ 90 h 121"/>
                  <a:gd name="T60" fmla="*/ 107 w 159"/>
                  <a:gd name="T61" fmla="*/ 76 h 121"/>
                  <a:gd name="T62" fmla="*/ 96 w 159"/>
                  <a:gd name="T63" fmla="*/ 69 h 121"/>
                  <a:gd name="T64" fmla="*/ 100 w 159"/>
                  <a:gd name="T65" fmla="*/ 62 h 121"/>
                  <a:gd name="T66" fmla="*/ 89 w 159"/>
                  <a:gd name="T67" fmla="*/ 59 h 121"/>
                  <a:gd name="T68" fmla="*/ 65 w 159"/>
                  <a:gd name="T69" fmla="*/ 49 h 121"/>
                  <a:gd name="T70" fmla="*/ 45 w 159"/>
                  <a:gd name="T71" fmla="*/ 45 h 121"/>
                  <a:gd name="T72" fmla="*/ 24 w 159"/>
                  <a:gd name="T73" fmla="*/ 59 h 121"/>
                  <a:gd name="T74" fmla="*/ 20 w 159"/>
                  <a:gd name="T75" fmla="*/ 62 h 121"/>
                  <a:gd name="T76" fmla="*/ 20 w 159"/>
                  <a:gd name="T77" fmla="*/ 62 h 121"/>
                  <a:gd name="T78" fmla="*/ 20 w 159"/>
                  <a:gd name="T79" fmla="*/ 62 h 12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59"/>
                  <a:gd name="T121" fmla="*/ 0 h 121"/>
                  <a:gd name="T122" fmla="*/ 159 w 159"/>
                  <a:gd name="T123" fmla="*/ 121 h 12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59" h="121">
                    <a:moveTo>
                      <a:pt x="20" y="62"/>
                    </a:moveTo>
                    <a:lnTo>
                      <a:pt x="0" y="59"/>
                    </a:lnTo>
                    <a:lnTo>
                      <a:pt x="0" y="45"/>
                    </a:lnTo>
                    <a:lnTo>
                      <a:pt x="7" y="31"/>
                    </a:lnTo>
                    <a:lnTo>
                      <a:pt x="24" y="24"/>
                    </a:lnTo>
                    <a:lnTo>
                      <a:pt x="27" y="14"/>
                    </a:lnTo>
                    <a:lnTo>
                      <a:pt x="58" y="0"/>
                    </a:lnTo>
                    <a:lnTo>
                      <a:pt x="76" y="0"/>
                    </a:lnTo>
                    <a:lnTo>
                      <a:pt x="93" y="0"/>
                    </a:lnTo>
                    <a:lnTo>
                      <a:pt x="86" y="7"/>
                    </a:lnTo>
                    <a:lnTo>
                      <a:pt x="79" y="14"/>
                    </a:lnTo>
                    <a:lnTo>
                      <a:pt x="86" y="21"/>
                    </a:lnTo>
                    <a:lnTo>
                      <a:pt x="76" y="24"/>
                    </a:lnTo>
                    <a:lnTo>
                      <a:pt x="76" y="35"/>
                    </a:lnTo>
                    <a:lnTo>
                      <a:pt x="89" y="38"/>
                    </a:lnTo>
                    <a:lnTo>
                      <a:pt x="100" y="21"/>
                    </a:lnTo>
                    <a:lnTo>
                      <a:pt x="100" y="11"/>
                    </a:lnTo>
                    <a:lnTo>
                      <a:pt x="114" y="11"/>
                    </a:lnTo>
                    <a:lnTo>
                      <a:pt x="124" y="24"/>
                    </a:lnTo>
                    <a:lnTo>
                      <a:pt x="145" y="31"/>
                    </a:lnTo>
                    <a:lnTo>
                      <a:pt x="141" y="59"/>
                    </a:lnTo>
                    <a:lnTo>
                      <a:pt x="159" y="76"/>
                    </a:lnTo>
                    <a:lnTo>
                      <a:pt x="145" y="90"/>
                    </a:lnTo>
                    <a:lnTo>
                      <a:pt x="148" y="107"/>
                    </a:lnTo>
                    <a:lnTo>
                      <a:pt x="134" y="118"/>
                    </a:lnTo>
                    <a:lnTo>
                      <a:pt x="124" y="121"/>
                    </a:lnTo>
                    <a:lnTo>
                      <a:pt x="138" y="97"/>
                    </a:lnTo>
                    <a:lnTo>
                      <a:pt x="134" y="90"/>
                    </a:lnTo>
                    <a:lnTo>
                      <a:pt x="117" y="83"/>
                    </a:lnTo>
                    <a:lnTo>
                      <a:pt x="103" y="90"/>
                    </a:lnTo>
                    <a:lnTo>
                      <a:pt x="107" y="76"/>
                    </a:lnTo>
                    <a:lnTo>
                      <a:pt x="96" y="69"/>
                    </a:lnTo>
                    <a:lnTo>
                      <a:pt x="100" y="62"/>
                    </a:lnTo>
                    <a:lnTo>
                      <a:pt x="89" y="59"/>
                    </a:lnTo>
                    <a:lnTo>
                      <a:pt x="65" y="49"/>
                    </a:lnTo>
                    <a:lnTo>
                      <a:pt x="45" y="45"/>
                    </a:lnTo>
                    <a:lnTo>
                      <a:pt x="24" y="59"/>
                    </a:lnTo>
                    <a:lnTo>
                      <a:pt x="20" y="62"/>
                    </a:lnTo>
                    <a:close/>
                  </a:path>
                </a:pathLst>
              </a:custGeom>
              <a:solidFill>
                <a:srgbClr val="B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3" name="Freeform 130"/>
              <p:cNvSpPr>
                <a:spLocks/>
              </p:cNvSpPr>
              <p:nvPr/>
            </p:nvSpPr>
            <p:spPr bwMode="auto">
              <a:xfrm>
                <a:off x="3236" y="890"/>
                <a:ext cx="28" cy="10"/>
              </a:xfrm>
              <a:custGeom>
                <a:avLst/>
                <a:gdLst>
                  <a:gd name="T0" fmla="*/ 7 w 28"/>
                  <a:gd name="T1" fmla="*/ 3 h 10"/>
                  <a:gd name="T2" fmla="*/ 0 w 28"/>
                  <a:gd name="T3" fmla="*/ 3 h 10"/>
                  <a:gd name="T4" fmla="*/ 0 w 28"/>
                  <a:gd name="T5" fmla="*/ 10 h 10"/>
                  <a:gd name="T6" fmla="*/ 17 w 28"/>
                  <a:gd name="T7" fmla="*/ 10 h 10"/>
                  <a:gd name="T8" fmla="*/ 24 w 28"/>
                  <a:gd name="T9" fmla="*/ 10 h 10"/>
                  <a:gd name="T10" fmla="*/ 28 w 28"/>
                  <a:gd name="T11" fmla="*/ 0 h 10"/>
                  <a:gd name="T12" fmla="*/ 7 w 28"/>
                  <a:gd name="T13" fmla="*/ 3 h 10"/>
                  <a:gd name="T14" fmla="*/ 7 w 28"/>
                  <a:gd name="T15" fmla="*/ 3 h 10"/>
                  <a:gd name="T16" fmla="*/ 7 w 28"/>
                  <a:gd name="T17" fmla="*/ 3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10"/>
                  <a:gd name="T29" fmla="*/ 28 w 28"/>
                  <a:gd name="T30" fmla="*/ 10 h 1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10">
                    <a:moveTo>
                      <a:pt x="7" y="3"/>
                    </a:moveTo>
                    <a:lnTo>
                      <a:pt x="0" y="3"/>
                    </a:lnTo>
                    <a:lnTo>
                      <a:pt x="0" y="10"/>
                    </a:lnTo>
                    <a:lnTo>
                      <a:pt x="17" y="10"/>
                    </a:lnTo>
                    <a:lnTo>
                      <a:pt x="24" y="10"/>
                    </a:lnTo>
                    <a:lnTo>
                      <a:pt x="28" y="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4" name="Freeform 131"/>
              <p:cNvSpPr>
                <a:spLocks/>
              </p:cNvSpPr>
              <p:nvPr/>
            </p:nvSpPr>
            <p:spPr bwMode="auto">
              <a:xfrm>
                <a:off x="3778" y="1014"/>
                <a:ext cx="59" cy="70"/>
              </a:xfrm>
              <a:custGeom>
                <a:avLst/>
                <a:gdLst>
                  <a:gd name="T0" fmla="*/ 0 w 59"/>
                  <a:gd name="T1" fmla="*/ 35 h 70"/>
                  <a:gd name="T2" fmla="*/ 11 w 59"/>
                  <a:gd name="T3" fmla="*/ 32 h 70"/>
                  <a:gd name="T4" fmla="*/ 11 w 59"/>
                  <a:gd name="T5" fmla="*/ 14 h 70"/>
                  <a:gd name="T6" fmla="*/ 18 w 59"/>
                  <a:gd name="T7" fmla="*/ 0 h 70"/>
                  <a:gd name="T8" fmla="*/ 28 w 59"/>
                  <a:gd name="T9" fmla="*/ 11 h 70"/>
                  <a:gd name="T10" fmla="*/ 35 w 59"/>
                  <a:gd name="T11" fmla="*/ 0 h 70"/>
                  <a:gd name="T12" fmla="*/ 52 w 59"/>
                  <a:gd name="T13" fmla="*/ 14 h 70"/>
                  <a:gd name="T14" fmla="*/ 49 w 59"/>
                  <a:gd name="T15" fmla="*/ 32 h 70"/>
                  <a:gd name="T16" fmla="*/ 59 w 59"/>
                  <a:gd name="T17" fmla="*/ 56 h 70"/>
                  <a:gd name="T18" fmla="*/ 49 w 59"/>
                  <a:gd name="T19" fmla="*/ 63 h 70"/>
                  <a:gd name="T20" fmla="*/ 45 w 59"/>
                  <a:gd name="T21" fmla="*/ 70 h 70"/>
                  <a:gd name="T22" fmla="*/ 35 w 59"/>
                  <a:gd name="T23" fmla="*/ 59 h 70"/>
                  <a:gd name="T24" fmla="*/ 21 w 59"/>
                  <a:gd name="T25" fmla="*/ 59 h 70"/>
                  <a:gd name="T26" fmla="*/ 25 w 59"/>
                  <a:gd name="T27" fmla="*/ 49 h 70"/>
                  <a:gd name="T28" fmla="*/ 14 w 59"/>
                  <a:gd name="T29" fmla="*/ 45 h 70"/>
                  <a:gd name="T30" fmla="*/ 0 w 59"/>
                  <a:gd name="T31" fmla="*/ 35 h 70"/>
                  <a:gd name="T32" fmla="*/ 0 w 59"/>
                  <a:gd name="T33" fmla="*/ 35 h 70"/>
                  <a:gd name="T34" fmla="*/ 0 w 59"/>
                  <a:gd name="T35" fmla="*/ 35 h 7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9"/>
                  <a:gd name="T55" fmla="*/ 0 h 70"/>
                  <a:gd name="T56" fmla="*/ 59 w 59"/>
                  <a:gd name="T57" fmla="*/ 70 h 7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9" h="70">
                    <a:moveTo>
                      <a:pt x="0" y="35"/>
                    </a:moveTo>
                    <a:lnTo>
                      <a:pt x="11" y="32"/>
                    </a:lnTo>
                    <a:lnTo>
                      <a:pt x="11" y="14"/>
                    </a:lnTo>
                    <a:lnTo>
                      <a:pt x="18" y="0"/>
                    </a:lnTo>
                    <a:lnTo>
                      <a:pt x="28" y="11"/>
                    </a:lnTo>
                    <a:lnTo>
                      <a:pt x="35" y="0"/>
                    </a:lnTo>
                    <a:lnTo>
                      <a:pt x="52" y="14"/>
                    </a:lnTo>
                    <a:lnTo>
                      <a:pt x="49" y="32"/>
                    </a:lnTo>
                    <a:lnTo>
                      <a:pt x="59" y="56"/>
                    </a:lnTo>
                    <a:lnTo>
                      <a:pt x="49" y="63"/>
                    </a:lnTo>
                    <a:lnTo>
                      <a:pt x="45" y="70"/>
                    </a:lnTo>
                    <a:lnTo>
                      <a:pt x="35" y="59"/>
                    </a:lnTo>
                    <a:lnTo>
                      <a:pt x="21" y="59"/>
                    </a:lnTo>
                    <a:lnTo>
                      <a:pt x="25" y="49"/>
                    </a:lnTo>
                    <a:lnTo>
                      <a:pt x="14" y="4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857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5" name="Freeform 132"/>
              <p:cNvSpPr>
                <a:spLocks/>
              </p:cNvSpPr>
              <p:nvPr/>
            </p:nvSpPr>
            <p:spPr bwMode="auto">
              <a:xfrm>
                <a:off x="3229" y="1035"/>
                <a:ext cx="52" cy="76"/>
              </a:xfrm>
              <a:custGeom>
                <a:avLst/>
                <a:gdLst>
                  <a:gd name="T0" fmla="*/ 10 w 52"/>
                  <a:gd name="T1" fmla="*/ 45 h 76"/>
                  <a:gd name="T2" fmla="*/ 21 w 52"/>
                  <a:gd name="T3" fmla="*/ 21 h 76"/>
                  <a:gd name="T4" fmla="*/ 35 w 52"/>
                  <a:gd name="T5" fmla="*/ 4 h 76"/>
                  <a:gd name="T6" fmla="*/ 45 w 52"/>
                  <a:gd name="T7" fmla="*/ 0 h 76"/>
                  <a:gd name="T8" fmla="*/ 52 w 52"/>
                  <a:gd name="T9" fmla="*/ 7 h 76"/>
                  <a:gd name="T10" fmla="*/ 38 w 52"/>
                  <a:gd name="T11" fmla="*/ 24 h 76"/>
                  <a:gd name="T12" fmla="*/ 17 w 52"/>
                  <a:gd name="T13" fmla="*/ 52 h 76"/>
                  <a:gd name="T14" fmla="*/ 3 w 52"/>
                  <a:gd name="T15" fmla="*/ 76 h 76"/>
                  <a:gd name="T16" fmla="*/ 0 w 52"/>
                  <a:gd name="T17" fmla="*/ 35 h 76"/>
                  <a:gd name="T18" fmla="*/ 10 w 52"/>
                  <a:gd name="T19" fmla="*/ 45 h 76"/>
                  <a:gd name="T20" fmla="*/ 10 w 52"/>
                  <a:gd name="T21" fmla="*/ 45 h 76"/>
                  <a:gd name="T22" fmla="*/ 10 w 52"/>
                  <a:gd name="T23" fmla="*/ 45 h 7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2"/>
                  <a:gd name="T37" fmla="*/ 0 h 76"/>
                  <a:gd name="T38" fmla="*/ 52 w 52"/>
                  <a:gd name="T39" fmla="*/ 76 h 7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2" h="76">
                    <a:moveTo>
                      <a:pt x="10" y="45"/>
                    </a:moveTo>
                    <a:lnTo>
                      <a:pt x="21" y="21"/>
                    </a:lnTo>
                    <a:lnTo>
                      <a:pt x="35" y="4"/>
                    </a:lnTo>
                    <a:lnTo>
                      <a:pt x="45" y="0"/>
                    </a:lnTo>
                    <a:lnTo>
                      <a:pt x="52" y="7"/>
                    </a:lnTo>
                    <a:lnTo>
                      <a:pt x="38" y="24"/>
                    </a:lnTo>
                    <a:lnTo>
                      <a:pt x="17" y="52"/>
                    </a:lnTo>
                    <a:lnTo>
                      <a:pt x="3" y="76"/>
                    </a:lnTo>
                    <a:lnTo>
                      <a:pt x="0" y="35"/>
                    </a:lnTo>
                    <a:lnTo>
                      <a:pt x="10" y="45"/>
                    </a:lnTo>
                    <a:close/>
                  </a:path>
                </a:pathLst>
              </a:custGeom>
              <a:solidFill>
                <a:srgbClr val="FCF9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6" name="Freeform 133"/>
              <p:cNvSpPr>
                <a:spLocks/>
              </p:cNvSpPr>
              <p:nvPr/>
            </p:nvSpPr>
            <p:spPr bwMode="auto">
              <a:xfrm>
                <a:off x="3250" y="814"/>
                <a:ext cx="55" cy="83"/>
              </a:xfrm>
              <a:custGeom>
                <a:avLst/>
                <a:gdLst>
                  <a:gd name="T0" fmla="*/ 45 w 55"/>
                  <a:gd name="T1" fmla="*/ 83 h 83"/>
                  <a:gd name="T2" fmla="*/ 55 w 55"/>
                  <a:gd name="T3" fmla="*/ 69 h 83"/>
                  <a:gd name="T4" fmla="*/ 52 w 55"/>
                  <a:gd name="T5" fmla="*/ 52 h 83"/>
                  <a:gd name="T6" fmla="*/ 31 w 55"/>
                  <a:gd name="T7" fmla="*/ 41 h 83"/>
                  <a:gd name="T8" fmla="*/ 38 w 55"/>
                  <a:gd name="T9" fmla="*/ 34 h 83"/>
                  <a:gd name="T10" fmla="*/ 27 w 55"/>
                  <a:gd name="T11" fmla="*/ 24 h 83"/>
                  <a:gd name="T12" fmla="*/ 31 w 55"/>
                  <a:gd name="T13" fmla="*/ 10 h 83"/>
                  <a:gd name="T14" fmla="*/ 14 w 55"/>
                  <a:gd name="T15" fmla="*/ 0 h 83"/>
                  <a:gd name="T16" fmla="*/ 3 w 55"/>
                  <a:gd name="T17" fmla="*/ 0 h 83"/>
                  <a:gd name="T18" fmla="*/ 10 w 55"/>
                  <a:gd name="T19" fmla="*/ 7 h 83"/>
                  <a:gd name="T20" fmla="*/ 17 w 55"/>
                  <a:gd name="T21" fmla="*/ 14 h 83"/>
                  <a:gd name="T22" fmla="*/ 10 w 55"/>
                  <a:gd name="T23" fmla="*/ 31 h 83"/>
                  <a:gd name="T24" fmla="*/ 7 w 55"/>
                  <a:gd name="T25" fmla="*/ 17 h 83"/>
                  <a:gd name="T26" fmla="*/ 0 w 55"/>
                  <a:gd name="T27" fmla="*/ 34 h 83"/>
                  <a:gd name="T28" fmla="*/ 3 w 55"/>
                  <a:gd name="T29" fmla="*/ 52 h 83"/>
                  <a:gd name="T30" fmla="*/ 31 w 55"/>
                  <a:gd name="T31" fmla="*/ 59 h 83"/>
                  <a:gd name="T32" fmla="*/ 45 w 55"/>
                  <a:gd name="T33" fmla="*/ 83 h 83"/>
                  <a:gd name="T34" fmla="*/ 45 w 55"/>
                  <a:gd name="T35" fmla="*/ 83 h 83"/>
                  <a:gd name="T36" fmla="*/ 45 w 55"/>
                  <a:gd name="T37" fmla="*/ 83 h 8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83"/>
                  <a:gd name="T59" fmla="*/ 55 w 55"/>
                  <a:gd name="T60" fmla="*/ 83 h 8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83">
                    <a:moveTo>
                      <a:pt x="45" y="83"/>
                    </a:moveTo>
                    <a:lnTo>
                      <a:pt x="55" y="69"/>
                    </a:lnTo>
                    <a:lnTo>
                      <a:pt x="52" y="52"/>
                    </a:lnTo>
                    <a:lnTo>
                      <a:pt x="31" y="41"/>
                    </a:lnTo>
                    <a:lnTo>
                      <a:pt x="38" y="34"/>
                    </a:lnTo>
                    <a:lnTo>
                      <a:pt x="27" y="24"/>
                    </a:lnTo>
                    <a:lnTo>
                      <a:pt x="31" y="10"/>
                    </a:lnTo>
                    <a:lnTo>
                      <a:pt x="14" y="0"/>
                    </a:lnTo>
                    <a:lnTo>
                      <a:pt x="3" y="0"/>
                    </a:lnTo>
                    <a:lnTo>
                      <a:pt x="10" y="7"/>
                    </a:lnTo>
                    <a:lnTo>
                      <a:pt x="17" y="14"/>
                    </a:lnTo>
                    <a:lnTo>
                      <a:pt x="10" y="31"/>
                    </a:lnTo>
                    <a:lnTo>
                      <a:pt x="7" y="17"/>
                    </a:lnTo>
                    <a:lnTo>
                      <a:pt x="0" y="34"/>
                    </a:lnTo>
                    <a:lnTo>
                      <a:pt x="3" y="52"/>
                    </a:lnTo>
                    <a:lnTo>
                      <a:pt x="31" y="59"/>
                    </a:lnTo>
                    <a:lnTo>
                      <a:pt x="45" y="83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7" name="Freeform 134"/>
              <p:cNvSpPr>
                <a:spLocks/>
              </p:cNvSpPr>
              <p:nvPr/>
            </p:nvSpPr>
            <p:spPr bwMode="auto">
              <a:xfrm>
                <a:off x="3146" y="814"/>
                <a:ext cx="100" cy="100"/>
              </a:xfrm>
              <a:custGeom>
                <a:avLst/>
                <a:gdLst>
                  <a:gd name="T0" fmla="*/ 100 w 100"/>
                  <a:gd name="T1" fmla="*/ 14 h 100"/>
                  <a:gd name="T2" fmla="*/ 79 w 100"/>
                  <a:gd name="T3" fmla="*/ 24 h 100"/>
                  <a:gd name="T4" fmla="*/ 59 w 100"/>
                  <a:gd name="T5" fmla="*/ 38 h 100"/>
                  <a:gd name="T6" fmla="*/ 59 w 100"/>
                  <a:gd name="T7" fmla="*/ 73 h 100"/>
                  <a:gd name="T8" fmla="*/ 48 w 100"/>
                  <a:gd name="T9" fmla="*/ 83 h 100"/>
                  <a:gd name="T10" fmla="*/ 28 w 100"/>
                  <a:gd name="T11" fmla="*/ 100 h 100"/>
                  <a:gd name="T12" fmla="*/ 7 w 100"/>
                  <a:gd name="T13" fmla="*/ 100 h 100"/>
                  <a:gd name="T14" fmla="*/ 0 w 100"/>
                  <a:gd name="T15" fmla="*/ 93 h 100"/>
                  <a:gd name="T16" fmla="*/ 7 w 100"/>
                  <a:gd name="T17" fmla="*/ 86 h 100"/>
                  <a:gd name="T18" fmla="*/ 0 w 100"/>
                  <a:gd name="T19" fmla="*/ 79 h 100"/>
                  <a:gd name="T20" fmla="*/ 3 w 100"/>
                  <a:gd name="T21" fmla="*/ 66 h 100"/>
                  <a:gd name="T22" fmla="*/ 14 w 100"/>
                  <a:gd name="T23" fmla="*/ 69 h 100"/>
                  <a:gd name="T24" fmla="*/ 24 w 100"/>
                  <a:gd name="T25" fmla="*/ 55 h 100"/>
                  <a:gd name="T26" fmla="*/ 24 w 100"/>
                  <a:gd name="T27" fmla="*/ 38 h 100"/>
                  <a:gd name="T28" fmla="*/ 17 w 100"/>
                  <a:gd name="T29" fmla="*/ 38 h 100"/>
                  <a:gd name="T30" fmla="*/ 21 w 100"/>
                  <a:gd name="T31" fmla="*/ 24 h 100"/>
                  <a:gd name="T32" fmla="*/ 35 w 100"/>
                  <a:gd name="T33" fmla="*/ 14 h 100"/>
                  <a:gd name="T34" fmla="*/ 59 w 100"/>
                  <a:gd name="T35" fmla="*/ 10 h 100"/>
                  <a:gd name="T36" fmla="*/ 79 w 100"/>
                  <a:gd name="T37" fmla="*/ 0 h 100"/>
                  <a:gd name="T38" fmla="*/ 90 w 100"/>
                  <a:gd name="T39" fmla="*/ 3 h 100"/>
                  <a:gd name="T40" fmla="*/ 100 w 100"/>
                  <a:gd name="T41" fmla="*/ 14 h 100"/>
                  <a:gd name="T42" fmla="*/ 100 w 100"/>
                  <a:gd name="T43" fmla="*/ 14 h 100"/>
                  <a:gd name="T44" fmla="*/ 100 w 100"/>
                  <a:gd name="T45" fmla="*/ 14 h 1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0"/>
                  <a:gd name="T70" fmla="*/ 0 h 100"/>
                  <a:gd name="T71" fmla="*/ 100 w 100"/>
                  <a:gd name="T72" fmla="*/ 100 h 10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0" h="100">
                    <a:moveTo>
                      <a:pt x="100" y="14"/>
                    </a:moveTo>
                    <a:lnTo>
                      <a:pt x="79" y="24"/>
                    </a:lnTo>
                    <a:lnTo>
                      <a:pt x="59" y="38"/>
                    </a:lnTo>
                    <a:lnTo>
                      <a:pt x="59" y="73"/>
                    </a:lnTo>
                    <a:lnTo>
                      <a:pt x="48" y="83"/>
                    </a:lnTo>
                    <a:lnTo>
                      <a:pt x="28" y="100"/>
                    </a:lnTo>
                    <a:lnTo>
                      <a:pt x="7" y="100"/>
                    </a:lnTo>
                    <a:lnTo>
                      <a:pt x="0" y="93"/>
                    </a:lnTo>
                    <a:lnTo>
                      <a:pt x="7" y="86"/>
                    </a:lnTo>
                    <a:lnTo>
                      <a:pt x="0" y="79"/>
                    </a:lnTo>
                    <a:lnTo>
                      <a:pt x="3" y="66"/>
                    </a:lnTo>
                    <a:lnTo>
                      <a:pt x="14" y="69"/>
                    </a:lnTo>
                    <a:lnTo>
                      <a:pt x="24" y="55"/>
                    </a:lnTo>
                    <a:lnTo>
                      <a:pt x="24" y="38"/>
                    </a:lnTo>
                    <a:lnTo>
                      <a:pt x="17" y="38"/>
                    </a:lnTo>
                    <a:lnTo>
                      <a:pt x="21" y="24"/>
                    </a:lnTo>
                    <a:lnTo>
                      <a:pt x="35" y="14"/>
                    </a:lnTo>
                    <a:lnTo>
                      <a:pt x="59" y="10"/>
                    </a:lnTo>
                    <a:lnTo>
                      <a:pt x="79" y="0"/>
                    </a:lnTo>
                    <a:lnTo>
                      <a:pt x="90" y="3"/>
                    </a:lnTo>
                    <a:lnTo>
                      <a:pt x="100" y="14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8" name="Freeform 135"/>
              <p:cNvSpPr>
                <a:spLocks/>
              </p:cNvSpPr>
              <p:nvPr/>
            </p:nvSpPr>
            <p:spPr bwMode="auto">
              <a:xfrm>
                <a:off x="2956" y="966"/>
                <a:ext cx="135" cy="62"/>
              </a:xfrm>
              <a:custGeom>
                <a:avLst/>
                <a:gdLst>
                  <a:gd name="T0" fmla="*/ 10 w 135"/>
                  <a:gd name="T1" fmla="*/ 62 h 62"/>
                  <a:gd name="T2" fmla="*/ 21 w 135"/>
                  <a:gd name="T3" fmla="*/ 48 h 62"/>
                  <a:gd name="T4" fmla="*/ 31 w 135"/>
                  <a:gd name="T5" fmla="*/ 35 h 62"/>
                  <a:gd name="T6" fmla="*/ 66 w 135"/>
                  <a:gd name="T7" fmla="*/ 31 h 62"/>
                  <a:gd name="T8" fmla="*/ 90 w 135"/>
                  <a:gd name="T9" fmla="*/ 14 h 62"/>
                  <a:gd name="T10" fmla="*/ 114 w 135"/>
                  <a:gd name="T11" fmla="*/ 17 h 62"/>
                  <a:gd name="T12" fmla="*/ 135 w 135"/>
                  <a:gd name="T13" fmla="*/ 3 h 62"/>
                  <a:gd name="T14" fmla="*/ 117 w 135"/>
                  <a:gd name="T15" fmla="*/ 3 h 62"/>
                  <a:gd name="T16" fmla="*/ 104 w 135"/>
                  <a:gd name="T17" fmla="*/ 0 h 62"/>
                  <a:gd name="T18" fmla="*/ 83 w 135"/>
                  <a:gd name="T19" fmla="*/ 0 h 62"/>
                  <a:gd name="T20" fmla="*/ 66 w 135"/>
                  <a:gd name="T21" fmla="*/ 10 h 62"/>
                  <a:gd name="T22" fmla="*/ 52 w 135"/>
                  <a:gd name="T23" fmla="*/ 14 h 62"/>
                  <a:gd name="T24" fmla="*/ 34 w 135"/>
                  <a:gd name="T25" fmla="*/ 14 h 62"/>
                  <a:gd name="T26" fmla="*/ 45 w 135"/>
                  <a:gd name="T27" fmla="*/ 7 h 62"/>
                  <a:gd name="T28" fmla="*/ 59 w 135"/>
                  <a:gd name="T29" fmla="*/ 0 h 62"/>
                  <a:gd name="T30" fmla="*/ 41 w 135"/>
                  <a:gd name="T31" fmla="*/ 0 h 62"/>
                  <a:gd name="T32" fmla="*/ 28 w 135"/>
                  <a:gd name="T33" fmla="*/ 3 h 62"/>
                  <a:gd name="T34" fmla="*/ 17 w 135"/>
                  <a:gd name="T35" fmla="*/ 14 h 62"/>
                  <a:gd name="T36" fmla="*/ 7 w 135"/>
                  <a:gd name="T37" fmla="*/ 17 h 62"/>
                  <a:gd name="T38" fmla="*/ 3 w 135"/>
                  <a:gd name="T39" fmla="*/ 28 h 62"/>
                  <a:gd name="T40" fmla="*/ 14 w 135"/>
                  <a:gd name="T41" fmla="*/ 28 h 62"/>
                  <a:gd name="T42" fmla="*/ 7 w 135"/>
                  <a:gd name="T43" fmla="*/ 41 h 62"/>
                  <a:gd name="T44" fmla="*/ 3 w 135"/>
                  <a:gd name="T45" fmla="*/ 45 h 62"/>
                  <a:gd name="T46" fmla="*/ 0 w 135"/>
                  <a:gd name="T47" fmla="*/ 62 h 62"/>
                  <a:gd name="T48" fmla="*/ 10 w 135"/>
                  <a:gd name="T49" fmla="*/ 62 h 62"/>
                  <a:gd name="T50" fmla="*/ 10 w 135"/>
                  <a:gd name="T51" fmla="*/ 62 h 62"/>
                  <a:gd name="T52" fmla="*/ 10 w 135"/>
                  <a:gd name="T53" fmla="*/ 62 h 6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5"/>
                  <a:gd name="T82" fmla="*/ 0 h 62"/>
                  <a:gd name="T83" fmla="*/ 135 w 135"/>
                  <a:gd name="T84" fmla="*/ 62 h 6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5" h="62">
                    <a:moveTo>
                      <a:pt x="10" y="62"/>
                    </a:moveTo>
                    <a:lnTo>
                      <a:pt x="21" y="48"/>
                    </a:lnTo>
                    <a:lnTo>
                      <a:pt x="31" y="35"/>
                    </a:lnTo>
                    <a:lnTo>
                      <a:pt x="66" y="31"/>
                    </a:lnTo>
                    <a:lnTo>
                      <a:pt x="90" y="14"/>
                    </a:lnTo>
                    <a:lnTo>
                      <a:pt x="114" y="17"/>
                    </a:lnTo>
                    <a:lnTo>
                      <a:pt x="135" y="3"/>
                    </a:lnTo>
                    <a:lnTo>
                      <a:pt x="117" y="3"/>
                    </a:lnTo>
                    <a:lnTo>
                      <a:pt x="104" y="0"/>
                    </a:lnTo>
                    <a:lnTo>
                      <a:pt x="83" y="0"/>
                    </a:lnTo>
                    <a:lnTo>
                      <a:pt x="66" y="10"/>
                    </a:lnTo>
                    <a:lnTo>
                      <a:pt x="52" y="14"/>
                    </a:lnTo>
                    <a:lnTo>
                      <a:pt x="34" y="14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41" y="0"/>
                    </a:lnTo>
                    <a:lnTo>
                      <a:pt x="28" y="3"/>
                    </a:lnTo>
                    <a:lnTo>
                      <a:pt x="17" y="14"/>
                    </a:lnTo>
                    <a:lnTo>
                      <a:pt x="7" y="17"/>
                    </a:lnTo>
                    <a:lnTo>
                      <a:pt x="3" y="28"/>
                    </a:lnTo>
                    <a:lnTo>
                      <a:pt x="14" y="28"/>
                    </a:lnTo>
                    <a:lnTo>
                      <a:pt x="7" y="41"/>
                    </a:lnTo>
                    <a:lnTo>
                      <a:pt x="3" y="45"/>
                    </a:lnTo>
                    <a:lnTo>
                      <a:pt x="0" y="62"/>
                    </a:lnTo>
                    <a:lnTo>
                      <a:pt x="10" y="62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49" name="Freeform 136"/>
              <p:cNvSpPr>
                <a:spLocks/>
              </p:cNvSpPr>
              <p:nvPr/>
            </p:nvSpPr>
            <p:spPr bwMode="auto">
              <a:xfrm>
                <a:off x="3474" y="1291"/>
                <a:ext cx="87" cy="62"/>
              </a:xfrm>
              <a:custGeom>
                <a:avLst/>
                <a:gdLst>
                  <a:gd name="T0" fmla="*/ 56 w 87"/>
                  <a:gd name="T1" fmla="*/ 0 h 62"/>
                  <a:gd name="T2" fmla="*/ 76 w 87"/>
                  <a:gd name="T3" fmla="*/ 3 h 62"/>
                  <a:gd name="T4" fmla="*/ 87 w 87"/>
                  <a:gd name="T5" fmla="*/ 21 h 62"/>
                  <a:gd name="T6" fmla="*/ 83 w 87"/>
                  <a:gd name="T7" fmla="*/ 31 h 62"/>
                  <a:gd name="T8" fmla="*/ 66 w 87"/>
                  <a:gd name="T9" fmla="*/ 34 h 62"/>
                  <a:gd name="T10" fmla="*/ 42 w 87"/>
                  <a:gd name="T11" fmla="*/ 45 h 62"/>
                  <a:gd name="T12" fmla="*/ 35 w 87"/>
                  <a:gd name="T13" fmla="*/ 59 h 62"/>
                  <a:gd name="T14" fmla="*/ 21 w 87"/>
                  <a:gd name="T15" fmla="*/ 62 h 62"/>
                  <a:gd name="T16" fmla="*/ 0 w 87"/>
                  <a:gd name="T17" fmla="*/ 59 h 62"/>
                  <a:gd name="T18" fmla="*/ 4 w 87"/>
                  <a:gd name="T19" fmla="*/ 45 h 62"/>
                  <a:gd name="T20" fmla="*/ 18 w 87"/>
                  <a:gd name="T21" fmla="*/ 38 h 62"/>
                  <a:gd name="T22" fmla="*/ 11 w 87"/>
                  <a:gd name="T23" fmla="*/ 31 h 62"/>
                  <a:gd name="T24" fmla="*/ 35 w 87"/>
                  <a:gd name="T25" fmla="*/ 3 h 62"/>
                  <a:gd name="T26" fmla="*/ 56 w 87"/>
                  <a:gd name="T27" fmla="*/ 0 h 62"/>
                  <a:gd name="T28" fmla="*/ 56 w 87"/>
                  <a:gd name="T29" fmla="*/ 0 h 62"/>
                  <a:gd name="T30" fmla="*/ 56 w 87"/>
                  <a:gd name="T31" fmla="*/ 0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7"/>
                  <a:gd name="T49" fmla="*/ 0 h 62"/>
                  <a:gd name="T50" fmla="*/ 87 w 87"/>
                  <a:gd name="T51" fmla="*/ 62 h 6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7" h="62">
                    <a:moveTo>
                      <a:pt x="56" y="0"/>
                    </a:moveTo>
                    <a:lnTo>
                      <a:pt x="76" y="3"/>
                    </a:lnTo>
                    <a:lnTo>
                      <a:pt x="87" y="21"/>
                    </a:lnTo>
                    <a:lnTo>
                      <a:pt x="83" y="31"/>
                    </a:lnTo>
                    <a:lnTo>
                      <a:pt x="66" y="34"/>
                    </a:lnTo>
                    <a:lnTo>
                      <a:pt x="42" y="45"/>
                    </a:lnTo>
                    <a:lnTo>
                      <a:pt x="35" y="59"/>
                    </a:lnTo>
                    <a:lnTo>
                      <a:pt x="21" y="62"/>
                    </a:lnTo>
                    <a:lnTo>
                      <a:pt x="0" y="59"/>
                    </a:lnTo>
                    <a:lnTo>
                      <a:pt x="4" y="45"/>
                    </a:lnTo>
                    <a:lnTo>
                      <a:pt x="18" y="38"/>
                    </a:lnTo>
                    <a:lnTo>
                      <a:pt x="11" y="31"/>
                    </a:lnTo>
                    <a:lnTo>
                      <a:pt x="35" y="3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0" name="Freeform 137"/>
              <p:cNvSpPr>
                <a:spLocks/>
              </p:cNvSpPr>
              <p:nvPr/>
            </p:nvSpPr>
            <p:spPr bwMode="auto">
              <a:xfrm>
                <a:off x="3419" y="1294"/>
                <a:ext cx="69" cy="76"/>
              </a:xfrm>
              <a:custGeom>
                <a:avLst/>
                <a:gdLst>
                  <a:gd name="T0" fmla="*/ 69 w 69"/>
                  <a:gd name="T1" fmla="*/ 0 h 76"/>
                  <a:gd name="T2" fmla="*/ 59 w 69"/>
                  <a:gd name="T3" fmla="*/ 18 h 76"/>
                  <a:gd name="T4" fmla="*/ 55 w 69"/>
                  <a:gd name="T5" fmla="*/ 31 h 76"/>
                  <a:gd name="T6" fmla="*/ 45 w 69"/>
                  <a:gd name="T7" fmla="*/ 42 h 76"/>
                  <a:gd name="T8" fmla="*/ 55 w 69"/>
                  <a:gd name="T9" fmla="*/ 56 h 76"/>
                  <a:gd name="T10" fmla="*/ 45 w 69"/>
                  <a:gd name="T11" fmla="*/ 69 h 76"/>
                  <a:gd name="T12" fmla="*/ 35 w 69"/>
                  <a:gd name="T13" fmla="*/ 76 h 76"/>
                  <a:gd name="T14" fmla="*/ 31 w 69"/>
                  <a:gd name="T15" fmla="*/ 69 h 76"/>
                  <a:gd name="T16" fmla="*/ 38 w 69"/>
                  <a:gd name="T17" fmla="*/ 52 h 76"/>
                  <a:gd name="T18" fmla="*/ 38 w 69"/>
                  <a:gd name="T19" fmla="*/ 31 h 76"/>
                  <a:gd name="T20" fmla="*/ 24 w 69"/>
                  <a:gd name="T21" fmla="*/ 66 h 76"/>
                  <a:gd name="T22" fmla="*/ 21 w 69"/>
                  <a:gd name="T23" fmla="*/ 42 h 76"/>
                  <a:gd name="T24" fmla="*/ 14 w 69"/>
                  <a:gd name="T25" fmla="*/ 63 h 76"/>
                  <a:gd name="T26" fmla="*/ 7 w 69"/>
                  <a:gd name="T27" fmla="*/ 59 h 76"/>
                  <a:gd name="T28" fmla="*/ 0 w 69"/>
                  <a:gd name="T29" fmla="*/ 38 h 76"/>
                  <a:gd name="T30" fmla="*/ 10 w 69"/>
                  <a:gd name="T31" fmla="*/ 31 h 76"/>
                  <a:gd name="T32" fmla="*/ 24 w 69"/>
                  <a:gd name="T33" fmla="*/ 21 h 76"/>
                  <a:gd name="T34" fmla="*/ 31 w 69"/>
                  <a:gd name="T35" fmla="*/ 11 h 76"/>
                  <a:gd name="T36" fmla="*/ 42 w 69"/>
                  <a:gd name="T37" fmla="*/ 14 h 76"/>
                  <a:gd name="T38" fmla="*/ 52 w 69"/>
                  <a:gd name="T39" fmla="*/ 4 h 76"/>
                  <a:gd name="T40" fmla="*/ 69 w 69"/>
                  <a:gd name="T41" fmla="*/ 0 h 76"/>
                  <a:gd name="T42" fmla="*/ 69 w 69"/>
                  <a:gd name="T43" fmla="*/ 0 h 76"/>
                  <a:gd name="T44" fmla="*/ 69 w 69"/>
                  <a:gd name="T45" fmla="*/ 0 h 7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9"/>
                  <a:gd name="T70" fmla="*/ 0 h 76"/>
                  <a:gd name="T71" fmla="*/ 69 w 69"/>
                  <a:gd name="T72" fmla="*/ 76 h 7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9" h="76">
                    <a:moveTo>
                      <a:pt x="69" y="0"/>
                    </a:moveTo>
                    <a:lnTo>
                      <a:pt x="59" y="18"/>
                    </a:lnTo>
                    <a:lnTo>
                      <a:pt x="55" y="31"/>
                    </a:lnTo>
                    <a:lnTo>
                      <a:pt x="45" y="42"/>
                    </a:lnTo>
                    <a:lnTo>
                      <a:pt x="55" y="56"/>
                    </a:lnTo>
                    <a:lnTo>
                      <a:pt x="45" y="69"/>
                    </a:lnTo>
                    <a:lnTo>
                      <a:pt x="35" y="76"/>
                    </a:lnTo>
                    <a:lnTo>
                      <a:pt x="31" y="69"/>
                    </a:lnTo>
                    <a:lnTo>
                      <a:pt x="38" y="52"/>
                    </a:lnTo>
                    <a:lnTo>
                      <a:pt x="38" y="31"/>
                    </a:lnTo>
                    <a:lnTo>
                      <a:pt x="24" y="66"/>
                    </a:lnTo>
                    <a:lnTo>
                      <a:pt x="21" y="42"/>
                    </a:lnTo>
                    <a:lnTo>
                      <a:pt x="14" y="63"/>
                    </a:lnTo>
                    <a:lnTo>
                      <a:pt x="7" y="59"/>
                    </a:lnTo>
                    <a:lnTo>
                      <a:pt x="0" y="38"/>
                    </a:lnTo>
                    <a:lnTo>
                      <a:pt x="10" y="31"/>
                    </a:lnTo>
                    <a:lnTo>
                      <a:pt x="24" y="21"/>
                    </a:lnTo>
                    <a:lnTo>
                      <a:pt x="31" y="11"/>
                    </a:lnTo>
                    <a:lnTo>
                      <a:pt x="42" y="14"/>
                    </a:lnTo>
                    <a:lnTo>
                      <a:pt x="52" y="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1" name="Freeform 138"/>
              <p:cNvSpPr>
                <a:spLocks/>
              </p:cNvSpPr>
              <p:nvPr/>
            </p:nvSpPr>
            <p:spPr bwMode="auto">
              <a:xfrm>
                <a:off x="3630" y="1312"/>
                <a:ext cx="83" cy="55"/>
              </a:xfrm>
              <a:custGeom>
                <a:avLst/>
                <a:gdLst>
                  <a:gd name="T0" fmla="*/ 0 w 83"/>
                  <a:gd name="T1" fmla="*/ 34 h 55"/>
                  <a:gd name="T2" fmla="*/ 10 w 83"/>
                  <a:gd name="T3" fmla="*/ 20 h 55"/>
                  <a:gd name="T4" fmla="*/ 24 w 83"/>
                  <a:gd name="T5" fmla="*/ 17 h 55"/>
                  <a:gd name="T6" fmla="*/ 34 w 83"/>
                  <a:gd name="T7" fmla="*/ 7 h 55"/>
                  <a:gd name="T8" fmla="*/ 41 w 83"/>
                  <a:gd name="T9" fmla="*/ 3 h 55"/>
                  <a:gd name="T10" fmla="*/ 55 w 83"/>
                  <a:gd name="T11" fmla="*/ 0 h 55"/>
                  <a:gd name="T12" fmla="*/ 66 w 83"/>
                  <a:gd name="T13" fmla="*/ 7 h 55"/>
                  <a:gd name="T14" fmla="*/ 76 w 83"/>
                  <a:gd name="T15" fmla="*/ 0 h 55"/>
                  <a:gd name="T16" fmla="*/ 83 w 83"/>
                  <a:gd name="T17" fmla="*/ 3 h 55"/>
                  <a:gd name="T18" fmla="*/ 83 w 83"/>
                  <a:gd name="T19" fmla="*/ 20 h 55"/>
                  <a:gd name="T20" fmla="*/ 66 w 83"/>
                  <a:gd name="T21" fmla="*/ 31 h 55"/>
                  <a:gd name="T22" fmla="*/ 59 w 83"/>
                  <a:gd name="T23" fmla="*/ 41 h 55"/>
                  <a:gd name="T24" fmla="*/ 55 w 83"/>
                  <a:gd name="T25" fmla="*/ 51 h 55"/>
                  <a:gd name="T26" fmla="*/ 41 w 83"/>
                  <a:gd name="T27" fmla="*/ 55 h 55"/>
                  <a:gd name="T28" fmla="*/ 10 w 83"/>
                  <a:gd name="T29" fmla="*/ 48 h 55"/>
                  <a:gd name="T30" fmla="*/ 0 w 83"/>
                  <a:gd name="T31" fmla="*/ 34 h 55"/>
                  <a:gd name="T32" fmla="*/ 0 w 83"/>
                  <a:gd name="T33" fmla="*/ 34 h 55"/>
                  <a:gd name="T34" fmla="*/ 0 w 83"/>
                  <a:gd name="T35" fmla="*/ 34 h 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3"/>
                  <a:gd name="T55" fmla="*/ 0 h 55"/>
                  <a:gd name="T56" fmla="*/ 83 w 83"/>
                  <a:gd name="T57" fmla="*/ 55 h 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3" h="55">
                    <a:moveTo>
                      <a:pt x="0" y="34"/>
                    </a:moveTo>
                    <a:lnTo>
                      <a:pt x="10" y="20"/>
                    </a:lnTo>
                    <a:lnTo>
                      <a:pt x="24" y="17"/>
                    </a:lnTo>
                    <a:lnTo>
                      <a:pt x="34" y="7"/>
                    </a:lnTo>
                    <a:lnTo>
                      <a:pt x="41" y="3"/>
                    </a:lnTo>
                    <a:lnTo>
                      <a:pt x="55" y="0"/>
                    </a:lnTo>
                    <a:lnTo>
                      <a:pt x="66" y="7"/>
                    </a:lnTo>
                    <a:lnTo>
                      <a:pt x="76" y="0"/>
                    </a:lnTo>
                    <a:lnTo>
                      <a:pt x="83" y="3"/>
                    </a:lnTo>
                    <a:lnTo>
                      <a:pt x="83" y="20"/>
                    </a:lnTo>
                    <a:lnTo>
                      <a:pt x="66" y="31"/>
                    </a:lnTo>
                    <a:lnTo>
                      <a:pt x="59" y="41"/>
                    </a:lnTo>
                    <a:lnTo>
                      <a:pt x="55" y="51"/>
                    </a:lnTo>
                    <a:lnTo>
                      <a:pt x="41" y="55"/>
                    </a:lnTo>
                    <a:lnTo>
                      <a:pt x="10" y="48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2" name="Freeform 139"/>
              <p:cNvSpPr>
                <a:spLocks/>
              </p:cNvSpPr>
              <p:nvPr/>
            </p:nvSpPr>
            <p:spPr bwMode="auto">
              <a:xfrm>
                <a:off x="3699" y="1346"/>
                <a:ext cx="66" cy="59"/>
              </a:xfrm>
              <a:custGeom>
                <a:avLst/>
                <a:gdLst>
                  <a:gd name="T0" fmla="*/ 21 w 66"/>
                  <a:gd name="T1" fmla="*/ 0 h 59"/>
                  <a:gd name="T2" fmla="*/ 31 w 66"/>
                  <a:gd name="T3" fmla="*/ 11 h 59"/>
                  <a:gd name="T4" fmla="*/ 59 w 66"/>
                  <a:gd name="T5" fmla="*/ 17 h 59"/>
                  <a:gd name="T6" fmla="*/ 66 w 66"/>
                  <a:gd name="T7" fmla="*/ 17 h 59"/>
                  <a:gd name="T8" fmla="*/ 38 w 66"/>
                  <a:gd name="T9" fmla="*/ 59 h 59"/>
                  <a:gd name="T10" fmla="*/ 24 w 66"/>
                  <a:gd name="T11" fmla="*/ 49 h 59"/>
                  <a:gd name="T12" fmla="*/ 0 w 66"/>
                  <a:gd name="T13" fmla="*/ 31 h 59"/>
                  <a:gd name="T14" fmla="*/ 3 w 66"/>
                  <a:gd name="T15" fmla="*/ 21 h 59"/>
                  <a:gd name="T16" fmla="*/ 10 w 66"/>
                  <a:gd name="T17" fmla="*/ 4 h 59"/>
                  <a:gd name="T18" fmla="*/ 21 w 66"/>
                  <a:gd name="T19" fmla="*/ 0 h 59"/>
                  <a:gd name="T20" fmla="*/ 21 w 66"/>
                  <a:gd name="T21" fmla="*/ 0 h 59"/>
                  <a:gd name="T22" fmla="*/ 21 w 66"/>
                  <a:gd name="T23" fmla="*/ 0 h 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6"/>
                  <a:gd name="T37" fmla="*/ 0 h 59"/>
                  <a:gd name="T38" fmla="*/ 66 w 66"/>
                  <a:gd name="T39" fmla="*/ 59 h 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6" h="59">
                    <a:moveTo>
                      <a:pt x="21" y="0"/>
                    </a:moveTo>
                    <a:lnTo>
                      <a:pt x="31" y="11"/>
                    </a:lnTo>
                    <a:lnTo>
                      <a:pt x="59" y="17"/>
                    </a:lnTo>
                    <a:lnTo>
                      <a:pt x="66" y="17"/>
                    </a:lnTo>
                    <a:lnTo>
                      <a:pt x="38" y="59"/>
                    </a:lnTo>
                    <a:lnTo>
                      <a:pt x="24" y="49"/>
                    </a:lnTo>
                    <a:lnTo>
                      <a:pt x="0" y="31"/>
                    </a:lnTo>
                    <a:lnTo>
                      <a:pt x="3" y="21"/>
                    </a:lnTo>
                    <a:lnTo>
                      <a:pt x="10" y="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3" name="Freeform 140"/>
              <p:cNvSpPr>
                <a:spLocks/>
              </p:cNvSpPr>
              <p:nvPr/>
            </p:nvSpPr>
            <p:spPr bwMode="auto">
              <a:xfrm>
                <a:off x="3689" y="1035"/>
                <a:ext cx="103" cy="166"/>
              </a:xfrm>
              <a:custGeom>
                <a:avLst/>
                <a:gdLst>
                  <a:gd name="T0" fmla="*/ 3 w 103"/>
                  <a:gd name="T1" fmla="*/ 14 h 166"/>
                  <a:gd name="T2" fmla="*/ 0 w 103"/>
                  <a:gd name="T3" fmla="*/ 38 h 166"/>
                  <a:gd name="T4" fmla="*/ 7 w 103"/>
                  <a:gd name="T5" fmla="*/ 52 h 166"/>
                  <a:gd name="T6" fmla="*/ 10 w 103"/>
                  <a:gd name="T7" fmla="*/ 66 h 166"/>
                  <a:gd name="T8" fmla="*/ 7 w 103"/>
                  <a:gd name="T9" fmla="*/ 83 h 166"/>
                  <a:gd name="T10" fmla="*/ 17 w 103"/>
                  <a:gd name="T11" fmla="*/ 100 h 166"/>
                  <a:gd name="T12" fmla="*/ 7 w 103"/>
                  <a:gd name="T13" fmla="*/ 104 h 166"/>
                  <a:gd name="T14" fmla="*/ 13 w 103"/>
                  <a:gd name="T15" fmla="*/ 118 h 166"/>
                  <a:gd name="T16" fmla="*/ 24 w 103"/>
                  <a:gd name="T17" fmla="*/ 121 h 166"/>
                  <a:gd name="T18" fmla="*/ 27 w 103"/>
                  <a:gd name="T19" fmla="*/ 135 h 166"/>
                  <a:gd name="T20" fmla="*/ 27 w 103"/>
                  <a:gd name="T21" fmla="*/ 149 h 166"/>
                  <a:gd name="T22" fmla="*/ 31 w 103"/>
                  <a:gd name="T23" fmla="*/ 152 h 166"/>
                  <a:gd name="T24" fmla="*/ 45 w 103"/>
                  <a:gd name="T25" fmla="*/ 152 h 166"/>
                  <a:gd name="T26" fmla="*/ 45 w 103"/>
                  <a:gd name="T27" fmla="*/ 166 h 166"/>
                  <a:gd name="T28" fmla="*/ 55 w 103"/>
                  <a:gd name="T29" fmla="*/ 163 h 166"/>
                  <a:gd name="T30" fmla="*/ 86 w 103"/>
                  <a:gd name="T31" fmla="*/ 142 h 166"/>
                  <a:gd name="T32" fmla="*/ 103 w 103"/>
                  <a:gd name="T33" fmla="*/ 125 h 166"/>
                  <a:gd name="T34" fmla="*/ 100 w 103"/>
                  <a:gd name="T35" fmla="*/ 111 h 166"/>
                  <a:gd name="T36" fmla="*/ 86 w 103"/>
                  <a:gd name="T37" fmla="*/ 118 h 166"/>
                  <a:gd name="T38" fmla="*/ 83 w 103"/>
                  <a:gd name="T39" fmla="*/ 104 h 166"/>
                  <a:gd name="T40" fmla="*/ 93 w 103"/>
                  <a:gd name="T41" fmla="*/ 90 h 166"/>
                  <a:gd name="T42" fmla="*/ 83 w 103"/>
                  <a:gd name="T43" fmla="*/ 69 h 166"/>
                  <a:gd name="T44" fmla="*/ 79 w 103"/>
                  <a:gd name="T45" fmla="*/ 59 h 166"/>
                  <a:gd name="T46" fmla="*/ 76 w 103"/>
                  <a:gd name="T47" fmla="*/ 49 h 166"/>
                  <a:gd name="T48" fmla="*/ 96 w 103"/>
                  <a:gd name="T49" fmla="*/ 35 h 166"/>
                  <a:gd name="T50" fmla="*/ 83 w 103"/>
                  <a:gd name="T51" fmla="*/ 24 h 166"/>
                  <a:gd name="T52" fmla="*/ 79 w 103"/>
                  <a:gd name="T53" fmla="*/ 11 h 166"/>
                  <a:gd name="T54" fmla="*/ 55 w 103"/>
                  <a:gd name="T55" fmla="*/ 0 h 166"/>
                  <a:gd name="T56" fmla="*/ 27 w 103"/>
                  <a:gd name="T57" fmla="*/ 17 h 166"/>
                  <a:gd name="T58" fmla="*/ 3 w 103"/>
                  <a:gd name="T59" fmla="*/ 14 h 166"/>
                  <a:gd name="T60" fmla="*/ 3 w 103"/>
                  <a:gd name="T61" fmla="*/ 14 h 166"/>
                  <a:gd name="T62" fmla="*/ 3 w 103"/>
                  <a:gd name="T63" fmla="*/ 14 h 1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03"/>
                  <a:gd name="T97" fmla="*/ 0 h 166"/>
                  <a:gd name="T98" fmla="*/ 103 w 103"/>
                  <a:gd name="T99" fmla="*/ 166 h 16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03" h="166">
                    <a:moveTo>
                      <a:pt x="3" y="14"/>
                    </a:moveTo>
                    <a:lnTo>
                      <a:pt x="0" y="38"/>
                    </a:lnTo>
                    <a:lnTo>
                      <a:pt x="7" y="52"/>
                    </a:lnTo>
                    <a:lnTo>
                      <a:pt x="10" y="66"/>
                    </a:lnTo>
                    <a:lnTo>
                      <a:pt x="7" y="83"/>
                    </a:lnTo>
                    <a:lnTo>
                      <a:pt x="17" y="100"/>
                    </a:lnTo>
                    <a:lnTo>
                      <a:pt x="7" y="104"/>
                    </a:lnTo>
                    <a:lnTo>
                      <a:pt x="13" y="118"/>
                    </a:lnTo>
                    <a:lnTo>
                      <a:pt x="24" y="121"/>
                    </a:lnTo>
                    <a:lnTo>
                      <a:pt x="27" y="135"/>
                    </a:lnTo>
                    <a:lnTo>
                      <a:pt x="27" y="149"/>
                    </a:lnTo>
                    <a:lnTo>
                      <a:pt x="31" y="152"/>
                    </a:lnTo>
                    <a:lnTo>
                      <a:pt x="45" y="152"/>
                    </a:lnTo>
                    <a:lnTo>
                      <a:pt x="45" y="166"/>
                    </a:lnTo>
                    <a:lnTo>
                      <a:pt x="55" y="163"/>
                    </a:lnTo>
                    <a:lnTo>
                      <a:pt x="86" y="142"/>
                    </a:lnTo>
                    <a:lnTo>
                      <a:pt x="103" y="125"/>
                    </a:lnTo>
                    <a:lnTo>
                      <a:pt x="100" y="111"/>
                    </a:lnTo>
                    <a:lnTo>
                      <a:pt x="86" y="118"/>
                    </a:lnTo>
                    <a:lnTo>
                      <a:pt x="83" y="104"/>
                    </a:lnTo>
                    <a:lnTo>
                      <a:pt x="93" y="90"/>
                    </a:lnTo>
                    <a:lnTo>
                      <a:pt x="83" y="69"/>
                    </a:lnTo>
                    <a:lnTo>
                      <a:pt x="79" y="59"/>
                    </a:lnTo>
                    <a:lnTo>
                      <a:pt x="76" y="49"/>
                    </a:lnTo>
                    <a:lnTo>
                      <a:pt x="96" y="35"/>
                    </a:lnTo>
                    <a:lnTo>
                      <a:pt x="83" y="24"/>
                    </a:lnTo>
                    <a:lnTo>
                      <a:pt x="79" y="11"/>
                    </a:lnTo>
                    <a:lnTo>
                      <a:pt x="55" y="0"/>
                    </a:lnTo>
                    <a:lnTo>
                      <a:pt x="27" y="17"/>
                    </a:ln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4" name="Freeform 141"/>
              <p:cNvSpPr>
                <a:spLocks/>
              </p:cNvSpPr>
              <p:nvPr/>
            </p:nvSpPr>
            <p:spPr bwMode="auto">
              <a:xfrm>
                <a:off x="3792" y="1084"/>
                <a:ext cx="25" cy="44"/>
              </a:xfrm>
              <a:custGeom>
                <a:avLst/>
                <a:gdLst>
                  <a:gd name="T0" fmla="*/ 0 w 25"/>
                  <a:gd name="T1" fmla="*/ 13 h 44"/>
                  <a:gd name="T2" fmla="*/ 4 w 25"/>
                  <a:gd name="T3" fmla="*/ 6 h 44"/>
                  <a:gd name="T4" fmla="*/ 4 w 25"/>
                  <a:gd name="T5" fmla="*/ 0 h 44"/>
                  <a:gd name="T6" fmla="*/ 21 w 25"/>
                  <a:gd name="T7" fmla="*/ 0 h 44"/>
                  <a:gd name="T8" fmla="*/ 18 w 25"/>
                  <a:gd name="T9" fmla="*/ 10 h 44"/>
                  <a:gd name="T10" fmla="*/ 21 w 25"/>
                  <a:gd name="T11" fmla="*/ 20 h 44"/>
                  <a:gd name="T12" fmla="*/ 14 w 25"/>
                  <a:gd name="T13" fmla="*/ 31 h 44"/>
                  <a:gd name="T14" fmla="*/ 25 w 25"/>
                  <a:gd name="T15" fmla="*/ 34 h 44"/>
                  <a:gd name="T16" fmla="*/ 14 w 25"/>
                  <a:gd name="T17" fmla="*/ 44 h 44"/>
                  <a:gd name="T18" fmla="*/ 4 w 25"/>
                  <a:gd name="T19" fmla="*/ 41 h 44"/>
                  <a:gd name="T20" fmla="*/ 4 w 25"/>
                  <a:gd name="T21" fmla="*/ 27 h 44"/>
                  <a:gd name="T22" fmla="*/ 7 w 25"/>
                  <a:gd name="T23" fmla="*/ 17 h 44"/>
                  <a:gd name="T24" fmla="*/ 0 w 25"/>
                  <a:gd name="T25" fmla="*/ 13 h 44"/>
                  <a:gd name="T26" fmla="*/ 0 w 25"/>
                  <a:gd name="T27" fmla="*/ 13 h 44"/>
                  <a:gd name="T28" fmla="*/ 0 w 25"/>
                  <a:gd name="T29" fmla="*/ 13 h 4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5"/>
                  <a:gd name="T46" fmla="*/ 0 h 44"/>
                  <a:gd name="T47" fmla="*/ 25 w 25"/>
                  <a:gd name="T48" fmla="*/ 44 h 4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5" h="44">
                    <a:moveTo>
                      <a:pt x="0" y="13"/>
                    </a:moveTo>
                    <a:lnTo>
                      <a:pt x="4" y="6"/>
                    </a:lnTo>
                    <a:lnTo>
                      <a:pt x="4" y="0"/>
                    </a:lnTo>
                    <a:lnTo>
                      <a:pt x="21" y="0"/>
                    </a:lnTo>
                    <a:lnTo>
                      <a:pt x="18" y="10"/>
                    </a:lnTo>
                    <a:lnTo>
                      <a:pt x="21" y="20"/>
                    </a:lnTo>
                    <a:lnTo>
                      <a:pt x="14" y="31"/>
                    </a:lnTo>
                    <a:lnTo>
                      <a:pt x="25" y="34"/>
                    </a:lnTo>
                    <a:lnTo>
                      <a:pt x="14" y="44"/>
                    </a:lnTo>
                    <a:lnTo>
                      <a:pt x="4" y="41"/>
                    </a:lnTo>
                    <a:lnTo>
                      <a:pt x="4" y="27"/>
                    </a:lnTo>
                    <a:lnTo>
                      <a:pt x="7" y="1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DDD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5" name="Freeform 142"/>
              <p:cNvSpPr>
                <a:spLocks/>
              </p:cNvSpPr>
              <p:nvPr/>
            </p:nvSpPr>
            <p:spPr bwMode="auto">
              <a:xfrm>
                <a:off x="3692" y="994"/>
                <a:ext cx="76" cy="58"/>
              </a:xfrm>
              <a:custGeom>
                <a:avLst/>
                <a:gdLst>
                  <a:gd name="T0" fmla="*/ 10 w 76"/>
                  <a:gd name="T1" fmla="*/ 38 h 58"/>
                  <a:gd name="T2" fmla="*/ 0 w 76"/>
                  <a:gd name="T3" fmla="*/ 45 h 58"/>
                  <a:gd name="T4" fmla="*/ 0 w 76"/>
                  <a:gd name="T5" fmla="*/ 52 h 58"/>
                  <a:gd name="T6" fmla="*/ 17 w 76"/>
                  <a:gd name="T7" fmla="*/ 58 h 58"/>
                  <a:gd name="T8" fmla="*/ 35 w 76"/>
                  <a:gd name="T9" fmla="*/ 55 h 58"/>
                  <a:gd name="T10" fmla="*/ 45 w 76"/>
                  <a:gd name="T11" fmla="*/ 45 h 58"/>
                  <a:gd name="T12" fmla="*/ 59 w 76"/>
                  <a:gd name="T13" fmla="*/ 41 h 58"/>
                  <a:gd name="T14" fmla="*/ 48 w 76"/>
                  <a:gd name="T15" fmla="*/ 34 h 58"/>
                  <a:gd name="T16" fmla="*/ 62 w 76"/>
                  <a:gd name="T17" fmla="*/ 27 h 58"/>
                  <a:gd name="T18" fmla="*/ 52 w 76"/>
                  <a:gd name="T19" fmla="*/ 20 h 58"/>
                  <a:gd name="T20" fmla="*/ 76 w 76"/>
                  <a:gd name="T21" fmla="*/ 0 h 58"/>
                  <a:gd name="T22" fmla="*/ 59 w 76"/>
                  <a:gd name="T23" fmla="*/ 0 h 58"/>
                  <a:gd name="T24" fmla="*/ 42 w 76"/>
                  <a:gd name="T25" fmla="*/ 7 h 58"/>
                  <a:gd name="T26" fmla="*/ 31 w 76"/>
                  <a:gd name="T27" fmla="*/ 13 h 58"/>
                  <a:gd name="T28" fmla="*/ 35 w 76"/>
                  <a:gd name="T29" fmla="*/ 24 h 58"/>
                  <a:gd name="T30" fmla="*/ 7 w 76"/>
                  <a:gd name="T31" fmla="*/ 31 h 58"/>
                  <a:gd name="T32" fmla="*/ 10 w 76"/>
                  <a:gd name="T33" fmla="*/ 38 h 58"/>
                  <a:gd name="T34" fmla="*/ 10 w 76"/>
                  <a:gd name="T35" fmla="*/ 38 h 58"/>
                  <a:gd name="T36" fmla="*/ 10 w 76"/>
                  <a:gd name="T37" fmla="*/ 38 h 5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6"/>
                  <a:gd name="T58" fmla="*/ 0 h 58"/>
                  <a:gd name="T59" fmla="*/ 76 w 76"/>
                  <a:gd name="T60" fmla="*/ 58 h 5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6" h="58">
                    <a:moveTo>
                      <a:pt x="10" y="38"/>
                    </a:moveTo>
                    <a:lnTo>
                      <a:pt x="0" y="45"/>
                    </a:lnTo>
                    <a:lnTo>
                      <a:pt x="0" y="52"/>
                    </a:lnTo>
                    <a:lnTo>
                      <a:pt x="17" y="58"/>
                    </a:lnTo>
                    <a:lnTo>
                      <a:pt x="35" y="55"/>
                    </a:lnTo>
                    <a:lnTo>
                      <a:pt x="45" y="45"/>
                    </a:lnTo>
                    <a:lnTo>
                      <a:pt x="59" y="41"/>
                    </a:lnTo>
                    <a:lnTo>
                      <a:pt x="48" y="34"/>
                    </a:lnTo>
                    <a:lnTo>
                      <a:pt x="62" y="27"/>
                    </a:lnTo>
                    <a:lnTo>
                      <a:pt x="52" y="20"/>
                    </a:lnTo>
                    <a:lnTo>
                      <a:pt x="76" y="0"/>
                    </a:lnTo>
                    <a:lnTo>
                      <a:pt x="59" y="0"/>
                    </a:lnTo>
                    <a:lnTo>
                      <a:pt x="42" y="7"/>
                    </a:lnTo>
                    <a:lnTo>
                      <a:pt x="31" y="13"/>
                    </a:lnTo>
                    <a:lnTo>
                      <a:pt x="35" y="24"/>
                    </a:lnTo>
                    <a:lnTo>
                      <a:pt x="7" y="31"/>
                    </a:lnTo>
                    <a:lnTo>
                      <a:pt x="10" y="38"/>
                    </a:lnTo>
                    <a:close/>
                  </a:path>
                </a:pathLst>
              </a:custGeom>
              <a:solidFill>
                <a:srgbClr val="857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6" name="Freeform 143"/>
              <p:cNvSpPr>
                <a:spLocks/>
              </p:cNvSpPr>
              <p:nvPr/>
            </p:nvSpPr>
            <p:spPr bwMode="auto">
              <a:xfrm>
                <a:off x="3243" y="893"/>
                <a:ext cx="10" cy="7"/>
              </a:xfrm>
              <a:custGeom>
                <a:avLst/>
                <a:gdLst>
                  <a:gd name="T0" fmla="*/ 0 w 10"/>
                  <a:gd name="T1" fmla="*/ 7 h 7"/>
                  <a:gd name="T2" fmla="*/ 3 w 10"/>
                  <a:gd name="T3" fmla="*/ 4 h 7"/>
                  <a:gd name="T4" fmla="*/ 10 w 10"/>
                  <a:gd name="T5" fmla="*/ 7 h 7"/>
                  <a:gd name="T6" fmla="*/ 10 w 10"/>
                  <a:gd name="T7" fmla="*/ 0 h 7"/>
                  <a:gd name="T8" fmla="*/ 0 w 10"/>
                  <a:gd name="T9" fmla="*/ 0 h 7"/>
                  <a:gd name="T10" fmla="*/ 0 w 10"/>
                  <a:gd name="T11" fmla="*/ 7 h 7"/>
                  <a:gd name="T12" fmla="*/ 0 w 10"/>
                  <a:gd name="T13" fmla="*/ 7 h 7"/>
                  <a:gd name="T14" fmla="*/ 0 w 10"/>
                  <a:gd name="T15" fmla="*/ 7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"/>
                  <a:gd name="T25" fmla="*/ 0 h 7"/>
                  <a:gd name="T26" fmla="*/ 10 w 10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" h="7">
                    <a:moveTo>
                      <a:pt x="0" y="7"/>
                    </a:moveTo>
                    <a:lnTo>
                      <a:pt x="3" y="4"/>
                    </a:lnTo>
                    <a:lnTo>
                      <a:pt x="10" y="7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B9D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7" name="Freeform 144"/>
              <p:cNvSpPr>
                <a:spLocks/>
              </p:cNvSpPr>
              <p:nvPr/>
            </p:nvSpPr>
            <p:spPr bwMode="auto">
              <a:xfrm>
                <a:off x="3260" y="797"/>
                <a:ext cx="59" cy="100"/>
              </a:xfrm>
              <a:custGeom>
                <a:avLst/>
                <a:gdLst>
                  <a:gd name="T0" fmla="*/ 0 w 59"/>
                  <a:gd name="T1" fmla="*/ 3 h 100"/>
                  <a:gd name="T2" fmla="*/ 21 w 59"/>
                  <a:gd name="T3" fmla="*/ 0 h 100"/>
                  <a:gd name="T4" fmla="*/ 28 w 59"/>
                  <a:gd name="T5" fmla="*/ 3 h 100"/>
                  <a:gd name="T6" fmla="*/ 38 w 59"/>
                  <a:gd name="T7" fmla="*/ 10 h 100"/>
                  <a:gd name="T8" fmla="*/ 42 w 59"/>
                  <a:gd name="T9" fmla="*/ 17 h 100"/>
                  <a:gd name="T10" fmla="*/ 45 w 59"/>
                  <a:gd name="T11" fmla="*/ 24 h 100"/>
                  <a:gd name="T12" fmla="*/ 42 w 59"/>
                  <a:gd name="T13" fmla="*/ 45 h 100"/>
                  <a:gd name="T14" fmla="*/ 52 w 59"/>
                  <a:gd name="T15" fmla="*/ 55 h 100"/>
                  <a:gd name="T16" fmla="*/ 52 w 59"/>
                  <a:gd name="T17" fmla="*/ 62 h 100"/>
                  <a:gd name="T18" fmla="*/ 55 w 59"/>
                  <a:gd name="T19" fmla="*/ 69 h 100"/>
                  <a:gd name="T20" fmla="*/ 59 w 59"/>
                  <a:gd name="T21" fmla="*/ 83 h 100"/>
                  <a:gd name="T22" fmla="*/ 59 w 59"/>
                  <a:gd name="T23" fmla="*/ 90 h 100"/>
                  <a:gd name="T24" fmla="*/ 55 w 59"/>
                  <a:gd name="T25" fmla="*/ 93 h 100"/>
                  <a:gd name="T26" fmla="*/ 48 w 59"/>
                  <a:gd name="T27" fmla="*/ 96 h 100"/>
                  <a:gd name="T28" fmla="*/ 45 w 59"/>
                  <a:gd name="T29" fmla="*/ 100 h 100"/>
                  <a:gd name="T30" fmla="*/ 42 w 59"/>
                  <a:gd name="T31" fmla="*/ 96 h 100"/>
                  <a:gd name="T32" fmla="*/ 48 w 59"/>
                  <a:gd name="T33" fmla="*/ 83 h 100"/>
                  <a:gd name="T34" fmla="*/ 48 w 59"/>
                  <a:gd name="T35" fmla="*/ 76 h 100"/>
                  <a:gd name="T36" fmla="*/ 45 w 59"/>
                  <a:gd name="T37" fmla="*/ 69 h 100"/>
                  <a:gd name="T38" fmla="*/ 42 w 59"/>
                  <a:gd name="T39" fmla="*/ 55 h 100"/>
                  <a:gd name="T40" fmla="*/ 38 w 59"/>
                  <a:gd name="T41" fmla="*/ 51 h 100"/>
                  <a:gd name="T42" fmla="*/ 35 w 59"/>
                  <a:gd name="T43" fmla="*/ 48 h 100"/>
                  <a:gd name="T44" fmla="*/ 35 w 59"/>
                  <a:gd name="T45" fmla="*/ 45 h 100"/>
                  <a:gd name="T46" fmla="*/ 31 w 59"/>
                  <a:gd name="T47" fmla="*/ 13 h 100"/>
                  <a:gd name="T48" fmla="*/ 28 w 59"/>
                  <a:gd name="T49" fmla="*/ 10 h 100"/>
                  <a:gd name="T50" fmla="*/ 24 w 59"/>
                  <a:gd name="T51" fmla="*/ 7 h 100"/>
                  <a:gd name="T52" fmla="*/ 17 w 59"/>
                  <a:gd name="T53" fmla="*/ 3 h 100"/>
                  <a:gd name="T54" fmla="*/ 0 w 59"/>
                  <a:gd name="T55" fmla="*/ 7 h 100"/>
                  <a:gd name="T56" fmla="*/ 0 w 59"/>
                  <a:gd name="T57" fmla="*/ 3 h 100"/>
                  <a:gd name="T58" fmla="*/ 0 w 59"/>
                  <a:gd name="T59" fmla="*/ 3 h 100"/>
                  <a:gd name="T60" fmla="*/ 0 w 59"/>
                  <a:gd name="T61" fmla="*/ 3 h 100"/>
                  <a:gd name="T62" fmla="*/ 0 w 59"/>
                  <a:gd name="T63" fmla="*/ 3 h 10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59"/>
                  <a:gd name="T97" fmla="*/ 0 h 100"/>
                  <a:gd name="T98" fmla="*/ 59 w 59"/>
                  <a:gd name="T99" fmla="*/ 100 h 10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59" h="100">
                    <a:moveTo>
                      <a:pt x="0" y="3"/>
                    </a:moveTo>
                    <a:lnTo>
                      <a:pt x="21" y="0"/>
                    </a:lnTo>
                    <a:lnTo>
                      <a:pt x="28" y="3"/>
                    </a:lnTo>
                    <a:lnTo>
                      <a:pt x="38" y="10"/>
                    </a:lnTo>
                    <a:lnTo>
                      <a:pt x="42" y="17"/>
                    </a:lnTo>
                    <a:lnTo>
                      <a:pt x="45" y="24"/>
                    </a:lnTo>
                    <a:lnTo>
                      <a:pt x="42" y="45"/>
                    </a:lnTo>
                    <a:lnTo>
                      <a:pt x="52" y="55"/>
                    </a:lnTo>
                    <a:lnTo>
                      <a:pt x="52" y="62"/>
                    </a:lnTo>
                    <a:lnTo>
                      <a:pt x="55" y="69"/>
                    </a:lnTo>
                    <a:lnTo>
                      <a:pt x="59" y="83"/>
                    </a:lnTo>
                    <a:lnTo>
                      <a:pt x="59" y="90"/>
                    </a:lnTo>
                    <a:lnTo>
                      <a:pt x="55" y="93"/>
                    </a:lnTo>
                    <a:lnTo>
                      <a:pt x="48" y="96"/>
                    </a:lnTo>
                    <a:lnTo>
                      <a:pt x="45" y="100"/>
                    </a:lnTo>
                    <a:lnTo>
                      <a:pt x="42" y="96"/>
                    </a:lnTo>
                    <a:lnTo>
                      <a:pt x="48" y="83"/>
                    </a:lnTo>
                    <a:lnTo>
                      <a:pt x="48" y="76"/>
                    </a:lnTo>
                    <a:lnTo>
                      <a:pt x="45" y="69"/>
                    </a:lnTo>
                    <a:lnTo>
                      <a:pt x="42" y="55"/>
                    </a:lnTo>
                    <a:lnTo>
                      <a:pt x="38" y="51"/>
                    </a:lnTo>
                    <a:lnTo>
                      <a:pt x="35" y="48"/>
                    </a:lnTo>
                    <a:lnTo>
                      <a:pt x="35" y="45"/>
                    </a:lnTo>
                    <a:lnTo>
                      <a:pt x="31" y="13"/>
                    </a:lnTo>
                    <a:lnTo>
                      <a:pt x="28" y="10"/>
                    </a:lnTo>
                    <a:lnTo>
                      <a:pt x="24" y="7"/>
                    </a:lnTo>
                    <a:lnTo>
                      <a:pt x="17" y="3"/>
                    </a:lnTo>
                    <a:lnTo>
                      <a:pt x="0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8" name="Freeform 145"/>
              <p:cNvSpPr>
                <a:spLocks/>
              </p:cNvSpPr>
              <p:nvPr/>
            </p:nvSpPr>
            <p:spPr bwMode="auto">
              <a:xfrm>
                <a:off x="2970" y="973"/>
                <a:ext cx="124" cy="48"/>
              </a:xfrm>
              <a:custGeom>
                <a:avLst/>
                <a:gdLst>
                  <a:gd name="T0" fmla="*/ 121 w 124"/>
                  <a:gd name="T1" fmla="*/ 3 h 48"/>
                  <a:gd name="T2" fmla="*/ 110 w 124"/>
                  <a:gd name="T3" fmla="*/ 7 h 48"/>
                  <a:gd name="T4" fmla="*/ 107 w 124"/>
                  <a:gd name="T5" fmla="*/ 10 h 48"/>
                  <a:gd name="T6" fmla="*/ 100 w 124"/>
                  <a:gd name="T7" fmla="*/ 14 h 48"/>
                  <a:gd name="T8" fmla="*/ 90 w 124"/>
                  <a:gd name="T9" fmla="*/ 14 h 48"/>
                  <a:gd name="T10" fmla="*/ 79 w 124"/>
                  <a:gd name="T11" fmla="*/ 14 h 48"/>
                  <a:gd name="T12" fmla="*/ 69 w 124"/>
                  <a:gd name="T13" fmla="*/ 14 h 48"/>
                  <a:gd name="T14" fmla="*/ 62 w 124"/>
                  <a:gd name="T15" fmla="*/ 21 h 48"/>
                  <a:gd name="T16" fmla="*/ 55 w 124"/>
                  <a:gd name="T17" fmla="*/ 28 h 48"/>
                  <a:gd name="T18" fmla="*/ 48 w 124"/>
                  <a:gd name="T19" fmla="*/ 31 h 48"/>
                  <a:gd name="T20" fmla="*/ 31 w 124"/>
                  <a:gd name="T21" fmla="*/ 31 h 48"/>
                  <a:gd name="T22" fmla="*/ 17 w 124"/>
                  <a:gd name="T23" fmla="*/ 34 h 48"/>
                  <a:gd name="T24" fmla="*/ 14 w 124"/>
                  <a:gd name="T25" fmla="*/ 45 h 48"/>
                  <a:gd name="T26" fmla="*/ 7 w 124"/>
                  <a:gd name="T27" fmla="*/ 48 h 48"/>
                  <a:gd name="T28" fmla="*/ 0 w 124"/>
                  <a:gd name="T29" fmla="*/ 45 h 48"/>
                  <a:gd name="T30" fmla="*/ 0 w 124"/>
                  <a:gd name="T31" fmla="*/ 41 h 48"/>
                  <a:gd name="T32" fmla="*/ 0 w 124"/>
                  <a:gd name="T33" fmla="*/ 38 h 48"/>
                  <a:gd name="T34" fmla="*/ 3 w 124"/>
                  <a:gd name="T35" fmla="*/ 38 h 48"/>
                  <a:gd name="T36" fmla="*/ 10 w 124"/>
                  <a:gd name="T37" fmla="*/ 28 h 48"/>
                  <a:gd name="T38" fmla="*/ 20 w 124"/>
                  <a:gd name="T39" fmla="*/ 24 h 48"/>
                  <a:gd name="T40" fmla="*/ 27 w 124"/>
                  <a:gd name="T41" fmla="*/ 21 h 48"/>
                  <a:gd name="T42" fmla="*/ 45 w 124"/>
                  <a:gd name="T43" fmla="*/ 21 h 48"/>
                  <a:gd name="T44" fmla="*/ 62 w 124"/>
                  <a:gd name="T45" fmla="*/ 10 h 48"/>
                  <a:gd name="T46" fmla="*/ 69 w 124"/>
                  <a:gd name="T47" fmla="*/ 7 h 48"/>
                  <a:gd name="T48" fmla="*/ 76 w 124"/>
                  <a:gd name="T49" fmla="*/ 3 h 48"/>
                  <a:gd name="T50" fmla="*/ 90 w 124"/>
                  <a:gd name="T51" fmla="*/ 7 h 48"/>
                  <a:gd name="T52" fmla="*/ 100 w 124"/>
                  <a:gd name="T53" fmla="*/ 7 h 48"/>
                  <a:gd name="T54" fmla="*/ 110 w 124"/>
                  <a:gd name="T55" fmla="*/ 3 h 48"/>
                  <a:gd name="T56" fmla="*/ 121 w 124"/>
                  <a:gd name="T57" fmla="*/ 0 h 48"/>
                  <a:gd name="T58" fmla="*/ 124 w 124"/>
                  <a:gd name="T59" fmla="*/ 3 h 48"/>
                  <a:gd name="T60" fmla="*/ 121 w 124"/>
                  <a:gd name="T61" fmla="*/ 3 h 48"/>
                  <a:gd name="T62" fmla="*/ 121 w 124"/>
                  <a:gd name="T63" fmla="*/ 3 h 48"/>
                  <a:gd name="T64" fmla="*/ 121 w 124"/>
                  <a:gd name="T65" fmla="*/ 3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4"/>
                  <a:gd name="T100" fmla="*/ 0 h 48"/>
                  <a:gd name="T101" fmla="*/ 124 w 124"/>
                  <a:gd name="T102" fmla="*/ 48 h 4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4" h="48">
                    <a:moveTo>
                      <a:pt x="121" y="3"/>
                    </a:moveTo>
                    <a:lnTo>
                      <a:pt x="110" y="7"/>
                    </a:lnTo>
                    <a:lnTo>
                      <a:pt x="107" y="10"/>
                    </a:lnTo>
                    <a:lnTo>
                      <a:pt x="100" y="14"/>
                    </a:lnTo>
                    <a:lnTo>
                      <a:pt x="90" y="14"/>
                    </a:lnTo>
                    <a:lnTo>
                      <a:pt x="79" y="14"/>
                    </a:lnTo>
                    <a:lnTo>
                      <a:pt x="69" y="14"/>
                    </a:lnTo>
                    <a:lnTo>
                      <a:pt x="62" y="21"/>
                    </a:lnTo>
                    <a:lnTo>
                      <a:pt x="55" y="28"/>
                    </a:lnTo>
                    <a:lnTo>
                      <a:pt x="48" y="31"/>
                    </a:lnTo>
                    <a:lnTo>
                      <a:pt x="31" y="31"/>
                    </a:lnTo>
                    <a:lnTo>
                      <a:pt x="17" y="34"/>
                    </a:lnTo>
                    <a:lnTo>
                      <a:pt x="14" y="45"/>
                    </a:lnTo>
                    <a:lnTo>
                      <a:pt x="7" y="48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3" y="38"/>
                    </a:lnTo>
                    <a:lnTo>
                      <a:pt x="10" y="28"/>
                    </a:lnTo>
                    <a:lnTo>
                      <a:pt x="20" y="24"/>
                    </a:lnTo>
                    <a:lnTo>
                      <a:pt x="27" y="21"/>
                    </a:lnTo>
                    <a:lnTo>
                      <a:pt x="45" y="21"/>
                    </a:lnTo>
                    <a:lnTo>
                      <a:pt x="62" y="10"/>
                    </a:lnTo>
                    <a:lnTo>
                      <a:pt x="69" y="7"/>
                    </a:lnTo>
                    <a:lnTo>
                      <a:pt x="76" y="3"/>
                    </a:lnTo>
                    <a:lnTo>
                      <a:pt x="90" y="7"/>
                    </a:lnTo>
                    <a:lnTo>
                      <a:pt x="100" y="7"/>
                    </a:lnTo>
                    <a:lnTo>
                      <a:pt x="110" y="3"/>
                    </a:lnTo>
                    <a:lnTo>
                      <a:pt x="121" y="0"/>
                    </a:lnTo>
                    <a:lnTo>
                      <a:pt x="124" y="3"/>
                    </a:lnTo>
                    <a:lnTo>
                      <a:pt x="12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59" name="Freeform 146"/>
              <p:cNvSpPr>
                <a:spLocks/>
              </p:cNvSpPr>
              <p:nvPr/>
            </p:nvSpPr>
            <p:spPr bwMode="auto">
              <a:xfrm>
                <a:off x="2952" y="945"/>
                <a:ext cx="139" cy="24"/>
              </a:xfrm>
              <a:custGeom>
                <a:avLst/>
                <a:gdLst>
                  <a:gd name="T0" fmla="*/ 139 w 139"/>
                  <a:gd name="T1" fmla="*/ 18 h 24"/>
                  <a:gd name="T2" fmla="*/ 118 w 139"/>
                  <a:gd name="T3" fmla="*/ 18 h 24"/>
                  <a:gd name="T4" fmla="*/ 101 w 139"/>
                  <a:gd name="T5" fmla="*/ 11 h 24"/>
                  <a:gd name="T6" fmla="*/ 83 w 139"/>
                  <a:gd name="T7" fmla="*/ 11 h 24"/>
                  <a:gd name="T8" fmla="*/ 66 w 139"/>
                  <a:gd name="T9" fmla="*/ 11 h 24"/>
                  <a:gd name="T10" fmla="*/ 52 w 139"/>
                  <a:gd name="T11" fmla="*/ 7 h 24"/>
                  <a:gd name="T12" fmla="*/ 42 w 139"/>
                  <a:gd name="T13" fmla="*/ 7 h 24"/>
                  <a:gd name="T14" fmla="*/ 21 w 139"/>
                  <a:gd name="T15" fmla="*/ 14 h 24"/>
                  <a:gd name="T16" fmla="*/ 7 w 139"/>
                  <a:gd name="T17" fmla="*/ 24 h 24"/>
                  <a:gd name="T18" fmla="*/ 4 w 139"/>
                  <a:gd name="T19" fmla="*/ 24 h 24"/>
                  <a:gd name="T20" fmla="*/ 0 w 139"/>
                  <a:gd name="T21" fmla="*/ 21 h 24"/>
                  <a:gd name="T22" fmla="*/ 7 w 139"/>
                  <a:gd name="T23" fmla="*/ 18 h 24"/>
                  <a:gd name="T24" fmla="*/ 11 w 139"/>
                  <a:gd name="T25" fmla="*/ 14 h 24"/>
                  <a:gd name="T26" fmla="*/ 18 w 139"/>
                  <a:gd name="T27" fmla="*/ 11 h 24"/>
                  <a:gd name="T28" fmla="*/ 25 w 139"/>
                  <a:gd name="T29" fmla="*/ 7 h 24"/>
                  <a:gd name="T30" fmla="*/ 32 w 139"/>
                  <a:gd name="T31" fmla="*/ 4 h 24"/>
                  <a:gd name="T32" fmla="*/ 42 w 139"/>
                  <a:gd name="T33" fmla="*/ 0 h 24"/>
                  <a:gd name="T34" fmla="*/ 66 w 139"/>
                  <a:gd name="T35" fmla="*/ 4 h 24"/>
                  <a:gd name="T36" fmla="*/ 101 w 139"/>
                  <a:gd name="T37" fmla="*/ 4 h 24"/>
                  <a:gd name="T38" fmla="*/ 118 w 139"/>
                  <a:gd name="T39" fmla="*/ 11 h 24"/>
                  <a:gd name="T40" fmla="*/ 128 w 139"/>
                  <a:gd name="T41" fmla="*/ 14 h 24"/>
                  <a:gd name="T42" fmla="*/ 139 w 139"/>
                  <a:gd name="T43" fmla="*/ 14 h 24"/>
                  <a:gd name="T44" fmla="*/ 139 w 139"/>
                  <a:gd name="T45" fmla="*/ 18 h 24"/>
                  <a:gd name="T46" fmla="*/ 139 w 139"/>
                  <a:gd name="T47" fmla="*/ 18 h 24"/>
                  <a:gd name="T48" fmla="*/ 139 w 139"/>
                  <a:gd name="T49" fmla="*/ 18 h 24"/>
                  <a:gd name="T50" fmla="*/ 139 w 139"/>
                  <a:gd name="T51" fmla="*/ 18 h 2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39"/>
                  <a:gd name="T79" fmla="*/ 0 h 24"/>
                  <a:gd name="T80" fmla="*/ 139 w 139"/>
                  <a:gd name="T81" fmla="*/ 24 h 2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39" h="24">
                    <a:moveTo>
                      <a:pt x="139" y="18"/>
                    </a:moveTo>
                    <a:lnTo>
                      <a:pt x="118" y="18"/>
                    </a:lnTo>
                    <a:lnTo>
                      <a:pt x="101" y="11"/>
                    </a:lnTo>
                    <a:lnTo>
                      <a:pt x="83" y="11"/>
                    </a:lnTo>
                    <a:lnTo>
                      <a:pt x="66" y="11"/>
                    </a:lnTo>
                    <a:lnTo>
                      <a:pt x="52" y="7"/>
                    </a:lnTo>
                    <a:lnTo>
                      <a:pt x="42" y="7"/>
                    </a:lnTo>
                    <a:lnTo>
                      <a:pt x="21" y="14"/>
                    </a:lnTo>
                    <a:lnTo>
                      <a:pt x="7" y="24"/>
                    </a:lnTo>
                    <a:lnTo>
                      <a:pt x="4" y="24"/>
                    </a:lnTo>
                    <a:lnTo>
                      <a:pt x="0" y="21"/>
                    </a:lnTo>
                    <a:lnTo>
                      <a:pt x="7" y="18"/>
                    </a:lnTo>
                    <a:lnTo>
                      <a:pt x="11" y="14"/>
                    </a:lnTo>
                    <a:lnTo>
                      <a:pt x="18" y="11"/>
                    </a:lnTo>
                    <a:lnTo>
                      <a:pt x="25" y="7"/>
                    </a:lnTo>
                    <a:lnTo>
                      <a:pt x="32" y="4"/>
                    </a:lnTo>
                    <a:lnTo>
                      <a:pt x="42" y="0"/>
                    </a:lnTo>
                    <a:lnTo>
                      <a:pt x="66" y="4"/>
                    </a:lnTo>
                    <a:lnTo>
                      <a:pt x="101" y="4"/>
                    </a:lnTo>
                    <a:lnTo>
                      <a:pt x="118" y="11"/>
                    </a:lnTo>
                    <a:lnTo>
                      <a:pt x="128" y="14"/>
                    </a:lnTo>
                    <a:lnTo>
                      <a:pt x="139" y="14"/>
                    </a:lnTo>
                    <a:lnTo>
                      <a:pt x="139" y="1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0" name="Freeform 147"/>
              <p:cNvSpPr>
                <a:spLocks/>
              </p:cNvSpPr>
              <p:nvPr/>
            </p:nvSpPr>
            <p:spPr bwMode="auto">
              <a:xfrm>
                <a:off x="2942" y="973"/>
                <a:ext cx="10" cy="55"/>
              </a:xfrm>
              <a:custGeom>
                <a:avLst/>
                <a:gdLst>
                  <a:gd name="T0" fmla="*/ 7 w 10"/>
                  <a:gd name="T1" fmla="*/ 3 h 55"/>
                  <a:gd name="T2" fmla="*/ 7 w 10"/>
                  <a:gd name="T3" fmla="*/ 10 h 55"/>
                  <a:gd name="T4" fmla="*/ 7 w 10"/>
                  <a:gd name="T5" fmla="*/ 28 h 55"/>
                  <a:gd name="T6" fmla="*/ 10 w 10"/>
                  <a:gd name="T7" fmla="*/ 41 h 55"/>
                  <a:gd name="T8" fmla="*/ 10 w 10"/>
                  <a:gd name="T9" fmla="*/ 52 h 55"/>
                  <a:gd name="T10" fmla="*/ 10 w 10"/>
                  <a:gd name="T11" fmla="*/ 52 h 55"/>
                  <a:gd name="T12" fmla="*/ 10 w 10"/>
                  <a:gd name="T13" fmla="*/ 55 h 55"/>
                  <a:gd name="T14" fmla="*/ 4 w 10"/>
                  <a:gd name="T15" fmla="*/ 52 h 55"/>
                  <a:gd name="T16" fmla="*/ 0 w 10"/>
                  <a:gd name="T17" fmla="*/ 41 h 55"/>
                  <a:gd name="T18" fmla="*/ 0 w 10"/>
                  <a:gd name="T19" fmla="*/ 10 h 55"/>
                  <a:gd name="T20" fmla="*/ 4 w 10"/>
                  <a:gd name="T21" fmla="*/ 3 h 55"/>
                  <a:gd name="T22" fmla="*/ 7 w 10"/>
                  <a:gd name="T23" fmla="*/ 0 h 55"/>
                  <a:gd name="T24" fmla="*/ 7 w 10"/>
                  <a:gd name="T25" fmla="*/ 3 h 55"/>
                  <a:gd name="T26" fmla="*/ 7 w 10"/>
                  <a:gd name="T27" fmla="*/ 3 h 55"/>
                  <a:gd name="T28" fmla="*/ 7 w 10"/>
                  <a:gd name="T29" fmla="*/ 3 h 5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"/>
                  <a:gd name="T46" fmla="*/ 0 h 55"/>
                  <a:gd name="T47" fmla="*/ 10 w 10"/>
                  <a:gd name="T48" fmla="*/ 55 h 5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" h="55">
                    <a:moveTo>
                      <a:pt x="7" y="3"/>
                    </a:moveTo>
                    <a:lnTo>
                      <a:pt x="7" y="10"/>
                    </a:lnTo>
                    <a:lnTo>
                      <a:pt x="7" y="28"/>
                    </a:lnTo>
                    <a:lnTo>
                      <a:pt x="10" y="41"/>
                    </a:lnTo>
                    <a:lnTo>
                      <a:pt x="10" y="52"/>
                    </a:lnTo>
                    <a:lnTo>
                      <a:pt x="10" y="55"/>
                    </a:lnTo>
                    <a:lnTo>
                      <a:pt x="4" y="52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3"/>
                    </a:lnTo>
                    <a:lnTo>
                      <a:pt x="7" y="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1" name="Freeform 148"/>
              <p:cNvSpPr>
                <a:spLocks/>
              </p:cNvSpPr>
              <p:nvPr/>
            </p:nvSpPr>
            <p:spPr bwMode="auto">
              <a:xfrm>
                <a:off x="2952" y="1032"/>
                <a:ext cx="25" cy="48"/>
              </a:xfrm>
              <a:custGeom>
                <a:avLst/>
                <a:gdLst>
                  <a:gd name="T0" fmla="*/ 7 w 25"/>
                  <a:gd name="T1" fmla="*/ 3 h 48"/>
                  <a:gd name="T2" fmla="*/ 4 w 25"/>
                  <a:gd name="T3" fmla="*/ 7 h 48"/>
                  <a:gd name="T4" fmla="*/ 4 w 25"/>
                  <a:gd name="T5" fmla="*/ 10 h 48"/>
                  <a:gd name="T6" fmla="*/ 7 w 25"/>
                  <a:gd name="T7" fmla="*/ 17 h 48"/>
                  <a:gd name="T8" fmla="*/ 11 w 25"/>
                  <a:gd name="T9" fmla="*/ 20 h 48"/>
                  <a:gd name="T10" fmla="*/ 11 w 25"/>
                  <a:gd name="T11" fmla="*/ 27 h 48"/>
                  <a:gd name="T12" fmla="*/ 18 w 25"/>
                  <a:gd name="T13" fmla="*/ 38 h 48"/>
                  <a:gd name="T14" fmla="*/ 21 w 25"/>
                  <a:gd name="T15" fmla="*/ 41 h 48"/>
                  <a:gd name="T16" fmla="*/ 25 w 25"/>
                  <a:gd name="T17" fmla="*/ 45 h 48"/>
                  <a:gd name="T18" fmla="*/ 25 w 25"/>
                  <a:gd name="T19" fmla="*/ 48 h 48"/>
                  <a:gd name="T20" fmla="*/ 21 w 25"/>
                  <a:gd name="T21" fmla="*/ 48 h 48"/>
                  <a:gd name="T22" fmla="*/ 11 w 25"/>
                  <a:gd name="T23" fmla="*/ 41 h 48"/>
                  <a:gd name="T24" fmla="*/ 7 w 25"/>
                  <a:gd name="T25" fmla="*/ 27 h 48"/>
                  <a:gd name="T26" fmla="*/ 0 w 25"/>
                  <a:gd name="T27" fmla="*/ 17 h 48"/>
                  <a:gd name="T28" fmla="*/ 0 w 25"/>
                  <a:gd name="T29" fmla="*/ 7 h 48"/>
                  <a:gd name="T30" fmla="*/ 4 w 25"/>
                  <a:gd name="T31" fmla="*/ 3 h 48"/>
                  <a:gd name="T32" fmla="*/ 7 w 25"/>
                  <a:gd name="T33" fmla="*/ 0 h 48"/>
                  <a:gd name="T34" fmla="*/ 11 w 25"/>
                  <a:gd name="T35" fmla="*/ 3 h 48"/>
                  <a:gd name="T36" fmla="*/ 7 w 25"/>
                  <a:gd name="T37" fmla="*/ 3 h 48"/>
                  <a:gd name="T38" fmla="*/ 7 w 25"/>
                  <a:gd name="T39" fmla="*/ 3 h 48"/>
                  <a:gd name="T40" fmla="*/ 7 w 25"/>
                  <a:gd name="T41" fmla="*/ 3 h 4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5"/>
                  <a:gd name="T64" fmla="*/ 0 h 48"/>
                  <a:gd name="T65" fmla="*/ 25 w 25"/>
                  <a:gd name="T66" fmla="*/ 48 h 4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5" h="48">
                    <a:moveTo>
                      <a:pt x="7" y="3"/>
                    </a:moveTo>
                    <a:lnTo>
                      <a:pt x="4" y="7"/>
                    </a:lnTo>
                    <a:lnTo>
                      <a:pt x="4" y="10"/>
                    </a:lnTo>
                    <a:lnTo>
                      <a:pt x="7" y="17"/>
                    </a:lnTo>
                    <a:lnTo>
                      <a:pt x="11" y="20"/>
                    </a:lnTo>
                    <a:lnTo>
                      <a:pt x="11" y="27"/>
                    </a:lnTo>
                    <a:lnTo>
                      <a:pt x="18" y="38"/>
                    </a:lnTo>
                    <a:lnTo>
                      <a:pt x="21" y="41"/>
                    </a:lnTo>
                    <a:lnTo>
                      <a:pt x="25" y="45"/>
                    </a:lnTo>
                    <a:lnTo>
                      <a:pt x="25" y="48"/>
                    </a:lnTo>
                    <a:lnTo>
                      <a:pt x="21" y="48"/>
                    </a:lnTo>
                    <a:lnTo>
                      <a:pt x="11" y="41"/>
                    </a:lnTo>
                    <a:lnTo>
                      <a:pt x="7" y="27"/>
                    </a:lnTo>
                    <a:lnTo>
                      <a:pt x="0" y="17"/>
                    </a:lnTo>
                    <a:lnTo>
                      <a:pt x="0" y="7"/>
                    </a:lnTo>
                    <a:lnTo>
                      <a:pt x="4" y="3"/>
                    </a:lnTo>
                    <a:lnTo>
                      <a:pt x="7" y="0"/>
                    </a:lnTo>
                    <a:lnTo>
                      <a:pt x="11" y="3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2" name="Freeform 149"/>
              <p:cNvSpPr>
                <a:spLocks/>
              </p:cNvSpPr>
              <p:nvPr/>
            </p:nvSpPr>
            <p:spPr bwMode="auto">
              <a:xfrm>
                <a:off x="3077" y="983"/>
                <a:ext cx="31" cy="142"/>
              </a:xfrm>
              <a:custGeom>
                <a:avLst/>
                <a:gdLst>
                  <a:gd name="T0" fmla="*/ 21 w 31"/>
                  <a:gd name="T1" fmla="*/ 4 h 142"/>
                  <a:gd name="T2" fmla="*/ 24 w 31"/>
                  <a:gd name="T3" fmla="*/ 42 h 142"/>
                  <a:gd name="T4" fmla="*/ 31 w 31"/>
                  <a:gd name="T5" fmla="*/ 56 h 142"/>
                  <a:gd name="T6" fmla="*/ 31 w 31"/>
                  <a:gd name="T7" fmla="*/ 73 h 142"/>
                  <a:gd name="T8" fmla="*/ 24 w 31"/>
                  <a:gd name="T9" fmla="*/ 107 h 142"/>
                  <a:gd name="T10" fmla="*/ 21 w 31"/>
                  <a:gd name="T11" fmla="*/ 118 h 142"/>
                  <a:gd name="T12" fmla="*/ 17 w 31"/>
                  <a:gd name="T13" fmla="*/ 128 h 142"/>
                  <a:gd name="T14" fmla="*/ 7 w 31"/>
                  <a:gd name="T15" fmla="*/ 139 h 142"/>
                  <a:gd name="T16" fmla="*/ 3 w 31"/>
                  <a:gd name="T17" fmla="*/ 142 h 142"/>
                  <a:gd name="T18" fmla="*/ 0 w 31"/>
                  <a:gd name="T19" fmla="*/ 135 h 142"/>
                  <a:gd name="T20" fmla="*/ 7 w 31"/>
                  <a:gd name="T21" fmla="*/ 132 h 142"/>
                  <a:gd name="T22" fmla="*/ 10 w 31"/>
                  <a:gd name="T23" fmla="*/ 125 h 142"/>
                  <a:gd name="T24" fmla="*/ 17 w 31"/>
                  <a:gd name="T25" fmla="*/ 107 h 142"/>
                  <a:gd name="T26" fmla="*/ 17 w 31"/>
                  <a:gd name="T27" fmla="*/ 90 h 142"/>
                  <a:gd name="T28" fmla="*/ 24 w 31"/>
                  <a:gd name="T29" fmla="*/ 69 h 142"/>
                  <a:gd name="T30" fmla="*/ 24 w 31"/>
                  <a:gd name="T31" fmla="*/ 56 h 142"/>
                  <a:gd name="T32" fmla="*/ 21 w 31"/>
                  <a:gd name="T33" fmla="*/ 42 h 142"/>
                  <a:gd name="T34" fmla="*/ 21 w 31"/>
                  <a:gd name="T35" fmla="*/ 21 h 142"/>
                  <a:gd name="T36" fmla="*/ 17 w 31"/>
                  <a:gd name="T37" fmla="*/ 4 h 142"/>
                  <a:gd name="T38" fmla="*/ 17 w 31"/>
                  <a:gd name="T39" fmla="*/ 0 h 142"/>
                  <a:gd name="T40" fmla="*/ 21 w 31"/>
                  <a:gd name="T41" fmla="*/ 4 h 142"/>
                  <a:gd name="T42" fmla="*/ 21 w 31"/>
                  <a:gd name="T43" fmla="*/ 4 h 142"/>
                  <a:gd name="T44" fmla="*/ 21 w 31"/>
                  <a:gd name="T45" fmla="*/ 4 h 14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1"/>
                  <a:gd name="T70" fmla="*/ 0 h 142"/>
                  <a:gd name="T71" fmla="*/ 31 w 31"/>
                  <a:gd name="T72" fmla="*/ 142 h 14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1" h="142">
                    <a:moveTo>
                      <a:pt x="21" y="4"/>
                    </a:moveTo>
                    <a:lnTo>
                      <a:pt x="24" y="42"/>
                    </a:lnTo>
                    <a:lnTo>
                      <a:pt x="31" y="56"/>
                    </a:lnTo>
                    <a:lnTo>
                      <a:pt x="31" y="73"/>
                    </a:lnTo>
                    <a:lnTo>
                      <a:pt x="24" y="107"/>
                    </a:lnTo>
                    <a:lnTo>
                      <a:pt x="21" y="118"/>
                    </a:lnTo>
                    <a:lnTo>
                      <a:pt x="17" y="128"/>
                    </a:lnTo>
                    <a:lnTo>
                      <a:pt x="7" y="139"/>
                    </a:lnTo>
                    <a:lnTo>
                      <a:pt x="3" y="142"/>
                    </a:lnTo>
                    <a:lnTo>
                      <a:pt x="0" y="135"/>
                    </a:lnTo>
                    <a:lnTo>
                      <a:pt x="7" y="132"/>
                    </a:lnTo>
                    <a:lnTo>
                      <a:pt x="10" y="125"/>
                    </a:lnTo>
                    <a:lnTo>
                      <a:pt x="17" y="107"/>
                    </a:lnTo>
                    <a:lnTo>
                      <a:pt x="17" y="90"/>
                    </a:lnTo>
                    <a:lnTo>
                      <a:pt x="24" y="69"/>
                    </a:lnTo>
                    <a:lnTo>
                      <a:pt x="24" y="56"/>
                    </a:lnTo>
                    <a:lnTo>
                      <a:pt x="21" y="42"/>
                    </a:lnTo>
                    <a:lnTo>
                      <a:pt x="21" y="21"/>
                    </a:lnTo>
                    <a:lnTo>
                      <a:pt x="17" y="4"/>
                    </a:lnTo>
                    <a:lnTo>
                      <a:pt x="17" y="0"/>
                    </a:ln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3" name="Freeform 150"/>
              <p:cNvSpPr>
                <a:spLocks/>
              </p:cNvSpPr>
              <p:nvPr/>
            </p:nvSpPr>
            <p:spPr bwMode="auto">
              <a:xfrm>
                <a:off x="2997" y="1097"/>
                <a:ext cx="70" cy="31"/>
              </a:xfrm>
              <a:custGeom>
                <a:avLst/>
                <a:gdLst>
                  <a:gd name="T0" fmla="*/ 0 w 70"/>
                  <a:gd name="T1" fmla="*/ 0 h 31"/>
                  <a:gd name="T2" fmla="*/ 14 w 70"/>
                  <a:gd name="T3" fmla="*/ 7 h 31"/>
                  <a:gd name="T4" fmla="*/ 25 w 70"/>
                  <a:gd name="T5" fmla="*/ 11 h 31"/>
                  <a:gd name="T6" fmla="*/ 35 w 70"/>
                  <a:gd name="T7" fmla="*/ 18 h 31"/>
                  <a:gd name="T8" fmla="*/ 45 w 70"/>
                  <a:gd name="T9" fmla="*/ 21 h 31"/>
                  <a:gd name="T10" fmla="*/ 66 w 70"/>
                  <a:gd name="T11" fmla="*/ 25 h 31"/>
                  <a:gd name="T12" fmla="*/ 70 w 70"/>
                  <a:gd name="T13" fmla="*/ 28 h 31"/>
                  <a:gd name="T14" fmla="*/ 66 w 70"/>
                  <a:gd name="T15" fmla="*/ 31 h 31"/>
                  <a:gd name="T16" fmla="*/ 66 w 70"/>
                  <a:gd name="T17" fmla="*/ 31 h 31"/>
                  <a:gd name="T18" fmla="*/ 45 w 70"/>
                  <a:gd name="T19" fmla="*/ 28 h 31"/>
                  <a:gd name="T20" fmla="*/ 21 w 70"/>
                  <a:gd name="T21" fmla="*/ 18 h 31"/>
                  <a:gd name="T22" fmla="*/ 18 w 70"/>
                  <a:gd name="T23" fmla="*/ 14 h 31"/>
                  <a:gd name="T24" fmla="*/ 11 w 70"/>
                  <a:gd name="T25" fmla="*/ 11 h 31"/>
                  <a:gd name="T26" fmla="*/ 7 w 70"/>
                  <a:gd name="T27" fmla="*/ 7 h 31"/>
                  <a:gd name="T28" fmla="*/ 0 w 70"/>
                  <a:gd name="T29" fmla="*/ 4 h 31"/>
                  <a:gd name="T30" fmla="*/ 0 w 70"/>
                  <a:gd name="T31" fmla="*/ 0 h 31"/>
                  <a:gd name="T32" fmla="*/ 0 w 70"/>
                  <a:gd name="T33" fmla="*/ 0 h 31"/>
                  <a:gd name="T34" fmla="*/ 0 w 70"/>
                  <a:gd name="T35" fmla="*/ 0 h 31"/>
                  <a:gd name="T36" fmla="*/ 0 w 70"/>
                  <a:gd name="T37" fmla="*/ 0 h 3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0"/>
                  <a:gd name="T58" fmla="*/ 0 h 31"/>
                  <a:gd name="T59" fmla="*/ 70 w 70"/>
                  <a:gd name="T60" fmla="*/ 31 h 3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0" h="31">
                    <a:moveTo>
                      <a:pt x="0" y="0"/>
                    </a:moveTo>
                    <a:lnTo>
                      <a:pt x="14" y="7"/>
                    </a:lnTo>
                    <a:lnTo>
                      <a:pt x="25" y="11"/>
                    </a:lnTo>
                    <a:lnTo>
                      <a:pt x="35" y="18"/>
                    </a:lnTo>
                    <a:lnTo>
                      <a:pt x="45" y="21"/>
                    </a:lnTo>
                    <a:lnTo>
                      <a:pt x="66" y="25"/>
                    </a:lnTo>
                    <a:lnTo>
                      <a:pt x="70" y="28"/>
                    </a:lnTo>
                    <a:lnTo>
                      <a:pt x="66" y="31"/>
                    </a:lnTo>
                    <a:lnTo>
                      <a:pt x="45" y="28"/>
                    </a:lnTo>
                    <a:lnTo>
                      <a:pt x="21" y="18"/>
                    </a:lnTo>
                    <a:lnTo>
                      <a:pt x="18" y="14"/>
                    </a:lnTo>
                    <a:lnTo>
                      <a:pt x="11" y="11"/>
                    </a:lnTo>
                    <a:lnTo>
                      <a:pt x="7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4" name="Freeform 151"/>
              <p:cNvSpPr>
                <a:spLocks/>
              </p:cNvSpPr>
              <p:nvPr/>
            </p:nvSpPr>
            <p:spPr bwMode="auto">
              <a:xfrm>
                <a:off x="3004" y="1111"/>
                <a:ext cx="49" cy="45"/>
              </a:xfrm>
              <a:custGeom>
                <a:avLst/>
                <a:gdLst>
                  <a:gd name="T0" fmla="*/ 0 w 49"/>
                  <a:gd name="T1" fmla="*/ 0 h 45"/>
                  <a:gd name="T2" fmla="*/ 11 w 49"/>
                  <a:gd name="T3" fmla="*/ 11 h 45"/>
                  <a:gd name="T4" fmla="*/ 18 w 49"/>
                  <a:gd name="T5" fmla="*/ 17 h 45"/>
                  <a:gd name="T6" fmla="*/ 24 w 49"/>
                  <a:gd name="T7" fmla="*/ 28 h 45"/>
                  <a:gd name="T8" fmla="*/ 31 w 49"/>
                  <a:gd name="T9" fmla="*/ 31 h 45"/>
                  <a:gd name="T10" fmla="*/ 35 w 49"/>
                  <a:gd name="T11" fmla="*/ 35 h 45"/>
                  <a:gd name="T12" fmla="*/ 45 w 49"/>
                  <a:gd name="T13" fmla="*/ 38 h 45"/>
                  <a:gd name="T14" fmla="*/ 49 w 49"/>
                  <a:gd name="T15" fmla="*/ 42 h 45"/>
                  <a:gd name="T16" fmla="*/ 45 w 49"/>
                  <a:gd name="T17" fmla="*/ 45 h 45"/>
                  <a:gd name="T18" fmla="*/ 35 w 49"/>
                  <a:gd name="T19" fmla="*/ 42 h 45"/>
                  <a:gd name="T20" fmla="*/ 24 w 49"/>
                  <a:gd name="T21" fmla="*/ 35 h 45"/>
                  <a:gd name="T22" fmla="*/ 14 w 49"/>
                  <a:gd name="T23" fmla="*/ 24 h 45"/>
                  <a:gd name="T24" fmla="*/ 11 w 49"/>
                  <a:gd name="T25" fmla="*/ 17 h 45"/>
                  <a:gd name="T26" fmla="*/ 7 w 49"/>
                  <a:gd name="T27" fmla="*/ 14 h 45"/>
                  <a:gd name="T28" fmla="*/ 4 w 49"/>
                  <a:gd name="T29" fmla="*/ 7 h 45"/>
                  <a:gd name="T30" fmla="*/ 0 w 49"/>
                  <a:gd name="T31" fmla="*/ 0 h 45"/>
                  <a:gd name="T32" fmla="*/ 0 w 49"/>
                  <a:gd name="T33" fmla="*/ 0 h 45"/>
                  <a:gd name="T34" fmla="*/ 0 w 49"/>
                  <a:gd name="T35" fmla="*/ 0 h 45"/>
                  <a:gd name="T36" fmla="*/ 0 w 49"/>
                  <a:gd name="T37" fmla="*/ 0 h 45"/>
                  <a:gd name="T38" fmla="*/ 0 w 49"/>
                  <a:gd name="T39" fmla="*/ 0 h 4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9"/>
                  <a:gd name="T61" fmla="*/ 0 h 45"/>
                  <a:gd name="T62" fmla="*/ 49 w 49"/>
                  <a:gd name="T63" fmla="*/ 45 h 4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9" h="45">
                    <a:moveTo>
                      <a:pt x="0" y="0"/>
                    </a:moveTo>
                    <a:lnTo>
                      <a:pt x="11" y="11"/>
                    </a:lnTo>
                    <a:lnTo>
                      <a:pt x="18" y="17"/>
                    </a:lnTo>
                    <a:lnTo>
                      <a:pt x="24" y="28"/>
                    </a:lnTo>
                    <a:lnTo>
                      <a:pt x="31" y="31"/>
                    </a:lnTo>
                    <a:lnTo>
                      <a:pt x="35" y="35"/>
                    </a:lnTo>
                    <a:lnTo>
                      <a:pt x="45" y="38"/>
                    </a:lnTo>
                    <a:lnTo>
                      <a:pt x="49" y="42"/>
                    </a:lnTo>
                    <a:lnTo>
                      <a:pt x="45" y="45"/>
                    </a:lnTo>
                    <a:lnTo>
                      <a:pt x="35" y="42"/>
                    </a:lnTo>
                    <a:lnTo>
                      <a:pt x="24" y="35"/>
                    </a:lnTo>
                    <a:lnTo>
                      <a:pt x="14" y="24"/>
                    </a:lnTo>
                    <a:lnTo>
                      <a:pt x="11" y="17"/>
                    </a:lnTo>
                    <a:lnTo>
                      <a:pt x="7" y="14"/>
                    </a:lnTo>
                    <a:lnTo>
                      <a:pt x="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5" name="Freeform 152"/>
              <p:cNvSpPr>
                <a:spLocks/>
              </p:cNvSpPr>
              <p:nvPr/>
            </p:nvSpPr>
            <p:spPr bwMode="auto">
              <a:xfrm>
                <a:off x="2973" y="1104"/>
                <a:ext cx="45" cy="73"/>
              </a:xfrm>
              <a:custGeom>
                <a:avLst/>
                <a:gdLst>
                  <a:gd name="T0" fmla="*/ 4 w 45"/>
                  <a:gd name="T1" fmla="*/ 0 h 73"/>
                  <a:gd name="T2" fmla="*/ 7 w 45"/>
                  <a:gd name="T3" fmla="*/ 7 h 73"/>
                  <a:gd name="T4" fmla="*/ 14 w 45"/>
                  <a:gd name="T5" fmla="*/ 14 h 73"/>
                  <a:gd name="T6" fmla="*/ 21 w 45"/>
                  <a:gd name="T7" fmla="*/ 24 h 73"/>
                  <a:gd name="T8" fmla="*/ 28 w 45"/>
                  <a:gd name="T9" fmla="*/ 42 h 73"/>
                  <a:gd name="T10" fmla="*/ 31 w 45"/>
                  <a:gd name="T11" fmla="*/ 52 h 73"/>
                  <a:gd name="T12" fmla="*/ 38 w 45"/>
                  <a:gd name="T13" fmla="*/ 59 h 73"/>
                  <a:gd name="T14" fmla="*/ 45 w 45"/>
                  <a:gd name="T15" fmla="*/ 69 h 73"/>
                  <a:gd name="T16" fmla="*/ 42 w 45"/>
                  <a:gd name="T17" fmla="*/ 73 h 73"/>
                  <a:gd name="T18" fmla="*/ 38 w 45"/>
                  <a:gd name="T19" fmla="*/ 73 h 73"/>
                  <a:gd name="T20" fmla="*/ 31 w 45"/>
                  <a:gd name="T21" fmla="*/ 62 h 73"/>
                  <a:gd name="T22" fmla="*/ 21 w 45"/>
                  <a:gd name="T23" fmla="*/ 45 h 73"/>
                  <a:gd name="T24" fmla="*/ 14 w 45"/>
                  <a:gd name="T25" fmla="*/ 28 h 73"/>
                  <a:gd name="T26" fmla="*/ 11 w 45"/>
                  <a:gd name="T27" fmla="*/ 21 h 73"/>
                  <a:gd name="T28" fmla="*/ 7 w 45"/>
                  <a:gd name="T29" fmla="*/ 14 h 73"/>
                  <a:gd name="T30" fmla="*/ 0 w 45"/>
                  <a:gd name="T31" fmla="*/ 0 h 73"/>
                  <a:gd name="T32" fmla="*/ 4 w 45"/>
                  <a:gd name="T33" fmla="*/ 0 h 73"/>
                  <a:gd name="T34" fmla="*/ 4 w 45"/>
                  <a:gd name="T35" fmla="*/ 0 h 73"/>
                  <a:gd name="T36" fmla="*/ 4 w 45"/>
                  <a:gd name="T37" fmla="*/ 0 h 73"/>
                  <a:gd name="T38" fmla="*/ 4 w 45"/>
                  <a:gd name="T39" fmla="*/ 0 h 7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5"/>
                  <a:gd name="T61" fmla="*/ 0 h 73"/>
                  <a:gd name="T62" fmla="*/ 45 w 45"/>
                  <a:gd name="T63" fmla="*/ 73 h 7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5" h="73">
                    <a:moveTo>
                      <a:pt x="4" y="0"/>
                    </a:moveTo>
                    <a:lnTo>
                      <a:pt x="7" y="7"/>
                    </a:lnTo>
                    <a:lnTo>
                      <a:pt x="14" y="14"/>
                    </a:lnTo>
                    <a:lnTo>
                      <a:pt x="21" y="24"/>
                    </a:lnTo>
                    <a:lnTo>
                      <a:pt x="28" y="42"/>
                    </a:lnTo>
                    <a:lnTo>
                      <a:pt x="31" y="52"/>
                    </a:lnTo>
                    <a:lnTo>
                      <a:pt x="38" y="59"/>
                    </a:lnTo>
                    <a:lnTo>
                      <a:pt x="45" y="69"/>
                    </a:lnTo>
                    <a:lnTo>
                      <a:pt x="42" y="73"/>
                    </a:lnTo>
                    <a:lnTo>
                      <a:pt x="38" y="73"/>
                    </a:lnTo>
                    <a:lnTo>
                      <a:pt x="31" y="62"/>
                    </a:lnTo>
                    <a:lnTo>
                      <a:pt x="21" y="45"/>
                    </a:lnTo>
                    <a:lnTo>
                      <a:pt x="14" y="28"/>
                    </a:lnTo>
                    <a:lnTo>
                      <a:pt x="11" y="21"/>
                    </a:lnTo>
                    <a:lnTo>
                      <a:pt x="7" y="1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6" name="Freeform 153"/>
              <p:cNvSpPr>
                <a:spLocks/>
              </p:cNvSpPr>
              <p:nvPr/>
            </p:nvSpPr>
            <p:spPr bwMode="auto">
              <a:xfrm>
                <a:off x="3022" y="1156"/>
                <a:ext cx="34" cy="38"/>
              </a:xfrm>
              <a:custGeom>
                <a:avLst/>
                <a:gdLst>
                  <a:gd name="T0" fmla="*/ 34 w 34"/>
                  <a:gd name="T1" fmla="*/ 4 h 38"/>
                  <a:gd name="T2" fmla="*/ 24 w 34"/>
                  <a:gd name="T3" fmla="*/ 10 h 38"/>
                  <a:gd name="T4" fmla="*/ 17 w 34"/>
                  <a:gd name="T5" fmla="*/ 21 h 38"/>
                  <a:gd name="T6" fmla="*/ 10 w 34"/>
                  <a:gd name="T7" fmla="*/ 31 h 38"/>
                  <a:gd name="T8" fmla="*/ 3 w 34"/>
                  <a:gd name="T9" fmla="*/ 38 h 38"/>
                  <a:gd name="T10" fmla="*/ 0 w 34"/>
                  <a:gd name="T11" fmla="*/ 38 h 38"/>
                  <a:gd name="T12" fmla="*/ 0 w 34"/>
                  <a:gd name="T13" fmla="*/ 35 h 38"/>
                  <a:gd name="T14" fmla="*/ 3 w 34"/>
                  <a:gd name="T15" fmla="*/ 24 h 38"/>
                  <a:gd name="T16" fmla="*/ 10 w 34"/>
                  <a:gd name="T17" fmla="*/ 17 h 38"/>
                  <a:gd name="T18" fmla="*/ 20 w 34"/>
                  <a:gd name="T19" fmla="*/ 7 h 38"/>
                  <a:gd name="T20" fmla="*/ 24 w 34"/>
                  <a:gd name="T21" fmla="*/ 4 h 38"/>
                  <a:gd name="T22" fmla="*/ 34 w 34"/>
                  <a:gd name="T23" fmla="*/ 0 h 38"/>
                  <a:gd name="T24" fmla="*/ 34 w 34"/>
                  <a:gd name="T25" fmla="*/ 0 h 38"/>
                  <a:gd name="T26" fmla="*/ 34 w 34"/>
                  <a:gd name="T27" fmla="*/ 4 h 38"/>
                  <a:gd name="T28" fmla="*/ 34 w 34"/>
                  <a:gd name="T29" fmla="*/ 4 h 38"/>
                  <a:gd name="T30" fmla="*/ 34 w 34"/>
                  <a:gd name="T31" fmla="*/ 4 h 3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4"/>
                  <a:gd name="T49" fmla="*/ 0 h 38"/>
                  <a:gd name="T50" fmla="*/ 34 w 34"/>
                  <a:gd name="T51" fmla="*/ 38 h 3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4" h="38">
                    <a:moveTo>
                      <a:pt x="34" y="4"/>
                    </a:moveTo>
                    <a:lnTo>
                      <a:pt x="24" y="10"/>
                    </a:lnTo>
                    <a:lnTo>
                      <a:pt x="17" y="21"/>
                    </a:lnTo>
                    <a:lnTo>
                      <a:pt x="10" y="31"/>
                    </a:lnTo>
                    <a:lnTo>
                      <a:pt x="3" y="38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3" y="24"/>
                    </a:lnTo>
                    <a:lnTo>
                      <a:pt x="10" y="17"/>
                    </a:lnTo>
                    <a:lnTo>
                      <a:pt x="20" y="7"/>
                    </a:lnTo>
                    <a:lnTo>
                      <a:pt x="24" y="4"/>
                    </a:lnTo>
                    <a:lnTo>
                      <a:pt x="34" y="0"/>
                    </a:ln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7" name="Freeform 154"/>
              <p:cNvSpPr>
                <a:spLocks/>
              </p:cNvSpPr>
              <p:nvPr/>
            </p:nvSpPr>
            <p:spPr bwMode="auto">
              <a:xfrm>
                <a:off x="3053" y="1125"/>
                <a:ext cx="14" cy="31"/>
              </a:xfrm>
              <a:custGeom>
                <a:avLst/>
                <a:gdLst>
                  <a:gd name="T0" fmla="*/ 0 w 14"/>
                  <a:gd name="T1" fmla="*/ 28 h 31"/>
                  <a:gd name="T2" fmla="*/ 3 w 14"/>
                  <a:gd name="T3" fmla="*/ 17 h 31"/>
                  <a:gd name="T4" fmla="*/ 10 w 14"/>
                  <a:gd name="T5" fmla="*/ 3 h 31"/>
                  <a:gd name="T6" fmla="*/ 14 w 14"/>
                  <a:gd name="T7" fmla="*/ 0 h 31"/>
                  <a:gd name="T8" fmla="*/ 14 w 14"/>
                  <a:gd name="T9" fmla="*/ 3 h 31"/>
                  <a:gd name="T10" fmla="*/ 10 w 14"/>
                  <a:gd name="T11" fmla="*/ 21 h 31"/>
                  <a:gd name="T12" fmla="*/ 7 w 14"/>
                  <a:gd name="T13" fmla="*/ 31 h 31"/>
                  <a:gd name="T14" fmla="*/ 3 w 14"/>
                  <a:gd name="T15" fmla="*/ 31 h 31"/>
                  <a:gd name="T16" fmla="*/ 0 w 14"/>
                  <a:gd name="T17" fmla="*/ 28 h 31"/>
                  <a:gd name="T18" fmla="*/ 0 w 14"/>
                  <a:gd name="T19" fmla="*/ 28 h 31"/>
                  <a:gd name="T20" fmla="*/ 0 w 14"/>
                  <a:gd name="T21" fmla="*/ 28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"/>
                  <a:gd name="T34" fmla="*/ 0 h 31"/>
                  <a:gd name="T35" fmla="*/ 14 w 14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" h="31">
                    <a:moveTo>
                      <a:pt x="0" y="28"/>
                    </a:moveTo>
                    <a:lnTo>
                      <a:pt x="3" y="17"/>
                    </a:lnTo>
                    <a:lnTo>
                      <a:pt x="10" y="3"/>
                    </a:lnTo>
                    <a:lnTo>
                      <a:pt x="14" y="0"/>
                    </a:lnTo>
                    <a:lnTo>
                      <a:pt x="14" y="3"/>
                    </a:lnTo>
                    <a:lnTo>
                      <a:pt x="10" y="21"/>
                    </a:lnTo>
                    <a:lnTo>
                      <a:pt x="7" y="31"/>
                    </a:lnTo>
                    <a:lnTo>
                      <a:pt x="3" y="31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8" name="Freeform 155"/>
              <p:cNvSpPr>
                <a:spLocks/>
              </p:cNvSpPr>
              <p:nvPr/>
            </p:nvSpPr>
            <p:spPr bwMode="auto">
              <a:xfrm>
                <a:off x="2942" y="1080"/>
                <a:ext cx="28" cy="28"/>
              </a:xfrm>
              <a:custGeom>
                <a:avLst/>
                <a:gdLst>
                  <a:gd name="T0" fmla="*/ 28 w 28"/>
                  <a:gd name="T1" fmla="*/ 4 h 28"/>
                  <a:gd name="T2" fmla="*/ 10 w 28"/>
                  <a:gd name="T3" fmla="*/ 17 h 28"/>
                  <a:gd name="T4" fmla="*/ 4 w 28"/>
                  <a:gd name="T5" fmla="*/ 28 h 28"/>
                  <a:gd name="T6" fmla="*/ 0 w 28"/>
                  <a:gd name="T7" fmla="*/ 28 h 28"/>
                  <a:gd name="T8" fmla="*/ 0 w 28"/>
                  <a:gd name="T9" fmla="*/ 28 h 28"/>
                  <a:gd name="T10" fmla="*/ 7 w 28"/>
                  <a:gd name="T11" fmla="*/ 14 h 28"/>
                  <a:gd name="T12" fmla="*/ 10 w 28"/>
                  <a:gd name="T13" fmla="*/ 10 h 28"/>
                  <a:gd name="T14" fmla="*/ 14 w 28"/>
                  <a:gd name="T15" fmla="*/ 7 h 28"/>
                  <a:gd name="T16" fmla="*/ 24 w 28"/>
                  <a:gd name="T17" fmla="*/ 0 h 28"/>
                  <a:gd name="T18" fmla="*/ 28 w 28"/>
                  <a:gd name="T19" fmla="*/ 4 h 28"/>
                  <a:gd name="T20" fmla="*/ 28 w 28"/>
                  <a:gd name="T21" fmla="*/ 4 h 28"/>
                  <a:gd name="T22" fmla="*/ 28 w 28"/>
                  <a:gd name="T23" fmla="*/ 4 h 28"/>
                  <a:gd name="T24" fmla="*/ 28 w 28"/>
                  <a:gd name="T25" fmla="*/ 4 h 2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"/>
                  <a:gd name="T40" fmla="*/ 0 h 28"/>
                  <a:gd name="T41" fmla="*/ 28 w 28"/>
                  <a:gd name="T42" fmla="*/ 28 h 2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" h="28">
                    <a:moveTo>
                      <a:pt x="28" y="4"/>
                    </a:moveTo>
                    <a:lnTo>
                      <a:pt x="10" y="17"/>
                    </a:lnTo>
                    <a:lnTo>
                      <a:pt x="4" y="28"/>
                    </a:lnTo>
                    <a:lnTo>
                      <a:pt x="0" y="28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4" y="7"/>
                    </a:lnTo>
                    <a:lnTo>
                      <a:pt x="24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69" name="Freeform 156"/>
              <p:cNvSpPr>
                <a:spLocks/>
              </p:cNvSpPr>
              <p:nvPr/>
            </p:nvSpPr>
            <p:spPr bwMode="auto">
              <a:xfrm>
                <a:off x="2759" y="1090"/>
                <a:ext cx="183" cy="211"/>
              </a:xfrm>
              <a:custGeom>
                <a:avLst/>
                <a:gdLst>
                  <a:gd name="T0" fmla="*/ 183 w 183"/>
                  <a:gd name="T1" fmla="*/ 4 h 211"/>
                  <a:gd name="T2" fmla="*/ 166 w 183"/>
                  <a:gd name="T3" fmla="*/ 11 h 211"/>
                  <a:gd name="T4" fmla="*/ 152 w 183"/>
                  <a:gd name="T5" fmla="*/ 18 h 211"/>
                  <a:gd name="T6" fmla="*/ 138 w 183"/>
                  <a:gd name="T7" fmla="*/ 21 h 211"/>
                  <a:gd name="T8" fmla="*/ 135 w 183"/>
                  <a:gd name="T9" fmla="*/ 25 h 211"/>
                  <a:gd name="T10" fmla="*/ 128 w 183"/>
                  <a:gd name="T11" fmla="*/ 28 h 211"/>
                  <a:gd name="T12" fmla="*/ 110 w 183"/>
                  <a:gd name="T13" fmla="*/ 32 h 211"/>
                  <a:gd name="T14" fmla="*/ 107 w 183"/>
                  <a:gd name="T15" fmla="*/ 35 h 211"/>
                  <a:gd name="T16" fmla="*/ 100 w 183"/>
                  <a:gd name="T17" fmla="*/ 42 h 211"/>
                  <a:gd name="T18" fmla="*/ 97 w 183"/>
                  <a:gd name="T19" fmla="*/ 45 h 211"/>
                  <a:gd name="T20" fmla="*/ 90 w 183"/>
                  <a:gd name="T21" fmla="*/ 49 h 211"/>
                  <a:gd name="T22" fmla="*/ 86 w 183"/>
                  <a:gd name="T23" fmla="*/ 52 h 211"/>
                  <a:gd name="T24" fmla="*/ 79 w 183"/>
                  <a:gd name="T25" fmla="*/ 56 h 211"/>
                  <a:gd name="T26" fmla="*/ 76 w 183"/>
                  <a:gd name="T27" fmla="*/ 59 h 211"/>
                  <a:gd name="T28" fmla="*/ 69 w 183"/>
                  <a:gd name="T29" fmla="*/ 66 h 211"/>
                  <a:gd name="T30" fmla="*/ 62 w 183"/>
                  <a:gd name="T31" fmla="*/ 73 h 211"/>
                  <a:gd name="T32" fmla="*/ 55 w 183"/>
                  <a:gd name="T33" fmla="*/ 83 h 211"/>
                  <a:gd name="T34" fmla="*/ 52 w 183"/>
                  <a:gd name="T35" fmla="*/ 104 h 211"/>
                  <a:gd name="T36" fmla="*/ 48 w 183"/>
                  <a:gd name="T37" fmla="*/ 115 h 211"/>
                  <a:gd name="T38" fmla="*/ 45 w 183"/>
                  <a:gd name="T39" fmla="*/ 139 h 211"/>
                  <a:gd name="T40" fmla="*/ 41 w 183"/>
                  <a:gd name="T41" fmla="*/ 149 h 211"/>
                  <a:gd name="T42" fmla="*/ 38 w 183"/>
                  <a:gd name="T43" fmla="*/ 156 h 211"/>
                  <a:gd name="T44" fmla="*/ 31 w 183"/>
                  <a:gd name="T45" fmla="*/ 166 h 211"/>
                  <a:gd name="T46" fmla="*/ 28 w 183"/>
                  <a:gd name="T47" fmla="*/ 173 h 211"/>
                  <a:gd name="T48" fmla="*/ 24 w 183"/>
                  <a:gd name="T49" fmla="*/ 180 h 211"/>
                  <a:gd name="T50" fmla="*/ 17 w 183"/>
                  <a:gd name="T51" fmla="*/ 191 h 211"/>
                  <a:gd name="T52" fmla="*/ 7 w 183"/>
                  <a:gd name="T53" fmla="*/ 208 h 211"/>
                  <a:gd name="T54" fmla="*/ 7 w 183"/>
                  <a:gd name="T55" fmla="*/ 211 h 211"/>
                  <a:gd name="T56" fmla="*/ 0 w 183"/>
                  <a:gd name="T57" fmla="*/ 211 h 211"/>
                  <a:gd name="T58" fmla="*/ 0 w 183"/>
                  <a:gd name="T59" fmla="*/ 204 h 211"/>
                  <a:gd name="T60" fmla="*/ 3 w 183"/>
                  <a:gd name="T61" fmla="*/ 194 h 211"/>
                  <a:gd name="T62" fmla="*/ 7 w 183"/>
                  <a:gd name="T63" fmla="*/ 184 h 211"/>
                  <a:gd name="T64" fmla="*/ 14 w 183"/>
                  <a:gd name="T65" fmla="*/ 177 h 211"/>
                  <a:gd name="T66" fmla="*/ 17 w 183"/>
                  <a:gd name="T67" fmla="*/ 170 h 211"/>
                  <a:gd name="T68" fmla="*/ 28 w 183"/>
                  <a:gd name="T69" fmla="*/ 156 h 211"/>
                  <a:gd name="T70" fmla="*/ 34 w 183"/>
                  <a:gd name="T71" fmla="*/ 135 h 211"/>
                  <a:gd name="T72" fmla="*/ 38 w 183"/>
                  <a:gd name="T73" fmla="*/ 111 h 211"/>
                  <a:gd name="T74" fmla="*/ 41 w 183"/>
                  <a:gd name="T75" fmla="*/ 101 h 211"/>
                  <a:gd name="T76" fmla="*/ 45 w 183"/>
                  <a:gd name="T77" fmla="*/ 90 h 211"/>
                  <a:gd name="T78" fmla="*/ 48 w 183"/>
                  <a:gd name="T79" fmla="*/ 80 h 211"/>
                  <a:gd name="T80" fmla="*/ 55 w 183"/>
                  <a:gd name="T81" fmla="*/ 70 h 211"/>
                  <a:gd name="T82" fmla="*/ 62 w 183"/>
                  <a:gd name="T83" fmla="*/ 66 h 211"/>
                  <a:gd name="T84" fmla="*/ 66 w 183"/>
                  <a:gd name="T85" fmla="*/ 63 h 211"/>
                  <a:gd name="T86" fmla="*/ 72 w 183"/>
                  <a:gd name="T87" fmla="*/ 59 h 211"/>
                  <a:gd name="T88" fmla="*/ 79 w 183"/>
                  <a:gd name="T89" fmla="*/ 52 h 211"/>
                  <a:gd name="T90" fmla="*/ 83 w 183"/>
                  <a:gd name="T91" fmla="*/ 49 h 211"/>
                  <a:gd name="T92" fmla="*/ 90 w 183"/>
                  <a:gd name="T93" fmla="*/ 45 h 211"/>
                  <a:gd name="T94" fmla="*/ 93 w 183"/>
                  <a:gd name="T95" fmla="*/ 42 h 211"/>
                  <a:gd name="T96" fmla="*/ 100 w 183"/>
                  <a:gd name="T97" fmla="*/ 38 h 211"/>
                  <a:gd name="T98" fmla="*/ 104 w 183"/>
                  <a:gd name="T99" fmla="*/ 32 h 211"/>
                  <a:gd name="T100" fmla="*/ 110 w 183"/>
                  <a:gd name="T101" fmla="*/ 28 h 211"/>
                  <a:gd name="T102" fmla="*/ 117 w 183"/>
                  <a:gd name="T103" fmla="*/ 25 h 211"/>
                  <a:gd name="T104" fmla="*/ 124 w 183"/>
                  <a:gd name="T105" fmla="*/ 18 h 211"/>
                  <a:gd name="T106" fmla="*/ 135 w 183"/>
                  <a:gd name="T107" fmla="*/ 14 h 211"/>
                  <a:gd name="T108" fmla="*/ 142 w 183"/>
                  <a:gd name="T109" fmla="*/ 11 h 211"/>
                  <a:gd name="T110" fmla="*/ 149 w 183"/>
                  <a:gd name="T111" fmla="*/ 7 h 211"/>
                  <a:gd name="T112" fmla="*/ 180 w 183"/>
                  <a:gd name="T113" fmla="*/ 0 h 211"/>
                  <a:gd name="T114" fmla="*/ 183 w 183"/>
                  <a:gd name="T115" fmla="*/ 4 h 211"/>
                  <a:gd name="T116" fmla="*/ 183 w 183"/>
                  <a:gd name="T117" fmla="*/ 4 h 211"/>
                  <a:gd name="T118" fmla="*/ 183 w 183"/>
                  <a:gd name="T119" fmla="*/ 4 h 21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83"/>
                  <a:gd name="T181" fmla="*/ 0 h 211"/>
                  <a:gd name="T182" fmla="*/ 183 w 183"/>
                  <a:gd name="T183" fmla="*/ 211 h 211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83" h="211">
                    <a:moveTo>
                      <a:pt x="183" y="4"/>
                    </a:moveTo>
                    <a:lnTo>
                      <a:pt x="166" y="11"/>
                    </a:lnTo>
                    <a:lnTo>
                      <a:pt x="152" y="18"/>
                    </a:lnTo>
                    <a:lnTo>
                      <a:pt x="138" y="21"/>
                    </a:lnTo>
                    <a:lnTo>
                      <a:pt x="135" y="25"/>
                    </a:lnTo>
                    <a:lnTo>
                      <a:pt x="128" y="28"/>
                    </a:lnTo>
                    <a:lnTo>
                      <a:pt x="110" y="32"/>
                    </a:lnTo>
                    <a:lnTo>
                      <a:pt x="107" y="35"/>
                    </a:lnTo>
                    <a:lnTo>
                      <a:pt x="100" y="42"/>
                    </a:lnTo>
                    <a:lnTo>
                      <a:pt x="97" y="45"/>
                    </a:lnTo>
                    <a:lnTo>
                      <a:pt x="90" y="49"/>
                    </a:lnTo>
                    <a:lnTo>
                      <a:pt x="86" y="52"/>
                    </a:lnTo>
                    <a:lnTo>
                      <a:pt x="79" y="56"/>
                    </a:lnTo>
                    <a:lnTo>
                      <a:pt x="76" y="59"/>
                    </a:lnTo>
                    <a:lnTo>
                      <a:pt x="69" y="66"/>
                    </a:lnTo>
                    <a:lnTo>
                      <a:pt x="62" y="73"/>
                    </a:lnTo>
                    <a:lnTo>
                      <a:pt x="55" y="83"/>
                    </a:lnTo>
                    <a:lnTo>
                      <a:pt x="52" y="104"/>
                    </a:lnTo>
                    <a:lnTo>
                      <a:pt x="48" y="115"/>
                    </a:lnTo>
                    <a:lnTo>
                      <a:pt x="45" y="139"/>
                    </a:lnTo>
                    <a:lnTo>
                      <a:pt x="41" y="149"/>
                    </a:lnTo>
                    <a:lnTo>
                      <a:pt x="38" y="156"/>
                    </a:lnTo>
                    <a:lnTo>
                      <a:pt x="31" y="166"/>
                    </a:lnTo>
                    <a:lnTo>
                      <a:pt x="28" y="173"/>
                    </a:lnTo>
                    <a:lnTo>
                      <a:pt x="24" y="180"/>
                    </a:lnTo>
                    <a:lnTo>
                      <a:pt x="17" y="191"/>
                    </a:lnTo>
                    <a:lnTo>
                      <a:pt x="7" y="208"/>
                    </a:lnTo>
                    <a:lnTo>
                      <a:pt x="7" y="211"/>
                    </a:lnTo>
                    <a:lnTo>
                      <a:pt x="0" y="211"/>
                    </a:lnTo>
                    <a:lnTo>
                      <a:pt x="0" y="204"/>
                    </a:lnTo>
                    <a:lnTo>
                      <a:pt x="3" y="194"/>
                    </a:lnTo>
                    <a:lnTo>
                      <a:pt x="7" y="184"/>
                    </a:lnTo>
                    <a:lnTo>
                      <a:pt x="14" y="177"/>
                    </a:lnTo>
                    <a:lnTo>
                      <a:pt x="17" y="170"/>
                    </a:lnTo>
                    <a:lnTo>
                      <a:pt x="28" y="156"/>
                    </a:lnTo>
                    <a:lnTo>
                      <a:pt x="34" y="135"/>
                    </a:lnTo>
                    <a:lnTo>
                      <a:pt x="38" y="111"/>
                    </a:lnTo>
                    <a:lnTo>
                      <a:pt x="41" y="101"/>
                    </a:lnTo>
                    <a:lnTo>
                      <a:pt x="45" y="90"/>
                    </a:lnTo>
                    <a:lnTo>
                      <a:pt x="48" y="80"/>
                    </a:lnTo>
                    <a:lnTo>
                      <a:pt x="55" y="70"/>
                    </a:lnTo>
                    <a:lnTo>
                      <a:pt x="62" y="66"/>
                    </a:lnTo>
                    <a:lnTo>
                      <a:pt x="66" y="63"/>
                    </a:lnTo>
                    <a:lnTo>
                      <a:pt x="72" y="59"/>
                    </a:lnTo>
                    <a:lnTo>
                      <a:pt x="79" y="52"/>
                    </a:lnTo>
                    <a:lnTo>
                      <a:pt x="83" y="49"/>
                    </a:lnTo>
                    <a:lnTo>
                      <a:pt x="90" y="45"/>
                    </a:lnTo>
                    <a:lnTo>
                      <a:pt x="93" y="42"/>
                    </a:lnTo>
                    <a:lnTo>
                      <a:pt x="100" y="38"/>
                    </a:lnTo>
                    <a:lnTo>
                      <a:pt x="104" y="32"/>
                    </a:lnTo>
                    <a:lnTo>
                      <a:pt x="110" y="28"/>
                    </a:lnTo>
                    <a:lnTo>
                      <a:pt x="117" y="25"/>
                    </a:lnTo>
                    <a:lnTo>
                      <a:pt x="124" y="18"/>
                    </a:lnTo>
                    <a:lnTo>
                      <a:pt x="135" y="14"/>
                    </a:lnTo>
                    <a:lnTo>
                      <a:pt x="142" y="11"/>
                    </a:lnTo>
                    <a:lnTo>
                      <a:pt x="149" y="7"/>
                    </a:lnTo>
                    <a:lnTo>
                      <a:pt x="180" y="0"/>
                    </a:lnTo>
                    <a:lnTo>
                      <a:pt x="183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0" name="Freeform 157"/>
              <p:cNvSpPr>
                <a:spLocks/>
              </p:cNvSpPr>
              <p:nvPr/>
            </p:nvSpPr>
            <p:spPr bwMode="auto">
              <a:xfrm>
                <a:off x="2859" y="1177"/>
                <a:ext cx="152" cy="55"/>
              </a:xfrm>
              <a:custGeom>
                <a:avLst/>
                <a:gdLst>
                  <a:gd name="T0" fmla="*/ 4 w 152"/>
                  <a:gd name="T1" fmla="*/ 0 h 55"/>
                  <a:gd name="T2" fmla="*/ 10 w 152"/>
                  <a:gd name="T3" fmla="*/ 7 h 55"/>
                  <a:gd name="T4" fmla="*/ 17 w 152"/>
                  <a:gd name="T5" fmla="*/ 10 h 55"/>
                  <a:gd name="T6" fmla="*/ 35 w 152"/>
                  <a:gd name="T7" fmla="*/ 14 h 55"/>
                  <a:gd name="T8" fmla="*/ 76 w 152"/>
                  <a:gd name="T9" fmla="*/ 14 h 55"/>
                  <a:gd name="T10" fmla="*/ 104 w 152"/>
                  <a:gd name="T11" fmla="*/ 21 h 55"/>
                  <a:gd name="T12" fmla="*/ 114 w 152"/>
                  <a:gd name="T13" fmla="*/ 24 h 55"/>
                  <a:gd name="T14" fmla="*/ 128 w 152"/>
                  <a:gd name="T15" fmla="*/ 31 h 55"/>
                  <a:gd name="T16" fmla="*/ 135 w 152"/>
                  <a:gd name="T17" fmla="*/ 38 h 55"/>
                  <a:gd name="T18" fmla="*/ 142 w 152"/>
                  <a:gd name="T19" fmla="*/ 41 h 55"/>
                  <a:gd name="T20" fmla="*/ 145 w 152"/>
                  <a:gd name="T21" fmla="*/ 48 h 55"/>
                  <a:gd name="T22" fmla="*/ 152 w 152"/>
                  <a:gd name="T23" fmla="*/ 55 h 55"/>
                  <a:gd name="T24" fmla="*/ 152 w 152"/>
                  <a:gd name="T25" fmla="*/ 55 h 55"/>
                  <a:gd name="T26" fmla="*/ 152 w 152"/>
                  <a:gd name="T27" fmla="*/ 55 h 55"/>
                  <a:gd name="T28" fmla="*/ 142 w 152"/>
                  <a:gd name="T29" fmla="*/ 52 h 55"/>
                  <a:gd name="T30" fmla="*/ 135 w 152"/>
                  <a:gd name="T31" fmla="*/ 48 h 55"/>
                  <a:gd name="T32" fmla="*/ 121 w 152"/>
                  <a:gd name="T33" fmla="*/ 41 h 55"/>
                  <a:gd name="T34" fmla="*/ 111 w 152"/>
                  <a:gd name="T35" fmla="*/ 34 h 55"/>
                  <a:gd name="T36" fmla="*/ 100 w 152"/>
                  <a:gd name="T37" fmla="*/ 28 h 55"/>
                  <a:gd name="T38" fmla="*/ 90 w 152"/>
                  <a:gd name="T39" fmla="*/ 24 h 55"/>
                  <a:gd name="T40" fmla="*/ 76 w 152"/>
                  <a:gd name="T41" fmla="*/ 24 h 55"/>
                  <a:gd name="T42" fmla="*/ 31 w 152"/>
                  <a:gd name="T43" fmla="*/ 21 h 55"/>
                  <a:gd name="T44" fmla="*/ 14 w 152"/>
                  <a:gd name="T45" fmla="*/ 14 h 55"/>
                  <a:gd name="T46" fmla="*/ 0 w 152"/>
                  <a:gd name="T47" fmla="*/ 0 h 55"/>
                  <a:gd name="T48" fmla="*/ 0 w 152"/>
                  <a:gd name="T49" fmla="*/ 0 h 55"/>
                  <a:gd name="T50" fmla="*/ 4 w 152"/>
                  <a:gd name="T51" fmla="*/ 0 h 55"/>
                  <a:gd name="T52" fmla="*/ 4 w 152"/>
                  <a:gd name="T53" fmla="*/ 0 h 55"/>
                  <a:gd name="T54" fmla="*/ 4 w 152"/>
                  <a:gd name="T55" fmla="*/ 0 h 5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52"/>
                  <a:gd name="T85" fmla="*/ 0 h 55"/>
                  <a:gd name="T86" fmla="*/ 152 w 152"/>
                  <a:gd name="T87" fmla="*/ 55 h 5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52" h="55">
                    <a:moveTo>
                      <a:pt x="4" y="0"/>
                    </a:moveTo>
                    <a:lnTo>
                      <a:pt x="10" y="7"/>
                    </a:lnTo>
                    <a:lnTo>
                      <a:pt x="17" y="10"/>
                    </a:lnTo>
                    <a:lnTo>
                      <a:pt x="35" y="14"/>
                    </a:lnTo>
                    <a:lnTo>
                      <a:pt x="76" y="14"/>
                    </a:lnTo>
                    <a:lnTo>
                      <a:pt x="104" y="21"/>
                    </a:lnTo>
                    <a:lnTo>
                      <a:pt x="114" y="24"/>
                    </a:lnTo>
                    <a:lnTo>
                      <a:pt x="128" y="31"/>
                    </a:lnTo>
                    <a:lnTo>
                      <a:pt x="135" y="38"/>
                    </a:lnTo>
                    <a:lnTo>
                      <a:pt x="142" y="41"/>
                    </a:lnTo>
                    <a:lnTo>
                      <a:pt x="145" y="48"/>
                    </a:lnTo>
                    <a:lnTo>
                      <a:pt x="152" y="55"/>
                    </a:lnTo>
                    <a:lnTo>
                      <a:pt x="142" y="52"/>
                    </a:lnTo>
                    <a:lnTo>
                      <a:pt x="135" y="48"/>
                    </a:lnTo>
                    <a:lnTo>
                      <a:pt x="121" y="41"/>
                    </a:lnTo>
                    <a:lnTo>
                      <a:pt x="111" y="34"/>
                    </a:lnTo>
                    <a:lnTo>
                      <a:pt x="100" y="28"/>
                    </a:lnTo>
                    <a:lnTo>
                      <a:pt x="90" y="24"/>
                    </a:lnTo>
                    <a:lnTo>
                      <a:pt x="76" y="24"/>
                    </a:lnTo>
                    <a:lnTo>
                      <a:pt x="31" y="21"/>
                    </a:lnTo>
                    <a:lnTo>
                      <a:pt x="14" y="1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1" name="Freeform 158"/>
              <p:cNvSpPr>
                <a:spLocks/>
              </p:cNvSpPr>
              <p:nvPr/>
            </p:nvSpPr>
            <p:spPr bwMode="auto">
              <a:xfrm>
                <a:off x="2849" y="1125"/>
                <a:ext cx="83" cy="28"/>
              </a:xfrm>
              <a:custGeom>
                <a:avLst/>
                <a:gdLst>
                  <a:gd name="T0" fmla="*/ 0 w 83"/>
                  <a:gd name="T1" fmla="*/ 24 h 28"/>
                  <a:gd name="T2" fmla="*/ 7 w 83"/>
                  <a:gd name="T3" fmla="*/ 17 h 28"/>
                  <a:gd name="T4" fmla="*/ 14 w 83"/>
                  <a:gd name="T5" fmla="*/ 10 h 28"/>
                  <a:gd name="T6" fmla="*/ 17 w 83"/>
                  <a:gd name="T7" fmla="*/ 7 h 28"/>
                  <a:gd name="T8" fmla="*/ 27 w 83"/>
                  <a:gd name="T9" fmla="*/ 3 h 28"/>
                  <a:gd name="T10" fmla="*/ 55 w 83"/>
                  <a:gd name="T11" fmla="*/ 0 h 28"/>
                  <a:gd name="T12" fmla="*/ 83 w 83"/>
                  <a:gd name="T13" fmla="*/ 7 h 28"/>
                  <a:gd name="T14" fmla="*/ 83 w 83"/>
                  <a:gd name="T15" fmla="*/ 10 h 28"/>
                  <a:gd name="T16" fmla="*/ 79 w 83"/>
                  <a:gd name="T17" fmla="*/ 10 h 28"/>
                  <a:gd name="T18" fmla="*/ 65 w 83"/>
                  <a:gd name="T19" fmla="*/ 7 h 28"/>
                  <a:gd name="T20" fmla="*/ 55 w 83"/>
                  <a:gd name="T21" fmla="*/ 7 h 28"/>
                  <a:gd name="T22" fmla="*/ 31 w 83"/>
                  <a:gd name="T23" fmla="*/ 10 h 28"/>
                  <a:gd name="T24" fmla="*/ 3 w 83"/>
                  <a:gd name="T25" fmla="*/ 28 h 28"/>
                  <a:gd name="T26" fmla="*/ 0 w 83"/>
                  <a:gd name="T27" fmla="*/ 28 h 28"/>
                  <a:gd name="T28" fmla="*/ 0 w 83"/>
                  <a:gd name="T29" fmla="*/ 24 h 28"/>
                  <a:gd name="T30" fmla="*/ 0 w 83"/>
                  <a:gd name="T31" fmla="*/ 24 h 28"/>
                  <a:gd name="T32" fmla="*/ 0 w 83"/>
                  <a:gd name="T33" fmla="*/ 24 h 28"/>
                  <a:gd name="T34" fmla="*/ 0 w 83"/>
                  <a:gd name="T35" fmla="*/ 24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3"/>
                  <a:gd name="T55" fmla="*/ 0 h 28"/>
                  <a:gd name="T56" fmla="*/ 83 w 83"/>
                  <a:gd name="T57" fmla="*/ 28 h 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3" h="28">
                    <a:moveTo>
                      <a:pt x="0" y="24"/>
                    </a:moveTo>
                    <a:lnTo>
                      <a:pt x="7" y="17"/>
                    </a:lnTo>
                    <a:lnTo>
                      <a:pt x="14" y="10"/>
                    </a:lnTo>
                    <a:lnTo>
                      <a:pt x="17" y="7"/>
                    </a:lnTo>
                    <a:lnTo>
                      <a:pt x="27" y="3"/>
                    </a:lnTo>
                    <a:lnTo>
                      <a:pt x="55" y="0"/>
                    </a:lnTo>
                    <a:lnTo>
                      <a:pt x="83" y="7"/>
                    </a:lnTo>
                    <a:lnTo>
                      <a:pt x="83" y="10"/>
                    </a:lnTo>
                    <a:lnTo>
                      <a:pt x="79" y="10"/>
                    </a:lnTo>
                    <a:lnTo>
                      <a:pt x="65" y="7"/>
                    </a:lnTo>
                    <a:lnTo>
                      <a:pt x="55" y="7"/>
                    </a:lnTo>
                    <a:lnTo>
                      <a:pt x="31" y="10"/>
                    </a:lnTo>
                    <a:lnTo>
                      <a:pt x="3" y="28"/>
                    </a:lnTo>
                    <a:lnTo>
                      <a:pt x="0" y="28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2" name="Freeform 159"/>
              <p:cNvSpPr>
                <a:spLocks/>
              </p:cNvSpPr>
              <p:nvPr/>
            </p:nvSpPr>
            <p:spPr bwMode="auto">
              <a:xfrm>
                <a:off x="2835" y="1177"/>
                <a:ext cx="83" cy="128"/>
              </a:xfrm>
              <a:custGeom>
                <a:avLst/>
                <a:gdLst>
                  <a:gd name="T0" fmla="*/ 3 w 83"/>
                  <a:gd name="T1" fmla="*/ 0 h 128"/>
                  <a:gd name="T2" fmla="*/ 7 w 83"/>
                  <a:gd name="T3" fmla="*/ 10 h 128"/>
                  <a:gd name="T4" fmla="*/ 14 w 83"/>
                  <a:gd name="T5" fmla="*/ 21 h 128"/>
                  <a:gd name="T6" fmla="*/ 17 w 83"/>
                  <a:gd name="T7" fmla="*/ 28 h 128"/>
                  <a:gd name="T8" fmla="*/ 24 w 83"/>
                  <a:gd name="T9" fmla="*/ 34 h 128"/>
                  <a:gd name="T10" fmla="*/ 31 w 83"/>
                  <a:gd name="T11" fmla="*/ 41 h 128"/>
                  <a:gd name="T12" fmla="*/ 34 w 83"/>
                  <a:gd name="T13" fmla="*/ 52 h 128"/>
                  <a:gd name="T14" fmla="*/ 41 w 83"/>
                  <a:gd name="T15" fmla="*/ 59 h 128"/>
                  <a:gd name="T16" fmla="*/ 48 w 83"/>
                  <a:gd name="T17" fmla="*/ 69 h 128"/>
                  <a:gd name="T18" fmla="*/ 59 w 83"/>
                  <a:gd name="T19" fmla="*/ 79 h 128"/>
                  <a:gd name="T20" fmla="*/ 66 w 83"/>
                  <a:gd name="T21" fmla="*/ 93 h 128"/>
                  <a:gd name="T22" fmla="*/ 69 w 83"/>
                  <a:gd name="T23" fmla="*/ 104 h 128"/>
                  <a:gd name="T24" fmla="*/ 73 w 83"/>
                  <a:gd name="T25" fmla="*/ 110 h 128"/>
                  <a:gd name="T26" fmla="*/ 79 w 83"/>
                  <a:gd name="T27" fmla="*/ 117 h 128"/>
                  <a:gd name="T28" fmla="*/ 83 w 83"/>
                  <a:gd name="T29" fmla="*/ 121 h 128"/>
                  <a:gd name="T30" fmla="*/ 83 w 83"/>
                  <a:gd name="T31" fmla="*/ 128 h 128"/>
                  <a:gd name="T32" fmla="*/ 76 w 83"/>
                  <a:gd name="T33" fmla="*/ 128 h 128"/>
                  <a:gd name="T34" fmla="*/ 69 w 83"/>
                  <a:gd name="T35" fmla="*/ 124 h 128"/>
                  <a:gd name="T36" fmla="*/ 62 w 83"/>
                  <a:gd name="T37" fmla="*/ 110 h 128"/>
                  <a:gd name="T38" fmla="*/ 55 w 83"/>
                  <a:gd name="T39" fmla="*/ 100 h 128"/>
                  <a:gd name="T40" fmla="*/ 48 w 83"/>
                  <a:gd name="T41" fmla="*/ 86 h 128"/>
                  <a:gd name="T42" fmla="*/ 45 w 83"/>
                  <a:gd name="T43" fmla="*/ 79 h 128"/>
                  <a:gd name="T44" fmla="*/ 38 w 83"/>
                  <a:gd name="T45" fmla="*/ 72 h 128"/>
                  <a:gd name="T46" fmla="*/ 31 w 83"/>
                  <a:gd name="T47" fmla="*/ 66 h 128"/>
                  <a:gd name="T48" fmla="*/ 28 w 83"/>
                  <a:gd name="T49" fmla="*/ 55 h 128"/>
                  <a:gd name="T50" fmla="*/ 17 w 83"/>
                  <a:gd name="T51" fmla="*/ 38 h 128"/>
                  <a:gd name="T52" fmla="*/ 14 w 83"/>
                  <a:gd name="T53" fmla="*/ 31 h 128"/>
                  <a:gd name="T54" fmla="*/ 10 w 83"/>
                  <a:gd name="T55" fmla="*/ 21 h 128"/>
                  <a:gd name="T56" fmla="*/ 3 w 83"/>
                  <a:gd name="T57" fmla="*/ 10 h 128"/>
                  <a:gd name="T58" fmla="*/ 0 w 83"/>
                  <a:gd name="T59" fmla="*/ 0 h 128"/>
                  <a:gd name="T60" fmla="*/ 0 w 83"/>
                  <a:gd name="T61" fmla="*/ 0 h 128"/>
                  <a:gd name="T62" fmla="*/ 3 w 83"/>
                  <a:gd name="T63" fmla="*/ 0 h 128"/>
                  <a:gd name="T64" fmla="*/ 3 w 83"/>
                  <a:gd name="T65" fmla="*/ 0 h 128"/>
                  <a:gd name="T66" fmla="*/ 3 w 83"/>
                  <a:gd name="T67" fmla="*/ 0 h 1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83"/>
                  <a:gd name="T103" fmla="*/ 0 h 128"/>
                  <a:gd name="T104" fmla="*/ 83 w 83"/>
                  <a:gd name="T105" fmla="*/ 128 h 1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83" h="128">
                    <a:moveTo>
                      <a:pt x="3" y="0"/>
                    </a:moveTo>
                    <a:lnTo>
                      <a:pt x="7" y="10"/>
                    </a:lnTo>
                    <a:lnTo>
                      <a:pt x="14" y="21"/>
                    </a:lnTo>
                    <a:lnTo>
                      <a:pt x="17" y="28"/>
                    </a:lnTo>
                    <a:lnTo>
                      <a:pt x="24" y="34"/>
                    </a:lnTo>
                    <a:lnTo>
                      <a:pt x="31" y="41"/>
                    </a:lnTo>
                    <a:lnTo>
                      <a:pt x="34" y="52"/>
                    </a:lnTo>
                    <a:lnTo>
                      <a:pt x="41" y="59"/>
                    </a:lnTo>
                    <a:lnTo>
                      <a:pt x="48" y="69"/>
                    </a:lnTo>
                    <a:lnTo>
                      <a:pt x="59" y="79"/>
                    </a:lnTo>
                    <a:lnTo>
                      <a:pt x="66" y="93"/>
                    </a:lnTo>
                    <a:lnTo>
                      <a:pt x="69" y="104"/>
                    </a:lnTo>
                    <a:lnTo>
                      <a:pt x="73" y="110"/>
                    </a:lnTo>
                    <a:lnTo>
                      <a:pt x="79" y="117"/>
                    </a:lnTo>
                    <a:lnTo>
                      <a:pt x="83" y="121"/>
                    </a:lnTo>
                    <a:lnTo>
                      <a:pt x="83" y="128"/>
                    </a:lnTo>
                    <a:lnTo>
                      <a:pt x="76" y="128"/>
                    </a:lnTo>
                    <a:lnTo>
                      <a:pt x="69" y="124"/>
                    </a:lnTo>
                    <a:lnTo>
                      <a:pt x="62" y="110"/>
                    </a:lnTo>
                    <a:lnTo>
                      <a:pt x="55" y="100"/>
                    </a:lnTo>
                    <a:lnTo>
                      <a:pt x="48" y="86"/>
                    </a:lnTo>
                    <a:lnTo>
                      <a:pt x="45" y="79"/>
                    </a:lnTo>
                    <a:lnTo>
                      <a:pt x="38" y="72"/>
                    </a:lnTo>
                    <a:lnTo>
                      <a:pt x="31" y="66"/>
                    </a:lnTo>
                    <a:lnTo>
                      <a:pt x="28" y="55"/>
                    </a:lnTo>
                    <a:lnTo>
                      <a:pt x="17" y="38"/>
                    </a:lnTo>
                    <a:lnTo>
                      <a:pt x="14" y="31"/>
                    </a:lnTo>
                    <a:lnTo>
                      <a:pt x="10" y="21"/>
                    </a:lnTo>
                    <a:lnTo>
                      <a:pt x="3" y="1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3" name="Freeform 160"/>
              <p:cNvSpPr>
                <a:spLocks/>
              </p:cNvSpPr>
              <p:nvPr/>
            </p:nvSpPr>
            <p:spPr bwMode="auto">
              <a:xfrm>
                <a:off x="2825" y="1246"/>
                <a:ext cx="55" cy="48"/>
              </a:xfrm>
              <a:custGeom>
                <a:avLst/>
                <a:gdLst>
                  <a:gd name="T0" fmla="*/ 55 w 55"/>
                  <a:gd name="T1" fmla="*/ 3 h 48"/>
                  <a:gd name="T2" fmla="*/ 48 w 55"/>
                  <a:gd name="T3" fmla="*/ 7 h 48"/>
                  <a:gd name="T4" fmla="*/ 41 w 55"/>
                  <a:gd name="T5" fmla="*/ 14 h 48"/>
                  <a:gd name="T6" fmla="*/ 38 w 55"/>
                  <a:gd name="T7" fmla="*/ 24 h 48"/>
                  <a:gd name="T8" fmla="*/ 31 w 55"/>
                  <a:gd name="T9" fmla="*/ 31 h 48"/>
                  <a:gd name="T10" fmla="*/ 24 w 55"/>
                  <a:gd name="T11" fmla="*/ 38 h 48"/>
                  <a:gd name="T12" fmla="*/ 17 w 55"/>
                  <a:gd name="T13" fmla="*/ 41 h 48"/>
                  <a:gd name="T14" fmla="*/ 3 w 55"/>
                  <a:gd name="T15" fmla="*/ 48 h 48"/>
                  <a:gd name="T16" fmla="*/ 0 w 55"/>
                  <a:gd name="T17" fmla="*/ 48 h 48"/>
                  <a:gd name="T18" fmla="*/ 0 w 55"/>
                  <a:gd name="T19" fmla="*/ 45 h 48"/>
                  <a:gd name="T20" fmla="*/ 13 w 55"/>
                  <a:gd name="T21" fmla="*/ 38 h 48"/>
                  <a:gd name="T22" fmla="*/ 20 w 55"/>
                  <a:gd name="T23" fmla="*/ 24 h 48"/>
                  <a:gd name="T24" fmla="*/ 27 w 55"/>
                  <a:gd name="T25" fmla="*/ 17 h 48"/>
                  <a:gd name="T26" fmla="*/ 38 w 55"/>
                  <a:gd name="T27" fmla="*/ 10 h 48"/>
                  <a:gd name="T28" fmla="*/ 44 w 55"/>
                  <a:gd name="T29" fmla="*/ 3 h 48"/>
                  <a:gd name="T30" fmla="*/ 55 w 55"/>
                  <a:gd name="T31" fmla="*/ 0 h 48"/>
                  <a:gd name="T32" fmla="*/ 55 w 55"/>
                  <a:gd name="T33" fmla="*/ 3 h 48"/>
                  <a:gd name="T34" fmla="*/ 55 w 55"/>
                  <a:gd name="T35" fmla="*/ 3 h 48"/>
                  <a:gd name="T36" fmla="*/ 55 w 55"/>
                  <a:gd name="T37" fmla="*/ 3 h 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48"/>
                  <a:gd name="T59" fmla="*/ 55 w 55"/>
                  <a:gd name="T60" fmla="*/ 48 h 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48">
                    <a:moveTo>
                      <a:pt x="55" y="3"/>
                    </a:moveTo>
                    <a:lnTo>
                      <a:pt x="48" y="7"/>
                    </a:lnTo>
                    <a:lnTo>
                      <a:pt x="41" y="14"/>
                    </a:lnTo>
                    <a:lnTo>
                      <a:pt x="38" y="24"/>
                    </a:lnTo>
                    <a:lnTo>
                      <a:pt x="31" y="31"/>
                    </a:lnTo>
                    <a:lnTo>
                      <a:pt x="24" y="38"/>
                    </a:lnTo>
                    <a:lnTo>
                      <a:pt x="17" y="41"/>
                    </a:lnTo>
                    <a:lnTo>
                      <a:pt x="3" y="48"/>
                    </a:lnTo>
                    <a:lnTo>
                      <a:pt x="0" y="48"/>
                    </a:lnTo>
                    <a:lnTo>
                      <a:pt x="0" y="45"/>
                    </a:lnTo>
                    <a:lnTo>
                      <a:pt x="13" y="38"/>
                    </a:lnTo>
                    <a:lnTo>
                      <a:pt x="20" y="24"/>
                    </a:lnTo>
                    <a:lnTo>
                      <a:pt x="27" y="17"/>
                    </a:lnTo>
                    <a:lnTo>
                      <a:pt x="38" y="10"/>
                    </a:lnTo>
                    <a:lnTo>
                      <a:pt x="44" y="3"/>
                    </a:lnTo>
                    <a:lnTo>
                      <a:pt x="55" y="0"/>
                    </a:lnTo>
                    <a:lnTo>
                      <a:pt x="5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4" name="Freeform 161"/>
              <p:cNvSpPr>
                <a:spLocks/>
              </p:cNvSpPr>
              <p:nvPr/>
            </p:nvSpPr>
            <p:spPr bwMode="auto">
              <a:xfrm>
                <a:off x="3108" y="1080"/>
                <a:ext cx="111" cy="138"/>
              </a:xfrm>
              <a:custGeom>
                <a:avLst/>
                <a:gdLst>
                  <a:gd name="T0" fmla="*/ 3 w 111"/>
                  <a:gd name="T1" fmla="*/ 0 h 138"/>
                  <a:gd name="T2" fmla="*/ 17 w 111"/>
                  <a:gd name="T3" fmla="*/ 7 h 138"/>
                  <a:gd name="T4" fmla="*/ 24 w 111"/>
                  <a:gd name="T5" fmla="*/ 14 h 138"/>
                  <a:gd name="T6" fmla="*/ 31 w 111"/>
                  <a:gd name="T7" fmla="*/ 17 h 138"/>
                  <a:gd name="T8" fmla="*/ 41 w 111"/>
                  <a:gd name="T9" fmla="*/ 31 h 138"/>
                  <a:gd name="T10" fmla="*/ 48 w 111"/>
                  <a:gd name="T11" fmla="*/ 48 h 138"/>
                  <a:gd name="T12" fmla="*/ 52 w 111"/>
                  <a:gd name="T13" fmla="*/ 59 h 138"/>
                  <a:gd name="T14" fmla="*/ 62 w 111"/>
                  <a:gd name="T15" fmla="*/ 69 h 138"/>
                  <a:gd name="T16" fmla="*/ 66 w 111"/>
                  <a:gd name="T17" fmla="*/ 76 h 138"/>
                  <a:gd name="T18" fmla="*/ 69 w 111"/>
                  <a:gd name="T19" fmla="*/ 83 h 138"/>
                  <a:gd name="T20" fmla="*/ 76 w 111"/>
                  <a:gd name="T21" fmla="*/ 93 h 138"/>
                  <a:gd name="T22" fmla="*/ 83 w 111"/>
                  <a:gd name="T23" fmla="*/ 100 h 138"/>
                  <a:gd name="T24" fmla="*/ 90 w 111"/>
                  <a:gd name="T25" fmla="*/ 107 h 138"/>
                  <a:gd name="T26" fmla="*/ 93 w 111"/>
                  <a:gd name="T27" fmla="*/ 111 h 138"/>
                  <a:gd name="T28" fmla="*/ 97 w 111"/>
                  <a:gd name="T29" fmla="*/ 118 h 138"/>
                  <a:gd name="T30" fmla="*/ 104 w 111"/>
                  <a:gd name="T31" fmla="*/ 125 h 138"/>
                  <a:gd name="T32" fmla="*/ 111 w 111"/>
                  <a:gd name="T33" fmla="*/ 135 h 138"/>
                  <a:gd name="T34" fmla="*/ 107 w 111"/>
                  <a:gd name="T35" fmla="*/ 138 h 138"/>
                  <a:gd name="T36" fmla="*/ 104 w 111"/>
                  <a:gd name="T37" fmla="*/ 138 h 138"/>
                  <a:gd name="T38" fmla="*/ 104 w 111"/>
                  <a:gd name="T39" fmla="*/ 131 h 138"/>
                  <a:gd name="T40" fmla="*/ 100 w 111"/>
                  <a:gd name="T41" fmla="*/ 128 h 138"/>
                  <a:gd name="T42" fmla="*/ 90 w 111"/>
                  <a:gd name="T43" fmla="*/ 125 h 138"/>
                  <a:gd name="T44" fmla="*/ 73 w 111"/>
                  <a:gd name="T45" fmla="*/ 107 h 138"/>
                  <a:gd name="T46" fmla="*/ 66 w 111"/>
                  <a:gd name="T47" fmla="*/ 97 h 138"/>
                  <a:gd name="T48" fmla="*/ 59 w 111"/>
                  <a:gd name="T49" fmla="*/ 86 h 138"/>
                  <a:gd name="T50" fmla="*/ 55 w 111"/>
                  <a:gd name="T51" fmla="*/ 80 h 138"/>
                  <a:gd name="T52" fmla="*/ 48 w 111"/>
                  <a:gd name="T53" fmla="*/ 76 h 138"/>
                  <a:gd name="T54" fmla="*/ 41 w 111"/>
                  <a:gd name="T55" fmla="*/ 62 h 138"/>
                  <a:gd name="T56" fmla="*/ 35 w 111"/>
                  <a:gd name="T57" fmla="*/ 52 h 138"/>
                  <a:gd name="T58" fmla="*/ 28 w 111"/>
                  <a:gd name="T59" fmla="*/ 38 h 138"/>
                  <a:gd name="T60" fmla="*/ 24 w 111"/>
                  <a:gd name="T61" fmla="*/ 24 h 138"/>
                  <a:gd name="T62" fmla="*/ 21 w 111"/>
                  <a:gd name="T63" fmla="*/ 17 h 138"/>
                  <a:gd name="T64" fmla="*/ 14 w 111"/>
                  <a:gd name="T65" fmla="*/ 10 h 138"/>
                  <a:gd name="T66" fmla="*/ 7 w 111"/>
                  <a:gd name="T67" fmla="*/ 7 h 138"/>
                  <a:gd name="T68" fmla="*/ 0 w 111"/>
                  <a:gd name="T69" fmla="*/ 0 h 138"/>
                  <a:gd name="T70" fmla="*/ 0 w 111"/>
                  <a:gd name="T71" fmla="*/ 0 h 138"/>
                  <a:gd name="T72" fmla="*/ 3 w 111"/>
                  <a:gd name="T73" fmla="*/ 0 h 138"/>
                  <a:gd name="T74" fmla="*/ 3 w 111"/>
                  <a:gd name="T75" fmla="*/ 0 h 138"/>
                  <a:gd name="T76" fmla="*/ 3 w 111"/>
                  <a:gd name="T77" fmla="*/ 0 h 13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1"/>
                  <a:gd name="T118" fmla="*/ 0 h 138"/>
                  <a:gd name="T119" fmla="*/ 111 w 111"/>
                  <a:gd name="T120" fmla="*/ 138 h 13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1" h="138">
                    <a:moveTo>
                      <a:pt x="3" y="0"/>
                    </a:moveTo>
                    <a:lnTo>
                      <a:pt x="17" y="7"/>
                    </a:lnTo>
                    <a:lnTo>
                      <a:pt x="24" y="14"/>
                    </a:lnTo>
                    <a:lnTo>
                      <a:pt x="31" y="17"/>
                    </a:lnTo>
                    <a:lnTo>
                      <a:pt x="41" y="31"/>
                    </a:lnTo>
                    <a:lnTo>
                      <a:pt x="48" y="48"/>
                    </a:lnTo>
                    <a:lnTo>
                      <a:pt x="52" y="59"/>
                    </a:lnTo>
                    <a:lnTo>
                      <a:pt x="62" y="69"/>
                    </a:lnTo>
                    <a:lnTo>
                      <a:pt x="66" y="76"/>
                    </a:lnTo>
                    <a:lnTo>
                      <a:pt x="69" y="83"/>
                    </a:lnTo>
                    <a:lnTo>
                      <a:pt x="76" y="93"/>
                    </a:lnTo>
                    <a:lnTo>
                      <a:pt x="83" y="100"/>
                    </a:lnTo>
                    <a:lnTo>
                      <a:pt x="90" y="107"/>
                    </a:lnTo>
                    <a:lnTo>
                      <a:pt x="93" y="111"/>
                    </a:lnTo>
                    <a:lnTo>
                      <a:pt x="97" y="118"/>
                    </a:lnTo>
                    <a:lnTo>
                      <a:pt x="104" y="125"/>
                    </a:lnTo>
                    <a:lnTo>
                      <a:pt x="111" y="135"/>
                    </a:lnTo>
                    <a:lnTo>
                      <a:pt x="107" y="138"/>
                    </a:lnTo>
                    <a:lnTo>
                      <a:pt x="104" y="138"/>
                    </a:lnTo>
                    <a:lnTo>
                      <a:pt x="104" y="131"/>
                    </a:lnTo>
                    <a:lnTo>
                      <a:pt x="100" y="128"/>
                    </a:lnTo>
                    <a:lnTo>
                      <a:pt x="90" y="125"/>
                    </a:lnTo>
                    <a:lnTo>
                      <a:pt x="73" y="107"/>
                    </a:lnTo>
                    <a:lnTo>
                      <a:pt x="66" y="97"/>
                    </a:lnTo>
                    <a:lnTo>
                      <a:pt x="59" y="86"/>
                    </a:lnTo>
                    <a:lnTo>
                      <a:pt x="55" y="80"/>
                    </a:lnTo>
                    <a:lnTo>
                      <a:pt x="48" y="76"/>
                    </a:lnTo>
                    <a:lnTo>
                      <a:pt x="41" y="62"/>
                    </a:lnTo>
                    <a:lnTo>
                      <a:pt x="35" y="52"/>
                    </a:lnTo>
                    <a:lnTo>
                      <a:pt x="28" y="38"/>
                    </a:lnTo>
                    <a:lnTo>
                      <a:pt x="24" y="24"/>
                    </a:lnTo>
                    <a:lnTo>
                      <a:pt x="21" y="17"/>
                    </a:lnTo>
                    <a:lnTo>
                      <a:pt x="14" y="10"/>
                    </a:lnTo>
                    <a:lnTo>
                      <a:pt x="7" y="7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5" name="Freeform 162"/>
              <p:cNvSpPr>
                <a:spLocks/>
              </p:cNvSpPr>
              <p:nvPr/>
            </p:nvSpPr>
            <p:spPr bwMode="auto">
              <a:xfrm>
                <a:off x="3042" y="1160"/>
                <a:ext cx="25" cy="27"/>
              </a:xfrm>
              <a:custGeom>
                <a:avLst/>
                <a:gdLst>
                  <a:gd name="T0" fmla="*/ 25 w 25"/>
                  <a:gd name="T1" fmla="*/ 3 h 27"/>
                  <a:gd name="T2" fmla="*/ 25 w 25"/>
                  <a:gd name="T3" fmla="*/ 10 h 27"/>
                  <a:gd name="T4" fmla="*/ 25 w 25"/>
                  <a:gd name="T5" fmla="*/ 17 h 27"/>
                  <a:gd name="T6" fmla="*/ 18 w 25"/>
                  <a:gd name="T7" fmla="*/ 20 h 27"/>
                  <a:gd name="T8" fmla="*/ 11 w 25"/>
                  <a:gd name="T9" fmla="*/ 24 h 27"/>
                  <a:gd name="T10" fmla="*/ 7 w 25"/>
                  <a:gd name="T11" fmla="*/ 27 h 27"/>
                  <a:gd name="T12" fmla="*/ 0 w 25"/>
                  <a:gd name="T13" fmla="*/ 27 h 27"/>
                  <a:gd name="T14" fmla="*/ 4 w 25"/>
                  <a:gd name="T15" fmla="*/ 20 h 27"/>
                  <a:gd name="T16" fmla="*/ 7 w 25"/>
                  <a:gd name="T17" fmla="*/ 17 h 27"/>
                  <a:gd name="T18" fmla="*/ 18 w 25"/>
                  <a:gd name="T19" fmla="*/ 10 h 27"/>
                  <a:gd name="T20" fmla="*/ 21 w 25"/>
                  <a:gd name="T21" fmla="*/ 3 h 27"/>
                  <a:gd name="T22" fmla="*/ 21 w 25"/>
                  <a:gd name="T23" fmla="*/ 0 h 27"/>
                  <a:gd name="T24" fmla="*/ 25 w 25"/>
                  <a:gd name="T25" fmla="*/ 3 h 27"/>
                  <a:gd name="T26" fmla="*/ 25 w 25"/>
                  <a:gd name="T27" fmla="*/ 3 h 27"/>
                  <a:gd name="T28" fmla="*/ 25 w 25"/>
                  <a:gd name="T29" fmla="*/ 3 h 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5"/>
                  <a:gd name="T46" fmla="*/ 0 h 27"/>
                  <a:gd name="T47" fmla="*/ 25 w 25"/>
                  <a:gd name="T48" fmla="*/ 27 h 2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5" h="27">
                    <a:moveTo>
                      <a:pt x="25" y="3"/>
                    </a:moveTo>
                    <a:lnTo>
                      <a:pt x="25" y="10"/>
                    </a:lnTo>
                    <a:lnTo>
                      <a:pt x="25" y="17"/>
                    </a:lnTo>
                    <a:lnTo>
                      <a:pt x="18" y="20"/>
                    </a:lnTo>
                    <a:lnTo>
                      <a:pt x="11" y="24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4" y="20"/>
                    </a:lnTo>
                    <a:lnTo>
                      <a:pt x="7" y="17"/>
                    </a:lnTo>
                    <a:lnTo>
                      <a:pt x="18" y="10"/>
                    </a:lnTo>
                    <a:lnTo>
                      <a:pt x="21" y="3"/>
                    </a:lnTo>
                    <a:lnTo>
                      <a:pt x="21" y="0"/>
                    </a:lnTo>
                    <a:lnTo>
                      <a:pt x="2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6" name="Freeform 163"/>
              <p:cNvSpPr>
                <a:spLocks/>
              </p:cNvSpPr>
              <p:nvPr/>
            </p:nvSpPr>
            <p:spPr bwMode="auto">
              <a:xfrm>
                <a:off x="3063" y="1173"/>
                <a:ext cx="21" cy="14"/>
              </a:xfrm>
              <a:custGeom>
                <a:avLst/>
                <a:gdLst>
                  <a:gd name="T0" fmla="*/ 4 w 21"/>
                  <a:gd name="T1" fmla="*/ 0 h 14"/>
                  <a:gd name="T2" fmla="*/ 10 w 21"/>
                  <a:gd name="T3" fmla="*/ 4 h 14"/>
                  <a:gd name="T4" fmla="*/ 14 w 21"/>
                  <a:gd name="T5" fmla="*/ 7 h 14"/>
                  <a:gd name="T6" fmla="*/ 21 w 21"/>
                  <a:gd name="T7" fmla="*/ 11 h 14"/>
                  <a:gd name="T8" fmla="*/ 21 w 21"/>
                  <a:gd name="T9" fmla="*/ 11 h 14"/>
                  <a:gd name="T10" fmla="*/ 21 w 21"/>
                  <a:gd name="T11" fmla="*/ 14 h 14"/>
                  <a:gd name="T12" fmla="*/ 7 w 21"/>
                  <a:gd name="T13" fmla="*/ 7 h 14"/>
                  <a:gd name="T14" fmla="*/ 4 w 21"/>
                  <a:gd name="T15" fmla="*/ 4 h 14"/>
                  <a:gd name="T16" fmla="*/ 0 w 21"/>
                  <a:gd name="T17" fmla="*/ 0 h 14"/>
                  <a:gd name="T18" fmla="*/ 4 w 21"/>
                  <a:gd name="T19" fmla="*/ 0 h 14"/>
                  <a:gd name="T20" fmla="*/ 4 w 21"/>
                  <a:gd name="T21" fmla="*/ 0 h 14"/>
                  <a:gd name="T22" fmla="*/ 4 w 21"/>
                  <a:gd name="T23" fmla="*/ 0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14"/>
                  <a:gd name="T38" fmla="*/ 21 w 21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14">
                    <a:moveTo>
                      <a:pt x="4" y="0"/>
                    </a:moveTo>
                    <a:lnTo>
                      <a:pt x="10" y="4"/>
                    </a:lnTo>
                    <a:lnTo>
                      <a:pt x="14" y="7"/>
                    </a:lnTo>
                    <a:lnTo>
                      <a:pt x="21" y="11"/>
                    </a:lnTo>
                    <a:lnTo>
                      <a:pt x="21" y="14"/>
                    </a:lnTo>
                    <a:lnTo>
                      <a:pt x="7" y="7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7" name="Freeform 164"/>
              <p:cNvSpPr>
                <a:spLocks/>
              </p:cNvSpPr>
              <p:nvPr/>
            </p:nvSpPr>
            <p:spPr bwMode="auto">
              <a:xfrm>
                <a:off x="3084" y="1170"/>
                <a:ext cx="17" cy="52"/>
              </a:xfrm>
              <a:custGeom>
                <a:avLst/>
                <a:gdLst>
                  <a:gd name="T0" fmla="*/ 17 w 17"/>
                  <a:gd name="T1" fmla="*/ 0 h 52"/>
                  <a:gd name="T2" fmla="*/ 17 w 17"/>
                  <a:gd name="T3" fmla="*/ 10 h 52"/>
                  <a:gd name="T4" fmla="*/ 14 w 17"/>
                  <a:gd name="T5" fmla="*/ 24 h 52"/>
                  <a:gd name="T6" fmla="*/ 14 w 17"/>
                  <a:gd name="T7" fmla="*/ 35 h 52"/>
                  <a:gd name="T8" fmla="*/ 17 w 17"/>
                  <a:gd name="T9" fmla="*/ 52 h 52"/>
                  <a:gd name="T10" fmla="*/ 17 w 17"/>
                  <a:gd name="T11" fmla="*/ 52 h 52"/>
                  <a:gd name="T12" fmla="*/ 14 w 17"/>
                  <a:gd name="T13" fmla="*/ 52 h 52"/>
                  <a:gd name="T14" fmla="*/ 0 w 17"/>
                  <a:gd name="T15" fmla="*/ 38 h 52"/>
                  <a:gd name="T16" fmla="*/ 0 w 17"/>
                  <a:gd name="T17" fmla="*/ 21 h 52"/>
                  <a:gd name="T18" fmla="*/ 3 w 17"/>
                  <a:gd name="T19" fmla="*/ 14 h 52"/>
                  <a:gd name="T20" fmla="*/ 7 w 17"/>
                  <a:gd name="T21" fmla="*/ 10 h 52"/>
                  <a:gd name="T22" fmla="*/ 14 w 17"/>
                  <a:gd name="T23" fmla="*/ 0 h 52"/>
                  <a:gd name="T24" fmla="*/ 14 w 17"/>
                  <a:gd name="T25" fmla="*/ 0 h 52"/>
                  <a:gd name="T26" fmla="*/ 17 w 17"/>
                  <a:gd name="T27" fmla="*/ 0 h 52"/>
                  <a:gd name="T28" fmla="*/ 17 w 17"/>
                  <a:gd name="T29" fmla="*/ 0 h 52"/>
                  <a:gd name="T30" fmla="*/ 17 w 17"/>
                  <a:gd name="T31" fmla="*/ 0 h 5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"/>
                  <a:gd name="T49" fmla="*/ 0 h 52"/>
                  <a:gd name="T50" fmla="*/ 17 w 17"/>
                  <a:gd name="T51" fmla="*/ 52 h 5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" h="52">
                    <a:moveTo>
                      <a:pt x="17" y="0"/>
                    </a:moveTo>
                    <a:lnTo>
                      <a:pt x="17" y="10"/>
                    </a:lnTo>
                    <a:lnTo>
                      <a:pt x="14" y="24"/>
                    </a:lnTo>
                    <a:lnTo>
                      <a:pt x="14" y="35"/>
                    </a:lnTo>
                    <a:lnTo>
                      <a:pt x="17" y="52"/>
                    </a:lnTo>
                    <a:lnTo>
                      <a:pt x="14" y="52"/>
                    </a:lnTo>
                    <a:lnTo>
                      <a:pt x="0" y="38"/>
                    </a:lnTo>
                    <a:lnTo>
                      <a:pt x="0" y="21"/>
                    </a:lnTo>
                    <a:lnTo>
                      <a:pt x="3" y="14"/>
                    </a:lnTo>
                    <a:lnTo>
                      <a:pt x="7" y="10"/>
                    </a:lnTo>
                    <a:lnTo>
                      <a:pt x="14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8" name="Freeform 165"/>
              <p:cNvSpPr>
                <a:spLocks/>
              </p:cNvSpPr>
              <p:nvPr/>
            </p:nvSpPr>
            <p:spPr bwMode="auto">
              <a:xfrm>
                <a:off x="3108" y="1211"/>
                <a:ext cx="69" cy="18"/>
              </a:xfrm>
              <a:custGeom>
                <a:avLst/>
                <a:gdLst>
                  <a:gd name="T0" fmla="*/ 0 w 69"/>
                  <a:gd name="T1" fmla="*/ 14 h 18"/>
                  <a:gd name="T2" fmla="*/ 7 w 69"/>
                  <a:gd name="T3" fmla="*/ 11 h 18"/>
                  <a:gd name="T4" fmla="*/ 14 w 69"/>
                  <a:gd name="T5" fmla="*/ 4 h 18"/>
                  <a:gd name="T6" fmla="*/ 24 w 69"/>
                  <a:gd name="T7" fmla="*/ 0 h 18"/>
                  <a:gd name="T8" fmla="*/ 31 w 69"/>
                  <a:gd name="T9" fmla="*/ 0 h 18"/>
                  <a:gd name="T10" fmla="*/ 48 w 69"/>
                  <a:gd name="T11" fmla="*/ 4 h 18"/>
                  <a:gd name="T12" fmla="*/ 59 w 69"/>
                  <a:gd name="T13" fmla="*/ 4 h 18"/>
                  <a:gd name="T14" fmla="*/ 69 w 69"/>
                  <a:gd name="T15" fmla="*/ 4 h 18"/>
                  <a:gd name="T16" fmla="*/ 69 w 69"/>
                  <a:gd name="T17" fmla="*/ 7 h 18"/>
                  <a:gd name="T18" fmla="*/ 69 w 69"/>
                  <a:gd name="T19" fmla="*/ 7 h 18"/>
                  <a:gd name="T20" fmla="*/ 59 w 69"/>
                  <a:gd name="T21" fmla="*/ 11 h 18"/>
                  <a:gd name="T22" fmla="*/ 48 w 69"/>
                  <a:gd name="T23" fmla="*/ 11 h 18"/>
                  <a:gd name="T24" fmla="*/ 31 w 69"/>
                  <a:gd name="T25" fmla="*/ 11 h 18"/>
                  <a:gd name="T26" fmla="*/ 14 w 69"/>
                  <a:gd name="T27" fmla="*/ 11 h 18"/>
                  <a:gd name="T28" fmla="*/ 3 w 69"/>
                  <a:gd name="T29" fmla="*/ 18 h 18"/>
                  <a:gd name="T30" fmla="*/ 0 w 69"/>
                  <a:gd name="T31" fmla="*/ 14 h 18"/>
                  <a:gd name="T32" fmla="*/ 0 w 69"/>
                  <a:gd name="T33" fmla="*/ 14 h 18"/>
                  <a:gd name="T34" fmla="*/ 0 w 69"/>
                  <a:gd name="T35" fmla="*/ 14 h 1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9"/>
                  <a:gd name="T55" fmla="*/ 0 h 18"/>
                  <a:gd name="T56" fmla="*/ 69 w 69"/>
                  <a:gd name="T57" fmla="*/ 18 h 1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9" h="18">
                    <a:moveTo>
                      <a:pt x="0" y="14"/>
                    </a:moveTo>
                    <a:lnTo>
                      <a:pt x="7" y="11"/>
                    </a:lnTo>
                    <a:lnTo>
                      <a:pt x="14" y="4"/>
                    </a:lnTo>
                    <a:lnTo>
                      <a:pt x="24" y="0"/>
                    </a:lnTo>
                    <a:lnTo>
                      <a:pt x="31" y="0"/>
                    </a:lnTo>
                    <a:lnTo>
                      <a:pt x="48" y="4"/>
                    </a:lnTo>
                    <a:lnTo>
                      <a:pt x="59" y="4"/>
                    </a:lnTo>
                    <a:lnTo>
                      <a:pt x="69" y="4"/>
                    </a:lnTo>
                    <a:lnTo>
                      <a:pt x="69" y="7"/>
                    </a:lnTo>
                    <a:lnTo>
                      <a:pt x="59" y="11"/>
                    </a:lnTo>
                    <a:lnTo>
                      <a:pt x="48" y="11"/>
                    </a:lnTo>
                    <a:lnTo>
                      <a:pt x="31" y="11"/>
                    </a:lnTo>
                    <a:lnTo>
                      <a:pt x="14" y="11"/>
                    </a:lnTo>
                    <a:lnTo>
                      <a:pt x="3" y="18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79" name="Freeform 166"/>
              <p:cNvSpPr>
                <a:spLocks/>
              </p:cNvSpPr>
              <p:nvPr/>
            </p:nvSpPr>
            <p:spPr bwMode="auto">
              <a:xfrm>
                <a:off x="3198" y="1211"/>
                <a:ext cx="38" cy="42"/>
              </a:xfrm>
              <a:custGeom>
                <a:avLst/>
                <a:gdLst>
                  <a:gd name="T0" fmla="*/ 3 w 38"/>
                  <a:gd name="T1" fmla="*/ 0 h 42"/>
                  <a:gd name="T2" fmla="*/ 17 w 38"/>
                  <a:gd name="T3" fmla="*/ 4 h 42"/>
                  <a:gd name="T4" fmla="*/ 27 w 38"/>
                  <a:gd name="T5" fmla="*/ 11 h 42"/>
                  <a:gd name="T6" fmla="*/ 34 w 38"/>
                  <a:gd name="T7" fmla="*/ 21 h 42"/>
                  <a:gd name="T8" fmla="*/ 38 w 38"/>
                  <a:gd name="T9" fmla="*/ 32 h 42"/>
                  <a:gd name="T10" fmla="*/ 34 w 38"/>
                  <a:gd name="T11" fmla="*/ 42 h 42"/>
                  <a:gd name="T12" fmla="*/ 31 w 38"/>
                  <a:gd name="T13" fmla="*/ 42 h 42"/>
                  <a:gd name="T14" fmla="*/ 27 w 38"/>
                  <a:gd name="T15" fmla="*/ 32 h 42"/>
                  <a:gd name="T16" fmla="*/ 24 w 38"/>
                  <a:gd name="T17" fmla="*/ 25 h 42"/>
                  <a:gd name="T18" fmla="*/ 21 w 38"/>
                  <a:gd name="T19" fmla="*/ 18 h 42"/>
                  <a:gd name="T20" fmla="*/ 17 w 38"/>
                  <a:gd name="T21" fmla="*/ 11 h 42"/>
                  <a:gd name="T22" fmla="*/ 14 w 38"/>
                  <a:gd name="T23" fmla="*/ 7 h 42"/>
                  <a:gd name="T24" fmla="*/ 7 w 38"/>
                  <a:gd name="T25" fmla="*/ 7 h 42"/>
                  <a:gd name="T26" fmla="*/ 3 w 38"/>
                  <a:gd name="T27" fmla="*/ 4 h 42"/>
                  <a:gd name="T28" fmla="*/ 0 w 38"/>
                  <a:gd name="T29" fmla="*/ 4 h 42"/>
                  <a:gd name="T30" fmla="*/ 3 w 38"/>
                  <a:gd name="T31" fmla="*/ 0 h 42"/>
                  <a:gd name="T32" fmla="*/ 3 w 38"/>
                  <a:gd name="T33" fmla="*/ 0 h 42"/>
                  <a:gd name="T34" fmla="*/ 3 w 38"/>
                  <a:gd name="T35" fmla="*/ 0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8"/>
                  <a:gd name="T55" fmla="*/ 0 h 42"/>
                  <a:gd name="T56" fmla="*/ 38 w 38"/>
                  <a:gd name="T57" fmla="*/ 42 h 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8" h="42">
                    <a:moveTo>
                      <a:pt x="3" y="0"/>
                    </a:moveTo>
                    <a:lnTo>
                      <a:pt x="17" y="4"/>
                    </a:lnTo>
                    <a:lnTo>
                      <a:pt x="27" y="11"/>
                    </a:lnTo>
                    <a:lnTo>
                      <a:pt x="34" y="21"/>
                    </a:lnTo>
                    <a:lnTo>
                      <a:pt x="38" y="32"/>
                    </a:lnTo>
                    <a:lnTo>
                      <a:pt x="34" y="42"/>
                    </a:lnTo>
                    <a:lnTo>
                      <a:pt x="31" y="42"/>
                    </a:lnTo>
                    <a:lnTo>
                      <a:pt x="27" y="32"/>
                    </a:lnTo>
                    <a:lnTo>
                      <a:pt x="24" y="25"/>
                    </a:lnTo>
                    <a:lnTo>
                      <a:pt x="21" y="18"/>
                    </a:lnTo>
                    <a:lnTo>
                      <a:pt x="17" y="11"/>
                    </a:lnTo>
                    <a:lnTo>
                      <a:pt x="14" y="7"/>
                    </a:lnTo>
                    <a:lnTo>
                      <a:pt x="7" y="7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0" name="Freeform 167"/>
              <p:cNvSpPr>
                <a:spLocks/>
              </p:cNvSpPr>
              <p:nvPr/>
            </p:nvSpPr>
            <p:spPr bwMode="auto">
              <a:xfrm>
                <a:off x="2914" y="1243"/>
                <a:ext cx="139" cy="48"/>
              </a:xfrm>
              <a:custGeom>
                <a:avLst/>
                <a:gdLst>
                  <a:gd name="T0" fmla="*/ 0 w 139"/>
                  <a:gd name="T1" fmla="*/ 44 h 48"/>
                  <a:gd name="T2" fmla="*/ 7 w 139"/>
                  <a:gd name="T3" fmla="*/ 41 h 48"/>
                  <a:gd name="T4" fmla="*/ 11 w 139"/>
                  <a:gd name="T5" fmla="*/ 34 h 48"/>
                  <a:gd name="T6" fmla="*/ 18 w 139"/>
                  <a:gd name="T7" fmla="*/ 31 h 48"/>
                  <a:gd name="T8" fmla="*/ 21 w 139"/>
                  <a:gd name="T9" fmla="*/ 27 h 48"/>
                  <a:gd name="T10" fmla="*/ 32 w 139"/>
                  <a:gd name="T11" fmla="*/ 24 h 48"/>
                  <a:gd name="T12" fmla="*/ 45 w 139"/>
                  <a:gd name="T13" fmla="*/ 17 h 48"/>
                  <a:gd name="T14" fmla="*/ 52 w 139"/>
                  <a:gd name="T15" fmla="*/ 13 h 48"/>
                  <a:gd name="T16" fmla="*/ 56 w 139"/>
                  <a:gd name="T17" fmla="*/ 10 h 48"/>
                  <a:gd name="T18" fmla="*/ 59 w 139"/>
                  <a:gd name="T19" fmla="*/ 6 h 48"/>
                  <a:gd name="T20" fmla="*/ 66 w 139"/>
                  <a:gd name="T21" fmla="*/ 3 h 48"/>
                  <a:gd name="T22" fmla="*/ 83 w 139"/>
                  <a:gd name="T23" fmla="*/ 3 h 48"/>
                  <a:gd name="T24" fmla="*/ 104 w 139"/>
                  <a:gd name="T25" fmla="*/ 0 h 48"/>
                  <a:gd name="T26" fmla="*/ 114 w 139"/>
                  <a:gd name="T27" fmla="*/ 3 h 48"/>
                  <a:gd name="T28" fmla="*/ 125 w 139"/>
                  <a:gd name="T29" fmla="*/ 6 h 48"/>
                  <a:gd name="T30" fmla="*/ 135 w 139"/>
                  <a:gd name="T31" fmla="*/ 20 h 48"/>
                  <a:gd name="T32" fmla="*/ 139 w 139"/>
                  <a:gd name="T33" fmla="*/ 27 h 48"/>
                  <a:gd name="T34" fmla="*/ 139 w 139"/>
                  <a:gd name="T35" fmla="*/ 31 h 48"/>
                  <a:gd name="T36" fmla="*/ 135 w 139"/>
                  <a:gd name="T37" fmla="*/ 31 h 48"/>
                  <a:gd name="T38" fmla="*/ 125 w 139"/>
                  <a:gd name="T39" fmla="*/ 24 h 48"/>
                  <a:gd name="T40" fmla="*/ 121 w 139"/>
                  <a:gd name="T41" fmla="*/ 17 h 48"/>
                  <a:gd name="T42" fmla="*/ 118 w 139"/>
                  <a:gd name="T43" fmla="*/ 13 h 48"/>
                  <a:gd name="T44" fmla="*/ 114 w 139"/>
                  <a:gd name="T45" fmla="*/ 10 h 48"/>
                  <a:gd name="T46" fmla="*/ 111 w 139"/>
                  <a:gd name="T47" fmla="*/ 6 h 48"/>
                  <a:gd name="T48" fmla="*/ 101 w 139"/>
                  <a:gd name="T49" fmla="*/ 6 h 48"/>
                  <a:gd name="T50" fmla="*/ 83 w 139"/>
                  <a:gd name="T51" fmla="*/ 6 h 48"/>
                  <a:gd name="T52" fmla="*/ 70 w 139"/>
                  <a:gd name="T53" fmla="*/ 10 h 48"/>
                  <a:gd name="T54" fmla="*/ 63 w 139"/>
                  <a:gd name="T55" fmla="*/ 17 h 48"/>
                  <a:gd name="T56" fmla="*/ 56 w 139"/>
                  <a:gd name="T57" fmla="*/ 24 h 48"/>
                  <a:gd name="T58" fmla="*/ 49 w 139"/>
                  <a:gd name="T59" fmla="*/ 27 h 48"/>
                  <a:gd name="T60" fmla="*/ 25 w 139"/>
                  <a:gd name="T61" fmla="*/ 34 h 48"/>
                  <a:gd name="T62" fmla="*/ 14 w 139"/>
                  <a:gd name="T63" fmla="*/ 38 h 48"/>
                  <a:gd name="T64" fmla="*/ 4 w 139"/>
                  <a:gd name="T65" fmla="*/ 48 h 48"/>
                  <a:gd name="T66" fmla="*/ 4 w 139"/>
                  <a:gd name="T67" fmla="*/ 48 h 48"/>
                  <a:gd name="T68" fmla="*/ 0 w 139"/>
                  <a:gd name="T69" fmla="*/ 44 h 48"/>
                  <a:gd name="T70" fmla="*/ 0 w 139"/>
                  <a:gd name="T71" fmla="*/ 44 h 48"/>
                  <a:gd name="T72" fmla="*/ 0 w 139"/>
                  <a:gd name="T73" fmla="*/ 44 h 4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9"/>
                  <a:gd name="T112" fmla="*/ 0 h 48"/>
                  <a:gd name="T113" fmla="*/ 139 w 139"/>
                  <a:gd name="T114" fmla="*/ 48 h 4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9" h="48">
                    <a:moveTo>
                      <a:pt x="0" y="44"/>
                    </a:moveTo>
                    <a:lnTo>
                      <a:pt x="7" y="41"/>
                    </a:lnTo>
                    <a:lnTo>
                      <a:pt x="11" y="34"/>
                    </a:lnTo>
                    <a:lnTo>
                      <a:pt x="18" y="31"/>
                    </a:lnTo>
                    <a:lnTo>
                      <a:pt x="21" y="27"/>
                    </a:lnTo>
                    <a:lnTo>
                      <a:pt x="32" y="24"/>
                    </a:lnTo>
                    <a:lnTo>
                      <a:pt x="45" y="17"/>
                    </a:lnTo>
                    <a:lnTo>
                      <a:pt x="52" y="13"/>
                    </a:lnTo>
                    <a:lnTo>
                      <a:pt x="56" y="10"/>
                    </a:lnTo>
                    <a:lnTo>
                      <a:pt x="59" y="6"/>
                    </a:lnTo>
                    <a:lnTo>
                      <a:pt x="66" y="3"/>
                    </a:lnTo>
                    <a:lnTo>
                      <a:pt x="83" y="3"/>
                    </a:lnTo>
                    <a:lnTo>
                      <a:pt x="104" y="0"/>
                    </a:lnTo>
                    <a:lnTo>
                      <a:pt x="114" y="3"/>
                    </a:lnTo>
                    <a:lnTo>
                      <a:pt x="125" y="6"/>
                    </a:lnTo>
                    <a:lnTo>
                      <a:pt x="135" y="20"/>
                    </a:lnTo>
                    <a:lnTo>
                      <a:pt x="139" y="27"/>
                    </a:lnTo>
                    <a:lnTo>
                      <a:pt x="139" y="31"/>
                    </a:lnTo>
                    <a:lnTo>
                      <a:pt x="135" y="31"/>
                    </a:lnTo>
                    <a:lnTo>
                      <a:pt x="125" y="24"/>
                    </a:lnTo>
                    <a:lnTo>
                      <a:pt x="121" y="17"/>
                    </a:lnTo>
                    <a:lnTo>
                      <a:pt x="118" y="13"/>
                    </a:lnTo>
                    <a:lnTo>
                      <a:pt x="114" y="10"/>
                    </a:lnTo>
                    <a:lnTo>
                      <a:pt x="111" y="6"/>
                    </a:lnTo>
                    <a:lnTo>
                      <a:pt x="101" y="6"/>
                    </a:lnTo>
                    <a:lnTo>
                      <a:pt x="83" y="6"/>
                    </a:lnTo>
                    <a:lnTo>
                      <a:pt x="70" y="10"/>
                    </a:lnTo>
                    <a:lnTo>
                      <a:pt x="63" y="17"/>
                    </a:lnTo>
                    <a:lnTo>
                      <a:pt x="56" y="24"/>
                    </a:lnTo>
                    <a:lnTo>
                      <a:pt x="49" y="27"/>
                    </a:lnTo>
                    <a:lnTo>
                      <a:pt x="25" y="34"/>
                    </a:lnTo>
                    <a:lnTo>
                      <a:pt x="14" y="38"/>
                    </a:lnTo>
                    <a:lnTo>
                      <a:pt x="4" y="48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1" name="Freeform 168"/>
              <p:cNvSpPr>
                <a:spLocks/>
              </p:cNvSpPr>
              <p:nvPr/>
            </p:nvSpPr>
            <p:spPr bwMode="auto">
              <a:xfrm>
                <a:off x="2966" y="1267"/>
                <a:ext cx="59" cy="45"/>
              </a:xfrm>
              <a:custGeom>
                <a:avLst/>
                <a:gdLst>
                  <a:gd name="T0" fmla="*/ 56 w 59"/>
                  <a:gd name="T1" fmla="*/ 3 h 45"/>
                  <a:gd name="T2" fmla="*/ 45 w 59"/>
                  <a:gd name="T3" fmla="*/ 7 h 45"/>
                  <a:gd name="T4" fmla="*/ 42 w 59"/>
                  <a:gd name="T5" fmla="*/ 7 h 45"/>
                  <a:gd name="T6" fmla="*/ 35 w 59"/>
                  <a:gd name="T7" fmla="*/ 10 h 45"/>
                  <a:gd name="T8" fmla="*/ 24 w 59"/>
                  <a:gd name="T9" fmla="*/ 17 h 45"/>
                  <a:gd name="T10" fmla="*/ 18 w 59"/>
                  <a:gd name="T11" fmla="*/ 27 h 45"/>
                  <a:gd name="T12" fmla="*/ 11 w 59"/>
                  <a:gd name="T13" fmla="*/ 34 h 45"/>
                  <a:gd name="T14" fmla="*/ 4 w 59"/>
                  <a:gd name="T15" fmla="*/ 45 h 45"/>
                  <a:gd name="T16" fmla="*/ 0 w 59"/>
                  <a:gd name="T17" fmla="*/ 45 h 45"/>
                  <a:gd name="T18" fmla="*/ 0 w 59"/>
                  <a:gd name="T19" fmla="*/ 45 h 45"/>
                  <a:gd name="T20" fmla="*/ 14 w 59"/>
                  <a:gd name="T21" fmla="*/ 20 h 45"/>
                  <a:gd name="T22" fmla="*/ 18 w 59"/>
                  <a:gd name="T23" fmla="*/ 10 h 45"/>
                  <a:gd name="T24" fmla="*/ 24 w 59"/>
                  <a:gd name="T25" fmla="*/ 3 h 45"/>
                  <a:gd name="T26" fmla="*/ 28 w 59"/>
                  <a:gd name="T27" fmla="*/ 0 h 45"/>
                  <a:gd name="T28" fmla="*/ 42 w 59"/>
                  <a:gd name="T29" fmla="*/ 0 h 45"/>
                  <a:gd name="T30" fmla="*/ 56 w 59"/>
                  <a:gd name="T31" fmla="*/ 0 h 45"/>
                  <a:gd name="T32" fmla="*/ 59 w 59"/>
                  <a:gd name="T33" fmla="*/ 0 h 45"/>
                  <a:gd name="T34" fmla="*/ 56 w 59"/>
                  <a:gd name="T35" fmla="*/ 3 h 45"/>
                  <a:gd name="T36" fmla="*/ 56 w 59"/>
                  <a:gd name="T37" fmla="*/ 3 h 45"/>
                  <a:gd name="T38" fmla="*/ 56 w 59"/>
                  <a:gd name="T39" fmla="*/ 3 h 4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9"/>
                  <a:gd name="T61" fmla="*/ 0 h 45"/>
                  <a:gd name="T62" fmla="*/ 59 w 59"/>
                  <a:gd name="T63" fmla="*/ 45 h 4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9" h="45">
                    <a:moveTo>
                      <a:pt x="56" y="3"/>
                    </a:moveTo>
                    <a:lnTo>
                      <a:pt x="45" y="7"/>
                    </a:lnTo>
                    <a:lnTo>
                      <a:pt x="42" y="7"/>
                    </a:lnTo>
                    <a:lnTo>
                      <a:pt x="35" y="10"/>
                    </a:lnTo>
                    <a:lnTo>
                      <a:pt x="24" y="17"/>
                    </a:lnTo>
                    <a:lnTo>
                      <a:pt x="18" y="27"/>
                    </a:lnTo>
                    <a:lnTo>
                      <a:pt x="11" y="34"/>
                    </a:lnTo>
                    <a:lnTo>
                      <a:pt x="4" y="45"/>
                    </a:lnTo>
                    <a:lnTo>
                      <a:pt x="0" y="45"/>
                    </a:lnTo>
                    <a:lnTo>
                      <a:pt x="14" y="20"/>
                    </a:lnTo>
                    <a:lnTo>
                      <a:pt x="18" y="10"/>
                    </a:lnTo>
                    <a:lnTo>
                      <a:pt x="24" y="3"/>
                    </a:lnTo>
                    <a:lnTo>
                      <a:pt x="28" y="0"/>
                    </a:lnTo>
                    <a:lnTo>
                      <a:pt x="42" y="0"/>
                    </a:lnTo>
                    <a:lnTo>
                      <a:pt x="56" y="0"/>
                    </a:lnTo>
                    <a:lnTo>
                      <a:pt x="59" y="0"/>
                    </a:lnTo>
                    <a:lnTo>
                      <a:pt x="56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2" name="Freeform 169"/>
              <p:cNvSpPr>
                <a:spLocks/>
              </p:cNvSpPr>
              <p:nvPr/>
            </p:nvSpPr>
            <p:spPr bwMode="auto">
              <a:xfrm>
                <a:off x="2911" y="1298"/>
                <a:ext cx="76" cy="41"/>
              </a:xfrm>
              <a:custGeom>
                <a:avLst/>
                <a:gdLst>
                  <a:gd name="T0" fmla="*/ 7 w 76"/>
                  <a:gd name="T1" fmla="*/ 0 h 41"/>
                  <a:gd name="T2" fmla="*/ 10 w 76"/>
                  <a:gd name="T3" fmla="*/ 10 h 41"/>
                  <a:gd name="T4" fmla="*/ 14 w 76"/>
                  <a:gd name="T5" fmla="*/ 17 h 41"/>
                  <a:gd name="T6" fmla="*/ 14 w 76"/>
                  <a:gd name="T7" fmla="*/ 24 h 41"/>
                  <a:gd name="T8" fmla="*/ 24 w 76"/>
                  <a:gd name="T9" fmla="*/ 27 h 41"/>
                  <a:gd name="T10" fmla="*/ 35 w 76"/>
                  <a:gd name="T11" fmla="*/ 31 h 41"/>
                  <a:gd name="T12" fmla="*/ 41 w 76"/>
                  <a:gd name="T13" fmla="*/ 34 h 41"/>
                  <a:gd name="T14" fmla="*/ 52 w 76"/>
                  <a:gd name="T15" fmla="*/ 38 h 41"/>
                  <a:gd name="T16" fmla="*/ 62 w 76"/>
                  <a:gd name="T17" fmla="*/ 38 h 41"/>
                  <a:gd name="T18" fmla="*/ 73 w 76"/>
                  <a:gd name="T19" fmla="*/ 34 h 41"/>
                  <a:gd name="T20" fmla="*/ 76 w 76"/>
                  <a:gd name="T21" fmla="*/ 34 h 41"/>
                  <a:gd name="T22" fmla="*/ 76 w 76"/>
                  <a:gd name="T23" fmla="*/ 34 h 41"/>
                  <a:gd name="T24" fmla="*/ 73 w 76"/>
                  <a:gd name="T25" fmla="*/ 38 h 41"/>
                  <a:gd name="T26" fmla="*/ 69 w 76"/>
                  <a:gd name="T27" fmla="*/ 41 h 41"/>
                  <a:gd name="T28" fmla="*/ 62 w 76"/>
                  <a:gd name="T29" fmla="*/ 41 h 41"/>
                  <a:gd name="T30" fmla="*/ 41 w 76"/>
                  <a:gd name="T31" fmla="*/ 41 h 41"/>
                  <a:gd name="T32" fmla="*/ 21 w 76"/>
                  <a:gd name="T33" fmla="*/ 34 h 41"/>
                  <a:gd name="T34" fmla="*/ 10 w 76"/>
                  <a:gd name="T35" fmla="*/ 31 h 41"/>
                  <a:gd name="T36" fmla="*/ 7 w 76"/>
                  <a:gd name="T37" fmla="*/ 31 h 41"/>
                  <a:gd name="T38" fmla="*/ 0 w 76"/>
                  <a:gd name="T39" fmla="*/ 17 h 41"/>
                  <a:gd name="T40" fmla="*/ 3 w 76"/>
                  <a:gd name="T41" fmla="*/ 0 h 41"/>
                  <a:gd name="T42" fmla="*/ 7 w 76"/>
                  <a:gd name="T43" fmla="*/ 0 h 41"/>
                  <a:gd name="T44" fmla="*/ 7 w 76"/>
                  <a:gd name="T45" fmla="*/ 0 h 41"/>
                  <a:gd name="T46" fmla="*/ 7 w 76"/>
                  <a:gd name="T47" fmla="*/ 0 h 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6"/>
                  <a:gd name="T73" fmla="*/ 0 h 41"/>
                  <a:gd name="T74" fmla="*/ 76 w 76"/>
                  <a:gd name="T75" fmla="*/ 41 h 41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6" h="41">
                    <a:moveTo>
                      <a:pt x="7" y="0"/>
                    </a:moveTo>
                    <a:lnTo>
                      <a:pt x="10" y="10"/>
                    </a:lnTo>
                    <a:lnTo>
                      <a:pt x="14" y="17"/>
                    </a:lnTo>
                    <a:lnTo>
                      <a:pt x="14" y="24"/>
                    </a:lnTo>
                    <a:lnTo>
                      <a:pt x="24" y="27"/>
                    </a:lnTo>
                    <a:lnTo>
                      <a:pt x="35" y="31"/>
                    </a:lnTo>
                    <a:lnTo>
                      <a:pt x="41" y="34"/>
                    </a:lnTo>
                    <a:lnTo>
                      <a:pt x="52" y="38"/>
                    </a:lnTo>
                    <a:lnTo>
                      <a:pt x="62" y="38"/>
                    </a:lnTo>
                    <a:lnTo>
                      <a:pt x="73" y="34"/>
                    </a:lnTo>
                    <a:lnTo>
                      <a:pt x="76" y="34"/>
                    </a:lnTo>
                    <a:lnTo>
                      <a:pt x="73" y="38"/>
                    </a:lnTo>
                    <a:lnTo>
                      <a:pt x="69" y="41"/>
                    </a:lnTo>
                    <a:lnTo>
                      <a:pt x="62" y="41"/>
                    </a:lnTo>
                    <a:lnTo>
                      <a:pt x="41" y="41"/>
                    </a:lnTo>
                    <a:lnTo>
                      <a:pt x="21" y="34"/>
                    </a:lnTo>
                    <a:lnTo>
                      <a:pt x="10" y="31"/>
                    </a:lnTo>
                    <a:lnTo>
                      <a:pt x="7" y="31"/>
                    </a:lnTo>
                    <a:lnTo>
                      <a:pt x="0" y="17"/>
                    </a:lnTo>
                    <a:lnTo>
                      <a:pt x="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3" name="Freeform 170"/>
              <p:cNvSpPr>
                <a:spLocks/>
              </p:cNvSpPr>
              <p:nvPr/>
            </p:nvSpPr>
            <p:spPr bwMode="auto">
              <a:xfrm>
                <a:off x="2984" y="1332"/>
                <a:ext cx="107" cy="14"/>
              </a:xfrm>
              <a:custGeom>
                <a:avLst/>
                <a:gdLst>
                  <a:gd name="T0" fmla="*/ 0 w 107"/>
                  <a:gd name="T1" fmla="*/ 0 h 14"/>
                  <a:gd name="T2" fmla="*/ 41 w 107"/>
                  <a:gd name="T3" fmla="*/ 4 h 14"/>
                  <a:gd name="T4" fmla="*/ 65 w 107"/>
                  <a:gd name="T5" fmla="*/ 4 h 14"/>
                  <a:gd name="T6" fmla="*/ 103 w 107"/>
                  <a:gd name="T7" fmla="*/ 4 h 14"/>
                  <a:gd name="T8" fmla="*/ 107 w 107"/>
                  <a:gd name="T9" fmla="*/ 7 h 14"/>
                  <a:gd name="T10" fmla="*/ 103 w 107"/>
                  <a:gd name="T11" fmla="*/ 11 h 14"/>
                  <a:gd name="T12" fmla="*/ 103 w 107"/>
                  <a:gd name="T13" fmla="*/ 11 h 14"/>
                  <a:gd name="T14" fmla="*/ 62 w 107"/>
                  <a:gd name="T15" fmla="*/ 14 h 14"/>
                  <a:gd name="T16" fmla="*/ 48 w 107"/>
                  <a:gd name="T17" fmla="*/ 11 h 14"/>
                  <a:gd name="T18" fmla="*/ 24 w 107"/>
                  <a:gd name="T19" fmla="*/ 7 h 14"/>
                  <a:gd name="T20" fmla="*/ 13 w 107"/>
                  <a:gd name="T21" fmla="*/ 4 h 14"/>
                  <a:gd name="T22" fmla="*/ 0 w 107"/>
                  <a:gd name="T23" fmla="*/ 0 h 14"/>
                  <a:gd name="T24" fmla="*/ 0 w 107"/>
                  <a:gd name="T25" fmla="*/ 0 h 14"/>
                  <a:gd name="T26" fmla="*/ 0 w 107"/>
                  <a:gd name="T27" fmla="*/ 0 h 14"/>
                  <a:gd name="T28" fmla="*/ 0 w 107"/>
                  <a:gd name="T29" fmla="*/ 0 h 14"/>
                  <a:gd name="T30" fmla="*/ 0 w 107"/>
                  <a:gd name="T31" fmla="*/ 0 h 1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7"/>
                  <a:gd name="T49" fmla="*/ 0 h 14"/>
                  <a:gd name="T50" fmla="*/ 107 w 107"/>
                  <a:gd name="T51" fmla="*/ 14 h 1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7" h="14">
                    <a:moveTo>
                      <a:pt x="0" y="0"/>
                    </a:moveTo>
                    <a:lnTo>
                      <a:pt x="41" y="4"/>
                    </a:lnTo>
                    <a:lnTo>
                      <a:pt x="65" y="4"/>
                    </a:lnTo>
                    <a:lnTo>
                      <a:pt x="103" y="4"/>
                    </a:lnTo>
                    <a:lnTo>
                      <a:pt x="107" y="7"/>
                    </a:lnTo>
                    <a:lnTo>
                      <a:pt x="103" y="11"/>
                    </a:lnTo>
                    <a:lnTo>
                      <a:pt x="62" y="14"/>
                    </a:lnTo>
                    <a:lnTo>
                      <a:pt x="48" y="11"/>
                    </a:lnTo>
                    <a:lnTo>
                      <a:pt x="24" y="7"/>
                    </a:lnTo>
                    <a:lnTo>
                      <a:pt x="13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4" name="Freeform 171"/>
              <p:cNvSpPr>
                <a:spLocks/>
              </p:cNvSpPr>
              <p:nvPr/>
            </p:nvSpPr>
            <p:spPr bwMode="auto">
              <a:xfrm>
                <a:off x="3028" y="1267"/>
                <a:ext cx="56" cy="24"/>
              </a:xfrm>
              <a:custGeom>
                <a:avLst/>
                <a:gdLst>
                  <a:gd name="T0" fmla="*/ 4 w 56"/>
                  <a:gd name="T1" fmla="*/ 0 h 24"/>
                  <a:gd name="T2" fmla="*/ 52 w 56"/>
                  <a:gd name="T3" fmla="*/ 14 h 24"/>
                  <a:gd name="T4" fmla="*/ 56 w 56"/>
                  <a:gd name="T5" fmla="*/ 17 h 24"/>
                  <a:gd name="T6" fmla="*/ 56 w 56"/>
                  <a:gd name="T7" fmla="*/ 20 h 24"/>
                  <a:gd name="T8" fmla="*/ 52 w 56"/>
                  <a:gd name="T9" fmla="*/ 24 h 24"/>
                  <a:gd name="T10" fmla="*/ 49 w 56"/>
                  <a:gd name="T11" fmla="*/ 24 h 24"/>
                  <a:gd name="T12" fmla="*/ 35 w 56"/>
                  <a:gd name="T13" fmla="*/ 17 h 24"/>
                  <a:gd name="T14" fmla="*/ 25 w 56"/>
                  <a:gd name="T15" fmla="*/ 14 h 24"/>
                  <a:gd name="T16" fmla="*/ 14 w 56"/>
                  <a:gd name="T17" fmla="*/ 7 h 24"/>
                  <a:gd name="T18" fmla="*/ 4 w 56"/>
                  <a:gd name="T19" fmla="*/ 3 h 24"/>
                  <a:gd name="T20" fmla="*/ 0 w 56"/>
                  <a:gd name="T21" fmla="*/ 0 h 24"/>
                  <a:gd name="T22" fmla="*/ 4 w 56"/>
                  <a:gd name="T23" fmla="*/ 0 h 24"/>
                  <a:gd name="T24" fmla="*/ 4 w 56"/>
                  <a:gd name="T25" fmla="*/ 0 h 24"/>
                  <a:gd name="T26" fmla="*/ 4 w 56"/>
                  <a:gd name="T27" fmla="*/ 0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6"/>
                  <a:gd name="T43" fmla="*/ 0 h 24"/>
                  <a:gd name="T44" fmla="*/ 56 w 56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6" h="24">
                    <a:moveTo>
                      <a:pt x="4" y="0"/>
                    </a:moveTo>
                    <a:lnTo>
                      <a:pt x="52" y="14"/>
                    </a:lnTo>
                    <a:lnTo>
                      <a:pt x="56" y="17"/>
                    </a:lnTo>
                    <a:lnTo>
                      <a:pt x="56" y="20"/>
                    </a:lnTo>
                    <a:lnTo>
                      <a:pt x="52" y="24"/>
                    </a:lnTo>
                    <a:lnTo>
                      <a:pt x="49" y="24"/>
                    </a:lnTo>
                    <a:lnTo>
                      <a:pt x="35" y="17"/>
                    </a:lnTo>
                    <a:lnTo>
                      <a:pt x="25" y="14"/>
                    </a:lnTo>
                    <a:lnTo>
                      <a:pt x="14" y="7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5" name="Freeform 172"/>
              <p:cNvSpPr>
                <a:spLocks/>
              </p:cNvSpPr>
              <p:nvPr/>
            </p:nvSpPr>
            <p:spPr bwMode="auto">
              <a:xfrm>
                <a:off x="3049" y="1187"/>
                <a:ext cx="21" cy="42"/>
              </a:xfrm>
              <a:custGeom>
                <a:avLst/>
                <a:gdLst>
                  <a:gd name="T0" fmla="*/ 4 w 21"/>
                  <a:gd name="T1" fmla="*/ 0 h 42"/>
                  <a:gd name="T2" fmla="*/ 7 w 21"/>
                  <a:gd name="T3" fmla="*/ 7 h 42"/>
                  <a:gd name="T4" fmla="*/ 11 w 21"/>
                  <a:gd name="T5" fmla="*/ 11 h 42"/>
                  <a:gd name="T6" fmla="*/ 21 w 21"/>
                  <a:gd name="T7" fmla="*/ 21 h 42"/>
                  <a:gd name="T8" fmla="*/ 21 w 21"/>
                  <a:gd name="T9" fmla="*/ 31 h 42"/>
                  <a:gd name="T10" fmla="*/ 21 w 21"/>
                  <a:gd name="T11" fmla="*/ 42 h 42"/>
                  <a:gd name="T12" fmla="*/ 21 w 21"/>
                  <a:gd name="T13" fmla="*/ 42 h 42"/>
                  <a:gd name="T14" fmla="*/ 18 w 21"/>
                  <a:gd name="T15" fmla="*/ 42 h 42"/>
                  <a:gd name="T16" fmla="*/ 14 w 21"/>
                  <a:gd name="T17" fmla="*/ 35 h 42"/>
                  <a:gd name="T18" fmla="*/ 11 w 21"/>
                  <a:gd name="T19" fmla="*/ 28 h 42"/>
                  <a:gd name="T20" fmla="*/ 0 w 21"/>
                  <a:gd name="T21" fmla="*/ 0 h 42"/>
                  <a:gd name="T22" fmla="*/ 4 w 21"/>
                  <a:gd name="T23" fmla="*/ 0 h 42"/>
                  <a:gd name="T24" fmla="*/ 4 w 21"/>
                  <a:gd name="T25" fmla="*/ 0 h 42"/>
                  <a:gd name="T26" fmla="*/ 4 w 21"/>
                  <a:gd name="T27" fmla="*/ 0 h 4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1"/>
                  <a:gd name="T43" fmla="*/ 0 h 42"/>
                  <a:gd name="T44" fmla="*/ 21 w 21"/>
                  <a:gd name="T45" fmla="*/ 42 h 4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1" h="42">
                    <a:moveTo>
                      <a:pt x="4" y="0"/>
                    </a:moveTo>
                    <a:lnTo>
                      <a:pt x="7" y="7"/>
                    </a:lnTo>
                    <a:lnTo>
                      <a:pt x="11" y="11"/>
                    </a:lnTo>
                    <a:lnTo>
                      <a:pt x="21" y="21"/>
                    </a:lnTo>
                    <a:lnTo>
                      <a:pt x="21" y="31"/>
                    </a:lnTo>
                    <a:lnTo>
                      <a:pt x="21" y="42"/>
                    </a:lnTo>
                    <a:lnTo>
                      <a:pt x="18" y="42"/>
                    </a:lnTo>
                    <a:lnTo>
                      <a:pt x="14" y="35"/>
                    </a:lnTo>
                    <a:lnTo>
                      <a:pt x="11" y="28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6" name="Freeform 173"/>
              <p:cNvSpPr>
                <a:spLocks/>
              </p:cNvSpPr>
              <p:nvPr/>
            </p:nvSpPr>
            <p:spPr bwMode="auto">
              <a:xfrm>
                <a:off x="3011" y="1184"/>
                <a:ext cx="17" cy="59"/>
              </a:xfrm>
              <a:custGeom>
                <a:avLst/>
                <a:gdLst>
                  <a:gd name="T0" fmla="*/ 17 w 17"/>
                  <a:gd name="T1" fmla="*/ 3 h 59"/>
                  <a:gd name="T2" fmla="*/ 14 w 17"/>
                  <a:gd name="T3" fmla="*/ 34 h 59"/>
                  <a:gd name="T4" fmla="*/ 7 w 17"/>
                  <a:gd name="T5" fmla="*/ 55 h 59"/>
                  <a:gd name="T6" fmla="*/ 4 w 17"/>
                  <a:gd name="T7" fmla="*/ 59 h 59"/>
                  <a:gd name="T8" fmla="*/ 4 w 17"/>
                  <a:gd name="T9" fmla="*/ 59 h 59"/>
                  <a:gd name="T10" fmla="*/ 0 w 17"/>
                  <a:gd name="T11" fmla="*/ 55 h 59"/>
                  <a:gd name="T12" fmla="*/ 0 w 17"/>
                  <a:gd name="T13" fmla="*/ 41 h 59"/>
                  <a:gd name="T14" fmla="*/ 4 w 17"/>
                  <a:gd name="T15" fmla="*/ 31 h 59"/>
                  <a:gd name="T16" fmla="*/ 14 w 17"/>
                  <a:gd name="T17" fmla="*/ 3 h 59"/>
                  <a:gd name="T18" fmla="*/ 17 w 17"/>
                  <a:gd name="T19" fmla="*/ 0 h 59"/>
                  <a:gd name="T20" fmla="*/ 17 w 17"/>
                  <a:gd name="T21" fmla="*/ 3 h 59"/>
                  <a:gd name="T22" fmla="*/ 17 w 17"/>
                  <a:gd name="T23" fmla="*/ 3 h 59"/>
                  <a:gd name="T24" fmla="*/ 17 w 17"/>
                  <a:gd name="T25" fmla="*/ 3 h 5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"/>
                  <a:gd name="T40" fmla="*/ 0 h 59"/>
                  <a:gd name="T41" fmla="*/ 17 w 17"/>
                  <a:gd name="T42" fmla="*/ 59 h 5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" h="59">
                    <a:moveTo>
                      <a:pt x="17" y="3"/>
                    </a:moveTo>
                    <a:lnTo>
                      <a:pt x="14" y="34"/>
                    </a:lnTo>
                    <a:lnTo>
                      <a:pt x="7" y="55"/>
                    </a:lnTo>
                    <a:lnTo>
                      <a:pt x="4" y="59"/>
                    </a:lnTo>
                    <a:lnTo>
                      <a:pt x="0" y="55"/>
                    </a:lnTo>
                    <a:lnTo>
                      <a:pt x="0" y="41"/>
                    </a:lnTo>
                    <a:lnTo>
                      <a:pt x="4" y="31"/>
                    </a:lnTo>
                    <a:lnTo>
                      <a:pt x="14" y="3"/>
                    </a:lnTo>
                    <a:lnTo>
                      <a:pt x="17" y="0"/>
                    </a:lnTo>
                    <a:lnTo>
                      <a:pt x="1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7" name="Freeform 174"/>
              <p:cNvSpPr>
                <a:spLocks/>
              </p:cNvSpPr>
              <p:nvPr/>
            </p:nvSpPr>
            <p:spPr bwMode="auto">
              <a:xfrm>
                <a:off x="3028" y="1198"/>
                <a:ext cx="25" cy="34"/>
              </a:xfrm>
              <a:custGeom>
                <a:avLst/>
                <a:gdLst>
                  <a:gd name="T0" fmla="*/ 4 w 25"/>
                  <a:gd name="T1" fmla="*/ 31 h 34"/>
                  <a:gd name="T2" fmla="*/ 0 w 25"/>
                  <a:gd name="T3" fmla="*/ 17 h 34"/>
                  <a:gd name="T4" fmla="*/ 4 w 25"/>
                  <a:gd name="T5" fmla="*/ 7 h 34"/>
                  <a:gd name="T6" fmla="*/ 11 w 25"/>
                  <a:gd name="T7" fmla="*/ 0 h 34"/>
                  <a:gd name="T8" fmla="*/ 14 w 25"/>
                  <a:gd name="T9" fmla="*/ 0 h 34"/>
                  <a:gd name="T10" fmla="*/ 21 w 25"/>
                  <a:gd name="T11" fmla="*/ 7 h 34"/>
                  <a:gd name="T12" fmla="*/ 25 w 25"/>
                  <a:gd name="T13" fmla="*/ 20 h 34"/>
                  <a:gd name="T14" fmla="*/ 25 w 25"/>
                  <a:gd name="T15" fmla="*/ 20 h 34"/>
                  <a:gd name="T16" fmla="*/ 21 w 25"/>
                  <a:gd name="T17" fmla="*/ 20 h 34"/>
                  <a:gd name="T18" fmla="*/ 18 w 25"/>
                  <a:gd name="T19" fmla="*/ 13 h 34"/>
                  <a:gd name="T20" fmla="*/ 14 w 25"/>
                  <a:gd name="T21" fmla="*/ 10 h 34"/>
                  <a:gd name="T22" fmla="*/ 11 w 25"/>
                  <a:gd name="T23" fmla="*/ 7 h 34"/>
                  <a:gd name="T24" fmla="*/ 11 w 25"/>
                  <a:gd name="T25" fmla="*/ 17 h 34"/>
                  <a:gd name="T26" fmla="*/ 7 w 25"/>
                  <a:gd name="T27" fmla="*/ 31 h 34"/>
                  <a:gd name="T28" fmla="*/ 7 w 25"/>
                  <a:gd name="T29" fmla="*/ 34 h 34"/>
                  <a:gd name="T30" fmla="*/ 4 w 25"/>
                  <a:gd name="T31" fmla="*/ 31 h 34"/>
                  <a:gd name="T32" fmla="*/ 4 w 25"/>
                  <a:gd name="T33" fmla="*/ 31 h 34"/>
                  <a:gd name="T34" fmla="*/ 4 w 25"/>
                  <a:gd name="T35" fmla="*/ 31 h 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5"/>
                  <a:gd name="T55" fmla="*/ 0 h 34"/>
                  <a:gd name="T56" fmla="*/ 25 w 25"/>
                  <a:gd name="T57" fmla="*/ 34 h 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5" h="34">
                    <a:moveTo>
                      <a:pt x="4" y="31"/>
                    </a:moveTo>
                    <a:lnTo>
                      <a:pt x="0" y="17"/>
                    </a:lnTo>
                    <a:lnTo>
                      <a:pt x="4" y="7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21" y="7"/>
                    </a:lnTo>
                    <a:lnTo>
                      <a:pt x="25" y="20"/>
                    </a:lnTo>
                    <a:lnTo>
                      <a:pt x="21" y="20"/>
                    </a:lnTo>
                    <a:lnTo>
                      <a:pt x="18" y="13"/>
                    </a:lnTo>
                    <a:lnTo>
                      <a:pt x="14" y="10"/>
                    </a:lnTo>
                    <a:lnTo>
                      <a:pt x="11" y="7"/>
                    </a:lnTo>
                    <a:lnTo>
                      <a:pt x="11" y="17"/>
                    </a:lnTo>
                    <a:lnTo>
                      <a:pt x="7" y="31"/>
                    </a:lnTo>
                    <a:lnTo>
                      <a:pt x="7" y="34"/>
                    </a:ln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8" name="Freeform 175"/>
              <p:cNvSpPr>
                <a:spLocks/>
              </p:cNvSpPr>
              <p:nvPr/>
            </p:nvSpPr>
            <p:spPr bwMode="auto">
              <a:xfrm>
                <a:off x="2970" y="1025"/>
                <a:ext cx="24" cy="14"/>
              </a:xfrm>
              <a:custGeom>
                <a:avLst/>
                <a:gdLst>
                  <a:gd name="T0" fmla="*/ 0 w 24"/>
                  <a:gd name="T1" fmla="*/ 10 h 14"/>
                  <a:gd name="T2" fmla="*/ 3 w 24"/>
                  <a:gd name="T3" fmla="*/ 7 h 14"/>
                  <a:gd name="T4" fmla="*/ 7 w 24"/>
                  <a:gd name="T5" fmla="*/ 3 h 14"/>
                  <a:gd name="T6" fmla="*/ 14 w 24"/>
                  <a:gd name="T7" fmla="*/ 0 h 14"/>
                  <a:gd name="T8" fmla="*/ 20 w 24"/>
                  <a:gd name="T9" fmla="*/ 0 h 14"/>
                  <a:gd name="T10" fmla="*/ 24 w 24"/>
                  <a:gd name="T11" fmla="*/ 3 h 14"/>
                  <a:gd name="T12" fmla="*/ 20 w 24"/>
                  <a:gd name="T13" fmla="*/ 7 h 14"/>
                  <a:gd name="T14" fmla="*/ 10 w 24"/>
                  <a:gd name="T15" fmla="*/ 7 h 14"/>
                  <a:gd name="T16" fmla="*/ 3 w 24"/>
                  <a:gd name="T17" fmla="*/ 10 h 14"/>
                  <a:gd name="T18" fmla="*/ 3 w 24"/>
                  <a:gd name="T19" fmla="*/ 14 h 14"/>
                  <a:gd name="T20" fmla="*/ 0 w 24"/>
                  <a:gd name="T21" fmla="*/ 10 h 14"/>
                  <a:gd name="T22" fmla="*/ 0 w 24"/>
                  <a:gd name="T23" fmla="*/ 10 h 14"/>
                  <a:gd name="T24" fmla="*/ 0 w 24"/>
                  <a:gd name="T25" fmla="*/ 10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14"/>
                  <a:gd name="T41" fmla="*/ 24 w 24"/>
                  <a:gd name="T42" fmla="*/ 14 h 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14">
                    <a:moveTo>
                      <a:pt x="0" y="10"/>
                    </a:moveTo>
                    <a:lnTo>
                      <a:pt x="3" y="7"/>
                    </a:lnTo>
                    <a:lnTo>
                      <a:pt x="7" y="3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3"/>
                    </a:lnTo>
                    <a:lnTo>
                      <a:pt x="20" y="7"/>
                    </a:lnTo>
                    <a:lnTo>
                      <a:pt x="10" y="7"/>
                    </a:lnTo>
                    <a:lnTo>
                      <a:pt x="3" y="10"/>
                    </a:lnTo>
                    <a:lnTo>
                      <a:pt x="3" y="14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89" name="Freeform 176"/>
              <p:cNvSpPr>
                <a:spLocks/>
              </p:cNvSpPr>
              <p:nvPr/>
            </p:nvSpPr>
            <p:spPr bwMode="auto">
              <a:xfrm>
                <a:off x="2970" y="1039"/>
                <a:ext cx="20" cy="10"/>
              </a:xfrm>
              <a:custGeom>
                <a:avLst/>
                <a:gdLst>
                  <a:gd name="T0" fmla="*/ 0 w 20"/>
                  <a:gd name="T1" fmla="*/ 7 h 10"/>
                  <a:gd name="T2" fmla="*/ 3 w 20"/>
                  <a:gd name="T3" fmla="*/ 3 h 10"/>
                  <a:gd name="T4" fmla="*/ 7 w 20"/>
                  <a:gd name="T5" fmla="*/ 3 h 10"/>
                  <a:gd name="T6" fmla="*/ 14 w 20"/>
                  <a:gd name="T7" fmla="*/ 0 h 10"/>
                  <a:gd name="T8" fmla="*/ 20 w 20"/>
                  <a:gd name="T9" fmla="*/ 0 h 10"/>
                  <a:gd name="T10" fmla="*/ 20 w 20"/>
                  <a:gd name="T11" fmla="*/ 3 h 10"/>
                  <a:gd name="T12" fmla="*/ 17 w 20"/>
                  <a:gd name="T13" fmla="*/ 7 h 10"/>
                  <a:gd name="T14" fmla="*/ 3 w 20"/>
                  <a:gd name="T15" fmla="*/ 10 h 10"/>
                  <a:gd name="T16" fmla="*/ 0 w 20"/>
                  <a:gd name="T17" fmla="*/ 10 h 10"/>
                  <a:gd name="T18" fmla="*/ 0 w 20"/>
                  <a:gd name="T19" fmla="*/ 7 h 10"/>
                  <a:gd name="T20" fmla="*/ 0 w 20"/>
                  <a:gd name="T21" fmla="*/ 7 h 10"/>
                  <a:gd name="T22" fmla="*/ 0 w 20"/>
                  <a:gd name="T23" fmla="*/ 7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0"/>
                  <a:gd name="T37" fmla="*/ 0 h 10"/>
                  <a:gd name="T38" fmla="*/ 20 w 20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0" h="10">
                    <a:moveTo>
                      <a:pt x="0" y="7"/>
                    </a:moveTo>
                    <a:lnTo>
                      <a:pt x="3" y="3"/>
                    </a:lnTo>
                    <a:lnTo>
                      <a:pt x="7" y="3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0" y="3"/>
                    </a:lnTo>
                    <a:lnTo>
                      <a:pt x="17" y="7"/>
                    </a:lnTo>
                    <a:lnTo>
                      <a:pt x="3" y="10"/>
                    </a:lnTo>
                    <a:lnTo>
                      <a:pt x="0" y="1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0" name="Freeform 177"/>
              <p:cNvSpPr>
                <a:spLocks/>
              </p:cNvSpPr>
              <p:nvPr/>
            </p:nvSpPr>
            <p:spPr bwMode="auto">
              <a:xfrm>
                <a:off x="3011" y="1014"/>
                <a:ext cx="38" cy="18"/>
              </a:xfrm>
              <a:custGeom>
                <a:avLst/>
                <a:gdLst>
                  <a:gd name="T0" fmla="*/ 0 w 38"/>
                  <a:gd name="T1" fmla="*/ 14 h 18"/>
                  <a:gd name="T2" fmla="*/ 4 w 38"/>
                  <a:gd name="T3" fmla="*/ 7 h 18"/>
                  <a:gd name="T4" fmla="*/ 7 w 38"/>
                  <a:gd name="T5" fmla="*/ 4 h 18"/>
                  <a:gd name="T6" fmla="*/ 11 w 38"/>
                  <a:gd name="T7" fmla="*/ 4 h 18"/>
                  <a:gd name="T8" fmla="*/ 24 w 38"/>
                  <a:gd name="T9" fmla="*/ 0 h 18"/>
                  <a:gd name="T10" fmla="*/ 35 w 38"/>
                  <a:gd name="T11" fmla="*/ 4 h 18"/>
                  <a:gd name="T12" fmla="*/ 38 w 38"/>
                  <a:gd name="T13" fmla="*/ 4 h 18"/>
                  <a:gd name="T14" fmla="*/ 35 w 38"/>
                  <a:gd name="T15" fmla="*/ 7 h 18"/>
                  <a:gd name="T16" fmla="*/ 24 w 38"/>
                  <a:gd name="T17" fmla="*/ 7 h 18"/>
                  <a:gd name="T18" fmla="*/ 14 w 38"/>
                  <a:gd name="T19" fmla="*/ 11 h 18"/>
                  <a:gd name="T20" fmla="*/ 4 w 38"/>
                  <a:gd name="T21" fmla="*/ 18 h 18"/>
                  <a:gd name="T22" fmla="*/ 0 w 38"/>
                  <a:gd name="T23" fmla="*/ 18 h 18"/>
                  <a:gd name="T24" fmla="*/ 0 w 38"/>
                  <a:gd name="T25" fmla="*/ 14 h 18"/>
                  <a:gd name="T26" fmla="*/ 0 w 38"/>
                  <a:gd name="T27" fmla="*/ 14 h 18"/>
                  <a:gd name="T28" fmla="*/ 0 w 38"/>
                  <a:gd name="T29" fmla="*/ 14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8"/>
                  <a:gd name="T46" fmla="*/ 0 h 18"/>
                  <a:gd name="T47" fmla="*/ 38 w 38"/>
                  <a:gd name="T48" fmla="*/ 18 h 1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8" h="18">
                    <a:moveTo>
                      <a:pt x="0" y="14"/>
                    </a:moveTo>
                    <a:lnTo>
                      <a:pt x="4" y="7"/>
                    </a:lnTo>
                    <a:lnTo>
                      <a:pt x="7" y="4"/>
                    </a:lnTo>
                    <a:lnTo>
                      <a:pt x="11" y="4"/>
                    </a:lnTo>
                    <a:lnTo>
                      <a:pt x="24" y="0"/>
                    </a:lnTo>
                    <a:lnTo>
                      <a:pt x="35" y="4"/>
                    </a:lnTo>
                    <a:lnTo>
                      <a:pt x="38" y="4"/>
                    </a:lnTo>
                    <a:lnTo>
                      <a:pt x="35" y="7"/>
                    </a:lnTo>
                    <a:lnTo>
                      <a:pt x="24" y="7"/>
                    </a:lnTo>
                    <a:lnTo>
                      <a:pt x="14" y="11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1" name="Freeform 178"/>
              <p:cNvSpPr>
                <a:spLocks/>
              </p:cNvSpPr>
              <p:nvPr/>
            </p:nvSpPr>
            <p:spPr bwMode="auto">
              <a:xfrm>
                <a:off x="3101" y="1225"/>
                <a:ext cx="180" cy="42"/>
              </a:xfrm>
              <a:custGeom>
                <a:avLst/>
                <a:gdLst>
                  <a:gd name="T0" fmla="*/ 0 w 180"/>
                  <a:gd name="T1" fmla="*/ 0 h 42"/>
                  <a:gd name="T2" fmla="*/ 24 w 180"/>
                  <a:gd name="T3" fmla="*/ 4 h 42"/>
                  <a:gd name="T4" fmla="*/ 48 w 180"/>
                  <a:gd name="T5" fmla="*/ 11 h 42"/>
                  <a:gd name="T6" fmla="*/ 76 w 180"/>
                  <a:gd name="T7" fmla="*/ 14 h 42"/>
                  <a:gd name="T8" fmla="*/ 100 w 180"/>
                  <a:gd name="T9" fmla="*/ 14 h 42"/>
                  <a:gd name="T10" fmla="*/ 152 w 180"/>
                  <a:gd name="T11" fmla="*/ 21 h 42"/>
                  <a:gd name="T12" fmla="*/ 169 w 180"/>
                  <a:gd name="T13" fmla="*/ 28 h 42"/>
                  <a:gd name="T14" fmla="*/ 176 w 180"/>
                  <a:gd name="T15" fmla="*/ 31 h 42"/>
                  <a:gd name="T16" fmla="*/ 180 w 180"/>
                  <a:gd name="T17" fmla="*/ 38 h 42"/>
                  <a:gd name="T18" fmla="*/ 176 w 180"/>
                  <a:gd name="T19" fmla="*/ 42 h 42"/>
                  <a:gd name="T20" fmla="*/ 173 w 180"/>
                  <a:gd name="T21" fmla="*/ 38 h 42"/>
                  <a:gd name="T22" fmla="*/ 166 w 180"/>
                  <a:gd name="T23" fmla="*/ 38 h 42"/>
                  <a:gd name="T24" fmla="*/ 149 w 180"/>
                  <a:gd name="T25" fmla="*/ 35 h 42"/>
                  <a:gd name="T26" fmla="*/ 121 w 180"/>
                  <a:gd name="T27" fmla="*/ 28 h 42"/>
                  <a:gd name="T28" fmla="*/ 97 w 180"/>
                  <a:gd name="T29" fmla="*/ 24 h 42"/>
                  <a:gd name="T30" fmla="*/ 76 w 180"/>
                  <a:gd name="T31" fmla="*/ 18 h 42"/>
                  <a:gd name="T32" fmla="*/ 48 w 180"/>
                  <a:gd name="T33" fmla="*/ 14 h 42"/>
                  <a:gd name="T34" fmla="*/ 24 w 180"/>
                  <a:gd name="T35" fmla="*/ 7 h 42"/>
                  <a:gd name="T36" fmla="*/ 0 w 180"/>
                  <a:gd name="T37" fmla="*/ 4 h 42"/>
                  <a:gd name="T38" fmla="*/ 0 w 180"/>
                  <a:gd name="T39" fmla="*/ 4 h 42"/>
                  <a:gd name="T40" fmla="*/ 0 w 180"/>
                  <a:gd name="T41" fmla="*/ 0 h 42"/>
                  <a:gd name="T42" fmla="*/ 0 w 180"/>
                  <a:gd name="T43" fmla="*/ 0 h 42"/>
                  <a:gd name="T44" fmla="*/ 0 w 180"/>
                  <a:gd name="T45" fmla="*/ 0 h 4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80"/>
                  <a:gd name="T70" fmla="*/ 0 h 42"/>
                  <a:gd name="T71" fmla="*/ 180 w 180"/>
                  <a:gd name="T72" fmla="*/ 42 h 4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80" h="42">
                    <a:moveTo>
                      <a:pt x="0" y="0"/>
                    </a:moveTo>
                    <a:lnTo>
                      <a:pt x="24" y="4"/>
                    </a:lnTo>
                    <a:lnTo>
                      <a:pt x="48" y="11"/>
                    </a:lnTo>
                    <a:lnTo>
                      <a:pt x="76" y="14"/>
                    </a:lnTo>
                    <a:lnTo>
                      <a:pt x="100" y="14"/>
                    </a:lnTo>
                    <a:lnTo>
                      <a:pt x="152" y="21"/>
                    </a:lnTo>
                    <a:lnTo>
                      <a:pt x="169" y="28"/>
                    </a:lnTo>
                    <a:lnTo>
                      <a:pt x="176" y="31"/>
                    </a:lnTo>
                    <a:lnTo>
                      <a:pt x="180" y="38"/>
                    </a:lnTo>
                    <a:lnTo>
                      <a:pt x="176" y="42"/>
                    </a:lnTo>
                    <a:lnTo>
                      <a:pt x="173" y="38"/>
                    </a:lnTo>
                    <a:lnTo>
                      <a:pt x="166" y="38"/>
                    </a:lnTo>
                    <a:lnTo>
                      <a:pt x="149" y="35"/>
                    </a:lnTo>
                    <a:lnTo>
                      <a:pt x="121" y="28"/>
                    </a:lnTo>
                    <a:lnTo>
                      <a:pt x="97" y="24"/>
                    </a:lnTo>
                    <a:lnTo>
                      <a:pt x="76" y="18"/>
                    </a:lnTo>
                    <a:lnTo>
                      <a:pt x="48" y="14"/>
                    </a:lnTo>
                    <a:lnTo>
                      <a:pt x="24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2" name="Freeform 179"/>
              <p:cNvSpPr>
                <a:spLocks/>
              </p:cNvSpPr>
              <p:nvPr/>
            </p:nvSpPr>
            <p:spPr bwMode="auto">
              <a:xfrm>
                <a:off x="3063" y="1225"/>
                <a:ext cx="31" cy="14"/>
              </a:xfrm>
              <a:custGeom>
                <a:avLst/>
                <a:gdLst>
                  <a:gd name="T0" fmla="*/ 28 w 31"/>
                  <a:gd name="T1" fmla="*/ 4 h 14"/>
                  <a:gd name="T2" fmla="*/ 17 w 31"/>
                  <a:gd name="T3" fmla="*/ 7 h 14"/>
                  <a:gd name="T4" fmla="*/ 10 w 31"/>
                  <a:gd name="T5" fmla="*/ 11 h 14"/>
                  <a:gd name="T6" fmla="*/ 4 w 31"/>
                  <a:gd name="T7" fmla="*/ 14 h 14"/>
                  <a:gd name="T8" fmla="*/ 0 w 31"/>
                  <a:gd name="T9" fmla="*/ 11 h 14"/>
                  <a:gd name="T10" fmla="*/ 0 w 31"/>
                  <a:gd name="T11" fmla="*/ 7 h 14"/>
                  <a:gd name="T12" fmla="*/ 14 w 31"/>
                  <a:gd name="T13" fmla="*/ 4 h 14"/>
                  <a:gd name="T14" fmla="*/ 28 w 31"/>
                  <a:gd name="T15" fmla="*/ 0 h 14"/>
                  <a:gd name="T16" fmla="*/ 31 w 31"/>
                  <a:gd name="T17" fmla="*/ 4 h 14"/>
                  <a:gd name="T18" fmla="*/ 28 w 31"/>
                  <a:gd name="T19" fmla="*/ 4 h 14"/>
                  <a:gd name="T20" fmla="*/ 28 w 31"/>
                  <a:gd name="T21" fmla="*/ 4 h 14"/>
                  <a:gd name="T22" fmla="*/ 28 w 31"/>
                  <a:gd name="T23" fmla="*/ 4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14"/>
                  <a:gd name="T38" fmla="*/ 31 w 31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14">
                    <a:moveTo>
                      <a:pt x="28" y="4"/>
                    </a:moveTo>
                    <a:lnTo>
                      <a:pt x="17" y="7"/>
                    </a:lnTo>
                    <a:lnTo>
                      <a:pt x="10" y="11"/>
                    </a:lnTo>
                    <a:lnTo>
                      <a:pt x="4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14" y="4"/>
                    </a:lnTo>
                    <a:lnTo>
                      <a:pt x="28" y="0"/>
                    </a:lnTo>
                    <a:lnTo>
                      <a:pt x="31" y="4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3" name="Freeform 180"/>
              <p:cNvSpPr>
                <a:spLocks/>
              </p:cNvSpPr>
              <p:nvPr/>
            </p:nvSpPr>
            <p:spPr bwMode="auto">
              <a:xfrm>
                <a:off x="3073" y="1243"/>
                <a:ext cx="173" cy="41"/>
              </a:xfrm>
              <a:custGeom>
                <a:avLst/>
                <a:gdLst>
                  <a:gd name="T0" fmla="*/ 4 w 173"/>
                  <a:gd name="T1" fmla="*/ 0 h 41"/>
                  <a:gd name="T2" fmla="*/ 42 w 173"/>
                  <a:gd name="T3" fmla="*/ 6 h 41"/>
                  <a:gd name="T4" fmla="*/ 63 w 173"/>
                  <a:gd name="T5" fmla="*/ 10 h 41"/>
                  <a:gd name="T6" fmla="*/ 83 w 173"/>
                  <a:gd name="T7" fmla="*/ 17 h 41"/>
                  <a:gd name="T8" fmla="*/ 104 w 173"/>
                  <a:gd name="T9" fmla="*/ 20 h 41"/>
                  <a:gd name="T10" fmla="*/ 125 w 173"/>
                  <a:gd name="T11" fmla="*/ 24 h 41"/>
                  <a:gd name="T12" fmla="*/ 142 w 173"/>
                  <a:gd name="T13" fmla="*/ 27 h 41"/>
                  <a:gd name="T14" fmla="*/ 163 w 173"/>
                  <a:gd name="T15" fmla="*/ 34 h 41"/>
                  <a:gd name="T16" fmla="*/ 173 w 173"/>
                  <a:gd name="T17" fmla="*/ 38 h 41"/>
                  <a:gd name="T18" fmla="*/ 173 w 173"/>
                  <a:gd name="T19" fmla="*/ 41 h 41"/>
                  <a:gd name="T20" fmla="*/ 170 w 173"/>
                  <a:gd name="T21" fmla="*/ 41 h 41"/>
                  <a:gd name="T22" fmla="*/ 159 w 173"/>
                  <a:gd name="T23" fmla="*/ 41 h 41"/>
                  <a:gd name="T24" fmla="*/ 139 w 173"/>
                  <a:gd name="T25" fmla="*/ 38 h 41"/>
                  <a:gd name="T26" fmla="*/ 121 w 173"/>
                  <a:gd name="T27" fmla="*/ 34 h 41"/>
                  <a:gd name="T28" fmla="*/ 104 w 173"/>
                  <a:gd name="T29" fmla="*/ 27 h 41"/>
                  <a:gd name="T30" fmla="*/ 83 w 173"/>
                  <a:gd name="T31" fmla="*/ 24 h 41"/>
                  <a:gd name="T32" fmla="*/ 59 w 173"/>
                  <a:gd name="T33" fmla="*/ 17 h 41"/>
                  <a:gd name="T34" fmla="*/ 42 w 173"/>
                  <a:gd name="T35" fmla="*/ 10 h 41"/>
                  <a:gd name="T36" fmla="*/ 25 w 173"/>
                  <a:gd name="T37" fmla="*/ 6 h 41"/>
                  <a:gd name="T38" fmla="*/ 4 w 173"/>
                  <a:gd name="T39" fmla="*/ 3 h 41"/>
                  <a:gd name="T40" fmla="*/ 0 w 173"/>
                  <a:gd name="T41" fmla="*/ 3 h 41"/>
                  <a:gd name="T42" fmla="*/ 4 w 173"/>
                  <a:gd name="T43" fmla="*/ 0 h 41"/>
                  <a:gd name="T44" fmla="*/ 4 w 173"/>
                  <a:gd name="T45" fmla="*/ 0 h 41"/>
                  <a:gd name="T46" fmla="*/ 4 w 173"/>
                  <a:gd name="T47" fmla="*/ 0 h 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3"/>
                  <a:gd name="T73" fmla="*/ 0 h 41"/>
                  <a:gd name="T74" fmla="*/ 173 w 173"/>
                  <a:gd name="T75" fmla="*/ 41 h 41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3" h="41">
                    <a:moveTo>
                      <a:pt x="4" y="0"/>
                    </a:moveTo>
                    <a:lnTo>
                      <a:pt x="42" y="6"/>
                    </a:lnTo>
                    <a:lnTo>
                      <a:pt x="63" y="10"/>
                    </a:lnTo>
                    <a:lnTo>
                      <a:pt x="83" y="17"/>
                    </a:lnTo>
                    <a:lnTo>
                      <a:pt x="104" y="20"/>
                    </a:lnTo>
                    <a:lnTo>
                      <a:pt x="125" y="24"/>
                    </a:lnTo>
                    <a:lnTo>
                      <a:pt x="142" y="27"/>
                    </a:lnTo>
                    <a:lnTo>
                      <a:pt x="163" y="34"/>
                    </a:lnTo>
                    <a:lnTo>
                      <a:pt x="173" y="38"/>
                    </a:lnTo>
                    <a:lnTo>
                      <a:pt x="173" y="41"/>
                    </a:lnTo>
                    <a:lnTo>
                      <a:pt x="170" y="41"/>
                    </a:lnTo>
                    <a:lnTo>
                      <a:pt x="159" y="41"/>
                    </a:lnTo>
                    <a:lnTo>
                      <a:pt x="139" y="38"/>
                    </a:lnTo>
                    <a:lnTo>
                      <a:pt x="121" y="34"/>
                    </a:lnTo>
                    <a:lnTo>
                      <a:pt x="104" y="27"/>
                    </a:lnTo>
                    <a:lnTo>
                      <a:pt x="83" y="24"/>
                    </a:lnTo>
                    <a:lnTo>
                      <a:pt x="59" y="17"/>
                    </a:lnTo>
                    <a:lnTo>
                      <a:pt x="42" y="10"/>
                    </a:lnTo>
                    <a:lnTo>
                      <a:pt x="25" y="6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4" name="Freeform 181"/>
              <p:cNvSpPr>
                <a:spLocks/>
              </p:cNvSpPr>
              <p:nvPr/>
            </p:nvSpPr>
            <p:spPr bwMode="auto">
              <a:xfrm>
                <a:off x="3067" y="1246"/>
                <a:ext cx="48" cy="124"/>
              </a:xfrm>
              <a:custGeom>
                <a:avLst/>
                <a:gdLst>
                  <a:gd name="T0" fmla="*/ 3 w 48"/>
                  <a:gd name="T1" fmla="*/ 0 h 124"/>
                  <a:gd name="T2" fmla="*/ 10 w 48"/>
                  <a:gd name="T3" fmla="*/ 14 h 124"/>
                  <a:gd name="T4" fmla="*/ 17 w 48"/>
                  <a:gd name="T5" fmla="*/ 28 h 124"/>
                  <a:gd name="T6" fmla="*/ 24 w 48"/>
                  <a:gd name="T7" fmla="*/ 55 h 124"/>
                  <a:gd name="T8" fmla="*/ 31 w 48"/>
                  <a:gd name="T9" fmla="*/ 73 h 124"/>
                  <a:gd name="T10" fmla="*/ 38 w 48"/>
                  <a:gd name="T11" fmla="*/ 86 h 124"/>
                  <a:gd name="T12" fmla="*/ 41 w 48"/>
                  <a:gd name="T13" fmla="*/ 104 h 124"/>
                  <a:gd name="T14" fmla="*/ 48 w 48"/>
                  <a:gd name="T15" fmla="*/ 121 h 124"/>
                  <a:gd name="T16" fmla="*/ 48 w 48"/>
                  <a:gd name="T17" fmla="*/ 124 h 124"/>
                  <a:gd name="T18" fmla="*/ 41 w 48"/>
                  <a:gd name="T19" fmla="*/ 121 h 124"/>
                  <a:gd name="T20" fmla="*/ 34 w 48"/>
                  <a:gd name="T21" fmla="*/ 104 h 124"/>
                  <a:gd name="T22" fmla="*/ 27 w 48"/>
                  <a:gd name="T23" fmla="*/ 90 h 124"/>
                  <a:gd name="T24" fmla="*/ 20 w 48"/>
                  <a:gd name="T25" fmla="*/ 76 h 124"/>
                  <a:gd name="T26" fmla="*/ 17 w 48"/>
                  <a:gd name="T27" fmla="*/ 55 h 124"/>
                  <a:gd name="T28" fmla="*/ 10 w 48"/>
                  <a:gd name="T29" fmla="*/ 28 h 124"/>
                  <a:gd name="T30" fmla="*/ 6 w 48"/>
                  <a:gd name="T31" fmla="*/ 17 h 124"/>
                  <a:gd name="T32" fmla="*/ 3 w 48"/>
                  <a:gd name="T33" fmla="*/ 10 h 124"/>
                  <a:gd name="T34" fmla="*/ 0 w 48"/>
                  <a:gd name="T35" fmla="*/ 3 h 124"/>
                  <a:gd name="T36" fmla="*/ 3 w 48"/>
                  <a:gd name="T37" fmla="*/ 0 h 124"/>
                  <a:gd name="T38" fmla="*/ 3 w 48"/>
                  <a:gd name="T39" fmla="*/ 0 h 124"/>
                  <a:gd name="T40" fmla="*/ 3 w 48"/>
                  <a:gd name="T41" fmla="*/ 0 h 124"/>
                  <a:gd name="T42" fmla="*/ 3 w 48"/>
                  <a:gd name="T43" fmla="*/ 0 h 12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8"/>
                  <a:gd name="T67" fmla="*/ 0 h 124"/>
                  <a:gd name="T68" fmla="*/ 48 w 48"/>
                  <a:gd name="T69" fmla="*/ 124 h 12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8" h="124">
                    <a:moveTo>
                      <a:pt x="3" y="0"/>
                    </a:moveTo>
                    <a:lnTo>
                      <a:pt x="10" y="14"/>
                    </a:lnTo>
                    <a:lnTo>
                      <a:pt x="17" y="28"/>
                    </a:lnTo>
                    <a:lnTo>
                      <a:pt x="24" y="55"/>
                    </a:lnTo>
                    <a:lnTo>
                      <a:pt x="31" y="73"/>
                    </a:lnTo>
                    <a:lnTo>
                      <a:pt x="38" y="86"/>
                    </a:lnTo>
                    <a:lnTo>
                      <a:pt x="41" y="104"/>
                    </a:lnTo>
                    <a:lnTo>
                      <a:pt x="48" y="121"/>
                    </a:lnTo>
                    <a:lnTo>
                      <a:pt x="48" y="124"/>
                    </a:lnTo>
                    <a:lnTo>
                      <a:pt x="41" y="121"/>
                    </a:lnTo>
                    <a:lnTo>
                      <a:pt x="34" y="104"/>
                    </a:lnTo>
                    <a:lnTo>
                      <a:pt x="27" y="90"/>
                    </a:lnTo>
                    <a:lnTo>
                      <a:pt x="20" y="76"/>
                    </a:lnTo>
                    <a:lnTo>
                      <a:pt x="17" y="55"/>
                    </a:lnTo>
                    <a:lnTo>
                      <a:pt x="10" y="28"/>
                    </a:lnTo>
                    <a:lnTo>
                      <a:pt x="6" y="17"/>
                    </a:lnTo>
                    <a:lnTo>
                      <a:pt x="3" y="10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5" name="Freeform 182"/>
              <p:cNvSpPr>
                <a:spLocks/>
              </p:cNvSpPr>
              <p:nvPr/>
            </p:nvSpPr>
            <p:spPr bwMode="auto">
              <a:xfrm>
                <a:off x="3111" y="1367"/>
                <a:ext cx="146" cy="55"/>
              </a:xfrm>
              <a:custGeom>
                <a:avLst/>
                <a:gdLst>
                  <a:gd name="T0" fmla="*/ 7 w 146"/>
                  <a:gd name="T1" fmla="*/ 0 h 55"/>
                  <a:gd name="T2" fmla="*/ 32 w 146"/>
                  <a:gd name="T3" fmla="*/ 7 h 55"/>
                  <a:gd name="T4" fmla="*/ 45 w 146"/>
                  <a:gd name="T5" fmla="*/ 14 h 55"/>
                  <a:gd name="T6" fmla="*/ 56 w 146"/>
                  <a:gd name="T7" fmla="*/ 17 h 55"/>
                  <a:gd name="T8" fmla="*/ 66 w 146"/>
                  <a:gd name="T9" fmla="*/ 24 h 55"/>
                  <a:gd name="T10" fmla="*/ 80 w 146"/>
                  <a:gd name="T11" fmla="*/ 28 h 55"/>
                  <a:gd name="T12" fmla="*/ 90 w 146"/>
                  <a:gd name="T13" fmla="*/ 31 h 55"/>
                  <a:gd name="T14" fmla="*/ 101 w 146"/>
                  <a:gd name="T15" fmla="*/ 38 h 55"/>
                  <a:gd name="T16" fmla="*/ 108 w 146"/>
                  <a:gd name="T17" fmla="*/ 41 h 55"/>
                  <a:gd name="T18" fmla="*/ 121 w 146"/>
                  <a:gd name="T19" fmla="*/ 45 h 55"/>
                  <a:gd name="T20" fmla="*/ 132 w 146"/>
                  <a:gd name="T21" fmla="*/ 48 h 55"/>
                  <a:gd name="T22" fmla="*/ 146 w 146"/>
                  <a:gd name="T23" fmla="*/ 52 h 55"/>
                  <a:gd name="T24" fmla="*/ 146 w 146"/>
                  <a:gd name="T25" fmla="*/ 55 h 55"/>
                  <a:gd name="T26" fmla="*/ 142 w 146"/>
                  <a:gd name="T27" fmla="*/ 55 h 55"/>
                  <a:gd name="T28" fmla="*/ 118 w 146"/>
                  <a:gd name="T29" fmla="*/ 48 h 55"/>
                  <a:gd name="T30" fmla="*/ 97 w 146"/>
                  <a:gd name="T31" fmla="*/ 41 h 55"/>
                  <a:gd name="T32" fmla="*/ 87 w 146"/>
                  <a:gd name="T33" fmla="*/ 38 h 55"/>
                  <a:gd name="T34" fmla="*/ 76 w 146"/>
                  <a:gd name="T35" fmla="*/ 35 h 55"/>
                  <a:gd name="T36" fmla="*/ 66 w 146"/>
                  <a:gd name="T37" fmla="*/ 31 h 55"/>
                  <a:gd name="T38" fmla="*/ 52 w 146"/>
                  <a:gd name="T39" fmla="*/ 24 h 55"/>
                  <a:gd name="T40" fmla="*/ 28 w 146"/>
                  <a:gd name="T41" fmla="*/ 14 h 55"/>
                  <a:gd name="T42" fmla="*/ 18 w 146"/>
                  <a:gd name="T43" fmla="*/ 10 h 55"/>
                  <a:gd name="T44" fmla="*/ 4 w 146"/>
                  <a:gd name="T45" fmla="*/ 7 h 55"/>
                  <a:gd name="T46" fmla="*/ 0 w 146"/>
                  <a:gd name="T47" fmla="*/ 3 h 55"/>
                  <a:gd name="T48" fmla="*/ 4 w 146"/>
                  <a:gd name="T49" fmla="*/ 0 h 55"/>
                  <a:gd name="T50" fmla="*/ 7 w 146"/>
                  <a:gd name="T51" fmla="*/ 0 h 55"/>
                  <a:gd name="T52" fmla="*/ 7 w 146"/>
                  <a:gd name="T53" fmla="*/ 0 h 55"/>
                  <a:gd name="T54" fmla="*/ 7 w 146"/>
                  <a:gd name="T55" fmla="*/ 0 h 5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46"/>
                  <a:gd name="T85" fmla="*/ 0 h 55"/>
                  <a:gd name="T86" fmla="*/ 146 w 146"/>
                  <a:gd name="T87" fmla="*/ 55 h 5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46" h="55">
                    <a:moveTo>
                      <a:pt x="7" y="0"/>
                    </a:moveTo>
                    <a:lnTo>
                      <a:pt x="32" y="7"/>
                    </a:lnTo>
                    <a:lnTo>
                      <a:pt x="45" y="14"/>
                    </a:lnTo>
                    <a:lnTo>
                      <a:pt x="56" y="17"/>
                    </a:lnTo>
                    <a:lnTo>
                      <a:pt x="66" y="24"/>
                    </a:lnTo>
                    <a:lnTo>
                      <a:pt x="80" y="28"/>
                    </a:lnTo>
                    <a:lnTo>
                      <a:pt x="90" y="31"/>
                    </a:lnTo>
                    <a:lnTo>
                      <a:pt x="101" y="38"/>
                    </a:lnTo>
                    <a:lnTo>
                      <a:pt x="108" y="41"/>
                    </a:lnTo>
                    <a:lnTo>
                      <a:pt x="121" y="45"/>
                    </a:lnTo>
                    <a:lnTo>
                      <a:pt x="132" y="48"/>
                    </a:lnTo>
                    <a:lnTo>
                      <a:pt x="146" y="52"/>
                    </a:lnTo>
                    <a:lnTo>
                      <a:pt x="146" y="55"/>
                    </a:lnTo>
                    <a:lnTo>
                      <a:pt x="142" y="55"/>
                    </a:lnTo>
                    <a:lnTo>
                      <a:pt x="118" y="48"/>
                    </a:lnTo>
                    <a:lnTo>
                      <a:pt x="97" y="41"/>
                    </a:lnTo>
                    <a:lnTo>
                      <a:pt x="87" y="38"/>
                    </a:lnTo>
                    <a:lnTo>
                      <a:pt x="76" y="35"/>
                    </a:lnTo>
                    <a:lnTo>
                      <a:pt x="66" y="31"/>
                    </a:lnTo>
                    <a:lnTo>
                      <a:pt x="52" y="24"/>
                    </a:lnTo>
                    <a:lnTo>
                      <a:pt x="28" y="14"/>
                    </a:lnTo>
                    <a:lnTo>
                      <a:pt x="18" y="10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6" name="Freeform 183"/>
              <p:cNvSpPr>
                <a:spLocks/>
              </p:cNvSpPr>
              <p:nvPr/>
            </p:nvSpPr>
            <p:spPr bwMode="auto">
              <a:xfrm>
                <a:off x="3136" y="1377"/>
                <a:ext cx="10" cy="28"/>
              </a:xfrm>
              <a:custGeom>
                <a:avLst/>
                <a:gdLst>
                  <a:gd name="T0" fmla="*/ 10 w 10"/>
                  <a:gd name="T1" fmla="*/ 0 h 28"/>
                  <a:gd name="T2" fmla="*/ 10 w 10"/>
                  <a:gd name="T3" fmla="*/ 14 h 28"/>
                  <a:gd name="T4" fmla="*/ 10 w 10"/>
                  <a:gd name="T5" fmla="*/ 25 h 28"/>
                  <a:gd name="T6" fmla="*/ 7 w 10"/>
                  <a:gd name="T7" fmla="*/ 28 h 28"/>
                  <a:gd name="T8" fmla="*/ 3 w 10"/>
                  <a:gd name="T9" fmla="*/ 28 h 28"/>
                  <a:gd name="T10" fmla="*/ 3 w 10"/>
                  <a:gd name="T11" fmla="*/ 28 h 28"/>
                  <a:gd name="T12" fmla="*/ 0 w 10"/>
                  <a:gd name="T13" fmla="*/ 25 h 28"/>
                  <a:gd name="T14" fmla="*/ 0 w 10"/>
                  <a:gd name="T15" fmla="*/ 14 h 28"/>
                  <a:gd name="T16" fmla="*/ 3 w 10"/>
                  <a:gd name="T17" fmla="*/ 0 h 28"/>
                  <a:gd name="T18" fmla="*/ 3 w 10"/>
                  <a:gd name="T19" fmla="*/ 0 h 28"/>
                  <a:gd name="T20" fmla="*/ 7 w 10"/>
                  <a:gd name="T21" fmla="*/ 0 h 28"/>
                  <a:gd name="T22" fmla="*/ 10 w 10"/>
                  <a:gd name="T23" fmla="*/ 0 h 28"/>
                  <a:gd name="T24" fmla="*/ 10 w 10"/>
                  <a:gd name="T25" fmla="*/ 0 h 28"/>
                  <a:gd name="T26" fmla="*/ 10 w 10"/>
                  <a:gd name="T27" fmla="*/ 0 h 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"/>
                  <a:gd name="T43" fmla="*/ 0 h 28"/>
                  <a:gd name="T44" fmla="*/ 10 w 10"/>
                  <a:gd name="T45" fmla="*/ 28 h 2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" h="28">
                    <a:moveTo>
                      <a:pt x="10" y="0"/>
                    </a:moveTo>
                    <a:lnTo>
                      <a:pt x="10" y="14"/>
                    </a:lnTo>
                    <a:lnTo>
                      <a:pt x="10" y="25"/>
                    </a:lnTo>
                    <a:lnTo>
                      <a:pt x="7" y="28"/>
                    </a:lnTo>
                    <a:lnTo>
                      <a:pt x="3" y="28"/>
                    </a:lnTo>
                    <a:lnTo>
                      <a:pt x="0" y="25"/>
                    </a:lnTo>
                    <a:lnTo>
                      <a:pt x="0" y="14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7" name="Freeform 184"/>
              <p:cNvSpPr>
                <a:spLocks/>
              </p:cNvSpPr>
              <p:nvPr/>
            </p:nvSpPr>
            <p:spPr bwMode="auto">
              <a:xfrm>
                <a:off x="3295" y="1422"/>
                <a:ext cx="13" cy="24"/>
              </a:xfrm>
              <a:custGeom>
                <a:avLst/>
                <a:gdLst>
                  <a:gd name="T0" fmla="*/ 13 w 13"/>
                  <a:gd name="T1" fmla="*/ 7 h 24"/>
                  <a:gd name="T2" fmla="*/ 10 w 13"/>
                  <a:gd name="T3" fmla="*/ 18 h 24"/>
                  <a:gd name="T4" fmla="*/ 10 w 13"/>
                  <a:gd name="T5" fmla="*/ 24 h 24"/>
                  <a:gd name="T6" fmla="*/ 7 w 13"/>
                  <a:gd name="T7" fmla="*/ 24 h 24"/>
                  <a:gd name="T8" fmla="*/ 3 w 13"/>
                  <a:gd name="T9" fmla="*/ 18 h 24"/>
                  <a:gd name="T10" fmla="*/ 0 w 13"/>
                  <a:gd name="T11" fmla="*/ 7 h 24"/>
                  <a:gd name="T12" fmla="*/ 3 w 13"/>
                  <a:gd name="T13" fmla="*/ 0 h 24"/>
                  <a:gd name="T14" fmla="*/ 7 w 13"/>
                  <a:gd name="T15" fmla="*/ 0 h 24"/>
                  <a:gd name="T16" fmla="*/ 10 w 13"/>
                  <a:gd name="T17" fmla="*/ 0 h 24"/>
                  <a:gd name="T18" fmla="*/ 13 w 13"/>
                  <a:gd name="T19" fmla="*/ 7 h 24"/>
                  <a:gd name="T20" fmla="*/ 13 w 13"/>
                  <a:gd name="T21" fmla="*/ 7 h 24"/>
                  <a:gd name="T22" fmla="*/ 13 w 13"/>
                  <a:gd name="T23" fmla="*/ 7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"/>
                  <a:gd name="T37" fmla="*/ 0 h 24"/>
                  <a:gd name="T38" fmla="*/ 13 w 13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" h="24">
                    <a:moveTo>
                      <a:pt x="13" y="7"/>
                    </a:moveTo>
                    <a:lnTo>
                      <a:pt x="10" y="18"/>
                    </a:lnTo>
                    <a:lnTo>
                      <a:pt x="10" y="24"/>
                    </a:lnTo>
                    <a:lnTo>
                      <a:pt x="7" y="24"/>
                    </a:lnTo>
                    <a:lnTo>
                      <a:pt x="3" y="18"/>
                    </a:lnTo>
                    <a:lnTo>
                      <a:pt x="0" y="7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8" name="Freeform 185"/>
              <p:cNvSpPr>
                <a:spLocks/>
              </p:cNvSpPr>
              <p:nvPr/>
            </p:nvSpPr>
            <p:spPr bwMode="auto">
              <a:xfrm>
                <a:off x="3436" y="1377"/>
                <a:ext cx="11" cy="31"/>
              </a:xfrm>
              <a:custGeom>
                <a:avLst/>
                <a:gdLst>
                  <a:gd name="T0" fmla="*/ 7 w 11"/>
                  <a:gd name="T1" fmla="*/ 4 h 31"/>
                  <a:gd name="T2" fmla="*/ 11 w 11"/>
                  <a:gd name="T3" fmla="*/ 11 h 31"/>
                  <a:gd name="T4" fmla="*/ 11 w 11"/>
                  <a:gd name="T5" fmla="*/ 21 h 31"/>
                  <a:gd name="T6" fmla="*/ 11 w 11"/>
                  <a:gd name="T7" fmla="*/ 31 h 31"/>
                  <a:gd name="T8" fmla="*/ 7 w 11"/>
                  <a:gd name="T9" fmla="*/ 31 h 31"/>
                  <a:gd name="T10" fmla="*/ 4 w 11"/>
                  <a:gd name="T11" fmla="*/ 25 h 31"/>
                  <a:gd name="T12" fmla="*/ 0 w 11"/>
                  <a:gd name="T13" fmla="*/ 11 h 31"/>
                  <a:gd name="T14" fmla="*/ 0 w 11"/>
                  <a:gd name="T15" fmla="*/ 4 h 31"/>
                  <a:gd name="T16" fmla="*/ 4 w 11"/>
                  <a:gd name="T17" fmla="*/ 0 h 31"/>
                  <a:gd name="T18" fmla="*/ 7 w 11"/>
                  <a:gd name="T19" fmla="*/ 4 h 31"/>
                  <a:gd name="T20" fmla="*/ 7 w 11"/>
                  <a:gd name="T21" fmla="*/ 4 h 31"/>
                  <a:gd name="T22" fmla="*/ 7 w 11"/>
                  <a:gd name="T23" fmla="*/ 4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1"/>
                  <a:gd name="T37" fmla="*/ 0 h 31"/>
                  <a:gd name="T38" fmla="*/ 11 w 11"/>
                  <a:gd name="T39" fmla="*/ 31 h 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1" h="31">
                    <a:moveTo>
                      <a:pt x="7" y="4"/>
                    </a:moveTo>
                    <a:lnTo>
                      <a:pt x="11" y="11"/>
                    </a:lnTo>
                    <a:lnTo>
                      <a:pt x="11" y="21"/>
                    </a:lnTo>
                    <a:lnTo>
                      <a:pt x="11" y="31"/>
                    </a:lnTo>
                    <a:lnTo>
                      <a:pt x="7" y="31"/>
                    </a:lnTo>
                    <a:lnTo>
                      <a:pt x="4" y="25"/>
                    </a:lnTo>
                    <a:lnTo>
                      <a:pt x="0" y="11"/>
                    </a:lnTo>
                    <a:lnTo>
                      <a:pt x="0" y="4"/>
                    </a:lnTo>
                    <a:lnTo>
                      <a:pt x="4" y="0"/>
                    </a:ln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399" name="Freeform 186"/>
              <p:cNvSpPr>
                <a:spLocks/>
              </p:cNvSpPr>
              <p:nvPr/>
            </p:nvSpPr>
            <p:spPr bwMode="auto">
              <a:xfrm>
                <a:off x="3267" y="1118"/>
                <a:ext cx="83" cy="93"/>
              </a:xfrm>
              <a:custGeom>
                <a:avLst/>
                <a:gdLst>
                  <a:gd name="T0" fmla="*/ 21 w 83"/>
                  <a:gd name="T1" fmla="*/ 4 h 93"/>
                  <a:gd name="T2" fmla="*/ 17 w 83"/>
                  <a:gd name="T3" fmla="*/ 4 h 93"/>
                  <a:gd name="T4" fmla="*/ 10 w 83"/>
                  <a:gd name="T5" fmla="*/ 21 h 93"/>
                  <a:gd name="T6" fmla="*/ 10 w 83"/>
                  <a:gd name="T7" fmla="*/ 35 h 93"/>
                  <a:gd name="T8" fmla="*/ 10 w 83"/>
                  <a:gd name="T9" fmla="*/ 62 h 93"/>
                  <a:gd name="T10" fmla="*/ 7 w 83"/>
                  <a:gd name="T11" fmla="*/ 66 h 93"/>
                  <a:gd name="T12" fmla="*/ 10 w 83"/>
                  <a:gd name="T13" fmla="*/ 69 h 93"/>
                  <a:gd name="T14" fmla="*/ 21 w 83"/>
                  <a:gd name="T15" fmla="*/ 73 h 93"/>
                  <a:gd name="T16" fmla="*/ 35 w 83"/>
                  <a:gd name="T17" fmla="*/ 76 h 93"/>
                  <a:gd name="T18" fmla="*/ 48 w 83"/>
                  <a:gd name="T19" fmla="*/ 83 h 93"/>
                  <a:gd name="T20" fmla="*/ 52 w 83"/>
                  <a:gd name="T21" fmla="*/ 83 h 93"/>
                  <a:gd name="T22" fmla="*/ 59 w 83"/>
                  <a:gd name="T23" fmla="*/ 87 h 93"/>
                  <a:gd name="T24" fmla="*/ 73 w 83"/>
                  <a:gd name="T25" fmla="*/ 87 h 93"/>
                  <a:gd name="T26" fmla="*/ 83 w 83"/>
                  <a:gd name="T27" fmla="*/ 87 h 93"/>
                  <a:gd name="T28" fmla="*/ 83 w 83"/>
                  <a:gd name="T29" fmla="*/ 90 h 93"/>
                  <a:gd name="T30" fmla="*/ 73 w 83"/>
                  <a:gd name="T31" fmla="*/ 93 h 93"/>
                  <a:gd name="T32" fmla="*/ 59 w 83"/>
                  <a:gd name="T33" fmla="*/ 93 h 93"/>
                  <a:gd name="T34" fmla="*/ 28 w 83"/>
                  <a:gd name="T35" fmla="*/ 87 h 93"/>
                  <a:gd name="T36" fmla="*/ 17 w 83"/>
                  <a:gd name="T37" fmla="*/ 80 h 93"/>
                  <a:gd name="T38" fmla="*/ 3 w 83"/>
                  <a:gd name="T39" fmla="*/ 73 h 93"/>
                  <a:gd name="T40" fmla="*/ 0 w 83"/>
                  <a:gd name="T41" fmla="*/ 62 h 93"/>
                  <a:gd name="T42" fmla="*/ 0 w 83"/>
                  <a:gd name="T43" fmla="*/ 48 h 93"/>
                  <a:gd name="T44" fmla="*/ 3 w 83"/>
                  <a:gd name="T45" fmla="*/ 35 h 93"/>
                  <a:gd name="T46" fmla="*/ 7 w 83"/>
                  <a:gd name="T47" fmla="*/ 21 h 93"/>
                  <a:gd name="T48" fmla="*/ 7 w 83"/>
                  <a:gd name="T49" fmla="*/ 10 h 93"/>
                  <a:gd name="T50" fmla="*/ 14 w 83"/>
                  <a:gd name="T51" fmla="*/ 4 h 93"/>
                  <a:gd name="T52" fmla="*/ 17 w 83"/>
                  <a:gd name="T53" fmla="*/ 0 h 93"/>
                  <a:gd name="T54" fmla="*/ 21 w 83"/>
                  <a:gd name="T55" fmla="*/ 0 h 93"/>
                  <a:gd name="T56" fmla="*/ 21 w 83"/>
                  <a:gd name="T57" fmla="*/ 4 h 93"/>
                  <a:gd name="T58" fmla="*/ 21 w 83"/>
                  <a:gd name="T59" fmla="*/ 4 h 93"/>
                  <a:gd name="T60" fmla="*/ 21 w 83"/>
                  <a:gd name="T61" fmla="*/ 4 h 9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83"/>
                  <a:gd name="T94" fmla="*/ 0 h 93"/>
                  <a:gd name="T95" fmla="*/ 83 w 83"/>
                  <a:gd name="T96" fmla="*/ 93 h 93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83" h="93">
                    <a:moveTo>
                      <a:pt x="21" y="4"/>
                    </a:moveTo>
                    <a:lnTo>
                      <a:pt x="17" y="4"/>
                    </a:lnTo>
                    <a:lnTo>
                      <a:pt x="10" y="21"/>
                    </a:lnTo>
                    <a:lnTo>
                      <a:pt x="10" y="35"/>
                    </a:lnTo>
                    <a:lnTo>
                      <a:pt x="10" y="62"/>
                    </a:lnTo>
                    <a:lnTo>
                      <a:pt x="7" y="66"/>
                    </a:lnTo>
                    <a:lnTo>
                      <a:pt x="10" y="69"/>
                    </a:lnTo>
                    <a:lnTo>
                      <a:pt x="21" y="73"/>
                    </a:lnTo>
                    <a:lnTo>
                      <a:pt x="35" y="76"/>
                    </a:lnTo>
                    <a:lnTo>
                      <a:pt x="48" y="83"/>
                    </a:lnTo>
                    <a:lnTo>
                      <a:pt x="52" y="83"/>
                    </a:lnTo>
                    <a:lnTo>
                      <a:pt x="59" y="87"/>
                    </a:lnTo>
                    <a:lnTo>
                      <a:pt x="73" y="87"/>
                    </a:lnTo>
                    <a:lnTo>
                      <a:pt x="83" y="87"/>
                    </a:lnTo>
                    <a:lnTo>
                      <a:pt x="83" y="90"/>
                    </a:lnTo>
                    <a:lnTo>
                      <a:pt x="73" y="93"/>
                    </a:lnTo>
                    <a:lnTo>
                      <a:pt x="59" y="93"/>
                    </a:lnTo>
                    <a:lnTo>
                      <a:pt x="28" y="87"/>
                    </a:lnTo>
                    <a:lnTo>
                      <a:pt x="17" y="80"/>
                    </a:lnTo>
                    <a:lnTo>
                      <a:pt x="3" y="73"/>
                    </a:lnTo>
                    <a:lnTo>
                      <a:pt x="0" y="62"/>
                    </a:lnTo>
                    <a:lnTo>
                      <a:pt x="0" y="48"/>
                    </a:lnTo>
                    <a:lnTo>
                      <a:pt x="3" y="35"/>
                    </a:lnTo>
                    <a:lnTo>
                      <a:pt x="7" y="21"/>
                    </a:lnTo>
                    <a:lnTo>
                      <a:pt x="7" y="10"/>
                    </a:lnTo>
                    <a:lnTo>
                      <a:pt x="14" y="4"/>
                    </a:lnTo>
                    <a:lnTo>
                      <a:pt x="17" y="0"/>
                    </a:lnTo>
                    <a:lnTo>
                      <a:pt x="21" y="0"/>
                    </a:ln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0" name="Freeform 187"/>
              <p:cNvSpPr>
                <a:spLocks/>
              </p:cNvSpPr>
              <p:nvPr/>
            </p:nvSpPr>
            <p:spPr bwMode="auto">
              <a:xfrm>
                <a:off x="3298" y="1132"/>
                <a:ext cx="93" cy="31"/>
              </a:xfrm>
              <a:custGeom>
                <a:avLst/>
                <a:gdLst>
                  <a:gd name="T0" fmla="*/ 4 w 93"/>
                  <a:gd name="T1" fmla="*/ 0 h 31"/>
                  <a:gd name="T2" fmla="*/ 21 w 93"/>
                  <a:gd name="T3" fmla="*/ 10 h 31"/>
                  <a:gd name="T4" fmla="*/ 35 w 93"/>
                  <a:gd name="T5" fmla="*/ 14 h 31"/>
                  <a:gd name="T6" fmla="*/ 52 w 93"/>
                  <a:gd name="T7" fmla="*/ 17 h 31"/>
                  <a:gd name="T8" fmla="*/ 73 w 93"/>
                  <a:gd name="T9" fmla="*/ 21 h 31"/>
                  <a:gd name="T10" fmla="*/ 90 w 93"/>
                  <a:gd name="T11" fmla="*/ 21 h 31"/>
                  <a:gd name="T12" fmla="*/ 93 w 93"/>
                  <a:gd name="T13" fmla="*/ 24 h 31"/>
                  <a:gd name="T14" fmla="*/ 93 w 93"/>
                  <a:gd name="T15" fmla="*/ 24 h 31"/>
                  <a:gd name="T16" fmla="*/ 69 w 93"/>
                  <a:gd name="T17" fmla="*/ 31 h 31"/>
                  <a:gd name="T18" fmla="*/ 48 w 93"/>
                  <a:gd name="T19" fmla="*/ 31 h 31"/>
                  <a:gd name="T20" fmla="*/ 17 w 93"/>
                  <a:gd name="T21" fmla="*/ 21 h 31"/>
                  <a:gd name="T22" fmla="*/ 10 w 93"/>
                  <a:gd name="T23" fmla="*/ 10 h 31"/>
                  <a:gd name="T24" fmla="*/ 7 w 93"/>
                  <a:gd name="T25" fmla="*/ 7 h 31"/>
                  <a:gd name="T26" fmla="*/ 4 w 93"/>
                  <a:gd name="T27" fmla="*/ 3 h 31"/>
                  <a:gd name="T28" fmla="*/ 0 w 93"/>
                  <a:gd name="T29" fmla="*/ 0 h 31"/>
                  <a:gd name="T30" fmla="*/ 4 w 93"/>
                  <a:gd name="T31" fmla="*/ 0 h 31"/>
                  <a:gd name="T32" fmla="*/ 4 w 93"/>
                  <a:gd name="T33" fmla="*/ 0 h 31"/>
                  <a:gd name="T34" fmla="*/ 4 w 93"/>
                  <a:gd name="T35" fmla="*/ 0 h 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3"/>
                  <a:gd name="T55" fmla="*/ 0 h 31"/>
                  <a:gd name="T56" fmla="*/ 93 w 93"/>
                  <a:gd name="T57" fmla="*/ 31 h 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3" h="31">
                    <a:moveTo>
                      <a:pt x="4" y="0"/>
                    </a:moveTo>
                    <a:lnTo>
                      <a:pt x="21" y="10"/>
                    </a:lnTo>
                    <a:lnTo>
                      <a:pt x="35" y="14"/>
                    </a:lnTo>
                    <a:lnTo>
                      <a:pt x="52" y="17"/>
                    </a:lnTo>
                    <a:lnTo>
                      <a:pt x="73" y="21"/>
                    </a:lnTo>
                    <a:lnTo>
                      <a:pt x="90" y="21"/>
                    </a:lnTo>
                    <a:lnTo>
                      <a:pt x="93" y="24"/>
                    </a:lnTo>
                    <a:lnTo>
                      <a:pt x="69" y="31"/>
                    </a:lnTo>
                    <a:lnTo>
                      <a:pt x="48" y="31"/>
                    </a:lnTo>
                    <a:lnTo>
                      <a:pt x="17" y="21"/>
                    </a:lnTo>
                    <a:lnTo>
                      <a:pt x="10" y="10"/>
                    </a:lnTo>
                    <a:lnTo>
                      <a:pt x="7" y="7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1" name="Freeform 188"/>
              <p:cNvSpPr>
                <a:spLocks/>
              </p:cNvSpPr>
              <p:nvPr/>
            </p:nvSpPr>
            <p:spPr bwMode="auto">
              <a:xfrm>
                <a:off x="3398" y="1104"/>
                <a:ext cx="35" cy="56"/>
              </a:xfrm>
              <a:custGeom>
                <a:avLst/>
                <a:gdLst>
                  <a:gd name="T0" fmla="*/ 31 w 35"/>
                  <a:gd name="T1" fmla="*/ 4 h 56"/>
                  <a:gd name="T2" fmla="*/ 28 w 35"/>
                  <a:gd name="T3" fmla="*/ 11 h 56"/>
                  <a:gd name="T4" fmla="*/ 28 w 35"/>
                  <a:gd name="T5" fmla="*/ 21 h 56"/>
                  <a:gd name="T6" fmla="*/ 24 w 35"/>
                  <a:gd name="T7" fmla="*/ 31 h 56"/>
                  <a:gd name="T8" fmla="*/ 18 w 35"/>
                  <a:gd name="T9" fmla="*/ 38 h 56"/>
                  <a:gd name="T10" fmla="*/ 11 w 35"/>
                  <a:gd name="T11" fmla="*/ 45 h 56"/>
                  <a:gd name="T12" fmla="*/ 4 w 35"/>
                  <a:gd name="T13" fmla="*/ 56 h 56"/>
                  <a:gd name="T14" fmla="*/ 0 w 35"/>
                  <a:gd name="T15" fmla="*/ 56 h 56"/>
                  <a:gd name="T16" fmla="*/ 0 w 35"/>
                  <a:gd name="T17" fmla="*/ 52 h 56"/>
                  <a:gd name="T18" fmla="*/ 11 w 35"/>
                  <a:gd name="T19" fmla="*/ 38 h 56"/>
                  <a:gd name="T20" fmla="*/ 14 w 35"/>
                  <a:gd name="T21" fmla="*/ 18 h 56"/>
                  <a:gd name="T22" fmla="*/ 14 w 35"/>
                  <a:gd name="T23" fmla="*/ 14 h 56"/>
                  <a:gd name="T24" fmla="*/ 21 w 35"/>
                  <a:gd name="T25" fmla="*/ 7 h 56"/>
                  <a:gd name="T26" fmla="*/ 24 w 35"/>
                  <a:gd name="T27" fmla="*/ 4 h 56"/>
                  <a:gd name="T28" fmla="*/ 28 w 35"/>
                  <a:gd name="T29" fmla="*/ 0 h 56"/>
                  <a:gd name="T30" fmla="*/ 31 w 35"/>
                  <a:gd name="T31" fmla="*/ 0 h 56"/>
                  <a:gd name="T32" fmla="*/ 35 w 35"/>
                  <a:gd name="T33" fmla="*/ 0 h 56"/>
                  <a:gd name="T34" fmla="*/ 31 w 35"/>
                  <a:gd name="T35" fmla="*/ 4 h 56"/>
                  <a:gd name="T36" fmla="*/ 31 w 35"/>
                  <a:gd name="T37" fmla="*/ 4 h 56"/>
                  <a:gd name="T38" fmla="*/ 31 w 35"/>
                  <a:gd name="T39" fmla="*/ 4 h 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5"/>
                  <a:gd name="T61" fmla="*/ 0 h 56"/>
                  <a:gd name="T62" fmla="*/ 35 w 35"/>
                  <a:gd name="T63" fmla="*/ 56 h 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5" h="56">
                    <a:moveTo>
                      <a:pt x="31" y="4"/>
                    </a:moveTo>
                    <a:lnTo>
                      <a:pt x="28" y="11"/>
                    </a:lnTo>
                    <a:lnTo>
                      <a:pt x="28" y="21"/>
                    </a:lnTo>
                    <a:lnTo>
                      <a:pt x="24" y="31"/>
                    </a:lnTo>
                    <a:lnTo>
                      <a:pt x="18" y="38"/>
                    </a:lnTo>
                    <a:lnTo>
                      <a:pt x="11" y="45"/>
                    </a:lnTo>
                    <a:lnTo>
                      <a:pt x="4" y="56"/>
                    </a:lnTo>
                    <a:lnTo>
                      <a:pt x="0" y="56"/>
                    </a:lnTo>
                    <a:lnTo>
                      <a:pt x="0" y="52"/>
                    </a:lnTo>
                    <a:lnTo>
                      <a:pt x="11" y="38"/>
                    </a:lnTo>
                    <a:lnTo>
                      <a:pt x="14" y="18"/>
                    </a:lnTo>
                    <a:lnTo>
                      <a:pt x="14" y="14"/>
                    </a:lnTo>
                    <a:lnTo>
                      <a:pt x="21" y="7"/>
                    </a:lnTo>
                    <a:lnTo>
                      <a:pt x="24" y="4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2" name="Freeform 189"/>
              <p:cNvSpPr>
                <a:spLocks/>
              </p:cNvSpPr>
              <p:nvPr/>
            </p:nvSpPr>
            <p:spPr bwMode="auto">
              <a:xfrm>
                <a:off x="3350" y="1160"/>
                <a:ext cx="62" cy="51"/>
              </a:xfrm>
              <a:custGeom>
                <a:avLst/>
                <a:gdLst>
                  <a:gd name="T0" fmla="*/ 62 w 62"/>
                  <a:gd name="T1" fmla="*/ 0 h 51"/>
                  <a:gd name="T2" fmla="*/ 59 w 62"/>
                  <a:gd name="T3" fmla="*/ 13 h 51"/>
                  <a:gd name="T4" fmla="*/ 55 w 62"/>
                  <a:gd name="T5" fmla="*/ 20 h 51"/>
                  <a:gd name="T6" fmla="*/ 52 w 62"/>
                  <a:gd name="T7" fmla="*/ 27 h 51"/>
                  <a:gd name="T8" fmla="*/ 45 w 62"/>
                  <a:gd name="T9" fmla="*/ 34 h 51"/>
                  <a:gd name="T10" fmla="*/ 41 w 62"/>
                  <a:gd name="T11" fmla="*/ 41 h 51"/>
                  <a:gd name="T12" fmla="*/ 34 w 62"/>
                  <a:gd name="T13" fmla="*/ 45 h 51"/>
                  <a:gd name="T14" fmla="*/ 24 w 62"/>
                  <a:gd name="T15" fmla="*/ 48 h 51"/>
                  <a:gd name="T16" fmla="*/ 14 w 62"/>
                  <a:gd name="T17" fmla="*/ 51 h 51"/>
                  <a:gd name="T18" fmla="*/ 3 w 62"/>
                  <a:gd name="T19" fmla="*/ 51 h 51"/>
                  <a:gd name="T20" fmla="*/ 0 w 62"/>
                  <a:gd name="T21" fmla="*/ 51 h 51"/>
                  <a:gd name="T22" fmla="*/ 3 w 62"/>
                  <a:gd name="T23" fmla="*/ 48 h 51"/>
                  <a:gd name="T24" fmla="*/ 10 w 62"/>
                  <a:gd name="T25" fmla="*/ 45 h 51"/>
                  <a:gd name="T26" fmla="*/ 17 w 62"/>
                  <a:gd name="T27" fmla="*/ 41 h 51"/>
                  <a:gd name="T28" fmla="*/ 24 w 62"/>
                  <a:gd name="T29" fmla="*/ 38 h 51"/>
                  <a:gd name="T30" fmla="*/ 31 w 62"/>
                  <a:gd name="T31" fmla="*/ 31 h 51"/>
                  <a:gd name="T32" fmla="*/ 41 w 62"/>
                  <a:gd name="T33" fmla="*/ 27 h 51"/>
                  <a:gd name="T34" fmla="*/ 45 w 62"/>
                  <a:gd name="T35" fmla="*/ 24 h 51"/>
                  <a:gd name="T36" fmla="*/ 55 w 62"/>
                  <a:gd name="T37" fmla="*/ 13 h 51"/>
                  <a:gd name="T38" fmla="*/ 59 w 62"/>
                  <a:gd name="T39" fmla="*/ 0 h 51"/>
                  <a:gd name="T40" fmla="*/ 62 w 62"/>
                  <a:gd name="T41" fmla="*/ 0 h 51"/>
                  <a:gd name="T42" fmla="*/ 62 w 62"/>
                  <a:gd name="T43" fmla="*/ 0 h 51"/>
                  <a:gd name="T44" fmla="*/ 62 w 62"/>
                  <a:gd name="T45" fmla="*/ 0 h 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2"/>
                  <a:gd name="T70" fmla="*/ 0 h 51"/>
                  <a:gd name="T71" fmla="*/ 62 w 62"/>
                  <a:gd name="T72" fmla="*/ 51 h 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2" h="51">
                    <a:moveTo>
                      <a:pt x="62" y="0"/>
                    </a:moveTo>
                    <a:lnTo>
                      <a:pt x="59" y="13"/>
                    </a:lnTo>
                    <a:lnTo>
                      <a:pt x="55" y="20"/>
                    </a:lnTo>
                    <a:lnTo>
                      <a:pt x="52" y="27"/>
                    </a:lnTo>
                    <a:lnTo>
                      <a:pt x="45" y="34"/>
                    </a:lnTo>
                    <a:lnTo>
                      <a:pt x="41" y="41"/>
                    </a:lnTo>
                    <a:lnTo>
                      <a:pt x="34" y="45"/>
                    </a:lnTo>
                    <a:lnTo>
                      <a:pt x="24" y="48"/>
                    </a:lnTo>
                    <a:lnTo>
                      <a:pt x="14" y="51"/>
                    </a:lnTo>
                    <a:lnTo>
                      <a:pt x="3" y="51"/>
                    </a:lnTo>
                    <a:lnTo>
                      <a:pt x="0" y="51"/>
                    </a:lnTo>
                    <a:lnTo>
                      <a:pt x="3" y="48"/>
                    </a:lnTo>
                    <a:lnTo>
                      <a:pt x="10" y="45"/>
                    </a:lnTo>
                    <a:lnTo>
                      <a:pt x="17" y="41"/>
                    </a:lnTo>
                    <a:lnTo>
                      <a:pt x="24" y="38"/>
                    </a:lnTo>
                    <a:lnTo>
                      <a:pt x="31" y="31"/>
                    </a:lnTo>
                    <a:lnTo>
                      <a:pt x="41" y="27"/>
                    </a:lnTo>
                    <a:lnTo>
                      <a:pt x="45" y="24"/>
                    </a:lnTo>
                    <a:lnTo>
                      <a:pt x="55" y="13"/>
                    </a:lnTo>
                    <a:lnTo>
                      <a:pt x="59" y="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3" name="Freeform 190"/>
              <p:cNvSpPr>
                <a:spLocks/>
              </p:cNvSpPr>
              <p:nvPr/>
            </p:nvSpPr>
            <p:spPr bwMode="auto">
              <a:xfrm>
                <a:off x="3250" y="1194"/>
                <a:ext cx="34" cy="59"/>
              </a:xfrm>
              <a:custGeom>
                <a:avLst/>
                <a:gdLst>
                  <a:gd name="T0" fmla="*/ 34 w 34"/>
                  <a:gd name="T1" fmla="*/ 0 h 59"/>
                  <a:gd name="T2" fmla="*/ 31 w 34"/>
                  <a:gd name="T3" fmla="*/ 14 h 59"/>
                  <a:gd name="T4" fmla="*/ 27 w 34"/>
                  <a:gd name="T5" fmla="*/ 24 h 59"/>
                  <a:gd name="T6" fmla="*/ 24 w 34"/>
                  <a:gd name="T7" fmla="*/ 31 h 59"/>
                  <a:gd name="T8" fmla="*/ 20 w 34"/>
                  <a:gd name="T9" fmla="*/ 38 h 59"/>
                  <a:gd name="T10" fmla="*/ 14 w 34"/>
                  <a:gd name="T11" fmla="*/ 45 h 59"/>
                  <a:gd name="T12" fmla="*/ 10 w 34"/>
                  <a:gd name="T13" fmla="*/ 52 h 59"/>
                  <a:gd name="T14" fmla="*/ 3 w 34"/>
                  <a:gd name="T15" fmla="*/ 59 h 59"/>
                  <a:gd name="T16" fmla="*/ 0 w 34"/>
                  <a:gd name="T17" fmla="*/ 59 h 59"/>
                  <a:gd name="T18" fmla="*/ 0 w 34"/>
                  <a:gd name="T19" fmla="*/ 55 h 59"/>
                  <a:gd name="T20" fmla="*/ 7 w 34"/>
                  <a:gd name="T21" fmla="*/ 42 h 59"/>
                  <a:gd name="T22" fmla="*/ 14 w 34"/>
                  <a:gd name="T23" fmla="*/ 28 h 59"/>
                  <a:gd name="T24" fmla="*/ 17 w 34"/>
                  <a:gd name="T25" fmla="*/ 21 h 59"/>
                  <a:gd name="T26" fmla="*/ 20 w 34"/>
                  <a:gd name="T27" fmla="*/ 11 h 59"/>
                  <a:gd name="T28" fmla="*/ 24 w 34"/>
                  <a:gd name="T29" fmla="*/ 7 h 59"/>
                  <a:gd name="T30" fmla="*/ 31 w 34"/>
                  <a:gd name="T31" fmla="*/ 0 h 59"/>
                  <a:gd name="T32" fmla="*/ 34 w 34"/>
                  <a:gd name="T33" fmla="*/ 0 h 59"/>
                  <a:gd name="T34" fmla="*/ 34 w 34"/>
                  <a:gd name="T35" fmla="*/ 0 h 59"/>
                  <a:gd name="T36" fmla="*/ 34 w 34"/>
                  <a:gd name="T37" fmla="*/ 0 h 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4"/>
                  <a:gd name="T58" fmla="*/ 0 h 59"/>
                  <a:gd name="T59" fmla="*/ 34 w 34"/>
                  <a:gd name="T60" fmla="*/ 59 h 5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4" h="59">
                    <a:moveTo>
                      <a:pt x="34" y="0"/>
                    </a:moveTo>
                    <a:lnTo>
                      <a:pt x="31" y="14"/>
                    </a:lnTo>
                    <a:lnTo>
                      <a:pt x="27" y="24"/>
                    </a:lnTo>
                    <a:lnTo>
                      <a:pt x="24" y="31"/>
                    </a:lnTo>
                    <a:lnTo>
                      <a:pt x="20" y="38"/>
                    </a:lnTo>
                    <a:lnTo>
                      <a:pt x="14" y="45"/>
                    </a:lnTo>
                    <a:lnTo>
                      <a:pt x="10" y="52"/>
                    </a:lnTo>
                    <a:lnTo>
                      <a:pt x="3" y="59"/>
                    </a:lnTo>
                    <a:lnTo>
                      <a:pt x="0" y="59"/>
                    </a:lnTo>
                    <a:lnTo>
                      <a:pt x="0" y="55"/>
                    </a:lnTo>
                    <a:lnTo>
                      <a:pt x="7" y="42"/>
                    </a:lnTo>
                    <a:lnTo>
                      <a:pt x="14" y="28"/>
                    </a:lnTo>
                    <a:lnTo>
                      <a:pt x="17" y="21"/>
                    </a:lnTo>
                    <a:lnTo>
                      <a:pt x="20" y="11"/>
                    </a:lnTo>
                    <a:lnTo>
                      <a:pt x="24" y="7"/>
                    </a:lnTo>
                    <a:lnTo>
                      <a:pt x="31" y="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4" name="Freeform 191"/>
              <p:cNvSpPr>
                <a:spLocks/>
              </p:cNvSpPr>
              <p:nvPr/>
            </p:nvSpPr>
            <p:spPr bwMode="auto">
              <a:xfrm>
                <a:off x="3298" y="1211"/>
                <a:ext cx="62" cy="66"/>
              </a:xfrm>
              <a:custGeom>
                <a:avLst/>
                <a:gdLst>
                  <a:gd name="T0" fmla="*/ 62 w 62"/>
                  <a:gd name="T1" fmla="*/ 4 h 66"/>
                  <a:gd name="T2" fmla="*/ 55 w 62"/>
                  <a:gd name="T3" fmla="*/ 7 h 66"/>
                  <a:gd name="T4" fmla="*/ 48 w 62"/>
                  <a:gd name="T5" fmla="*/ 14 h 66"/>
                  <a:gd name="T6" fmla="*/ 38 w 62"/>
                  <a:gd name="T7" fmla="*/ 25 h 66"/>
                  <a:gd name="T8" fmla="*/ 31 w 62"/>
                  <a:gd name="T9" fmla="*/ 42 h 66"/>
                  <a:gd name="T10" fmla="*/ 24 w 62"/>
                  <a:gd name="T11" fmla="*/ 49 h 66"/>
                  <a:gd name="T12" fmla="*/ 17 w 62"/>
                  <a:gd name="T13" fmla="*/ 56 h 66"/>
                  <a:gd name="T14" fmla="*/ 4 w 62"/>
                  <a:gd name="T15" fmla="*/ 66 h 66"/>
                  <a:gd name="T16" fmla="*/ 0 w 62"/>
                  <a:gd name="T17" fmla="*/ 63 h 66"/>
                  <a:gd name="T18" fmla="*/ 7 w 62"/>
                  <a:gd name="T19" fmla="*/ 56 h 66"/>
                  <a:gd name="T20" fmla="*/ 10 w 62"/>
                  <a:gd name="T21" fmla="*/ 52 h 66"/>
                  <a:gd name="T22" fmla="*/ 14 w 62"/>
                  <a:gd name="T23" fmla="*/ 52 h 66"/>
                  <a:gd name="T24" fmla="*/ 24 w 62"/>
                  <a:gd name="T25" fmla="*/ 35 h 66"/>
                  <a:gd name="T26" fmla="*/ 28 w 62"/>
                  <a:gd name="T27" fmla="*/ 28 h 66"/>
                  <a:gd name="T28" fmla="*/ 35 w 62"/>
                  <a:gd name="T29" fmla="*/ 21 h 66"/>
                  <a:gd name="T30" fmla="*/ 38 w 62"/>
                  <a:gd name="T31" fmla="*/ 14 h 66"/>
                  <a:gd name="T32" fmla="*/ 45 w 62"/>
                  <a:gd name="T33" fmla="*/ 11 h 66"/>
                  <a:gd name="T34" fmla="*/ 59 w 62"/>
                  <a:gd name="T35" fmla="*/ 0 h 66"/>
                  <a:gd name="T36" fmla="*/ 59 w 62"/>
                  <a:gd name="T37" fmla="*/ 0 h 66"/>
                  <a:gd name="T38" fmla="*/ 62 w 62"/>
                  <a:gd name="T39" fmla="*/ 4 h 66"/>
                  <a:gd name="T40" fmla="*/ 62 w 62"/>
                  <a:gd name="T41" fmla="*/ 4 h 66"/>
                  <a:gd name="T42" fmla="*/ 62 w 62"/>
                  <a:gd name="T43" fmla="*/ 4 h 6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"/>
                  <a:gd name="T67" fmla="*/ 0 h 66"/>
                  <a:gd name="T68" fmla="*/ 62 w 62"/>
                  <a:gd name="T69" fmla="*/ 66 h 6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" h="66">
                    <a:moveTo>
                      <a:pt x="62" y="4"/>
                    </a:moveTo>
                    <a:lnTo>
                      <a:pt x="55" y="7"/>
                    </a:lnTo>
                    <a:lnTo>
                      <a:pt x="48" y="14"/>
                    </a:lnTo>
                    <a:lnTo>
                      <a:pt x="38" y="25"/>
                    </a:lnTo>
                    <a:lnTo>
                      <a:pt x="31" y="42"/>
                    </a:lnTo>
                    <a:lnTo>
                      <a:pt x="24" y="49"/>
                    </a:lnTo>
                    <a:lnTo>
                      <a:pt x="17" y="56"/>
                    </a:lnTo>
                    <a:lnTo>
                      <a:pt x="4" y="66"/>
                    </a:lnTo>
                    <a:lnTo>
                      <a:pt x="0" y="63"/>
                    </a:lnTo>
                    <a:lnTo>
                      <a:pt x="7" y="56"/>
                    </a:lnTo>
                    <a:lnTo>
                      <a:pt x="10" y="52"/>
                    </a:lnTo>
                    <a:lnTo>
                      <a:pt x="14" y="52"/>
                    </a:lnTo>
                    <a:lnTo>
                      <a:pt x="24" y="35"/>
                    </a:lnTo>
                    <a:lnTo>
                      <a:pt x="28" y="28"/>
                    </a:lnTo>
                    <a:lnTo>
                      <a:pt x="35" y="21"/>
                    </a:lnTo>
                    <a:lnTo>
                      <a:pt x="38" y="14"/>
                    </a:lnTo>
                    <a:lnTo>
                      <a:pt x="45" y="11"/>
                    </a:lnTo>
                    <a:lnTo>
                      <a:pt x="59" y="0"/>
                    </a:lnTo>
                    <a:lnTo>
                      <a:pt x="62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5" name="Freeform 192"/>
              <p:cNvSpPr>
                <a:spLocks/>
              </p:cNvSpPr>
              <p:nvPr/>
            </p:nvSpPr>
            <p:spPr bwMode="auto">
              <a:xfrm>
                <a:off x="3419" y="1287"/>
                <a:ext cx="66" cy="70"/>
              </a:xfrm>
              <a:custGeom>
                <a:avLst/>
                <a:gdLst>
                  <a:gd name="T0" fmla="*/ 62 w 66"/>
                  <a:gd name="T1" fmla="*/ 7 h 70"/>
                  <a:gd name="T2" fmla="*/ 52 w 66"/>
                  <a:gd name="T3" fmla="*/ 7 h 70"/>
                  <a:gd name="T4" fmla="*/ 45 w 66"/>
                  <a:gd name="T5" fmla="*/ 14 h 70"/>
                  <a:gd name="T6" fmla="*/ 38 w 66"/>
                  <a:gd name="T7" fmla="*/ 14 h 70"/>
                  <a:gd name="T8" fmla="*/ 31 w 66"/>
                  <a:gd name="T9" fmla="*/ 14 h 70"/>
                  <a:gd name="T10" fmla="*/ 24 w 66"/>
                  <a:gd name="T11" fmla="*/ 14 h 70"/>
                  <a:gd name="T12" fmla="*/ 21 w 66"/>
                  <a:gd name="T13" fmla="*/ 21 h 70"/>
                  <a:gd name="T14" fmla="*/ 17 w 66"/>
                  <a:gd name="T15" fmla="*/ 28 h 70"/>
                  <a:gd name="T16" fmla="*/ 7 w 66"/>
                  <a:gd name="T17" fmla="*/ 35 h 70"/>
                  <a:gd name="T18" fmla="*/ 3 w 66"/>
                  <a:gd name="T19" fmla="*/ 45 h 70"/>
                  <a:gd name="T20" fmla="*/ 3 w 66"/>
                  <a:gd name="T21" fmla="*/ 56 h 70"/>
                  <a:gd name="T22" fmla="*/ 7 w 66"/>
                  <a:gd name="T23" fmla="*/ 63 h 70"/>
                  <a:gd name="T24" fmla="*/ 10 w 66"/>
                  <a:gd name="T25" fmla="*/ 66 h 70"/>
                  <a:gd name="T26" fmla="*/ 10 w 66"/>
                  <a:gd name="T27" fmla="*/ 66 h 70"/>
                  <a:gd name="T28" fmla="*/ 10 w 66"/>
                  <a:gd name="T29" fmla="*/ 70 h 70"/>
                  <a:gd name="T30" fmla="*/ 7 w 66"/>
                  <a:gd name="T31" fmla="*/ 70 h 70"/>
                  <a:gd name="T32" fmla="*/ 0 w 66"/>
                  <a:gd name="T33" fmla="*/ 56 h 70"/>
                  <a:gd name="T34" fmla="*/ 0 w 66"/>
                  <a:gd name="T35" fmla="*/ 32 h 70"/>
                  <a:gd name="T36" fmla="*/ 7 w 66"/>
                  <a:gd name="T37" fmla="*/ 28 h 70"/>
                  <a:gd name="T38" fmla="*/ 14 w 66"/>
                  <a:gd name="T39" fmla="*/ 21 h 70"/>
                  <a:gd name="T40" fmla="*/ 17 w 66"/>
                  <a:gd name="T41" fmla="*/ 14 h 70"/>
                  <a:gd name="T42" fmla="*/ 21 w 66"/>
                  <a:gd name="T43" fmla="*/ 11 h 70"/>
                  <a:gd name="T44" fmla="*/ 24 w 66"/>
                  <a:gd name="T45" fmla="*/ 7 h 70"/>
                  <a:gd name="T46" fmla="*/ 35 w 66"/>
                  <a:gd name="T47" fmla="*/ 4 h 70"/>
                  <a:gd name="T48" fmla="*/ 42 w 66"/>
                  <a:gd name="T49" fmla="*/ 0 h 70"/>
                  <a:gd name="T50" fmla="*/ 48 w 66"/>
                  <a:gd name="T51" fmla="*/ 0 h 70"/>
                  <a:gd name="T52" fmla="*/ 66 w 66"/>
                  <a:gd name="T53" fmla="*/ 4 h 70"/>
                  <a:gd name="T54" fmla="*/ 66 w 66"/>
                  <a:gd name="T55" fmla="*/ 7 h 70"/>
                  <a:gd name="T56" fmla="*/ 62 w 66"/>
                  <a:gd name="T57" fmla="*/ 7 h 70"/>
                  <a:gd name="T58" fmla="*/ 62 w 66"/>
                  <a:gd name="T59" fmla="*/ 7 h 70"/>
                  <a:gd name="T60" fmla="*/ 62 w 66"/>
                  <a:gd name="T61" fmla="*/ 7 h 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66"/>
                  <a:gd name="T94" fmla="*/ 0 h 70"/>
                  <a:gd name="T95" fmla="*/ 66 w 66"/>
                  <a:gd name="T96" fmla="*/ 70 h 7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66" h="70">
                    <a:moveTo>
                      <a:pt x="62" y="7"/>
                    </a:moveTo>
                    <a:lnTo>
                      <a:pt x="52" y="7"/>
                    </a:lnTo>
                    <a:lnTo>
                      <a:pt x="45" y="14"/>
                    </a:lnTo>
                    <a:lnTo>
                      <a:pt x="38" y="14"/>
                    </a:lnTo>
                    <a:lnTo>
                      <a:pt x="31" y="14"/>
                    </a:lnTo>
                    <a:lnTo>
                      <a:pt x="24" y="14"/>
                    </a:lnTo>
                    <a:lnTo>
                      <a:pt x="21" y="21"/>
                    </a:lnTo>
                    <a:lnTo>
                      <a:pt x="17" y="28"/>
                    </a:lnTo>
                    <a:lnTo>
                      <a:pt x="7" y="35"/>
                    </a:lnTo>
                    <a:lnTo>
                      <a:pt x="3" y="45"/>
                    </a:lnTo>
                    <a:lnTo>
                      <a:pt x="3" y="56"/>
                    </a:lnTo>
                    <a:lnTo>
                      <a:pt x="7" y="63"/>
                    </a:lnTo>
                    <a:lnTo>
                      <a:pt x="10" y="66"/>
                    </a:lnTo>
                    <a:lnTo>
                      <a:pt x="10" y="70"/>
                    </a:lnTo>
                    <a:lnTo>
                      <a:pt x="7" y="70"/>
                    </a:lnTo>
                    <a:lnTo>
                      <a:pt x="0" y="56"/>
                    </a:lnTo>
                    <a:lnTo>
                      <a:pt x="0" y="32"/>
                    </a:lnTo>
                    <a:lnTo>
                      <a:pt x="7" y="28"/>
                    </a:lnTo>
                    <a:lnTo>
                      <a:pt x="14" y="21"/>
                    </a:lnTo>
                    <a:lnTo>
                      <a:pt x="17" y="14"/>
                    </a:lnTo>
                    <a:lnTo>
                      <a:pt x="21" y="11"/>
                    </a:lnTo>
                    <a:lnTo>
                      <a:pt x="24" y="7"/>
                    </a:lnTo>
                    <a:lnTo>
                      <a:pt x="35" y="4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66" y="4"/>
                    </a:lnTo>
                    <a:lnTo>
                      <a:pt x="66" y="7"/>
                    </a:lnTo>
                    <a:lnTo>
                      <a:pt x="62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6" name="Freeform 193"/>
              <p:cNvSpPr>
                <a:spLocks/>
              </p:cNvSpPr>
              <p:nvPr/>
            </p:nvSpPr>
            <p:spPr bwMode="auto">
              <a:xfrm>
                <a:off x="3436" y="1315"/>
                <a:ext cx="11" cy="52"/>
              </a:xfrm>
              <a:custGeom>
                <a:avLst/>
                <a:gdLst>
                  <a:gd name="T0" fmla="*/ 11 w 11"/>
                  <a:gd name="T1" fmla="*/ 0 h 52"/>
                  <a:gd name="T2" fmla="*/ 7 w 11"/>
                  <a:gd name="T3" fmla="*/ 31 h 52"/>
                  <a:gd name="T4" fmla="*/ 7 w 11"/>
                  <a:gd name="T5" fmla="*/ 45 h 52"/>
                  <a:gd name="T6" fmla="*/ 7 w 11"/>
                  <a:gd name="T7" fmla="*/ 48 h 52"/>
                  <a:gd name="T8" fmla="*/ 11 w 11"/>
                  <a:gd name="T9" fmla="*/ 52 h 52"/>
                  <a:gd name="T10" fmla="*/ 7 w 11"/>
                  <a:gd name="T11" fmla="*/ 52 h 52"/>
                  <a:gd name="T12" fmla="*/ 0 w 11"/>
                  <a:gd name="T13" fmla="*/ 45 h 52"/>
                  <a:gd name="T14" fmla="*/ 0 w 11"/>
                  <a:gd name="T15" fmla="*/ 31 h 52"/>
                  <a:gd name="T16" fmla="*/ 0 w 11"/>
                  <a:gd name="T17" fmla="*/ 17 h 52"/>
                  <a:gd name="T18" fmla="*/ 7 w 11"/>
                  <a:gd name="T19" fmla="*/ 0 h 52"/>
                  <a:gd name="T20" fmla="*/ 7 w 11"/>
                  <a:gd name="T21" fmla="*/ 0 h 52"/>
                  <a:gd name="T22" fmla="*/ 11 w 11"/>
                  <a:gd name="T23" fmla="*/ 0 h 52"/>
                  <a:gd name="T24" fmla="*/ 11 w 11"/>
                  <a:gd name="T25" fmla="*/ 0 h 52"/>
                  <a:gd name="T26" fmla="*/ 11 w 11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"/>
                  <a:gd name="T43" fmla="*/ 0 h 52"/>
                  <a:gd name="T44" fmla="*/ 11 w 11"/>
                  <a:gd name="T45" fmla="*/ 52 h 5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" h="52">
                    <a:moveTo>
                      <a:pt x="11" y="0"/>
                    </a:moveTo>
                    <a:lnTo>
                      <a:pt x="7" y="31"/>
                    </a:lnTo>
                    <a:lnTo>
                      <a:pt x="7" y="45"/>
                    </a:lnTo>
                    <a:lnTo>
                      <a:pt x="7" y="48"/>
                    </a:lnTo>
                    <a:lnTo>
                      <a:pt x="11" y="52"/>
                    </a:lnTo>
                    <a:lnTo>
                      <a:pt x="7" y="52"/>
                    </a:lnTo>
                    <a:lnTo>
                      <a:pt x="0" y="45"/>
                    </a:lnTo>
                    <a:lnTo>
                      <a:pt x="0" y="31"/>
                    </a:lnTo>
                    <a:lnTo>
                      <a:pt x="0" y="17"/>
                    </a:lnTo>
                    <a:lnTo>
                      <a:pt x="7" y="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7" name="Freeform 194"/>
              <p:cNvSpPr>
                <a:spLocks/>
              </p:cNvSpPr>
              <p:nvPr/>
            </p:nvSpPr>
            <p:spPr bwMode="auto">
              <a:xfrm>
                <a:off x="3474" y="1270"/>
                <a:ext cx="35" cy="52"/>
              </a:xfrm>
              <a:custGeom>
                <a:avLst/>
                <a:gdLst>
                  <a:gd name="T0" fmla="*/ 0 w 35"/>
                  <a:gd name="T1" fmla="*/ 52 h 52"/>
                  <a:gd name="T2" fmla="*/ 7 w 35"/>
                  <a:gd name="T3" fmla="*/ 28 h 52"/>
                  <a:gd name="T4" fmla="*/ 14 w 35"/>
                  <a:gd name="T5" fmla="*/ 17 h 52"/>
                  <a:gd name="T6" fmla="*/ 21 w 35"/>
                  <a:gd name="T7" fmla="*/ 11 h 52"/>
                  <a:gd name="T8" fmla="*/ 31 w 35"/>
                  <a:gd name="T9" fmla="*/ 0 h 52"/>
                  <a:gd name="T10" fmla="*/ 35 w 35"/>
                  <a:gd name="T11" fmla="*/ 0 h 52"/>
                  <a:gd name="T12" fmla="*/ 35 w 35"/>
                  <a:gd name="T13" fmla="*/ 4 h 52"/>
                  <a:gd name="T14" fmla="*/ 28 w 35"/>
                  <a:gd name="T15" fmla="*/ 14 h 52"/>
                  <a:gd name="T16" fmla="*/ 14 w 35"/>
                  <a:gd name="T17" fmla="*/ 31 h 52"/>
                  <a:gd name="T18" fmla="*/ 7 w 35"/>
                  <a:gd name="T19" fmla="*/ 42 h 52"/>
                  <a:gd name="T20" fmla="*/ 4 w 35"/>
                  <a:gd name="T21" fmla="*/ 52 h 52"/>
                  <a:gd name="T22" fmla="*/ 0 w 35"/>
                  <a:gd name="T23" fmla="*/ 52 h 52"/>
                  <a:gd name="T24" fmla="*/ 0 w 35"/>
                  <a:gd name="T25" fmla="*/ 52 h 52"/>
                  <a:gd name="T26" fmla="*/ 0 w 35"/>
                  <a:gd name="T27" fmla="*/ 52 h 52"/>
                  <a:gd name="T28" fmla="*/ 0 w 35"/>
                  <a:gd name="T29" fmla="*/ 52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5"/>
                  <a:gd name="T46" fmla="*/ 0 h 52"/>
                  <a:gd name="T47" fmla="*/ 35 w 35"/>
                  <a:gd name="T48" fmla="*/ 52 h 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5" h="52">
                    <a:moveTo>
                      <a:pt x="0" y="52"/>
                    </a:moveTo>
                    <a:lnTo>
                      <a:pt x="7" y="28"/>
                    </a:lnTo>
                    <a:lnTo>
                      <a:pt x="14" y="17"/>
                    </a:lnTo>
                    <a:lnTo>
                      <a:pt x="21" y="11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5" y="4"/>
                    </a:lnTo>
                    <a:lnTo>
                      <a:pt x="28" y="14"/>
                    </a:lnTo>
                    <a:lnTo>
                      <a:pt x="14" y="31"/>
                    </a:lnTo>
                    <a:lnTo>
                      <a:pt x="7" y="42"/>
                    </a:lnTo>
                    <a:lnTo>
                      <a:pt x="4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8" name="Freeform 195"/>
              <p:cNvSpPr>
                <a:spLocks/>
              </p:cNvSpPr>
              <p:nvPr/>
            </p:nvSpPr>
            <p:spPr bwMode="auto">
              <a:xfrm>
                <a:off x="3485" y="1263"/>
                <a:ext cx="41" cy="66"/>
              </a:xfrm>
              <a:custGeom>
                <a:avLst/>
                <a:gdLst>
                  <a:gd name="T0" fmla="*/ 38 w 41"/>
                  <a:gd name="T1" fmla="*/ 0 h 66"/>
                  <a:gd name="T2" fmla="*/ 41 w 41"/>
                  <a:gd name="T3" fmla="*/ 4 h 66"/>
                  <a:gd name="T4" fmla="*/ 41 w 41"/>
                  <a:gd name="T5" fmla="*/ 7 h 66"/>
                  <a:gd name="T6" fmla="*/ 34 w 41"/>
                  <a:gd name="T7" fmla="*/ 18 h 66"/>
                  <a:gd name="T8" fmla="*/ 34 w 41"/>
                  <a:gd name="T9" fmla="*/ 24 h 66"/>
                  <a:gd name="T10" fmla="*/ 27 w 41"/>
                  <a:gd name="T11" fmla="*/ 31 h 66"/>
                  <a:gd name="T12" fmla="*/ 20 w 41"/>
                  <a:gd name="T13" fmla="*/ 38 h 66"/>
                  <a:gd name="T14" fmla="*/ 14 w 41"/>
                  <a:gd name="T15" fmla="*/ 49 h 66"/>
                  <a:gd name="T16" fmla="*/ 7 w 41"/>
                  <a:gd name="T17" fmla="*/ 59 h 66"/>
                  <a:gd name="T18" fmla="*/ 3 w 41"/>
                  <a:gd name="T19" fmla="*/ 62 h 66"/>
                  <a:gd name="T20" fmla="*/ 0 w 41"/>
                  <a:gd name="T21" fmla="*/ 66 h 66"/>
                  <a:gd name="T22" fmla="*/ 0 w 41"/>
                  <a:gd name="T23" fmla="*/ 59 h 66"/>
                  <a:gd name="T24" fmla="*/ 0 w 41"/>
                  <a:gd name="T25" fmla="*/ 56 h 66"/>
                  <a:gd name="T26" fmla="*/ 10 w 41"/>
                  <a:gd name="T27" fmla="*/ 45 h 66"/>
                  <a:gd name="T28" fmla="*/ 17 w 41"/>
                  <a:gd name="T29" fmla="*/ 38 h 66"/>
                  <a:gd name="T30" fmla="*/ 24 w 41"/>
                  <a:gd name="T31" fmla="*/ 28 h 66"/>
                  <a:gd name="T32" fmla="*/ 31 w 41"/>
                  <a:gd name="T33" fmla="*/ 18 h 66"/>
                  <a:gd name="T34" fmla="*/ 38 w 41"/>
                  <a:gd name="T35" fmla="*/ 0 h 66"/>
                  <a:gd name="T36" fmla="*/ 38 w 41"/>
                  <a:gd name="T37" fmla="*/ 0 h 66"/>
                  <a:gd name="T38" fmla="*/ 38 w 41"/>
                  <a:gd name="T39" fmla="*/ 0 h 66"/>
                  <a:gd name="T40" fmla="*/ 38 w 41"/>
                  <a:gd name="T41" fmla="*/ 0 h 66"/>
                  <a:gd name="T42" fmla="*/ 38 w 41"/>
                  <a:gd name="T43" fmla="*/ 0 h 6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"/>
                  <a:gd name="T67" fmla="*/ 0 h 66"/>
                  <a:gd name="T68" fmla="*/ 41 w 41"/>
                  <a:gd name="T69" fmla="*/ 66 h 6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" h="66">
                    <a:moveTo>
                      <a:pt x="38" y="0"/>
                    </a:moveTo>
                    <a:lnTo>
                      <a:pt x="41" y="4"/>
                    </a:lnTo>
                    <a:lnTo>
                      <a:pt x="41" y="7"/>
                    </a:lnTo>
                    <a:lnTo>
                      <a:pt x="34" y="18"/>
                    </a:lnTo>
                    <a:lnTo>
                      <a:pt x="34" y="24"/>
                    </a:lnTo>
                    <a:lnTo>
                      <a:pt x="27" y="31"/>
                    </a:lnTo>
                    <a:lnTo>
                      <a:pt x="20" y="38"/>
                    </a:lnTo>
                    <a:lnTo>
                      <a:pt x="14" y="49"/>
                    </a:lnTo>
                    <a:lnTo>
                      <a:pt x="7" y="59"/>
                    </a:lnTo>
                    <a:lnTo>
                      <a:pt x="3" y="62"/>
                    </a:lnTo>
                    <a:lnTo>
                      <a:pt x="0" y="66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10" y="45"/>
                    </a:lnTo>
                    <a:lnTo>
                      <a:pt x="17" y="38"/>
                    </a:lnTo>
                    <a:lnTo>
                      <a:pt x="24" y="28"/>
                    </a:lnTo>
                    <a:lnTo>
                      <a:pt x="31" y="18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09" name="Freeform 196"/>
              <p:cNvSpPr>
                <a:spLocks/>
              </p:cNvSpPr>
              <p:nvPr/>
            </p:nvSpPr>
            <p:spPr bwMode="auto">
              <a:xfrm>
                <a:off x="3464" y="1322"/>
                <a:ext cx="38" cy="35"/>
              </a:xfrm>
              <a:custGeom>
                <a:avLst/>
                <a:gdLst>
                  <a:gd name="T0" fmla="*/ 28 w 38"/>
                  <a:gd name="T1" fmla="*/ 3 h 35"/>
                  <a:gd name="T2" fmla="*/ 7 w 38"/>
                  <a:gd name="T3" fmla="*/ 17 h 35"/>
                  <a:gd name="T4" fmla="*/ 10 w 38"/>
                  <a:gd name="T5" fmla="*/ 21 h 35"/>
                  <a:gd name="T6" fmla="*/ 17 w 38"/>
                  <a:gd name="T7" fmla="*/ 24 h 35"/>
                  <a:gd name="T8" fmla="*/ 35 w 38"/>
                  <a:gd name="T9" fmla="*/ 21 h 35"/>
                  <a:gd name="T10" fmla="*/ 38 w 38"/>
                  <a:gd name="T11" fmla="*/ 21 h 35"/>
                  <a:gd name="T12" fmla="*/ 28 w 38"/>
                  <a:gd name="T13" fmla="*/ 28 h 35"/>
                  <a:gd name="T14" fmla="*/ 24 w 38"/>
                  <a:gd name="T15" fmla="*/ 31 h 35"/>
                  <a:gd name="T16" fmla="*/ 17 w 38"/>
                  <a:gd name="T17" fmla="*/ 35 h 35"/>
                  <a:gd name="T18" fmla="*/ 14 w 38"/>
                  <a:gd name="T19" fmla="*/ 35 h 35"/>
                  <a:gd name="T20" fmla="*/ 3 w 38"/>
                  <a:gd name="T21" fmla="*/ 28 h 35"/>
                  <a:gd name="T22" fmla="*/ 0 w 38"/>
                  <a:gd name="T23" fmla="*/ 21 h 35"/>
                  <a:gd name="T24" fmla="*/ 0 w 38"/>
                  <a:gd name="T25" fmla="*/ 14 h 35"/>
                  <a:gd name="T26" fmla="*/ 3 w 38"/>
                  <a:gd name="T27" fmla="*/ 10 h 35"/>
                  <a:gd name="T28" fmla="*/ 3 w 38"/>
                  <a:gd name="T29" fmla="*/ 7 h 35"/>
                  <a:gd name="T30" fmla="*/ 10 w 38"/>
                  <a:gd name="T31" fmla="*/ 3 h 35"/>
                  <a:gd name="T32" fmla="*/ 28 w 38"/>
                  <a:gd name="T33" fmla="*/ 0 h 35"/>
                  <a:gd name="T34" fmla="*/ 28 w 38"/>
                  <a:gd name="T35" fmla="*/ 3 h 35"/>
                  <a:gd name="T36" fmla="*/ 28 w 38"/>
                  <a:gd name="T37" fmla="*/ 3 h 35"/>
                  <a:gd name="T38" fmla="*/ 28 w 38"/>
                  <a:gd name="T39" fmla="*/ 3 h 35"/>
                  <a:gd name="T40" fmla="*/ 28 w 38"/>
                  <a:gd name="T41" fmla="*/ 3 h 3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8"/>
                  <a:gd name="T64" fmla="*/ 0 h 35"/>
                  <a:gd name="T65" fmla="*/ 38 w 38"/>
                  <a:gd name="T66" fmla="*/ 35 h 3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8" h="35">
                    <a:moveTo>
                      <a:pt x="28" y="3"/>
                    </a:moveTo>
                    <a:lnTo>
                      <a:pt x="7" y="17"/>
                    </a:lnTo>
                    <a:lnTo>
                      <a:pt x="10" y="21"/>
                    </a:lnTo>
                    <a:lnTo>
                      <a:pt x="17" y="24"/>
                    </a:lnTo>
                    <a:lnTo>
                      <a:pt x="35" y="21"/>
                    </a:lnTo>
                    <a:lnTo>
                      <a:pt x="38" y="21"/>
                    </a:lnTo>
                    <a:lnTo>
                      <a:pt x="28" y="28"/>
                    </a:lnTo>
                    <a:lnTo>
                      <a:pt x="24" y="31"/>
                    </a:lnTo>
                    <a:lnTo>
                      <a:pt x="17" y="35"/>
                    </a:lnTo>
                    <a:lnTo>
                      <a:pt x="14" y="35"/>
                    </a:lnTo>
                    <a:lnTo>
                      <a:pt x="3" y="28"/>
                    </a:lnTo>
                    <a:lnTo>
                      <a:pt x="0" y="21"/>
                    </a:lnTo>
                    <a:lnTo>
                      <a:pt x="0" y="14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10" y="3"/>
                    </a:lnTo>
                    <a:lnTo>
                      <a:pt x="28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0" name="Freeform 197"/>
              <p:cNvSpPr>
                <a:spLocks/>
              </p:cNvSpPr>
              <p:nvPr/>
            </p:nvSpPr>
            <p:spPr bwMode="auto">
              <a:xfrm>
                <a:off x="3492" y="1319"/>
                <a:ext cx="24" cy="34"/>
              </a:xfrm>
              <a:custGeom>
                <a:avLst/>
                <a:gdLst>
                  <a:gd name="T0" fmla="*/ 24 w 24"/>
                  <a:gd name="T1" fmla="*/ 3 h 34"/>
                  <a:gd name="T2" fmla="*/ 24 w 24"/>
                  <a:gd name="T3" fmla="*/ 27 h 34"/>
                  <a:gd name="T4" fmla="*/ 20 w 24"/>
                  <a:gd name="T5" fmla="*/ 31 h 34"/>
                  <a:gd name="T6" fmla="*/ 13 w 24"/>
                  <a:gd name="T7" fmla="*/ 34 h 34"/>
                  <a:gd name="T8" fmla="*/ 0 w 24"/>
                  <a:gd name="T9" fmla="*/ 34 h 34"/>
                  <a:gd name="T10" fmla="*/ 0 w 24"/>
                  <a:gd name="T11" fmla="*/ 34 h 34"/>
                  <a:gd name="T12" fmla="*/ 0 w 24"/>
                  <a:gd name="T13" fmla="*/ 31 h 34"/>
                  <a:gd name="T14" fmla="*/ 10 w 24"/>
                  <a:gd name="T15" fmla="*/ 31 h 34"/>
                  <a:gd name="T16" fmla="*/ 17 w 24"/>
                  <a:gd name="T17" fmla="*/ 24 h 34"/>
                  <a:gd name="T18" fmla="*/ 20 w 24"/>
                  <a:gd name="T19" fmla="*/ 13 h 34"/>
                  <a:gd name="T20" fmla="*/ 20 w 24"/>
                  <a:gd name="T21" fmla="*/ 3 h 34"/>
                  <a:gd name="T22" fmla="*/ 20 w 24"/>
                  <a:gd name="T23" fmla="*/ 0 h 34"/>
                  <a:gd name="T24" fmla="*/ 24 w 24"/>
                  <a:gd name="T25" fmla="*/ 3 h 34"/>
                  <a:gd name="T26" fmla="*/ 24 w 24"/>
                  <a:gd name="T27" fmla="*/ 3 h 34"/>
                  <a:gd name="T28" fmla="*/ 24 w 24"/>
                  <a:gd name="T29" fmla="*/ 3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34"/>
                  <a:gd name="T47" fmla="*/ 24 w 24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34">
                    <a:moveTo>
                      <a:pt x="24" y="3"/>
                    </a:moveTo>
                    <a:lnTo>
                      <a:pt x="24" y="27"/>
                    </a:lnTo>
                    <a:lnTo>
                      <a:pt x="20" y="31"/>
                    </a:lnTo>
                    <a:lnTo>
                      <a:pt x="13" y="34"/>
                    </a:lnTo>
                    <a:lnTo>
                      <a:pt x="0" y="34"/>
                    </a:lnTo>
                    <a:lnTo>
                      <a:pt x="0" y="31"/>
                    </a:lnTo>
                    <a:lnTo>
                      <a:pt x="10" y="31"/>
                    </a:lnTo>
                    <a:lnTo>
                      <a:pt x="17" y="24"/>
                    </a:lnTo>
                    <a:lnTo>
                      <a:pt x="20" y="13"/>
                    </a:lnTo>
                    <a:lnTo>
                      <a:pt x="20" y="3"/>
                    </a:lnTo>
                    <a:lnTo>
                      <a:pt x="20" y="0"/>
                    </a:lnTo>
                    <a:lnTo>
                      <a:pt x="2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1" name="Freeform 198"/>
              <p:cNvSpPr>
                <a:spLocks/>
              </p:cNvSpPr>
              <p:nvPr/>
            </p:nvSpPr>
            <p:spPr bwMode="auto">
              <a:xfrm>
                <a:off x="3523" y="1322"/>
                <a:ext cx="62" cy="14"/>
              </a:xfrm>
              <a:custGeom>
                <a:avLst/>
                <a:gdLst>
                  <a:gd name="T0" fmla="*/ 0 w 62"/>
                  <a:gd name="T1" fmla="*/ 10 h 14"/>
                  <a:gd name="T2" fmla="*/ 14 w 62"/>
                  <a:gd name="T3" fmla="*/ 3 h 14"/>
                  <a:gd name="T4" fmla="*/ 27 w 62"/>
                  <a:gd name="T5" fmla="*/ 0 h 14"/>
                  <a:gd name="T6" fmla="*/ 58 w 62"/>
                  <a:gd name="T7" fmla="*/ 3 h 14"/>
                  <a:gd name="T8" fmla="*/ 62 w 62"/>
                  <a:gd name="T9" fmla="*/ 3 h 14"/>
                  <a:gd name="T10" fmla="*/ 58 w 62"/>
                  <a:gd name="T11" fmla="*/ 3 h 14"/>
                  <a:gd name="T12" fmla="*/ 45 w 62"/>
                  <a:gd name="T13" fmla="*/ 7 h 14"/>
                  <a:gd name="T14" fmla="*/ 27 w 62"/>
                  <a:gd name="T15" fmla="*/ 10 h 14"/>
                  <a:gd name="T16" fmla="*/ 0 w 62"/>
                  <a:gd name="T17" fmla="*/ 14 h 14"/>
                  <a:gd name="T18" fmla="*/ 0 w 62"/>
                  <a:gd name="T19" fmla="*/ 10 h 14"/>
                  <a:gd name="T20" fmla="*/ 0 w 62"/>
                  <a:gd name="T21" fmla="*/ 10 h 14"/>
                  <a:gd name="T22" fmla="*/ 0 w 62"/>
                  <a:gd name="T23" fmla="*/ 10 h 1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2"/>
                  <a:gd name="T37" fmla="*/ 0 h 14"/>
                  <a:gd name="T38" fmla="*/ 62 w 62"/>
                  <a:gd name="T39" fmla="*/ 14 h 1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2" h="14">
                    <a:moveTo>
                      <a:pt x="0" y="10"/>
                    </a:moveTo>
                    <a:lnTo>
                      <a:pt x="14" y="3"/>
                    </a:lnTo>
                    <a:lnTo>
                      <a:pt x="27" y="0"/>
                    </a:lnTo>
                    <a:lnTo>
                      <a:pt x="58" y="3"/>
                    </a:lnTo>
                    <a:lnTo>
                      <a:pt x="62" y="3"/>
                    </a:lnTo>
                    <a:lnTo>
                      <a:pt x="58" y="3"/>
                    </a:lnTo>
                    <a:lnTo>
                      <a:pt x="45" y="7"/>
                    </a:lnTo>
                    <a:lnTo>
                      <a:pt x="27" y="10"/>
                    </a:lnTo>
                    <a:lnTo>
                      <a:pt x="0" y="14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2" name="Freeform 199"/>
              <p:cNvSpPr>
                <a:spLocks/>
              </p:cNvSpPr>
              <p:nvPr/>
            </p:nvSpPr>
            <p:spPr bwMode="auto">
              <a:xfrm>
                <a:off x="3505" y="1287"/>
                <a:ext cx="28" cy="14"/>
              </a:xfrm>
              <a:custGeom>
                <a:avLst/>
                <a:gdLst>
                  <a:gd name="T0" fmla="*/ 0 w 28"/>
                  <a:gd name="T1" fmla="*/ 11 h 14"/>
                  <a:gd name="T2" fmla="*/ 7 w 28"/>
                  <a:gd name="T3" fmla="*/ 7 h 14"/>
                  <a:gd name="T4" fmla="*/ 14 w 28"/>
                  <a:gd name="T5" fmla="*/ 4 h 14"/>
                  <a:gd name="T6" fmla="*/ 25 w 28"/>
                  <a:gd name="T7" fmla="*/ 0 h 14"/>
                  <a:gd name="T8" fmla="*/ 28 w 28"/>
                  <a:gd name="T9" fmla="*/ 4 h 14"/>
                  <a:gd name="T10" fmla="*/ 25 w 28"/>
                  <a:gd name="T11" fmla="*/ 4 h 14"/>
                  <a:gd name="T12" fmla="*/ 18 w 28"/>
                  <a:gd name="T13" fmla="*/ 11 h 14"/>
                  <a:gd name="T14" fmla="*/ 0 w 28"/>
                  <a:gd name="T15" fmla="*/ 14 h 14"/>
                  <a:gd name="T16" fmla="*/ 0 w 28"/>
                  <a:gd name="T17" fmla="*/ 11 h 14"/>
                  <a:gd name="T18" fmla="*/ 0 w 28"/>
                  <a:gd name="T19" fmla="*/ 11 h 14"/>
                  <a:gd name="T20" fmla="*/ 0 w 28"/>
                  <a:gd name="T21" fmla="*/ 11 h 1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8"/>
                  <a:gd name="T34" fmla="*/ 0 h 14"/>
                  <a:gd name="T35" fmla="*/ 28 w 28"/>
                  <a:gd name="T36" fmla="*/ 14 h 1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8" h="14">
                    <a:moveTo>
                      <a:pt x="0" y="11"/>
                    </a:moveTo>
                    <a:lnTo>
                      <a:pt x="7" y="7"/>
                    </a:lnTo>
                    <a:lnTo>
                      <a:pt x="14" y="4"/>
                    </a:lnTo>
                    <a:lnTo>
                      <a:pt x="25" y="0"/>
                    </a:lnTo>
                    <a:lnTo>
                      <a:pt x="28" y="4"/>
                    </a:lnTo>
                    <a:lnTo>
                      <a:pt x="25" y="4"/>
                    </a:lnTo>
                    <a:lnTo>
                      <a:pt x="18" y="11"/>
                    </a:lnTo>
                    <a:lnTo>
                      <a:pt x="0" y="14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3" name="Freeform 200"/>
              <p:cNvSpPr>
                <a:spLocks/>
              </p:cNvSpPr>
              <p:nvPr/>
            </p:nvSpPr>
            <p:spPr bwMode="auto">
              <a:xfrm>
                <a:off x="3526" y="1291"/>
                <a:ext cx="31" cy="17"/>
              </a:xfrm>
              <a:custGeom>
                <a:avLst/>
                <a:gdLst>
                  <a:gd name="T0" fmla="*/ 4 w 31"/>
                  <a:gd name="T1" fmla="*/ 0 h 17"/>
                  <a:gd name="T2" fmla="*/ 17 w 31"/>
                  <a:gd name="T3" fmla="*/ 0 h 17"/>
                  <a:gd name="T4" fmla="*/ 28 w 31"/>
                  <a:gd name="T5" fmla="*/ 3 h 17"/>
                  <a:gd name="T6" fmla="*/ 31 w 31"/>
                  <a:gd name="T7" fmla="*/ 17 h 17"/>
                  <a:gd name="T8" fmla="*/ 31 w 31"/>
                  <a:gd name="T9" fmla="*/ 17 h 17"/>
                  <a:gd name="T10" fmla="*/ 28 w 31"/>
                  <a:gd name="T11" fmla="*/ 17 h 17"/>
                  <a:gd name="T12" fmla="*/ 24 w 31"/>
                  <a:gd name="T13" fmla="*/ 10 h 17"/>
                  <a:gd name="T14" fmla="*/ 14 w 31"/>
                  <a:gd name="T15" fmla="*/ 3 h 17"/>
                  <a:gd name="T16" fmla="*/ 4 w 31"/>
                  <a:gd name="T17" fmla="*/ 3 h 17"/>
                  <a:gd name="T18" fmla="*/ 0 w 31"/>
                  <a:gd name="T19" fmla="*/ 0 h 17"/>
                  <a:gd name="T20" fmla="*/ 4 w 31"/>
                  <a:gd name="T21" fmla="*/ 0 h 17"/>
                  <a:gd name="T22" fmla="*/ 4 w 31"/>
                  <a:gd name="T23" fmla="*/ 0 h 17"/>
                  <a:gd name="T24" fmla="*/ 4 w 31"/>
                  <a:gd name="T25" fmla="*/ 0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17"/>
                  <a:gd name="T41" fmla="*/ 31 w 31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17">
                    <a:moveTo>
                      <a:pt x="4" y="0"/>
                    </a:moveTo>
                    <a:lnTo>
                      <a:pt x="17" y="0"/>
                    </a:lnTo>
                    <a:lnTo>
                      <a:pt x="28" y="3"/>
                    </a:lnTo>
                    <a:lnTo>
                      <a:pt x="31" y="17"/>
                    </a:lnTo>
                    <a:lnTo>
                      <a:pt x="28" y="17"/>
                    </a:lnTo>
                    <a:lnTo>
                      <a:pt x="24" y="10"/>
                    </a:lnTo>
                    <a:lnTo>
                      <a:pt x="14" y="3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4" name="Freeform 201"/>
              <p:cNvSpPr>
                <a:spLocks/>
              </p:cNvSpPr>
              <p:nvPr/>
            </p:nvSpPr>
            <p:spPr bwMode="auto">
              <a:xfrm>
                <a:off x="3523" y="1260"/>
                <a:ext cx="86" cy="65"/>
              </a:xfrm>
              <a:custGeom>
                <a:avLst/>
                <a:gdLst>
                  <a:gd name="T0" fmla="*/ 0 w 86"/>
                  <a:gd name="T1" fmla="*/ 10 h 65"/>
                  <a:gd name="T2" fmla="*/ 10 w 86"/>
                  <a:gd name="T3" fmla="*/ 3 h 65"/>
                  <a:gd name="T4" fmla="*/ 14 w 86"/>
                  <a:gd name="T5" fmla="*/ 0 h 65"/>
                  <a:gd name="T6" fmla="*/ 20 w 86"/>
                  <a:gd name="T7" fmla="*/ 0 h 65"/>
                  <a:gd name="T8" fmla="*/ 45 w 86"/>
                  <a:gd name="T9" fmla="*/ 0 h 65"/>
                  <a:gd name="T10" fmla="*/ 58 w 86"/>
                  <a:gd name="T11" fmla="*/ 7 h 65"/>
                  <a:gd name="T12" fmla="*/ 72 w 86"/>
                  <a:gd name="T13" fmla="*/ 21 h 65"/>
                  <a:gd name="T14" fmla="*/ 79 w 86"/>
                  <a:gd name="T15" fmla="*/ 31 h 65"/>
                  <a:gd name="T16" fmla="*/ 83 w 86"/>
                  <a:gd name="T17" fmla="*/ 41 h 65"/>
                  <a:gd name="T18" fmla="*/ 86 w 86"/>
                  <a:gd name="T19" fmla="*/ 65 h 65"/>
                  <a:gd name="T20" fmla="*/ 83 w 86"/>
                  <a:gd name="T21" fmla="*/ 65 h 65"/>
                  <a:gd name="T22" fmla="*/ 79 w 86"/>
                  <a:gd name="T23" fmla="*/ 65 h 65"/>
                  <a:gd name="T24" fmla="*/ 76 w 86"/>
                  <a:gd name="T25" fmla="*/ 45 h 65"/>
                  <a:gd name="T26" fmla="*/ 72 w 86"/>
                  <a:gd name="T27" fmla="*/ 34 h 65"/>
                  <a:gd name="T28" fmla="*/ 69 w 86"/>
                  <a:gd name="T29" fmla="*/ 31 h 65"/>
                  <a:gd name="T30" fmla="*/ 65 w 86"/>
                  <a:gd name="T31" fmla="*/ 27 h 65"/>
                  <a:gd name="T32" fmla="*/ 58 w 86"/>
                  <a:gd name="T33" fmla="*/ 17 h 65"/>
                  <a:gd name="T34" fmla="*/ 52 w 86"/>
                  <a:gd name="T35" fmla="*/ 14 h 65"/>
                  <a:gd name="T36" fmla="*/ 45 w 86"/>
                  <a:gd name="T37" fmla="*/ 10 h 65"/>
                  <a:gd name="T38" fmla="*/ 34 w 86"/>
                  <a:gd name="T39" fmla="*/ 7 h 65"/>
                  <a:gd name="T40" fmla="*/ 27 w 86"/>
                  <a:gd name="T41" fmla="*/ 3 h 65"/>
                  <a:gd name="T42" fmla="*/ 20 w 86"/>
                  <a:gd name="T43" fmla="*/ 3 h 65"/>
                  <a:gd name="T44" fmla="*/ 10 w 86"/>
                  <a:gd name="T45" fmla="*/ 10 h 65"/>
                  <a:gd name="T46" fmla="*/ 0 w 86"/>
                  <a:gd name="T47" fmla="*/ 17 h 65"/>
                  <a:gd name="T48" fmla="*/ 0 w 86"/>
                  <a:gd name="T49" fmla="*/ 14 h 65"/>
                  <a:gd name="T50" fmla="*/ 0 w 86"/>
                  <a:gd name="T51" fmla="*/ 10 h 65"/>
                  <a:gd name="T52" fmla="*/ 0 w 86"/>
                  <a:gd name="T53" fmla="*/ 10 h 65"/>
                  <a:gd name="T54" fmla="*/ 0 w 86"/>
                  <a:gd name="T55" fmla="*/ 10 h 6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86"/>
                  <a:gd name="T85" fmla="*/ 0 h 65"/>
                  <a:gd name="T86" fmla="*/ 86 w 86"/>
                  <a:gd name="T87" fmla="*/ 65 h 6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86" h="65">
                    <a:moveTo>
                      <a:pt x="0" y="10"/>
                    </a:moveTo>
                    <a:lnTo>
                      <a:pt x="10" y="3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45" y="0"/>
                    </a:lnTo>
                    <a:lnTo>
                      <a:pt x="58" y="7"/>
                    </a:lnTo>
                    <a:lnTo>
                      <a:pt x="72" y="21"/>
                    </a:lnTo>
                    <a:lnTo>
                      <a:pt x="79" y="31"/>
                    </a:lnTo>
                    <a:lnTo>
                      <a:pt x="83" y="41"/>
                    </a:lnTo>
                    <a:lnTo>
                      <a:pt x="86" y="65"/>
                    </a:lnTo>
                    <a:lnTo>
                      <a:pt x="83" y="65"/>
                    </a:lnTo>
                    <a:lnTo>
                      <a:pt x="79" y="65"/>
                    </a:lnTo>
                    <a:lnTo>
                      <a:pt x="76" y="45"/>
                    </a:lnTo>
                    <a:lnTo>
                      <a:pt x="72" y="34"/>
                    </a:lnTo>
                    <a:lnTo>
                      <a:pt x="69" y="31"/>
                    </a:lnTo>
                    <a:lnTo>
                      <a:pt x="65" y="27"/>
                    </a:lnTo>
                    <a:lnTo>
                      <a:pt x="58" y="17"/>
                    </a:lnTo>
                    <a:lnTo>
                      <a:pt x="52" y="14"/>
                    </a:lnTo>
                    <a:lnTo>
                      <a:pt x="45" y="10"/>
                    </a:lnTo>
                    <a:lnTo>
                      <a:pt x="34" y="7"/>
                    </a:lnTo>
                    <a:lnTo>
                      <a:pt x="27" y="3"/>
                    </a:lnTo>
                    <a:lnTo>
                      <a:pt x="20" y="3"/>
                    </a:lnTo>
                    <a:lnTo>
                      <a:pt x="10" y="10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5" name="Freeform 202"/>
              <p:cNvSpPr>
                <a:spLocks/>
              </p:cNvSpPr>
              <p:nvPr/>
            </p:nvSpPr>
            <p:spPr bwMode="auto">
              <a:xfrm>
                <a:off x="3620" y="1198"/>
                <a:ext cx="38" cy="103"/>
              </a:xfrm>
              <a:custGeom>
                <a:avLst/>
                <a:gdLst>
                  <a:gd name="T0" fmla="*/ 38 w 38"/>
                  <a:gd name="T1" fmla="*/ 0 h 103"/>
                  <a:gd name="T2" fmla="*/ 31 w 38"/>
                  <a:gd name="T3" fmla="*/ 7 h 103"/>
                  <a:gd name="T4" fmla="*/ 24 w 38"/>
                  <a:gd name="T5" fmla="*/ 13 h 103"/>
                  <a:gd name="T6" fmla="*/ 17 w 38"/>
                  <a:gd name="T7" fmla="*/ 27 h 103"/>
                  <a:gd name="T8" fmla="*/ 13 w 38"/>
                  <a:gd name="T9" fmla="*/ 45 h 103"/>
                  <a:gd name="T10" fmla="*/ 13 w 38"/>
                  <a:gd name="T11" fmla="*/ 65 h 103"/>
                  <a:gd name="T12" fmla="*/ 13 w 38"/>
                  <a:gd name="T13" fmla="*/ 83 h 103"/>
                  <a:gd name="T14" fmla="*/ 10 w 38"/>
                  <a:gd name="T15" fmla="*/ 103 h 103"/>
                  <a:gd name="T16" fmla="*/ 6 w 38"/>
                  <a:gd name="T17" fmla="*/ 103 h 103"/>
                  <a:gd name="T18" fmla="*/ 6 w 38"/>
                  <a:gd name="T19" fmla="*/ 100 h 103"/>
                  <a:gd name="T20" fmla="*/ 6 w 38"/>
                  <a:gd name="T21" fmla="*/ 83 h 103"/>
                  <a:gd name="T22" fmla="*/ 3 w 38"/>
                  <a:gd name="T23" fmla="*/ 65 h 103"/>
                  <a:gd name="T24" fmla="*/ 0 w 38"/>
                  <a:gd name="T25" fmla="*/ 45 h 103"/>
                  <a:gd name="T26" fmla="*/ 3 w 38"/>
                  <a:gd name="T27" fmla="*/ 34 h 103"/>
                  <a:gd name="T28" fmla="*/ 6 w 38"/>
                  <a:gd name="T29" fmla="*/ 27 h 103"/>
                  <a:gd name="T30" fmla="*/ 13 w 38"/>
                  <a:gd name="T31" fmla="*/ 20 h 103"/>
                  <a:gd name="T32" fmla="*/ 17 w 38"/>
                  <a:gd name="T33" fmla="*/ 10 h 103"/>
                  <a:gd name="T34" fmla="*/ 24 w 38"/>
                  <a:gd name="T35" fmla="*/ 7 h 103"/>
                  <a:gd name="T36" fmla="*/ 27 w 38"/>
                  <a:gd name="T37" fmla="*/ 3 h 103"/>
                  <a:gd name="T38" fmla="*/ 31 w 38"/>
                  <a:gd name="T39" fmla="*/ 0 h 103"/>
                  <a:gd name="T40" fmla="*/ 38 w 38"/>
                  <a:gd name="T41" fmla="*/ 0 h 103"/>
                  <a:gd name="T42" fmla="*/ 38 w 38"/>
                  <a:gd name="T43" fmla="*/ 0 h 103"/>
                  <a:gd name="T44" fmla="*/ 38 w 38"/>
                  <a:gd name="T45" fmla="*/ 0 h 103"/>
                  <a:gd name="T46" fmla="*/ 38 w 38"/>
                  <a:gd name="T47" fmla="*/ 0 h 103"/>
                  <a:gd name="T48" fmla="*/ 38 w 38"/>
                  <a:gd name="T49" fmla="*/ 0 h 10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8"/>
                  <a:gd name="T76" fmla="*/ 0 h 103"/>
                  <a:gd name="T77" fmla="*/ 38 w 38"/>
                  <a:gd name="T78" fmla="*/ 103 h 10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8" h="103">
                    <a:moveTo>
                      <a:pt x="38" y="0"/>
                    </a:moveTo>
                    <a:lnTo>
                      <a:pt x="31" y="7"/>
                    </a:lnTo>
                    <a:lnTo>
                      <a:pt x="24" y="13"/>
                    </a:lnTo>
                    <a:lnTo>
                      <a:pt x="17" y="27"/>
                    </a:lnTo>
                    <a:lnTo>
                      <a:pt x="13" y="45"/>
                    </a:lnTo>
                    <a:lnTo>
                      <a:pt x="13" y="65"/>
                    </a:lnTo>
                    <a:lnTo>
                      <a:pt x="13" y="83"/>
                    </a:lnTo>
                    <a:lnTo>
                      <a:pt x="10" y="103"/>
                    </a:lnTo>
                    <a:lnTo>
                      <a:pt x="6" y="103"/>
                    </a:lnTo>
                    <a:lnTo>
                      <a:pt x="6" y="100"/>
                    </a:lnTo>
                    <a:lnTo>
                      <a:pt x="6" y="83"/>
                    </a:lnTo>
                    <a:lnTo>
                      <a:pt x="3" y="65"/>
                    </a:lnTo>
                    <a:lnTo>
                      <a:pt x="0" y="45"/>
                    </a:lnTo>
                    <a:lnTo>
                      <a:pt x="3" y="34"/>
                    </a:lnTo>
                    <a:lnTo>
                      <a:pt x="6" y="27"/>
                    </a:lnTo>
                    <a:lnTo>
                      <a:pt x="13" y="20"/>
                    </a:lnTo>
                    <a:lnTo>
                      <a:pt x="17" y="10"/>
                    </a:lnTo>
                    <a:lnTo>
                      <a:pt x="24" y="7"/>
                    </a:lnTo>
                    <a:lnTo>
                      <a:pt x="27" y="3"/>
                    </a:lnTo>
                    <a:lnTo>
                      <a:pt x="31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6" name="Freeform 203"/>
              <p:cNvSpPr>
                <a:spLocks/>
              </p:cNvSpPr>
              <p:nvPr/>
            </p:nvSpPr>
            <p:spPr bwMode="auto">
              <a:xfrm>
                <a:off x="3561" y="1156"/>
                <a:ext cx="128" cy="104"/>
              </a:xfrm>
              <a:custGeom>
                <a:avLst/>
                <a:gdLst>
                  <a:gd name="T0" fmla="*/ 0 w 128"/>
                  <a:gd name="T1" fmla="*/ 104 h 104"/>
                  <a:gd name="T2" fmla="*/ 17 w 128"/>
                  <a:gd name="T3" fmla="*/ 93 h 104"/>
                  <a:gd name="T4" fmla="*/ 31 w 128"/>
                  <a:gd name="T5" fmla="*/ 80 h 104"/>
                  <a:gd name="T6" fmla="*/ 38 w 128"/>
                  <a:gd name="T7" fmla="*/ 69 h 104"/>
                  <a:gd name="T8" fmla="*/ 48 w 128"/>
                  <a:gd name="T9" fmla="*/ 55 h 104"/>
                  <a:gd name="T10" fmla="*/ 59 w 128"/>
                  <a:gd name="T11" fmla="*/ 42 h 104"/>
                  <a:gd name="T12" fmla="*/ 62 w 128"/>
                  <a:gd name="T13" fmla="*/ 38 h 104"/>
                  <a:gd name="T14" fmla="*/ 69 w 128"/>
                  <a:gd name="T15" fmla="*/ 35 h 104"/>
                  <a:gd name="T16" fmla="*/ 72 w 128"/>
                  <a:gd name="T17" fmla="*/ 31 h 104"/>
                  <a:gd name="T18" fmla="*/ 79 w 128"/>
                  <a:gd name="T19" fmla="*/ 28 h 104"/>
                  <a:gd name="T20" fmla="*/ 83 w 128"/>
                  <a:gd name="T21" fmla="*/ 24 h 104"/>
                  <a:gd name="T22" fmla="*/ 90 w 128"/>
                  <a:gd name="T23" fmla="*/ 17 h 104"/>
                  <a:gd name="T24" fmla="*/ 97 w 128"/>
                  <a:gd name="T25" fmla="*/ 14 h 104"/>
                  <a:gd name="T26" fmla="*/ 100 w 128"/>
                  <a:gd name="T27" fmla="*/ 10 h 104"/>
                  <a:gd name="T28" fmla="*/ 107 w 128"/>
                  <a:gd name="T29" fmla="*/ 7 h 104"/>
                  <a:gd name="T30" fmla="*/ 124 w 128"/>
                  <a:gd name="T31" fmla="*/ 0 h 104"/>
                  <a:gd name="T32" fmla="*/ 128 w 128"/>
                  <a:gd name="T33" fmla="*/ 4 h 104"/>
                  <a:gd name="T34" fmla="*/ 124 w 128"/>
                  <a:gd name="T35" fmla="*/ 4 h 104"/>
                  <a:gd name="T36" fmla="*/ 117 w 128"/>
                  <a:gd name="T37" fmla="*/ 7 h 104"/>
                  <a:gd name="T38" fmla="*/ 110 w 128"/>
                  <a:gd name="T39" fmla="*/ 14 h 104"/>
                  <a:gd name="T40" fmla="*/ 107 w 128"/>
                  <a:gd name="T41" fmla="*/ 17 h 104"/>
                  <a:gd name="T42" fmla="*/ 100 w 128"/>
                  <a:gd name="T43" fmla="*/ 21 h 104"/>
                  <a:gd name="T44" fmla="*/ 97 w 128"/>
                  <a:gd name="T45" fmla="*/ 24 h 104"/>
                  <a:gd name="T46" fmla="*/ 90 w 128"/>
                  <a:gd name="T47" fmla="*/ 28 h 104"/>
                  <a:gd name="T48" fmla="*/ 86 w 128"/>
                  <a:gd name="T49" fmla="*/ 31 h 104"/>
                  <a:gd name="T50" fmla="*/ 79 w 128"/>
                  <a:gd name="T51" fmla="*/ 35 h 104"/>
                  <a:gd name="T52" fmla="*/ 76 w 128"/>
                  <a:gd name="T53" fmla="*/ 42 h 104"/>
                  <a:gd name="T54" fmla="*/ 69 w 128"/>
                  <a:gd name="T55" fmla="*/ 45 h 104"/>
                  <a:gd name="T56" fmla="*/ 65 w 128"/>
                  <a:gd name="T57" fmla="*/ 49 h 104"/>
                  <a:gd name="T58" fmla="*/ 55 w 128"/>
                  <a:gd name="T59" fmla="*/ 59 h 104"/>
                  <a:gd name="T60" fmla="*/ 41 w 128"/>
                  <a:gd name="T61" fmla="*/ 73 h 104"/>
                  <a:gd name="T62" fmla="*/ 38 w 128"/>
                  <a:gd name="T63" fmla="*/ 83 h 104"/>
                  <a:gd name="T64" fmla="*/ 31 w 128"/>
                  <a:gd name="T65" fmla="*/ 90 h 104"/>
                  <a:gd name="T66" fmla="*/ 27 w 128"/>
                  <a:gd name="T67" fmla="*/ 93 h 104"/>
                  <a:gd name="T68" fmla="*/ 20 w 128"/>
                  <a:gd name="T69" fmla="*/ 97 h 104"/>
                  <a:gd name="T70" fmla="*/ 14 w 128"/>
                  <a:gd name="T71" fmla="*/ 100 h 104"/>
                  <a:gd name="T72" fmla="*/ 3 w 128"/>
                  <a:gd name="T73" fmla="*/ 104 h 104"/>
                  <a:gd name="T74" fmla="*/ 0 w 128"/>
                  <a:gd name="T75" fmla="*/ 104 h 104"/>
                  <a:gd name="T76" fmla="*/ 0 w 128"/>
                  <a:gd name="T77" fmla="*/ 104 h 104"/>
                  <a:gd name="T78" fmla="*/ 0 w 128"/>
                  <a:gd name="T79" fmla="*/ 104 h 104"/>
                  <a:gd name="T80" fmla="*/ 0 w 128"/>
                  <a:gd name="T81" fmla="*/ 104 h 10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04"/>
                  <a:gd name="T125" fmla="*/ 128 w 128"/>
                  <a:gd name="T126" fmla="*/ 104 h 10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04">
                    <a:moveTo>
                      <a:pt x="0" y="104"/>
                    </a:moveTo>
                    <a:lnTo>
                      <a:pt x="17" y="93"/>
                    </a:lnTo>
                    <a:lnTo>
                      <a:pt x="31" y="80"/>
                    </a:lnTo>
                    <a:lnTo>
                      <a:pt x="38" y="69"/>
                    </a:lnTo>
                    <a:lnTo>
                      <a:pt x="48" y="55"/>
                    </a:lnTo>
                    <a:lnTo>
                      <a:pt x="59" y="42"/>
                    </a:lnTo>
                    <a:lnTo>
                      <a:pt x="62" y="38"/>
                    </a:lnTo>
                    <a:lnTo>
                      <a:pt x="69" y="35"/>
                    </a:lnTo>
                    <a:lnTo>
                      <a:pt x="72" y="31"/>
                    </a:lnTo>
                    <a:lnTo>
                      <a:pt x="79" y="28"/>
                    </a:lnTo>
                    <a:lnTo>
                      <a:pt x="83" y="24"/>
                    </a:lnTo>
                    <a:lnTo>
                      <a:pt x="90" y="17"/>
                    </a:lnTo>
                    <a:lnTo>
                      <a:pt x="97" y="14"/>
                    </a:lnTo>
                    <a:lnTo>
                      <a:pt x="100" y="10"/>
                    </a:lnTo>
                    <a:lnTo>
                      <a:pt x="107" y="7"/>
                    </a:lnTo>
                    <a:lnTo>
                      <a:pt x="124" y="0"/>
                    </a:lnTo>
                    <a:lnTo>
                      <a:pt x="128" y="4"/>
                    </a:lnTo>
                    <a:lnTo>
                      <a:pt x="124" y="4"/>
                    </a:lnTo>
                    <a:lnTo>
                      <a:pt x="117" y="7"/>
                    </a:lnTo>
                    <a:lnTo>
                      <a:pt x="110" y="14"/>
                    </a:lnTo>
                    <a:lnTo>
                      <a:pt x="107" y="17"/>
                    </a:lnTo>
                    <a:lnTo>
                      <a:pt x="100" y="21"/>
                    </a:lnTo>
                    <a:lnTo>
                      <a:pt x="97" y="24"/>
                    </a:lnTo>
                    <a:lnTo>
                      <a:pt x="90" y="28"/>
                    </a:lnTo>
                    <a:lnTo>
                      <a:pt x="86" y="31"/>
                    </a:lnTo>
                    <a:lnTo>
                      <a:pt x="79" y="35"/>
                    </a:lnTo>
                    <a:lnTo>
                      <a:pt x="76" y="42"/>
                    </a:lnTo>
                    <a:lnTo>
                      <a:pt x="69" y="45"/>
                    </a:lnTo>
                    <a:lnTo>
                      <a:pt x="65" y="49"/>
                    </a:lnTo>
                    <a:lnTo>
                      <a:pt x="55" y="59"/>
                    </a:lnTo>
                    <a:lnTo>
                      <a:pt x="41" y="73"/>
                    </a:lnTo>
                    <a:lnTo>
                      <a:pt x="38" y="83"/>
                    </a:lnTo>
                    <a:lnTo>
                      <a:pt x="31" y="90"/>
                    </a:lnTo>
                    <a:lnTo>
                      <a:pt x="27" y="93"/>
                    </a:lnTo>
                    <a:lnTo>
                      <a:pt x="20" y="97"/>
                    </a:lnTo>
                    <a:lnTo>
                      <a:pt x="14" y="100"/>
                    </a:lnTo>
                    <a:lnTo>
                      <a:pt x="3" y="104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7" name="Freeform 204"/>
              <p:cNvSpPr>
                <a:spLocks/>
              </p:cNvSpPr>
              <p:nvPr/>
            </p:nvSpPr>
            <p:spPr bwMode="auto">
              <a:xfrm>
                <a:off x="3671" y="1215"/>
                <a:ext cx="18" cy="90"/>
              </a:xfrm>
              <a:custGeom>
                <a:avLst/>
                <a:gdLst>
                  <a:gd name="T0" fmla="*/ 11 w 18"/>
                  <a:gd name="T1" fmla="*/ 0 h 90"/>
                  <a:gd name="T2" fmla="*/ 7 w 18"/>
                  <a:gd name="T3" fmla="*/ 14 h 90"/>
                  <a:gd name="T4" fmla="*/ 7 w 18"/>
                  <a:gd name="T5" fmla="*/ 24 h 90"/>
                  <a:gd name="T6" fmla="*/ 11 w 18"/>
                  <a:gd name="T7" fmla="*/ 38 h 90"/>
                  <a:gd name="T8" fmla="*/ 14 w 18"/>
                  <a:gd name="T9" fmla="*/ 52 h 90"/>
                  <a:gd name="T10" fmla="*/ 18 w 18"/>
                  <a:gd name="T11" fmla="*/ 69 h 90"/>
                  <a:gd name="T12" fmla="*/ 14 w 18"/>
                  <a:gd name="T13" fmla="*/ 90 h 90"/>
                  <a:gd name="T14" fmla="*/ 11 w 18"/>
                  <a:gd name="T15" fmla="*/ 90 h 90"/>
                  <a:gd name="T16" fmla="*/ 11 w 18"/>
                  <a:gd name="T17" fmla="*/ 72 h 90"/>
                  <a:gd name="T18" fmla="*/ 7 w 18"/>
                  <a:gd name="T19" fmla="*/ 52 h 90"/>
                  <a:gd name="T20" fmla="*/ 0 w 18"/>
                  <a:gd name="T21" fmla="*/ 24 h 90"/>
                  <a:gd name="T22" fmla="*/ 4 w 18"/>
                  <a:gd name="T23" fmla="*/ 14 h 90"/>
                  <a:gd name="T24" fmla="*/ 4 w 18"/>
                  <a:gd name="T25" fmla="*/ 7 h 90"/>
                  <a:gd name="T26" fmla="*/ 7 w 18"/>
                  <a:gd name="T27" fmla="*/ 0 h 90"/>
                  <a:gd name="T28" fmla="*/ 11 w 18"/>
                  <a:gd name="T29" fmla="*/ 0 h 90"/>
                  <a:gd name="T30" fmla="*/ 11 w 18"/>
                  <a:gd name="T31" fmla="*/ 0 h 90"/>
                  <a:gd name="T32" fmla="*/ 11 w 18"/>
                  <a:gd name="T33" fmla="*/ 0 h 90"/>
                  <a:gd name="T34" fmla="*/ 11 w 18"/>
                  <a:gd name="T35" fmla="*/ 0 h 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"/>
                  <a:gd name="T55" fmla="*/ 0 h 90"/>
                  <a:gd name="T56" fmla="*/ 18 w 18"/>
                  <a:gd name="T57" fmla="*/ 90 h 9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" h="90">
                    <a:moveTo>
                      <a:pt x="11" y="0"/>
                    </a:moveTo>
                    <a:lnTo>
                      <a:pt x="7" y="14"/>
                    </a:lnTo>
                    <a:lnTo>
                      <a:pt x="7" y="24"/>
                    </a:lnTo>
                    <a:lnTo>
                      <a:pt x="11" y="38"/>
                    </a:lnTo>
                    <a:lnTo>
                      <a:pt x="14" y="52"/>
                    </a:lnTo>
                    <a:lnTo>
                      <a:pt x="18" y="69"/>
                    </a:lnTo>
                    <a:lnTo>
                      <a:pt x="14" y="90"/>
                    </a:lnTo>
                    <a:lnTo>
                      <a:pt x="11" y="90"/>
                    </a:lnTo>
                    <a:lnTo>
                      <a:pt x="11" y="72"/>
                    </a:lnTo>
                    <a:lnTo>
                      <a:pt x="7" y="52"/>
                    </a:lnTo>
                    <a:lnTo>
                      <a:pt x="0" y="24"/>
                    </a:lnTo>
                    <a:lnTo>
                      <a:pt x="4" y="14"/>
                    </a:lnTo>
                    <a:lnTo>
                      <a:pt x="4" y="7"/>
                    </a:lnTo>
                    <a:lnTo>
                      <a:pt x="7" y="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8" name="Freeform 205"/>
              <p:cNvSpPr>
                <a:spLocks/>
              </p:cNvSpPr>
              <p:nvPr/>
            </p:nvSpPr>
            <p:spPr bwMode="auto">
              <a:xfrm>
                <a:off x="3637" y="1277"/>
                <a:ext cx="48" cy="42"/>
              </a:xfrm>
              <a:custGeom>
                <a:avLst/>
                <a:gdLst>
                  <a:gd name="T0" fmla="*/ 48 w 48"/>
                  <a:gd name="T1" fmla="*/ 4 h 42"/>
                  <a:gd name="T2" fmla="*/ 34 w 48"/>
                  <a:gd name="T3" fmla="*/ 10 h 42"/>
                  <a:gd name="T4" fmla="*/ 31 w 48"/>
                  <a:gd name="T5" fmla="*/ 14 h 42"/>
                  <a:gd name="T6" fmla="*/ 27 w 48"/>
                  <a:gd name="T7" fmla="*/ 17 h 42"/>
                  <a:gd name="T8" fmla="*/ 14 w 48"/>
                  <a:gd name="T9" fmla="*/ 31 h 42"/>
                  <a:gd name="T10" fmla="*/ 7 w 48"/>
                  <a:gd name="T11" fmla="*/ 35 h 42"/>
                  <a:gd name="T12" fmla="*/ 0 w 48"/>
                  <a:gd name="T13" fmla="*/ 42 h 42"/>
                  <a:gd name="T14" fmla="*/ 0 w 48"/>
                  <a:gd name="T15" fmla="*/ 42 h 42"/>
                  <a:gd name="T16" fmla="*/ 0 w 48"/>
                  <a:gd name="T17" fmla="*/ 42 h 42"/>
                  <a:gd name="T18" fmla="*/ 0 w 48"/>
                  <a:gd name="T19" fmla="*/ 42 h 42"/>
                  <a:gd name="T20" fmla="*/ 10 w 48"/>
                  <a:gd name="T21" fmla="*/ 28 h 42"/>
                  <a:gd name="T22" fmla="*/ 17 w 48"/>
                  <a:gd name="T23" fmla="*/ 21 h 42"/>
                  <a:gd name="T24" fmla="*/ 21 w 48"/>
                  <a:gd name="T25" fmla="*/ 14 h 42"/>
                  <a:gd name="T26" fmla="*/ 34 w 48"/>
                  <a:gd name="T27" fmla="*/ 7 h 42"/>
                  <a:gd name="T28" fmla="*/ 45 w 48"/>
                  <a:gd name="T29" fmla="*/ 0 h 42"/>
                  <a:gd name="T30" fmla="*/ 48 w 48"/>
                  <a:gd name="T31" fmla="*/ 4 h 42"/>
                  <a:gd name="T32" fmla="*/ 48 w 48"/>
                  <a:gd name="T33" fmla="*/ 4 h 42"/>
                  <a:gd name="T34" fmla="*/ 48 w 48"/>
                  <a:gd name="T35" fmla="*/ 4 h 42"/>
                  <a:gd name="T36" fmla="*/ 48 w 48"/>
                  <a:gd name="T37" fmla="*/ 4 h 4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"/>
                  <a:gd name="T58" fmla="*/ 0 h 42"/>
                  <a:gd name="T59" fmla="*/ 48 w 48"/>
                  <a:gd name="T60" fmla="*/ 42 h 4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" h="42">
                    <a:moveTo>
                      <a:pt x="48" y="4"/>
                    </a:moveTo>
                    <a:lnTo>
                      <a:pt x="34" y="10"/>
                    </a:lnTo>
                    <a:lnTo>
                      <a:pt x="31" y="14"/>
                    </a:lnTo>
                    <a:lnTo>
                      <a:pt x="27" y="17"/>
                    </a:lnTo>
                    <a:lnTo>
                      <a:pt x="14" y="31"/>
                    </a:lnTo>
                    <a:lnTo>
                      <a:pt x="7" y="35"/>
                    </a:lnTo>
                    <a:lnTo>
                      <a:pt x="0" y="42"/>
                    </a:lnTo>
                    <a:lnTo>
                      <a:pt x="10" y="28"/>
                    </a:lnTo>
                    <a:lnTo>
                      <a:pt x="17" y="21"/>
                    </a:lnTo>
                    <a:lnTo>
                      <a:pt x="21" y="14"/>
                    </a:lnTo>
                    <a:lnTo>
                      <a:pt x="34" y="7"/>
                    </a:lnTo>
                    <a:lnTo>
                      <a:pt x="45" y="0"/>
                    </a:ln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19" name="Freeform 206"/>
              <p:cNvSpPr>
                <a:spLocks/>
              </p:cNvSpPr>
              <p:nvPr/>
            </p:nvSpPr>
            <p:spPr bwMode="auto">
              <a:xfrm>
                <a:off x="3699" y="1308"/>
                <a:ext cx="17" cy="31"/>
              </a:xfrm>
              <a:custGeom>
                <a:avLst/>
                <a:gdLst>
                  <a:gd name="T0" fmla="*/ 10 w 17"/>
                  <a:gd name="T1" fmla="*/ 28 h 31"/>
                  <a:gd name="T2" fmla="*/ 14 w 17"/>
                  <a:gd name="T3" fmla="*/ 21 h 31"/>
                  <a:gd name="T4" fmla="*/ 10 w 17"/>
                  <a:gd name="T5" fmla="*/ 11 h 31"/>
                  <a:gd name="T6" fmla="*/ 7 w 17"/>
                  <a:gd name="T7" fmla="*/ 7 h 31"/>
                  <a:gd name="T8" fmla="*/ 0 w 17"/>
                  <a:gd name="T9" fmla="*/ 4 h 31"/>
                  <a:gd name="T10" fmla="*/ 0 w 17"/>
                  <a:gd name="T11" fmla="*/ 0 h 31"/>
                  <a:gd name="T12" fmla="*/ 3 w 17"/>
                  <a:gd name="T13" fmla="*/ 0 h 31"/>
                  <a:gd name="T14" fmla="*/ 10 w 17"/>
                  <a:gd name="T15" fmla="*/ 4 h 31"/>
                  <a:gd name="T16" fmla="*/ 17 w 17"/>
                  <a:gd name="T17" fmla="*/ 11 h 31"/>
                  <a:gd name="T18" fmla="*/ 17 w 17"/>
                  <a:gd name="T19" fmla="*/ 28 h 31"/>
                  <a:gd name="T20" fmla="*/ 14 w 17"/>
                  <a:gd name="T21" fmla="*/ 31 h 31"/>
                  <a:gd name="T22" fmla="*/ 10 w 17"/>
                  <a:gd name="T23" fmla="*/ 28 h 31"/>
                  <a:gd name="T24" fmla="*/ 10 w 17"/>
                  <a:gd name="T25" fmla="*/ 28 h 31"/>
                  <a:gd name="T26" fmla="*/ 10 w 17"/>
                  <a:gd name="T27" fmla="*/ 28 h 3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7"/>
                  <a:gd name="T43" fmla="*/ 0 h 31"/>
                  <a:gd name="T44" fmla="*/ 17 w 17"/>
                  <a:gd name="T45" fmla="*/ 31 h 3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7" h="31">
                    <a:moveTo>
                      <a:pt x="10" y="28"/>
                    </a:moveTo>
                    <a:lnTo>
                      <a:pt x="14" y="21"/>
                    </a:lnTo>
                    <a:lnTo>
                      <a:pt x="10" y="11"/>
                    </a:lnTo>
                    <a:lnTo>
                      <a:pt x="7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10" y="4"/>
                    </a:lnTo>
                    <a:lnTo>
                      <a:pt x="17" y="11"/>
                    </a:lnTo>
                    <a:lnTo>
                      <a:pt x="17" y="28"/>
                    </a:lnTo>
                    <a:lnTo>
                      <a:pt x="14" y="31"/>
                    </a:lnTo>
                    <a:lnTo>
                      <a:pt x="10" y="2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0" name="Freeform 207"/>
              <p:cNvSpPr>
                <a:spLocks/>
              </p:cNvSpPr>
              <p:nvPr/>
            </p:nvSpPr>
            <p:spPr bwMode="auto">
              <a:xfrm>
                <a:off x="3623" y="1294"/>
                <a:ext cx="83" cy="73"/>
              </a:xfrm>
              <a:custGeom>
                <a:avLst/>
                <a:gdLst>
                  <a:gd name="T0" fmla="*/ 76 w 83"/>
                  <a:gd name="T1" fmla="*/ 25 h 73"/>
                  <a:gd name="T2" fmla="*/ 76 w 83"/>
                  <a:gd name="T3" fmla="*/ 18 h 73"/>
                  <a:gd name="T4" fmla="*/ 73 w 83"/>
                  <a:gd name="T5" fmla="*/ 11 h 73"/>
                  <a:gd name="T6" fmla="*/ 69 w 83"/>
                  <a:gd name="T7" fmla="*/ 7 h 73"/>
                  <a:gd name="T8" fmla="*/ 62 w 83"/>
                  <a:gd name="T9" fmla="*/ 7 h 73"/>
                  <a:gd name="T10" fmla="*/ 52 w 83"/>
                  <a:gd name="T11" fmla="*/ 14 h 73"/>
                  <a:gd name="T12" fmla="*/ 38 w 83"/>
                  <a:gd name="T13" fmla="*/ 18 h 73"/>
                  <a:gd name="T14" fmla="*/ 35 w 83"/>
                  <a:gd name="T15" fmla="*/ 21 h 73"/>
                  <a:gd name="T16" fmla="*/ 31 w 83"/>
                  <a:gd name="T17" fmla="*/ 25 h 73"/>
                  <a:gd name="T18" fmla="*/ 14 w 83"/>
                  <a:gd name="T19" fmla="*/ 28 h 73"/>
                  <a:gd name="T20" fmla="*/ 10 w 83"/>
                  <a:gd name="T21" fmla="*/ 42 h 73"/>
                  <a:gd name="T22" fmla="*/ 7 w 83"/>
                  <a:gd name="T23" fmla="*/ 52 h 73"/>
                  <a:gd name="T24" fmla="*/ 10 w 83"/>
                  <a:gd name="T25" fmla="*/ 56 h 73"/>
                  <a:gd name="T26" fmla="*/ 14 w 83"/>
                  <a:gd name="T27" fmla="*/ 59 h 73"/>
                  <a:gd name="T28" fmla="*/ 21 w 83"/>
                  <a:gd name="T29" fmla="*/ 63 h 73"/>
                  <a:gd name="T30" fmla="*/ 41 w 83"/>
                  <a:gd name="T31" fmla="*/ 66 h 73"/>
                  <a:gd name="T32" fmla="*/ 48 w 83"/>
                  <a:gd name="T33" fmla="*/ 69 h 73"/>
                  <a:gd name="T34" fmla="*/ 62 w 83"/>
                  <a:gd name="T35" fmla="*/ 69 h 73"/>
                  <a:gd name="T36" fmla="*/ 62 w 83"/>
                  <a:gd name="T37" fmla="*/ 73 h 73"/>
                  <a:gd name="T38" fmla="*/ 62 w 83"/>
                  <a:gd name="T39" fmla="*/ 73 h 73"/>
                  <a:gd name="T40" fmla="*/ 41 w 83"/>
                  <a:gd name="T41" fmla="*/ 73 h 73"/>
                  <a:gd name="T42" fmla="*/ 21 w 83"/>
                  <a:gd name="T43" fmla="*/ 66 h 73"/>
                  <a:gd name="T44" fmla="*/ 10 w 83"/>
                  <a:gd name="T45" fmla="*/ 63 h 73"/>
                  <a:gd name="T46" fmla="*/ 0 w 83"/>
                  <a:gd name="T47" fmla="*/ 52 h 73"/>
                  <a:gd name="T48" fmla="*/ 3 w 83"/>
                  <a:gd name="T49" fmla="*/ 38 h 73"/>
                  <a:gd name="T50" fmla="*/ 7 w 83"/>
                  <a:gd name="T51" fmla="*/ 31 h 73"/>
                  <a:gd name="T52" fmla="*/ 10 w 83"/>
                  <a:gd name="T53" fmla="*/ 25 h 73"/>
                  <a:gd name="T54" fmla="*/ 28 w 83"/>
                  <a:gd name="T55" fmla="*/ 18 h 73"/>
                  <a:gd name="T56" fmla="*/ 31 w 83"/>
                  <a:gd name="T57" fmla="*/ 14 h 73"/>
                  <a:gd name="T58" fmla="*/ 35 w 83"/>
                  <a:gd name="T59" fmla="*/ 11 h 73"/>
                  <a:gd name="T60" fmla="*/ 41 w 83"/>
                  <a:gd name="T61" fmla="*/ 7 h 73"/>
                  <a:gd name="T62" fmla="*/ 52 w 83"/>
                  <a:gd name="T63" fmla="*/ 4 h 73"/>
                  <a:gd name="T64" fmla="*/ 66 w 83"/>
                  <a:gd name="T65" fmla="*/ 0 h 73"/>
                  <a:gd name="T66" fmla="*/ 79 w 83"/>
                  <a:gd name="T67" fmla="*/ 7 h 73"/>
                  <a:gd name="T68" fmla="*/ 83 w 83"/>
                  <a:gd name="T69" fmla="*/ 14 h 73"/>
                  <a:gd name="T70" fmla="*/ 83 w 83"/>
                  <a:gd name="T71" fmla="*/ 21 h 73"/>
                  <a:gd name="T72" fmla="*/ 83 w 83"/>
                  <a:gd name="T73" fmla="*/ 25 h 73"/>
                  <a:gd name="T74" fmla="*/ 76 w 83"/>
                  <a:gd name="T75" fmla="*/ 25 h 73"/>
                  <a:gd name="T76" fmla="*/ 76 w 83"/>
                  <a:gd name="T77" fmla="*/ 25 h 73"/>
                  <a:gd name="T78" fmla="*/ 76 w 83"/>
                  <a:gd name="T79" fmla="*/ 25 h 7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3"/>
                  <a:gd name="T121" fmla="*/ 0 h 73"/>
                  <a:gd name="T122" fmla="*/ 83 w 83"/>
                  <a:gd name="T123" fmla="*/ 73 h 7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3" h="73">
                    <a:moveTo>
                      <a:pt x="76" y="25"/>
                    </a:moveTo>
                    <a:lnTo>
                      <a:pt x="76" y="18"/>
                    </a:lnTo>
                    <a:lnTo>
                      <a:pt x="73" y="11"/>
                    </a:lnTo>
                    <a:lnTo>
                      <a:pt x="69" y="7"/>
                    </a:lnTo>
                    <a:lnTo>
                      <a:pt x="62" y="7"/>
                    </a:lnTo>
                    <a:lnTo>
                      <a:pt x="52" y="14"/>
                    </a:lnTo>
                    <a:lnTo>
                      <a:pt x="38" y="18"/>
                    </a:lnTo>
                    <a:lnTo>
                      <a:pt x="35" y="21"/>
                    </a:lnTo>
                    <a:lnTo>
                      <a:pt x="31" y="25"/>
                    </a:lnTo>
                    <a:lnTo>
                      <a:pt x="14" y="28"/>
                    </a:lnTo>
                    <a:lnTo>
                      <a:pt x="10" y="42"/>
                    </a:lnTo>
                    <a:lnTo>
                      <a:pt x="7" y="52"/>
                    </a:lnTo>
                    <a:lnTo>
                      <a:pt x="10" y="56"/>
                    </a:lnTo>
                    <a:lnTo>
                      <a:pt x="14" y="59"/>
                    </a:lnTo>
                    <a:lnTo>
                      <a:pt x="21" y="63"/>
                    </a:lnTo>
                    <a:lnTo>
                      <a:pt x="41" y="66"/>
                    </a:lnTo>
                    <a:lnTo>
                      <a:pt x="48" y="69"/>
                    </a:lnTo>
                    <a:lnTo>
                      <a:pt x="62" y="69"/>
                    </a:lnTo>
                    <a:lnTo>
                      <a:pt x="62" y="73"/>
                    </a:lnTo>
                    <a:lnTo>
                      <a:pt x="41" y="73"/>
                    </a:lnTo>
                    <a:lnTo>
                      <a:pt x="21" y="66"/>
                    </a:lnTo>
                    <a:lnTo>
                      <a:pt x="10" y="63"/>
                    </a:lnTo>
                    <a:lnTo>
                      <a:pt x="0" y="52"/>
                    </a:lnTo>
                    <a:lnTo>
                      <a:pt x="3" y="38"/>
                    </a:lnTo>
                    <a:lnTo>
                      <a:pt x="7" y="31"/>
                    </a:lnTo>
                    <a:lnTo>
                      <a:pt x="10" y="25"/>
                    </a:lnTo>
                    <a:lnTo>
                      <a:pt x="28" y="18"/>
                    </a:lnTo>
                    <a:lnTo>
                      <a:pt x="31" y="14"/>
                    </a:lnTo>
                    <a:lnTo>
                      <a:pt x="35" y="11"/>
                    </a:lnTo>
                    <a:lnTo>
                      <a:pt x="41" y="7"/>
                    </a:lnTo>
                    <a:lnTo>
                      <a:pt x="52" y="4"/>
                    </a:lnTo>
                    <a:lnTo>
                      <a:pt x="66" y="0"/>
                    </a:lnTo>
                    <a:lnTo>
                      <a:pt x="79" y="7"/>
                    </a:lnTo>
                    <a:lnTo>
                      <a:pt x="83" y="14"/>
                    </a:lnTo>
                    <a:lnTo>
                      <a:pt x="83" y="21"/>
                    </a:lnTo>
                    <a:lnTo>
                      <a:pt x="83" y="25"/>
                    </a:lnTo>
                    <a:lnTo>
                      <a:pt x="76" y="2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1" name="Freeform 208"/>
              <p:cNvSpPr>
                <a:spLocks/>
              </p:cNvSpPr>
              <p:nvPr/>
            </p:nvSpPr>
            <p:spPr bwMode="auto">
              <a:xfrm>
                <a:off x="3699" y="1343"/>
                <a:ext cx="28" cy="31"/>
              </a:xfrm>
              <a:custGeom>
                <a:avLst/>
                <a:gdLst>
                  <a:gd name="T0" fmla="*/ 24 w 28"/>
                  <a:gd name="T1" fmla="*/ 3 h 31"/>
                  <a:gd name="T2" fmla="*/ 17 w 28"/>
                  <a:gd name="T3" fmla="*/ 7 h 31"/>
                  <a:gd name="T4" fmla="*/ 14 w 28"/>
                  <a:gd name="T5" fmla="*/ 14 h 31"/>
                  <a:gd name="T6" fmla="*/ 7 w 28"/>
                  <a:gd name="T7" fmla="*/ 27 h 31"/>
                  <a:gd name="T8" fmla="*/ 3 w 28"/>
                  <a:gd name="T9" fmla="*/ 31 h 31"/>
                  <a:gd name="T10" fmla="*/ 0 w 28"/>
                  <a:gd name="T11" fmla="*/ 31 h 31"/>
                  <a:gd name="T12" fmla="*/ 0 w 28"/>
                  <a:gd name="T13" fmla="*/ 24 h 31"/>
                  <a:gd name="T14" fmla="*/ 3 w 28"/>
                  <a:gd name="T15" fmla="*/ 17 h 31"/>
                  <a:gd name="T16" fmla="*/ 7 w 28"/>
                  <a:gd name="T17" fmla="*/ 7 h 31"/>
                  <a:gd name="T18" fmla="*/ 10 w 28"/>
                  <a:gd name="T19" fmla="*/ 7 h 31"/>
                  <a:gd name="T20" fmla="*/ 14 w 28"/>
                  <a:gd name="T21" fmla="*/ 3 h 31"/>
                  <a:gd name="T22" fmla="*/ 24 w 28"/>
                  <a:gd name="T23" fmla="*/ 0 h 31"/>
                  <a:gd name="T24" fmla="*/ 28 w 28"/>
                  <a:gd name="T25" fmla="*/ 0 h 31"/>
                  <a:gd name="T26" fmla="*/ 24 w 28"/>
                  <a:gd name="T27" fmla="*/ 3 h 31"/>
                  <a:gd name="T28" fmla="*/ 24 w 28"/>
                  <a:gd name="T29" fmla="*/ 3 h 31"/>
                  <a:gd name="T30" fmla="*/ 24 w 28"/>
                  <a:gd name="T31" fmla="*/ 3 h 3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8"/>
                  <a:gd name="T49" fmla="*/ 0 h 31"/>
                  <a:gd name="T50" fmla="*/ 28 w 28"/>
                  <a:gd name="T51" fmla="*/ 31 h 3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8" h="31">
                    <a:moveTo>
                      <a:pt x="24" y="3"/>
                    </a:moveTo>
                    <a:lnTo>
                      <a:pt x="17" y="7"/>
                    </a:lnTo>
                    <a:lnTo>
                      <a:pt x="14" y="14"/>
                    </a:lnTo>
                    <a:lnTo>
                      <a:pt x="7" y="27"/>
                    </a:lnTo>
                    <a:lnTo>
                      <a:pt x="3" y="31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3" y="17"/>
                    </a:lnTo>
                    <a:lnTo>
                      <a:pt x="7" y="7"/>
                    </a:lnTo>
                    <a:lnTo>
                      <a:pt x="10" y="7"/>
                    </a:lnTo>
                    <a:lnTo>
                      <a:pt x="14" y="3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2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2" name="Freeform 209"/>
              <p:cNvSpPr>
                <a:spLocks/>
              </p:cNvSpPr>
              <p:nvPr/>
            </p:nvSpPr>
            <p:spPr bwMode="auto">
              <a:xfrm>
                <a:off x="3689" y="1350"/>
                <a:ext cx="13" cy="10"/>
              </a:xfrm>
              <a:custGeom>
                <a:avLst/>
                <a:gdLst>
                  <a:gd name="T0" fmla="*/ 3 w 13"/>
                  <a:gd name="T1" fmla="*/ 0 h 10"/>
                  <a:gd name="T2" fmla="*/ 7 w 13"/>
                  <a:gd name="T3" fmla="*/ 3 h 10"/>
                  <a:gd name="T4" fmla="*/ 13 w 13"/>
                  <a:gd name="T5" fmla="*/ 7 h 10"/>
                  <a:gd name="T6" fmla="*/ 13 w 13"/>
                  <a:gd name="T7" fmla="*/ 10 h 10"/>
                  <a:gd name="T8" fmla="*/ 10 w 13"/>
                  <a:gd name="T9" fmla="*/ 10 h 10"/>
                  <a:gd name="T10" fmla="*/ 0 w 13"/>
                  <a:gd name="T11" fmla="*/ 3 h 10"/>
                  <a:gd name="T12" fmla="*/ 0 w 13"/>
                  <a:gd name="T13" fmla="*/ 0 h 10"/>
                  <a:gd name="T14" fmla="*/ 3 w 13"/>
                  <a:gd name="T15" fmla="*/ 0 h 10"/>
                  <a:gd name="T16" fmla="*/ 3 w 13"/>
                  <a:gd name="T17" fmla="*/ 0 h 10"/>
                  <a:gd name="T18" fmla="*/ 3 w 13"/>
                  <a:gd name="T19" fmla="*/ 0 h 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"/>
                  <a:gd name="T31" fmla="*/ 0 h 10"/>
                  <a:gd name="T32" fmla="*/ 13 w 13"/>
                  <a:gd name="T33" fmla="*/ 10 h 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" h="10">
                    <a:moveTo>
                      <a:pt x="3" y="0"/>
                    </a:moveTo>
                    <a:lnTo>
                      <a:pt x="7" y="3"/>
                    </a:lnTo>
                    <a:lnTo>
                      <a:pt x="13" y="7"/>
                    </a:lnTo>
                    <a:lnTo>
                      <a:pt x="13" y="10"/>
                    </a:lnTo>
                    <a:lnTo>
                      <a:pt x="10" y="10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3" name="Freeform 210"/>
              <p:cNvSpPr>
                <a:spLocks/>
              </p:cNvSpPr>
              <p:nvPr/>
            </p:nvSpPr>
            <p:spPr bwMode="auto">
              <a:xfrm>
                <a:off x="3716" y="1201"/>
                <a:ext cx="18" cy="42"/>
              </a:xfrm>
              <a:custGeom>
                <a:avLst/>
                <a:gdLst>
                  <a:gd name="T0" fmla="*/ 18 w 18"/>
                  <a:gd name="T1" fmla="*/ 0 h 42"/>
                  <a:gd name="T2" fmla="*/ 11 w 18"/>
                  <a:gd name="T3" fmla="*/ 24 h 42"/>
                  <a:gd name="T4" fmla="*/ 4 w 18"/>
                  <a:gd name="T5" fmla="*/ 42 h 42"/>
                  <a:gd name="T6" fmla="*/ 0 w 18"/>
                  <a:gd name="T7" fmla="*/ 42 h 42"/>
                  <a:gd name="T8" fmla="*/ 0 w 18"/>
                  <a:gd name="T9" fmla="*/ 21 h 42"/>
                  <a:gd name="T10" fmla="*/ 0 w 18"/>
                  <a:gd name="T11" fmla="*/ 14 h 42"/>
                  <a:gd name="T12" fmla="*/ 7 w 18"/>
                  <a:gd name="T13" fmla="*/ 10 h 42"/>
                  <a:gd name="T14" fmla="*/ 14 w 18"/>
                  <a:gd name="T15" fmla="*/ 0 h 42"/>
                  <a:gd name="T16" fmla="*/ 18 w 18"/>
                  <a:gd name="T17" fmla="*/ 0 h 42"/>
                  <a:gd name="T18" fmla="*/ 18 w 18"/>
                  <a:gd name="T19" fmla="*/ 0 h 42"/>
                  <a:gd name="T20" fmla="*/ 18 w 18"/>
                  <a:gd name="T21" fmla="*/ 0 h 42"/>
                  <a:gd name="T22" fmla="*/ 18 w 18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42"/>
                  <a:gd name="T38" fmla="*/ 18 w 18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42">
                    <a:moveTo>
                      <a:pt x="18" y="0"/>
                    </a:moveTo>
                    <a:lnTo>
                      <a:pt x="11" y="24"/>
                    </a:lnTo>
                    <a:lnTo>
                      <a:pt x="4" y="42"/>
                    </a:lnTo>
                    <a:lnTo>
                      <a:pt x="0" y="42"/>
                    </a:lnTo>
                    <a:lnTo>
                      <a:pt x="0" y="21"/>
                    </a:lnTo>
                    <a:lnTo>
                      <a:pt x="0" y="14"/>
                    </a:lnTo>
                    <a:lnTo>
                      <a:pt x="7" y="10"/>
                    </a:lnTo>
                    <a:lnTo>
                      <a:pt x="14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4" name="Freeform 211"/>
              <p:cNvSpPr>
                <a:spLocks/>
              </p:cNvSpPr>
              <p:nvPr/>
            </p:nvSpPr>
            <p:spPr bwMode="auto">
              <a:xfrm>
                <a:off x="3740" y="1201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7 w 25"/>
                  <a:gd name="T3" fmla="*/ 4 h 35"/>
                  <a:gd name="T4" fmla="*/ 14 w 25"/>
                  <a:gd name="T5" fmla="*/ 7 h 35"/>
                  <a:gd name="T6" fmla="*/ 21 w 25"/>
                  <a:gd name="T7" fmla="*/ 21 h 35"/>
                  <a:gd name="T8" fmla="*/ 25 w 25"/>
                  <a:gd name="T9" fmla="*/ 35 h 35"/>
                  <a:gd name="T10" fmla="*/ 25 w 25"/>
                  <a:gd name="T11" fmla="*/ 35 h 35"/>
                  <a:gd name="T12" fmla="*/ 25 w 25"/>
                  <a:gd name="T13" fmla="*/ 35 h 35"/>
                  <a:gd name="T14" fmla="*/ 21 w 25"/>
                  <a:gd name="T15" fmla="*/ 31 h 35"/>
                  <a:gd name="T16" fmla="*/ 18 w 25"/>
                  <a:gd name="T17" fmla="*/ 31 h 35"/>
                  <a:gd name="T18" fmla="*/ 11 w 25"/>
                  <a:gd name="T19" fmla="*/ 24 h 35"/>
                  <a:gd name="T20" fmla="*/ 7 w 25"/>
                  <a:gd name="T21" fmla="*/ 14 h 35"/>
                  <a:gd name="T22" fmla="*/ 7 w 25"/>
                  <a:gd name="T23" fmla="*/ 7 h 35"/>
                  <a:gd name="T24" fmla="*/ 0 w 25"/>
                  <a:gd name="T25" fmla="*/ 4 h 35"/>
                  <a:gd name="T26" fmla="*/ 0 w 25"/>
                  <a:gd name="T27" fmla="*/ 4 h 35"/>
                  <a:gd name="T28" fmla="*/ 0 w 25"/>
                  <a:gd name="T29" fmla="*/ 0 h 35"/>
                  <a:gd name="T30" fmla="*/ 0 w 25"/>
                  <a:gd name="T31" fmla="*/ 0 h 35"/>
                  <a:gd name="T32" fmla="*/ 0 w 2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5"/>
                  <a:gd name="T52" fmla="*/ 0 h 35"/>
                  <a:gd name="T53" fmla="*/ 25 w 2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5" h="35">
                    <a:moveTo>
                      <a:pt x="0" y="0"/>
                    </a:moveTo>
                    <a:lnTo>
                      <a:pt x="7" y="4"/>
                    </a:lnTo>
                    <a:lnTo>
                      <a:pt x="14" y="7"/>
                    </a:lnTo>
                    <a:lnTo>
                      <a:pt x="21" y="21"/>
                    </a:lnTo>
                    <a:lnTo>
                      <a:pt x="25" y="35"/>
                    </a:lnTo>
                    <a:lnTo>
                      <a:pt x="21" y="31"/>
                    </a:lnTo>
                    <a:lnTo>
                      <a:pt x="18" y="31"/>
                    </a:lnTo>
                    <a:lnTo>
                      <a:pt x="11" y="24"/>
                    </a:lnTo>
                    <a:lnTo>
                      <a:pt x="7" y="14"/>
                    </a:lnTo>
                    <a:lnTo>
                      <a:pt x="7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5" name="Freeform 212"/>
              <p:cNvSpPr>
                <a:spLocks/>
              </p:cNvSpPr>
              <p:nvPr/>
            </p:nvSpPr>
            <p:spPr bwMode="auto">
              <a:xfrm>
                <a:off x="3737" y="1149"/>
                <a:ext cx="73" cy="52"/>
              </a:xfrm>
              <a:custGeom>
                <a:avLst/>
                <a:gdLst>
                  <a:gd name="T0" fmla="*/ 0 w 73"/>
                  <a:gd name="T1" fmla="*/ 49 h 52"/>
                  <a:gd name="T2" fmla="*/ 10 w 73"/>
                  <a:gd name="T3" fmla="*/ 42 h 52"/>
                  <a:gd name="T4" fmla="*/ 14 w 73"/>
                  <a:gd name="T5" fmla="*/ 38 h 52"/>
                  <a:gd name="T6" fmla="*/ 21 w 73"/>
                  <a:gd name="T7" fmla="*/ 35 h 52"/>
                  <a:gd name="T8" fmla="*/ 28 w 73"/>
                  <a:gd name="T9" fmla="*/ 31 h 52"/>
                  <a:gd name="T10" fmla="*/ 35 w 73"/>
                  <a:gd name="T11" fmla="*/ 24 h 52"/>
                  <a:gd name="T12" fmla="*/ 41 w 73"/>
                  <a:gd name="T13" fmla="*/ 21 h 52"/>
                  <a:gd name="T14" fmla="*/ 45 w 73"/>
                  <a:gd name="T15" fmla="*/ 17 h 52"/>
                  <a:gd name="T16" fmla="*/ 52 w 73"/>
                  <a:gd name="T17" fmla="*/ 14 h 52"/>
                  <a:gd name="T18" fmla="*/ 59 w 73"/>
                  <a:gd name="T19" fmla="*/ 11 h 52"/>
                  <a:gd name="T20" fmla="*/ 62 w 73"/>
                  <a:gd name="T21" fmla="*/ 4 h 52"/>
                  <a:gd name="T22" fmla="*/ 69 w 73"/>
                  <a:gd name="T23" fmla="*/ 0 h 52"/>
                  <a:gd name="T24" fmla="*/ 73 w 73"/>
                  <a:gd name="T25" fmla="*/ 0 h 52"/>
                  <a:gd name="T26" fmla="*/ 73 w 73"/>
                  <a:gd name="T27" fmla="*/ 0 h 52"/>
                  <a:gd name="T28" fmla="*/ 73 w 73"/>
                  <a:gd name="T29" fmla="*/ 0 h 52"/>
                  <a:gd name="T30" fmla="*/ 59 w 73"/>
                  <a:gd name="T31" fmla="*/ 14 h 52"/>
                  <a:gd name="T32" fmla="*/ 52 w 73"/>
                  <a:gd name="T33" fmla="*/ 24 h 52"/>
                  <a:gd name="T34" fmla="*/ 41 w 73"/>
                  <a:gd name="T35" fmla="*/ 31 h 52"/>
                  <a:gd name="T36" fmla="*/ 35 w 73"/>
                  <a:gd name="T37" fmla="*/ 38 h 52"/>
                  <a:gd name="T38" fmla="*/ 28 w 73"/>
                  <a:gd name="T39" fmla="*/ 45 h 52"/>
                  <a:gd name="T40" fmla="*/ 3 w 73"/>
                  <a:gd name="T41" fmla="*/ 52 h 52"/>
                  <a:gd name="T42" fmla="*/ 0 w 73"/>
                  <a:gd name="T43" fmla="*/ 52 h 52"/>
                  <a:gd name="T44" fmla="*/ 0 w 73"/>
                  <a:gd name="T45" fmla="*/ 49 h 52"/>
                  <a:gd name="T46" fmla="*/ 0 w 73"/>
                  <a:gd name="T47" fmla="*/ 49 h 52"/>
                  <a:gd name="T48" fmla="*/ 0 w 73"/>
                  <a:gd name="T49" fmla="*/ 49 h 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3"/>
                  <a:gd name="T76" fmla="*/ 0 h 52"/>
                  <a:gd name="T77" fmla="*/ 73 w 73"/>
                  <a:gd name="T78" fmla="*/ 52 h 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3" h="52">
                    <a:moveTo>
                      <a:pt x="0" y="49"/>
                    </a:moveTo>
                    <a:lnTo>
                      <a:pt x="10" y="42"/>
                    </a:lnTo>
                    <a:lnTo>
                      <a:pt x="14" y="38"/>
                    </a:lnTo>
                    <a:lnTo>
                      <a:pt x="21" y="35"/>
                    </a:lnTo>
                    <a:lnTo>
                      <a:pt x="28" y="31"/>
                    </a:lnTo>
                    <a:lnTo>
                      <a:pt x="35" y="24"/>
                    </a:lnTo>
                    <a:lnTo>
                      <a:pt x="41" y="21"/>
                    </a:lnTo>
                    <a:lnTo>
                      <a:pt x="45" y="17"/>
                    </a:lnTo>
                    <a:lnTo>
                      <a:pt x="52" y="14"/>
                    </a:lnTo>
                    <a:lnTo>
                      <a:pt x="59" y="11"/>
                    </a:lnTo>
                    <a:lnTo>
                      <a:pt x="62" y="4"/>
                    </a:lnTo>
                    <a:lnTo>
                      <a:pt x="69" y="0"/>
                    </a:lnTo>
                    <a:lnTo>
                      <a:pt x="73" y="0"/>
                    </a:lnTo>
                    <a:lnTo>
                      <a:pt x="59" y="14"/>
                    </a:lnTo>
                    <a:lnTo>
                      <a:pt x="52" y="24"/>
                    </a:lnTo>
                    <a:lnTo>
                      <a:pt x="41" y="31"/>
                    </a:lnTo>
                    <a:lnTo>
                      <a:pt x="35" y="38"/>
                    </a:lnTo>
                    <a:lnTo>
                      <a:pt x="28" y="45"/>
                    </a:lnTo>
                    <a:lnTo>
                      <a:pt x="3" y="52"/>
                    </a:lnTo>
                    <a:lnTo>
                      <a:pt x="0" y="52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6" name="Freeform 213"/>
              <p:cNvSpPr>
                <a:spLocks/>
              </p:cNvSpPr>
              <p:nvPr/>
            </p:nvSpPr>
            <p:spPr bwMode="auto">
              <a:xfrm>
                <a:off x="3775" y="1156"/>
                <a:ext cx="59" cy="87"/>
              </a:xfrm>
              <a:custGeom>
                <a:avLst/>
                <a:gdLst>
                  <a:gd name="T0" fmla="*/ 59 w 59"/>
                  <a:gd name="T1" fmla="*/ 0 h 87"/>
                  <a:gd name="T2" fmla="*/ 45 w 59"/>
                  <a:gd name="T3" fmla="*/ 10 h 87"/>
                  <a:gd name="T4" fmla="*/ 42 w 59"/>
                  <a:gd name="T5" fmla="*/ 17 h 87"/>
                  <a:gd name="T6" fmla="*/ 35 w 59"/>
                  <a:gd name="T7" fmla="*/ 24 h 87"/>
                  <a:gd name="T8" fmla="*/ 28 w 59"/>
                  <a:gd name="T9" fmla="*/ 42 h 87"/>
                  <a:gd name="T10" fmla="*/ 21 w 59"/>
                  <a:gd name="T11" fmla="*/ 55 h 87"/>
                  <a:gd name="T12" fmla="*/ 17 w 59"/>
                  <a:gd name="T13" fmla="*/ 66 h 87"/>
                  <a:gd name="T14" fmla="*/ 10 w 59"/>
                  <a:gd name="T15" fmla="*/ 76 h 87"/>
                  <a:gd name="T16" fmla="*/ 3 w 59"/>
                  <a:gd name="T17" fmla="*/ 87 h 87"/>
                  <a:gd name="T18" fmla="*/ 0 w 59"/>
                  <a:gd name="T19" fmla="*/ 87 h 87"/>
                  <a:gd name="T20" fmla="*/ 0 w 59"/>
                  <a:gd name="T21" fmla="*/ 87 h 87"/>
                  <a:gd name="T22" fmla="*/ 10 w 59"/>
                  <a:gd name="T23" fmla="*/ 62 h 87"/>
                  <a:gd name="T24" fmla="*/ 17 w 59"/>
                  <a:gd name="T25" fmla="*/ 38 h 87"/>
                  <a:gd name="T26" fmla="*/ 21 w 59"/>
                  <a:gd name="T27" fmla="*/ 31 h 87"/>
                  <a:gd name="T28" fmla="*/ 28 w 59"/>
                  <a:gd name="T29" fmla="*/ 21 h 87"/>
                  <a:gd name="T30" fmla="*/ 35 w 59"/>
                  <a:gd name="T31" fmla="*/ 14 h 87"/>
                  <a:gd name="T32" fmla="*/ 38 w 59"/>
                  <a:gd name="T33" fmla="*/ 10 h 87"/>
                  <a:gd name="T34" fmla="*/ 42 w 59"/>
                  <a:gd name="T35" fmla="*/ 7 h 87"/>
                  <a:gd name="T36" fmla="*/ 48 w 59"/>
                  <a:gd name="T37" fmla="*/ 4 h 87"/>
                  <a:gd name="T38" fmla="*/ 59 w 59"/>
                  <a:gd name="T39" fmla="*/ 0 h 87"/>
                  <a:gd name="T40" fmla="*/ 59 w 59"/>
                  <a:gd name="T41" fmla="*/ 0 h 87"/>
                  <a:gd name="T42" fmla="*/ 59 w 59"/>
                  <a:gd name="T43" fmla="*/ 0 h 87"/>
                  <a:gd name="T44" fmla="*/ 59 w 59"/>
                  <a:gd name="T45" fmla="*/ 0 h 8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9"/>
                  <a:gd name="T70" fmla="*/ 0 h 87"/>
                  <a:gd name="T71" fmla="*/ 59 w 59"/>
                  <a:gd name="T72" fmla="*/ 87 h 8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9" h="87">
                    <a:moveTo>
                      <a:pt x="59" y="0"/>
                    </a:moveTo>
                    <a:lnTo>
                      <a:pt x="45" y="10"/>
                    </a:lnTo>
                    <a:lnTo>
                      <a:pt x="42" y="17"/>
                    </a:lnTo>
                    <a:lnTo>
                      <a:pt x="35" y="24"/>
                    </a:lnTo>
                    <a:lnTo>
                      <a:pt x="28" y="42"/>
                    </a:lnTo>
                    <a:lnTo>
                      <a:pt x="21" y="55"/>
                    </a:lnTo>
                    <a:lnTo>
                      <a:pt x="17" y="66"/>
                    </a:lnTo>
                    <a:lnTo>
                      <a:pt x="10" y="76"/>
                    </a:lnTo>
                    <a:lnTo>
                      <a:pt x="3" y="87"/>
                    </a:lnTo>
                    <a:lnTo>
                      <a:pt x="0" y="87"/>
                    </a:lnTo>
                    <a:lnTo>
                      <a:pt x="10" y="62"/>
                    </a:lnTo>
                    <a:lnTo>
                      <a:pt x="17" y="38"/>
                    </a:lnTo>
                    <a:lnTo>
                      <a:pt x="21" y="31"/>
                    </a:lnTo>
                    <a:lnTo>
                      <a:pt x="28" y="21"/>
                    </a:lnTo>
                    <a:lnTo>
                      <a:pt x="35" y="14"/>
                    </a:lnTo>
                    <a:lnTo>
                      <a:pt x="38" y="10"/>
                    </a:lnTo>
                    <a:lnTo>
                      <a:pt x="42" y="7"/>
                    </a:lnTo>
                    <a:lnTo>
                      <a:pt x="48" y="4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7" name="Freeform 214"/>
              <p:cNvSpPr>
                <a:spLocks/>
              </p:cNvSpPr>
              <p:nvPr/>
            </p:nvSpPr>
            <p:spPr bwMode="auto">
              <a:xfrm>
                <a:off x="3740" y="1225"/>
                <a:ext cx="18" cy="24"/>
              </a:xfrm>
              <a:custGeom>
                <a:avLst/>
                <a:gdLst>
                  <a:gd name="T0" fmla="*/ 18 w 18"/>
                  <a:gd name="T1" fmla="*/ 4 h 24"/>
                  <a:gd name="T2" fmla="*/ 11 w 18"/>
                  <a:gd name="T3" fmla="*/ 21 h 24"/>
                  <a:gd name="T4" fmla="*/ 4 w 18"/>
                  <a:gd name="T5" fmla="*/ 24 h 24"/>
                  <a:gd name="T6" fmla="*/ 0 w 18"/>
                  <a:gd name="T7" fmla="*/ 24 h 24"/>
                  <a:gd name="T8" fmla="*/ 0 w 18"/>
                  <a:gd name="T9" fmla="*/ 21 h 24"/>
                  <a:gd name="T10" fmla="*/ 4 w 18"/>
                  <a:gd name="T11" fmla="*/ 14 h 24"/>
                  <a:gd name="T12" fmla="*/ 14 w 18"/>
                  <a:gd name="T13" fmla="*/ 0 h 24"/>
                  <a:gd name="T14" fmla="*/ 18 w 18"/>
                  <a:gd name="T15" fmla="*/ 0 h 24"/>
                  <a:gd name="T16" fmla="*/ 18 w 18"/>
                  <a:gd name="T17" fmla="*/ 4 h 24"/>
                  <a:gd name="T18" fmla="*/ 18 w 18"/>
                  <a:gd name="T19" fmla="*/ 4 h 24"/>
                  <a:gd name="T20" fmla="*/ 18 w 18"/>
                  <a:gd name="T21" fmla="*/ 4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"/>
                  <a:gd name="T34" fmla="*/ 0 h 24"/>
                  <a:gd name="T35" fmla="*/ 18 w 18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" h="24">
                    <a:moveTo>
                      <a:pt x="18" y="4"/>
                    </a:moveTo>
                    <a:lnTo>
                      <a:pt x="11" y="21"/>
                    </a:lnTo>
                    <a:lnTo>
                      <a:pt x="4" y="24"/>
                    </a:lnTo>
                    <a:lnTo>
                      <a:pt x="0" y="24"/>
                    </a:lnTo>
                    <a:lnTo>
                      <a:pt x="0" y="21"/>
                    </a:lnTo>
                    <a:lnTo>
                      <a:pt x="4" y="14"/>
                    </a:lnTo>
                    <a:lnTo>
                      <a:pt x="14" y="0"/>
                    </a:lnTo>
                    <a:lnTo>
                      <a:pt x="18" y="0"/>
                    </a:lnTo>
                    <a:lnTo>
                      <a:pt x="1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8" name="Freeform 215"/>
              <p:cNvSpPr>
                <a:spLocks/>
              </p:cNvSpPr>
              <p:nvPr/>
            </p:nvSpPr>
            <p:spPr bwMode="auto">
              <a:xfrm>
                <a:off x="3744" y="1246"/>
                <a:ext cx="28" cy="86"/>
              </a:xfrm>
              <a:custGeom>
                <a:avLst/>
                <a:gdLst>
                  <a:gd name="T0" fmla="*/ 3 w 28"/>
                  <a:gd name="T1" fmla="*/ 0 h 86"/>
                  <a:gd name="T2" fmla="*/ 10 w 28"/>
                  <a:gd name="T3" fmla="*/ 10 h 86"/>
                  <a:gd name="T4" fmla="*/ 17 w 28"/>
                  <a:gd name="T5" fmla="*/ 21 h 86"/>
                  <a:gd name="T6" fmla="*/ 24 w 28"/>
                  <a:gd name="T7" fmla="*/ 45 h 86"/>
                  <a:gd name="T8" fmla="*/ 28 w 28"/>
                  <a:gd name="T9" fmla="*/ 59 h 86"/>
                  <a:gd name="T10" fmla="*/ 24 w 28"/>
                  <a:gd name="T11" fmla="*/ 86 h 86"/>
                  <a:gd name="T12" fmla="*/ 21 w 28"/>
                  <a:gd name="T13" fmla="*/ 86 h 86"/>
                  <a:gd name="T14" fmla="*/ 21 w 28"/>
                  <a:gd name="T15" fmla="*/ 73 h 86"/>
                  <a:gd name="T16" fmla="*/ 17 w 28"/>
                  <a:gd name="T17" fmla="*/ 59 h 86"/>
                  <a:gd name="T18" fmla="*/ 17 w 28"/>
                  <a:gd name="T19" fmla="*/ 45 h 86"/>
                  <a:gd name="T20" fmla="*/ 17 w 28"/>
                  <a:gd name="T21" fmla="*/ 35 h 86"/>
                  <a:gd name="T22" fmla="*/ 10 w 28"/>
                  <a:gd name="T23" fmla="*/ 24 h 86"/>
                  <a:gd name="T24" fmla="*/ 7 w 28"/>
                  <a:gd name="T25" fmla="*/ 14 h 86"/>
                  <a:gd name="T26" fmla="*/ 0 w 28"/>
                  <a:gd name="T27" fmla="*/ 3 h 86"/>
                  <a:gd name="T28" fmla="*/ 0 w 28"/>
                  <a:gd name="T29" fmla="*/ 0 h 86"/>
                  <a:gd name="T30" fmla="*/ 3 w 28"/>
                  <a:gd name="T31" fmla="*/ 0 h 86"/>
                  <a:gd name="T32" fmla="*/ 3 w 28"/>
                  <a:gd name="T33" fmla="*/ 0 h 86"/>
                  <a:gd name="T34" fmla="*/ 3 w 28"/>
                  <a:gd name="T35" fmla="*/ 0 h 8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"/>
                  <a:gd name="T55" fmla="*/ 0 h 86"/>
                  <a:gd name="T56" fmla="*/ 28 w 28"/>
                  <a:gd name="T57" fmla="*/ 86 h 8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" h="86">
                    <a:moveTo>
                      <a:pt x="3" y="0"/>
                    </a:moveTo>
                    <a:lnTo>
                      <a:pt x="10" y="10"/>
                    </a:lnTo>
                    <a:lnTo>
                      <a:pt x="17" y="21"/>
                    </a:lnTo>
                    <a:lnTo>
                      <a:pt x="24" y="45"/>
                    </a:lnTo>
                    <a:lnTo>
                      <a:pt x="28" y="59"/>
                    </a:lnTo>
                    <a:lnTo>
                      <a:pt x="24" y="86"/>
                    </a:lnTo>
                    <a:lnTo>
                      <a:pt x="21" y="86"/>
                    </a:lnTo>
                    <a:lnTo>
                      <a:pt x="21" y="73"/>
                    </a:lnTo>
                    <a:lnTo>
                      <a:pt x="17" y="59"/>
                    </a:lnTo>
                    <a:lnTo>
                      <a:pt x="17" y="45"/>
                    </a:lnTo>
                    <a:lnTo>
                      <a:pt x="17" y="35"/>
                    </a:lnTo>
                    <a:lnTo>
                      <a:pt x="10" y="24"/>
                    </a:lnTo>
                    <a:lnTo>
                      <a:pt x="7" y="14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29" name="Freeform 216"/>
              <p:cNvSpPr>
                <a:spLocks/>
              </p:cNvSpPr>
              <p:nvPr/>
            </p:nvSpPr>
            <p:spPr bwMode="auto">
              <a:xfrm>
                <a:off x="3713" y="1246"/>
                <a:ext cx="31" cy="66"/>
              </a:xfrm>
              <a:custGeom>
                <a:avLst/>
                <a:gdLst>
                  <a:gd name="T0" fmla="*/ 0 w 31"/>
                  <a:gd name="T1" fmla="*/ 66 h 66"/>
                  <a:gd name="T2" fmla="*/ 3 w 31"/>
                  <a:gd name="T3" fmla="*/ 17 h 66"/>
                  <a:gd name="T4" fmla="*/ 7 w 31"/>
                  <a:gd name="T5" fmla="*/ 7 h 66"/>
                  <a:gd name="T6" fmla="*/ 10 w 31"/>
                  <a:gd name="T7" fmla="*/ 3 h 66"/>
                  <a:gd name="T8" fmla="*/ 14 w 31"/>
                  <a:gd name="T9" fmla="*/ 0 h 66"/>
                  <a:gd name="T10" fmla="*/ 17 w 31"/>
                  <a:gd name="T11" fmla="*/ 0 h 66"/>
                  <a:gd name="T12" fmla="*/ 27 w 31"/>
                  <a:gd name="T13" fmla="*/ 10 h 66"/>
                  <a:gd name="T14" fmla="*/ 31 w 31"/>
                  <a:gd name="T15" fmla="*/ 31 h 66"/>
                  <a:gd name="T16" fmla="*/ 27 w 31"/>
                  <a:gd name="T17" fmla="*/ 45 h 66"/>
                  <a:gd name="T18" fmla="*/ 24 w 31"/>
                  <a:gd name="T19" fmla="*/ 45 h 66"/>
                  <a:gd name="T20" fmla="*/ 21 w 31"/>
                  <a:gd name="T21" fmla="*/ 31 h 66"/>
                  <a:gd name="T22" fmla="*/ 21 w 31"/>
                  <a:gd name="T23" fmla="*/ 21 h 66"/>
                  <a:gd name="T24" fmla="*/ 17 w 31"/>
                  <a:gd name="T25" fmla="*/ 14 h 66"/>
                  <a:gd name="T26" fmla="*/ 14 w 31"/>
                  <a:gd name="T27" fmla="*/ 3 h 66"/>
                  <a:gd name="T28" fmla="*/ 10 w 31"/>
                  <a:gd name="T29" fmla="*/ 10 h 66"/>
                  <a:gd name="T30" fmla="*/ 10 w 31"/>
                  <a:gd name="T31" fmla="*/ 17 h 66"/>
                  <a:gd name="T32" fmla="*/ 3 w 31"/>
                  <a:gd name="T33" fmla="*/ 41 h 66"/>
                  <a:gd name="T34" fmla="*/ 3 w 31"/>
                  <a:gd name="T35" fmla="*/ 66 h 66"/>
                  <a:gd name="T36" fmla="*/ 0 w 31"/>
                  <a:gd name="T37" fmla="*/ 66 h 66"/>
                  <a:gd name="T38" fmla="*/ 0 w 31"/>
                  <a:gd name="T39" fmla="*/ 66 h 66"/>
                  <a:gd name="T40" fmla="*/ 0 w 31"/>
                  <a:gd name="T41" fmla="*/ 66 h 6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1"/>
                  <a:gd name="T64" fmla="*/ 0 h 66"/>
                  <a:gd name="T65" fmla="*/ 31 w 31"/>
                  <a:gd name="T66" fmla="*/ 66 h 6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1" h="66">
                    <a:moveTo>
                      <a:pt x="0" y="66"/>
                    </a:moveTo>
                    <a:lnTo>
                      <a:pt x="3" y="17"/>
                    </a:lnTo>
                    <a:lnTo>
                      <a:pt x="7" y="7"/>
                    </a:lnTo>
                    <a:lnTo>
                      <a:pt x="10" y="3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7" y="10"/>
                    </a:lnTo>
                    <a:lnTo>
                      <a:pt x="31" y="31"/>
                    </a:lnTo>
                    <a:lnTo>
                      <a:pt x="27" y="45"/>
                    </a:lnTo>
                    <a:lnTo>
                      <a:pt x="24" y="45"/>
                    </a:lnTo>
                    <a:lnTo>
                      <a:pt x="21" y="31"/>
                    </a:lnTo>
                    <a:lnTo>
                      <a:pt x="21" y="21"/>
                    </a:lnTo>
                    <a:lnTo>
                      <a:pt x="17" y="14"/>
                    </a:lnTo>
                    <a:lnTo>
                      <a:pt x="14" y="3"/>
                    </a:lnTo>
                    <a:lnTo>
                      <a:pt x="10" y="10"/>
                    </a:lnTo>
                    <a:lnTo>
                      <a:pt x="10" y="17"/>
                    </a:lnTo>
                    <a:lnTo>
                      <a:pt x="3" y="41"/>
                    </a:lnTo>
                    <a:lnTo>
                      <a:pt x="3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0" name="Freeform 217"/>
              <p:cNvSpPr>
                <a:spLocks/>
              </p:cNvSpPr>
              <p:nvPr/>
            </p:nvSpPr>
            <p:spPr bwMode="auto">
              <a:xfrm>
                <a:off x="3720" y="1222"/>
                <a:ext cx="10" cy="24"/>
              </a:xfrm>
              <a:custGeom>
                <a:avLst/>
                <a:gdLst>
                  <a:gd name="T0" fmla="*/ 3 w 10"/>
                  <a:gd name="T1" fmla="*/ 0 h 24"/>
                  <a:gd name="T2" fmla="*/ 7 w 10"/>
                  <a:gd name="T3" fmla="*/ 3 h 24"/>
                  <a:gd name="T4" fmla="*/ 10 w 10"/>
                  <a:gd name="T5" fmla="*/ 21 h 24"/>
                  <a:gd name="T6" fmla="*/ 7 w 10"/>
                  <a:gd name="T7" fmla="*/ 24 h 24"/>
                  <a:gd name="T8" fmla="*/ 7 w 10"/>
                  <a:gd name="T9" fmla="*/ 21 h 24"/>
                  <a:gd name="T10" fmla="*/ 3 w 10"/>
                  <a:gd name="T11" fmla="*/ 14 h 24"/>
                  <a:gd name="T12" fmla="*/ 0 w 10"/>
                  <a:gd name="T13" fmla="*/ 7 h 24"/>
                  <a:gd name="T14" fmla="*/ 0 w 10"/>
                  <a:gd name="T15" fmla="*/ 3 h 24"/>
                  <a:gd name="T16" fmla="*/ 3 w 10"/>
                  <a:gd name="T17" fmla="*/ 0 h 24"/>
                  <a:gd name="T18" fmla="*/ 3 w 10"/>
                  <a:gd name="T19" fmla="*/ 0 h 24"/>
                  <a:gd name="T20" fmla="*/ 3 w 10"/>
                  <a:gd name="T21" fmla="*/ 0 h 24"/>
                  <a:gd name="T22" fmla="*/ 3 w 10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0"/>
                  <a:gd name="T37" fmla="*/ 0 h 24"/>
                  <a:gd name="T38" fmla="*/ 10 w 10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0" h="24">
                    <a:moveTo>
                      <a:pt x="3" y="0"/>
                    </a:moveTo>
                    <a:lnTo>
                      <a:pt x="7" y="3"/>
                    </a:lnTo>
                    <a:lnTo>
                      <a:pt x="10" y="21"/>
                    </a:lnTo>
                    <a:lnTo>
                      <a:pt x="7" y="24"/>
                    </a:lnTo>
                    <a:lnTo>
                      <a:pt x="7" y="21"/>
                    </a:lnTo>
                    <a:lnTo>
                      <a:pt x="3" y="14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1" name="Freeform 218"/>
              <p:cNvSpPr>
                <a:spLocks/>
              </p:cNvSpPr>
              <p:nvPr/>
            </p:nvSpPr>
            <p:spPr bwMode="auto">
              <a:xfrm>
                <a:off x="3720" y="1132"/>
                <a:ext cx="76" cy="59"/>
              </a:xfrm>
              <a:custGeom>
                <a:avLst/>
                <a:gdLst>
                  <a:gd name="T0" fmla="*/ 76 w 76"/>
                  <a:gd name="T1" fmla="*/ 3 h 59"/>
                  <a:gd name="T2" fmla="*/ 72 w 76"/>
                  <a:gd name="T3" fmla="*/ 10 h 59"/>
                  <a:gd name="T4" fmla="*/ 69 w 76"/>
                  <a:gd name="T5" fmla="*/ 14 h 59"/>
                  <a:gd name="T6" fmla="*/ 62 w 76"/>
                  <a:gd name="T7" fmla="*/ 21 h 59"/>
                  <a:gd name="T8" fmla="*/ 58 w 76"/>
                  <a:gd name="T9" fmla="*/ 24 h 59"/>
                  <a:gd name="T10" fmla="*/ 55 w 76"/>
                  <a:gd name="T11" fmla="*/ 28 h 59"/>
                  <a:gd name="T12" fmla="*/ 45 w 76"/>
                  <a:gd name="T13" fmla="*/ 38 h 59"/>
                  <a:gd name="T14" fmla="*/ 34 w 76"/>
                  <a:gd name="T15" fmla="*/ 45 h 59"/>
                  <a:gd name="T16" fmla="*/ 27 w 76"/>
                  <a:gd name="T17" fmla="*/ 48 h 59"/>
                  <a:gd name="T18" fmla="*/ 17 w 76"/>
                  <a:gd name="T19" fmla="*/ 55 h 59"/>
                  <a:gd name="T20" fmla="*/ 7 w 76"/>
                  <a:gd name="T21" fmla="*/ 59 h 59"/>
                  <a:gd name="T22" fmla="*/ 0 w 76"/>
                  <a:gd name="T23" fmla="*/ 59 h 59"/>
                  <a:gd name="T24" fmla="*/ 3 w 76"/>
                  <a:gd name="T25" fmla="*/ 52 h 59"/>
                  <a:gd name="T26" fmla="*/ 20 w 76"/>
                  <a:gd name="T27" fmla="*/ 41 h 59"/>
                  <a:gd name="T28" fmla="*/ 31 w 76"/>
                  <a:gd name="T29" fmla="*/ 38 h 59"/>
                  <a:gd name="T30" fmla="*/ 38 w 76"/>
                  <a:gd name="T31" fmla="*/ 31 h 59"/>
                  <a:gd name="T32" fmla="*/ 45 w 76"/>
                  <a:gd name="T33" fmla="*/ 28 h 59"/>
                  <a:gd name="T34" fmla="*/ 48 w 76"/>
                  <a:gd name="T35" fmla="*/ 24 h 59"/>
                  <a:gd name="T36" fmla="*/ 58 w 76"/>
                  <a:gd name="T37" fmla="*/ 17 h 59"/>
                  <a:gd name="T38" fmla="*/ 69 w 76"/>
                  <a:gd name="T39" fmla="*/ 3 h 59"/>
                  <a:gd name="T40" fmla="*/ 72 w 76"/>
                  <a:gd name="T41" fmla="*/ 0 h 59"/>
                  <a:gd name="T42" fmla="*/ 76 w 76"/>
                  <a:gd name="T43" fmla="*/ 3 h 59"/>
                  <a:gd name="T44" fmla="*/ 76 w 76"/>
                  <a:gd name="T45" fmla="*/ 3 h 59"/>
                  <a:gd name="T46" fmla="*/ 76 w 76"/>
                  <a:gd name="T47" fmla="*/ 3 h 5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6"/>
                  <a:gd name="T73" fmla="*/ 0 h 59"/>
                  <a:gd name="T74" fmla="*/ 76 w 76"/>
                  <a:gd name="T75" fmla="*/ 59 h 5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6" h="59">
                    <a:moveTo>
                      <a:pt x="76" y="3"/>
                    </a:moveTo>
                    <a:lnTo>
                      <a:pt x="72" y="10"/>
                    </a:lnTo>
                    <a:lnTo>
                      <a:pt x="69" y="14"/>
                    </a:lnTo>
                    <a:lnTo>
                      <a:pt x="62" y="21"/>
                    </a:lnTo>
                    <a:lnTo>
                      <a:pt x="58" y="24"/>
                    </a:lnTo>
                    <a:lnTo>
                      <a:pt x="55" y="28"/>
                    </a:lnTo>
                    <a:lnTo>
                      <a:pt x="45" y="38"/>
                    </a:lnTo>
                    <a:lnTo>
                      <a:pt x="34" y="45"/>
                    </a:lnTo>
                    <a:lnTo>
                      <a:pt x="27" y="48"/>
                    </a:lnTo>
                    <a:lnTo>
                      <a:pt x="17" y="55"/>
                    </a:lnTo>
                    <a:lnTo>
                      <a:pt x="7" y="59"/>
                    </a:lnTo>
                    <a:lnTo>
                      <a:pt x="0" y="59"/>
                    </a:lnTo>
                    <a:lnTo>
                      <a:pt x="3" y="52"/>
                    </a:lnTo>
                    <a:lnTo>
                      <a:pt x="20" y="41"/>
                    </a:lnTo>
                    <a:lnTo>
                      <a:pt x="31" y="38"/>
                    </a:lnTo>
                    <a:lnTo>
                      <a:pt x="38" y="31"/>
                    </a:lnTo>
                    <a:lnTo>
                      <a:pt x="45" y="28"/>
                    </a:lnTo>
                    <a:lnTo>
                      <a:pt x="48" y="24"/>
                    </a:lnTo>
                    <a:lnTo>
                      <a:pt x="58" y="17"/>
                    </a:lnTo>
                    <a:lnTo>
                      <a:pt x="69" y="3"/>
                    </a:lnTo>
                    <a:lnTo>
                      <a:pt x="72" y="0"/>
                    </a:lnTo>
                    <a:lnTo>
                      <a:pt x="76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2" name="Freeform 219"/>
              <p:cNvSpPr>
                <a:spLocks/>
              </p:cNvSpPr>
              <p:nvPr/>
            </p:nvSpPr>
            <p:spPr bwMode="auto">
              <a:xfrm>
                <a:off x="3716" y="1077"/>
                <a:ext cx="38" cy="17"/>
              </a:xfrm>
              <a:custGeom>
                <a:avLst/>
                <a:gdLst>
                  <a:gd name="T0" fmla="*/ 4 w 38"/>
                  <a:gd name="T1" fmla="*/ 3 h 17"/>
                  <a:gd name="T2" fmla="*/ 11 w 38"/>
                  <a:gd name="T3" fmla="*/ 0 h 17"/>
                  <a:gd name="T4" fmla="*/ 18 w 38"/>
                  <a:gd name="T5" fmla="*/ 0 h 17"/>
                  <a:gd name="T6" fmla="*/ 31 w 38"/>
                  <a:gd name="T7" fmla="*/ 3 h 17"/>
                  <a:gd name="T8" fmla="*/ 38 w 38"/>
                  <a:gd name="T9" fmla="*/ 13 h 17"/>
                  <a:gd name="T10" fmla="*/ 38 w 38"/>
                  <a:gd name="T11" fmla="*/ 17 h 17"/>
                  <a:gd name="T12" fmla="*/ 35 w 38"/>
                  <a:gd name="T13" fmla="*/ 17 h 17"/>
                  <a:gd name="T14" fmla="*/ 28 w 38"/>
                  <a:gd name="T15" fmla="*/ 10 h 17"/>
                  <a:gd name="T16" fmla="*/ 14 w 38"/>
                  <a:gd name="T17" fmla="*/ 7 h 17"/>
                  <a:gd name="T18" fmla="*/ 4 w 38"/>
                  <a:gd name="T19" fmla="*/ 7 h 17"/>
                  <a:gd name="T20" fmla="*/ 0 w 38"/>
                  <a:gd name="T21" fmla="*/ 7 h 17"/>
                  <a:gd name="T22" fmla="*/ 4 w 38"/>
                  <a:gd name="T23" fmla="*/ 3 h 17"/>
                  <a:gd name="T24" fmla="*/ 4 w 38"/>
                  <a:gd name="T25" fmla="*/ 3 h 17"/>
                  <a:gd name="T26" fmla="*/ 4 w 38"/>
                  <a:gd name="T27" fmla="*/ 3 h 1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8"/>
                  <a:gd name="T43" fmla="*/ 0 h 17"/>
                  <a:gd name="T44" fmla="*/ 38 w 38"/>
                  <a:gd name="T45" fmla="*/ 17 h 1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8" h="17">
                    <a:moveTo>
                      <a:pt x="4" y="3"/>
                    </a:moveTo>
                    <a:lnTo>
                      <a:pt x="11" y="0"/>
                    </a:lnTo>
                    <a:lnTo>
                      <a:pt x="18" y="0"/>
                    </a:lnTo>
                    <a:lnTo>
                      <a:pt x="31" y="3"/>
                    </a:lnTo>
                    <a:lnTo>
                      <a:pt x="38" y="13"/>
                    </a:lnTo>
                    <a:lnTo>
                      <a:pt x="38" y="17"/>
                    </a:lnTo>
                    <a:lnTo>
                      <a:pt x="35" y="17"/>
                    </a:lnTo>
                    <a:lnTo>
                      <a:pt x="28" y="10"/>
                    </a:lnTo>
                    <a:lnTo>
                      <a:pt x="14" y="7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3" name="Freeform 220"/>
              <p:cNvSpPr>
                <a:spLocks/>
              </p:cNvSpPr>
              <p:nvPr/>
            </p:nvSpPr>
            <p:spPr bwMode="auto">
              <a:xfrm>
                <a:off x="3716" y="1097"/>
                <a:ext cx="35" cy="11"/>
              </a:xfrm>
              <a:custGeom>
                <a:avLst/>
                <a:gdLst>
                  <a:gd name="T0" fmla="*/ 4 w 35"/>
                  <a:gd name="T1" fmla="*/ 0 h 11"/>
                  <a:gd name="T2" fmla="*/ 18 w 35"/>
                  <a:gd name="T3" fmla="*/ 4 h 11"/>
                  <a:gd name="T4" fmla="*/ 31 w 35"/>
                  <a:gd name="T5" fmla="*/ 4 h 11"/>
                  <a:gd name="T6" fmla="*/ 35 w 35"/>
                  <a:gd name="T7" fmla="*/ 4 h 11"/>
                  <a:gd name="T8" fmla="*/ 31 w 35"/>
                  <a:gd name="T9" fmla="*/ 7 h 11"/>
                  <a:gd name="T10" fmla="*/ 24 w 35"/>
                  <a:gd name="T11" fmla="*/ 7 h 11"/>
                  <a:gd name="T12" fmla="*/ 18 w 35"/>
                  <a:gd name="T13" fmla="*/ 11 h 11"/>
                  <a:gd name="T14" fmla="*/ 11 w 35"/>
                  <a:gd name="T15" fmla="*/ 7 h 11"/>
                  <a:gd name="T16" fmla="*/ 4 w 35"/>
                  <a:gd name="T17" fmla="*/ 7 h 11"/>
                  <a:gd name="T18" fmla="*/ 0 w 35"/>
                  <a:gd name="T19" fmla="*/ 4 h 11"/>
                  <a:gd name="T20" fmla="*/ 0 w 35"/>
                  <a:gd name="T21" fmla="*/ 0 h 11"/>
                  <a:gd name="T22" fmla="*/ 4 w 35"/>
                  <a:gd name="T23" fmla="*/ 0 h 11"/>
                  <a:gd name="T24" fmla="*/ 4 w 35"/>
                  <a:gd name="T25" fmla="*/ 0 h 11"/>
                  <a:gd name="T26" fmla="*/ 4 w 35"/>
                  <a:gd name="T27" fmla="*/ 0 h 1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5"/>
                  <a:gd name="T43" fmla="*/ 0 h 11"/>
                  <a:gd name="T44" fmla="*/ 35 w 35"/>
                  <a:gd name="T45" fmla="*/ 11 h 1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5" h="11">
                    <a:moveTo>
                      <a:pt x="4" y="0"/>
                    </a:moveTo>
                    <a:lnTo>
                      <a:pt x="18" y="4"/>
                    </a:lnTo>
                    <a:lnTo>
                      <a:pt x="31" y="4"/>
                    </a:lnTo>
                    <a:lnTo>
                      <a:pt x="35" y="4"/>
                    </a:lnTo>
                    <a:lnTo>
                      <a:pt x="31" y="7"/>
                    </a:lnTo>
                    <a:lnTo>
                      <a:pt x="24" y="7"/>
                    </a:lnTo>
                    <a:lnTo>
                      <a:pt x="18" y="11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4" name="Freeform 221"/>
              <p:cNvSpPr>
                <a:spLocks/>
              </p:cNvSpPr>
              <p:nvPr/>
            </p:nvSpPr>
            <p:spPr bwMode="auto">
              <a:xfrm>
                <a:off x="3682" y="980"/>
                <a:ext cx="169" cy="131"/>
              </a:xfrm>
              <a:custGeom>
                <a:avLst/>
                <a:gdLst>
                  <a:gd name="T0" fmla="*/ 7 w 169"/>
                  <a:gd name="T1" fmla="*/ 31 h 131"/>
                  <a:gd name="T2" fmla="*/ 24 w 169"/>
                  <a:gd name="T3" fmla="*/ 21 h 131"/>
                  <a:gd name="T4" fmla="*/ 31 w 169"/>
                  <a:gd name="T5" fmla="*/ 14 h 131"/>
                  <a:gd name="T6" fmla="*/ 41 w 169"/>
                  <a:gd name="T7" fmla="*/ 7 h 131"/>
                  <a:gd name="T8" fmla="*/ 62 w 169"/>
                  <a:gd name="T9" fmla="*/ 0 h 131"/>
                  <a:gd name="T10" fmla="*/ 103 w 169"/>
                  <a:gd name="T11" fmla="*/ 0 h 131"/>
                  <a:gd name="T12" fmla="*/ 124 w 169"/>
                  <a:gd name="T13" fmla="*/ 7 h 131"/>
                  <a:gd name="T14" fmla="*/ 141 w 169"/>
                  <a:gd name="T15" fmla="*/ 21 h 131"/>
                  <a:gd name="T16" fmla="*/ 152 w 169"/>
                  <a:gd name="T17" fmla="*/ 31 h 131"/>
                  <a:gd name="T18" fmla="*/ 162 w 169"/>
                  <a:gd name="T19" fmla="*/ 45 h 131"/>
                  <a:gd name="T20" fmla="*/ 162 w 169"/>
                  <a:gd name="T21" fmla="*/ 66 h 131"/>
                  <a:gd name="T22" fmla="*/ 169 w 169"/>
                  <a:gd name="T23" fmla="*/ 83 h 131"/>
                  <a:gd name="T24" fmla="*/ 159 w 169"/>
                  <a:gd name="T25" fmla="*/ 104 h 131"/>
                  <a:gd name="T26" fmla="*/ 152 w 169"/>
                  <a:gd name="T27" fmla="*/ 128 h 131"/>
                  <a:gd name="T28" fmla="*/ 145 w 169"/>
                  <a:gd name="T29" fmla="*/ 131 h 131"/>
                  <a:gd name="T30" fmla="*/ 141 w 169"/>
                  <a:gd name="T31" fmla="*/ 128 h 131"/>
                  <a:gd name="T32" fmla="*/ 148 w 169"/>
                  <a:gd name="T33" fmla="*/ 117 h 131"/>
                  <a:gd name="T34" fmla="*/ 159 w 169"/>
                  <a:gd name="T35" fmla="*/ 93 h 131"/>
                  <a:gd name="T36" fmla="*/ 155 w 169"/>
                  <a:gd name="T37" fmla="*/ 66 h 131"/>
                  <a:gd name="T38" fmla="*/ 155 w 169"/>
                  <a:gd name="T39" fmla="*/ 45 h 131"/>
                  <a:gd name="T40" fmla="*/ 148 w 169"/>
                  <a:gd name="T41" fmla="*/ 38 h 131"/>
                  <a:gd name="T42" fmla="*/ 141 w 169"/>
                  <a:gd name="T43" fmla="*/ 31 h 131"/>
                  <a:gd name="T44" fmla="*/ 131 w 169"/>
                  <a:gd name="T45" fmla="*/ 21 h 131"/>
                  <a:gd name="T46" fmla="*/ 117 w 169"/>
                  <a:gd name="T47" fmla="*/ 10 h 131"/>
                  <a:gd name="T48" fmla="*/ 100 w 169"/>
                  <a:gd name="T49" fmla="*/ 7 h 131"/>
                  <a:gd name="T50" fmla="*/ 62 w 169"/>
                  <a:gd name="T51" fmla="*/ 7 h 131"/>
                  <a:gd name="T52" fmla="*/ 48 w 169"/>
                  <a:gd name="T53" fmla="*/ 14 h 131"/>
                  <a:gd name="T54" fmla="*/ 34 w 169"/>
                  <a:gd name="T55" fmla="*/ 17 h 131"/>
                  <a:gd name="T56" fmla="*/ 27 w 169"/>
                  <a:gd name="T57" fmla="*/ 31 h 131"/>
                  <a:gd name="T58" fmla="*/ 20 w 169"/>
                  <a:gd name="T59" fmla="*/ 34 h 131"/>
                  <a:gd name="T60" fmla="*/ 7 w 169"/>
                  <a:gd name="T61" fmla="*/ 45 h 131"/>
                  <a:gd name="T62" fmla="*/ 3 w 169"/>
                  <a:gd name="T63" fmla="*/ 55 h 131"/>
                  <a:gd name="T64" fmla="*/ 0 w 169"/>
                  <a:gd name="T65" fmla="*/ 52 h 13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9"/>
                  <a:gd name="T100" fmla="*/ 0 h 131"/>
                  <a:gd name="T101" fmla="*/ 169 w 169"/>
                  <a:gd name="T102" fmla="*/ 131 h 13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9" h="131">
                    <a:moveTo>
                      <a:pt x="0" y="52"/>
                    </a:moveTo>
                    <a:lnTo>
                      <a:pt x="7" y="31"/>
                    </a:lnTo>
                    <a:lnTo>
                      <a:pt x="17" y="27"/>
                    </a:lnTo>
                    <a:lnTo>
                      <a:pt x="24" y="21"/>
                    </a:lnTo>
                    <a:lnTo>
                      <a:pt x="27" y="17"/>
                    </a:lnTo>
                    <a:lnTo>
                      <a:pt x="31" y="14"/>
                    </a:lnTo>
                    <a:lnTo>
                      <a:pt x="34" y="10"/>
                    </a:lnTo>
                    <a:lnTo>
                      <a:pt x="41" y="7"/>
                    </a:lnTo>
                    <a:lnTo>
                      <a:pt x="52" y="3"/>
                    </a:lnTo>
                    <a:lnTo>
                      <a:pt x="62" y="0"/>
                    </a:lnTo>
                    <a:lnTo>
                      <a:pt x="76" y="3"/>
                    </a:lnTo>
                    <a:lnTo>
                      <a:pt x="103" y="0"/>
                    </a:lnTo>
                    <a:lnTo>
                      <a:pt x="114" y="3"/>
                    </a:lnTo>
                    <a:lnTo>
                      <a:pt x="124" y="7"/>
                    </a:lnTo>
                    <a:lnTo>
                      <a:pt x="135" y="17"/>
                    </a:lnTo>
                    <a:lnTo>
                      <a:pt x="141" y="21"/>
                    </a:lnTo>
                    <a:lnTo>
                      <a:pt x="145" y="24"/>
                    </a:lnTo>
                    <a:lnTo>
                      <a:pt x="152" y="31"/>
                    </a:lnTo>
                    <a:lnTo>
                      <a:pt x="155" y="34"/>
                    </a:lnTo>
                    <a:lnTo>
                      <a:pt x="162" y="45"/>
                    </a:lnTo>
                    <a:lnTo>
                      <a:pt x="162" y="55"/>
                    </a:lnTo>
                    <a:lnTo>
                      <a:pt x="162" y="66"/>
                    </a:lnTo>
                    <a:lnTo>
                      <a:pt x="166" y="72"/>
                    </a:lnTo>
                    <a:lnTo>
                      <a:pt x="169" y="83"/>
                    </a:lnTo>
                    <a:lnTo>
                      <a:pt x="169" y="93"/>
                    </a:lnTo>
                    <a:lnTo>
                      <a:pt x="159" y="104"/>
                    </a:lnTo>
                    <a:lnTo>
                      <a:pt x="155" y="121"/>
                    </a:lnTo>
                    <a:lnTo>
                      <a:pt x="152" y="128"/>
                    </a:lnTo>
                    <a:lnTo>
                      <a:pt x="148" y="131"/>
                    </a:lnTo>
                    <a:lnTo>
                      <a:pt x="145" y="131"/>
                    </a:lnTo>
                    <a:lnTo>
                      <a:pt x="141" y="131"/>
                    </a:lnTo>
                    <a:lnTo>
                      <a:pt x="141" y="128"/>
                    </a:lnTo>
                    <a:lnTo>
                      <a:pt x="148" y="121"/>
                    </a:lnTo>
                    <a:lnTo>
                      <a:pt x="148" y="117"/>
                    </a:lnTo>
                    <a:lnTo>
                      <a:pt x="152" y="100"/>
                    </a:lnTo>
                    <a:lnTo>
                      <a:pt x="159" y="93"/>
                    </a:lnTo>
                    <a:lnTo>
                      <a:pt x="159" y="83"/>
                    </a:lnTo>
                    <a:lnTo>
                      <a:pt x="155" y="66"/>
                    </a:lnTo>
                    <a:lnTo>
                      <a:pt x="155" y="55"/>
                    </a:lnTo>
                    <a:lnTo>
                      <a:pt x="155" y="45"/>
                    </a:lnTo>
                    <a:lnTo>
                      <a:pt x="152" y="41"/>
                    </a:lnTo>
                    <a:lnTo>
                      <a:pt x="148" y="38"/>
                    </a:lnTo>
                    <a:lnTo>
                      <a:pt x="145" y="34"/>
                    </a:lnTo>
                    <a:lnTo>
                      <a:pt x="141" y="31"/>
                    </a:lnTo>
                    <a:lnTo>
                      <a:pt x="135" y="24"/>
                    </a:lnTo>
                    <a:lnTo>
                      <a:pt x="131" y="21"/>
                    </a:lnTo>
                    <a:lnTo>
                      <a:pt x="124" y="14"/>
                    </a:lnTo>
                    <a:lnTo>
                      <a:pt x="117" y="10"/>
                    </a:lnTo>
                    <a:lnTo>
                      <a:pt x="110" y="7"/>
                    </a:lnTo>
                    <a:lnTo>
                      <a:pt x="100" y="7"/>
                    </a:lnTo>
                    <a:lnTo>
                      <a:pt x="72" y="7"/>
                    </a:lnTo>
                    <a:lnTo>
                      <a:pt x="62" y="7"/>
                    </a:lnTo>
                    <a:lnTo>
                      <a:pt x="55" y="7"/>
                    </a:lnTo>
                    <a:lnTo>
                      <a:pt x="48" y="14"/>
                    </a:lnTo>
                    <a:lnTo>
                      <a:pt x="41" y="14"/>
                    </a:lnTo>
                    <a:lnTo>
                      <a:pt x="34" y="17"/>
                    </a:lnTo>
                    <a:lnTo>
                      <a:pt x="31" y="24"/>
                    </a:lnTo>
                    <a:lnTo>
                      <a:pt x="27" y="31"/>
                    </a:lnTo>
                    <a:lnTo>
                      <a:pt x="24" y="34"/>
                    </a:lnTo>
                    <a:lnTo>
                      <a:pt x="20" y="34"/>
                    </a:lnTo>
                    <a:lnTo>
                      <a:pt x="10" y="38"/>
                    </a:lnTo>
                    <a:lnTo>
                      <a:pt x="7" y="45"/>
                    </a:lnTo>
                    <a:lnTo>
                      <a:pt x="3" y="55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5" name="Freeform 222"/>
              <p:cNvSpPr>
                <a:spLocks/>
              </p:cNvSpPr>
              <p:nvPr/>
            </p:nvSpPr>
            <p:spPr bwMode="auto">
              <a:xfrm>
                <a:off x="3699" y="1035"/>
                <a:ext cx="90" cy="21"/>
              </a:xfrm>
              <a:custGeom>
                <a:avLst/>
                <a:gdLst>
                  <a:gd name="T0" fmla="*/ 0 w 90"/>
                  <a:gd name="T1" fmla="*/ 14 h 21"/>
                  <a:gd name="T2" fmla="*/ 17 w 90"/>
                  <a:gd name="T3" fmla="*/ 14 h 21"/>
                  <a:gd name="T4" fmla="*/ 24 w 90"/>
                  <a:gd name="T5" fmla="*/ 11 h 21"/>
                  <a:gd name="T6" fmla="*/ 31 w 90"/>
                  <a:gd name="T7" fmla="*/ 4 h 21"/>
                  <a:gd name="T8" fmla="*/ 41 w 90"/>
                  <a:gd name="T9" fmla="*/ 0 h 21"/>
                  <a:gd name="T10" fmla="*/ 52 w 90"/>
                  <a:gd name="T11" fmla="*/ 0 h 21"/>
                  <a:gd name="T12" fmla="*/ 59 w 90"/>
                  <a:gd name="T13" fmla="*/ 4 h 21"/>
                  <a:gd name="T14" fmla="*/ 73 w 90"/>
                  <a:gd name="T15" fmla="*/ 11 h 21"/>
                  <a:gd name="T16" fmla="*/ 79 w 90"/>
                  <a:gd name="T17" fmla="*/ 14 h 21"/>
                  <a:gd name="T18" fmla="*/ 86 w 90"/>
                  <a:gd name="T19" fmla="*/ 14 h 21"/>
                  <a:gd name="T20" fmla="*/ 90 w 90"/>
                  <a:gd name="T21" fmla="*/ 17 h 21"/>
                  <a:gd name="T22" fmla="*/ 86 w 90"/>
                  <a:gd name="T23" fmla="*/ 17 h 21"/>
                  <a:gd name="T24" fmla="*/ 73 w 90"/>
                  <a:gd name="T25" fmla="*/ 14 h 21"/>
                  <a:gd name="T26" fmla="*/ 66 w 90"/>
                  <a:gd name="T27" fmla="*/ 11 h 21"/>
                  <a:gd name="T28" fmla="*/ 55 w 90"/>
                  <a:gd name="T29" fmla="*/ 7 h 21"/>
                  <a:gd name="T30" fmla="*/ 48 w 90"/>
                  <a:gd name="T31" fmla="*/ 4 h 21"/>
                  <a:gd name="T32" fmla="*/ 41 w 90"/>
                  <a:gd name="T33" fmla="*/ 7 h 21"/>
                  <a:gd name="T34" fmla="*/ 35 w 90"/>
                  <a:gd name="T35" fmla="*/ 11 h 21"/>
                  <a:gd name="T36" fmla="*/ 28 w 90"/>
                  <a:gd name="T37" fmla="*/ 17 h 21"/>
                  <a:gd name="T38" fmla="*/ 24 w 90"/>
                  <a:gd name="T39" fmla="*/ 21 h 21"/>
                  <a:gd name="T40" fmla="*/ 21 w 90"/>
                  <a:gd name="T41" fmla="*/ 21 h 21"/>
                  <a:gd name="T42" fmla="*/ 10 w 90"/>
                  <a:gd name="T43" fmla="*/ 21 h 21"/>
                  <a:gd name="T44" fmla="*/ 0 w 90"/>
                  <a:gd name="T45" fmla="*/ 17 h 21"/>
                  <a:gd name="T46" fmla="*/ 0 w 90"/>
                  <a:gd name="T47" fmla="*/ 14 h 21"/>
                  <a:gd name="T48" fmla="*/ 0 w 90"/>
                  <a:gd name="T49" fmla="*/ 14 h 21"/>
                  <a:gd name="T50" fmla="*/ 0 w 90"/>
                  <a:gd name="T51" fmla="*/ 14 h 21"/>
                  <a:gd name="T52" fmla="*/ 0 w 90"/>
                  <a:gd name="T53" fmla="*/ 14 h 2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90"/>
                  <a:gd name="T82" fmla="*/ 0 h 21"/>
                  <a:gd name="T83" fmla="*/ 90 w 90"/>
                  <a:gd name="T84" fmla="*/ 21 h 2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90" h="21">
                    <a:moveTo>
                      <a:pt x="0" y="14"/>
                    </a:moveTo>
                    <a:lnTo>
                      <a:pt x="17" y="14"/>
                    </a:lnTo>
                    <a:lnTo>
                      <a:pt x="24" y="11"/>
                    </a:lnTo>
                    <a:lnTo>
                      <a:pt x="31" y="4"/>
                    </a:lnTo>
                    <a:lnTo>
                      <a:pt x="41" y="0"/>
                    </a:lnTo>
                    <a:lnTo>
                      <a:pt x="52" y="0"/>
                    </a:lnTo>
                    <a:lnTo>
                      <a:pt x="59" y="4"/>
                    </a:lnTo>
                    <a:lnTo>
                      <a:pt x="73" y="11"/>
                    </a:lnTo>
                    <a:lnTo>
                      <a:pt x="79" y="14"/>
                    </a:lnTo>
                    <a:lnTo>
                      <a:pt x="86" y="14"/>
                    </a:lnTo>
                    <a:lnTo>
                      <a:pt x="90" y="17"/>
                    </a:lnTo>
                    <a:lnTo>
                      <a:pt x="86" y="17"/>
                    </a:lnTo>
                    <a:lnTo>
                      <a:pt x="73" y="14"/>
                    </a:lnTo>
                    <a:lnTo>
                      <a:pt x="66" y="11"/>
                    </a:lnTo>
                    <a:lnTo>
                      <a:pt x="55" y="7"/>
                    </a:lnTo>
                    <a:lnTo>
                      <a:pt x="48" y="4"/>
                    </a:lnTo>
                    <a:lnTo>
                      <a:pt x="41" y="7"/>
                    </a:lnTo>
                    <a:lnTo>
                      <a:pt x="35" y="11"/>
                    </a:lnTo>
                    <a:lnTo>
                      <a:pt x="28" y="17"/>
                    </a:lnTo>
                    <a:lnTo>
                      <a:pt x="24" y="21"/>
                    </a:lnTo>
                    <a:lnTo>
                      <a:pt x="21" y="21"/>
                    </a:lnTo>
                    <a:lnTo>
                      <a:pt x="10" y="21"/>
                    </a:lnTo>
                    <a:lnTo>
                      <a:pt x="0" y="1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6" name="Freeform 223"/>
              <p:cNvSpPr>
                <a:spLocks/>
              </p:cNvSpPr>
              <p:nvPr/>
            </p:nvSpPr>
            <p:spPr bwMode="auto">
              <a:xfrm>
                <a:off x="3768" y="1059"/>
                <a:ext cx="17" cy="35"/>
              </a:xfrm>
              <a:custGeom>
                <a:avLst/>
                <a:gdLst>
                  <a:gd name="T0" fmla="*/ 4 w 17"/>
                  <a:gd name="T1" fmla="*/ 0 h 35"/>
                  <a:gd name="T2" fmla="*/ 17 w 17"/>
                  <a:gd name="T3" fmla="*/ 7 h 35"/>
                  <a:gd name="T4" fmla="*/ 17 w 17"/>
                  <a:gd name="T5" fmla="*/ 14 h 35"/>
                  <a:gd name="T6" fmla="*/ 17 w 17"/>
                  <a:gd name="T7" fmla="*/ 18 h 35"/>
                  <a:gd name="T8" fmla="*/ 17 w 17"/>
                  <a:gd name="T9" fmla="*/ 31 h 35"/>
                  <a:gd name="T10" fmla="*/ 17 w 17"/>
                  <a:gd name="T11" fmla="*/ 35 h 35"/>
                  <a:gd name="T12" fmla="*/ 14 w 17"/>
                  <a:gd name="T13" fmla="*/ 35 h 35"/>
                  <a:gd name="T14" fmla="*/ 7 w 17"/>
                  <a:gd name="T15" fmla="*/ 18 h 35"/>
                  <a:gd name="T16" fmla="*/ 14 w 17"/>
                  <a:gd name="T17" fmla="*/ 11 h 35"/>
                  <a:gd name="T18" fmla="*/ 7 w 17"/>
                  <a:gd name="T19" fmla="*/ 7 h 35"/>
                  <a:gd name="T20" fmla="*/ 4 w 17"/>
                  <a:gd name="T21" fmla="*/ 4 h 35"/>
                  <a:gd name="T22" fmla="*/ 0 w 17"/>
                  <a:gd name="T23" fmla="*/ 4 h 35"/>
                  <a:gd name="T24" fmla="*/ 4 w 17"/>
                  <a:gd name="T25" fmla="*/ 0 h 35"/>
                  <a:gd name="T26" fmla="*/ 4 w 17"/>
                  <a:gd name="T27" fmla="*/ 0 h 35"/>
                  <a:gd name="T28" fmla="*/ 4 w 17"/>
                  <a:gd name="T29" fmla="*/ 0 h 3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7"/>
                  <a:gd name="T46" fmla="*/ 0 h 35"/>
                  <a:gd name="T47" fmla="*/ 17 w 17"/>
                  <a:gd name="T48" fmla="*/ 35 h 3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7" h="35">
                    <a:moveTo>
                      <a:pt x="4" y="0"/>
                    </a:moveTo>
                    <a:lnTo>
                      <a:pt x="17" y="7"/>
                    </a:lnTo>
                    <a:lnTo>
                      <a:pt x="17" y="14"/>
                    </a:lnTo>
                    <a:lnTo>
                      <a:pt x="17" y="18"/>
                    </a:lnTo>
                    <a:lnTo>
                      <a:pt x="17" y="31"/>
                    </a:lnTo>
                    <a:lnTo>
                      <a:pt x="17" y="35"/>
                    </a:lnTo>
                    <a:lnTo>
                      <a:pt x="14" y="35"/>
                    </a:lnTo>
                    <a:lnTo>
                      <a:pt x="7" y="18"/>
                    </a:lnTo>
                    <a:lnTo>
                      <a:pt x="14" y="11"/>
                    </a:lnTo>
                    <a:lnTo>
                      <a:pt x="7" y="7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7" name="Freeform 224"/>
              <p:cNvSpPr>
                <a:spLocks/>
              </p:cNvSpPr>
              <p:nvPr/>
            </p:nvSpPr>
            <p:spPr bwMode="auto">
              <a:xfrm>
                <a:off x="3799" y="1073"/>
                <a:ext cx="28" cy="45"/>
              </a:xfrm>
              <a:custGeom>
                <a:avLst/>
                <a:gdLst>
                  <a:gd name="T0" fmla="*/ 0 w 28"/>
                  <a:gd name="T1" fmla="*/ 0 h 45"/>
                  <a:gd name="T2" fmla="*/ 21 w 28"/>
                  <a:gd name="T3" fmla="*/ 4 h 45"/>
                  <a:gd name="T4" fmla="*/ 28 w 28"/>
                  <a:gd name="T5" fmla="*/ 14 h 45"/>
                  <a:gd name="T6" fmla="*/ 24 w 28"/>
                  <a:gd name="T7" fmla="*/ 24 h 45"/>
                  <a:gd name="T8" fmla="*/ 18 w 28"/>
                  <a:gd name="T9" fmla="*/ 35 h 45"/>
                  <a:gd name="T10" fmla="*/ 14 w 28"/>
                  <a:gd name="T11" fmla="*/ 38 h 45"/>
                  <a:gd name="T12" fmla="*/ 11 w 28"/>
                  <a:gd name="T13" fmla="*/ 45 h 45"/>
                  <a:gd name="T14" fmla="*/ 7 w 28"/>
                  <a:gd name="T15" fmla="*/ 42 h 45"/>
                  <a:gd name="T16" fmla="*/ 7 w 28"/>
                  <a:gd name="T17" fmla="*/ 38 h 45"/>
                  <a:gd name="T18" fmla="*/ 7 w 28"/>
                  <a:gd name="T19" fmla="*/ 31 h 45"/>
                  <a:gd name="T20" fmla="*/ 14 w 28"/>
                  <a:gd name="T21" fmla="*/ 28 h 45"/>
                  <a:gd name="T22" fmla="*/ 18 w 28"/>
                  <a:gd name="T23" fmla="*/ 21 h 45"/>
                  <a:gd name="T24" fmla="*/ 18 w 28"/>
                  <a:gd name="T25" fmla="*/ 7 h 45"/>
                  <a:gd name="T26" fmla="*/ 11 w 28"/>
                  <a:gd name="T27" fmla="*/ 4 h 45"/>
                  <a:gd name="T28" fmla="*/ 0 w 28"/>
                  <a:gd name="T29" fmla="*/ 4 h 45"/>
                  <a:gd name="T30" fmla="*/ 0 w 28"/>
                  <a:gd name="T31" fmla="*/ 0 h 45"/>
                  <a:gd name="T32" fmla="*/ 0 w 28"/>
                  <a:gd name="T33" fmla="*/ 0 h 45"/>
                  <a:gd name="T34" fmla="*/ 0 w 28"/>
                  <a:gd name="T35" fmla="*/ 0 h 45"/>
                  <a:gd name="T36" fmla="*/ 0 w 28"/>
                  <a:gd name="T37" fmla="*/ 0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8"/>
                  <a:gd name="T58" fmla="*/ 0 h 45"/>
                  <a:gd name="T59" fmla="*/ 28 w 28"/>
                  <a:gd name="T60" fmla="*/ 45 h 4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8" h="45">
                    <a:moveTo>
                      <a:pt x="0" y="0"/>
                    </a:moveTo>
                    <a:lnTo>
                      <a:pt x="21" y="4"/>
                    </a:lnTo>
                    <a:lnTo>
                      <a:pt x="28" y="14"/>
                    </a:lnTo>
                    <a:lnTo>
                      <a:pt x="24" y="24"/>
                    </a:lnTo>
                    <a:lnTo>
                      <a:pt x="18" y="35"/>
                    </a:lnTo>
                    <a:lnTo>
                      <a:pt x="14" y="38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7" y="38"/>
                    </a:lnTo>
                    <a:lnTo>
                      <a:pt x="7" y="31"/>
                    </a:lnTo>
                    <a:lnTo>
                      <a:pt x="14" y="28"/>
                    </a:lnTo>
                    <a:lnTo>
                      <a:pt x="18" y="21"/>
                    </a:lnTo>
                    <a:lnTo>
                      <a:pt x="18" y="7"/>
                    </a:lnTo>
                    <a:lnTo>
                      <a:pt x="11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8" name="Freeform 225"/>
              <p:cNvSpPr>
                <a:spLocks/>
              </p:cNvSpPr>
              <p:nvPr/>
            </p:nvSpPr>
            <p:spPr bwMode="auto">
              <a:xfrm>
                <a:off x="3485" y="994"/>
                <a:ext cx="10" cy="34"/>
              </a:xfrm>
              <a:custGeom>
                <a:avLst/>
                <a:gdLst>
                  <a:gd name="T0" fmla="*/ 10 w 10"/>
                  <a:gd name="T1" fmla="*/ 0 h 34"/>
                  <a:gd name="T2" fmla="*/ 10 w 10"/>
                  <a:gd name="T3" fmla="*/ 10 h 34"/>
                  <a:gd name="T4" fmla="*/ 10 w 10"/>
                  <a:gd name="T5" fmla="*/ 17 h 34"/>
                  <a:gd name="T6" fmla="*/ 7 w 10"/>
                  <a:gd name="T7" fmla="*/ 24 h 34"/>
                  <a:gd name="T8" fmla="*/ 3 w 10"/>
                  <a:gd name="T9" fmla="*/ 34 h 34"/>
                  <a:gd name="T10" fmla="*/ 0 w 10"/>
                  <a:gd name="T11" fmla="*/ 34 h 34"/>
                  <a:gd name="T12" fmla="*/ 0 w 10"/>
                  <a:gd name="T13" fmla="*/ 31 h 34"/>
                  <a:gd name="T14" fmla="*/ 0 w 10"/>
                  <a:gd name="T15" fmla="*/ 17 h 34"/>
                  <a:gd name="T16" fmla="*/ 3 w 10"/>
                  <a:gd name="T17" fmla="*/ 10 h 34"/>
                  <a:gd name="T18" fmla="*/ 3 w 10"/>
                  <a:gd name="T19" fmla="*/ 0 h 34"/>
                  <a:gd name="T20" fmla="*/ 7 w 10"/>
                  <a:gd name="T21" fmla="*/ 0 h 34"/>
                  <a:gd name="T22" fmla="*/ 7 w 10"/>
                  <a:gd name="T23" fmla="*/ 0 h 34"/>
                  <a:gd name="T24" fmla="*/ 10 w 10"/>
                  <a:gd name="T25" fmla="*/ 0 h 34"/>
                  <a:gd name="T26" fmla="*/ 10 w 10"/>
                  <a:gd name="T27" fmla="*/ 0 h 34"/>
                  <a:gd name="T28" fmla="*/ 10 w 10"/>
                  <a:gd name="T29" fmla="*/ 0 h 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"/>
                  <a:gd name="T46" fmla="*/ 0 h 34"/>
                  <a:gd name="T47" fmla="*/ 10 w 10"/>
                  <a:gd name="T48" fmla="*/ 34 h 3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" h="34">
                    <a:moveTo>
                      <a:pt x="10" y="0"/>
                    </a:moveTo>
                    <a:lnTo>
                      <a:pt x="10" y="10"/>
                    </a:lnTo>
                    <a:lnTo>
                      <a:pt x="10" y="17"/>
                    </a:lnTo>
                    <a:lnTo>
                      <a:pt x="7" y="24"/>
                    </a:lnTo>
                    <a:lnTo>
                      <a:pt x="3" y="34"/>
                    </a:lnTo>
                    <a:lnTo>
                      <a:pt x="0" y="34"/>
                    </a:lnTo>
                    <a:lnTo>
                      <a:pt x="0" y="31"/>
                    </a:lnTo>
                    <a:lnTo>
                      <a:pt x="0" y="17"/>
                    </a:lnTo>
                    <a:lnTo>
                      <a:pt x="3" y="1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39" name="Freeform 226"/>
              <p:cNvSpPr>
                <a:spLocks/>
              </p:cNvSpPr>
              <p:nvPr/>
            </p:nvSpPr>
            <p:spPr bwMode="auto">
              <a:xfrm>
                <a:off x="3509" y="1007"/>
                <a:ext cx="21" cy="39"/>
              </a:xfrm>
              <a:custGeom>
                <a:avLst/>
                <a:gdLst>
                  <a:gd name="T0" fmla="*/ 21 w 21"/>
                  <a:gd name="T1" fmla="*/ 0 h 39"/>
                  <a:gd name="T2" fmla="*/ 17 w 21"/>
                  <a:gd name="T3" fmla="*/ 11 h 39"/>
                  <a:gd name="T4" fmla="*/ 14 w 21"/>
                  <a:gd name="T5" fmla="*/ 25 h 39"/>
                  <a:gd name="T6" fmla="*/ 10 w 21"/>
                  <a:gd name="T7" fmla="*/ 35 h 39"/>
                  <a:gd name="T8" fmla="*/ 7 w 21"/>
                  <a:gd name="T9" fmla="*/ 39 h 39"/>
                  <a:gd name="T10" fmla="*/ 3 w 21"/>
                  <a:gd name="T11" fmla="*/ 39 h 39"/>
                  <a:gd name="T12" fmla="*/ 0 w 21"/>
                  <a:gd name="T13" fmla="*/ 32 h 39"/>
                  <a:gd name="T14" fmla="*/ 7 w 21"/>
                  <a:gd name="T15" fmla="*/ 21 h 39"/>
                  <a:gd name="T16" fmla="*/ 17 w 21"/>
                  <a:gd name="T17" fmla="*/ 0 h 39"/>
                  <a:gd name="T18" fmla="*/ 21 w 21"/>
                  <a:gd name="T19" fmla="*/ 0 h 39"/>
                  <a:gd name="T20" fmla="*/ 21 w 21"/>
                  <a:gd name="T21" fmla="*/ 0 h 39"/>
                  <a:gd name="T22" fmla="*/ 21 w 21"/>
                  <a:gd name="T23" fmla="*/ 0 h 3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39"/>
                  <a:gd name="T38" fmla="*/ 21 w 21"/>
                  <a:gd name="T39" fmla="*/ 39 h 3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39">
                    <a:moveTo>
                      <a:pt x="21" y="0"/>
                    </a:moveTo>
                    <a:lnTo>
                      <a:pt x="17" y="11"/>
                    </a:lnTo>
                    <a:lnTo>
                      <a:pt x="14" y="25"/>
                    </a:lnTo>
                    <a:lnTo>
                      <a:pt x="10" y="35"/>
                    </a:lnTo>
                    <a:lnTo>
                      <a:pt x="7" y="39"/>
                    </a:lnTo>
                    <a:lnTo>
                      <a:pt x="3" y="39"/>
                    </a:lnTo>
                    <a:lnTo>
                      <a:pt x="0" y="32"/>
                    </a:lnTo>
                    <a:lnTo>
                      <a:pt x="7" y="21"/>
                    </a:lnTo>
                    <a:lnTo>
                      <a:pt x="17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0" name="Freeform 227"/>
              <p:cNvSpPr>
                <a:spLocks/>
              </p:cNvSpPr>
              <p:nvPr/>
            </p:nvSpPr>
            <p:spPr bwMode="auto">
              <a:xfrm>
                <a:off x="3505" y="990"/>
                <a:ext cx="35" cy="35"/>
              </a:xfrm>
              <a:custGeom>
                <a:avLst/>
                <a:gdLst>
                  <a:gd name="T0" fmla="*/ 0 w 35"/>
                  <a:gd name="T1" fmla="*/ 0 h 35"/>
                  <a:gd name="T2" fmla="*/ 18 w 35"/>
                  <a:gd name="T3" fmla="*/ 4 h 35"/>
                  <a:gd name="T4" fmla="*/ 28 w 35"/>
                  <a:gd name="T5" fmla="*/ 14 h 35"/>
                  <a:gd name="T6" fmla="*/ 35 w 35"/>
                  <a:gd name="T7" fmla="*/ 35 h 35"/>
                  <a:gd name="T8" fmla="*/ 35 w 35"/>
                  <a:gd name="T9" fmla="*/ 35 h 35"/>
                  <a:gd name="T10" fmla="*/ 32 w 35"/>
                  <a:gd name="T11" fmla="*/ 35 h 35"/>
                  <a:gd name="T12" fmla="*/ 28 w 35"/>
                  <a:gd name="T13" fmla="*/ 31 h 35"/>
                  <a:gd name="T14" fmla="*/ 25 w 35"/>
                  <a:gd name="T15" fmla="*/ 28 h 35"/>
                  <a:gd name="T16" fmla="*/ 18 w 35"/>
                  <a:gd name="T17" fmla="*/ 21 h 35"/>
                  <a:gd name="T18" fmla="*/ 11 w 35"/>
                  <a:gd name="T19" fmla="*/ 11 h 35"/>
                  <a:gd name="T20" fmla="*/ 7 w 35"/>
                  <a:gd name="T21" fmla="*/ 7 h 35"/>
                  <a:gd name="T22" fmla="*/ 0 w 35"/>
                  <a:gd name="T23" fmla="*/ 4 h 35"/>
                  <a:gd name="T24" fmla="*/ 0 w 35"/>
                  <a:gd name="T25" fmla="*/ 4 h 35"/>
                  <a:gd name="T26" fmla="*/ 0 w 35"/>
                  <a:gd name="T27" fmla="*/ 0 h 35"/>
                  <a:gd name="T28" fmla="*/ 0 w 35"/>
                  <a:gd name="T29" fmla="*/ 0 h 35"/>
                  <a:gd name="T30" fmla="*/ 0 w 35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5"/>
                  <a:gd name="T49" fmla="*/ 0 h 35"/>
                  <a:gd name="T50" fmla="*/ 35 w 35"/>
                  <a:gd name="T51" fmla="*/ 35 h 3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5" h="35">
                    <a:moveTo>
                      <a:pt x="0" y="0"/>
                    </a:moveTo>
                    <a:lnTo>
                      <a:pt x="18" y="4"/>
                    </a:lnTo>
                    <a:lnTo>
                      <a:pt x="28" y="14"/>
                    </a:lnTo>
                    <a:lnTo>
                      <a:pt x="35" y="35"/>
                    </a:lnTo>
                    <a:lnTo>
                      <a:pt x="32" y="35"/>
                    </a:lnTo>
                    <a:lnTo>
                      <a:pt x="28" y="31"/>
                    </a:lnTo>
                    <a:lnTo>
                      <a:pt x="25" y="28"/>
                    </a:lnTo>
                    <a:lnTo>
                      <a:pt x="18" y="21"/>
                    </a:lnTo>
                    <a:lnTo>
                      <a:pt x="11" y="11"/>
                    </a:lnTo>
                    <a:lnTo>
                      <a:pt x="7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1" name="Freeform 228"/>
              <p:cNvSpPr>
                <a:spLocks/>
              </p:cNvSpPr>
              <p:nvPr/>
            </p:nvSpPr>
            <p:spPr bwMode="auto">
              <a:xfrm>
                <a:off x="3474" y="1035"/>
                <a:ext cx="31" cy="232"/>
              </a:xfrm>
              <a:custGeom>
                <a:avLst/>
                <a:gdLst>
                  <a:gd name="T0" fmla="*/ 28 w 31"/>
                  <a:gd name="T1" fmla="*/ 4 h 232"/>
                  <a:gd name="T2" fmla="*/ 25 w 31"/>
                  <a:gd name="T3" fmla="*/ 7 h 232"/>
                  <a:gd name="T4" fmla="*/ 21 w 31"/>
                  <a:gd name="T5" fmla="*/ 14 h 232"/>
                  <a:gd name="T6" fmla="*/ 18 w 31"/>
                  <a:gd name="T7" fmla="*/ 28 h 232"/>
                  <a:gd name="T8" fmla="*/ 11 w 31"/>
                  <a:gd name="T9" fmla="*/ 49 h 232"/>
                  <a:gd name="T10" fmla="*/ 7 w 31"/>
                  <a:gd name="T11" fmla="*/ 66 h 232"/>
                  <a:gd name="T12" fmla="*/ 7 w 31"/>
                  <a:gd name="T13" fmla="*/ 73 h 232"/>
                  <a:gd name="T14" fmla="*/ 11 w 31"/>
                  <a:gd name="T15" fmla="*/ 87 h 232"/>
                  <a:gd name="T16" fmla="*/ 14 w 31"/>
                  <a:gd name="T17" fmla="*/ 100 h 232"/>
                  <a:gd name="T18" fmla="*/ 14 w 31"/>
                  <a:gd name="T19" fmla="*/ 114 h 232"/>
                  <a:gd name="T20" fmla="*/ 18 w 31"/>
                  <a:gd name="T21" fmla="*/ 128 h 232"/>
                  <a:gd name="T22" fmla="*/ 18 w 31"/>
                  <a:gd name="T23" fmla="*/ 142 h 232"/>
                  <a:gd name="T24" fmla="*/ 18 w 31"/>
                  <a:gd name="T25" fmla="*/ 156 h 232"/>
                  <a:gd name="T26" fmla="*/ 18 w 31"/>
                  <a:gd name="T27" fmla="*/ 166 h 232"/>
                  <a:gd name="T28" fmla="*/ 11 w 31"/>
                  <a:gd name="T29" fmla="*/ 190 h 232"/>
                  <a:gd name="T30" fmla="*/ 7 w 31"/>
                  <a:gd name="T31" fmla="*/ 208 h 232"/>
                  <a:gd name="T32" fmla="*/ 11 w 31"/>
                  <a:gd name="T33" fmla="*/ 211 h 232"/>
                  <a:gd name="T34" fmla="*/ 18 w 31"/>
                  <a:gd name="T35" fmla="*/ 218 h 232"/>
                  <a:gd name="T36" fmla="*/ 21 w 31"/>
                  <a:gd name="T37" fmla="*/ 228 h 232"/>
                  <a:gd name="T38" fmla="*/ 21 w 31"/>
                  <a:gd name="T39" fmla="*/ 232 h 232"/>
                  <a:gd name="T40" fmla="*/ 18 w 31"/>
                  <a:gd name="T41" fmla="*/ 232 h 232"/>
                  <a:gd name="T42" fmla="*/ 7 w 31"/>
                  <a:gd name="T43" fmla="*/ 221 h 232"/>
                  <a:gd name="T44" fmla="*/ 4 w 31"/>
                  <a:gd name="T45" fmla="*/ 208 h 232"/>
                  <a:gd name="T46" fmla="*/ 7 w 31"/>
                  <a:gd name="T47" fmla="*/ 190 h 232"/>
                  <a:gd name="T48" fmla="*/ 11 w 31"/>
                  <a:gd name="T49" fmla="*/ 142 h 232"/>
                  <a:gd name="T50" fmla="*/ 4 w 31"/>
                  <a:gd name="T51" fmla="*/ 114 h 232"/>
                  <a:gd name="T52" fmla="*/ 4 w 31"/>
                  <a:gd name="T53" fmla="*/ 100 h 232"/>
                  <a:gd name="T54" fmla="*/ 0 w 31"/>
                  <a:gd name="T55" fmla="*/ 73 h 232"/>
                  <a:gd name="T56" fmla="*/ 0 w 31"/>
                  <a:gd name="T57" fmla="*/ 66 h 232"/>
                  <a:gd name="T58" fmla="*/ 11 w 31"/>
                  <a:gd name="T59" fmla="*/ 24 h 232"/>
                  <a:gd name="T60" fmla="*/ 18 w 31"/>
                  <a:gd name="T61" fmla="*/ 11 h 232"/>
                  <a:gd name="T62" fmla="*/ 21 w 31"/>
                  <a:gd name="T63" fmla="*/ 4 h 232"/>
                  <a:gd name="T64" fmla="*/ 28 w 31"/>
                  <a:gd name="T65" fmla="*/ 0 h 232"/>
                  <a:gd name="T66" fmla="*/ 31 w 31"/>
                  <a:gd name="T67" fmla="*/ 0 h 232"/>
                  <a:gd name="T68" fmla="*/ 28 w 31"/>
                  <a:gd name="T69" fmla="*/ 4 h 232"/>
                  <a:gd name="T70" fmla="*/ 28 w 31"/>
                  <a:gd name="T71" fmla="*/ 4 h 232"/>
                  <a:gd name="T72" fmla="*/ 28 w 31"/>
                  <a:gd name="T73" fmla="*/ 4 h 23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1"/>
                  <a:gd name="T112" fmla="*/ 0 h 232"/>
                  <a:gd name="T113" fmla="*/ 31 w 31"/>
                  <a:gd name="T114" fmla="*/ 232 h 23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1" h="232">
                    <a:moveTo>
                      <a:pt x="28" y="4"/>
                    </a:moveTo>
                    <a:lnTo>
                      <a:pt x="25" y="7"/>
                    </a:lnTo>
                    <a:lnTo>
                      <a:pt x="21" y="14"/>
                    </a:lnTo>
                    <a:lnTo>
                      <a:pt x="18" y="28"/>
                    </a:lnTo>
                    <a:lnTo>
                      <a:pt x="11" y="49"/>
                    </a:lnTo>
                    <a:lnTo>
                      <a:pt x="7" y="66"/>
                    </a:lnTo>
                    <a:lnTo>
                      <a:pt x="7" y="73"/>
                    </a:lnTo>
                    <a:lnTo>
                      <a:pt x="11" y="87"/>
                    </a:lnTo>
                    <a:lnTo>
                      <a:pt x="14" y="100"/>
                    </a:lnTo>
                    <a:lnTo>
                      <a:pt x="14" y="114"/>
                    </a:lnTo>
                    <a:lnTo>
                      <a:pt x="18" y="128"/>
                    </a:lnTo>
                    <a:lnTo>
                      <a:pt x="18" y="142"/>
                    </a:lnTo>
                    <a:lnTo>
                      <a:pt x="18" y="156"/>
                    </a:lnTo>
                    <a:lnTo>
                      <a:pt x="18" y="166"/>
                    </a:lnTo>
                    <a:lnTo>
                      <a:pt x="11" y="190"/>
                    </a:lnTo>
                    <a:lnTo>
                      <a:pt x="7" y="208"/>
                    </a:lnTo>
                    <a:lnTo>
                      <a:pt x="11" y="211"/>
                    </a:lnTo>
                    <a:lnTo>
                      <a:pt x="18" y="218"/>
                    </a:lnTo>
                    <a:lnTo>
                      <a:pt x="21" y="228"/>
                    </a:lnTo>
                    <a:lnTo>
                      <a:pt x="21" y="232"/>
                    </a:lnTo>
                    <a:lnTo>
                      <a:pt x="18" y="232"/>
                    </a:lnTo>
                    <a:lnTo>
                      <a:pt x="7" y="221"/>
                    </a:lnTo>
                    <a:lnTo>
                      <a:pt x="4" y="208"/>
                    </a:lnTo>
                    <a:lnTo>
                      <a:pt x="7" y="190"/>
                    </a:lnTo>
                    <a:lnTo>
                      <a:pt x="11" y="142"/>
                    </a:lnTo>
                    <a:lnTo>
                      <a:pt x="4" y="114"/>
                    </a:lnTo>
                    <a:lnTo>
                      <a:pt x="4" y="100"/>
                    </a:lnTo>
                    <a:lnTo>
                      <a:pt x="0" y="73"/>
                    </a:lnTo>
                    <a:lnTo>
                      <a:pt x="0" y="66"/>
                    </a:lnTo>
                    <a:lnTo>
                      <a:pt x="11" y="24"/>
                    </a:lnTo>
                    <a:lnTo>
                      <a:pt x="18" y="11"/>
                    </a:lnTo>
                    <a:lnTo>
                      <a:pt x="21" y="4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2" name="Freeform 229"/>
              <p:cNvSpPr>
                <a:spLocks/>
              </p:cNvSpPr>
              <p:nvPr/>
            </p:nvSpPr>
            <p:spPr bwMode="auto">
              <a:xfrm>
                <a:off x="3509" y="1039"/>
                <a:ext cx="31" cy="148"/>
              </a:xfrm>
              <a:custGeom>
                <a:avLst/>
                <a:gdLst>
                  <a:gd name="T0" fmla="*/ 3 w 31"/>
                  <a:gd name="T1" fmla="*/ 3 h 148"/>
                  <a:gd name="T2" fmla="*/ 14 w 31"/>
                  <a:gd name="T3" fmla="*/ 31 h 148"/>
                  <a:gd name="T4" fmla="*/ 10 w 31"/>
                  <a:gd name="T5" fmla="*/ 38 h 148"/>
                  <a:gd name="T6" fmla="*/ 10 w 31"/>
                  <a:gd name="T7" fmla="*/ 45 h 148"/>
                  <a:gd name="T8" fmla="*/ 17 w 31"/>
                  <a:gd name="T9" fmla="*/ 69 h 148"/>
                  <a:gd name="T10" fmla="*/ 17 w 31"/>
                  <a:gd name="T11" fmla="*/ 79 h 148"/>
                  <a:gd name="T12" fmla="*/ 21 w 31"/>
                  <a:gd name="T13" fmla="*/ 89 h 148"/>
                  <a:gd name="T14" fmla="*/ 28 w 31"/>
                  <a:gd name="T15" fmla="*/ 107 h 148"/>
                  <a:gd name="T16" fmla="*/ 31 w 31"/>
                  <a:gd name="T17" fmla="*/ 127 h 148"/>
                  <a:gd name="T18" fmla="*/ 31 w 31"/>
                  <a:gd name="T19" fmla="*/ 145 h 148"/>
                  <a:gd name="T20" fmla="*/ 31 w 31"/>
                  <a:gd name="T21" fmla="*/ 148 h 148"/>
                  <a:gd name="T22" fmla="*/ 28 w 31"/>
                  <a:gd name="T23" fmla="*/ 148 h 148"/>
                  <a:gd name="T24" fmla="*/ 28 w 31"/>
                  <a:gd name="T25" fmla="*/ 138 h 148"/>
                  <a:gd name="T26" fmla="*/ 24 w 31"/>
                  <a:gd name="T27" fmla="*/ 127 h 148"/>
                  <a:gd name="T28" fmla="*/ 17 w 31"/>
                  <a:gd name="T29" fmla="*/ 110 h 148"/>
                  <a:gd name="T30" fmla="*/ 14 w 31"/>
                  <a:gd name="T31" fmla="*/ 100 h 148"/>
                  <a:gd name="T32" fmla="*/ 10 w 31"/>
                  <a:gd name="T33" fmla="*/ 89 h 148"/>
                  <a:gd name="T34" fmla="*/ 3 w 31"/>
                  <a:gd name="T35" fmla="*/ 72 h 148"/>
                  <a:gd name="T36" fmla="*/ 3 w 31"/>
                  <a:gd name="T37" fmla="*/ 58 h 148"/>
                  <a:gd name="T38" fmla="*/ 3 w 31"/>
                  <a:gd name="T39" fmla="*/ 45 h 148"/>
                  <a:gd name="T40" fmla="*/ 7 w 31"/>
                  <a:gd name="T41" fmla="*/ 38 h 148"/>
                  <a:gd name="T42" fmla="*/ 7 w 31"/>
                  <a:gd name="T43" fmla="*/ 31 h 148"/>
                  <a:gd name="T44" fmla="*/ 0 w 31"/>
                  <a:gd name="T45" fmla="*/ 3 h 148"/>
                  <a:gd name="T46" fmla="*/ 0 w 31"/>
                  <a:gd name="T47" fmla="*/ 0 h 148"/>
                  <a:gd name="T48" fmla="*/ 3 w 31"/>
                  <a:gd name="T49" fmla="*/ 3 h 148"/>
                  <a:gd name="T50" fmla="*/ 3 w 31"/>
                  <a:gd name="T51" fmla="*/ 3 h 148"/>
                  <a:gd name="T52" fmla="*/ 3 w 31"/>
                  <a:gd name="T53" fmla="*/ 3 h 14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1"/>
                  <a:gd name="T82" fmla="*/ 0 h 148"/>
                  <a:gd name="T83" fmla="*/ 31 w 31"/>
                  <a:gd name="T84" fmla="*/ 148 h 14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1" h="148">
                    <a:moveTo>
                      <a:pt x="3" y="3"/>
                    </a:moveTo>
                    <a:lnTo>
                      <a:pt x="14" y="31"/>
                    </a:lnTo>
                    <a:lnTo>
                      <a:pt x="10" y="38"/>
                    </a:lnTo>
                    <a:lnTo>
                      <a:pt x="10" y="45"/>
                    </a:lnTo>
                    <a:lnTo>
                      <a:pt x="17" y="69"/>
                    </a:lnTo>
                    <a:lnTo>
                      <a:pt x="17" y="79"/>
                    </a:lnTo>
                    <a:lnTo>
                      <a:pt x="21" y="89"/>
                    </a:lnTo>
                    <a:lnTo>
                      <a:pt x="28" y="107"/>
                    </a:lnTo>
                    <a:lnTo>
                      <a:pt x="31" y="127"/>
                    </a:lnTo>
                    <a:lnTo>
                      <a:pt x="31" y="145"/>
                    </a:lnTo>
                    <a:lnTo>
                      <a:pt x="31" y="148"/>
                    </a:lnTo>
                    <a:lnTo>
                      <a:pt x="28" y="148"/>
                    </a:lnTo>
                    <a:lnTo>
                      <a:pt x="28" y="138"/>
                    </a:lnTo>
                    <a:lnTo>
                      <a:pt x="24" y="127"/>
                    </a:lnTo>
                    <a:lnTo>
                      <a:pt x="17" y="110"/>
                    </a:lnTo>
                    <a:lnTo>
                      <a:pt x="14" y="100"/>
                    </a:lnTo>
                    <a:lnTo>
                      <a:pt x="10" y="89"/>
                    </a:lnTo>
                    <a:lnTo>
                      <a:pt x="3" y="72"/>
                    </a:lnTo>
                    <a:lnTo>
                      <a:pt x="3" y="58"/>
                    </a:lnTo>
                    <a:lnTo>
                      <a:pt x="3" y="45"/>
                    </a:lnTo>
                    <a:lnTo>
                      <a:pt x="7" y="38"/>
                    </a:lnTo>
                    <a:lnTo>
                      <a:pt x="7" y="31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3" name="Freeform 230"/>
              <p:cNvSpPr>
                <a:spLocks/>
              </p:cNvSpPr>
              <p:nvPr/>
            </p:nvSpPr>
            <p:spPr bwMode="auto">
              <a:xfrm>
                <a:off x="3557" y="904"/>
                <a:ext cx="49" cy="128"/>
              </a:xfrm>
              <a:custGeom>
                <a:avLst/>
                <a:gdLst>
                  <a:gd name="T0" fmla="*/ 45 w 49"/>
                  <a:gd name="T1" fmla="*/ 3 h 128"/>
                  <a:gd name="T2" fmla="*/ 42 w 49"/>
                  <a:gd name="T3" fmla="*/ 7 h 128"/>
                  <a:gd name="T4" fmla="*/ 35 w 49"/>
                  <a:gd name="T5" fmla="*/ 10 h 128"/>
                  <a:gd name="T6" fmla="*/ 24 w 49"/>
                  <a:gd name="T7" fmla="*/ 21 h 128"/>
                  <a:gd name="T8" fmla="*/ 14 w 49"/>
                  <a:gd name="T9" fmla="*/ 45 h 128"/>
                  <a:gd name="T10" fmla="*/ 11 w 49"/>
                  <a:gd name="T11" fmla="*/ 59 h 128"/>
                  <a:gd name="T12" fmla="*/ 7 w 49"/>
                  <a:gd name="T13" fmla="*/ 93 h 128"/>
                  <a:gd name="T14" fmla="*/ 14 w 49"/>
                  <a:gd name="T15" fmla="*/ 128 h 128"/>
                  <a:gd name="T16" fmla="*/ 11 w 49"/>
                  <a:gd name="T17" fmla="*/ 128 h 128"/>
                  <a:gd name="T18" fmla="*/ 11 w 49"/>
                  <a:gd name="T19" fmla="*/ 128 h 128"/>
                  <a:gd name="T20" fmla="*/ 0 w 49"/>
                  <a:gd name="T21" fmla="*/ 59 h 128"/>
                  <a:gd name="T22" fmla="*/ 4 w 49"/>
                  <a:gd name="T23" fmla="*/ 45 h 128"/>
                  <a:gd name="T24" fmla="*/ 4 w 49"/>
                  <a:gd name="T25" fmla="*/ 34 h 128"/>
                  <a:gd name="T26" fmla="*/ 7 w 49"/>
                  <a:gd name="T27" fmla="*/ 27 h 128"/>
                  <a:gd name="T28" fmla="*/ 14 w 49"/>
                  <a:gd name="T29" fmla="*/ 24 h 128"/>
                  <a:gd name="T30" fmla="*/ 18 w 49"/>
                  <a:gd name="T31" fmla="*/ 17 h 128"/>
                  <a:gd name="T32" fmla="*/ 24 w 49"/>
                  <a:gd name="T33" fmla="*/ 14 h 128"/>
                  <a:gd name="T34" fmla="*/ 31 w 49"/>
                  <a:gd name="T35" fmla="*/ 10 h 128"/>
                  <a:gd name="T36" fmla="*/ 38 w 49"/>
                  <a:gd name="T37" fmla="*/ 3 h 128"/>
                  <a:gd name="T38" fmla="*/ 45 w 49"/>
                  <a:gd name="T39" fmla="*/ 0 h 128"/>
                  <a:gd name="T40" fmla="*/ 49 w 49"/>
                  <a:gd name="T41" fmla="*/ 0 h 128"/>
                  <a:gd name="T42" fmla="*/ 45 w 49"/>
                  <a:gd name="T43" fmla="*/ 3 h 128"/>
                  <a:gd name="T44" fmla="*/ 45 w 49"/>
                  <a:gd name="T45" fmla="*/ 3 h 128"/>
                  <a:gd name="T46" fmla="*/ 45 w 49"/>
                  <a:gd name="T47" fmla="*/ 3 h 12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9"/>
                  <a:gd name="T73" fmla="*/ 0 h 128"/>
                  <a:gd name="T74" fmla="*/ 49 w 49"/>
                  <a:gd name="T75" fmla="*/ 128 h 12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9" h="128">
                    <a:moveTo>
                      <a:pt x="45" y="3"/>
                    </a:moveTo>
                    <a:lnTo>
                      <a:pt x="42" y="7"/>
                    </a:lnTo>
                    <a:lnTo>
                      <a:pt x="35" y="10"/>
                    </a:lnTo>
                    <a:lnTo>
                      <a:pt x="24" y="21"/>
                    </a:lnTo>
                    <a:lnTo>
                      <a:pt x="14" y="45"/>
                    </a:lnTo>
                    <a:lnTo>
                      <a:pt x="11" y="59"/>
                    </a:lnTo>
                    <a:lnTo>
                      <a:pt x="7" y="93"/>
                    </a:lnTo>
                    <a:lnTo>
                      <a:pt x="14" y="128"/>
                    </a:lnTo>
                    <a:lnTo>
                      <a:pt x="11" y="128"/>
                    </a:lnTo>
                    <a:lnTo>
                      <a:pt x="0" y="59"/>
                    </a:lnTo>
                    <a:lnTo>
                      <a:pt x="4" y="45"/>
                    </a:lnTo>
                    <a:lnTo>
                      <a:pt x="4" y="34"/>
                    </a:lnTo>
                    <a:lnTo>
                      <a:pt x="7" y="27"/>
                    </a:lnTo>
                    <a:lnTo>
                      <a:pt x="14" y="24"/>
                    </a:lnTo>
                    <a:lnTo>
                      <a:pt x="18" y="17"/>
                    </a:lnTo>
                    <a:lnTo>
                      <a:pt x="24" y="14"/>
                    </a:lnTo>
                    <a:lnTo>
                      <a:pt x="31" y="10"/>
                    </a:lnTo>
                    <a:lnTo>
                      <a:pt x="38" y="3"/>
                    </a:lnTo>
                    <a:lnTo>
                      <a:pt x="45" y="0"/>
                    </a:lnTo>
                    <a:lnTo>
                      <a:pt x="49" y="0"/>
                    </a:lnTo>
                    <a:lnTo>
                      <a:pt x="4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4" name="Freeform 231"/>
              <p:cNvSpPr>
                <a:spLocks/>
              </p:cNvSpPr>
              <p:nvPr/>
            </p:nvSpPr>
            <p:spPr bwMode="auto">
              <a:xfrm>
                <a:off x="3557" y="956"/>
                <a:ext cx="45" cy="197"/>
              </a:xfrm>
              <a:custGeom>
                <a:avLst/>
                <a:gdLst>
                  <a:gd name="T0" fmla="*/ 45 w 45"/>
                  <a:gd name="T1" fmla="*/ 3 h 197"/>
                  <a:gd name="T2" fmla="*/ 31 w 45"/>
                  <a:gd name="T3" fmla="*/ 17 h 197"/>
                  <a:gd name="T4" fmla="*/ 24 w 45"/>
                  <a:gd name="T5" fmla="*/ 34 h 197"/>
                  <a:gd name="T6" fmla="*/ 21 w 45"/>
                  <a:gd name="T7" fmla="*/ 51 h 197"/>
                  <a:gd name="T8" fmla="*/ 18 w 45"/>
                  <a:gd name="T9" fmla="*/ 72 h 197"/>
                  <a:gd name="T10" fmla="*/ 14 w 45"/>
                  <a:gd name="T11" fmla="*/ 86 h 197"/>
                  <a:gd name="T12" fmla="*/ 14 w 45"/>
                  <a:gd name="T13" fmla="*/ 100 h 197"/>
                  <a:gd name="T14" fmla="*/ 14 w 45"/>
                  <a:gd name="T15" fmla="*/ 117 h 197"/>
                  <a:gd name="T16" fmla="*/ 18 w 45"/>
                  <a:gd name="T17" fmla="*/ 138 h 197"/>
                  <a:gd name="T18" fmla="*/ 21 w 45"/>
                  <a:gd name="T19" fmla="*/ 152 h 197"/>
                  <a:gd name="T20" fmla="*/ 18 w 45"/>
                  <a:gd name="T21" fmla="*/ 162 h 197"/>
                  <a:gd name="T22" fmla="*/ 14 w 45"/>
                  <a:gd name="T23" fmla="*/ 169 h 197"/>
                  <a:gd name="T24" fmla="*/ 7 w 45"/>
                  <a:gd name="T25" fmla="*/ 197 h 197"/>
                  <a:gd name="T26" fmla="*/ 7 w 45"/>
                  <a:gd name="T27" fmla="*/ 197 h 197"/>
                  <a:gd name="T28" fmla="*/ 4 w 45"/>
                  <a:gd name="T29" fmla="*/ 193 h 197"/>
                  <a:gd name="T30" fmla="*/ 7 w 45"/>
                  <a:gd name="T31" fmla="*/ 179 h 197"/>
                  <a:gd name="T32" fmla="*/ 7 w 45"/>
                  <a:gd name="T33" fmla="*/ 169 h 197"/>
                  <a:gd name="T34" fmla="*/ 11 w 45"/>
                  <a:gd name="T35" fmla="*/ 152 h 197"/>
                  <a:gd name="T36" fmla="*/ 11 w 45"/>
                  <a:gd name="T37" fmla="*/ 138 h 197"/>
                  <a:gd name="T38" fmla="*/ 7 w 45"/>
                  <a:gd name="T39" fmla="*/ 117 h 197"/>
                  <a:gd name="T40" fmla="*/ 0 w 45"/>
                  <a:gd name="T41" fmla="*/ 100 h 197"/>
                  <a:gd name="T42" fmla="*/ 4 w 45"/>
                  <a:gd name="T43" fmla="*/ 83 h 197"/>
                  <a:gd name="T44" fmla="*/ 4 w 45"/>
                  <a:gd name="T45" fmla="*/ 69 h 197"/>
                  <a:gd name="T46" fmla="*/ 11 w 45"/>
                  <a:gd name="T47" fmla="*/ 48 h 197"/>
                  <a:gd name="T48" fmla="*/ 18 w 45"/>
                  <a:gd name="T49" fmla="*/ 31 h 197"/>
                  <a:gd name="T50" fmla="*/ 21 w 45"/>
                  <a:gd name="T51" fmla="*/ 24 h 197"/>
                  <a:gd name="T52" fmla="*/ 28 w 45"/>
                  <a:gd name="T53" fmla="*/ 17 h 197"/>
                  <a:gd name="T54" fmla="*/ 31 w 45"/>
                  <a:gd name="T55" fmla="*/ 10 h 197"/>
                  <a:gd name="T56" fmla="*/ 42 w 45"/>
                  <a:gd name="T57" fmla="*/ 0 h 197"/>
                  <a:gd name="T58" fmla="*/ 45 w 45"/>
                  <a:gd name="T59" fmla="*/ 0 h 197"/>
                  <a:gd name="T60" fmla="*/ 45 w 45"/>
                  <a:gd name="T61" fmla="*/ 0 h 197"/>
                  <a:gd name="T62" fmla="*/ 45 w 45"/>
                  <a:gd name="T63" fmla="*/ 3 h 197"/>
                  <a:gd name="T64" fmla="*/ 45 w 45"/>
                  <a:gd name="T65" fmla="*/ 3 h 197"/>
                  <a:gd name="T66" fmla="*/ 45 w 45"/>
                  <a:gd name="T67" fmla="*/ 3 h 19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5"/>
                  <a:gd name="T103" fmla="*/ 0 h 197"/>
                  <a:gd name="T104" fmla="*/ 45 w 45"/>
                  <a:gd name="T105" fmla="*/ 197 h 19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5" h="197">
                    <a:moveTo>
                      <a:pt x="45" y="3"/>
                    </a:moveTo>
                    <a:lnTo>
                      <a:pt x="31" y="17"/>
                    </a:lnTo>
                    <a:lnTo>
                      <a:pt x="24" y="34"/>
                    </a:lnTo>
                    <a:lnTo>
                      <a:pt x="21" y="51"/>
                    </a:lnTo>
                    <a:lnTo>
                      <a:pt x="18" y="72"/>
                    </a:lnTo>
                    <a:lnTo>
                      <a:pt x="14" y="86"/>
                    </a:lnTo>
                    <a:lnTo>
                      <a:pt x="14" y="100"/>
                    </a:lnTo>
                    <a:lnTo>
                      <a:pt x="14" y="117"/>
                    </a:lnTo>
                    <a:lnTo>
                      <a:pt x="18" y="138"/>
                    </a:lnTo>
                    <a:lnTo>
                      <a:pt x="21" y="152"/>
                    </a:lnTo>
                    <a:lnTo>
                      <a:pt x="18" y="162"/>
                    </a:lnTo>
                    <a:lnTo>
                      <a:pt x="14" y="169"/>
                    </a:lnTo>
                    <a:lnTo>
                      <a:pt x="7" y="197"/>
                    </a:lnTo>
                    <a:lnTo>
                      <a:pt x="4" y="193"/>
                    </a:lnTo>
                    <a:lnTo>
                      <a:pt x="7" y="179"/>
                    </a:lnTo>
                    <a:lnTo>
                      <a:pt x="7" y="169"/>
                    </a:lnTo>
                    <a:lnTo>
                      <a:pt x="11" y="152"/>
                    </a:lnTo>
                    <a:lnTo>
                      <a:pt x="11" y="138"/>
                    </a:lnTo>
                    <a:lnTo>
                      <a:pt x="7" y="117"/>
                    </a:lnTo>
                    <a:lnTo>
                      <a:pt x="0" y="100"/>
                    </a:lnTo>
                    <a:lnTo>
                      <a:pt x="4" y="83"/>
                    </a:lnTo>
                    <a:lnTo>
                      <a:pt x="4" y="69"/>
                    </a:lnTo>
                    <a:lnTo>
                      <a:pt x="11" y="48"/>
                    </a:lnTo>
                    <a:lnTo>
                      <a:pt x="18" y="31"/>
                    </a:lnTo>
                    <a:lnTo>
                      <a:pt x="21" y="24"/>
                    </a:lnTo>
                    <a:lnTo>
                      <a:pt x="28" y="17"/>
                    </a:lnTo>
                    <a:lnTo>
                      <a:pt x="31" y="10"/>
                    </a:lnTo>
                    <a:lnTo>
                      <a:pt x="42" y="0"/>
                    </a:lnTo>
                    <a:lnTo>
                      <a:pt x="45" y="0"/>
                    </a:lnTo>
                    <a:lnTo>
                      <a:pt x="4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5" name="Freeform 232"/>
              <p:cNvSpPr>
                <a:spLocks/>
              </p:cNvSpPr>
              <p:nvPr/>
            </p:nvSpPr>
            <p:spPr bwMode="auto">
              <a:xfrm>
                <a:off x="3620" y="1142"/>
                <a:ext cx="27" cy="45"/>
              </a:xfrm>
              <a:custGeom>
                <a:avLst/>
                <a:gdLst>
                  <a:gd name="T0" fmla="*/ 24 w 27"/>
                  <a:gd name="T1" fmla="*/ 45 h 45"/>
                  <a:gd name="T2" fmla="*/ 13 w 27"/>
                  <a:gd name="T3" fmla="*/ 38 h 45"/>
                  <a:gd name="T4" fmla="*/ 6 w 27"/>
                  <a:gd name="T5" fmla="*/ 28 h 45"/>
                  <a:gd name="T6" fmla="*/ 0 w 27"/>
                  <a:gd name="T7" fmla="*/ 7 h 45"/>
                  <a:gd name="T8" fmla="*/ 3 w 27"/>
                  <a:gd name="T9" fmla="*/ 4 h 45"/>
                  <a:gd name="T10" fmla="*/ 6 w 27"/>
                  <a:gd name="T11" fmla="*/ 0 h 45"/>
                  <a:gd name="T12" fmla="*/ 10 w 27"/>
                  <a:gd name="T13" fmla="*/ 4 h 45"/>
                  <a:gd name="T14" fmla="*/ 13 w 27"/>
                  <a:gd name="T15" fmla="*/ 7 h 45"/>
                  <a:gd name="T16" fmla="*/ 17 w 27"/>
                  <a:gd name="T17" fmla="*/ 24 h 45"/>
                  <a:gd name="T18" fmla="*/ 20 w 27"/>
                  <a:gd name="T19" fmla="*/ 31 h 45"/>
                  <a:gd name="T20" fmla="*/ 24 w 27"/>
                  <a:gd name="T21" fmla="*/ 35 h 45"/>
                  <a:gd name="T22" fmla="*/ 27 w 27"/>
                  <a:gd name="T23" fmla="*/ 38 h 45"/>
                  <a:gd name="T24" fmla="*/ 27 w 27"/>
                  <a:gd name="T25" fmla="*/ 42 h 45"/>
                  <a:gd name="T26" fmla="*/ 24 w 27"/>
                  <a:gd name="T27" fmla="*/ 45 h 45"/>
                  <a:gd name="T28" fmla="*/ 24 w 27"/>
                  <a:gd name="T29" fmla="*/ 45 h 45"/>
                  <a:gd name="T30" fmla="*/ 24 w 27"/>
                  <a:gd name="T31" fmla="*/ 45 h 4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7"/>
                  <a:gd name="T49" fmla="*/ 0 h 45"/>
                  <a:gd name="T50" fmla="*/ 27 w 27"/>
                  <a:gd name="T51" fmla="*/ 45 h 4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7" h="45">
                    <a:moveTo>
                      <a:pt x="24" y="45"/>
                    </a:moveTo>
                    <a:lnTo>
                      <a:pt x="13" y="38"/>
                    </a:lnTo>
                    <a:lnTo>
                      <a:pt x="6" y="28"/>
                    </a:lnTo>
                    <a:lnTo>
                      <a:pt x="0" y="7"/>
                    </a:lnTo>
                    <a:lnTo>
                      <a:pt x="3" y="4"/>
                    </a:lnTo>
                    <a:lnTo>
                      <a:pt x="6" y="0"/>
                    </a:lnTo>
                    <a:lnTo>
                      <a:pt x="10" y="4"/>
                    </a:lnTo>
                    <a:lnTo>
                      <a:pt x="13" y="7"/>
                    </a:lnTo>
                    <a:lnTo>
                      <a:pt x="17" y="24"/>
                    </a:lnTo>
                    <a:lnTo>
                      <a:pt x="20" y="31"/>
                    </a:lnTo>
                    <a:lnTo>
                      <a:pt x="24" y="35"/>
                    </a:lnTo>
                    <a:lnTo>
                      <a:pt x="27" y="38"/>
                    </a:lnTo>
                    <a:lnTo>
                      <a:pt x="27" y="42"/>
                    </a:lnTo>
                    <a:lnTo>
                      <a:pt x="24" y="4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6" name="Freeform 233"/>
              <p:cNvSpPr>
                <a:spLocks/>
              </p:cNvSpPr>
              <p:nvPr/>
            </p:nvSpPr>
            <p:spPr bwMode="auto">
              <a:xfrm>
                <a:off x="3537" y="1146"/>
                <a:ext cx="86" cy="76"/>
              </a:xfrm>
              <a:custGeom>
                <a:avLst/>
                <a:gdLst>
                  <a:gd name="T0" fmla="*/ 83 w 86"/>
                  <a:gd name="T1" fmla="*/ 3 h 76"/>
                  <a:gd name="T2" fmla="*/ 72 w 86"/>
                  <a:gd name="T3" fmla="*/ 7 h 76"/>
                  <a:gd name="T4" fmla="*/ 69 w 86"/>
                  <a:gd name="T5" fmla="*/ 10 h 76"/>
                  <a:gd name="T6" fmla="*/ 65 w 86"/>
                  <a:gd name="T7" fmla="*/ 14 h 76"/>
                  <a:gd name="T8" fmla="*/ 58 w 86"/>
                  <a:gd name="T9" fmla="*/ 17 h 76"/>
                  <a:gd name="T10" fmla="*/ 51 w 86"/>
                  <a:gd name="T11" fmla="*/ 20 h 76"/>
                  <a:gd name="T12" fmla="*/ 34 w 86"/>
                  <a:gd name="T13" fmla="*/ 20 h 76"/>
                  <a:gd name="T14" fmla="*/ 24 w 86"/>
                  <a:gd name="T15" fmla="*/ 17 h 76"/>
                  <a:gd name="T16" fmla="*/ 13 w 86"/>
                  <a:gd name="T17" fmla="*/ 14 h 76"/>
                  <a:gd name="T18" fmla="*/ 10 w 86"/>
                  <a:gd name="T19" fmla="*/ 38 h 76"/>
                  <a:gd name="T20" fmla="*/ 10 w 86"/>
                  <a:gd name="T21" fmla="*/ 52 h 76"/>
                  <a:gd name="T22" fmla="*/ 13 w 86"/>
                  <a:gd name="T23" fmla="*/ 59 h 76"/>
                  <a:gd name="T24" fmla="*/ 17 w 86"/>
                  <a:gd name="T25" fmla="*/ 65 h 76"/>
                  <a:gd name="T26" fmla="*/ 34 w 86"/>
                  <a:gd name="T27" fmla="*/ 72 h 76"/>
                  <a:gd name="T28" fmla="*/ 55 w 86"/>
                  <a:gd name="T29" fmla="*/ 72 h 76"/>
                  <a:gd name="T30" fmla="*/ 55 w 86"/>
                  <a:gd name="T31" fmla="*/ 72 h 76"/>
                  <a:gd name="T32" fmla="*/ 55 w 86"/>
                  <a:gd name="T33" fmla="*/ 76 h 76"/>
                  <a:gd name="T34" fmla="*/ 34 w 86"/>
                  <a:gd name="T35" fmla="*/ 76 h 76"/>
                  <a:gd name="T36" fmla="*/ 13 w 86"/>
                  <a:gd name="T37" fmla="*/ 72 h 76"/>
                  <a:gd name="T38" fmla="*/ 6 w 86"/>
                  <a:gd name="T39" fmla="*/ 65 h 76"/>
                  <a:gd name="T40" fmla="*/ 0 w 86"/>
                  <a:gd name="T41" fmla="*/ 55 h 76"/>
                  <a:gd name="T42" fmla="*/ 0 w 86"/>
                  <a:gd name="T43" fmla="*/ 34 h 76"/>
                  <a:gd name="T44" fmla="*/ 3 w 86"/>
                  <a:gd name="T45" fmla="*/ 27 h 76"/>
                  <a:gd name="T46" fmla="*/ 3 w 86"/>
                  <a:gd name="T47" fmla="*/ 24 h 76"/>
                  <a:gd name="T48" fmla="*/ 10 w 86"/>
                  <a:gd name="T49" fmla="*/ 14 h 76"/>
                  <a:gd name="T50" fmla="*/ 13 w 86"/>
                  <a:gd name="T51" fmla="*/ 10 h 76"/>
                  <a:gd name="T52" fmla="*/ 34 w 86"/>
                  <a:gd name="T53" fmla="*/ 14 h 76"/>
                  <a:gd name="T54" fmla="*/ 48 w 86"/>
                  <a:gd name="T55" fmla="*/ 10 h 76"/>
                  <a:gd name="T56" fmla="*/ 58 w 86"/>
                  <a:gd name="T57" fmla="*/ 7 h 76"/>
                  <a:gd name="T58" fmla="*/ 72 w 86"/>
                  <a:gd name="T59" fmla="*/ 3 h 76"/>
                  <a:gd name="T60" fmla="*/ 83 w 86"/>
                  <a:gd name="T61" fmla="*/ 0 h 76"/>
                  <a:gd name="T62" fmla="*/ 86 w 86"/>
                  <a:gd name="T63" fmla="*/ 0 h 76"/>
                  <a:gd name="T64" fmla="*/ 83 w 86"/>
                  <a:gd name="T65" fmla="*/ 3 h 76"/>
                  <a:gd name="T66" fmla="*/ 83 w 86"/>
                  <a:gd name="T67" fmla="*/ 3 h 76"/>
                  <a:gd name="T68" fmla="*/ 83 w 86"/>
                  <a:gd name="T69" fmla="*/ 3 h 7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86"/>
                  <a:gd name="T106" fmla="*/ 0 h 76"/>
                  <a:gd name="T107" fmla="*/ 86 w 86"/>
                  <a:gd name="T108" fmla="*/ 76 h 7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86" h="76">
                    <a:moveTo>
                      <a:pt x="83" y="3"/>
                    </a:moveTo>
                    <a:lnTo>
                      <a:pt x="72" y="7"/>
                    </a:lnTo>
                    <a:lnTo>
                      <a:pt x="69" y="10"/>
                    </a:lnTo>
                    <a:lnTo>
                      <a:pt x="65" y="14"/>
                    </a:lnTo>
                    <a:lnTo>
                      <a:pt x="58" y="17"/>
                    </a:lnTo>
                    <a:lnTo>
                      <a:pt x="51" y="20"/>
                    </a:lnTo>
                    <a:lnTo>
                      <a:pt x="34" y="20"/>
                    </a:lnTo>
                    <a:lnTo>
                      <a:pt x="24" y="17"/>
                    </a:lnTo>
                    <a:lnTo>
                      <a:pt x="13" y="14"/>
                    </a:lnTo>
                    <a:lnTo>
                      <a:pt x="10" y="38"/>
                    </a:lnTo>
                    <a:lnTo>
                      <a:pt x="10" y="52"/>
                    </a:lnTo>
                    <a:lnTo>
                      <a:pt x="13" y="59"/>
                    </a:lnTo>
                    <a:lnTo>
                      <a:pt x="17" y="65"/>
                    </a:lnTo>
                    <a:lnTo>
                      <a:pt x="34" y="72"/>
                    </a:lnTo>
                    <a:lnTo>
                      <a:pt x="55" y="72"/>
                    </a:lnTo>
                    <a:lnTo>
                      <a:pt x="55" y="76"/>
                    </a:lnTo>
                    <a:lnTo>
                      <a:pt x="34" y="76"/>
                    </a:lnTo>
                    <a:lnTo>
                      <a:pt x="13" y="72"/>
                    </a:lnTo>
                    <a:lnTo>
                      <a:pt x="6" y="65"/>
                    </a:lnTo>
                    <a:lnTo>
                      <a:pt x="0" y="55"/>
                    </a:lnTo>
                    <a:lnTo>
                      <a:pt x="0" y="34"/>
                    </a:lnTo>
                    <a:lnTo>
                      <a:pt x="3" y="27"/>
                    </a:lnTo>
                    <a:lnTo>
                      <a:pt x="3" y="24"/>
                    </a:lnTo>
                    <a:lnTo>
                      <a:pt x="10" y="14"/>
                    </a:lnTo>
                    <a:lnTo>
                      <a:pt x="13" y="10"/>
                    </a:lnTo>
                    <a:lnTo>
                      <a:pt x="34" y="14"/>
                    </a:lnTo>
                    <a:lnTo>
                      <a:pt x="48" y="10"/>
                    </a:lnTo>
                    <a:lnTo>
                      <a:pt x="58" y="7"/>
                    </a:lnTo>
                    <a:lnTo>
                      <a:pt x="72" y="3"/>
                    </a:lnTo>
                    <a:lnTo>
                      <a:pt x="83" y="0"/>
                    </a:lnTo>
                    <a:lnTo>
                      <a:pt x="86" y="0"/>
                    </a:lnTo>
                    <a:lnTo>
                      <a:pt x="8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7" name="Freeform 234"/>
              <p:cNvSpPr>
                <a:spLocks/>
              </p:cNvSpPr>
              <p:nvPr/>
            </p:nvSpPr>
            <p:spPr bwMode="auto">
              <a:xfrm>
                <a:off x="3537" y="1215"/>
                <a:ext cx="17" cy="45"/>
              </a:xfrm>
              <a:custGeom>
                <a:avLst/>
                <a:gdLst>
                  <a:gd name="T0" fmla="*/ 17 w 17"/>
                  <a:gd name="T1" fmla="*/ 3 h 45"/>
                  <a:gd name="T2" fmla="*/ 10 w 17"/>
                  <a:gd name="T3" fmla="*/ 34 h 45"/>
                  <a:gd name="T4" fmla="*/ 6 w 17"/>
                  <a:gd name="T5" fmla="*/ 45 h 45"/>
                  <a:gd name="T6" fmla="*/ 3 w 17"/>
                  <a:gd name="T7" fmla="*/ 45 h 45"/>
                  <a:gd name="T8" fmla="*/ 0 w 17"/>
                  <a:gd name="T9" fmla="*/ 45 h 45"/>
                  <a:gd name="T10" fmla="*/ 0 w 17"/>
                  <a:gd name="T11" fmla="*/ 41 h 45"/>
                  <a:gd name="T12" fmla="*/ 0 w 17"/>
                  <a:gd name="T13" fmla="*/ 31 h 45"/>
                  <a:gd name="T14" fmla="*/ 10 w 17"/>
                  <a:gd name="T15" fmla="*/ 3 h 45"/>
                  <a:gd name="T16" fmla="*/ 10 w 17"/>
                  <a:gd name="T17" fmla="*/ 0 h 45"/>
                  <a:gd name="T18" fmla="*/ 13 w 17"/>
                  <a:gd name="T19" fmla="*/ 0 h 45"/>
                  <a:gd name="T20" fmla="*/ 17 w 17"/>
                  <a:gd name="T21" fmla="*/ 3 h 45"/>
                  <a:gd name="T22" fmla="*/ 17 w 17"/>
                  <a:gd name="T23" fmla="*/ 3 h 45"/>
                  <a:gd name="T24" fmla="*/ 17 w 17"/>
                  <a:gd name="T25" fmla="*/ 3 h 4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"/>
                  <a:gd name="T40" fmla="*/ 0 h 45"/>
                  <a:gd name="T41" fmla="*/ 17 w 17"/>
                  <a:gd name="T42" fmla="*/ 45 h 4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" h="45">
                    <a:moveTo>
                      <a:pt x="17" y="3"/>
                    </a:moveTo>
                    <a:lnTo>
                      <a:pt x="10" y="34"/>
                    </a:lnTo>
                    <a:lnTo>
                      <a:pt x="6" y="45"/>
                    </a:lnTo>
                    <a:lnTo>
                      <a:pt x="3" y="45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0" y="3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8" name="Freeform 235"/>
              <p:cNvSpPr>
                <a:spLocks/>
              </p:cNvSpPr>
              <p:nvPr/>
            </p:nvSpPr>
            <p:spPr bwMode="auto">
              <a:xfrm>
                <a:off x="3647" y="938"/>
                <a:ext cx="45" cy="170"/>
              </a:xfrm>
              <a:custGeom>
                <a:avLst/>
                <a:gdLst>
                  <a:gd name="T0" fmla="*/ 31 w 45"/>
                  <a:gd name="T1" fmla="*/ 4 h 170"/>
                  <a:gd name="T2" fmla="*/ 45 w 45"/>
                  <a:gd name="T3" fmla="*/ 56 h 170"/>
                  <a:gd name="T4" fmla="*/ 35 w 45"/>
                  <a:gd name="T5" fmla="*/ 80 h 170"/>
                  <a:gd name="T6" fmla="*/ 31 w 45"/>
                  <a:gd name="T7" fmla="*/ 87 h 170"/>
                  <a:gd name="T8" fmla="*/ 28 w 45"/>
                  <a:gd name="T9" fmla="*/ 90 h 170"/>
                  <a:gd name="T10" fmla="*/ 21 w 45"/>
                  <a:gd name="T11" fmla="*/ 101 h 170"/>
                  <a:gd name="T12" fmla="*/ 11 w 45"/>
                  <a:gd name="T13" fmla="*/ 128 h 170"/>
                  <a:gd name="T14" fmla="*/ 11 w 45"/>
                  <a:gd name="T15" fmla="*/ 139 h 170"/>
                  <a:gd name="T16" fmla="*/ 7 w 45"/>
                  <a:gd name="T17" fmla="*/ 152 h 170"/>
                  <a:gd name="T18" fmla="*/ 4 w 45"/>
                  <a:gd name="T19" fmla="*/ 170 h 170"/>
                  <a:gd name="T20" fmla="*/ 0 w 45"/>
                  <a:gd name="T21" fmla="*/ 166 h 170"/>
                  <a:gd name="T22" fmla="*/ 0 w 45"/>
                  <a:gd name="T23" fmla="*/ 152 h 170"/>
                  <a:gd name="T24" fmla="*/ 0 w 45"/>
                  <a:gd name="T25" fmla="*/ 139 h 170"/>
                  <a:gd name="T26" fmla="*/ 0 w 45"/>
                  <a:gd name="T27" fmla="*/ 128 h 170"/>
                  <a:gd name="T28" fmla="*/ 4 w 45"/>
                  <a:gd name="T29" fmla="*/ 121 h 170"/>
                  <a:gd name="T30" fmla="*/ 7 w 45"/>
                  <a:gd name="T31" fmla="*/ 114 h 170"/>
                  <a:gd name="T32" fmla="*/ 14 w 45"/>
                  <a:gd name="T33" fmla="*/ 97 h 170"/>
                  <a:gd name="T34" fmla="*/ 24 w 45"/>
                  <a:gd name="T35" fmla="*/ 76 h 170"/>
                  <a:gd name="T36" fmla="*/ 28 w 45"/>
                  <a:gd name="T37" fmla="*/ 63 h 170"/>
                  <a:gd name="T38" fmla="*/ 31 w 45"/>
                  <a:gd name="T39" fmla="*/ 56 h 170"/>
                  <a:gd name="T40" fmla="*/ 35 w 45"/>
                  <a:gd name="T41" fmla="*/ 49 h 170"/>
                  <a:gd name="T42" fmla="*/ 38 w 45"/>
                  <a:gd name="T43" fmla="*/ 38 h 170"/>
                  <a:gd name="T44" fmla="*/ 38 w 45"/>
                  <a:gd name="T45" fmla="*/ 28 h 170"/>
                  <a:gd name="T46" fmla="*/ 35 w 45"/>
                  <a:gd name="T47" fmla="*/ 18 h 170"/>
                  <a:gd name="T48" fmla="*/ 28 w 45"/>
                  <a:gd name="T49" fmla="*/ 4 h 170"/>
                  <a:gd name="T50" fmla="*/ 31 w 45"/>
                  <a:gd name="T51" fmla="*/ 0 h 170"/>
                  <a:gd name="T52" fmla="*/ 31 w 45"/>
                  <a:gd name="T53" fmla="*/ 4 h 170"/>
                  <a:gd name="T54" fmla="*/ 31 w 45"/>
                  <a:gd name="T55" fmla="*/ 4 h 170"/>
                  <a:gd name="T56" fmla="*/ 31 w 45"/>
                  <a:gd name="T57" fmla="*/ 4 h 17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5"/>
                  <a:gd name="T88" fmla="*/ 0 h 170"/>
                  <a:gd name="T89" fmla="*/ 45 w 45"/>
                  <a:gd name="T90" fmla="*/ 170 h 17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5" h="170">
                    <a:moveTo>
                      <a:pt x="31" y="4"/>
                    </a:moveTo>
                    <a:lnTo>
                      <a:pt x="45" y="56"/>
                    </a:lnTo>
                    <a:lnTo>
                      <a:pt x="35" y="80"/>
                    </a:lnTo>
                    <a:lnTo>
                      <a:pt x="31" y="87"/>
                    </a:lnTo>
                    <a:lnTo>
                      <a:pt x="28" y="90"/>
                    </a:lnTo>
                    <a:lnTo>
                      <a:pt x="21" y="101"/>
                    </a:lnTo>
                    <a:lnTo>
                      <a:pt x="11" y="128"/>
                    </a:lnTo>
                    <a:lnTo>
                      <a:pt x="11" y="139"/>
                    </a:lnTo>
                    <a:lnTo>
                      <a:pt x="7" y="152"/>
                    </a:lnTo>
                    <a:lnTo>
                      <a:pt x="4" y="170"/>
                    </a:lnTo>
                    <a:lnTo>
                      <a:pt x="0" y="166"/>
                    </a:lnTo>
                    <a:lnTo>
                      <a:pt x="0" y="152"/>
                    </a:lnTo>
                    <a:lnTo>
                      <a:pt x="0" y="139"/>
                    </a:lnTo>
                    <a:lnTo>
                      <a:pt x="0" y="128"/>
                    </a:lnTo>
                    <a:lnTo>
                      <a:pt x="4" y="121"/>
                    </a:lnTo>
                    <a:lnTo>
                      <a:pt x="7" y="114"/>
                    </a:lnTo>
                    <a:lnTo>
                      <a:pt x="14" y="97"/>
                    </a:lnTo>
                    <a:lnTo>
                      <a:pt x="24" y="76"/>
                    </a:lnTo>
                    <a:lnTo>
                      <a:pt x="28" y="63"/>
                    </a:lnTo>
                    <a:lnTo>
                      <a:pt x="31" y="56"/>
                    </a:lnTo>
                    <a:lnTo>
                      <a:pt x="35" y="49"/>
                    </a:lnTo>
                    <a:lnTo>
                      <a:pt x="38" y="38"/>
                    </a:lnTo>
                    <a:lnTo>
                      <a:pt x="38" y="28"/>
                    </a:lnTo>
                    <a:lnTo>
                      <a:pt x="35" y="18"/>
                    </a:lnTo>
                    <a:lnTo>
                      <a:pt x="28" y="4"/>
                    </a:lnTo>
                    <a:lnTo>
                      <a:pt x="31" y="0"/>
                    </a:ln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49" name="Freeform 236"/>
              <p:cNvSpPr>
                <a:spLocks/>
              </p:cNvSpPr>
              <p:nvPr/>
            </p:nvSpPr>
            <p:spPr bwMode="auto">
              <a:xfrm>
                <a:off x="3391" y="1021"/>
                <a:ext cx="97" cy="163"/>
              </a:xfrm>
              <a:custGeom>
                <a:avLst/>
                <a:gdLst>
                  <a:gd name="T0" fmla="*/ 4 w 97"/>
                  <a:gd name="T1" fmla="*/ 0 h 163"/>
                  <a:gd name="T2" fmla="*/ 18 w 97"/>
                  <a:gd name="T3" fmla="*/ 7 h 163"/>
                  <a:gd name="T4" fmla="*/ 21 w 97"/>
                  <a:gd name="T5" fmla="*/ 18 h 163"/>
                  <a:gd name="T6" fmla="*/ 25 w 97"/>
                  <a:gd name="T7" fmla="*/ 31 h 163"/>
                  <a:gd name="T8" fmla="*/ 28 w 97"/>
                  <a:gd name="T9" fmla="*/ 38 h 163"/>
                  <a:gd name="T10" fmla="*/ 31 w 97"/>
                  <a:gd name="T11" fmla="*/ 45 h 163"/>
                  <a:gd name="T12" fmla="*/ 42 w 97"/>
                  <a:gd name="T13" fmla="*/ 76 h 163"/>
                  <a:gd name="T14" fmla="*/ 49 w 97"/>
                  <a:gd name="T15" fmla="*/ 87 h 163"/>
                  <a:gd name="T16" fmla="*/ 56 w 97"/>
                  <a:gd name="T17" fmla="*/ 101 h 163"/>
                  <a:gd name="T18" fmla="*/ 63 w 97"/>
                  <a:gd name="T19" fmla="*/ 107 h 163"/>
                  <a:gd name="T20" fmla="*/ 66 w 97"/>
                  <a:gd name="T21" fmla="*/ 114 h 163"/>
                  <a:gd name="T22" fmla="*/ 73 w 97"/>
                  <a:gd name="T23" fmla="*/ 118 h 163"/>
                  <a:gd name="T24" fmla="*/ 80 w 97"/>
                  <a:gd name="T25" fmla="*/ 125 h 163"/>
                  <a:gd name="T26" fmla="*/ 90 w 97"/>
                  <a:gd name="T27" fmla="*/ 139 h 163"/>
                  <a:gd name="T28" fmla="*/ 97 w 97"/>
                  <a:gd name="T29" fmla="*/ 149 h 163"/>
                  <a:gd name="T30" fmla="*/ 97 w 97"/>
                  <a:gd name="T31" fmla="*/ 159 h 163"/>
                  <a:gd name="T32" fmla="*/ 97 w 97"/>
                  <a:gd name="T33" fmla="*/ 163 h 163"/>
                  <a:gd name="T34" fmla="*/ 94 w 97"/>
                  <a:gd name="T35" fmla="*/ 159 h 163"/>
                  <a:gd name="T36" fmla="*/ 90 w 97"/>
                  <a:gd name="T37" fmla="*/ 152 h 163"/>
                  <a:gd name="T38" fmla="*/ 83 w 97"/>
                  <a:gd name="T39" fmla="*/ 142 h 163"/>
                  <a:gd name="T40" fmla="*/ 73 w 97"/>
                  <a:gd name="T41" fmla="*/ 128 h 163"/>
                  <a:gd name="T42" fmla="*/ 52 w 97"/>
                  <a:gd name="T43" fmla="*/ 104 h 163"/>
                  <a:gd name="T44" fmla="*/ 45 w 97"/>
                  <a:gd name="T45" fmla="*/ 97 h 163"/>
                  <a:gd name="T46" fmla="*/ 42 w 97"/>
                  <a:gd name="T47" fmla="*/ 90 h 163"/>
                  <a:gd name="T48" fmla="*/ 31 w 97"/>
                  <a:gd name="T49" fmla="*/ 80 h 163"/>
                  <a:gd name="T50" fmla="*/ 21 w 97"/>
                  <a:gd name="T51" fmla="*/ 52 h 163"/>
                  <a:gd name="T52" fmla="*/ 14 w 97"/>
                  <a:gd name="T53" fmla="*/ 38 h 163"/>
                  <a:gd name="T54" fmla="*/ 14 w 97"/>
                  <a:gd name="T55" fmla="*/ 21 h 163"/>
                  <a:gd name="T56" fmla="*/ 14 w 97"/>
                  <a:gd name="T57" fmla="*/ 11 h 163"/>
                  <a:gd name="T58" fmla="*/ 11 w 97"/>
                  <a:gd name="T59" fmla="*/ 4 h 163"/>
                  <a:gd name="T60" fmla="*/ 4 w 97"/>
                  <a:gd name="T61" fmla="*/ 0 h 163"/>
                  <a:gd name="T62" fmla="*/ 0 w 97"/>
                  <a:gd name="T63" fmla="*/ 0 h 163"/>
                  <a:gd name="T64" fmla="*/ 4 w 97"/>
                  <a:gd name="T65" fmla="*/ 0 h 163"/>
                  <a:gd name="T66" fmla="*/ 4 w 97"/>
                  <a:gd name="T67" fmla="*/ 0 h 163"/>
                  <a:gd name="T68" fmla="*/ 4 w 97"/>
                  <a:gd name="T69" fmla="*/ 0 h 16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7"/>
                  <a:gd name="T106" fmla="*/ 0 h 163"/>
                  <a:gd name="T107" fmla="*/ 97 w 97"/>
                  <a:gd name="T108" fmla="*/ 163 h 16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7" h="163">
                    <a:moveTo>
                      <a:pt x="4" y="0"/>
                    </a:moveTo>
                    <a:lnTo>
                      <a:pt x="18" y="7"/>
                    </a:lnTo>
                    <a:lnTo>
                      <a:pt x="21" y="18"/>
                    </a:lnTo>
                    <a:lnTo>
                      <a:pt x="25" y="31"/>
                    </a:lnTo>
                    <a:lnTo>
                      <a:pt x="28" y="38"/>
                    </a:lnTo>
                    <a:lnTo>
                      <a:pt x="31" y="45"/>
                    </a:lnTo>
                    <a:lnTo>
                      <a:pt x="42" y="76"/>
                    </a:lnTo>
                    <a:lnTo>
                      <a:pt x="49" y="87"/>
                    </a:lnTo>
                    <a:lnTo>
                      <a:pt x="56" y="101"/>
                    </a:lnTo>
                    <a:lnTo>
                      <a:pt x="63" y="107"/>
                    </a:lnTo>
                    <a:lnTo>
                      <a:pt x="66" y="114"/>
                    </a:lnTo>
                    <a:lnTo>
                      <a:pt x="73" y="118"/>
                    </a:lnTo>
                    <a:lnTo>
                      <a:pt x="80" y="125"/>
                    </a:lnTo>
                    <a:lnTo>
                      <a:pt x="90" y="139"/>
                    </a:lnTo>
                    <a:lnTo>
                      <a:pt x="97" y="149"/>
                    </a:lnTo>
                    <a:lnTo>
                      <a:pt x="97" y="159"/>
                    </a:lnTo>
                    <a:lnTo>
                      <a:pt x="97" y="163"/>
                    </a:lnTo>
                    <a:lnTo>
                      <a:pt x="94" y="159"/>
                    </a:lnTo>
                    <a:lnTo>
                      <a:pt x="90" y="152"/>
                    </a:lnTo>
                    <a:lnTo>
                      <a:pt x="83" y="142"/>
                    </a:lnTo>
                    <a:lnTo>
                      <a:pt x="73" y="128"/>
                    </a:lnTo>
                    <a:lnTo>
                      <a:pt x="52" y="104"/>
                    </a:lnTo>
                    <a:lnTo>
                      <a:pt x="45" y="97"/>
                    </a:lnTo>
                    <a:lnTo>
                      <a:pt x="42" y="90"/>
                    </a:lnTo>
                    <a:lnTo>
                      <a:pt x="31" y="80"/>
                    </a:lnTo>
                    <a:lnTo>
                      <a:pt x="21" y="52"/>
                    </a:lnTo>
                    <a:lnTo>
                      <a:pt x="14" y="38"/>
                    </a:lnTo>
                    <a:lnTo>
                      <a:pt x="14" y="21"/>
                    </a:lnTo>
                    <a:lnTo>
                      <a:pt x="14" y="11"/>
                    </a:lnTo>
                    <a:lnTo>
                      <a:pt x="11" y="4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0" name="Freeform 237"/>
              <p:cNvSpPr>
                <a:spLocks/>
              </p:cNvSpPr>
              <p:nvPr/>
            </p:nvSpPr>
            <p:spPr bwMode="auto">
              <a:xfrm>
                <a:off x="3353" y="987"/>
                <a:ext cx="49" cy="138"/>
              </a:xfrm>
              <a:custGeom>
                <a:avLst/>
                <a:gdLst>
                  <a:gd name="T0" fmla="*/ 11 w 49"/>
                  <a:gd name="T1" fmla="*/ 0 h 138"/>
                  <a:gd name="T2" fmla="*/ 28 w 49"/>
                  <a:gd name="T3" fmla="*/ 10 h 138"/>
                  <a:gd name="T4" fmla="*/ 31 w 49"/>
                  <a:gd name="T5" fmla="*/ 20 h 138"/>
                  <a:gd name="T6" fmla="*/ 28 w 49"/>
                  <a:gd name="T7" fmla="*/ 31 h 138"/>
                  <a:gd name="T8" fmla="*/ 25 w 49"/>
                  <a:gd name="T9" fmla="*/ 41 h 138"/>
                  <a:gd name="T10" fmla="*/ 21 w 49"/>
                  <a:gd name="T11" fmla="*/ 48 h 138"/>
                  <a:gd name="T12" fmla="*/ 14 w 49"/>
                  <a:gd name="T13" fmla="*/ 62 h 138"/>
                  <a:gd name="T14" fmla="*/ 11 w 49"/>
                  <a:gd name="T15" fmla="*/ 76 h 138"/>
                  <a:gd name="T16" fmla="*/ 14 w 49"/>
                  <a:gd name="T17" fmla="*/ 86 h 138"/>
                  <a:gd name="T18" fmla="*/ 18 w 49"/>
                  <a:gd name="T19" fmla="*/ 93 h 138"/>
                  <a:gd name="T20" fmla="*/ 25 w 49"/>
                  <a:gd name="T21" fmla="*/ 100 h 138"/>
                  <a:gd name="T22" fmla="*/ 28 w 49"/>
                  <a:gd name="T23" fmla="*/ 107 h 138"/>
                  <a:gd name="T24" fmla="*/ 42 w 49"/>
                  <a:gd name="T25" fmla="*/ 121 h 138"/>
                  <a:gd name="T26" fmla="*/ 49 w 49"/>
                  <a:gd name="T27" fmla="*/ 135 h 138"/>
                  <a:gd name="T28" fmla="*/ 49 w 49"/>
                  <a:gd name="T29" fmla="*/ 138 h 138"/>
                  <a:gd name="T30" fmla="*/ 42 w 49"/>
                  <a:gd name="T31" fmla="*/ 138 h 138"/>
                  <a:gd name="T32" fmla="*/ 38 w 49"/>
                  <a:gd name="T33" fmla="*/ 131 h 138"/>
                  <a:gd name="T34" fmla="*/ 31 w 49"/>
                  <a:gd name="T35" fmla="*/ 128 h 138"/>
                  <a:gd name="T36" fmla="*/ 25 w 49"/>
                  <a:gd name="T37" fmla="*/ 121 h 138"/>
                  <a:gd name="T38" fmla="*/ 18 w 49"/>
                  <a:gd name="T39" fmla="*/ 114 h 138"/>
                  <a:gd name="T40" fmla="*/ 4 w 49"/>
                  <a:gd name="T41" fmla="*/ 100 h 138"/>
                  <a:gd name="T42" fmla="*/ 0 w 49"/>
                  <a:gd name="T43" fmla="*/ 83 h 138"/>
                  <a:gd name="T44" fmla="*/ 0 w 49"/>
                  <a:gd name="T45" fmla="*/ 72 h 138"/>
                  <a:gd name="T46" fmla="*/ 4 w 49"/>
                  <a:gd name="T47" fmla="*/ 65 h 138"/>
                  <a:gd name="T48" fmla="*/ 7 w 49"/>
                  <a:gd name="T49" fmla="*/ 59 h 138"/>
                  <a:gd name="T50" fmla="*/ 11 w 49"/>
                  <a:gd name="T51" fmla="*/ 48 h 138"/>
                  <a:gd name="T52" fmla="*/ 21 w 49"/>
                  <a:gd name="T53" fmla="*/ 31 h 138"/>
                  <a:gd name="T54" fmla="*/ 21 w 49"/>
                  <a:gd name="T55" fmla="*/ 14 h 138"/>
                  <a:gd name="T56" fmla="*/ 18 w 49"/>
                  <a:gd name="T57" fmla="*/ 7 h 138"/>
                  <a:gd name="T58" fmla="*/ 7 w 49"/>
                  <a:gd name="T59" fmla="*/ 3 h 138"/>
                  <a:gd name="T60" fmla="*/ 7 w 49"/>
                  <a:gd name="T61" fmla="*/ 0 h 138"/>
                  <a:gd name="T62" fmla="*/ 11 w 49"/>
                  <a:gd name="T63" fmla="*/ 0 h 138"/>
                  <a:gd name="T64" fmla="*/ 11 w 49"/>
                  <a:gd name="T65" fmla="*/ 0 h 138"/>
                  <a:gd name="T66" fmla="*/ 11 w 49"/>
                  <a:gd name="T67" fmla="*/ 0 h 13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9"/>
                  <a:gd name="T103" fmla="*/ 0 h 138"/>
                  <a:gd name="T104" fmla="*/ 49 w 49"/>
                  <a:gd name="T105" fmla="*/ 138 h 13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9" h="138">
                    <a:moveTo>
                      <a:pt x="11" y="0"/>
                    </a:moveTo>
                    <a:lnTo>
                      <a:pt x="28" y="10"/>
                    </a:lnTo>
                    <a:lnTo>
                      <a:pt x="31" y="20"/>
                    </a:lnTo>
                    <a:lnTo>
                      <a:pt x="28" y="31"/>
                    </a:lnTo>
                    <a:lnTo>
                      <a:pt x="25" y="41"/>
                    </a:lnTo>
                    <a:lnTo>
                      <a:pt x="21" y="48"/>
                    </a:lnTo>
                    <a:lnTo>
                      <a:pt x="14" y="62"/>
                    </a:lnTo>
                    <a:lnTo>
                      <a:pt x="11" y="76"/>
                    </a:lnTo>
                    <a:lnTo>
                      <a:pt x="14" y="86"/>
                    </a:lnTo>
                    <a:lnTo>
                      <a:pt x="18" y="93"/>
                    </a:lnTo>
                    <a:lnTo>
                      <a:pt x="25" y="100"/>
                    </a:lnTo>
                    <a:lnTo>
                      <a:pt x="28" y="107"/>
                    </a:lnTo>
                    <a:lnTo>
                      <a:pt x="42" y="121"/>
                    </a:lnTo>
                    <a:lnTo>
                      <a:pt x="49" y="135"/>
                    </a:lnTo>
                    <a:lnTo>
                      <a:pt x="49" y="138"/>
                    </a:lnTo>
                    <a:lnTo>
                      <a:pt x="42" y="138"/>
                    </a:lnTo>
                    <a:lnTo>
                      <a:pt x="38" y="131"/>
                    </a:lnTo>
                    <a:lnTo>
                      <a:pt x="31" y="128"/>
                    </a:lnTo>
                    <a:lnTo>
                      <a:pt x="25" y="121"/>
                    </a:lnTo>
                    <a:lnTo>
                      <a:pt x="18" y="114"/>
                    </a:lnTo>
                    <a:lnTo>
                      <a:pt x="4" y="100"/>
                    </a:lnTo>
                    <a:lnTo>
                      <a:pt x="0" y="83"/>
                    </a:lnTo>
                    <a:lnTo>
                      <a:pt x="0" y="72"/>
                    </a:lnTo>
                    <a:lnTo>
                      <a:pt x="4" y="65"/>
                    </a:lnTo>
                    <a:lnTo>
                      <a:pt x="7" y="59"/>
                    </a:lnTo>
                    <a:lnTo>
                      <a:pt x="11" y="48"/>
                    </a:lnTo>
                    <a:lnTo>
                      <a:pt x="21" y="31"/>
                    </a:lnTo>
                    <a:lnTo>
                      <a:pt x="21" y="14"/>
                    </a:lnTo>
                    <a:lnTo>
                      <a:pt x="18" y="7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1" name="Freeform 238"/>
              <p:cNvSpPr>
                <a:spLocks/>
              </p:cNvSpPr>
              <p:nvPr/>
            </p:nvSpPr>
            <p:spPr bwMode="auto">
              <a:xfrm>
                <a:off x="3298" y="907"/>
                <a:ext cx="124" cy="218"/>
              </a:xfrm>
              <a:custGeom>
                <a:avLst/>
                <a:gdLst>
                  <a:gd name="T0" fmla="*/ 124 w 124"/>
                  <a:gd name="T1" fmla="*/ 4 h 218"/>
                  <a:gd name="T2" fmla="*/ 107 w 124"/>
                  <a:gd name="T3" fmla="*/ 18 h 218"/>
                  <a:gd name="T4" fmla="*/ 100 w 124"/>
                  <a:gd name="T5" fmla="*/ 24 h 218"/>
                  <a:gd name="T6" fmla="*/ 93 w 124"/>
                  <a:gd name="T7" fmla="*/ 31 h 218"/>
                  <a:gd name="T8" fmla="*/ 86 w 124"/>
                  <a:gd name="T9" fmla="*/ 38 h 218"/>
                  <a:gd name="T10" fmla="*/ 80 w 124"/>
                  <a:gd name="T11" fmla="*/ 45 h 218"/>
                  <a:gd name="T12" fmla="*/ 69 w 124"/>
                  <a:gd name="T13" fmla="*/ 59 h 218"/>
                  <a:gd name="T14" fmla="*/ 66 w 124"/>
                  <a:gd name="T15" fmla="*/ 66 h 218"/>
                  <a:gd name="T16" fmla="*/ 62 w 124"/>
                  <a:gd name="T17" fmla="*/ 69 h 218"/>
                  <a:gd name="T18" fmla="*/ 52 w 124"/>
                  <a:gd name="T19" fmla="*/ 80 h 218"/>
                  <a:gd name="T20" fmla="*/ 48 w 124"/>
                  <a:gd name="T21" fmla="*/ 94 h 218"/>
                  <a:gd name="T22" fmla="*/ 45 w 124"/>
                  <a:gd name="T23" fmla="*/ 97 h 218"/>
                  <a:gd name="T24" fmla="*/ 42 w 124"/>
                  <a:gd name="T25" fmla="*/ 107 h 218"/>
                  <a:gd name="T26" fmla="*/ 38 w 124"/>
                  <a:gd name="T27" fmla="*/ 118 h 218"/>
                  <a:gd name="T28" fmla="*/ 28 w 124"/>
                  <a:gd name="T29" fmla="*/ 139 h 218"/>
                  <a:gd name="T30" fmla="*/ 24 w 124"/>
                  <a:gd name="T31" fmla="*/ 145 h 218"/>
                  <a:gd name="T32" fmla="*/ 21 w 124"/>
                  <a:gd name="T33" fmla="*/ 152 h 218"/>
                  <a:gd name="T34" fmla="*/ 17 w 124"/>
                  <a:gd name="T35" fmla="*/ 170 h 218"/>
                  <a:gd name="T36" fmla="*/ 14 w 124"/>
                  <a:gd name="T37" fmla="*/ 180 h 218"/>
                  <a:gd name="T38" fmla="*/ 14 w 124"/>
                  <a:gd name="T39" fmla="*/ 197 h 218"/>
                  <a:gd name="T40" fmla="*/ 10 w 124"/>
                  <a:gd name="T41" fmla="*/ 208 h 218"/>
                  <a:gd name="T42" fmla="*/ 4 w 124"/>
                  <a:gd name="T43" fmla="*/ 218 h 218"/>
                  <a:gd name="T44" fmla="*/ 0 w 124"/>
                  <a:gd name="T45" fmla="*/ 218 h 218"/>
                  <a:gd name="T46" fmla="*/ 0 w 124"/>
                  <a:gd name="T47" fmla="*/ 215 h 218"/>
                  <a:gd name="T48" fmla="*/ 4 w 124"/>
                  <a:gd name="T49" fmla="*/ 197 h 218"/>
                  <a:gd name="T50" fmla="*/ 7 w 124"/>
                  <a:gd name="T51" fmla="*/ 180 h 218"/>
                  <a:gd name="T52" fmla="*/ 7 w 124"/>
                  <a:gd name="T53" fmla="*/ 166 h 218"/>
                  <a:gd name="T54" fmla="*/ 10 w 124"/>
                  <a:gd name="T55" fmla="*/ 159 h 218"/>
                  <a:gd name="T56" fmla="*/ 14 w 124"/>
                  <a:gd name="T57" fmla="*/ 152 h 218"/>
                  <a:gd name="T58" fmla="*/ 21 w 124"/>
                  <a:gd name="T59" fmla="*/ 135 h 218"/>
                  <a:gd name="T60" fmla="*/ 28 w 124"/>
                  <a:gd name="T61" fmla="*/ 125 h 218"/>
                  <a:gd name="T62" fmla="*/ 35 w 124"/>
                  <a:gd name="T63" fmla="*/ 118 h 218"/>
                  <a:gd name="T64" fmla="*/ 42 w 124"/>
                  <a:gd name="T65" fmla="*/ 97 h 218"/>
                  <a:gd name="T66" fmla="*/ 42 w 124"/>
                  <a:gd name="T67" fmla="*/ 90 h 218"/>
                  <a:gd name="T68" fmla="*/ 48 w 124"/>
                  <a:gd name="T69" fmla="*/ 80 h 218"/>
                  <a:gd name="T70" fmla="*/ 66 w 124"/>
                  <a:gd name="T71" fmla="*/ 59 h 218"/>
                  <a:gd name="T72" fmla="*/ 73 w 124"/>
                  <a:gd name="T73" fmla="*/ 42 h 218"/>
                  <a:gd name="T74" fmla="*/ 83 w 124"/>
                  <a:gd name="T75" fmla="*/ 28 h 218"/>
                  <a:gd name="T76" fmla="*/ 93 w 124"/>
                  <a:gd name="T77" fmla="*/ 18 h 218"/>
                  <a:gd name="T78" fmla="*/ 97 w 124"/>
                  <a:gd name="T79" fmla="*/ 14 h 218"/>
                  <a:gd name="T80" fmla="*/ 100 w 124"/>
                  <a:gd name="T81" fmla="*/ 11 h 218"/>
                  <a:gd name="T82" fmla="*/ 107 w 124"/>
                  <a:gd name="T83" fmla="*/ 7 h 218"/>
                  <a:gd name="T84" fmla="*/ 118 w 124"/>
                  <a:gd name="T85" fmla="*/ 0 h 218"/>
                  <a:gd name="T86" fmla="*/ 124 w 124"/>
                  <a:gd name="T87" fmla="*/ 4 h 218"/>
                  <a:gd name="T88" fmla="*/ 124 w 124"/>
                  <a:gd name="T89" fmla="*/ 4 h 218"/>
                  <a:gd name="T90" fmla="*/ 124 w 124"/>
                  <a:gd name="T91" fmla="*/ 4 h 218"/>
                  <a:gd name="T92" fmla="*/ 124 w 124"/>
                  <a:gd name="T93" fmla="*/ 4 h 21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24"/>
                  <a:gd name="T142" fmla="*/ 0 h 218"/>
                  <a:gd name="T143" fmla="*/ 124 w 124"/>
                  <a:gd name="T144" fmla="*/ 218 h 218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24" h="218">
                    <a:moveTo>
                      <a:pt x="124" y="4"/>
                    </a:moveTo>
                    <a:lnTo>
                      <a:pt x="107" y="18"/>
                    </a:lnTo>
                    <a:lnTo>
                      <a:pt x="100" y="24"/>
                    </a:lnTo>
                    <a:lnTo>
                      <a:pt x="93" y="31"/>
                    </a:lnTo>
                    <a:lnTo>
                      <a:pt x="86" y="38"/>
                    </a:lnTo>
                    <a:lnTo>
                      <a:pt x="80" y="45"/>
                    </a:lnTo>
                    <a:lnTo>
                      <a:pt x="69" y="59"/>
                    </a:lnTo>
                    <a:lnTo>
                      <a:pt x="66" y="66"/>
                    </a:lnTo>
                    <a:lnTo>
                      <a:pt x="62" y="69"/>
                    </a:lnTo>
                    <a:lnTo>
                      <a:pt x="52" y="80"/>
                    </a:lnTo>
                    <a:lnTo>
                      <a:pt x="48" y="94"/>
                    </a:lnTo>
                    <a:lnTo>
                      <a:pt x="45" y="97"/>
                    </a:lnTo>
                    <a:lnTo>
                      <a:pt x="42" y="107"/>
                    </a:lnTo>
                    <a:lnTo>
                      <a:pt x="38" y="118"/>
                    </a:lnTo>
                    <a:lnTo>
                      <a:pt x="28" y="139"/>
                    </a:lnTo>
                    <a:lnTo>
                      <a:pt x="24" y="145"/>
                    </a:lnTo>
                    <a:lnTo>
                      <a:pt x="21" y="152"/>
                    </a:lnTo>
                    <a:lnTo>
                      <a:pt x="17" y="170"/>
                    </a:lnTo>
                    <a:lnTo>
                      <a:pt x="14" y="180"/>
                    </a:lnTo>
                    <a:lnTo>
                      <a:pt x="14" y="197"/>
                    </a:lnTo>
                    <a:lnTo>
                      <a:pt x="10" y="208"/>
                    </a:lnTo>
                    <a:lnTo>
                      <a:pt x="4" y="218"/>
                    </a:lnTo>
                    <a:lnTo>
                      <a:pt x="0" y="218"/>
                    </a:lnTo>
                    <a:lnTo>
                      <a:pt x="0" y="215"/>
                    </a:lnTo>
                    <a:lnTo>
                      <a:pt x="4" y="197"/>
                    </a:lnTo>
                    <a:lnTo>
                      <a:pt x="7" y="180"/>
                    </a:lnTo>
                    <a:lnTo>
                      <a:pt x="7" y="166"/>
                    </a:lnTo>
                    <a:lnTo>
                      <a:pt x="10" y="159"/>
                    </a:lnTo>
                    <a:lnTo>
                      <a:pt x="14" y="152"/>
                    </a:lnTo>
                    <a:lnTo>
                      <a:pt x="21" y="135"/>
                    </a:lnTo>
                    <a:lnTo>
                      <a:pt x="28" y="125"/>
                    </a:lnTo>
                    <a:lnTo>
                      <a:pt x="35" y="118"/>
                    </a:lnTo>
                    <a:lnTo>
                      <a:pt x="42" y="97"/>
                    </a:lnTo>
                    <a:lnTo>
                      <a:pt x="42" y="90"/>
                    </a:lnTo>
                    <a:lnTo>
                      <a:pt x="48" y="80"/>
                    </a:lnTo>
                    <a:lnTo>
                      <a:pt x="66" y="59"/>
                    </a:lnTo>
                    <a:lnTo>
                      <a:pt x="73" y="42"/>
                    </a:lnTo>
                    <a:lnTo>
                      <a:pt x="83" y="28"/>
                    </a:lnTo>
                    <a:lnTo>
                      <a:pt x="93" y="18"/>
                    </a:lnTo>
                    <a:lnTo>
                      <a:pt x="97" y="14"/>
                    </a:lnTo>
                    <a:lnTo>
                      <a:pt x="100" y="11"/>
                    </a:lnTo>
                    <a:lnTo>
                      <a:pt x="107" y="7"/>
                    </a:lnTo>
                    <a:lnTo>
                      <a:pt x="118" y="0"/>
                    </a:lnTo>
                    <a:lnTo>
                      <a:pt x="124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2" name="Freeform 239"/>
              <p:cNvSpPr>
                <a:spLocks/>
              </p:cNvSpPr>
              <p:nvPr/>
            </p:nvSpPr>
            <p:spPr bwMode="auto">
              <a:xfrm>
                <a:off x="3333" y="1090"/>
                <a:ext cx="38" cy="42"/>
              </a:xfrm>
              <a:custGeom>
                <a:avLst/>
                <a:gdLst>
                  <a:gd name="T0" fmla="*/ 3 w 38"/>
                  <a:gd name="T1" fmla="*/ 0 h 42"/>
                  <a:gd name="T2" fmla="*/ 7 w 38"/>
                  <a:gd name="T3" fmla="*/ 11 h 42"/>
                  <a:gd name="T4" fmla="*/ 10 w 38"/>
                  <a:gd name="T5" fmla="*/ 18 h 42"/>
                  <a:gd name="T6" fmla="*/ 13 w 38"/>
                  <a:gd name="T7" fmla="*/ 25 h 42"/>
                  <a:gd name="T8" fmla="*/ 20 w 38"/>
                  <a:gd name="T9" fmla="*/ 32 h 42"/>
                  <a:gd name="T10" fmla="*/ 24 w 38"/>
                  <a:gd name="T11" fmla="*/ 35 h 42"/>
                  <a:gd name="T12" fmla="*/ 27 w 38"/>
                  <a:gd name="T13" fmla="*/ 35 h 42"/>
                  <a:gd name="T14" fmla="*/ 34 w 38"/>
                  <a:gd name="T15" fmla="*/ 38 h 42"/>
                  <a:gd name="T16" fmla="*/ 38 w 38"/>
                  <a:gd name="T17" fmla="*/ 38 h 42"/>
                  <a:gd name="T18" fmla="*/ 34 w 38"/>
                  <a:gd name="T19" fmla="*/ 42 h 42"/>
                  <a:gd name="T20" fmla="*/ 20 w 38"/>
                  <a:gd name="T21" fmla="*/ 42 h 42"/>
                  <a:gd name="T22" fmla="*/ 10 w 38"/>
                  <a:gd name="T23" fmla="*/ 38 h 42"/>
                  <a:gd name="T24" fmla="*/ 7 w 38"/>
                  <a:gd name="T25" fmla="*/ 28 h 42"/>
                  <a:gd name="T26" fmla="*/ 3 w 38"/>
                  <a:gd name="T27" fmla="*/ 21 h 42"/>
                  <a:gd name="T28" fmla="*/ 0 w 38"/>
                  <a:gd name="T29" fmla="*/ 0 h 42"/>
                  <a:gd name="T30" fmla="*/ 0 w 38"/>
                  <a:gd name="T31" fmla="*/ 0 h 42"/>
                  <a:gd name="T32" fmla="*/ 3 w 38"/>
                  <a:gd name="T33" fmla="*/ 0 h 42"/>
                  <a:gd name="T34" fmla="*/ 3 w 38"/>
                  <a:gd name="T35" fmla="*/ 0 h 42"/>
                  <a:gd name="T36" fmla="*/ 3 w 38"/>
                  <a:gd name="T37" fmla="*/ 0 h 4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"/>
                  <a:gd name="T58" fmla="*/ 0 h 42"/>
                  <a:gd name="T59" fmla="*/ 38 w 38"/>
                  <a:gd name="T60" fmla="*/ 42 h 4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" h="42">
                    <a:moveTo>
                      <a:pt x="3" y="0"/>
                    </a:moveTo>
                    <a:lnTo>
                      <a:pt x="7" y="11"/>
                    </a:lnTo>
                    <a:lnTo>
                      <a:pt x="10" y="18"/>
                    </a:lnTo>
                    <a:lnTo>
                      <a:pt x="13" y="25"/>
                    </a:lnTo>
                    <a:lnTo>
                      <a:pt x="20" y="32"/>
                    </a:lnTo>
                    <a:lnTo>
                      <a:pt x="24" y="35"/>
                    </a:lnTo>
                    <a:lnTo>
                      <a:pt x="27" y="35"/>
                    </a:lnTo>
                    <a:lnTo>
                      <a:pt x="34" y="38"/>
                    </a:lnTo>
                    <a:lnTo>
                      <a:pt x="38" y="38"/>
                    </a:lnTo>
                    <a:lnTo>
                      <a:pt x="34" y="42"/>
                    </a:lnTo>
                    <a:lnTo>
                      <a:pt x="20" y="42"/>
                    </a:lnTo>
                    <a:lnTo>
                      <a:pt x="10" y="38"/>
                    </a:lnTo>
                    <a:lnTo>
                      <a:pt x="7" y="28"/>
                    </a:lnTo>
                    <a:lnTo>
                      <a:pt x="3" y="21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3" name="Freeform 240"/>
              <p:cNvSpPr>
                <a:spLocks/>
              </p:cNvSpPr>
              <p:nvPr/>
            </p:nvSpPr>
            <p:spPr bwMode="auto">
              <a:xfrm>
                <a:off x="3391" y="769"/>
                <a:ext cx="114" cy="79"/>
              </a:xfrm>
              <a:custGeom>
                <a:avLst/>
                <a:gdLst>
                  <a:gd name="T0" fmla="*/ 111 w 114"/>
                  <a:gd name="T1" fmla="*/ 3 h 79"/>
                  <a:gd name="T2" fmla="*/ 90 w 114"/>
                  <a:gd name="T3" fmla="*/ 7 h 79"/>
                  <a:gd name="T4" fmla="*/ 70 w 114"/>
                  <a:gd name="T5" fmla="*/ 14 h 79"/>
                  <a:gd name="T6" fmla="*/ 63 w 114"/>
                  <a:gd name="T7" fmla="*/ 21 h 79"/>
                  <a:gd name="T8" fmla="*/ 59 w 114"/>
                  <a:gd name="T9" fmla="*/ 24 h 79"/>
                  <a:gd name="T10" fmla="*/ 56 w 114"/>
                  <a:gd name="T11" fmla="*/ 28 h 79"/>
                  <a:gd name="T12" fmla="*/ 52 w 114"/>
                  <a:gd name="T13" fmla="*/ 28 h 79"/>
                  <a:gd name="T14" fmla="*/ 42 w 114"/>
                  <a:gd name="T15" fmla="*/ 35 h 79"/>
                  <a:gd name="T16" fmla="*/ 35 w 114"/>
                  <a:gd name="T17" fmla="*/ 41 h 79"/>
                  <a:gd name="T18" fmla="*/ 25 w 114"/>
                  <a:gd name="T19" fmla="*/ 48 h 79"/>
                  <a:gd name="T20" fmla="*/ 14 w 114"/>
                  <a:gd name="T21" fmla="*/ 59 h 79"/>
                  <a:gd name="T22" fmla="*/ 11 w 114"/>
                  <a:gd name="T23" fmla="*/ 66 h 79"/>
                  <a:gd name="T24" fmla="*/ 11 w 114"/>
                  <a:gd name="T25" fmla="*/ 73 h 79"/>
                  <a:gd name="T26" fmla="*/ 4 w 114"/>
                  <a:gd name="T27" fmla="*/ 79 h 79"/>
                  <a:gd name="T28" fmla="*/ 0 w 114"/>
                  <a:gd name="T29" fmla="*/ 79 h 79"/>
                  <a:gd name="T30" fmla="*/ 4 w 114"/>
                  <a:gd name="T31" fmla="*/ 69 h 79"/>
                  <a:gd name="T32" fmla="*/ 4 w 114"/>
                  <a:gd name="T33" fmla="*/ 62 h 79"/>
                  <a:gd name="T34" fmla="*/ 7 w 114"/>
                  <a:gd name="T35" fmla="*/ 55 h 79"/>
                  <a:gd name="T36" fmla="*/ 14 w 114"/>
                  <a:gd name="T37" fmla="*/ 48 h 79"/>
                  <a:gd name="T38" fmla="*/ 21 w 114"/>
                  <a:gd name="T39" fmla="*/ 45 h 79"/>
                  <a:gd name="T40" fmla="*/ 38 w 114"/>
                  <a:gd name="T41" fmla="*/ 28 h 79"/>
                  <a:gd name="T42" fmla="*/ 42 w 114"/>
                  <a:gd name="T43" fmla="*/ 24 h 79"/>
                  <a:gd name="T44" fmla="*/ 49 w 114"/>
                  <a:gd name="T45" fmla="*/ 24 h 79"/>
                  <a:gd name="T46" fmla="*/ 52 w 114"/>
                  <a:gd name="T47" fmla="*/ 21 h 79"/>
                  <a:gd name="T48" fmla="*/ 56 w 114"/>
                  <a:gd name="T49" fmla="*/ 14 h 79"/>
                  <a:gd name="T50" fmla="*/ 59 w 114"/>
                  <a:gd name="T51" fmla="*/ 10 h 79"/>
                  <a:gd name="T52" fmla="*/ 63 w 114"/>
                  <a:gd name="T53" fmla="*/ 10 h 79"/>
                  <a:gd name="T54" fmla="*/ 76 w 114"/>
                  <a:gd name="T55" fmla="*/ 3 h 79"/>
                  <a:gd name="T56" fmla="*/ 87 w 114"/>
                  <a:gd name="T57" fmla="*/ 0 h 79"/>
                  <a:gd name="T58" fmla="*/ 111 w 114"/>
                  <a:gd name="T59" fmla="*/ 0 h 79"/>
                  <a:gd name="T60" fmla="*/ 114 w 114"/>
                  <a:gd name="T61" fmla="*/ 3 h 79"/>
                  <a:gd name="T62" fmla="*/ 111 w 114"/>
                  <a:gd name="T63" fmla="*/ 3 h 79"/>
                  <a:gd name="T64" fmla="*/ 111 w 114"/>
                  <a:gd name="T65" fmla="*/ 3 h 79"/>
                  <a:gd name="T66" fmla="*/ 111 w 114"/>
                  <a:gd name="T67" fmla="*/ 3 h 7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4"/>
                  <a:gd name="T103" fmla="*/ 0 h 79"/>
                  <a:gd name="T104" fmla="*/ 114 w 114"/>
                  <a:gd name="T105" fmla="*/ 79 h 79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4" h="79">
                    <a:moveTo>
                      <a:pt x="111" y="3"/>
                    </a:moveTo>
                    <a:lnTo>
                      <a:pt x="90" y="7"/>
                    </a:lnTo>
                    <a:lnTo>
                      <a:pt x="70" y="14"/>
                    </a:lnTo>
                    <a:lnTo>
                      <a:pt x="63" y="21"/>
                    </a:lnTo>
                    <a:lnTo>
                      <a:pt x="59" y="24"/>
                    </a:lnTo>
                    <a:lnTo>
                      <a:pt x="56" y="28"/>
                    </a:lnTo>
                    <a:lnTo>
                      <a:pt x="52" y="28"/>
                    </a:lnTo>
                    <a:lnTo>
                      <a:pt x="42" y="35"/>
                    </a:lnTo>
                    <a:lnTo>
                      <a:pt x="35" y="41"/>
                    </a:lnTo>
                    <a:lnTo>
                      <a:pt x="25" y="48"/>
                    </a:lnTo>
                    <a:lnTo>
                      <a:pt x="14" y="59"/>
                    </a:lnTo>
                    <a:lnTo>
                      <a:pt x="11" y="66"/>
                    </a:lnTo>
                    <a:lnTo>
                      <a:pt x="11" y="73"/>
                    </a:lnTo>
                    <a:lnTo>
                      <a:pt x="4" y="79"/>
                    </a:lnTo>
                    <a:lnTo>
                      <a:pt x="0" y="79"/>
                    </a:lnTo>
                    <a:lnTo>
                      <a:pt x="4" y="69"/>
                    </a:lnTo>
                    <a:lnTo>
                      <a:pt x="4" y="62"/>
                    </a:lnTo>
                    <a:lnTo>
                      <a:pt x="7" y="55"/>
                    </a:lnTo>
                    <a:lnTo>
                      <a:pt x="14" y="48"/>
                    </a:lnTo>
                    <a:lnTo>
                      <a:pt x="21" y="45"/>
                    </a:lnTo>
                    <a:lnTo>
                      <a:pt x="38" y="28"/>
                    </a:lnTo>
                    <a:lnTo>
                      <a:pt x="42" y="24"/>
                    </a:lnTo>
                    <a:lnTo>
                      <a:pt x="49" y="24"/>
                    </a:lnTo>
                    <a:lnTo>
                      <a:pt x="52" y="21"/>
                    </a:lnTo>
                    <a:lnTo>
                      <a:pt x="56" y="14"/>
                    </a:lnTo>
                    <a:lnTo>
                      <a:pt x="59" y="10"/>
                    </a:lnTo>
                    <a:lnTo>
                      <a:pt x="63" y="10"/>
                    </a:lnTo>
                    <a:lnTo>
                      <a:pt x="76" y="3"/>
                    </a:lnTo>
                    <a:lnTo>
                      <a:pt x="87" y="0"/>
                    </a:lnTo>
                    <a:lnTo>
                      <a:pt x="111" y="0"/>
                    </a:lnTo>
                    <a:lnTo>
                      <a:pt x="114" y="3"/>
                    </a:lnTo>
                    <a:lnTo>
                      <a:pt x="11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4" name="Freeform 241"/>
              <p:cNvSpPr>
                <a:spLocks/>
              </p:cNvSpPr>
              <p:nvPr/>
            </p:nvSpPr>
            <p:spPr bwMode="auto">
              <a:xfrm>
                <a:off x="3402" y="824"/>
                <a:ext cx="121" cy="45"/>
              </a:xfrm>
              <a:custGeom>
                <a:avLst/>
                <a:gdLst>
                  <a:gd name="T0" fmla="*/ 3 w 121"/>
                  <a:gd name="T1" fmla="*/ 31 h 45"/>
                  <a:gd name="T2" fmla="*/ 7 w 121"/>
                  <a:gd name="T3" fmla="*/ 38 h 45"/>
                  <a:gd name="T4" fmla="*/ 10 w 121"/>
                  <a:gd name="T5" fmla="*/ 38 h 45"/>
                  <a:gd name="T6" fmla="*/ 20 w 121"/>
                  <a:gd name="T7" fmla="*/ 42 h 45"/>
                  <a:gd name="T8" fmla="*/ 41 w 121"/>
                  <a:gd name="T9" fmla="*/ 42 h 45"/>
                  <a:gd name="T10" fmla="*/ 62 w 121"/>
                  <a:gd name="T11" fmla="*/ 35 h 45"/>
                  <a:gd name="T12" fmla="*/ 76 w 121"/>
                  <a:gd name="T13" fmla="*/ 21 h 45"/>
                  <a:gd name="T14" fmla="*/ 86 w 121"/>
                  <a:gd name="T15" fmla="*/ 18 h 45"/>
                  <a:gd name="T16" fmla="*/ 97 w 121"/>
                  <a:gd name="T17" fmla="*/ 14 h 45"/>
                  <a:gd name="T18" fmla="*/ 107 w 121"/>
                  <a:gd name="T19" fmla="*/ 7 h 45"/>
                  <a:gd name="T20" fmla="*/ 110 w 121"/>
                  <a:gd name="T21" fmla="*/ 4 h 45"/>
                  <a:gd name="T22" fmla="*/ 114 w 121"/>
                  <a:gd name="T23" fmla="*/ 0 h 45"/>
                  <a:gd name="T24" fmla="*/ 117 w 121"/>
                  <a:gd name="T25" fmla="*/ 0 h 45"/>
                  <a:gd name="T26" fmla="*/ 121 w 121"/>
                  <a:gd name="T27" fmla="*/ 4 h 45"/>
                  <a:gd name="T28" fmla="*/ 121 w 121"/>
                  <a:gd name="T29" fmla="*/ 7 h 45"/>
                  <a:gd name="T30" fmla="*/ 117 w 121"/>
                  <a:gd name="T31" fmla="*/ 11 h 45"/>
                  <a:gd name="T32" fmla="*/ 110 w 121"/>
                  <a:gd name="T33" fmla="*/ 18 h 45"/>
                  <a:gd name="T34" fmla="*/ 107 w 121"/>
                  <a:gd name="T35" fmla="*/ 21 h 45"/>
                  <a:gd name="T36" fmla="*/ 103 w 121"/>
                  <a:gd name="T37" fmla="*/ 24 h 45"/>
                  <a:gd name="T38" fmla="*/ 86 w 121"/>
                  <a:gd name="T39" fmla="*/ 28 h 45"/>
                  <a:gd name="T40" fmla="*/ 83 w 121"/>
                  <a:gd name="T41" fmla="*/ 31 h 45"/>
                  <a:gd name="T42" fmla="*/ 76 w 121"/>
                  <a:gd name="T43" fmla="*/ 38 h 45"/>
                  <a:gd name="T44" fmla="*/ 72 w 121"/>
                  <a:gd name="T45" fmla="*/ 42 h 45"/>
                  <a:gd name="T46" fmla="*/ 65 w 121"/>
                  <a:gd name="T47" fmla="*/ 42 h 45"/>
                  <a:gd name="T48" fmla="*/ 55 w 121"/>
                  <a:gd name="T49" fmla="*/ 45 h 45"/>
                  <a:gd name="T50" fmla="*/ 41 w 121"/>
                  <a:gd name="T51" fmla="*/ 45 h 45"/>
                  <a:gd name="T52" fmla="*/ 20 w 121"/>
                  <a:gd name="T53" fmla="*/ 45 h 45"/>
                  <a:gd name="T54" fmla="*/ 10 w 121"/>
                  <a:gd name="T55" fmla="*/ 42 h 45"/>
                  <a:gd name="T56" fmla="*/ 0 w 121"/>
                  <a:gd name="T57" fmla="*/ 35 h 45"/>
                  <a:gd name="T58" fmla="*/ 0 w 121"/>
                  <a:gd name="T59" fmla="*/ 31 h 45"/>
                  <a:gd name="T60" fmla="*/ 3 w 121"/>
                  <a:gd name="T61" fmla="*/ 31 h 45"/>
                  <a:gd name="T62" fmla="*/ 3 w 121"/>
                  <a:gd name="T63" fmla="*/ 31 h 45"/>
                  <a:gd name="T64" fmla="*/ 3 w 121"/>
                  <a:gd name="T65" fmla="*/ 31 h 4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21"/>
                  <a:gd name="T100" fmla="*/ 0 h 45"/>
                  <a:gd name="T101" fmla="*/ 121 w 121"/>
                  <a:gd name="T102" fmla="*/ 45 h 4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21" h="45">
                    <a:moveTo>
                      <a:pt x="3" y="31"/>
                    </a:moveTo>
                    <a:lnTo>
                      <a:pt x="7" y="38"/>
                    </a:lnTo>
                    <a:lnTo>
                      <a:pt x="10" y="38"/>
                    </a:lnTo>
                    <a:lnTo>
                      <a:pt x="20" y="42"/>
                    </a:lnTo>
                    <a:lnTo>
                      <a:pt x="41" y="42"/>
                    </a:lnTo>
                    <a:lnTo>
                      <a:pt x="62" y="35"/>
                    </a:lnTo>
                    <a:lnTo>
                      <a:pt x="76" y="21"/>
                    </a:lnTo>
                    <a:lnTo>
                      <a:pt x="86" y="18"/>
                    </a:lnTo>
                    <a:lnTo>
                      <a:pt x="97" y="14"/>
                    </a:lnTo>
                    <a:lnTo>
                      <a:pt x="107" y="7"/>
                    </a:lnTo>
                    <a:lnTo>
                      <a:pt x="110" y="4"/>
                    </a:lnTo>
                    <a:lnTo>
                      <a:pt x="114" y="0"/>
                    </a:lnTo>
                    <a:lnTo>
                      <a:pt x="117" y="0"/>
                    </a:lnTo>
                    <a:lnTo>
                      <a:pt x="121" y="4"/>
                    </a:lnTo>
                    <a:lnTo>
                      <a:pt x="121" y="7"/>
                    </a:lnTo>
                    <a:lnTo>
                      <a:pt x="117" y="11"/>
                    </a:lnTo>
                    <a:lnTo>
                      <a:pt x="110" y="18"/>
                    </a:lnTo>
                    <a:lnTo>
                      <a:pt x="107" y="21"/>
                    </a:lnTo>
                    <a:lnTo>
                      <a:pt x="103" y="24"/>
                    </a:lnTo>
                    <a:lnTo>
                      <a:pt x="86" y="28"/>
                    </a:lnTo>
                    <a:lnTo>
                      <a:pt x="83" y="31"/>
                    </a:lnTo>
                    <a:lnTo>
                      <a:pt x="76" y="38"/>
                    </a:lnTo>
                    <a:lnTo>
                      <a:pt x="72" y="42"/>
                    </a:lnTo>
                    <a:lnTo>
                      <a:pt x="65" y="42"/>
                    </a:lnTo>
                    <a:lnTo>
                      <a:pt x="55" y="45"/>
                    </a:lnTo>
                    <a:lnTo>
                      <a:pt x="41" y="45"/>
                    </a:lnTo>
                    <a:lnTo>
                      <a:pt x="20" y="45"/>
                    </a:lnTo>
                    <a:lnTo>
                      <a:pt x="10" y="42"/>
                    </a:lnTo>
                    <a:lnTo>
                      <a:pt x="0" y="35"/>
                    </a:lnTo>
                    <a:lnTo>
                      <a:pt x="0" y="31"/>
                    </a:lnTo>
                    <a:lnTo>
                      <a:pt x="3" y="3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5" name="Freeform 242"/>
              <p:cNvSpPr>
                <a:spLocks/>
              </p:cNvSpPr>
              <p:nvPr/>
            </p:nvSpPr>
            <p:spPr bwMode="auto">
              <a:xfrm>
                <a:off x="3519" y="772"/>
                <a:ext cx="49" cy="80"/>
              </a:xfrm>
              <a:custGeom>
                <a:avLst/>
                <a:gdLst>
                  <a:gd name="T0" fmla="*/ 0 w 49"/>
                  <a:gd name="T1" fmla="*/ 0 h 80"/>
                  <a:gd name="T2" fmla="*/ 11 w 49"/>
                  <a:gd name="T3" fmla="*/ 4 h 80"/>
                  <a:gd name="T4" fmla="*/ 21 w 49"/>
                  <a:gd name="T5" fmla="*/ 7 h 80"/>
                  <a:gd name="T6" fmla="*/ 31 w 49"/>
                  <a:gd name="T7" fmla="*/ 14 h 80"/>
                  <a:gd name="T8" fmla="*/ 38 w 49"/>
                  <a:gd name="T9" fmla="*/ 21 h 80"/>
                  <a:gd name="T10" fmla="*/ 45 w 49"/>
                  <a:gd name="T11" fmla="*/ 28 h 80"/>
                  <a:gd name="T12" fmla="*/ 49 w 49"/>
                  <a:gd name="T13" fmla="*/ 32 h 80"/>
                  <a:gd name="T14" fmla="*/ 49 w 49"/>
                  <a:gd name="T15" fmla="*/ 52 h 80"/>
                  <a:gd name="T16" fmla="*/ 42 w 49"/>
                  <a:gd name="T17" fmla="*/ 63 h 80"/>
                  <a:gd name="T18" fmla="*/ 42 w 49"/>
                  <a:gd name="T19" fmla="*/ 70 h 80"/>
                  <a:gd name="T20" fmla="*/ 42 w 49"/>
                  <a:gd name="T21" fmla="*/ 76 h 80"/>
                  <a:gd name="T22" fmla="*/ 42 w 49"/>
                  <a:gd name="T23" fmla="*/ 80 h 80"/>
                  <a:gd name="T24" fmla="*/ 42 w 49"/>
                  <a:gd name="T25" fmla="*/ 80 h 80"/>
                  <a:gd name="T26" fmla="*/ 35 w 49"/>
                  <a:gd name="T27" fmla="*/ 63 h 80"/>
                  <a:gd name="T28" fmla="*/ 35 w 49"/>
                  <a:gd name="T29" fmla="*/ 56 h 80"/>
                  <a:gd name="T30" fmla="*/ 38 w 49"/>
                  <a:gd name="T31" fmla="*/ 49 h 80"/>
                  <a:gd name="T32" fmla="*/ 38 w 49"/>
                  <a:gd name="T33" fmla="*/ 38 h 80"/>
                  <a:gd name="T34" fmla="*/ 35 w 49"/>
                  <a:gd name="T35" fmla="*/ 32 h 80"/>
                  <a:gd name="T36" fmla="*/ 31 w 49"/>
                  <a:gd name="T37" fmla="*/ 32 h 80"/>
                  <a:gd name="T38" fmla="*/ 24 w 49"/>
                  <a:gd name="T39" fmla="*/ 21 h 80"/>
                  <a:gd name="T40" fmla="*/ 18 w 49"/>
                  <a:gd name="T41" fmla="*/ 14 h 80"/>
                  <a:gd name="T42" fmla="*/ 14 w 49"/>
                  <a:gd name="T43" fmla="*/ 11 h 80"/>
                  <a:gd name="T44" fmla="*/ 11 w 49"/>
                  <a:gd name="T45" fmla="*/ 7 h 80"/>
                  <a:gd name="T46" fmla="*/ 0 w 49"/>
                  <a:gd name="T47" fmla="*/ 4 h 80"/>
                  <a:gd name="T48" fmla="*/ 0 w 49"/>
                  <a:gd name="T49" fmla="*/ 4 h 80"/>
                  <a:gd name="T50" fmla="*/ 0 w 49"/>
                  <a:gd name="T51" fmla="*/ 0 h 80"/>
                  <a:gd name="T52" fmla="*/ 0 w 49"/>
                  <a:gd name="T53" fmla="*/ 0 h 80"/>
                  <a:gd name="T54" fmla="*/ 0 w 49"/>
                  <a:gd name="T55" fmla="*/ 0 h 8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9"/>
                  <a:gd name="T85" fmla="*/ 0 h 80"/>
                  <a:gd name="T86" fmla="*/ 49 w 49"/>
                  <a:gd name="T87" fmla="*/ 80 h 80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9" h="80">
                    <a:moveTo>
                      <a:pt x="0" y="0"/>
                    </a:moveTo>
                    <a:lnTo>
                      <a:pt x="11" y="4"/>
                    </a:lnTo>
                    <a:lnTo>
                      <a:pt x="21" y="7"/>
                    </a:lnTo>
                    <a:lnTo>
                      <a:pt x="31" y="14"/>
                    </a:lnTo>
                    <a:lnTo>
                      <a:pt x="38" y="21"/>
                    </a:lnTo>
                    <a:lnTo>
                      <a:pt x="45" y="28"/>
                    </a:lnTo>
                    <a:lnTo>
                      <a:pt x="49" y="32"/>
                    </a:lnTo>
                    <a:lnTo>
                      <a:pt x="49" y="52"/>
                    </a:lnTo>
                    <a:lnTo>
                      <a:pt x="42" y="63"/>
                    </a:lnTo>
                    <a:lnTo>
                      <a:pt x="42" y="70"/>
                    </a:lnTo>
                    <a:lnTo>
                      <a:pt x="42" y="76"/>
                    </a:lnTo>
                    <a:lnTo>
                      <a:pt x="42" y="80"/>
                    </a:lnTo>
                    <a:lnTo>
                      <a:pt x="35" y="63"/>
                    </a:lnTo>
                    <a:lnTo>
                      <a:pt x="35" y="56"/>
                    </a:lnTo>
                    <a:lnTo>
                      <a:pt x="38" y="49"/>
                    </a:lnTo>
                    <a:lnTo>
                      <a:pt x="38" y="38"/>
                    </a:lnTo>
                    <a:lnTo>
                      <a:pt x="35" y="32"/>
                    </a:lnTo>
                    <a:lnTo>
                      <a:pt x="31" y="32"/>
                    </a:lnTo>
                    <a:lnTo>
                      <a:pt x="24" y="21"/>
                    </a:lnTo>
                    <a:lnTo>
                      <a:pt x="18" y="14"/>
                    </a:lnTo>
                    <a:lnTo>
                      <a:pt x="14" y="11"/>
                    </a:lnTo>
                    <a:lnTo>
                      <a:pt x="11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6" name="Freeform 243"/>
              <p:cNvSpPr>
                <a:spLocks/>
              </p:cNvSpPr>
              <p:nvPr/>
            </p:nvSpPr>
            <p:spPr bwMode="auto">
              <a:xfrm>
                <a:off x="3516" y="848"/>
                <a:ext cx="17" cy="39"/>
              </a:xfrm>
              <a:custGeom>
                <a:avLst/>
                <a:gdLst>
                  <a:gd name="T0" fmla="*/ 3 w 17"/>
                  <a:gd name="T1" fmla="*/ 0 h 39"/>
                  <a:gd name="T2" fmla="*/ 10 w 17"/>
                  <a:gd name="T3" fmla="*/ 4 h 39"/>
                  <a:gd name="T4" fmla="*/ 10 w 17"/>
                  <a:gd name="T5" fmla="*/ 11 h 39"/>
                  <a:gd name="T6" fmla="*/ 14 w 17"/>
                  <a:gd name="T7" fmla="*/ 21 h 39"/>
                  <a:gd name="T8" fmla="*/ 14 w 17"/>
                  <a:gd name="T9" fmla="*/ 28 h 39"/>
                  <a:gd name="T10" fmla="*/ 17 w 17"/>
                  <a:gd name="T11" fmla="*/ 35 h 39"/>
                  <a:gd name="T12" fmla="*/ 17 w 17"/>
                  <a:gd name="T13" fmla="*/ 39 h 39"/>
                  <a:gd name="T14" fmla="*/ 17 w 17"/>
                  <a:gd name="T15" fmla="*/ 39 h 39"/>
                  <a:gd name="T16" fmla="*/ 7 w 17"/>
                  <a:gd name="T17" fmla="*/ 28 h 39"/>
                  <a:gd name="T18" fmla="*/ 3 w 17"/>
                  <a:gd name="T19" fmla="*/ 11 h 39"/>
                  <a:gd name="T20" fmla="*/ 3 w 17"/>
                  <a:gd name="T21" fmla="*/ 7 h 39"/>
                  <a:gd name="T22" fmla="*/ 0 w 17"/>
                  <a:gd name="T23" fmla="*/ 4 h 39"/>
                  <a:gd name="T24" fmla="*/ 0 w 17"/>
                  <a:gd name="T25" fmla="*/ 0 h 39"/>
                  <a:gd name="T26" fmla="*/ 3 w 17"/>
                  <a:gd name="T27" fmla="*/ 0 h 39"/>
                  <a:gd name="T28" fmla="*/ 3 w 17"/>
                  <a:gd name="T29" fmla="*/ 0 h 39"/>
                  <a:gd name="T30" fmla="*/ 3 w 17"/>
                  <a:gd name="T31" fmla="*/ 0 h 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"/>
                  <a:gd name="T49" fmla="*/ 0 h 39"/>
                  <a:gd name="T50" fmla="*/ 17 w 17"/>
                  <a:gd name="T51" fmla="*/ 39 h 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" h="39">
                    <a:moveTo>
                      <a:pt x="3" y="0"/>
                    </a:moveTo>
                    <a:lnTo>
                      <a:pt x="10" y="4"/>
                    </a:lnTo>
                    <a:lnTo>
                      <a:pt x="10" y="11"/>
                    </a:lnTo>
                    <a:lnTo>
                      <a:pt x="14" y="21"/>
                    </a:lnTo>
                    <a:lnTo>
                      <a:pt x="14" y="28"/>
                    </a:lnTo>
                    <a:lnTo>
                      <a:pt x="17" y="35"/>
                    </a:lnTo>
                    <a:lnTo>
                      <a:pt x="17" y="39"/>
                    </a:lnTo>
                    <a:lnTo>
                      <a:pt x="7" y="28"/>
                    </a:lnTo>
                    <a:lnTo>
                      <a:pt x="3" y="11"/>
                    </a:lnTo>
                    <a:lnTo>
                      <a:pt x="3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7" name="Freeform 244"/>
              <p:cNvSpPr>
                <a:spLocks/>
              </p:cNvSpPr>
              <p:nvPr/>
            </p:nvSpPr>
            <p:spPr bwMode="auto">
              <a:xfrm>
                <a:off x="3547" y="845"/>
                <a:ext cx="24" cy="55"/>
              </a:xfrm>
              <a:custGeom>
                <a:avLst/>
                <a:gdLst>
                  <a:gd name="T0" fmla="*/ 0 w 24"/>
                  <a:gd name="T1" fmla="*/ 14 h 55"/>
                  <a:gd name="T2" fmla="*/ 3 w 24"/>
                  <a:gd name="T3" fmla="*/ 7 h 55"/>
                  <a:gd name="T4" fmla="*/ 7 w 24"/>
                  <a:gd name="T5" fmla="*/ 3 h 55"/>
                  <a:gd name="T6" fmla="*/ 10 w 24"/>
                  <a:gd name="T7" fmla="*/ 0 h 55"/>
                  <a:gd name="T8" fmla="*/ 21 w 24"/>
                  <a:gd name="T9" fmla="*/ 7 h 55"/>
                  <a:gd name="T10" fmla="*/ 24 w 24"/>
                  <a:gd name="T11" fmla="*/ 14 h 55"/>
                  <a:gd name="T12" fmla="*/ 21 w 24"/>
                  <a:gd name="T13" fmla="*/ 21 h 55"/>
                  <a:gd name="T14" fmla="*/ 17 w 24"/>
                  <a:gd name="T15" fmla="*/ 28 h 55"/>
                  <a:gd name="T16" fmla="*/ 21 w 24"/>
                  <a:gd name="T17" fmla="*/ 42 h 55"/>
                  <a:gd name="T18" fmla="*/ 14 w 24"/>
                  <a:gd name="T19" fmla="*/ 48 h 55"/>
                  <a:gd name="T20" fmla="*/ 10 w 24"/>
                  <a:gd name="T21" fmla="*/ 55 h 55"/>
                  <a:gd name="T22" fmla="*/ 7 w 24"/>
                  <a:gd name="T23" fmla="*/ 55 h 55"/>
                  <a:gd name="T24" fmla="*/ 7 w 24"/>
                  <a:gd name="T25" fmla="*/ 52 h 55"/>
                  <a:gd name="T26" fmla="*/ 10 w 24"/>
                  <a:gd name="T27" fmla="*/ 42 h 55"/>
                  <a:gd name="T28" fmla="*/ 10 w 24"/>
                  <a:gd name="T29" fmla="*/ 24 h 55"/>
                  <a:gd name="T30" fmla="*/ 14 w 24"/>
                  <a:gd name="T31" fmla="*/ 14 h 55"/>
                  <a:gd name="T32" fmla="*/ 14 w 24"/>
                  <a:gd name="T33" fmla="*/ 10 h 55"/>
                  <a:gd name="T34" fmla="*/ 10 w 24"/>
                  <a:gd name="T35" fmla="*/ 7 h 55"/>
                  <a:gd name="T36" fmla="*/ 7 w 24"/>
                  <a:gd name="T37" fmla="*/ 10 h 55"/>
                  <a:gd name="T38" fmla="*/ 3 w 24"/>
                  <a:gd name="T39" fmla="*/ 14 h 55"/>
                  <a:gd name="T40" fmla="*/ 0 w 24"/>
                  <a:gd name="T41" fmla="*/ 17 h 55"/>
                  <a:gd name="T42" fmla="*/ 0 w 24"/>
                  <a:gd name="T43" fmla="*/ 14 h 55"/>
                  <a:gd name="T44" fmla="*/ 0 w 24"/>
                  <a:gd name="T45" fmla="*/ 14 h 55"/>
                  <a:gd name="T46" fmla="*/ 0 w 24"/>
                  <a:gd name="T47" fmla="*/ 14 h 5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4"/>
                  <a:gd name="T73" fmla="*/ 0 h 55"/>
                  <a:gd name="T74" fmla="*/ 24 w 24"/>
                  <a:gd name="T75" fmla="*/ 55 h 5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4" h="55">
                    <a:moveTo>
                      <a:pt x="0" y="14"/>
                    </a:moveTo>
                    <a:lnTo>
                      <a:pt x="3" y="7"/>
                    </a:lnTo>
                    <a:lnTo>
                      <a:pt x="7" y="3"/>
                    </a:lnTo>
                    <a:lnTo>
                      <a:pt x="10" y="0"/>
                    </a:lnTo>
                    <a:lnTo>
                      <a:pt x="21" y="7"/>
                    </a:lnTo>
                    <a:lnTo>
                      <a:pt x="24" y="14"/>
                    </a:lnTo>
                    <a:lnTo>
                      <a:pt x="21" y="21"/>
                    </a:lnTo>
                    <a:lnTo>
                      <a:pt x="17" y="28"/>
                    </a:lnTo>
                    <a:lnTo>
                      <a:pt x="21" y="42"/>
                    </a:lnTo>
                    <a:lnTo>
                      <a:pt x="14" y="48"/>
                    </a:lnTo>
                    <a:lnTo>
                      <a:pt x="10" y="55"/>
                    </a:lnTo>
                    <a:lnTo>
                      <a:pt x="7" y="55"/>
                    </a:lnTo>
                    <a:lnTo>
                      <a:pt x="7" y="52"/>
                    </a:lnTo>
                    <a:lnTo>
                      <a:pt x="10" y="42"/>
                    </a:lnTo>
                    <a:lnTo>
                      <a:pt x="10" y="24"/>
                    </a:lnTo>
                    <a:lnTo>
                      <a:pt x="14" y="14"/>
                    </a:lnTo>
                    <a:lnTo>
                      <a:pt x="14" y="10"/>
                    </a:lnTo>
                    <a:lnTo>
                      <a:pt x="10" y="7"/>
                    </a:lnTo>
                    <a:lnTo>
                      <a:pt x="7" y="10"/>
                    </a:lnTo>
                    <a:lnTo>
                      <a:pt x="3" y="14"/>
                    </a:lnTo>
                    <a:lnTo>
                      <a:pt x="0" y="1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8" name="Freeform 245"/>
              <p:cNvSpPr>
                <a:spLocks/>
              </p:cNvSpPr>
              <p:nvPr/>
            </p:nvSpPr>
            <p:spPr bwMode="auto">
              <a:xfrm>
                <a:off x="3409" y="876"/>
                <a:ext cx="79" cy="114"/>
              </a:xfrm>
              <a:custGeom>
                <a:avLst/>
                <a:gdLst>
                  <a:gd name="T0" fmla="*/ 3 w 79"/>
                  <a:gd name="T1" fmla="*/ 0 h 114"/>
                  <a:gd name="T2" fmla="*/ 7 w 79"/>
                  <a:gd name="T3" fmla="*/ 21 h 114"/>
                  <a:gd name="T4" fmla="*/ 10 w 79"/>
                  <a:gd name="T5" fmla="*/ 28 h 114"/>
                  <a:gd name="T6" fmla="*/ 13 w 79"/>
                  <a:gd name="T7" fmla="*/ 31 h 114"/>
                  <a:gd name="T8" fmla="*/ 17 w 79"/>
                  <a:gd name="T9" fmla="*/ 35 h 114"/>
                  <a:gd name="T10" fmla="*/ 24 w 79"/>
                  <a:gd name="T11" fmla="*/ 38 h 114"/>
                  <a:gd name="T12" fmla="*/ 27 w 79"/>
                  <a:gd name="T13" fmla="*/ 52 h 114"/>
                  <a:gd name="T14" fmla="*/ 27 w 79"/>
                  <a:gd name="T15" fmla="*/ 59 h 114"/>
                  <a:gd name="T16" fmla="*/ 31 w 79"/>
                  <a:gd name="T17" fmla="*/ 66 h 114"/>
                  <a:gd name="T18" fmla="*/ 34 w 79"/>
                  <a:gd name="T19" fmla="*/ 69 h 114"/>
                  <a:gd name="T20" fmla="*/ 41 w 79"/>
                  <a:gd name="T21" fmla="*/ 76 h 114"/>
                  <a:gd name="T22" fmla="*/ 45 w 79"/>
                  <a:gd name="T23" fmla="*/ 80 h 114"/>
                  <a:gd name="T24" fmla="*/ 52 w 79"/>
                  <a:gd name="T25" fmla="*/ 87 h 114"/>
                  <a:gd name="T26" fmla="*/ 55 w 79"/>
                  <a:gd name="T27" fmla="*/ 90 h 114"/>
                  <a:gd name="T28" fmla="*/ 58 w 79"/>
                  <a:gd name="T29" fmla="*/ 93 h 114"/>
                  <a:gd name="T30" fmla="*/ 65 w 79"/>
                  <a:gd name="T31" fmla="*/ 97 h 114"/>
                  <a:gd name="T32" fmla="*/ 76 w 79"/>
                  <a:gd name="T33" fmla="*/ 107 h 114"/>
                  <a:gd name="T34" fmla="*/ 79 w 79"/>
                  <a:gd name="T35" fmla="*/ 111 h 114"/>
                  <a:gd name="T36" fmla="*/ 79 w 79"/>
                  <a:gd name="T37" fmla="*/ 111 h 114"/>
                  <a:gd name="T38" fmla="*/ 76 w 79"/>
                  <a:gd name="T39" fmla="*/ 114 h 114"/>
                  <a:gd name="T40" fmla="*/ 72 w 79"/>
                  <a:gd name="T41" fmla="*/ 111 h 114"/>
                  <a:gd name="T42" fmla="*/ 69 w 79"/>
                  <a:gd name="T43" fmla="*/ 107 h 114"/>
                  <a:gd name="T44" fmla="*/ 62 w 79"/>
                  <a:gd name="T45" fmla="*/ 104 h 114"/>
                  <a:gd name="T46" fmla="*/ 55 w 79"/>
                  <a:gd name="T47" fmla="*/ 100 h 114"/>
                  <a:gd name="T48" fmla="*/ 52 w 79"/>
                  <a:gd name="T49" fmla="*/ 97 h 114"/>
                  <a:gd name="T50" fmla="*/ 45 w 79"/>
                  <a:gd name="T51" fmla="*/ 93 h 114"/>
                  <a:gd name="T52" fmla="*/ 38 w 79"/>
                  <a:gd name="T53" fmla="*/ 83 h 114"/>
                  <a:gd name="T54" fmla="*/ 34 w 79"/>
                  <a:gd name="T55" fmla="*/ 80 h 114"/>
                  <a:gd name="T56" fmla="*/ 20 w 79"/>
                  <a:gd name="T57" fmla="*/ 52 h 114"/>
                  <a:gd name="T58" fmla="*/ 17 w 79"/>
                  <a:gd name="T59" fmla="*/ 42 h 114"/>
                  <a:gd name="T60" fmla="*/ 13 w 79"/>
                  <a:gd name="T61" fmla="*/ 38 h 114"/>
                  <a:gd name="T62" fmla="*/ 7 w 79"/>
                  <a:gd name="T63" fmla="*/ 35 h 114"/>
                  <a:gd name="T64" fmla="*/ 3 w 79"/>
                  <a:gd name="T65" fmla="*/ 24 h 114"/>
                  <a:gd name="T66" fmla="*/ 0 w 79"/>
                  <a:gd name="T67" fmla="*/ 0 h 114"/>
                  <a:gd name="T68" fmla="*/ 0 w 79"/>
                  <a:gd name="T69" fmla="*/ 0 h 114"/>
                  <a:gd name="T70" fmla="*/ 3 w 79"/>
                  <a:gd name="T71" fmla="*/ 0 h 114"/>
                  <a:gd name="T72" fmla="*/ 3 w 79"/>
                  <a:gd name="T73" fmla="*/ 0 h 114"/>
                  <a:gd name="T74" fmla="*/ 3 w 79"/>
                  <a:gd name="T75" fmla="*/ 0 h 11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9"/>
                  <a:gd name="T115" fmla="*/ 0 h 114"/>
                  <a:gd name="T116" fmla="*/ 79 w 79"/>
                  <a:gd name="T117" fmla="*/ 114 h 11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9" h="114">
                    <a:moveTo>
                      <a:pt x="3" y="0"/>
                    </a:moveTo>
                    <a:lnTo>
                      <a:pt x="7" y="21"/>
                    </a:lnTo>
                    <a:lnTo>
                      <a:pt x="10" y="28"/>
                    </a:lnTo>
                    <a:lnTo>
                      <a:pt x="13" y="31"/>
                    </a:lnTo>
                    <a:lnTo>
                      <a:pt x="17" y="35"/>
                    </a:lnTo>
                    <a:lnTo>
                      <a:pt x="24" y="38"/>
                    </a:lnTo>
                    <a:lnTo>
                      <a:pt x="27" y="52"/>
                    </a:lnTo>
                    <a:lnTo>
                      <a:pt x="27" y="59"/>
                    </a:lnTo>
                    <a:lnTo>
                      <a:pt x="31" y="66"/>
                    </a:lnTo>
                    <a:lnTo>
                      <a:pt x="34" y="69"/>
                    </a:lnTo>
                    <a:lnTo>
                      <a:pt x="41" y="76"/>
                    </a:lnTo>
                    <a:lnTo>
                      <a:pt x="45" y="80"/>
                    </a:lnTo>
                    <a:lnTo>
                      <a:pt x="52" y="87"/>
                    </a:lnTo>
                    <a:lnTo>
                      <a:pt x="55" y="90"/>
                    </a:lnTo>
                    <a:lnTo>
                      <a:pt x="58" y="93"/>
                    </a:lnTo>
                    <a:lnTo>
                      <a:pt x="65" y="97"/>
                    </a:lnTo>
                    <a:lnTo>
                      <a:pt x="76" y="107"/>
                    </a:lnTo>
                    <a:lnTo>
                      <a:pt x="79" y="111"/>
                    </a:lnTo>
                    <a:lnTo>
                      <a:pt x="76" y="114"/>
                    </a:lnTo>
                    <a:lnTo>
                      <a:pt x="72" y="111"/>
                    </a:lnTo>
                    <a:lnTo>
                      <a:pt x="69" y="107"/>
                    </a:lnTo>
                    <a:lnTo>
                      <a:pt x="62" y="104"/>
                    </a:lnTo>
                    <a:lnTo>
                      <a:pt x="55" y="100"/>
                    </a:lnTo>
                    <a:lnTo>
                      <a:pt x="52" y="97"/>
                    </a:lnTo>
                    <a:lnTo>
                      <a:pt x="45" y="93"/>
                    </a:lnTo>
                    <a:lnTo>
                      <a:pt x="38" y="83"/>
                    </a:lnTo>
                    <a:lnTo>
                      <a:pt x="34" y="80"/>
                    </a:lnTo>
                    <a:lnTo>
                      <a:pt x="20" y="52"/>
                    </a:lnTo>
                    <a:lnTo>
                      <a:pt x="17" y="42"/>
                    </a:lnTo>
                    <a:lnTo>
                      <a:pt x="13" y="38"/>
                    </a:lnTo>
                    <a:lnTo>
                      <a:pt x="7" y="35"/>
                    </a:lnTo>
                    <a:lnTo>
                      <a:pt x="3" y="2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59" name="Freeform 246"/>
              <p:cNvSpPr>
                <a:spLocks/>
              </p:cNvSpPr>
              <p:nvPr/>
            </p:nvSpPr>
            <p:spPr bwMode="auto">
              <a:xfrm>
                <a:off x="3499" y="911"/>
                <a:ext cx="55" cy="76"/>
              </a:xfrm>
              <a:custGeom>
                <a:avLst/>
                <a:gdLst>
                  <a:gd name="T0" fmla="*/ 55 w 55"/>
                  <a:gd name="T1" fmla="*/ 3 h 76"/>
                  <a:gd name="T2" fmla="*/ 41 w 55"/>
                  <a:gd name="T3" fmla="*/ 38 h 76"/>
                  <a:gd name="T4" fmla="*/ 34 w 55"/>
                  <a:gd name="T5" fmla="*/ 52 h 76"/>
                  <a:gd name="T6" fmla="*/ 31 w 55"/>
                  <a:gd name="T7" fmla="*/ 55 h 76"/>
                  <a:gd name="T8" fmla="*/ 27 w 55"/>
                  <a:gd name="T9" fmla="*/ 62 h 76"/>
                  <a:gd name="T10" fmla="*/ 20 w 55"/>
                  <a:gd name="T11" fmla="*/ 69 h 76"/>
                  <a:gd name="T12" fmla="*/ 13 w 55"/>
                  <a:gd name="T13" fmla="*/ 69 h 76"/>
                  <a:gd name="T14" fmla="*/ 3 w 55"/>
                  <a:gd name="T15" fmla="*/ 76 h 76"/>
                  <a:gd name="T16" fmla="*/ 0 w 55"/>
                  <a:gd name="T17" fmla="*/ 76 h 76"/>
                  <a:gd name="T18" fmla="*/ 3 w 55"/>
                  <a:gd name="T19" fmla="*/ 72 h 76"/>
                  <a:gd name="T20" fmla="*/ 10 w 55"/>
                  <a:gd name="T21" fmla="*/ 65 h 76"/>
                  <a:gd name="T22" fmla="*/ 17 w 55"/>
                  <a:gd name="T23" fmla="*/ 58 h 76"/>
                  <a:gd name="T24" fmla="*/ 24 w 55"/>
                  <a:gd name="T25" fmla="*/ 45 h 76"/>
                  <a:gd name="T26" fmla="*/ 27 w 55"/>
                  <a:gd name="T27" fmla="*/ 38 h 76"/>
                  <a:gd name="T28" fmla="*/ 34 w 55"/>
                  <a:gd name="T29" fmla="*/ 31 h 76"/>
                  <a:gd name="T30" fmla="*/ 38 w 55"/>
                  <a:gd name="T31" fmla="*/ 24 h 76"/>
                  <a:gd name="T32" fmla="*/ 41 w 55"/>
                  <a:gd name="T33" fmla="*/ 17 h 76"/>
                  <a:gd name="T34" fmla="*/ 51 w 55"/>
                  <a:gd name="T35" fmla="*/ 0 h 76"/>
                  <a:gd name="T36" fmla="*/ 55 w 55"/>
                  <a:gd name="T37" fmla="*/ 0 h 76"/>
                  <a:gd name="T38" fmla="*/ 55 w 55"/>
                  <a:gd name="T39" fmla="*/ 3 h 76"/>
                  <a:gd name="T40" fmla="*/ 55 w 55"/>
                  <a:gd name="T41" fmla="*/ 3 h 76"/>
                  <a:gd name="T42" fmla="*/ 55 w 55"/>
                  <a:gd name="T43" fmla="*/ 3 h 7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5"/>
                  <a:gd name="T67" fmla="*/ 0 h 76"/>
                  <a:gd name="T68" fmla="*/ 55 w 55"/>
                  <a:gd name="T69" fmla="*/ 76 h 7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5" h="76">
                    <a:moveTo>
                      <a:pt x="55" y="3"/>
                    </a:moveTo>
                    <a:lnTo>
                      <a:pt x="41" y="38"/>
                    </a:lnTo>
                    <a:lnTo>
                      <a:pt x="34" y="52"/>
                    </a:lnTo>
                    <a:lnTo>
                      <a:pt x="31" y="55"/>
                    </a:lnTo>
                    <a:lnTo>
                      <a:pt x="27" y="62"/>
                    </a:lnTo>
                    <a:lnTo>
                      <a:pt x="20" y="69"/>
                    </a:lnTo>
                    <a:lnTo>
                      <a:pt x="13" y="69"/>
                    </a:lnTo>
                    <a:lnTo>
                      <a:pt x="3" y="76"/>
                    </a:lnTo>
                    <a:lnTo>
                      <a:pt x="0" y="76"/>
                    </a:lnTo>
                    <a:lnTo>
                      <a:pt x="3" y="72"/>
                    </a:lnTo>
                    <a:lnTo>
                      <a:pt x="10" y="65"/>
                    </a:lnTo>
                    <a:lnTo>
                      <a:pt x="17" y="58"/>
                    </a:lnTo>
                    <a:lnTo>
                      <a:pt x="24" y="45"/>
                    </a:lnTo>
                    <a:lnTo>
                      <a:pt x="27" y="38"/>
                    </a:lnTo>
                    <a:lnTo>
                      <a:pt x="34" y="31"/>
                    </a:lnTo>
                    <a:lnTo>
                      <a:pt x="38" y="24"/>
                    </a:lnTo>
                    <a:lnTo>
                      <a:pt x="41" y="17"/>
                    </a:lnTo>
                    <a:lnTo>
                      <a:pt x="51" y="0"/>
                    </a:lnTo>
                    <a:lnTo>
                      <a:pt x="55" y="0"/>
                    </a:lnTo>
                    <a:lnTo>
                      <a:pt x="5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0" name="Freeform 247"/>
              <p:cNvSpPr>
                <a:spLocks/>
              </p:cNvSpPr>
              <p:nvPr/>
            </p:nvSpPr>
            <p:spPr bwMode="auto">
              <a:xfrm>
                <a:off x="3467" y="949"/>
                <a:ext cx="35" cy="14"/>
              </a:xfrm>
              <a:custGeom>
                <a:avLst/>
                <a:gdLst>
                  <a:gd name="T0" fmla="*/ 4 w 35"/>
                  <a:gd name="T1" fmla="*/ 10 h 14"/>
                  <a:gd name="T2" fmla="*/ 14 w 35"/>
                  <a:gd name="T3" fmla="*/ 7 h 14"/>
                  <a:gd name="T4" fmla="*/ 21 w 35"/>
                  <a:gd name="T5" fmla="*/ 3 h 14"/>
                  <a:gd name="T6" fmla="*/ 28 w 35"/>
                  <a:gd name="T7" fmla="*/ 0 h 14"/>
                  <a:gd name="T8" fmla="*/ 35 w 35"/>
                  <a:gd name="T9" fmla="*/ 3 h 14"/>
                  <a:gd name="T10" fmla="*/ 35 w 35"/>
                  <a:gd name="T11" fmla="*/ 7 h 14"/>
                  <a:gd name="T12" fmla="*/ 32 w 35"/>
                  <a:gd name="T13" fmla="*/ 10 h 14"/>
                  <a:gd name="T14" fmla="*/ 18 w 35"/>
                  <a:gd name="T15" fmla="*/ 14 h 14"/>
                  <a:gd name="T16" fmla="*/ 4 w 35"/>
                  <a:gd name="T17" fmla="*/ 14 h 14"/>
                  <a:gd name="T18" fmla="*/ 0 w 35"/>
                  <a:gd name="T19" fmla="*/ 14 h 14"/>
                  <a:gd name="T20" fmla="*/ 4 w 35"/>
                  <a:gd name="T21" fmla="*/ 10 h 14"/>
                  <a:gd name="T22" fmla="*/ 4 w 35"/>
                  <a:gd name="T23" fmla="*/ 10 h 14"/>
                  <a:gd name="T24" fmla="*/ 4 w 35"/>
                  <a:gd name="T25" fmla="*/ 10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5"/>
                  <a:gd name="T40" fmla="*/ 0 h 14"/>
                  <a:gd name="T41" fmla="*/ 35 w 35"/>
                  <a:gd name="T42" fmla="*/ 14 h 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5" h="14">
                    <a:moveTo>
                      <a:pt x="4" y="10"/>
                    </a:moveTo>
                    <a:lnTo>
                      <a:pt x="14" y="7"/>
                    </a:lnTo>
                    <a:lnTo>
                      <a:pt x="21" y="3"/>
                    </a:lnTo>
                    <a:lnTo>
                      <a:pt x="28" y="0"/>
                    </a:lnTo>
                    <a:lnTo>
                      <a:pt x="35" y="3"/>
                    </a:lnTo>
                    <a:lnTo>
                      <a:pt x="35" y="7"/>
                    </a:lnTo>
                    <a:lnTo>
                      <a:pt x="32" y="10"/>
                    </a:lnTo>
                    <a:lnTo>
                      <a:pt x="18" y="14"/>
                    </a:lnTo>
                    <a:lnTo>
                      <a:pt x="4" y="14"/>
                    </a:lnTo>
                    <a:lnTo>
                      <a:pt x="0" y="14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1" name="Freeform 248"/>
              <p:cNvSpPr>
                <a:spLocks/>
              </p:cNvSpPr>
              <p:nvPr/>
            </p:nvSpPr>
            <p:spPr bwMode="auto">
              <a:xfrm>
                <a:off x="3450" y="897"/>
                <a:ext cx="14" cy="48"/>
              </a:xfrm>
              <a:custGeom>
                <a:avLst/>
                <a:gdLst>
                  <a:gd name="T0" fmla="*/ 4 w 14"/>
                  <a:gd name="T1" fmla="*/ 0 h 48"/>
                  <a:gd name="T2" fmla="*/ 14 w 14"/>
                  <a:gd name="T3" fmla="*/ 28 h 48"/>
                  <a:gd name="T4" fmla="*/ 11 w 14"/>
                  <a:gd name="T5" fmla="*/ 45 h 48"/>
                  <a:gd name="T6" fmla="*/ 7 w 14"/>
                  <a:gd name="T7" fmla="*/ 48 h 48"/>
                  <a:gd name="T8" fmla="*/ 7 w 14"/>
                  <a:gd name="T9" fmla="*/ 45 h 48"/>
                  <a:gd name="T10" fmla="*/ 4 w 14"/>
                  <a:gd name="T11" fmla="*/ 28 h 48"/>
                  <a:gd name="T12" fmla="*/ 0 w 14"/>
                  <a:gd name="T13" fmla="*/ 3 h 48"/>
                  <a:gd name="T14" fmla="*/ 0 w 14"/>
                  <a:gd name="T15" fmla="*/ 0 h 48"/>
                  <a:gd name="T16" fmla="*/ 4 w 14"/>
                  <a:gd name="T17" fmla="*/ 0 h 48"/>
                  <a:gd name="T18" fmla="*/ 4 w 14"/>
                  <a:gd name="T19" fmla="*/ 0 h 48"/>
                  <a:gd name="T20" fmla="*/ 4 w 14"/>
                  <a:gd name="T21" fmla="*/ 0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"/>
                  <a:gd name="T34" fmla="*/ 0 h 48"/>
                  <a:gd name="T35" fmla="*/ 14 w 14"/>
                  <a:gd name="T36" fmla="*/ 48 h 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" h="48">
                    <a:moveTo>
                      <a:pt x="4" y="0"/>
                    </a:moveTo>
                    <a:lnTo>
                      <a:pt x="14" y="28"/>
                    </a:lnTo>
                    <a:lnTo>
                      <a:pt x="11" y="45"/>
                    </a:lnTo>
                    <a:lnTo>
                      <a:pt x="7" y="48"/>
                    </a:lnTo>
                    <a:lnTo>
                      <a:pt x="7" y="45"/>
                    </a:lnTo>
                    <a:lnTo>
                      <a:pt x="4" y="28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2" name="Freeform 249"/>
              <p:cNvSpPr>
                <a:spLocks/>
              </p:cNvSpPr>
              <p:nvPr/>
            </p:nvSpPr>
            <p:spPr bwMode="auto">
              <a:xfrm>
                <a:off x="3464" y="935"/>
                <a:ext cx="24" cy="7"/>
              </a:xfrm>
              <a:custGeom>
                <a:avLst/>
                <a:gdLst>
                  <a:gd name="T0" fmla="*/ 3 w 24"/>
                  <a:gd name="T1" fmla="*/ 3 h 7"/>
                  <a:gd name="T2" fmla="*/ 14 w 24"/>
                  <a:gd name="T3" fmla="*/ 0 h 7"/>
                  <a:gd name="T4" fmla="*/ 17 w 24"/>
                  <a:gd name="T5" fmla="*/ 0 h 7"/>
                  <a:gd name="T6" fmla="*/ 24 w 24"/>
                  <a:gd name="T7" fmla="*/ 3 h 7"/>
                  <a:gd name="T8" fmla="*/ 21 w 24"/>
                  <a:gd name="T9" fmla="*/ 7 h 7"/>
                  <a:gd name="T10" fmla="*/ 17 w 24"/>
                  <a:gd name="T11" fmla="*/ 7 h 7"/>
                  <a:gd name="T12" fmla="*/ 3 w 24"/>
                  <a:gd name="T13" fmla="*/ 7 h 7"/>
                  <a:gd name="T14" fmla="*/ 0 w 24"/>
                  <a:gd name="T15" fmla="*/ 7 h 7"/>
                  <a:gd name="T16" fmla="*/ 3 w 24"/>
                  <a:gd name="T17" fmla="*/ 3 h 7"/>
                  <a:gd name="T18" fmla="*/ 3 w 24"/>
                  <a:gd name="T19" fmla="*/ 3 h 7"/>
                  <a:gd name="T20" fmla="*/ 3 w 24"/>
                  <a:gd name="T21" fmla="*/ 3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7"/>
                  <a:gd name="T35" fmla="*/ 24 w 24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7">
                    <a:moveTo>
                      <a:pt x="3" y="3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24" y="3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3" name="Freeform 250"/>
              <p:cNvSpPr>
                <a:spLocks/>
              </p:cNvSpPr>
              <p:nvPr/>
            </p:nvSpPr>
            <p:spPr bwMode="auto">
              <a:xfrm>
                <a:off x="3474" y="880"/>
                <a:ext cx="35" cy="10"/>
              </a:xfrm>
              <a:custGeom>
                <a:avLst/>
                <a:gdLst>
                  <a:gd name="T0" fmla="*/ 4 w 35"/>
                  <a:gd name="T1" fmla="*/ 3 h 10"/>
                  <a:gd name="T2" fmla="*/ 14 w 35"/>
                  <a:gd name="T3" fmla="*/ 0 h 10"/>
                  <a:gd name="T4" fmla="*/ 25 w 35"/>
                  <a:gd name="T5" fmla="*/ 3 h 10"/>
                  <a:gd name="T6" fmla="*/ 31 w 35"/>
                  <a:gd name="T7" fmla="*/ 3 h 10"/>
                  <a:gd name="T8" fmla="*/ 35 w 35"/>
                  <a:gd name="T9" fmla="*/ 7 h 10"/>
                  <a:gd name="T10" fmla="*/ 35 w 35"/>
                  <a:gd name="T11" fmla="*/ 10 h 10"/>
                  <a:gd name="T12" fmla="*/ 31 w 35"/>
                  <a:gd name="T13" fmla="*/ 10 h 10"/>
                  <a:gd name="T14" fmla="*/ 25 w 35"/>
                  <a:gd name="T15" fmla="*/ 10 h 10"/>
                  <a:gd name="T16" fmla="*/ 14 w 35"/>
                  <a:gd name="T17" fmla="*/ 7 h 10"/>
                  <a:gd name="T18" fmla="*/ 4 w 35"/>
                  <a:gd name="T19" fmla="*/ 7 h 10"/>
                  <a:gd name="T20" fmla="*/ 0 w 35"/>
                  <a:gd name="T21" fmla="*/ 7 h 10"/>
                  <a:gd name="T22" fmla="*/ 4 w 35"/>
                  <a:gd name="T23" fmla="*/ 3 h 10"/>
                  <a:gd name="T24" fmla="*/ 4 w 35"/>
                  <a:gd name="T25" fmla="*/ 3 h 10"/>
                  <a:gd name="T26" fmla="*/ 4 w 35"/>
                  <a:gd name="T27" fmla="*/ 3 h 1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5"/>
                  <a:gd name="T43" fmla="*/ 0 h 10"/>
                  <a:gd name="T44" fmla="*/ 35 w 35"/>
                  <a:gd name="T45" fmla="*/ 10 h 1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5" h="10">
                    <a:moveTo>
                      <a:pt x="4" y="3"/>
                    </a:moveTo>
                    <a:lnTo>
                      <a:pt x="14" y="0"/>
                    </a:lnTo>
                    <a:lnTo>
                      <a:pt x="25" y="3"/>
                    </a:lnTo>
                    <a:lnTo>
                      <a:pt x="31" y="3"/>
                    </a:lnTo>
                    <a:lnTo>
                      <a:pt x="35" y="7"/>
                    </a:lnTo>
                    <a:lnTo>
                      <a:pt x="35" y="10"/>
                    </a:lnTo>
                    <a:lnTo>
                      <a:pt x="31" y="10"/>
                    </a:lnTo>
                    <a:lnTo>
                      <a:pt x="25" y="10"/>
                    </a:lnTo>
                    <a:lnTo>
                      <a:pt x="14" y="7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4" name="Freeform 251"/>
              <p:cNvSpPr>
                <a:spLocks/>
              </p:cNvSpPr>
              <p:nvPr/>
            </p:nvSpPr>
            <p:spPr bwMode="auto">
              <a:xfrm>
                <a:off x="3467" y="900"/>
                <a:ext cx="42" cy="7"/>
              </a:xfrm>
              <a:custGeom>
                <a:avLst/>
                <a:gdLst>
                  <a:gd name="T0" fmla="*/ 0 w 42"/>
                  <a:gd name="T1" fmla="*/ 4 h 7"/>
                  <a:gd name="T2" fmla="*/ 11 w 42"/>
                  <a:gd name="T3" fmla="*/ 0 h 7"/>
                  <a:gd name="T4" fmla="*/ 21 w 42"/>
                  <a:gd name="T5" fmla="*/ 0 h 7"/>
                  <a:gd name="T6" fmla="*/ 32 w 42"/>
                  <a:gd name="T7" fmla="*/ 0 h 7"/>
                  <a:gd name="T8" fmla="*/ 42 w 42"/>
                  <a:gd name="T9" fmla="*/ 0 h 7"/>
                  <a:gd name="T10" fmla="*/ 42 w 42"/>
                  <a:gd name="T11" fmla="*/ 4 h 7"/>
                  <a:gd name="T12" fmla="*/ 21 w 42"/>
                  <a:gd name="T13" fmla="*/ 4 h 7"/>
                  <a:gd name="T14" fmla="*/ 11 w 42"/>
                  <a:gd name="T15" fmla="*/ 4 h 7"/>
                  <a:gd name="T16" fmla="*/ 4 w 42"/>
                  <a:gd name="T17" fmla="*/ 7 h 7"/>
                  <a:gd name="T18" fmla="*/ 0 w 42"/>
                  <a:gd name="T19" fmla="*/ 4 h 7"/>
                  <a:gd name="T20" fmla="*/ 0 w 42"/>
                  <a:gd name="T21" fmla="*/ 4 h 7"/>
                  <a:gd name="T22" fmla="*/ 0 w 42"/>
                  <a:gd name="T23" fmla="*/ 4 h 7"/>
                  <a:gd name="T24" fmla="*/ 0 w 42"/>
                  <a:gd name="T25" fmla="*/ 4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2"/>
                  <a:gd name="T40" fmla="*/ 0 h 7"/>
                  <a:gd name="T41" fmla="*/ 42 w 42"/>
                  <a:gd name="T42" fmla="*/ 7 h 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2" h="7">
                    <a:moveTo>
                      <a:pt x="0" y="4"/>
                    </a:moveTo>
                    <a:lnTo>
                      <a:pt x="11" y="0"/>
                    </a:lnTo>
                    <a:lnTo>
                      <a:pt x="21" y="0"/>
                    </a:lnTo>
                    <a:lnTo>
                      <a:pt x="32" y="0"/>
                    </a:lnTo>
                    <a:lnTo>
                      <a:pt x="42" y="0"/>
                    </a:lnTo>
                    <a:lnTo>
                      <a:pt x="42" y="4"/>
                    </a:lnTo>
                    <a:lnTo>
                      <a:pt x="21" y="4"/>
                    </a:lnTo>
                    <a:lnTo>
                      <a:pt x="11" y="4"/>
                    </a:lnTo>
                    <a:lnTo>
                      <a:pt x="4" y="7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5" name="Freeform 252"/>
              <p:cNvSpPr>
                <a:spLocks/>
              </p:cNvSpPr>
              <p:nvPr/>
            </p:nvSpPr>
            <p:spPr bwMode="auto">
              <a:xfrm>
                <a:off x="3422" y="904"/>
                <a:ext cx="21" cy="10"/>
              </a:xfrm>
              <a:custGeom>
                <a:avLst/>
                <a:gdLst>
                  <a:gd name="T0" fmla="*/ 0 w 21"/>
                  <a:gd name="T1" fmla="*/ 7 h 10"/>
                  <a:gd name="T2" fmla="*/ 4 w 21"/>
                  <a:gd name="T3" fmla="*/ 0 h 10"/>
                  <a:gd name="T4" fmla="*/ 18 w 21"/>
                  <a:gd name="T5" fmla="*/ 0 h 10"/>
                  <a:gd name="T6" fmla="*/ 21 w 21"/>
                  <a:gd name="T7" fmla="*/ 3 h 10"/>
                  <a:gd name="T8" fmla="*/ 18 w 21"/>
                  <a:gd name="T9" fmla="*/ 3 h 10"/>
                  <a:gd name="T10" fmla="*/ 7 w 21"/>
                  <a:gd name="T11" fmla="*/ 10 h 10"/>
                  <a:gd name="T12" fmla="*/ 0 w 21"/>
                  <a:gd name="T13" fmla="*/ 10 h 10"/>
                  <a:gd name="T14" fmla="*/ 0 w 21"/>
                  <a:gd name="T15" fmla="*/ 7 h 10"/>
                  <a:gd name="T16" fmla="*/ 0 w 21"/>
                  <a:gd name="T17" fmla="*/ 7 h 10"/>
                  <a:gd name="T18" fmla="*/ 0 w 21"/>
                  <a:gd name="T19" fmla="*/ 7 h 10"/>
                  <a:gd name="T20" fmla="*/ 0 w 21"/>
                  <a:gd name="T21" fmla="*/ 7 h 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10"/>
                  <a:gd name="T35" fmla="*/ 21 w 21"/>
                  <a:gd name="T36" fmla="*/ 10 h 1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10">
                    <a:moveTo>
                      <a:pt x="0" y="7"/>
                    </a:moveTo>
                    <a:lnTo>
                      <a:pt x="4" y="0"/>
                    </a:lnTo>
                    <a:lnTo>
                      <a:pt x="18" y="0"/>
                    </a:lnTo>
                    <a:lnTo>
                      <a:pt x="21" y="3"/>
                    </a:lnTo>
                    <a:lnTo>
                      <a:pt x="18" y="3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6" name="Freeform 253"/>
              <p:cNvSpPr>
                <a:spLocks/>
              </p:cNvSpPr>
              <p:nvPr/>
            </p:nvSpPr>
            <p:spPr bwMode="auto">
              <a:xfrm>
                <a:off x="3409" y="887"/>
                <a:ext cx="31" cy="10"/>
              </a:xfrm>
              <a:custGeom>
                <a:avLst/>
                <a:gdLst>
                  <a:gd name="T0" fmla="*/ 3 w 31"/>
                  <a:gd name="T1" fmla="*/ 10 h 10"/>
                  <a:gd name="T2" fmla="*/ 7 w 31"/>
                  <a:gd name="T3" fmla="*/ 3 h 10"/>
                  <a:gd name="T4" fmla="*/ 31 w 31"/>
                  <a:gd name="T5" fmla="*/ 0 h 10"/>
                  <a:gd name="T6" fmla="*/ 31 w 31"/>
                  <a:gd name="T7" fmla="*/ 0 h 10"/>
                  <a:gd name="T8" fmla="*/ 31 w 31"/>
                  <a:gd name="T9" fmla="*/ 3 h 10"/>
                  <a:gd name="T10" fmla="*/ 10 w 31"/>
                  <a:gd name="T11" fmla="*/ 10 h 10"/>
                  <a:gd name="T12" fmla="*/ 7 w 31"/>
                  <a:gd name="T13" fmla="*/ 10 h 10"/>
                  <a:gd name="T14" fmla="*/ 3 w 31"/>
                  <a:gd name="T15" fmla="*/ 10 h 10"/>
                  <a:gd name="T16" fmla="*/ 0 w 31"/>
                  <a:gd name="T17" fmla="*/ 10 h 10"/>
                  <a:gd name="T18" fmla="*/ 3 w 31"/>
                  <a:gd name="T19" fmla="*/ 10 h 10"/>
                  <a:gd name="T20" fmla="*/ 3 w 31"/>
                  <a:gd name="T21" fmla="*/ 10 h 10"/>
                  <a:gd name="T22" fmla="*/ 3 w 31"/>
                  <a:gd name="T23" fmla="*/ 1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10"/>
                  <a:gd name="T38" fmla="*/ 31 w 31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10">
                    <a:moveTo>
                      <a:pt x="3" y="10"/>
                    </a:moveTo>
                    <a:lnTo>
                      <a:pt x="7" y="3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10" y="10"/>
                    </a:lnTo>
                    <a:lnTo>
                      <a:pt x="7" y="10"/>
                    </a:lnTo>
                    <a:lnTo>
                      <a:pt x="3" y="10"/>
                    </a:lnTo>
                    <a:lnTo>
                      <a:pt x="0" y="10"/>
                    </a:ln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7" name="Freeform 254"/>
              <p:cNvSpPr>
                <a:spLocks/>
              </p:cNvSpPr>
              <p:nvPr/>
            </p:nvSpPr>
            <p:spPr bwMode="auto">
              <a:xfrm>
                <a:off x="3416" y="807"/>
                <a:ext cx="93" cy="45"/>
              </a:xfrm>
              <a:custGeom>
                <a:avLst/>
                <a:gdLst>
                  <a:gd name="T0" fmla="*/ 3 w 93"/>
                  <a:gd name="T1" fmla="*/ 41 h 45"/>
                  <a:gd name="T2" fmla="*/ 24 w 93"/>
                  <a:gd name="T3" fmla="*/ 38 h 45"/>
                  <a:gd name="T4" fmla="*/ 31 w 93"/>
                  <a:gd name="T5" fmla="*/ 35 h 45"/>
                  <a:gd name="T6" fmla="*/ 41 w 93"/>
                  <a:gd name="T7" fmla="*/ 28 h 45"/>
                  <a:gd name="T8" fmla="*/ 45 w 93"/>
                  <a:gd name="T9" fmla="*/ 24 h 45"/>
                  <a:gd name="T10" fmla="*/ 48 w 93"/>
                  <a:gd name="T11" fmla="*/ 21 h 45"/>
                  <a:gd name="T12" fmla="*/ 58 w 93"/>
                  <a:gd name="T13" fmla="*/ 17 h 45"/>
                  <a:gd name="T14" fmla="*/ 69 w 93"/>
                  <a:gd name="T15" fmla="*/ 17 h 45"/>
                  <a:gd name="T16" fmla="*/ 76 w 93"/>
                  <a:gd name="T17" fmla="*/ 10 h 45"/>
                  <a:gd name="T18" fmla="*/ 83 w 93"/>
                  <a:gd name="T19" fmla="*/ 3 h 45"/>
                  <a:gd name="T20" fmla="*/ 89 w 93"/>
                  <a:gd name="T21" fmla="*/ 0 h 45"/>
                  <a:gd name="T22" fmla="*/ 93 w 93"/>
                  <a:gd name="T23" fmla="*/ 0 h 45"/>
                  <a:gd name="T24" fmla="*/ 89 w 93"/>
                  <a:gd name="T25" fmla="*/ 3 h 45"/>
                  <a:gd name="T26" fmla="*/ 83 w 93"/>
                  <a:gd name="T27" fmla="*/ 7 h 45"/>
                  <a:gd name="T28" fmla="*/ 76 w 93"/>
                  <a:gd name="T29" fmla="*/ 17 h 45"/>
                  <a:gd name="T30" fmla="*/ 69 w 93"/>
                  <a:gd name="T31" fmla="*/ 24 h 45"/>
                  <a:gd name="T32" fmla="*/ 65 w 93"/>
                  <a:gd name="T33" fmla="*/ 24 h 45"/>
                  <a:gd name="T34" fmla="*/ 62 w 93"/>
                  <a:gd name="T35" fmla="*/ 28 h 45"/>
                  <a:gd name="T36" fmla="*/ 48 w 93"/>
                  <a:gd name="T37" fmla="*/ 35 h 45"/>
                  <a:gd name="T38" fmla="*/ 45 w 93"/>
                  <a:gd name="T39" fmla="*/ 38 h 45"/>
                  <a:gd name="T40" fmla="*/ 38 w 93"/>
                  <a:gd name="T41" fmla="*/ 41 h 45"/>
                  <a:gd name="T42" fmla="*/ 27 w 93"/>
                  <a:gd name="T43" fmla="*/ 45 h 45"/>
                  <a:gd name="T44" fmla="*/ 3 w 93"/>
                  <a:gd name="T45" fmla="*/ 45 h 45"/>
                  <a:gd name="T46" fmla="*/ 0 w 93"/>
                  <a:gd name="T47" fmla="*/ 45 h 45"/>
                  <a:gd name="T48" fmla="*/ 3 w 93"/>
                  <a:gd name="T49" fmla="*/ 41 h 45"/>
                  <a:gd name="T50" fmla="*/ 3 w 93"/>
                  <a:gd name="T51" fmla="*/ 41 h 45"/>
                  <a:gd name="T52" fmla="*/ 3 w 93"/>
                  <a:gd name="T53" fmla="*/ 41 h 4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93"/>
                  <a:gd name="T82" fmla="*/ 0 h 45"/>
                  <a:gd name="T83" fmla="*/ 93 w 93"/>
                  <a:gd name="T84" fmla="*/ 45 h 45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93" h="45">
                    <a:moveTo>
                      <a:pt x="3" y="41"/>
                    </a:moveTo>
                    <a:lnTo>
                      <a:pt x="24" y="38"/>
                    </a:lnTo>
                    <a:lnTo>
                      <a:pt x="31" y="35"/>
                    </a:lnTo>
                    <a:lnTo>
                      <a:pt x="41" y="28"/>
                    </a:lnTo>
                    <a:lnTo>
                      <a:pt x="45" y="24"/>
                    </a:lnTo>
                    <a:lnTo>
                      <a:pt x="48" y="21"/>
                    </a:lnTo>
                    <a:lnTo>
                      <a:pt x="58" y="17"/>
                    </a:lnTo>
                    <a:lnTo>
                      <a:pt x="69" y="17"/>
                    </a:lnTo>
                    <a:lnTo>
                      <a:pt x="76" y="10"/>
                    </a:lnTo>
                    <a:lnTo>
                      <a:pt x="83" y="3"/>
                    </a:lnTo>
                    <a:lnTo>
                      <a:pt x="89" y="0"/>
                    </a:lnTo>
                    <a:lnTo>
                      <a:pt x="93" y="0"/>
                    </a:lnTo>
                    <a:lnTo>
                      <a:pt x="89" y="3"/>
                    </a:lnTo>
                    <a:lnTo>
                      <a:pt x="83" y="7"/>
                    </a:lnTo>
                    <a:lnTo>
                      <a:pt x="76" y="17"/>
                    </a:lnTo>
                    <a:lnTo>
                      <a:pt x="69" y="24"/>
                    </a:lnTo>
                    <a:lnTo>
                      <a:pt x="65" y="24"/>
                    </a:lnTo>
                    <a:lnTo>
                      <a:pt x="62" y="28"/>
                    </a:lnTo>
                    <a:lnTo>
                      <a:pt x="48" y="35"/>
                    </a:lnTo>
                    <a:lnTo>
                      <a:pt x="45" y="38"/>
                    </a:lnTo>
                    <a:lnTo>
                      <a:pt x="38" y="41"/>
                    </a:lnTo>
                    <a:lnTo>
                      <a:pt x="27" y="45"/>
                    </a:lnTo>
                    <a:lnTo>
                      <a:pt x="3" y="45"/>
                    </a:lnTo>
                    <a:lnTo>
                      <a:pt x="0" y="45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8" name="Freeform 255"/>
              <p:cNvSpPr>
                <a:spLocks/>
              </p:cNvSpPr>
              <p:nvPr/>
            </p:nvSpPr>
            <p:spPr bwMode="auto">
              <a:xfrm>
                <a:off x="3530" y="838"/>
                <a:ext cx="17" cy="7"/>
              </a:xfrm>
              <a:custGeom>
                <a:avLst/>
                <a:gdLst>
                  <a:gd name="T0" fmla="*/ 0 w 17"/>
                  <a:gd name="T1" fmla="*/ 0 h 7"/>
                  <a:gd name="T2" fmla="*/ 13 w 17"/>
                  <a:gd name="T3" fmla="*/ 0 h 7"/>
                  <a:gd name="T4" fmla="*/ 17 w 17"/>
                  <a:gd name="T5" fmla="*/ 0 h 7"/>
                  <a:gd name="T6" fmla="*/ 17 w 17"/>
                  <a:gd name="T7" fmla="*/ 4 h 7"/>
                  <a:gd name="T8" fmla="*/ 17 w 17"/>
                  <a:gd name="T9" fmla="*/ 7 h 7"/>
                  <a:gd name="T10" fmla="*/ 13 w 17"/>
                  <a:gd name="T11" fmla="*/ 7 h 7"/>
                  <a:gd name="T12" fmla="*/ 0 w 17"/>
                  <a:gd name="T13" fmla="*/ 4 h 7"/>
                  <a:gd name="T14" fmla="*/ 0 w 17"/>
                  <a:gd name="T15" fmla="*/ 0 h 7"/>
                  <a:gd name="T16" fmla="*/ 0 w 17"/>
                  <a:gd name="T17" fmla="*/ 0 h 7"/>
                  <a:gd name="T18" fmla="*/ 0 w 17"/>
                  <a:gd name="T19" fmla="*/ 0 h 7"/>
                  <a:gd name="T20" fmla="*/ 0 w 17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"/>
                  <a:gd name="T34" fmla="*/ 0 h 7"/>
                  <a:gd name="T35" fmla="*/ 17 w 17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" h="7">
                    <a:moveTo>
                      <a:pt x="0" y="0"/>
                    </a:moveTo>
                    <a:lnTo>
                      <a:pt x="13" y="0"/>
                    </a:lnTo>
                    <a:lnTo>
                      <a:pt x="17" y="0"/>
                    </a:lnTo>
                    <a:lnTo>
                      <a:pt x="17" y="4"/>
                    </a:lnTo>
                    <a:lnTo>
                      <a:pt x="17" y="7"/>
                    </a:lnTo>
                    <a:lnTo>
                      <a:pt x="13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69" name="Freeform 256"/>
              <p:cNvSpPr>
                <a:spLocks/>
              </p:cNvSpPr>
              <p:nvPr/>
            </p:nvSpPr>
            <p:spPr bwMode="auto">
              <a:xfrm>
                <a:off x="3530" y="852"/>
                <a:ext cx="13" cy="7"/>
              </a:xfrm>
              <a:custGeom>
                <a:avLst/>
                <a:gdLst>
                  <a:gd name="T0" fmla="*/ 3 w 13"/>
                  <a:gd name="T1" fmla="*/ 0 h 7"/>
                  <a:gd name="T2" fmla="*/ 7 w 13"/>
                  <a:gd name="T3" fmla="*/ 0 h 7"/>
                  <a:gd name="T4" fmla="*/ 13 w 13"/>
                  <a:gd name="T5" fmla="*/ 3 h 7"/>
                  <a:gd name="T6" fmla="*/ 13 w 13"/>
                  <a:gd name="T7" fmla="*/ 7 h 7"/>
                  <a:gd name="T8" fmla="*/ 10 w 13"/>
                  <a:gd name="T9" fmla="*/ 7 h 7"/>
                  <a:gd name="T10" fmla="*/ 3 w 13"/>
                  <a:gd name="T11" fmla="*/ 7 h 7"/>
                  <a:gd name="T12" fmla="*/ 0 w 13"/>
                  <a:gd name="T13" fmla="*/ 3 h 7"/>
                  <a:gd name="T14" fmla="*/ 0 w 13"/>
                  <a:gd name="T15" fmla="*/ 0 h 7"/>
                  <a:gd name="T16" fmla="*/ 3 w 13"/>
                  <a:gd name="T17" fmla="*/ 0 h 7"/>
                  <a:gd name="T18" fmla="*/ 3 w 13"/>
                  <a:gd name="T19" fmla="*/ 0 h 7"/>
                  <a:gd name="T20" fmla="*/ 3 w 13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"/>
                  <a:gd name="T34" fmla="*/ 0 h 7"/>
                  <a:gd name="T35" fmla="*/ 13 w 13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" h="7">
                    <a:moveTo>
                      <a:pt x="3" y="0"/>
                    </a:moveTo>
                    <a:lnTo>
                      <a:pt x="7" y="0"/>
                    </a:lnTo>
                    <a:lnTo>
                      <a:pt x="13" y="3"/>
                    </a:lnTo>
                    <a:lnTo>
                      <a:pt x="13" y="7"/>
                    </a:lnTo>
                    <a:lnTo>
                      <a:pt x="10" y="7"/>
                    </a:lnTo>
                    <a:lnTo>
                      <a:pt x="3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0" name="Freeform 257"/>
              <p:cNvSpPr>
                <a:spLocks/>
              </p:cNvSpPr>
              <p:nvPr/>
            </p:nvSpPr>
            <p:spPr bwMode="auto">
              <a:xfrm>
                <a:off x="3568" y="859"/>
                <a:ext cx="55" cy="17"/>
              </a:xfrm>
              <a:custGeom>
                <a:avLst/>
                <a:gdLst>
                  <a:gd name="T0" fmla="*/ 0 w 55"/>
                  <a:gd name="T1" fmla="*/ 0 h 17"/>
                  <a:gd name="T2" fmla="*/ 20 w 55"/>
                  <a:gd name="T3" fmla="*/ 0 h 17"/>
                  <a:gd name="T4" fmla="*/ 34 w 55"/>
                  <a:gd name="T5" fmla="*/ 7 h 17"/>
                  <a:gd name="T6" fmla="*/ 55 w 55"/>
                  <a:gd name="T7" fmla="*/ 14 h 17"/>
                  <a:gd name="T8" fmla="*/ 55 w 55"/>
                  <a:gd name="T9" fmla="*/ 17 h 17"/>
                  <a:gd name="T10" fmla="*/ 52 w 55"/>
                  <a:gd name="T11" fmla="*/ 17 h 17"/>
                  <a:gd name="T12" fmla="*/ 31 w 55"/>
                  <a:gd name="T13" fmla="*/ 14 h 17"/>
                  <a:gd name="T14" fmla="*/ 24 w 55"/>
                  <a:gd name="T15" fmla="*/ 10 h 17"/>
                  <a:gd name="T16" fmla="*/ 17 w 55"/>
                  <a:gd name="T17" fmla="*/ 7 h 17"/>
                  <a:gd name="T18" fmla="*/ 0 w 55"/>
                  <a:gd name="T19" fmla="*/ 3 h 17"/>
                  <a:gd name="T20" fmla="*/ 0 w 55"/>
                  <a:gd name="T21" fmla="*/ 0 h 17"/>
                  <a:gd name="T22" fmla="*/ 0 w 55"/>
                  <a:gd name="T23" fmla="*/ 0 h 17"/>
                  <a:gd name="T24" fmla="*/ 0 w 55"/>
                  <a:gd name="T25" fmla="*/ 0 h 17"/>
                  <a:gd name="T26" fmla="*/ 0 w 55"/>
                  <a:gd name="T27" fmla="*/ 0 h 1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5"/>
                  <a:gd name="T43" fmla="*/ 0 h 17"/>
                  <a:gd name="T44" fmla="*/ 55 w 55"/>
                  <a:gd name="T45" fmla="*/ 17 h 1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5" h="17">
                    <a:moveTo>
                      <a:pt x="0" y="0"/>
                    </a:moveTo>
                    <a:lnTo>
                      <a:pt x="20" y="0"/>
                    </a:lnTo>
                    <a:lnTo>
                      <a:pt x="34" y="7"/>
                    </a:lnTo>
                    <a:lnTo>
                      <a:pt x="55" y="14"/>
                    </a:lnTo>
                    <a:lnTo>
                      <a:pt x="55" y="17"/>
                    </a:lnTo>
                    <a:lnTo>
                      <a:pt x="52" y="17"/>
                    </a:lnTo>
                    <a:lnTo>
                      <a:pt x="31" y="14"/>
                    </a:lnTo>
                    <a:lnTo>
                      <a:pt x="24" y="10"/>
                    </a:lnTo>
                    <a:lnTo>
                      <a:pt x="17" y="7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1" name="Freeform 258"/>
              <p:cNvSpPr>
                <a:spLocks/>
              </p:cNvSpPr>
              <p:nvPr/>
            </p:nvSpPr>
            <p:spPr bwMode="auto">
              <a:xfrm>
                <a:off x="3606" y="876"/>
                <a:ext cx="131" cy="111"/>
              </a:xfrm>
              <a:custGeom>
                <a:avLst/>
                <a:gdLst>
                  <a:gd name="T0" fmla="*/ 0 w 131"/>
                  <a:gd name="T1" fmla="*/ 0 h 111"/>
                  <a:gd name="T2" fmla="*/ 41 w 131"/>
                  <a:gd name="T3" fmla="*/ 4 h 111"/>
                  <a:gd name="T4" fmla="*/ 52 w 131"/>
                  <a:gd name="T5" fmla="*/ 7 h 111"/>
                  <a:gd name="T6" fmla="*/ 62 w 131"/>
                  <a:gd name="T7" fmla="*/ 14 h 111"/>
                  <a:gd name="T8" fmla="*/ 65 w 131"/>
                  <a:gd name="T9" fmla="*/ 17 h 111"/>
                  <a:gd name="T10" fmla="*/ 72 w 131"/>
                  <a:gd name="T11" fmla="*/ 21 h 111"/>
                  <a:gd name="T12" fmla="*/ 76 w 131"/>
                  <a:gd name="T13" fmla="*/ 28 h 111"/>
                  <a:gd name="T14" fmla="*/ 83 w 131"/>
                  <a:gd name="T15" fmla="*/ 31 h 111"/>
                  <a:gd name="T16" fmla="*/ 83 w 131"/>
                  <a:gd name="T17" fmla="*/ 38 h 111"/>
                  <a:gd name="T18" fmla="*/ 90 w 131"/>
                  <a:gd name="T19" fmla="*/ 49 h 111"/>
                  <a:gd name="T20" fmla="*/ 100 w 131"/>
                  <a:gd name="T21" fmla="*/ 55 h 111"/>
                  <a:gd name="T22" fmla="*/ 107 w 131"/>
                  <a:gd name="T23" fmla="*/ 69 h 111"/>
                  <a:gd name="T24" fmla="*/ 114 w 131"/>
                  <a:gd name="T25" fmla="*/ 80 h 111"/>
                  <a:gd name="T26" fmla="*/ 121 w 131"/>
                  <a:gd name="T27" fmla="*/ 93 h 111"/>
                  <a:gd name="T28" fmla="*/ 124 w 131"/>
                  <a:gd name="T29" fmla="*/ 97 h 111"/>
                  <a:gd name="T30" fmla="*/ 131 w 131"/>
                  <a:gd name="T31" fmla="*/ 104 h 111"/>
                  <a:gd name="T32" fmla="*/ 131 w 131"/>
                  <a:gd name="T33" fmla="*/ 107 h 111"/>
                  <a:gd name="T34" fmla="*/ 131 w 131"/>
                  <a:gd name="T35" fmla="*/ 111 h 111"/>
                  <a:gd name="T36" fmla="*/ 124 w 131"/>
                  <a:gd name="T37" fmla="*/ 111 h 111"/>
                  <a:gd name="T38" fmla="*/ 114 w 131"/>
                  <a:gd name="T39" fmla="*/ 97 h 111"/>
                  <a:gd name="T40" fmla="*/ 107 w 131"/>
                  <a:gd name="T41" fmla="*/ 87 h 111"/>
                  <a:gd name="T42" fmla="*/ 100 w 131"/>
                  <a:gd name="T43" fmla="*/ 73 h 111"/>
                  <a:gd name="T44" fmla="*/ 96 w 131"/>
                  <a:gd name="T45" fmla="*/ 66 h 111"/>
                  <a:gd name="T46" fmla="*/ 93 w 131"/>
                  <a:gd name="T47" fmla="*/ 59 h 111"/>
                  <a:gd name="T48" fmla="*/ 76 w 131"/>
                  <a:gd name="T49" fmla="*/ 42 h 111"/>
                  <a:gd name="T50" fmla="*/ 76 w 131"/>
                  <a:gd name="T51" fmla="*/ 35 h 111"/>
                  <a:gd name="T52" fmla="*/ 65 w 131"/>
                  <a:gd name="T53" fmla="*/ 28 h 111"/>
                  <a:gd name="T54" fmla="*/ 62 w 131"/>
                  <a:gd name="T55" fmla="*/ 24 h 111"/>
                  <a:gd name="T56" fmla="*/ 58 w 131"/>
                  <a:gd name="T57" fmla="*/ 21 h 111"/>
                  <a:gd name="T58" fmla="*/ 55 w 131"/>
                  <a:gd name="T59" fmla="*/ 17 h 111"/>
                  <a:gd name="T60" fmla="*/ 48 w 131"/>
                  <a:gd name="T61" fmla="*/ 14 h 111"/>
                  <a:gd name="T62" fmla="*/ 38 w 131"/>
                  <a:gd name="T63" fmla="*/ 11 h 111"/>
                  <a:gd name="T64" fmla="*/ 20 w 131"/>
                  <a:gd name="T65" fmla="*/ 7 h 111"/>
                  <a:gd name="T66" fmla="*/ 0 w 131"/>
                  <a:gd name="T67" fmla="*/ 4 h 111"/>
                  <a:gd name="T68" fmla="*/ 0 w 131"/>
                  <a:gd name="T69" fmla="*/ 4 h 111"/>
                  <a:gd name="T70" fmla="*/ 0 w 131"/>
                  <a:gd name="T71" fmla="*/ 0 h 111"/>
                  <a:gd name="T72" fmla="*/ 0 w 131"/>
                  <a:gd name="T73" fmla="*/ 0 h 111"/>
                  <a:gd name="T74" fmla="*/ 0 w 131"/>
                  <a:gd name="T75" fmla="*/ 0 h 11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1"/>
                  <a:gd name="T115" fmla="*/ 0 h 111"/>
                  <a:gd name="T116" fmla="*/ 131 w 131"/>
                  <a:gd name="T117" fmla="*/ 111 h 11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1" h="111">
                    <a:moveTo>
                      <a:pt x="0" y="0"/>
                    </a:moveTo>
                    <a:lnTo>
                      <a:pt x="41" y="4"/>
                    </a:lnTo>
                    <a:lnTo>
                      <a:pt x="52" y="7"/>
                    </a:lnTo>
                    <a:lnTo>
                      <a:pt x="62" y="14"/>
                    </a:lnTo>
                    <a:lnTo>
                      <a:pt x="65" y="17"/>
                    </a:lnTo>
                    <a:lnTo>
                      <a:pt x="72" y="21"/>
                    </a:lnTo>
                    <a:lnTo>
                      <a:pt x="76" y="28"/>
                    </a:lnTo>
                    <a:lnTo>
                      <a:pt x="83" y="31"/>
                    </a:lnTo>
                    <a:lnTo>
                      <a:pt x="83" y="38"/>
                    </a:lnTo>
                    <a:lnTo>
                      <a:pt x="90" y="49"/>
                    </a:lnTo>
                    <a:lnTo>
                      <a:pt x="100" y="55"/>
                    </a:lnTo>
                    <a:lnTo>
                      <a:pt x="107" y="69"/>
                    </a:lnTo>
                    <a:lnTo>
                      <a:pt x="114" y="80"/>
                    </a:lnTo>
                    <a:lnTo>
                      <a:pt x="121" y="93"/>
                    </a:lnTo>
                    <a:lnTo>
                      <a:pt x="124" y="97"/>
                    </a:lnTo>
                    <a:lnTo>
                      <a:pt x="131" y="104"/>
                    </a:lnTo>
                    <a:lnTo>
                      <a:pt x="131" y="107"/>
                    </a:lnTo>
                    <a:lnTo>
                      <a:pt x="131" y="111"/>
                    </a:lnTo>
                    <a:lnTo>
                      <a:pt x="124" y="111"/>
                    </a:lnTo>
                    <a:lnTo>
                      <a:pt x="114" y="97"/>
                    </a:lnTo>
                    <a:lnTo>
                      <a:pt x="107" y="87"/>
                    </a:lnTo>
                    <a:lnTo>
                      <a:pt x="100" y="73"/>
                    </a:lnTo>
                    <a:lnTo>
                      <a:pt x="96" y="66"/>
                    </a:lnTo>
                    <a:lnTo>
                      <a:pt x="93" y="59"/>
                    </a:lnTo>
                    <a:lnTo>
                      <a:pt x="76" y="42"/>
                    </a:lnTo>
                    <a:lnTo>
                      <a:pt x="76" y="35"/>
                    </a:lnTo>
                    <a:lnTo>
                      <a:pt x="65" y="28"/>
                    </a:lnTo>
                    <a:lnTo>
                      <a:pt x="62" y="24"/>
                    </a:lnTo>
                    <a:lnTo>
                      <a:pt x="58" y="21"/>
                    </a:lnTo>
                    <a:lnTo>
                      <a:pt x="55" y="17"/>
                    </a:lnTo>
                    <a:lnTo>
                      <a:pt x="48" y="14"/>
                    </a:lnTo>
                    <a:lnTo>
                      <a:pt x="38" y="11"/>
                    </a:lnTo>
                    <a:lnTo>
                      <a:pt x="20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2" name="Freeform 259"/>
              <p:cNvSpPr>
                <a:spLocks/>
              </p:cNvSpPr>
              <p:nvPr/>
            </p:nvSpPr>
            <p:spPr bwMode="auto">
              <a:xfrm>
                <a:off x="3129" y="793"/>
                <a:ext cx="124" cy="128"/>
              </a:xfrm>
              <a:custGeom>
                <a:avLst/>
                <a:gdLst>
                  <a:gd name="T0" fmla="*/ 107 w 124"/>
                  <a:gd name="T1" fmla="*/ 7 h 128"/>
                  <a:gd name="T2" fmla="*/ 83 w 124"/>
                  <a:gd name="T3" fmla="*/ 7 h 128"/>
                  <a:gd name="T4" fmla="*/ 62 w 124"/>
                  <a:gd name="T5" fmla="*/ 17 h 128"/>
                  <a:gd name="T6" fmla="*/ 34 w 124"/>
                  <a:gd name="T7" fmla="*/ 28 h 128"/>
                  <a:gd name="T8" fmla="*/ 20 w 124"/>
                  <a:gd name="T9" fmla="*/ 49 h 128"/>
                  <a:gd name="T10" fmla="*/ 17 w 124"/>
                  <a:gd name="T11" fmla="*/ 66 h 128"/>
                  <a:gd name="T12" fmla="*/ 7 w 124"/>
                  <a:gd name="T13" fmla="*/ 87 h 128"/>
                  <a:gd name="T14" fmla="*/ 7 w 124"/>
                  <a:gd name="T15" fmla="*/ 107 h 128"/>
                  <a:gd name="T16" fmla="*/ 24 w 124"/>
                  <a:gd name="T17" fmla="*/ 121 h 128"/>
                  <a:gd name="T18" fmla="*/ 48 w 124"/>
                  <a:gd name="T19" fmla="*/ 114 h 128"/>
                  <a:gd name="T20" fmla="*/ 58 w 124"/>
                  <a:gd name="T21" fmla="*/ 100 h 128"/>
                  <a:gd name="T22" fmla="*/ 72 w 124"/>
                  <a:gd name="T23" fmla="*/ 87 h 128"/>
                  <a:gd name="T24" fmla="*/ 69 w 124"/>
                  <a:gd name="T25" fmla="*/ 69 h 128"/>
                  <a:gd name="T26" fmla="*/ 72 w 124"/>
                  <a:gd name="T27" fmla="*/ 59 h 128"/>
                  <a:gd name="T28" fmla="*/ 83 w 124"/>
                  <a:gd name="T29" fmla="*/ 52 h 128"/>
                  <a:gd name="T30" fmla="*/ 93 w 124"/>
                  <a:gd name="T31" fmla="*/ 45 h 128"/>
                  <a:gd name="T32" fmla="*/ 110 w 124"/>
                  <a:gd name="T33" fmla="*/ 38 h 128"/>
                  <a:gd name="T34" fmla="*/ 100 w 124"/>
                  <a:gd name="T35" fmla="*/ 45 h 128"/>
                  <a:gd name="T36" fmla="*/ 83 w 124"/>
                  <a:gd name="T37" fmla="*/ 59 h 128"/>
                  <a:gd name="T38" fmla="*/ 79 w 124"/>
                  <a:gd name="T39" fmla="*/ 87 h 128"/>
                  <a:gd name="T40" fmla="*/ 76 w 124"/>
                  <a:gd name="T41" fmla="*/ 97 h 128"/>
                  <a:gd name="T42" fmla="*/ 62 w 124"/>
                  <a:gd name="T43" fmla="*/ 114 h 128"/>
                  <a:gd name="T44" fmla="*/ 41 w 124"/>
                  <a:gd name="T45" fmla="*/ 125 h 128"/>
                  <a:gd name="T46" fmla="*/ 24 w 124"/>
                  <a:gd name="T47" fmla="*/ 128 h 128"/>
                  <a:gd name="T48" fmla="*/ 3 w 124"/>
                  <a:gd name="T49" fmla="*/ 121 h 128"/>
                  <a:gd name="T50" fmla="*/ 0 w 124"/>
                  <a:gd name="T51" fmla="*/ 83 h 128"/>
                  <a:gd name="T52" fmla="*/ 10 w 124"/>
                  <a:gd name="T53" fmla="*/ 73 h 128"/>
                  <a:gd name="T54" fmla="*/ 14 w 124"/>
                  <a:gd name="T55" fmla="*/ 49 h 128"/>
                  <a:gd name="T56" fmla="*/ 20 w 124"/>
                  <a:gd name="T57" fmla="*/ 35 h 128"/>
                  <a:gd name="T58" fmla="*/ 34 w 124"/>
                  <a:gd name="T59" fmla="*/ 24 h 128"/>
                  <a:gd name="T60" fmla="*/ 41 w 124"/>
                  <a:gd name="T61" fmla="*/ 17 h 128"/>
                  <a:gd name="T62" fmla="*/ 58 w 124"/>
                  <a:gd name="T63" fmla="*/ 14 h 128"/>
                  <a:gd name="T64" fmla="*/ 69 w 124"/>
                  <a:gd name="T65" fmla="*/ 7 h 128"/>
                  <a:gd name="T66" fmla="*/ 96 w 124"/>
                  <a:gd name="T67" fmla="*/ 0 h 128"/>
                  <a:gd name="T68" fmla="*/ 117 w 124"/>
                  <a:gd name="T69" fmla="*/ 4 h 128"/>
                  <a:gd name="T70" fmla="*/ 124 w 124"/>
                  <a:gd name="T71" fmla="*/ 11 h 128"/>
                  <a:gd name="T72" fmla="*/ 121 w 124"/>
                  <a:gd name="T73" fmla="*/ 11 h 12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24"/>
                  <a:gd name="T112" fmla="*/ 0 h 128"/>
                  <a:gd name="T113" fmla="*/ 124 w 124"/>
                  <a:gd name="T114" fmla="*/ 128 h 12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24" h="128">
                    <a:moveTo>
                      <a:pt x="121" y="11"/>
                    </a:moveTo>
                    <a:lnTo>
                      <a:pt x="107" y="7"/>
                    </a:lnTo>
                    <a:lnTo>
                      <a:pt x="93" y="7"/>
                    </a:lnTo>
                    <a:lnTo>
                      <a:pt x="83" y="7"/>
                    </a:lnTo>
                    <a:lnTo>
                      <a:pt x="62" y="17"/>
                    </a:lnTo>
                    <a:lnTo>
                      <a:pt x="45" y="21"/>
                    </a:lnTo>
                    <a:lnTo>
                      <a:pt x="34" y="28"/>
                    </a:lnTo>
                    <a:lnTo>
                      <a:pt x="27" y="38"/>
                    </a:lnTo>
                    <a:lnTo>
                      <a:pt x="20" y="49"/>
                    </a:lnTo>
                    <a:lnTo>
                      <a:pt x="20" y="59"/>
                    </a:lnTo>
                    <a:lnTo>
                      <a:pt x="17" y="66"/>
                    </a:lnTo>
                    <a:lnTo>
                      <a:pt x="17" y="73"/>
                    </a:lnTo>
                    <a:lnTo>
                      <a:pt x="7" y="87"/>
                    </a:lnTo>
                    <a:lnTo>
                      <a:pt x="7" y="97"/>
                    </a:lnTo>
                    <a:lnTo>
                      <a:pt x="7" y="107"/>
                    </a:lnTo>
                    <a:lnTo>
                      <a:pt x="10" y="118"/>
                    </a:lnTo>
                    <a:lnTo>
                      <a:pt x="24" y="121"/>
                    </a:lnTo>
                    <a:lnTo>
                      <a:pt x="38" y="118"/>
                    </a:lnTo>
                    <a:lnTo>
                      <a:pt x="48" y="114"/>
                    </a:lnTo>
                    <a:lnTo>
                      <a:pt x="52" y="107"/>
                    </a:lnTo>
                    <a:lnTo>
                      <a:pt x="58" y="100"/>
                    </a:lnTo>
                    <a:lnTo>
                      <a:pt x="65" y="97"/>
                    </a:lnTo>
                    <a:lnTo>
                      <a:pt x="72" y="87"/>
                    </a:lnTo>
                    <a:lnTo>
                      <a:pt x="69" y="80"/>
                    </a:lnTo>
                    <a:lnTo>
                      <a:pt x="69" y="69"/>
                    </a:lnTo>
                    <a:lnTo>
                      <a:pt x="69" y="62"/>
                    </a:lnTo>
                    <a:lnTo>
                      <a:pt x="72" y="59"/>
                    </a:lnTo>
                    <a:lnTo>
                      <a:pt x="76" y="55"/>
                    </a:lnTo>
                    <a:lnTo>
                      <a:pt x="83" y="52"/>
                    </a:lnTo>
                    <a:lnTo>
                      <a:pt x="90" y="49"/>
                    </a:lnTo>
                    <a:lnTo>
                      <a:pt x="93" y="45"/>
                    </a:lnTo>
                    <a:lnTo>
                      <a:pt x="107" y="38"/>
                    </a:lnTo>
                    <a:lnTo>
                      <a:pt x="110" y="38"/>
                    </a:lnTo>
                    <a:lnTo>
                      <a:pt x="103" y="42"/>
                    </a:lnTo>
                    <a:lnTo>
                      <a:pt x="100" y="45"/>
                    </a:lnTo>
                    <a:lnTo>
                      <a:pt x="90" y="52"/>
                    </a:lnTo>
                    <a:lnTo>
                      <a:pt x="83" y="59"/>
                    </a:lnTo>
                    <a:lnTo>
                      <a:pt x="79" y="69"/>
                    </a:lnTo>
                    <a:lnTo>
                      <a:pt x="79" y="87"/>
                    </a:lnTo>
                    <a:lnTo>
                      <a:pt x="79" y="97"/>
                    </a:lnTo>
                    <a:lnTo>
                      <a:pt x="76" y="97"/>
                    </a:lnTo>
                    <a:lnTo>
                      <a:pt x="72" y="100"/>
                    </a:lnTo>
                    <a:lnTo>
                      <a:pt x="62" y="114"/>
                    </a:lnTo>
                    <a:lnTo>
                      <a:pt x="52" y="121"/>
                    </a:lnTo>
                    <a:lnTo>
                      <a:pt x="41" y="125"/>
                    </a:lnTo>
                    <a:lnTo>
                      <a:pt x="31" y="128"/>
                    </a:lnTo>
                    <a:lnTo>
                      <a:pt x="24" y="128"/>
                    </a:lnTo>
                    <a:lnTo>
                      <a:pt x="7" y="125"/>
                    </a:lnTo>
                    <a:lnTo>
                      <a:pt x="3" y="121"/>
                    </a:lnTo>
                    <a:lnTo>
                      <a:pt x="0" y="107"/>
                    </a:lnTo>
                    <a:lnTo>
                      <a:pt x="0" y="83"/>
                    </a:lnTo>
                    <a:lnTo>
                      <a:pt x="7" y="80"/>
                    </a:lnTo>
                    <a:lnTo>
                      <a:pt x="10" y="73"/>
                    </a:lnTo>
                    <a:lnTo>
                      <a:pt x="14" y="59"/>
                    </a:lnTo>
                    <a:lnTo>
                      <a:pt x="14" y="49"/>
                    </a:lnTo>
                    <a:lnTo>
                      <a:pt x="17" y="42"/>
                    </a:lnTo>
                    <a:lnTo>
                      <a:pt x="20" y="35"/>
                    </a:lnTo>
                    <a:lnTo>
                      <a:pt x="27" y="28"/>
                    </a:lnTo>
                    <a:lnTo>
                      <a:pt x="34" y="24"/>
                    </a:lnTo>
                    <a:lnTo>
                      <a:pt x="38" y="21"/>
                    </a:lnTo>
                    <a:lnTo>
                      <a:pt x="41" y="17"/>
                    </a:lnTo>
                    <a:lnTo>
                      <a:pt x="52" y="14"/>
                    </a:lnTo>
                    <a:lnTo>
                      <a:pt x="58" y="14"/>
                    </a:lnTo>
                    <a:lnTo>
                      <a:pt x="62" y="14"/>
                    </a:lnTo>
                    <a:lnTo>
                      <a:pt x="69" y="7"/>
                    </a:lnTo>
                    <a:lnTo>
                      <a:pt x="79" y="4"/>
                    </a:lnTo>
                    <a:lnTo>
                      <a:pt x="96" y="0"/>
                    </a:lnTo>
                    <a:lnTo>
                      <a:pt x="110" y="0"/>
                    </a:lnTo>
                    <a:lnTo>
                      <a:pt x="117" y="4"/>
                    </a:lnTo>
                    <a:lnTo>
                      <a:pt x="121" y="7"/>
                    </a:lnTo>
                    <a:lnTo>
                      <a:pt x="124" y="11"/>
                    </a:lnTo>
                    <a:lnTo>
                      <a:pt x="121" y="1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3" name="Freeform 260"/>
              <p:cNvSpPr>
                <a:spLocks/>
              </p:cNvSpPr>
              <p:nvPr/>
            </p:nvSpPr>
            <p:spPr bwMode="auto">
              <a:xfrm>
                <a:off x="3243" y="828"/>
                <a:ext cx="48" cy="65"/>
              </a:xfrm>
              <a:custGeom>
                <a:avLst/>
                <a:gdLst>
                  <a:gd name="T0" fmla="*/ 0 w 48"/>
                  <a:gd name="T1" fmla="*/ 0 h 65"/>
                  <a:gd name="T2" fmla="*/ 10 w 48"/>
                  <a:gd name="T3" fmla="*/ 0 h 65"/>
                  <a:gd name="T4" fmla="*/ 14 w 48"/>
                  <a:gd name="T5" fmla="*/ 0 h 65"/>
                  <a:gd name="T6" fmla="*/ 10 w 48"/>
                  <a:gd name="T7" fmla="*/ 10 h 65"/>
                  <a:gd name="T8" fmla="*/ 7 w 48"/>
                  <a:gd name="T9" fmla="*/ 20 h 65"/>
                  <a:gd name="T10" fmla="*/ 7 w 48"/>
                  <a:gd name="T11" fmla="*/ 31 h 65"/>
                  <a:gd name="T12" fmla="*/ 10 w 48"/>
                  <a:gd name="T13" fmla="*/ 34 h 65"/>
                  <a:gd name="T14" fmla="*/ 14 w 48"/>
                  <a:gd name="T15" fmla="*/ 38 h 65"/>
                  <a:gd name="T16" fmla="*/ 31 w 48"/>
                  <a:gd name="T17" fmla="*/ 41 h 65"/>
                  <a:gd name="T18" fmla="*/ 45 w 48"/>
                  <a:gd name="T19" fmla="*/ 48 h 65"/>
                  <a:gd name="T20" fmla="*/ 48 w 48"/>
                  <a:gd name="T21" fmla="*/ 62 h 65"/>
                  <a:gd name="T22" fmla="*/ 48 w 48"/>
                  <a:gd name="T23" fmla="*/ 65 h 65"/>
                  <a:gd name="T24" fmla="*/ 45 w 48"/>
                  <a:gd name="T25" fmla="*/ 65 h 65"/>
                  <a:gd name="T26" fmla="*/ 41 w 48"/>
                  <a:gd name="T27" fmla="*/ 62 h 65"/>
                  <a:gd name="T28" fmla="*/ 38 w 48"/>
                  <a:gd name="T29" fmla="*/ 52 h 65"/>
                  <a:gd name="T30" fmla="*/ 34 w 48"/>
                  <a:gd name="T31" fmla="*/ 52 h 65"/>
                  <a:gd name="T32" fmla="*/ 31 w 48"/>
                  <a:gd name="T33" fmla="*/ 48 h 65"/>
                  <a:gd name="T34" fmla="*/ 7 w 48"/>
                  <a:gd name="T35" fmla="*/ 45 h 65"/>
                  <a:gd name="T36" fmla="*/ 3 w 48"/>
                  <a:gd name="T37" fmla="*/ 34 h 65"/>
                  <a:gd name="T38" fmla="*/ 3 w 48"/>
                  <a:gd name="T39" fmla="*/ 24 h 65"/>
                  <a:gd name="T40" fmla="*/ 10 w 48"/>
                  <a:gd name="T41" fmla="*/ 3 h 65"/>
                  <a:gd name="T42" fmla="*/ 0 w 48"/>
                  <a:gd name="T43" fmla="*/ 3 h 65"/>
                  <a:gd name="T44" fmla="*/ 0 w 48"/>
                  <a:gd name="T45" fmla="*/ 0 h 65"/>
                  <a:gd name="T46" fmla="*/ 0 w 48"/>
                  <a:gd name="T47" fmla="*/ 0 h 65"/>
                  <a:gd name="T48" fmla="*/ 0 w 48"/>
                  <a:gd name="T49" fmla="*/ 0 h 65"/>
                  <a:gd name="T50" fmla="*/ 0 w 48"/>
                  <a:gd name="T51" fmla="*/ 0 h 6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8"/>
                  <a:gd name="T79" fmla="*/ 0 h 65"/>
                  <a:gd name="T80" fmla="*/ 48 w 48"/>
                  <a:gd name="T81" fmla="*/ 65 h 6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8" h="65">
                    <a:moveTo>
                      <a:pt x="0" y="0"/>
                    </a:moveTo>
                    <a:lnTo>
                      <a:pt x="10" y="0"/>
                    </a:lnTo>
                    <a:lnTo>
                      <a:pt x="14" y="0"/>
                    </a:lnTo>
                    <a:lnTo>
                      <a:pt x="10" y="10"/>
                    </a:lnTo>
                    <a:lnTo>
                      <a:pt x="7" y="20"/>
                    </a:lnTo>
                    <a:lnTo>
                      <a:pt x="7" y="31"/>
                    </a:lnTo>
                    <a:lnTo>
                      <a:pt x="10" y="34"/>
                    </a:lnTo>
                    <a:lnTo>
                      <a:pt x="14" y="38"/>
                    </a:lnTo>
                    <a:lnTo>
                      <a:pt x="31" y="41"/>
                    </a:lnTo>
                    <a:lnTo>
                      <a:pt x="45" y="48"/>
                    </a:lnTo>
                    <a:lnTo>
                      <a:pt x="48" y="62"/>
                    </a:lnTo>
                    <a:lnTo>
                      <a:pt x="48" y="65"/>
                    </a:lnTo>
                    <a:lnTo>
                      <a:pt x="45" y="65"/>
                    </a:lnTo>
                    <a:lnTo>
                      <a:pt x="41" y="62"/>
                    </a:lnTo>
                    <a:lnTo>
                      <a:pt x="38" y="52"/>
                    </a:lnTo>
                    <a:lnTo>
                      <a:pt x="34" y="52"/>
                    </a:lnTo>
                    <a:lnTo>
                      <a:pt x="31" y="48"/>
                    </a:lnTo>
                    <a:lnTo>
                      <a:pt x="7" y="45"/>
                    </a:lnTo>
                    <a:lnTo>
                      <a:pt x="3" y="34"/>
                    </a:lnTo>
                    <a:lnTo>
                      <a:pt x="3" y="24"/>
                    </a:lnTo>
                    <a:lnTo>
                      <a:pt x="10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4" name="Freeform 261"/>
              <p:cNvSpPr>
                <a:spLocks/>
              </p:cNvSpPr>
              <p:nvPr/>
            </p:nvSpPr>
            <p:spPr bwMode="auto">
              <a:xfrm>
                <a:off x="3177" y="911"/>
                <a:ext cx="111" cy="69"/>
              </a:xfrm>
              <a:custGeom>
                <a:avLst/>
                <a:gdLst>
                  <a:gd name="T0" fmla="*/ 4 w 111"/>
                  <a:gd name="T1" fmla="*/ 17 h 69"/>
                  <a:gd name="T2" fmla="*/ 7 w 111"/>
                  <a:gd name="T3" fmla="*/ 27 h 69"/>
                  <a:gd name="T4" fmla="*/ 10 w 111"/>
                  <a:gd name="T5" fmla="*/ 38 h 69"/>
                  <a:gd name="T6" fmla="*/ 17 w 111"/>
                  <a:gd name="T7" fmla="*/ 45 h 69"/>
                  <a:gd name="T8" fmla="*/ 21 w 111"/>
                  <a:gd name="T9" fmla="*/ 48 h 69"/>
                  <a:gd name="T10" fmla="*/ 28 w 111"/>
                  <a:gd name="T11" fmla="*/ 52 h 69"/>
                  <a:gd name="T12" fmla="*/ 38 w 111"/>
                  <a:gd name="T13" fmla="*/ 58 h 69"/>
                  <a:gd name="T14" fmla="*/ 45 w 111"/>
                  <a:gd name="T15" fmla="*/ 62 h 69"/>
                  <a:gd name="T16" fmla="*/ 55 w 111"/>
                  <a:gd name="T17" fmla="*/ 65 h 69"/>
                  <a:gd name="T18" fmla="*/ 66 w 111"/>
                  <a:gd name="T19" fmla="*/ 62 h 69"/>
                  <a:gd name="T20" fmla="*/ 69 w 111"/>
                  <a:gd name="T21" fmla="*/ 58 h 69"/>
                  <a:gd name="T22" fmla="*/ 73 w 111"/>
                  <a:gd name="T23" fmla="*/ 52 h 69"/>
                  <a:gd name="T24" fmla="*/ 80 w 111"/>
                  <a:gd name="T25" fmla="*/ 48 h 69"/>
                  <a:gd name="T26" fmla="*/ 87 w 111"/>
                  <a:gd name="T27" fmla="*/ 45 h 69"/>
                  <a:gd name="T28" fmla="*/ 90 w 111"/>
                  <a:gd name="T29" fmla="*/ 41 h 69"/>
                  <a:gd name="T30" fmla="*/ 104 w 111"/>
                  <a:gd name="T31" fmla="*/ 17 h 69"/>
                  <a:gd name="T32" fmla="*/ 107 w 111"/>
                  <a:gd name="T33" fmla="*/ 0 h 69"/>
                  <a:gd name="T34" fmla="*/ 111 w 111"/>
                  <a:gd name="T35" fmla="*/ 0 h 69"/>
                  <a:gd name="T36" fmla="*/ 111 w 111"/>
                  <a:gd name="T37" fmla="*/ 20 h 69"/>
                  <a:gd name="T38" fmla="*/ 104 w 111"/>
                  <a:gd name="T39" fmla="*/ 34 h 69"/>
                  <a:gd name="T40" fmla="*/ 100 w 111"/>
                  <a:gd name="T41" fmla="*/ 38 h 69"/>
                  <a:gd name="T42" fmla="*/ 97 w 111"/>
                  <a:gd name="T43" fmla="*/ 45 h 69"/>
                  <a:gd name="T44" fmla="*/ 90 w 111"/>
                  <a:gd name="T45" fmla="*/ 48 h 69"/>
                  <a:gd name="T46" fmla="*/ 83 w 111"/>
                  <a:gd name="T47" fmla="*/ 52 h 69"/>
                  <a:gd name="T48" fmla="*/ 80 w 111"/>
                  <a:gd name="T49" fmla="*/ 58 h 69"/>
                  <a:gd name="T50" fmla="*/ 73 w 111"/>
                  <a:gd name="T51" fmla="*/ 62 h 69"/>
                  <a:gd name="T52" fmla="*/ 69 w 111"/>
                  <a:gd name="T53" fmla="*/ 65 h 69"/>
                  <a:gd name="T54" fmla="*/ 62 w 111"/>
                  <a:gd name="T55" fmla="*/ 69 h 69"/>
                  <a:gd name="T56" fmla="*/ 59 w 111"/>
                  <a:gd name="T57" fmla="*/ 69 h 69"/>
                  <a:gd name="T58" fmla="*/ 48 w 111"/>
                  <a:gd name="T59" fmla="*/ 69 h 69"/>
                  <a:gd name="T60" fmla="*/ 38 w 111"/>
                  <a:gd name="T61" fmla="*/ 62 h 69"/>
                  <a:gd name="T62" fmla="*/ 31 w 111"/>
                  <a:gd name="T63" fmla="*/ 58 h 69"/>
                  <a:gd name="T64" fmla="*/ 24 w 111"/>
                  <a:gd name="T65" fmla="*/ 55 h 69"/>
                  <a:gd name="T66" fmla="*/ 17 w 111"/>
                  <a:gd name="T67" fmla="*/ 48 h 69"/>
                  <a:gd name="T68" fmla="*/ 10 w 111"/>
                  <a:gd name="T69" fmla="*/ 38 h 69"/>
                  <a:gd name="T70" fmla="*/ 0 w 111"/>
                  <a:gd name="T71" fmla="*/ 17 h 69"/>
                  <a:gd name="T72" fmla="*/ 0 w 111"/>
                  <a:gd name="T73" fmla="*/ 17 h 69"/>
                  <a:gd name="T74" fmla="*/ 4 w 111"/>
                  <a:gd name="T75" fmla="*/ 17 h 69"/>
                  <a:gd name="T76" fmla="*/ 4 w 111"/>
                  <a:gd name="T77" fmla="*/ 17 h 69"/>
                  <a:gd name="T78" fmla="*/ 4 w 111"/>
                  <a:gd name="T79" fmla="*/ 17 h 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1"/>
                  <a:gd name="T121" fmla="*/ 0 h 69"/>
                  <a:gd name="T122" fmla="*/ 111 w 111"/>
                  <a:gd name="T123" fmla="*/ 69 h 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1" h="69">
                    <a:moveTo>
                      <a:pt x="4" y="17"/>
                    </a:moveTo>
                    <a:lnTo>
                      <a:pt x="7" y="27"/>
                    </a:lnTo>
                    <a:lnTo>
                      <a:pt x="10" y="38"/>
                    </a:lnTo>
                    <a:lnTo>
                      <a:pt x="17" y="45"/>
                    </a:lnTo>
                    <a:lnTo>
                      <a:pt x="21" y="48"/>
                    </a:lnTo>
                    <a:lnTo>
                      <a:pt x="28" y="52"/>
                    </a:lnTo>
                    <a:lnTo>
                      <a:pt x="38" y="58"/>
                    </a:lnTo>
                    <a:lnTo>
                      <a:pt x="45" y="62"/>
                    </a:lnTo>
                    <a:lnTo>
                      <a:pt x="55" y="65"/>
                    </a:lnTo>
                    <a:lnTo>
                      <a:pt x="66" y="62"/>
                    </a:lnTo>
                    <a:lnTo>
                      <a:pt x="69" y="58"/>
                    </a:lnTo>
                    <a:lnTo>
                      <a:pt x="73" y="52"/>
                    </a:lnTo>
                    <a:lnTo>
                      <a:pt x="80" y="48"/>
                    </a:lnTo>
                    <a:lnTo>
                      <a:pt x="87" y="45"/>
                    </a:lnTo>
                    <a:lnTo>
                      <a:pt x="90" y="41"/>
                    </a:lnTo>
                    <a:lnTo>
                      <a:pt x="104" y="17"/>
                    </a:lnTo>
                    <a:lnTo>
                      <a:pt x="107" y="0"/>
                    </a:lnTo>
                    <a:lnTo>
                      <a:pt x="111" y="0"/>
                    </a:lnTo>
                    <a:lnTo>
                      <a:pt x="111" y="20"/>
                    </a:lnTo>
                    <a:lnTo>
                      <a:pt x="104" y="34"/>
                    </a:lnTo>
                    <a:lnTo>
                      <a:pt x="100" y="38"/>
                    </a:lnTo>
                    <a:lnTo>
                      <a:pt x="97" y="45"/>
                    </a:lnTo>
                    <a:lnTo>
                      <a:pt x="90" y="48"/>
                    </a:lnTo>
                    <a:lnTo>
                      <a:pt x="83" y="52"/>
                    </a:lnTo>
                    <a:lnTo>
                      <a:pt x="80" y="58"/>
                    </a:lnTo>
                    <a:lnTo>
                      <a:pt x="73" y="62"/>
                    </a:lnTo>
                    <a:lnTo>
                      <a:pt x="69" y="65"/>
                    </a:lnTo>
                    <a:lnTo>
                      <a:pt x="62" y="69"/>
                    </a:lnTo>
                    <a:lnTo>
                      <a:pt x="59" y="69"/>
                    </a:lnTo>
                    <a:lnTo>
                      <a:pt x="48" y="69"/>
                    </a:lnTo>
                    <a:lnTo>
                      <a:pt x="38" y="62"/>
                    </a:lnTo>
                    <a:lnTo>
                      <a:pt x="31" y="58"/>
                    </a:lnTo>
                    <a:lnTo>
                      <a:pt x="24" y="55"/>
                    </a:lnTo>
                    <a:lnTo>
                      <a:pt x="17" y="48"/>
                    </a:lnTo>
                    <a:lnTo>
                      <a:pt x="10" y="38"/>
                    </a:lnTo>
                    <a:lnTo>
                      <a:pt x="0" y="17"/>
                    </a:ln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5" name="Freeform 262"/>
              <p:cNvSpPr>
                <a:spLocks/>
              </p:cNvSpPr>
              <p:nvPr/>
            </p:nvSpPr>
            <p:spPr bwMode="auto">
              <a:xfrm>
                <a:off x="3191" y="966"/>
                <a:ext cx="45" cy="145"/>
              </a:xfrm>
              <a:custGeom>
                <a:avLst/>
                <a:gdLst>
                  <a:gd name="T0" fmla="*/ 3 w 45"/>
                  <a:gd name="T1" fmla="*/ 0 h 145"/>
                  <a:gd name="T2" fmla="*/ 24 w 45"/>
                  <a:gd name="T3" fmla="*/ 38 h 145"/>
                  <a:gd name="T4" fmla="*/ 24 w 45"/>
                  <a:gd name="T5" fmla="*/ 41 h 145"/>
                  <a:gd name="T6" fmla="*/ 28 w 45"/>
                  <a:gd name="T7" fmla="*/ 48 h 145"/>
                  <a:gd name="T8" fmla="*/ 31 w 45"/>
                  <a:gd name="T9" fmla="*/ 59 h 145"/>
                  <a:gd name="T10" fmla="*/ 38 w 45"/>
                  <a:gd name="T11" fmla="*/ 83 h 145"/>
                  <a:gd name="T12" fmla="*/ 41 w 45"/>
                  <a:gd name="T13" fmla="*/ 114 h 145"/>
                  <a:gd name="T14" fmla="*/ 41 w 45"/>
                  <a:gd name="T15" fmla="*/ 128 h 145"/>
                  <a:gd name="T16" fmla="*/ 45 w 45"/>
                  <a:gd name="T17" fmla="*/ 142 h 145"/>
                  <a:gd name="T18" fmla="*/ 45 w 45"/>
                  <a:gd name="T19" fmla="*/ 145 h 145"/>
                  <a:gd name="T20" fmla="*/ 41 w 45"/>
                  <a:gd name="T21" fmla="*/ 145 h 145"/>
                  <a:gd name="T22" fmla="*/ 34 w 45"/>
                  <a:gd name="T23" fmla="*/ 114 h 145"/>
                  <a:gd name="T24" fmla="*/ 31 w 45"/>
                  <a:gd name="T25" fmla="*/ 86 h 145"/>
                  <a:gd name="T26" fmla="*/ 24 w 45"/>
                  <a:gd name="T27" fmla="*/ 59 h 145"/>
                  <a:gd name="T28" fmla="*/ 21 w 45"/>
                  <a:gd name="T29" fmla="*/ 52 h 145"/>
                  <a:gd name="T30" fmla="*/ 14 w 45"/>
                  <a:gd name="T31" fmla="*/ 38 h 145"/>
                  <a:gd name="T32" fmla="*/ 10 w 45"/>
                  <a:gd name="T33" fmla="*/ 17 h 145"/>
                  <a:gd name="T34" fmla="*/ 7 w 45"/>
                  <a:gd name="T35" fmla="*/ 10 h 145"/>
                  <a:gd name="T36" fmla="*/ 0 w 45"/>
                  <a:gd name="T37" fmla="*/ 0 h 145"/>
                  <a:gd name="T38" fmla="*/ 0 w 45"/>
                  <a:gd name="T39" fmla="*/ 0 h 145"/>
                  <a:gd name="T40" fmla="*/ 3 w 45"/>
                  <a:gd name="T41" fmla="*/ 0 h 145"/>
                  <a:gd name="T42" fmla="*/ 3 w 45"/>
                  <a:gd name="T43" fmla="*/ 0 h 145"/>
                  <a:gd name="T44" fmla="*/ 3 w 45"/>
                  <a:gd name="T45" fmla="*/ 0 h 14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5"/>
                  <a:gd name="T70" fmla="*/ 0 h 145"/>
                  <a:gd name="T71" fmla="*/ 45 w 45"/>
                  <a:gd name="T72" fmla="*/ 145 h 14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5" h="145">
                    <a:moveTo>
                      <a:pt x="3" y="0"/>
                    </a:moveTo>
                    <a:lnTo>
                      <a:pt x="24" y="38"/>
                    </a:lnTo>
                    <a:lnTo>
                      <a:pt x="24" y="41"/>
                    </a:lnTo>
                    <a:lnTo>
                      <a:pt x="28" y="48"/>
                    </a:lnTo>
                    <a:lnTo>
                      <a:pt x="31" y="59"/>
                    </a:lnTo>
                    <a:lnTo>
                      <a:pt x="38" y="83"/>
                    </a:lnTo>
                    <a:lnTo>
                      <a:pt x="41" y="114"/>
                    </a:lnTo>
                    <a:lnTo>
                      <a:pt x="41" y="128"/>
                    </a:lnTo>
                    <a:lnTo>
                      <a:pt x="45" y="142"/>
                    </a:lnTo>
                    <a:lnTo>
                      <a:pt x="45" y="145"/>
                    </a:lnTo>
                    <a:lnTo>
                      <a:pt x="41" y="145"/>
                    </a:lnTo>
                    <a:lnTo>
                      <a:pt x="34" y="114"/>
                    </a:lnTo>
                    <a:lnTo>
                      <a:pt x="31" y="86"/>
                    </a:lnTo>
                    <a:lnTo>
                      <a:pt x="24" y="59"/>
                    </a:lnTo>
                    <a:lnTo>
                      <a:pt x="21" y="52"/>
                    </a:lnTo>
                    <a:lnTo>
                      <a:pt x="14" y="38"/>
                    </a:lnTo>
                    <a:lnTo>
                      <a:pt x="10" y="17"/>
                    </a:lnTo>
                    <a:lnTo>
                      <a:pt x="7" y="10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6" name="Freeform 263"/>
              <p:cNvSpPr>
                <a:spLocks/>
              </p:cNvSpPr>
              <p:nvPr/>
            </p:nvSpPr>
            <p:spPr bwMode="auto">
              <a:xfrm>
                <a:off x="3246" y="949"/>
                <a:ext cx="42" cy="141"/>
              </a:xfrm>
              <a:custGeom>
                <a:avLst/>
                <a:gdLst>
                  <a:gd name="T0" fmla="*/ 31 w 42"/>
                  <a:gd name="T1" fmla="*/ 0 h 141"/>
                  <a:gd name="T2" fmla="*/ 42 w 42"/>
                  <a:gd name="T3" fmla="*/ 24 h 141"/>
                  <a:gd name="T4" fmla="*/ 38 w 42"/>
                  <a:gd name="T5" fmla="*/ 34 h 141"/>
                  <a:gd name="T6" fmla="*/ 35 w 42"/>
                  <a:gd name="T7" fmla="*/ 41 h 141"/>
                  <a:gd name="T8" fmla="*/ 31 w 42"/>
                  <a:gd name="T9" fmla="*/ 55 h 141"/>
                  <a:gd name="T10" fmla="*/ 38 w 42"/>
                  <a:gd name="T11" fmla="*/ 79 h 141"/>
                  <a:gd name="T12" fmla="*/ 38 w 42"/>
                  <a:gd name="T13" fmla="*/ 93 h 141"/>
                  <a:gd name="T14" fmla="*/ 38 w 42"/>
                  <a:gd name="T15" fmla="*/ 100 h 141"/>
                  <a:gd name="T16" fmla="*/ 35 w 42"/>
                  <a:gd name="T17" fmla="*/ 103 h 141"/>
                  <a:gd name="T18" fmla="*/ 28 w 42"/>
                  <a:gd name="T19" fmla="*/ 110 h 141"/>
                  <a:gd name="T20" fmla="*/ 24 w 42"/>
                  <a:gd name="T21" fmla="*/ 114 h 141"/>
                  <a:gd name="T22" fmla="*/ 18 w 42"/>
                  <a:gd name="T23" fmla="*/ 121 h 141"/>
                  <a:gd name="T24" fmla="*/ 11 w 42"/>
                  <a:gd name="T25" fmla="*/ 128 h 141"/>
                  <a:gd name="T26" fmla="*/ 4 w 42"/>
                  <a:gd name="T27" fmla="*/ 138 h 141"/>
                  <a:gd name="T28" fmla="*/ 0 w 42"/>
                  <a:gd name="T29" fmla="*/ 141 h 141"/>
                  <a:gd name="T30" fmla="*/ 0 w 42"/>
                  <a:gd name="T31" fmla="*/ 138 h 141"/>
                  <a:gd name="T32" fmla="*/ 11 w 42"/>
                  <a:gd name="T33" fmla="*/ 117 h 141"/>
                  <a:gd name="T34" fmla="*/ 14 w 42"/>
                  <a:gd name="T35" fmla="*/ 107 h 141"/>
                  <a:gd name="T36" fmla="*/ 18 w 42"/>
                  <a:gd name="T37" fmla="*/ 103 h 141"/>
                  <a:gd name="T38" fmla="*/ 24 w 42"/>
                  <a:gd name="T39" fmla="*/ 97 h 141"/>
                  <a:gd name="T40" fmla="*/ 28 w 42"/>
                  <a:gd name="T41" fmla="*/ 86 h 141"/>
                  <a:gd name="T42" fmla="*/ 28 w 42"/>
                  <a:gd name="T43" fmla="*/ 79 h 141"/>
                  <a:gd name="T44" fmla="*/ 24 w 42"/>
                  <a:gd name="T45" fmla="*/ 69 h 141"/>
                  <a:gd name="T46" fmla="*/ 21 w 42"/>
                  <a:gd name="T47" fmla="*/ 58 h 141"/>
                  <a:gd name="T48" fmla="*/ 21 w 42"/>
                  <a:gd name="T49" fmla="*/ 48 h 141"/>
                  <a:gd name="T50" fmla="*/ 24 w 42"/>
                  <a:gd name="T51" fmla="*/ 41 h 141"/>
                  <a:gd name="T52" fmla="*/ 35 w 42"/>
                  <a:gd name="T53" fmla="*/ 24 h 141"/>
                  <a:gd name="T54" fmla="*/ 31 w 42"/>
                  <a:gd name="T55" fmla="*/ 14 h 141"/>
                  <a:gd name="T56" fmla="*/ 28 w 42"/>
                  <a:gd name="T57" fmla="*/ 3 h 141"/>
                  <a:gd name="T58" fmla="*/ 28 w 42"/>
                  <a:gd name="T59" fmla="*/ 0 h 141"/>
                  <a:gd name="T60" fmla="*/ 31 w 42"/>
                  <a:gd name="T61" fmla="*/ 0 h 141"/>
                  <a:gd name="T62" fmla="*/ 31 w 42"/>
                  <a:gd name="T63" fmla="*/ 0 h 141"/>
                  <a:gd name="T64" fmla="*/ 31 w 42"/>
                  <a:gd name="T65" fmla="*/ 0 h 14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2"/>
                  <a:gd name="T100" fmla="*/ 0 h 141"/>
                  <a:gd name="T101" fmla="*/ 42 w 42"/>
                  <a:gd name="T102" fmla="*/ 141 h 14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2" h="141">
                    <a:moveTo>
                      <a:pt x="31" y="0"/>
                    </a:moveTo>
                    <a:lnTo>
                      <a:pt x="42" y="24"/>
                    </a:lnTo>
                    <a:lnTo>
                      <a:pt x="38" y="34"/>
                    </a:lnTo>
                    <a:lnTo>
                      <a:pt x="35" y="41"/>
                    </a:lnTo>
                    <a:lnTo>
                      <a:pt x="31" y="55"/>
                    </a:lnTo>
                    <a:lnTo>
                      <a:pt x="38" y="79"/>
                    </a:lnTo>
                    <a:lnTo>
                      <a:pt x="38" y="93"/>
                    </a:lnTo>
                    <a:lnTo>
                      <a:pt x="38" y="100"/>
                    </a:lnTo>
                    <a:lnTo>
                      <a:pt x="35" y="103"/>
                    </a:lnTo>
                    <a:lnTo>
                      <a:pt x="28" y="110"/>
                    </a:lnTo>
                    <a:lnTo>
                      <a:pt x="24" y="114"/>
                    </a:lnTo>
                    <a:lnTo>
                      <a:pt x="18" y="121"/>
                    </a:lnTo>
                    <a:lnTo>
                      <a:pt x="11" y="128"/>
                    </a:lnTo>
                    <a:lnTo>
                      <a:pt x="4" y="138"/>
                    </a:lnTo>
                    <a:lnTo>
                      <a:pt x="0" y="141"/>
                    </a:lnTo>
                    <a:lnTo>
                      <a:pt x="0" y="138"/>
                    </a:lnTo>
                    <a:lnTo>
                      <a:pt x="11" y="117"/>
                    </a:lnTo>
                    <a:lnTo>
                      <a:pt x="14" y="107"/>
                    </a:lnTo>
                    <a:lnTo>
                      <a:pt x="18" y="103"/>
                    </a:lnTo>
                    <a:lnTo>
                      <a:pt x="24" y="97"/>
                    </a:lnTo>
                    <a:lnTo>
                      <a:pt x="28" y="86"/>
                    </a:lnTo>
                    <a:lnTo>
                      <a:pt x="28" y="79"/>
                    </a:lnTo>
                    <a:lnTo>
                      <a:pt x="24" y="69"/>
                    </a:lnTo>
                    <a:lnTo>
                      <a:pt x="21" y="58"/>
                    </a:lnTo>
                    <a:lnTo>
                      <a:pt x="21" y="48"/>
                    </a:lnTo>
                    <a:lnTo>
                      <a:pt x="24" y="41"/>
                    </a:lnTo>
                    <a:lnTo>
                      <a:pt x="35" y="24"/>
                    </a:lnTo>
                    <a:lnTo>
                      <a:pt x="31" y="14"/>
                    </a:lnTo>
                    <a:lnTo>
                      <a:pt x="28" y="3"/>
                    </a:lnTo>
                    <a:lnTo>
                      <a:pt x="28" y="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7" name="Freeform 264"/>
              <p:cNvSpPr>
                <a:spLocks/>
              </p:cNvSpPr>
              <p:nvPr/>
            </p:nvSpPr>
            <p:spPr bwMode="auto">
              <a:xfrm>
                <a:off x="3232" y="1018"/>
                <a:ext cx="42" cy="31"/>
              </a:xfrm>
              <a:custGeom>
                <a:avLst/>
                <a:gdLst>
                  <a:gd name="T0" fmla="*/ 4 w 42"/>
                  <a:gd name="T1" fmla="*/ 24 h 31"/>
                  <a:gd name="T2" fmla="*/ 18 w 42"/>
                  <a:gd name="T3" fmla="*/ 24 h 31"/>
                  <a:gd name="T4" fmla="*/ 25 w 42"/>
                  <a:gd name="T5" fmla="*/ 17 h 31"/>
                  <a:gd name="T6" fmla="*/ 28 w 42"/>
                  <a:gd name="T7" fmla="*/ 14 h 31"/>
                  <a:gd name="T8" fmla="*/ 38 w 42"/>
                  <a:gd name="T9" fmla="*/ 0 h 31"/>
                  <a:gd name="T10" fmla="*/ 42 w 42"/>
                  <a:gd name="T11" fmla="*/ 3 h 31"/>
                  <a:gd name="T12" fmla="*/ 42 w 42"/>
                  <a:gd name="T13" fmla="*/ 21 h 31"/>
                  <a:gd name="T14" fmla="*/ 35 w 42"/>
                  <a:gd name="T15" fmla="*/ 24 h 31"/>
                  <a:gd name="T16" fmla="*/ 32 w 42"/>
                  <a:gd name="T17" fmla="*/ 28 h 31"/>
                  <a:gd name="T18" fmla="*/ 25 w 42"/>
                  <a:gd name="T19" fmla="*/ 31 h 31"/>
                  <a:gd name="T20" fmla="*/ 4 w 42"/>
                  <a:gd name="T21" fmla="*/ 28 h 31"/>
                  <a:gd name="T22" fmla="*/ 0 w 42"/>
                  <a:gd name="T23" fmla="*/ 28 h 31"/>
                  <a:gd name="T24" fmla="*/ 4 w 42"/>
                  <a:gd name="T25" fmla="*/ 24 h 31"/>
                  <a:gd name="T26" fmla="*/ 4 w 42"/>
                  <a:gd name="T27" fmla="*/ 24 h 31"/>
                  <a:gd name="T28" fmla="*/ 4 w 42"/>
                  <a:gd name="T29" fmla="*/ 24 h 3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2"/>
                  <a:gd name="T46" fmla="*/ 0 h 31"/>
                  <a:gd name="T47" fmla="*/ 42 w 42"/>
                  <a:gd name="T48" fmla="*/ 31 h 3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2" h="31">
                    <a:moveTo>
                      <a:pt x="4" y="24"/>
                    </a:moveTo>
                    <a:lnTo>
                      <a:pt x="18" y="24"/>
                    </a:lnTo>
                    <a:lnTo>
                      <a:pt x="25" y="17"/>
                    </a:lnTo>
                    <a:lnTo>
                      <a:pt x="28" y="14"/>
                    </a:lnTo>
                    <a:lnTo>
                      <a:pt x="38" y="0"/>
                    </a:lnTo>
                    <a:lnTo>
                      <a:pt x="42" y="3"/>
                    </a:lnTo>
                    <a:lnTo>
                      <a:pt x="42" y="21"/>
                    </a:lnTo>
                    <a:lnTo>
                      <a:pt x="35" y="24"/>
                    </a:lnTo>
                    <a:lnTo>
                      <a:pt x="32" y="28"/>
                    </a:lnTo>
                    <a:lnTo>
                      <a:pt x="25" y="31"/>
                    </a:lnTo>
                    <a:lnTo>
                      <a:pt x="4" y="28"/>
                    </a:lnTo>
                    <a:lnTo>
                      <a:pt x="0" y="28"/>
                    </a:lnTo>
                    <a:lnTo>
                      <a:pt x="4" y="2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8" name="Freeform 265"/>
              <p:cNvSpPr>
                <a:spLocks/>
              </p:cNvSpPr>
              <p:nvPr/>
            </p:nvSpPr>
            <p:spPr bwMode="auto">
              <a:xfrm>
                <a:off x="3305" y="907"/>
                <a:ext cx="38" cy="14"/>
              </a:xfrm>
              <a:custGeom>
                <a:avLst/>
                <a:gdLst>
                  <a:gd name="T0" fmla="*/ 3 w 38"/>
                  <a:gd name="T1" fmla="*/ 0 h 14"/>
                  <a:gd name="T2" fmla="*/ 35 w 38"/>
                  <a:gd name="T3" fmla="*/ 4 h 14"/>
                  <a:gd name="T4" fmla="*/ 38 w 38"/>
                  <a:gd name="T5" fmla="*/ 7 h 14"/>
                  <a:gd name="T6" fmla="*/ 38 w 38"/>
                  <a:gd name="T7" fmla="*/ 11 h 14"/>
                  <a:gd name="T8" fmla="*/ 38 w 38"/>
                  <a:gd name="T9" fmla="*/ 14 h 14"/>
                  <a:gd name="T10" fmla="*/ 35 w 38"/>
                  <a:gd name="T11" fmla="*/ 14 h 14"/>
                  <a:gd name="T12" fmla="*/ 17 w 38"/>
                  <a:gd name="T13" fmla="*/ 11 h 14"/>
                  <a:gd name="T14" fmla="*/ 10 w 38"/>
                  <a:gd name="T15" fmla="*/ 7 h 14"/>
                  <a:gd name="T16" fmla="*/ 3 w 38"/>
                  <a:gd name="T17" fmla="*/ 4 h 14"/>
                  <a:gd name="T18" fmla="*/ 0 w 38"/>
                  <a:gd name="T19" fmla="*/ 4 h 14"/>
                  <a:gd name="T20" fmla="*/ 3 w 38"/>
                  <a:gd name="T21" fmla="*/ 0 h 14"/>
                  <a:gd name="T22" fmla="*/ 3 w 38"/>
                  <a:gd name="T23" fmla="*/ 0 h 14"/>
                  <a:gd name="T24" fmla="*/ 3 w 38"/>
                  <a:gd name="T25" fmla="*/ 0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8"/>
                  <a:gd name="T40" fmla="*/ 0 h 14"/>
                  <a:gd name="T41" fmla="*/ 38 w 38"/>
                  <a:gd name="T42" fmla="*/ 14 h 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8" h="14">
                    <a:moveTo>
                      <a:pt x="3" y="0"/>
                    </a:moveTo>
                    <a:lnTo>
                      <a:pt x="35" y="4"/>
                    </a:lnTo>
                    <a:lnTo>
                      <a:pt x="38" y="7"/>
                    </a:lnTo>
                    <a:lnTo>
                      <a:pt x="38" y="11"/>
                    </a:lnTo>
                    <a:lnTo>
                      <a:pt x="38" y="14"/>
                    </a:lnTo>
                    <a:lnTo>
                      <a:pt x="35" y="14"/>
                    </a:lnTo>
                    <a:lnTo>
                      <a:pt x="17" y="11"/>
                    </a:lnTo>
                    <a:lnTo>
                      <a:pt x="10" y="7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79" name="Freeform 266"/>
              <p:cNvSpPr>
                <a:spLocks/>
              </p:cNvSpPr>
              <p:nvPr/>
            </p:nvSpPr>
            <p:spPr bwMode="auto">
              <a:xfrm>
                <a:off x="3350" y="911"/>
                <a:ext cx="28" cy="45"/>
              </a:xfrm>
              <a:custGeom>
                <a:avLst/>
                <a:gdLst>
                  <a:gd name="T0" fmla="*/ 3 w 28"/>
                  <a:gd name="T1" fmla="*/ 0 h 45"/>
                  <a:gd name="T2" fmla="*/ 14 w 28"/>
                  <a:gd name="T3" fmla="*/ 3 h 45"/>
                  <a:gd name="T4" fmla="*/ 21 w 28"/>
                  <a:gd name="T5" fmla="*/ 14 h 45"/>
                  <a:gd name="T6" fmla="*/ 28 w 28"/>
                  <a:gd name="T7" fmla="*/ 27 h 45"/>
                  <a:gd name="T8" fmla="*/ 24 w 28"/>
                  <a:gd name="T9" fmla="*/ 45 h 45"/>
                  <a:gd name="T10" fmla="*/ 21 w 28"/>
                  <a:gd name="T11" fmla="*/ 45 h 45"/>
                  <a:gd name="T12" fmla="*/ 17 w 28"/>
                  <a:gd name="T13" fmla="*/ 27 h 45"/>
                  <a:gd name="T14" fmla="*/ 17 w 28"/>
                  <a:gd name="T15" fmla="*/ 17 h 45"/>
                  <a:gd name="T16" fmla="*/ 14 w 28"/>
                  <a:gd name="T17" fmla="*/ 14 h 45"/>
                  <a:gd name="T18" fmla="*/ 10 w 28"/>
                  <a:gd name="T19" fmla="*/ 10 h 45"/>
                  <a:gd name="T20" fmla="*/ 3 w 28"/>
                  <a:gd name="T21" fmla="*/ 10 h 45"/>
                  <a:gd name="T22" fmla="*/ 0 w 28"/>
                  <a:gd name="T23" fmla="*/ 3 h 45"/>
                  <a:gd name="T24" fmla="*/ 0 w 28"/>
                  <a:gd name="T25" fmla="*/ 0 h 45"/>
                  <a:gd name="T26" fmla="*/ 3 w 28"/>
                  <a:gd name="T27" fmla="*/ 0 h 45"/>
                  <a:gd name="T28" fmla="*/ 3 w 28"/>
                  <a:gd name="T29" fmla="*/ 0 h 45"/>
                  <a:gd name="T30" fmla="*/ 3 w 28"/>
                  <a:gd name="T31" fmla="*/ 0 h 4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8"/>
                  <a:gd name="T49" fmla="*/ 0 h 45"/>
                  <a:gd name="T50" fmla="*/ 28 w 28"/>
                  <a:gd name="T51" fmla="*/ 45 h 4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8" h="45">
                    <a:moveTo>
                      <a:pt x="3" y="0"/>
                    </a:moveTo>
                    <a:lnTo>
                      <a:pt x="14" y="3"/>
                    </a:lnTo>
                    <a:lnTo>
                      <a:pt x="21" y="14"/>
                    </a:lnTo>
                    <a:lnTo>
                      <a:pt x="28" y="27"/>
                    </a:lnTo>
                    <a:lnTo>
                      <a:pt x="24" y="45"/>
                    </a:lnTo>
                    <a:lnTo>
                      <a:pt x="21" y="45"/>
                    </a:lnTo>
                    <a:lnTo>
                      <a:pt x="17" y="27"/>
                    </a:lnTo>
                    <a:lnTo>
                      <a:pt x="17" y="17"/>
                    </a:lnTo>
                    <a:lnTo>
                      <a:pt x="14" y="14"/>
                    </a:lnTo>
                    <a:lnTo>
                      <a:pt x="10" y="10"/>
                    </a:lnTo>
                    <a:lnTo>
                      <a:pt x="3" y="10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80" name="Freeform 267"/>
              <p:cNvSpPr>
                <a:spLocks/>
              </p:cNvSpPr>
              <p:nvPr/>
            </p:nvSpPr>
            <p:spPr bwMode="auto">
              <a:xfrm>
                <a:off x="3340" y="931"/>
                <a:ext cx="13" cy="56"/>
              </a:xfrm>
              <a:custGeom>
                <a:avLst/>
                <a:gdLst>
                  <a:gd name="T0" fmla="*/ 3 w 13"/>
                  <a:gd name="T1" fmla="*/ 0 h 56"/>
                  <a:gd name="T2" fmla="*/ 10 w 13"/>
                  <a:gd name="T3" fmla="*/ 14 h 56"/>
                  <a:gd name="T4" fmla="*/ 13 w 13"/>
                  <a:gd name="T5" fmla="*/ 32 h 56"/>
                  <a:gd name="T6" fmla="*/ 10 w 13"/>
                  <a:gd name="T7" fmla="*/ 42 h 56"/>
                  <a:gd name="T8" fmla="*/ 10 w 13"/>
                  <a:gd name="T9" fmla="*/ 56 h 56"/>
                  <a:gd name="T10" fmla="*/ 6 w 13"/>
                  <a:gd name="T11" fmla="*/ 56 h 56"/>
                  <a:gd name="T12" fmla="*/ 3 w 13"/>
                  <a:gd name="T13" fmla="*/ 42 h 56"/>
                  <a:gd name="T14" fmla="*/ 3 w 13"/>
                  <a:gd name="T15" fmla="*/ 32 h 56"/>
                  <a:gd name="T16" fmla="*/ 0 w 13"/>
                  <a:gd name="T17" fmla="*/ 0 h 56"/>
                  <a:gd name="T18" fmla="*/ 0 w 13"/>
                  <a:gd name="T19" fmla="*/ 0 h 56"/>
                  <a:gd name="T20" fmla="*/ 3 w 13"/>
                  <a:gd name="T21" fmla="*/ 0 h 56"/>
                  <a:gd name="T22" fmla="*/ 3 w 13"/>
                  <a:gd name="T23" fmla="*/ 0 h 56"/>
                  <a:gd name="T24" fmla="*/ 3 w 13"/>
                  <a:gd name="T25" fmla="*/ 0 h 5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"/>
                  <a:gd name="T40" fmla="*/ 0 h 56"/>
                  <a:gd name="T41" fmla="*/ 13 w 13"/>
                  <a:gd name="T42" fmla="*/ 56 h 5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" h="56">
                    <a:moveTo>
                      <a:pt x="3" y="0"/>
                    </a:moveTo>
                    <a:lnTo>
                      <a:pt x="10" y="14"/>
                    </a:lnTo>
                    <a:lnTo>
                      <a:pt x="13" y="32"/>
                    </a:lnTo>
                    <a:lnTo>
                      <a:pt x="10" y="42"/>
                    </a:lnTo>
                    <a:lnTo>
                      <a:pt x="10" y="56"/>
                    </a:lnTo>
                    <a:lnTo>
                      <a:pt x="6" y="56"/>
                    </a:lnTo>
                    <a:lnTo>
                      <a:pt x="3" y="42"/>
                    </a:lnTo>
                    <a:lnTo>
                      <a:pt x="3" y="32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481" name="Freeform 268"/>
              <p:cNvSpPr>
                <a:spLocks/>
              </p:cNvSpPr>
              <p:nvPr/>
            </p:nvSpPr>
            <p:spPr bwMode="auto">
              <a:xfrm>
                <a:off x="3094" y="918"/>
                <a:ext cx="62" cy="41"/>
              </a:xfrm>
              <a:custGeom>
                <a:avLst/>
                <a:gdLst>
                  <a:gd name="T0" fmla="*/ 62 w 62"/>
                  <a:gd name="T1" fmla="*/ 3 h 41"/>
                  <a:gd name="T2" fmla="*/ 49 w 62"/>
                  <a:gd name="T3" fmla="*/ 7 h 41"/>
                  <a:gd name="T4" fmla="*/ 42 w 62"/>
                  <a:gd name="T5" fmla="*/ 10 h 41"/>
                  <a:gd name="T6" fmla="*/ 38 w 62"/>
                  <a:gd name="T7" fmla="*/ 17 h 41"/>
                  <a:gd name="T8" fmla="*/ 28 w 62"/>
                  <a:gd name="T9" fmla="*/ 20 h 41"/>
                  <a:gd name="T10" fmla="*/ 17 w 62"/>
                  <a:gd name="T11" fmla="*/ 27 h 41"/>
                  <a:gd name="T12" fmla="*/ 11 w 62"/>
                  <a:gd name="T13" fmla="*/ 31 h 41"/>
                  <a:gd name="T14" fmla="*/ 4 w 62"/>
                  <a:gd name="T15" fmla="*/ 41 h 41"/>
                  <a:gd name="T16" fmla="*/ 0 w 62"/>
                  <a:gd name="T17" fmla="*/ 41 h 41"/>
                  <a:gd name="T18" fmla="*/ 0 w 62"/>
                  <a:gd name="T19" fmla="*/ 38 h 41"/>
                  <a:gd name="T20" fmla="*/ 7 w 62"/>
                  <a:gd name="T21" fmla="*/ 31 h 41"/>
                  <a:gd name="T22" fmla="*/ 14 w 62"/>
                  <a:gd name="T23" fmla="*/ 20 h 41"/>
                  <a:gd name="T24" fmla="*/ 17 w 62"/>
                  <a:gd name="T25" fmla="*/ 17 h 41"/>
                  <a:gd name="T26" fmla="*/ 21 w 62"/>
                  <a:gd name="T27" fmla="*/ 13 h 41"/>
                  <a:gd name="T28" fmla="*/ 28 w 62"/>
                  <a:gd name="T29" fmla="*/ 10 h 41"/>
                  <a:gd name="T30" fmla="*/ 31 w 62"/>
                  <a:gd name="T31" fmla="*/ 7 h 41"/>
                  <a:gd name="T32" fmla="*/ 38 w 62"/>
                  <a:gd name="T33" fmla="*/ 3 h 41"/>
                  <a:gd name="T34" fmla="*/ 45 w 62"/>
                  <a:gd name="T35" fmla="*/ 3 h 41"/>
                  <a:gd name="T36" fmla="*/ 62 w 62"/>
                  <a:gd name="T37" fmla="*/ 0 h 41"/>
                  <a:gd name="T38" fmla="*/ 62 w 62"/>
                  <a:gd name="T39" fmla="*/ 3 h 41"/>
                  <a:gd name="T40" fmla="*/ 62 w 62"/>
                  <a:gd name="T41" fmla="*/ 3 h 41"/>
                  <a:gd name="T42" fmla="*/ 62 w 62"/>
                  <a:gd name="T43" fmla="*/ 3 h 41"/>
                  <a:gd name="T44" fmla="*/ 62 w 62"/>
                  <a:gd name="T45" fmla="*/ 3 h 4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2"/>
                  <a:gd name="T70" fmla="*/ 0 h 41"/>
                  <a:gd name="T71" fmla="*/ 62 w 62"/>
                  <a:gd name="T72" fmla="*/ 41 h 4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2" h="41">
                    <a:moveTo>
                      <a:pt x="62" y="3"/>
                    </a:moveTo>
                    <a:lnTo>
                      <a:pt x="49" y="7"/>
                    </a:lnTo>
                    <a:lnTo>
                      <a:pt x="42" y="10"/>
                    </a:lnTo>
                    <a:lnTo>
                      <a:pt x="38" y="17"/>
                    </a:lnTo>
                    <a:lnTo>
                      <a:pt x="28" y="20"/>
                    </a:lnTo>
                    <a:lnTo>
                      <a:pt x="17" y="27"/>
                    </a:lnTo>
                    <a:lnTo>
                      <a:pt x="11" y="31"/>
                    </a:lnTo>
                    <a:lnTo>
                      <a:pt x="4" y="41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7" y="31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1" y="13"/>
                    </a:lnTo>
                    <a:lnTo>
                      <a:pt x="28" y="10"/>
                    </a:lnTo>
                    <a:lnTo>
                      <a:pt x="31" y="7"/>
                    </a:lnTo>
                    <a:lnTo>
                      <a:pt x="38" y="3"/>
                    </a:lnTo>
                    <a:lnTo>
                      <a:pt x="45" y="3"/>
                    </a:lnTo>
                    <a:lnTo>
                      <a:pt x="62" y="0"/>
                    </a:lnTo>
                    <a:lnTo>
                      <a:pt x="62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41991" name="Group 470"/>
            <p:cNvGrpSpPr>
              <a:grpSpLocks/>
            </p:cNvGrpSpPr>
            <p:nvPr/>
          </p:nvGrpSpPr>
          <p:grpSpPr bwMode="auto">
            <a:xfrm>
              <a:off x="3019425" y="1346200"/>
              <a:ext cx="4575175" cy="1685925"/>
              <a:chOff x="1902" y="848"/>
              <a:chExt cx="2882" cy="1062"/>
            </a:xfrm>
          </p:grpSpPr>
          <p:sp>
            <p:nvSpPr>
              <p:cNvPr id="42086" name="Freeform 270"/>
              <p:cNvSpPr>
                <a:spLocks/>
              </p:cNvSpPr>
              <p:nvPr/>
            </p:nvSpPr>
            <p:spPr bwMode="auto">
              <a:xfrm>
                <a:off x="3108" y="959"/>
                <a:ext cx="69" cy="183"/>
              </a:xfrm>
              <a:custGeom>
                <a:avLst/>
                <a:gdLst>
                  <a:gd name="T0" fmla="*/ 3 w 69"/>
                  <a:gd name="T1" fmla="*/ 0 h 183"/>
                  <a:gd name="T2" fmla="*/ 14 w 69"/>
                  <a:gd name="T3" fmla="*/ 4 h 183"/>
                  <a:gd name="T4" fmla="*/ 21 w 69"/>
                  <a:gd name="T5" fmla="*/ 10 h 183"/>
                  <a:gd name="T6" fmla="*/ 28 w 69"/>
                  <a:gd name="T7" fmla="*/ 17 h 183"/>
                  <a:gd name="T8" fmla="*/ 35 w 69"/>
                  <a:gd name="T9" fmla="*/ 28 h 183"/>
                  <a:gd name="T10" fmla="*/ 38 w 69"/>
                  <a:gd name="T11" fmla="*/ 35 h 183"/>
                  <a:gd name="T12" fmla="*/ 45 w 69"/>
                  <a:gd name="T13" fmla="*/ 42 h 183"/>
                  <a:gd name="T14" fmla="*/ 52 w 69"/>
                  <a:gd name="T15" fmla="*/ 62 h 183"/>
                  <a:gd name="T16" fmla="*/ 52 w 69"/>
                  <a:gd name="T17" fmla="*/ 69 h 183"/>
                  <a:gd name="T18" fmla="*/ 52 w 69"/>
                  <a:gd name="T19" fmla="*/ 87 h 183"/>
                  <a:gd name="T20" fmla="*/ 55 w 69"/>
                  <a:gd name="T21" fmla="*/ 107 h 183"/>
                  <a:gd name="T22" fmla="*/ 59 w 69"/>
                  <a:gd name="T23" fmla="*/ 111 h 183"/>
                  <a:gd name="T24" fmla="*/ 62 w 69"/>
                  <a:gd name="T25" fmla="*/ 118 h 183"/>
                  <a:gd name="T26" fmla="*/ 69 w 69"/>
                  <a:gd name="T27" fmla="*/ 128 h 183"/>
                  <a:gd name="T28" fmla="*/ 69 w 69"/>
                  <a:gd name="T29" fmla="*/ 142 h 183"/>
                  <a:gd name="T30" fmla="*/ 69 w 69"/>
                  <a:gd name="T31" fmla="*/ 156 h 183"/>
                  <a:gd name="T32" fmla="*/ 66 w 69"/>
                  <a:gd name="T33" fmla="*/ 169 h 183"/>
                  <a:gd name="T34" fmla="*/ 59 w 69"/>
                  <a:gd name="T35" fmla="*/ 183 h 183"/>
                  <a:gd name="T36" fmla="*/ 59 w 69"/>
                  <a:gd name="T37" fmla="*/ 183 h 183"/>
                  <a:gd name="T38" fmla="*/ 55 w 69"/>
                  <a:gd name="T39" fmla="*/ 183 h 183"/>
                  <a:gd name="T40" fmla="*/ 62 w 69"/>
                  <a:gd name="T41" fmla="*/ 156 h 183"/>
                  <a:gd name="T42" fmla="*/ 59 w 69"/>
                  <a:gd name="T43" fmla="*/ 131 h 183"/>
                  <a:gd name="T44" fmla="*/ 55 w 69"/>
                  <a:gd name="T45" fmla="*/ 125 h 183"/>
                  <a:gd name="T46" fmla="*/ 52 w 69"/>
                  <a:gd name="T47" fmla="*/ 121 h 183"/>
                  <a:gd name="T48" fmla="*/ 45 w 69"/>
                  <a:gd name="T49" fmla="*/ 107 h 183"/>
                  <a:gd name="T50" fmla="*/ 41 w 69"/>
                  <a:gd name="T51" fmla="*/ 87 h 183"/>
                  <a:gd name="T52" fmla="*/ 41 w 69"/>
                  <a:gd name="T53" fmla="*/ 69 h 183"/>
                  <a:gd name="T54" fmla="*/ 41 w 69"/>
                  <a:gd name="T55" fmla="*/ 62 h 183"/>
                  <a:gd name="T56" fmla="*/ 38 w 69"/>
                  <a:gd name="T57" fmla="*/ 52 h 183"/>
                  <a:gd name="T58" fmla="*/ 35 w 69"/>
                  <a:gd name="T59" fmla="*/ 45 h 183"/>
                  <a:gd name="T60" fmla="*/ 31 w 69"/>
                  <a:gd name="T61" fmla="*/ 38 h 183"/>
                  <a:gd name="T62" fmla="*/ 24 w 69"/>
                  <a:gd name="T63" fmla="*/ 31 h 183"/>
                  <a:gd name="T64" fmla="*/ 21 w 69"/>
                  <a:gd name="T65" fmla="*/ 21 h 183"/>
                  <a:gd name="T66" fmla="*/ 17 w 69"/>
                  <a:gd name="T67" fmla="*/ 14 h 183"/>
                  <a:gd name="T68" fmla="*/ 10 w 69"/>
                  <a:gd name="T69" fmla="*/ 7 h 183"/>
                  <a:gd name="T70" fmla="*/ 0 w 69"/>
                  <a:gd name="T71" fmla="*/ 4 h 183"/>
                  <a:gd name="T72" fmla="*/ 0 w 69"/>
                  <a:gd name="T73" fmla="*/ 4 h 183"/>
                  <a:gd name="T74" fmla="*/ 3 w 69"/>
                  <a:gd name="T75" fmla="*/ 0 h 183"/>
                  <a:gd name="T76" fmla="*/ 3 w 69"/>
                  <a:gd name="T77" fmla="*/ 0 h 183"/>
                  <a:gd name="T78" fmla="*/ 3 w 69"/>
                  <a:gd name="T79" fmla="*/ 0 h 18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9"/>
                  <a:gd name="T121" fmla="*/ 0 h 183"/>
                  <a:gd name="T122" fmla="*/ 69 w 69"/>
                  <a:gd name="T123" fmla="*/ 183 h 18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9" h="183">
                    <a:moveTo>
                      <a:pt x="3" y="0"/>
                    </a:moveTo>
                    <a:lnTo>
                      <a:pt x="14" y="4"/>
                    </a:lnTo>
                    <a:lnTo>
                      <a:pt x="21" y="10"/>
                    </a:lnTo>
                    <a:lnTo>
                      <a:pt x="28" y="17"/>
                    </a:lnTo>
                    <a:lnTo>
                      <a:pt x="35" y="28"/>
                    </a:lnTo>
                    <a:lnTo>
                      <a:pt x="38" y="35"/>
                    </a:lnTo>
                    <a:lnTo>
                      <a:pt x="45" y="42"/>
                    </a:lnTo>
                    <a:lnTo>
                      <a:pt x="52" y="62"/>
                    </a:lnTo>
                    <a:lnTo>
                      <a:pt x="52" y="69"/>
                    </a:lnTo>
                    <a:lnTo>
                      <a:pt x="52" y="87"/>
                    </a:lnTo>
                    <a:lnTo>
                      <a:pt x="55" y="107"/>
                    </a:lnTo>
                    <a:lnTo>
                      <a:pt x="59" y="111"/>
                    </a:lnTo>
                    <a:lnTo>
                      <a:pt x="62" y="118"/>
                    </a:lnTo>
                    <a:lnTo>
                      <a:pt x="69" y="128"/>
                    </a:lnTo>
                    <a:lnTo>
                      <a:pt x="69" y="142"/>
                    </a:lnTo>
                    <a:lnTo>
                      <a:pt x="69" y="156"/>
                    </a:lnTo>
                    <a:lnTo>
                      <a:pt x="66" y="169"/>
                    </a:lnTo>
                    <a:lnTo>
                      <a:pt x="59" y="183"/>
                    </a:lnTo>
                    <a:lnTo>
                      <a:pt x="55" y="183"/>
                    </a:lnTo>
                    <a:lnTo>
                      <a:pt x="62" y="156"/>
                    </a:lnTo>
                    <a:lnTo>
                      <a:pt x="59" y="131"/>
                    </a:lnTo>
                    <a:lnTo>
                      <a:pt x="55" y="125"/>
                    </a:lnTo>
                    <a:lnTo>
                      <a:pt x="52" y="121"/>
                    </a:lnTo>
                    <a:lnTo>
                      <a:pt x="45" y="107"/>
                    </a:lnTo>
                    <a:lnTo>
                      <a:pt x="41" y="87"/>
                    </a:lnTo>
                    <a:lnTo>
                      <a:pt x="41" y="69"/>
                    </a:lnTo>
                    <a:lnTo>
                      <a:pt x="41" y="62"/>
                    </a:lnTo>
                    <a:lnTo>
                      <a:pt x="38" y="52"/>
                    </a:lnTo>
                    <a:lnTo>
                      <a:pt x="35" y="45"/>
                    </a:lnTo>
                    <a:lnTo>
                      <a:pt x="31" y="38"/>
                    </a:lnTo>
                    <a:lnTo>
                      <a:pt x="24" y="31"/>
                    </a:lnTo>
                    <a:lnTo>
                      <a:pt x="21" y="21"/>
                    </a:lnTo>
                    <a:lnTo>
                      <a:pt x="17" y="14"/>
                    </a:lnTo>
                    <a:lnTo>
                      <a:pt x="10" y="7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87" name="Freeform 271"/>
              <p:cNvSpPr>
                <a:spLocks/>
              </p:cNvSpPr>
              <p:nvPr/>
            </p:nvSpPr>
            <p:spPr bwMode="auto">
              <a:xfrm>
                <a:off x="3170" y="1021"/>
                <a:ext cx="21" cy="56"/>
              </a:xfrm>
              <a:custGeom>
                <a:avLst/>
                <a:gdLst>
                  <a:gd name="T0" fmla="*/ 17 w 21"/>
                  <a:gd name="T1" fmla="*/ 0 h 56"/>
                  <a:gd name="T2" fmla="*/ 21 w 21"/>
                  <a:gd name="T3" fmla="*/ 28 h 56"/>
                  <a:gd name="T4" fmla="*/ 17 w 21"/>
                  <a:gd name="T5" fmla="*/ 42 h 56"/>
                  <a:gd name="T6" fmla="*/ 14 w 21"/>
                  <a:gd name="T7" fmla="*/ 45 h 56"/>
                  <a:gd name="T8" fmla="*/ 11 w 21"/>
                  <a:gd name="T9" fmla="*/ 52 h 56"/>
                  <a:gd name="T10" fmla="*/ 4 w 21"/>
                  <a:gd name="T11" fmla="*/ 56 h 56"/>
                  <a:gd name="T12" fmla="*/ 0 w 21"/>
                  <a:gd name="T13" fmla="*/ 56 h 56"/>
                  <a:gd name="T14" fmla="*/ 0 w 21"/>
                  <a:gd name="T15" fmla="*/ 56 h 56"/>
                  <a:gd name="T16" fmla="*/ 0 w 21"/>
                  <a:gd name="T17" fmla="*/ 49 h 56"/>
                  <a:gd name="T18" fmla="*/ 14 w 21"/>
                  <a:gd name="T19" fmla="*/ 25 h 56"/>
                  <a:gd name="T20" fmla="*/ 17 w 21"/>
                  <a:gd name="T21" fmla="*/ 14 h 56"/>
                  <a:gd name="T22" fmla="*/ 14 w 21"/>
                  <a:gd name="T23" fmla="*/ 4 h 56"/>
                  <a:gd name="T24" fmla="*/ 17 w 21"/>
                  <a:gd name="T25" fmla="*/ 0 h 56"/>
                  <a:gd name="T26" fmla="*/ 17 w 21"/>
                  <a:gd name="T27" fmla="*/ 0 h 56"/>
                  <a:gd name="T28" fmla="*/ 17 w 21"/>
                  <a:gd name="T29" fmla="*/ 0 h 56"/>
                  <a:gd name="T30" fmla="*/ 17 w 21"/>
                  <a:gd name="T31" fmla="*/ 0 h 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1"/>
                  <a:gd name="T49" fmla="*/ 0 h 56"/>
                  <a:gd name="T50" fmla="*/ 21 w 21"/>
                  <a:gd name="T51" fmla="*/ 56 h 5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1" h="56">
                    <a:moveTo>
                      <a:pt x="17" y="0"/>
                    </a:moveTo>
                    <a:lnTo>
                      <a:pt x="21" y="28"/>
                    </a:lnTo>
                    <a:lnTo>
                      <a:pt x="17" y="42"/>
                    </a:lnTo>
                    <a:lnTo>
                      <a:pt x="14" y="45"/>
                    </a:lnTo>
                    <a:lnTo>
                      <a:pt x="11" y="52"/>
                    </a:lnTo>
                    <a:lnTo>
                      <a:pt x="4" y="56"/>
                    </a:lnTo>
                    <a:lnTo>
                      <a:pt x="0" y="56"/>
                    </a:lnTo>
                    <a:lnTo>
                      <a:pt x="0" y="49"/>
                    </a:lnTo>
                    <a:lnTo>
                      <a:pt x="14" y="25"/>
                    </a:lnTo>
                    <a:lnTo>
                      <a:pt x="17" y="14"/>
                    </a:lnTo>
                    <a:lnTo>
                      <a:pt x="14" y="4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88" name="Freeform 272"/>
              <p:cNvSpPr>
                <a:spLocks/>
              </p:cNvSpPr>
              <p:nvPr/>
            </p:nvSpPr>
            <p:spPr bwMode="auto">
              <a:xfrm>
                <a:off x="3105" y="987"/>
                <a:ext cx="27" cy="52"/>
              </a:xfrm>
              <a:custGeom>
                <a:avLst/>
                <a:gdLst>
                  <a:gd name="T0" fmla="*/ 3 w 27"/>
                  <a:gd name="T1" fmla="*/ 0 h 52"/>
                  <a:gd name="T2" fmla="*/ 6 w 27"/>
                  <a:gd name="T3" fmla="*/ 10 h 52"/>
                  <a:gd name="T4" fmla="*/ 10 w 27"/>
                  <a:gd name="T5" fmla="*/ 17 h 52"/>
                  <a:gd name="T6" fmla="*/ 17 w 27"/>
                  <a:gd name="T7" fmla="*/ 27 h 52"/>
                  <a:gd name="T8" fmla="*/ 24 w 27"/>
                  <a:gd name="T9" fmla="*/ 34 h 52"/>
                  <a:gd name="T10" fmla="*/ 27 w 27"/>
                  <a:gd name="T11" fmla="*/ 48 h 52"/>
                  <a:gd name="T12" fmla="*/ 27 w 27"/>
                  <a:gd name="T13" fmla="*/ 52 h 52"/>
                  <a:gd name="T14" fmla="*/ 24 w 27"/>
                  <a:gd name="T15" fmla="*/ 52 h 52"/>
                  <a:gd name="T16" fmla="*/ 13 w 27"/>
                  <a:gd name="T17" fmla="*/ 38 h 52"/>
                  <a:gd name="T18" fmla="*/ 0 w 27"/>
                  <a:gd name="T19" fmla="*/ 0 h 52"/>
                  <a:gd name="T20" fmla="*/ 0 w 27"/>
                  <a:gd name="T21" fmla="*/ 0 h 52"/>
                  <a:gd name="T22" fmla="*/ 3 w 27"/>
                  <a:gd name="T23" fmla="*/ 0 h 52"/>
                  <a:gd name="T24" fmla="*/ 3 w 27"/>
                  <a:gd name="T25" fmla="*/ 0 h 52"/>
                  <a:gd name="T26" fmla="*/ 3 w 27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7"/>
                  <a:gd name="T43" fmla="*/ 0 h 52"/>
                  <a:gd name="T44" fmla="*/ 27 w 27"/>
                  <a:gd name="T45" fmla="*/ 52 h 5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7" h="52">
                    <a:moveTo>
                      <a:pt x="3" y="0"/>
                    </a:moveTo>
                    <a:lnTo>
                      <a:pt x="6" y="10"/>
                    </a:lnTo>
                    <a:lnTo>
                      <a:pt x="10" y="17"/>
                    </a:lnTo>
                    <a:lnTo>
                      <a:pt x="17" y="27"/>
                    </a:lnTo>
                    <a:lnTo>
                      <a:pt x="24" y="34"/>
                    </a:lnTo>
                    <a:lnTo>
                      <a:pt x="27" y="48"/>
                    </a:lnTo>
                    <a:lnTo>
                      <a:pt x="27" y="52"/>
                    </a:lnTo>
                    <a:lnTo>
                      <a:pt x="24" y="52"/>
                    </a:lnTo>
                    <a:lnTo>
                      <a:pt x="13" y="38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89" name="Freeform 273"/>
              <p:cNvSpPr>
                <a:spLocks/>
              </p:cNvSpPr>
              <p:nvPr/>
            </p:nvSpPr>
            <p:spPr bwMode="auto">
              <a:xfrm>
                <a:off x="3212" y="900"/>
                <a:ext cx="7" cy="31"/>
              </a:xfrm>
              <a:custGeom>
                <a:avLst/>
                <a:gdLst>
                  <a:gd name="T0" fmla="*/ 7 w 7"/>
                  <a:gd name="T1" fmla="*/ 0 h 31"/>
                  <a:gd name="T2" fmla="*/ 3 w 7"/>
                  <a:gd name="T3" fmla="*/ 14 h 31"/>
                  <a:gd name="T4" fmla="*/ 7 w 7"/>
                  <a:gd name="T5" fmla="*/ 31 h 31"/>
                  <a:gd name="T6" fmla="*/ 7 w 7"/>
                  <a:gd name="T7" fmla="*/ 31 h 31"/>
                  <a:gd name="T8" fmla="*/ 7 w 7"/>
                  <a:gd name="T9" fmla="*/ 31 h 31"/>
                  <a:gd name="T10" fmla="*/ 3 w 7"/>
                  <a:gd name="T11" fmla="*/ 31 h 31"/>
                  <a:gd name="T12" fmla="*/ 0 w 7"/>
                  <a:gd name="T13" fmla="*/ 25 h 31"/>
                  <a:gd name="T14" fmla="*/ 0 w 7"/>
                  <a:gd name="T15" fmla="*/ 14 h 31"/>
                  <a:gd name="T16" fmla="*/ 0 w 7"/>
                  <a:gd name="T17" fmla="*/ 0 h 31"/>
                  <a:gd name="T18" fmla="*/ 7 w 7"/>
                  <a:gd name="T19" fmla="*/ 0 h 31"/>
                  <a:gd name="T20" fmla="*/ 7 w 7"/>
                  <a:gd name="T21" fmla="*/ 0 h 31"/>
                  <a:gd name="T22" fmla="*/ 7 w 7"/>
                  <a:gd name="T23" fmla="*/ 0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"/>
                  <a:gd name="T37" fmla="*/ 0 h 31"/>
                  <a:gd name="T38" fmla="*/ 7 w 7"/>
                  <a:gd name="T39" fmla="*/ 31 h 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" h="31">
                    <a:moveTo>
                      <a:pt x="7" y="0"/>
                    </a:moveTo>
                    <a:lnTo>
                      <a:pt x="3" y="14"/>
                    </a:lnTo>
                    <a:lnTo>
                      <a:pt x="7" y="31"/>
                    </a:lnTo>
                    <a:lnTo>
                      <a:pt x="3" y="31"/>
                    </a:lnTo>
                    <a:lnTo>
                      <a:pt x="0" y="25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0" name="Freeform 274"/>
              <p:cNvSpPr>
                <a:spLocks/>
              </p:cNvSpPr>
              <p:nvPr/>
            </p:nvSpPr>
            <p:spPr bwMode="auto">
              <a:xfrm>
                <a:off x="3222" y="931"/>
                <a:ext cx="14" cy="4"/>
              </a:xfrm>
              <a:custGeom>
                <a:avLst/>
                <a:gdLst>
                  <a:gd name="T0" fmla="*/ 0 w 14"/>
                  <a:gd name="T1" fmla="*/ 0 h 4"/>
                  <a:gd name="T2" fmla="*/ 7 w 14"/>
                  <a:gd name="T3" fmla="*/ 0 h 4"/>
                  <a:gd name="T4" fmla="*/ 10 w 14"/>
                  <a:gd name="T5" fmla="*/ 0 h 4"/>
                  <a:gd name="T6" fmla="*/ 14 w 14"/>
                  <a:gd name="T7" fmla="*/ 4 h 4"/>
                  <a:gd name="T8" fmla="*/ 7 w 14"/>
                  <a:gd name="T9" fmla="*/ 4 h 4"/>
                  <a:gd name="T10" fmla="*/ 0 w 14"/>
                  <a:gd name="T11" fmla="*/ 4 h 4"/>
                  <a:gd name="T12" fmla="*/ 0 w 14"/>
                  <a:gd name="T13" fmla="*/ 4 h 4"/>
                  <a:gd name="T14" fmla="*/ 0 w 14"/>
                  <a:gd name="T15" fmla="*/ 0 h 4"/>
                  <a:gd name="T16" fmla="*/ 0 w 14"/>
                  <a:gd name="T17" fmla="*/ 0 h 4"/>
                  <a:gd name="T18" fmla="*/ 0 w 14"/>
                  <a:gd name="T19" fmla="*/ 0 h 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"/>
                  <a:gd name="T32" fmla="*/ 14 w 14"/>
                  <a:gd name="T33" fmla="*/ 4 h 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">
                    <a:moveTo>
                      <a:pt x="0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4" y="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1" name="Freeform 275"/>
              <p:cNvSpPr>
                <a:spLocks/>
              </p:cNvSpPr>
              <p:nvPr/>
            </p:nvSpPr>
            <p:spPr bwMode="auto">
              <a:xfrm>
                <a:off x="3208" y="942"/>
                <a:ext cx="38" cy="10"/>
              </a:xfrm>
              <a:custGeom>
                <a:avLst/>
                <a:gdLst>
                  <a:gd name="T0" fmla="*/ 4 w 38"/>
                  <a:gd name="T1" fmla="*/ 7 h 10"/>
                  <a:gd name="T2" fmla="*/ 11 w 38"/>
                  <a:gd name="T3" fmla="*/ 0 h 10"/>
                  <a:gd name="T4" fmla="*/ 11 w 38"/>
                  <a:gd name="T5" fmla="*/ 0 h 10"/>
                  <a:gd name="T6" fmla="*/ 14 w 38"/>
                  <a:gd name="T7" fmla="*/ 3 h 10"/>
                  <a:gd name="T8" fmla="*/ 21 w 38"/>
                  <a:gd name="T9" fmla="*/ 0 h 10"/>
                  <a:gd name="T10" fmla="*/ 28 w 38"/>
                  <a:gd name="T11" fmla="*/ 3 h 10"/>
                  <a:gd name="T12" fmla="*/ 35 w 38"/>
                  <a:gd name="T13" fmla="*/ 3 h 10"/>
                  <a:gd name="T14" fmla="*/ 35 w 38"/>
                  <a:gd name="T15" fmla="*/ 3 h 10"/>
                  <a:gd name="T16" fmla="*/ 38 w 38"/>
                  <a:gd name="T17" fmla="*/ 3 h 10"/>
                  <a:gd name="T18" fmla="*/ 38 w 38"/>
                  <a:gd name="T19" fmla="*/ 7 h 10"/>
                  <a:gd name="T20" fmla="*/ 31 w 38"/>
                  <a:gd name="T21" fmla="*/ 10 h 10"/>
                  <a:gd name="T22" fmla="*/ 31 w 38"/>
                  <a:gd name="T23" fmla="*/ 7 h 10"/>
                  <a:gd name="T24" fmla="*/ 28 w 38"/>
                  <a:gd name="T25" fmla="*/ 7 h 10"/>
                  <a:gd name="T26" fmla="*/ 21 w 38"/>
                  <a:gd name="T27" fmla="*/ 7 h 10"/>
                  <a:gd name="T28" fmla="*/ 21 w 38"/>
                  <a:gd name="T29" fmla="*/ 7 h 10"/>
                  <a:gd name="T30" fmla="*/ 17 w 38"/>
                  <a:gd name="T31" fmla="*/ 7 h 10"/>
                  <a:gd name="T32" fmla="*/ 14 w 38"/>
                  <a:gd name="T33" fmla="*/ 7 h 10"/>
                  <a:gd name="T34" fmla="*/ 14 w 38"/>
                  <a:gd name="T35" fmla="*/ 7 h 10"/>
                  <a:gd name="T36" fmla="*/ 11 w 38"/>
                  <a:gd name="T37" fmla="*/ 7 h 10"/>
                  <a:gd name="T38" fmla="*/ 4 w 38"/>
                  <a:gd name="T39" fmla="*/ 7 h 10"/>
                  <a:gd name="T40" fmla="*/ 0 w 38"/>
                  <a:gd name="T41" fmla="*/ 7 h 10"/>
                  <a:gd name="T42" fmla="*/ 4 w 38"/>
                  <a:gd name="T43" fmla="*/ 7 h 10"/>
                  <a:gd name="T44" fmla="*/ 4 w 38"/>
                  <a:gd name="T45" fmla="*/ 7 h 10"/>
                  <a:gd name="T46" fmla="*/ 4 w 38"/>
                  <a:gd name="T47" fmla="*/ 7 h 1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8"/>
                  <a:gd name="T73" fmla="*/ 0 h 10"/>
                  <a:gd name="T74" fmla="*/ 38 w 38"/>
                  <a:gd name="T75" fmla="*/ 10 h 1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8" h="10">
                    <a:moveTo>
                      <a:pt x="4" y="7"/>
                    </a:moveTo>
                    <a:lnTo>
                      <a:pt x="11" y="0"/>
                    </a:lnTo>
                    <a:lnTo>
                      <a:pt x="14" y="3"/>
                    </a:lnTo>
                    <a:lnTo>
                      <a:pt x="21" y="0"/>
                    </a:lnTo>
                    <a:lnTo>
                      <a:pt x="28" y="3"/>
                    </a:lnTo>
                    <a:lnTo>
                      <a:pt x="35" y="3"/>
                    </a:lnTo>
                    <a:lnTo>
                      <a:pt x="38" y="3"/>
                    </a:lnTo>
                    <a:lnTo>
                      <a:pt x="38" y="7"/>
                    </a:lnTo>
                    <a:lnTo>
                      <a:pt x="31" y="10"/>
                    </a:lnTo>
                    <a:lnTo>
                      <a:pt x="31" y="7"/>
                    </a:lnTo>
                    <a:lnTo>
                      <a:pt x="28" y="7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14" y="7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2" name="Freeform 276"/>
              <p:cNvSpPr>
                <a:spLocks/>
              </p:cNvSpPr>
              <p:nvPr/>
            </p:nvSpPr>
            <p:spPr bwMode="auto">
              <a:xfrm>
                <a:off x="3215" y="949"/>
                <a:ext cx="24" cy="14"/>
              </a:xfrm>
              <a:custGeom>
                <a:avLst/>
                <a:gdLst>
                  <a:gd name="T0" fmla="*/ 0 w 24"/>
                  <a:gd name="T1" fmla="*/ 3 h 14"/>
                  <a:gd name="T2" fmla="*/ 14 w 24"/>
                  <a:gd name="T3" fmla="*/ 7 h 14"/>
                  <a:gd name="T4" fmla="*/ 24 w 24"/>
                  <a:gd name="T5" fmla="*/ 3 h 14"/>
                  <a:gd name="T6" fmla="*/ 24 w 24"/>
                  <a:gd name="T7" fmla="*/ 0 h 14"/>
                  <a:gd name="T8" fmla="*/ 24 w 24"/>
                  <a:gd name="T9" fmla="*/ 3 h 14"/>
                  <a:gd name="T10" fmla="*/ 17 w 24"/>
                  <a:gd name="T11" fmla="*/ 14 h 14"/>
                  <a:gd name="T12" fmla="*/ 14 w 24"/>
                  <a:gd name="T13" fmla="*/ 14 h 14"/>
                  <a:gd name="T14" fmla="*/ 7 w 24"/>
                  <a:gd name="T15" fmla="*/ 10 h 14"/>
                  <a:gd name="T16" fmla="*/ 0 w 24"/>
                  <a:gd name="T17" fmla="*/ 7 h 14"/>
                  <a:gd name="T18" fmla="*/ 0 w 24"/>
                  <a:gd name="T19" fmla="*/ 3 h 14"/>
                  <a:gd name="T20" fmla="*/ 0 w 24"/>
                  <a:gd name="T21" fmla="*/ 3 h 14"/>
                  <a:gd name="T22" fmla="*/ 0 w 24"/>
                  <a:gd name="T23" fmla="*/ 3 h 14"/>
                  <a:gd name="T24" fmla="*/ 0 w 24"/>
                  <a:gd name="T25" fmla="*/ 3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14"/>
                  <a:gd name="T41" fmla="*/ 24 w 24"/>
                  <a:gd name="T42" fmla="*/ 14 h 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14">
                    <a:moveTo>
                      <a:pt x="0" y="3"/>
                    </a:moveTo>
                    <a:lnTo>
                      <a:pt x="14" y="7"/>
                    </a:lnTo>
                    <a:lnTo>
                      <a:pt x="24" y="3"/>
                    </a:lnTo>
                    <a:lnTo>
                      <a:pt x="24" y="0"/>
                    </a:lnTo>
                    <a:lnTo>
                      <a:pt x="24" y="3"/>
                    </a:lnTo>
                    <a:lnTo>
                      <a:pt x="17" y="14"/>
                    </a:lnTo>
                    <a:lnTo>
                      <a:pt x="14" y="14"/>
                    </a:lnTo>
                    <a:lnTo>
                      <a:pt x="7" y="10"/>
                    </a:lnTo>
                    <a:lnTo>
                      <a:pt x="0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3" name="Freeform 277"/>
              <p:cNvSpPr>
                <a:spLocks/>
              </p:cNvSpPr>
              <p:nvPr/>
            </p:nvSpPr>
            <p:spPr bwMode="auto">
              <a:xfrm>
                <a:off x="3156" y="848"/>
                <a:ext cx="38" cy="52"/>
              </a:xfrm>
              <a:custGeom>
                <a:avLst/>
                <a:gdLst>
                  <a:gd name="T0" fmla="*/ 38 w 38"/>
                  <a:gd name="T1" fmla="*/ 4 h 52"/>
                  <a:gd name="T2" fmla="*/ 31 w 38"/>
                  <a:gd name="T3" fmla="*/ 11 h 52"/>
                  <a:gd name="T4" fmla="*/ 35 w 38"/>
                  <a:gd name="T5" fmla="*/ 14 h 52"/>
                  <a:gd name="T6" fmla="*/ 35 w 38"/>
                  <a:gd name="T7" fmla="*/ 18 h 52"/>
                  <a:gd name="T8" fmla="*/ 38 w 38"/>
                  <a:gd name="T9" fmla="*/ 28 h 52"/>
                  <a:gd name="T10" fmla="*/ 35 w 38"/>
                  <a:gd name="T11" fmla="*/ 32 h 52"/>
                  <a:gd name="T12" fmla="*/ 31 w 38"/>
                  <a:gd name="T13" fmla="*/ 35 h 52"/>
                  <a:gd name="T14" fmla="*/ 25 w 38"/>
                  <a:gd name="T15" fmla="*/ 39 h 52"/>
                  <a:gd name="T16" fmla="*/ 21 w 38"/>
                  <a:gd name="T17" fmla="*/ 45 h 52"/>
                  <a:gd name="T18" fmla="*/ 14 w 38"/>
                  <a:gd name="T19" fmla="*/ 49 h 52"/>
                  <a:gd name="T20" fmla="*/ 11 w 38"/>
                  <a:gd name="T21" fmla="*/ 52 h 52"/>
                  <a:gd name="T22" fmla="*/ 0 w 38"/>
                  <a:gd name="T23" fmla="*/ 49 h 52"/>
                  <a:gd name="T24" fmla="*/ 0 w 38"/>
                  <a:gd name="T25" fmla="*/ 45 h 52"/>
                  <a:gd name="T26" fmla="*/ 4 w 38"/>
                  <a:gd name="T27" fmla="*/ 45 h 52"/>
                  <a:gd name="T28" fmla="*/ 7 w 38"/>
                  <a:gd name="T29" fmla="*/ 45 h 52"/>
                  <a:gd name="T30" fmla="*/ 14 w 38"/>
                  <a:gd name="T31" fmla="*/ 42 h 52"/>
                  <a:gd name="T32" fmla="*/ 18 w 38"/>
                  <a:gd name="T33" fmla="*/ 35 h 52"/>
                  <a:gd name="T34" fmla="*/ 21 w 38"/>
                  <a:gd name="T35" fmla="*/ 32 h 52"/>
                  <a:gd name="T36" fmla="*/ 25 w 38"/>
                  <a:gd name="T37" fmla="*/ 32 h 52"/>
                  <a:gd name="T38" fmla="*/ 28 w 38"/>
                  <a:gd name="T39" fmla="*/ 25 h 52"/>
                  <a:gd name="T40" fmla="*/ 28 w 38"/>
                  <a:gd name="T41" fmla="*/ 7 h 52"/>
                  <a:gd name="T42" fmla="*/ 31 w 38"/>
                  <a:gd name="T43" fmla="*/ 4 h 52"/>
                  <a:gd name="T44" fmla="*/ 35 w 38"/>
                  <a:gd name="T45" fmla="*/ 0 h 52"/>
                  <a:gd name="T46" fmla="*/ 38 w 38"/>
                  <a:gd name="T47" fmla="*/ 0 h 52"/>
                  <a:gd name="T48" fmla="*/ 38 w 38"/>
                  <a:gd name="T49" fmla="*/ 4 h 52"/>
                  <a:gd name="T50" fmla="*/ 38 w 38"/>
                  <a:gd name="T51" fmla="*/ 4 h 52"/>
                  <a:gd name="T52" fmla="*/ 38 w 38"/>
                  <a:gd name="T53" fmla="*/ 4 h 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8"/>
                  <a:gd name="T82" fmla="*/ 0 h 52"/>
                  <a:gd name="T83" fmla="*/ 38 w 38"/>
                  <a:gd name="T84" fmla="*/ 52 h 5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8" h="52">
                    <a:moveTo>
                      <a:pt x="38" y="4"/>
                    </a:moveTo>
                    <a:lnTo>
                      <a:pt x="31" y="11"/>
                    </a:lnTo>
                    <a:lnTo>
                      <a:pt x="35" y="14"/>
                    </a:lnTo>
                    <a:lnTo>
                      <a:pt x="35" y="18"/>
                    </a:lnTo>
                    <a:lnTo>
                      <a:pt x="38" y="28"/>
                    </a:lnTo>
                    <a:lnTo>
                      <a:pt x="35" y="32"/>
                    </a:lnTo>
                    <a:lnTo>
                      <a:pt x="31" y="35"/>
                    </a:lnTo>
                    <a:lnTo>
                      <a:pt x="25" y="39"/>
                    </a:lnTo>
                    <a:lnTo>
                      <a:pt x="21" y="45"/>
                    </a:lnTo>
                    <a:lnTo>
                      <a:pt x="14" y="49"/>
                    </a:lnTo>
                    <a:lnTo>
                      <a:pt x="11" y="52"/>
                    </a:lnTo>
                    <a:lnTo>
                      <a:pt x="0" y="49"/>
                    </a:lnTo>
                    <a:lnTo>
                      <a:pt x="0" y="45"/>
                    </a:lnTo>
                    <a:lnTo>
                      <a:pt x="4" y="45"/>
                    </a:lnTo>
                    <a:lnTo>
                      <a:pt x="7" y="45"/>
                    </a:lnTo>
                    <a:lnTo>
                      <a:pt x="14" y="42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5" y="32"/>
                    </a:lnTo>
                    <a:lnTo>
                      <a:pt x="28" y="25"/>
                    </a:lnTo>
                    <a:lnTo>
                      <a:pt x="28" y="7"/>
                    </a:lnTo>
                    <a:lnTo>
                      <a:pt x="31" y="4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3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4" name="Freeform 278"/>
              <p:cNvSpPr>
                <a:spLocks/>
              </p:cNvSpPr>
              <p:nvPr/>
            </p:nvSpPr>
            <p:spPr bwMode="auto">
              <a:xfrm>
                <a:off x="3284" y="900"/>
                <a:ext cx="21" cy="25"/>
              </a:xfrm>
              <a:custGeom>
                <a:avLst/>
                <a:gdLst>
                  <a:gd name="T0" fmla="*/ 14 w 21"/>
                  <a:gd name="T1" fmla="*/ 0 h 25"/>
                  <a:gd name="T2" fmla="*/ 21 w 21"/>
                  <a:gd name="T3" fmla="*/ 0 h 25"/>
                  <a:gd name="T4" fmla="*/ 21 w 21"/>
                  <a:gd name="T5" fmla="*/ 7 h 25"/>
                  <a:gd name="T6" fmla="*/ 21 w 21"/>
                  <a:gd name="T7" fmla="*/ 18 h 25"/>
                  <a:gd name="T8" fmla="*/ 21 w 21"/>
                  <a:gd name="T9" fmla="*/ 21 h 25"/>
                  <a:gd name="T10" fmla="*/ 14 w 21"/>
                  <a:gd name="T11" fmla="*/ 25 h 25"/>
                  <a:gd name="T12" fmla="*/ 14 w 21"/>
                  <a:gd name="T13" fmla="*/ 25 h 25"/>
                  <a:gd name="T14" fmla="*/ 4 w 21"/>
                  <a:gd name="T15" fmla="*/ 25 h 25"/>
                  <a:gd name="T16" fmla="*/ 0 w 21"/>
                  <a:gd name="T17" fmla="*/ 21 h 25"/>
                  <a:gd name="T18" fmla="*/ 0 w 21"/>
                  <a:gd name="T19" fmla="*/ 18 h 25"/>
                  <a:gd name="T20" fmla="*/ 4 w 21"/>
                  <a:gd name="T21" fmla="*/ 14 h 25"/>
                  <a:gd name="T22" fmla="*/ 7 w 21"/>
                  <a:gd name="T23" fmla="*/ 14 h 25"/>
                  <a:gd name="T24" fmla="*/ 11 w 21"/>
                  <a:gd name="T25" fmla="*/ 14 h 25"/>
                  <a:gd name="T26" fmla="*/ 21 w 21"/>
                  <a:gd name="T27" fmla="*/ 7 h 25"/>
                  <a:gd name="T28" fmla="*/ 18 w 21"/>
                  <a:gd name="T29" fmla="*/ 4 h 25"/>
                  <a:gd name="T30" fmla="*/ 14 w 21"/>
                  <a:gd name="T31" fmla="*/ 0 h 25"/>
                  <a:gd name="T32" fmla="*/ 14 w 21"/>
                  <a:gd name="T33" fmla="*/ 0 h 25"/>
                  <a:gd name="T34" fmla="*/ 14 w 21"/>
                  <a:gd name="T35" fmla="*/ 0 h 25"/>
                  <a:gd name="T36" fmla="*/ 14 w 21"/>
                  <a:gd name="T37" fmla="*/ 0 h 25"/>
                  <a:gd name="T38" fmla="*/ 14 w 21"/>
                  <a:gd name="T39" fmla="*/ 0 h 2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1"/>
                  <a:gd name="T61" fmla="*/ 0 h 25"/>
                  <a:gd name="T62" fmla="*/ 21 w 21"/>
                  <a:gd name="T63" fmla="*/ 25 h 2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1" h="25">
                    <a:moveTo>
                      <a:pt x="14" y="0"/>
                    </a:moveTo>
                    <a:lnTo>
                      <a:pt x="21" y="0"/>
                    </a:lnTo>
                    <a:lnTo>
                      <a:pt x="21" y="7"/>
                    </a:lnTo>
                    <a:lnTo>
                      <a:pt x="21" y="18"/>
                    </a:lnTo>
                    <a:lnTo>
                      <a:pt x="21" y="21"/>
                    </a:lnTo>
                    <a:lnTo>
                      <a:pt x="14" y="25"/>
                    </a:lnTo>
                    <a:lnTo>
                      <a:pt x="4" y="25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4" y="14"/>
                    </a:lnTo>
                    <a:lnTo>
                      <a:pt x="7" y="14"/>
                    </a:lnTo>
                    <a:lnTo>
                      <a:pt x="11" y="14"/>
                    </a:lnTo>
                    <a:lnTo>
                      <a:pt x="21" y="7"/>
                    </a:lnTo>
                    <a:lnTo>
                      <a:pt x="18" y="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5" name="Freeform 279"/>
              <p:cNvSpPr>
                <a:spLocks/>
              </p:cNvSpPr>
              <p:nvPr/>
            </p:nvSpPr>
            <p:spPr bwMode="auto">
              <a:xfrm>
                <a:off x="3077" y="1011"/>
                <a:ext cx="24" cy="10"/>
              </a:xfrm>
              <a:custGeom>
                <a:avLst/>
                <a:gdLst>
                  <a:gd name="T0" fmla="*/ 0 w 24"/>
                  <a:gd name="T1" fmla="*/ 0 h 10"/>
                  <a:gd name="T2" fmla="*/ 10 w 24"/>
                  <a:gd name="T3" fmla="*/ 0 h 10"/>
                  <a:gd name="T4" fmla="*/ 17 w 24"/>
                  <a:gd name="T5" fmla="*/ 0 h 10"/>
                  <a:gd name="T6" fmla="*/ 24 w 24"/>
                  <a:gd name="T7" fmla="*/ 3 h 10"/>
                  <a:gd name="T8" fmla="*/ 24 w 24"/>
                  <a:gd name="T9" fmla="*/ 3 h 10"/>
                  <a:gd name="T10" fmla="*/ 24 w 24"/>
                  <a:gd name="T11" fmla="*/ 3 h 10"/>
                  <a:gd name="T12" fmla="*/ 24 w 24"/>
                  <a:gd name="T13" fmla="*/ 7 h 10"/>
                  <a:gd name="T14" fmla="*/ 24 w 24"/>
                  <a:gd name="T15" fmla="*/ 10 h 10"/>
                  <a:gd name="T16" fmla="*/ 17 w 24"/>
                  <a:gd name="T17" fmla="*/ 10 h 10"/>
                  <a:gd name="T18" fmla="*/ 17 w 24"/>
                  <a:gd name="T19" fmla="*/ 10 h 10"/>
                  <a:gd name="T20" fmla="*/ 17 w 24"/>
                  <a:gd name="T21" fmla="*/ 10 h 10"/>
                  <a:gd name="T22" fmla="*/ 14 w 24"/>
                  <a:gd name="T23" fmla="*/ 7 h 10"/>
                  <a:gd name="T24" fmla="*/ 7 w 24"/>
                  <a:gd name="T25" fmla="*/ 3 h 10"/>
                  <a:gd name="T26" fmla="*/ 0 w 24"/>
                  <a:gd name="T27" fmla="*/ 3 h 10"/>
                  <a:gd name="T28" fmla="*/ 0 w 24"/>
                  <a:gd name="T29" fmla="*/ 3 h 10"/>
                  <a:gd name="T30" fmla="*/ 0 w 24"/>
                  <a:gd name="T31" fmla="*/ 0 h 10"/>
                  <a:gd name="T32" fmla="*/ 0 w 24"/>
                  <a:gd name="T33" fmla="*/ 0 h 10"/>
                  <a:gd name="T34" fmla="*/ 0 w 24"/>
                  <a:gd name="T35" fmla="*/ 0 h 1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4"/>
                  <a:gd name="T55" fmla="*/ 0 h 10"/>
                  <a:gd name="T56" fmla="*/ 24 w 24"/>
                  <a:gd name="T57" fmla="*/ 10 h 1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4" h="10">
                    <a:moveTo>
                      <a:pt x="0" y="0"/>
                    </a:moveTo>
                    <a:lnTo>
                      <a:pt x="10" y="0"/>
                    </a:lnTo>
                    <a:lnTo>
                      <a:pt x="17" y="0"/>
                    </a:lnTo>
                    <a:lnTo>
                      <a:pt x="24" y="3"/>
                    </a:lnTo>
                    <a:lnTo>
                      <a:pt x="24" y="7"/>
                    </a:lnTo>
                    <a:lnTo>
                      <a:pt x="24" y="10"/>
                    </a:lnTo>
                    <a:lnTo>
                      <a:pt x="17" y="10"/>
                    </a:lnTo>
                    <a:lnTo>
                      <a:pt x="14" y="7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6" name="Freeform 280"/>
              <p:cNvSpPr>
                <a:spLocks/>
              </p:cNvSpPr>
              <p:nvPr/>
            </p:nvSpPr>
            <p:spPr bwMode="auto">
              <a:xfrm>
                <a:off x="3025" y="1032"/>
                <a:ext cx="35" cy="7"/>
              </a:xfrm>
              <a:custGeom>
                <a:avLst/>
                <a:gdLst>
                  <a:gd name="T0" fmla="*/ 0 w 35"/>
                  <a:gd name="T1" fmla="*/ 3 h 7"/>
                  <a:gd name="T2" fmla="*/ 10 w 35"/>
                  <a:gd name="T3" fmla="*/ 3 h 7"/>
                  <a:gd name="T4" fmla="*/ 17 w 35"/>
                  <a:gd name="T5" fmla="*/ 0 h 7"/>
                  <a:gd name="T6" fmla="*/ 24 w 35"/>
                  <a:gd name="T7" fmla="*/ 0 h 7"/>
                  <a:gd name="T8" fmla="*/ 31 w 35"/>
                  <a:gd name="T9" fmla="*/ 3 h 7"/>
                  <a:gd name="T10" fmla="*/ 35 w 35"/>
                  <a:gd name="T11" fmla="*/ 7 h 7"/>
                  <a:gd name="T12" fmla="*/ 31 w 35"/>
                  <a:gd name="T13" fmla="*/ 7 h 7"/>
                  <a:gd name="T14" fmla="*/ 21 w 35"/>
                  <a:gd name="T15" fmla="*/ 7 h 7"/>
                  <a:gd name="T16" fmla="*/ 0 w 35"/>
                  <a:gd name="T17" fmla="*/ 7 h 7"/>
                  <a:gd name="T18" fmla="*/ 0 w 35"/>
                  <a:gd name="T19" fmla="*/ 7 h 7"/>
                  <a:gd name="T20" fmla="*/ 0 w 35"/>
                  <a:gd name="T21" fmla="*/ 3 h 7"/>
                  <a:gd name="T22" fmla="*/ 0 w 35"/>
                  <a:gd name="T23" fmla="*/ 3 h 7"/>
                  <a:gd name="T24" fmla="*/ 0 w 35"/>
                  <a:gd name="T25" fmla="*/ 3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5"/>
                  <a:gd name="T40" fmla="*/ 0 h 7"/>
                  <a:gd name="T41" fmla="*/ 35 w 35"/>
                  <a:gd name="T42" fmla="*/ 7 h 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5" h="7">
                    <a:moveTo>
                      <a:pt x="0" y="3"/>
                    </a:moveTo>
                    <a:lnTo>
                      <a:pt x="10" y="3"/>
                    </a:lnTo>
                    <a:lnTo>
                      <a:pt x="17" y="0"/>
                    </a:lnTo>
                    <a:lnTo>
                      <a:pt x="24" y="0"/>
                    </a:lnTo>
                    <a:lnTo>
                      <a:pt x="31" y="3"/>
                    </a:lnTo>
                    <a:lnTo>
                      <a:pt x="35" y="7"/>
                    </a:lnTo>
                    <a:lnTo>
                      <a:pt x="31" y="7"/>
                    </a:lnTo>
                    <a:lnTo>
                      <a:pt x="21" y="7"/>
                    </a:lnTo>
                    <a:lnTo>
                      <a:pt x="0" y="7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7" name="Freeform 281"/>
              <p:cNvSpPr>
                <a:spLocks/>
              </p:cNvSpPr>
              <p:nvPr/>
            </p:nvSpPr>
            <p:spPr bwMode="auto">
              <a:xfrm>
                <a:off x="3042" y="1039"/>
                <a:ext cx="11" cy="3"/>
              </a:xfrm>
              <a:custGeom>
                <a:avLst/>
                <a:gdLst>
                  <a:gd name="T0" fmla="*/ 4 w 11"/>
                  <a:gd name="T1" fmla="*/ 0 h 3"/>
                  <a:gd name="T2" fmla="*/ 7 w 11"/>
                  <a:gd name="T3" fmla="*/ 0 h 3"/>
                  <a:gd name="T4" fmla="*/ 11 w 11"/>
                  <a:gd name="T5" fmla="*/ 3 h 3"/>
                  <a:gd name="T6" fmla="*/ 7 w 11"/>
                  <a:gd name="T7" fmla="*/ 3 h 3"/>
                  <a:gd name="T8" fmla="*/ 0 w 11"/>
                  <a:gd name="T9" fmla="*/ 0 h 3"/>
                  <a:gd name="T10" fmla="*/ 0 w 11"/>
                  <a:gd name="T11" fmla="*/ 0 h 3"/>
                  <a:gd name="T12" fmla="*/ 4 w 11"/>
                  <a:gd name="T13" fmla="*/ 0 h 3"/>
                  <a:gd name="T14" fmla="*/ 4 w 11"/>
                  <a:gd name="T15" fmla="*/ 0 h 3"/>
                  <a:gd name="T16" fmla="*/ 4 w 11"/>
                  <a:gd name="T17" fmla="*/ 0 h 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"/>
                  <a:gd name="T28" fmla="*/ 0 h 3"/>
                  <a:gd name="T29" fmla="*/ 11 w 11"/>
                  <a:gd name="T30" fmla="*/ 3 h 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" h="3">
                    <a:moveTo>
                      <a:pt x="4" y="0"/>
                    </a:moveTo>
                    <a:lnTo>
                      <a:pt x="7" y="0"/>
                    </a:lnTo>
                    <a:lnTo>
                      <a:pt x="11" y="3"/>
                    </a:lnTo>
                    <a:lnTo>
                      <a:pt x="7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8" name="Freeform 282"/>
              <p:cNvSpPr>
                <a:spLocks/>
              </p:cNvSpPr>
              <p:nvPr/>
            </p:nvSpPr>
            <p:spPr bwMode="auto">
              <a:xfrm>
                <a:off x="3077" y="1028"/>
                <a:ext cx="21" cy="7"/>
              </a:xfrm>
              <a:custGeom>
                <a:avLst/>
                <a:gdLst>
                  <a:gd name="T0" fmla="*/ 3 w 21"/>
                  <a:gd name="T1" fmla="*/ 4 h 7"/>
                  <a:gd name="T2" fmla="*/ 10 w 21"/>
                  <a:gd name="T3" fmla="*/ 0 h 7"/>
                  <a:gd name="T4" fmla="*/ 21 w 21"/>
                  <a:gd name="T5" fmla="*/ 7 h 7"/>
                  <a:gd name="T6" fmla="*/ 21 w 21"/>
                  <a:gd name="T7" fmla="*/ 7 h 7"/>
                  <a:gd name="T8" fmla="*/ 21 w 21"/>
                  <a:gd name="T9" fmla="*/ 7 h 7"/>
                  <a:gd name="T10" fmla="*/ 10 w 21"/>
                  <a:gd name="T11" fmla="*/ 7 h 7"/>
                  <a:gd name="T12" fmla="*/ 3 w 21"/>
                  <a:gd name="T13" fmla="*/ 7 h 7"/>
                  <a:gd name="T14" fmla="*/ 0 w 21"/>
                  <a:gd name="T15" fmla="*/ 7 h 7"/>
                  <a:gd name="T16" fmla="*/ 3 w 21"/>
                  <a:gd name="T17" fmla="*/ 4 h 7"/>
                  <a:gd name="T18" fmla="*/ 3 w 21"/>
                  <a:gd name="T19" fmla="*/ 4 h 7"/>
                  <a:gd name="T20" fmla="*/ 3 w 21"/>
                  <a:gd name="T21" fmla="*/ 4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7"/>
                  <a:gd name="T35" fmla="*/ 21 w 21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7">
                    <a:moveTo>
                      <a:pt x="3" y="4"/>
                    </a:moveTo>
                    <a:lnTo>
                      <a:pt x="10" y="0"/>
                    </a:lnTo>
                    <a:lnTo>
                      <a:pt x="21" y="7"/>
                    </a:lnTo>
                    <a:lnTo>
                      <a:pt x="10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099" name="Freeform 283"/>
              <p:cNvSpPr>
                <a:spLocks/>
              </p:cNvSpPr>
              <p:nvPr/>
            </p:nvSpPr>
            <p:spPr bwMode="auto">
              <a:xfrm>
                <a:off x="3091" y="1035"/>
                <a:ext cx="3" cy="7"/>
              </a:xfrm>
              <a:custGeom>
                <a:avLst/>
                <a:gdLst>
                  <a:gd name="T0" fmla="*/ 0 w 3"/>
                  <a:gd name="T1" fmla="*/ 0 h 7"/>
                  <a:gd name="T2" fmla="*/ 3 w 3"/>
                  <a:gd name="T3" fmla="*/ 0 h 7"/>
                  <a:gd name="T4" fmla="*/ 3 w 3"/>
                  <a:gd name="T5" fmla="*/ 4 h 7"/>
                  <a:gd name="T6" fmla="*/ 0 w 3"/>
                  <a:gd name="T7" fmla="*/ 7 h 7"/>
                  <a:gd name="T8" fmla="*/ 0 w 3"/>
                  <a:gd name="T9" fmla="*/ 4 h 7"/>
                  <a:gd name="T10" fmla="*/ 0 w 3"/>
                  <a:gd name="T11" fmla="*/ 0 h 7"/>
                  <a:gd name="T12" fmla="*/ 0 w 3"/>
                  <a:gd name="T13" fmla="*/ 0 h 7"/>
                  <a:gd name="T14" fmla="*/ 0 w 3"/>
                  <a:gd name="T15" fmla="*/ 0 h 7"/>
                  <a:gd name="T16" fmla="*/ 0 w 3"/>
                  <a:gd name="T17" fmla="*/ 0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"/>
                  <a:gd name="T28" fmla="*/ 0 h 7"/>
                  <a:gd name="T29" fmla="*/ 3 w 3"/>
                  <a:gd name="T30" fmla="*/ 7 h 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" h="7">
                    <a:moveTo>
                      <a:pt x="0" y="0"/>
                    </a:moveTo>
                    <a:lnTo>
                      <a:pt x="3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0" name="Freeform 284"/>
              <p:cNvSpPr>
                <a:spLocks/>
              </p:cNvSpPr>
              <p:nvPr/>
            </p:nvSpPr>
            <p:spPr bwMode="auto">
              <a:xfrm>
                <a:off x="3067" y="1025"/>
                <a:ext cx="17" cy="45"/>
              </a:xfrm>
              <a:custGeom>
                <a:avLst/>
                <a:gdLst>
                  <a:gd name="T0" fmla="*/ 3 w 17"/>
                  <a:gd name="T1" fmla="*/ 0 h 45"/>
                  <a:gd name="T2" fmla="*/ 10 w 17"/>
                  <a:gd name="T3" fmla="*/ 10 h 45"/>
                  <a:gd name="T4" fmla="*/ 13 w 17"/>
                  <a:gd name="T5" fmla="*/ 24 h 45"/>
                  <a:gd name="T6" fmla="*/ 13 w 17"/>
                  <a:gd name="T7" fmla="*/ 34 h 45"/>
                  <a:gd name="T8" fmla="*/ 17 w 17"/>
                  <a:gd name="T9" fmla="*/ 45 h 45"/>
                  <a:gd name="T10" fmla="*/ 13 w 17"/>
                  <a:gd name="T11" fmla="*/ 45 h 45"/>
                  <a:gd name="T12" fmla="*/ 10 w 17"/>
                  <a:gd name="T13" fmla="*/ 34 h 45"/>
                  <a:gd name="T14" fmla="*/ 6 w 17"/>
                  <a:gd name="T15" fmla="*/ 24 h 45"/>
                  <a:gd name="T16" fmla="*/ 6 w 17"/>
                  <a:gd name="T17" fmla="*/ 14 h 45"/>
                  <a:gd name="T18" fmla="*/ 0 w 17"/>
                  <a:gd name="T19" fmla="*/ 0 h 45"/>
                  <a:gd name="T20" fmla="*/ 0 w 17"/>
                  <a:gd name="T21" fmla="*/ 0 h 45"/>
                  <a:gd name="T22" fmla="*/ 3 w 17"/>
                  <a:gd name="T23" fmla="*/ 0 h 45"/>
                  <a:gd name="T24" fmla="*/ 3 w 17"/>
                  <a:gd name="T25" fmla="*/ 0 h 45"/>
                  <a:gd name="T26" fmla="*/ 3 w 17"/>
                  <a:gd name="T27" fmla="*/ 0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7"/>
                  <a:gd name="T43" fmla="*/ 0 h 45"/>
                  <a:gd name="T44" fmla="*/ 17 w 17"/>
                  <a:gd name="T45" fmla="*/ 45 h 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7" h="45">
                    <a:moveTo>
                      <a:pt x="3" y="0"/>
                    </a:moveTo>
                    <a:lnTo>
                      <a:pt x="10" y="10"/>
                    </a:lnTo>
                    <a:lnTo>
                      <a:pt x="13" y="24"/>
                    </a:lnTo>
                    <a:lnTo>
                      <a:pt x="13" y="34"/>
                    </a:lnTo>
                    <a:lnTo>
                      <a:pt x="17" y="45"/>
                    </a:lnTo>
                    <a:lnTo>
                      <a:pt x="13" y="45"/>
                    </a:lnTo>
                    <a:lnTo>
                      <a:pt x="10" y="34"/>
                    </a:lnTo>
                    <a:lnTo>
                      <a:pt x="6" y="24"/>
                    </a:lnTo>
                    <a:lnTo>
                      <a:pt x="6" y="1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1" name="Freeform 285"/>
              <p:cNvSpPr>
                <a:spLocks/>
              </p:cNvSpPr>
              <p:nvPr/>
            </p:nvSpPr>
            <p:spPr bwMode="auto">
              <a:xfrm>
                <a:off x="3053" y="1070"/>
                <a:ext cx="20" cy="7"/>
              </a:xfrm>
              <a:custGeom>
                <a:avLst/>
                <a:gdLst>
                  <a:gd name="T0" fmla="*/ 3 w 20"/>
                  <a:gd name="T1" fmla="*/ 0 h 7"/>
                  <a:gd name="T2" fmla="*/ 14 w 20"/>
                  <a:gd name="T3" fmla="*/ 0 h 7"/>
                  <a:gd name="T4" fmla="*/ 17 w 20"/>
                  <a:gd name="T5" fmla="*/ 0 h 7"/>
                  <a:gd name="T6" fmla="*/ 20 w 20"/>
                  <a:gd name="T7" fmla="*/ 3 h 7"/>
                  <a:gd name="T8" fmla="*/ 20 w 20"/>
                  <a:gd name="T9" fmla="*/ 3 h 7"/>
                  <a:gd name="T10" fmla="*/ 17 w 20"/>
                  <a:gd name="T11" fmla="*/ 3 h 7"/>
                  <a:gd name="T12" fmla="*/ 14 w 20"/>
                  <a:gd name="T13" fmla="*/ 7 h 7"/>
                  <a:gd name="T14" fmla="*/ 7 w 20"/>
                  <a:gd name="T15" fmla="*/ 3 h 7"/>
                  <a:gd name="T16" fmla="*/ 0 w 20"/>
                  <a:gd name="T17" fmla="*/ 3 h 7"/>
                  <a:gd name="T18" fmla="*/ 0 w 20"/>
                  <a:gd name="T19" fmla="*/ 0 h 7"/>
                  <a:gd name="T20" fmla="*/ 3 w 20"/>
                  <a:gd name="T21" fmla="*/ 0 h 7"/>
                  <a:gd name="T22" fmla="*/ 3 w 20"/>
                  <a:gd name="T23" fmla="*/ 0 h 7"/>
                  <a:gd name="T24" fmla="*/ 3 w 20"/>
                  <a:gd name="T25" fmla="*/ 0 h 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"/>
                  <a:gd name="T40" fmla="*/ 0 h 7"/>
                  <a:gd name="T41" fmla="*/ 20 w 20"/>
                  <a:gd name="T42" fmla="*/ 7 h 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" h="7">
                    <a:moveTo>
                      <a:pt x="3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20" y="3"/>
                    </a:lnTo>
                    <a:lnTo>
                      <a:pt x="17" y="3"/>
                    </a:lnTo>
                    <a:lnTo>
                      <a:pt x="14" y="7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2" name="Freeform 286"/>
              <p:cNvSpPr>
                <a:spLocks/>
              </p:cNvSpPr>
              <p:nvPr/>
            </p:nvSpPr>
            <p:spPr bwMode="auto">
              <a:xfrm>
                <a:off x="3834" y="1128"/>
                <a:ext cx="145" cy="225"/>
              </a:xfrm>
              <a:custGeom>
                <a:avLst/>
                <a:gdLst>
                  <a:gd name="T0" fmla="*/ 3 w 145"/>
                  <a:gd name="T1" fmla="*/ 0 h 225"/>
                  <a:gd name="T2" fmla="*/ 10 w 145"/>
                  <a:gd name="T3" fmla="*/ 7 h 225"/>
                  <a:gd name="T4" fmla="*/ 17 w 145"/>
                  <a:gd name="T5" fmla="*/ 14 h 225"/>
                  <a:gd name="T6" fmla="*/ 24 w 145"/>
                  <a:gd name="T7" fmla="*/ 21 h 225"/>
                  <a:gd name="T8" fmla="*/ 31 w 145"/>
                  <a:gd name="T9" fmla="*/ 25 h 225"/>
                  <a:gd name="T10" fmla="*/ 45 w 145"/>
                  <a:gd name="T11" fmla="*/ 38 h 225"/>
                  <a:gd name="T12" fmla="*/ 55 w 145"/>
                  <a:gd name="T13" fmla="*/ 49 h 225"/>
                  <a:gd name="T14" fmla="*/ 59 w 145"/>
                  <a:gd name="T15" fmla="*/ 56 h 225"/>
                  <a:gd name="T16" fmla="*/ 65 w 145"/>
                  <a:gd name="T17" fmla="*/ 59 h 225"/>
                  <a:gd name="T18" fmla="*/ 69 w 145"/>
                  <a:gd name="T19" fmla="*/ 66 h 225"/>
                  <a:gd name="T20" fmla="*/ 76 w 145"/>
                  <a:gd name="T21" fmla="*/ 73 h 225"/>
                  <a:gd name="T22" fmla="*/ 79 w 145"/>
                  <a:gd name="T23" fmla="*/ 80 h 225"/>
                  <a:gd name="T24" fmla="*/ 86 w 145"/>
                  <a:gd name="T25" fmla="*/ 87 h 225"/>
                  <a:gd name="T26" fmla="*/ 90 w 145"/>
                  <a:gd name="T27" fmla="*/ 94 h 225"/>
                  <a:gd name="T28" fmla="*/ 97 w 145"/>
                  <a:gd name="T29" fmla="*/ 101 h 225"/>
                  <a:gd name="T30" fmla="*/ 107 w 145"/>
                  <a:gd name="T31" fmla="*/ 115 h 225"/>
                  <a:gd name="T32" fmla="*/ 114 w 145"/>
                  <a:gd name="T33" fmla="*/ 125 h 225"/>
                  <a:gd name="T34" fmla="*/ 121 w 145"/>
                  <a:gd name="T35" fmla="*/ 135 h 225"/>
                  <a:gd name="T36" fmla="*/ 128 w 145"/>
                  <a:gd name="T37" fmla="*/ 149 h 225"/>
                  <a:gd name="T38" fmla="*/ 131 w 145"/>
                  <a:gd name="T39" fmla="*/ 159 h 225"/>
                  <a:gd name="T40" fmla="*/ 135 w 145"/>
                  <a:gd name="T41" fmla="*/ 166 h 225"/>
                  <a:gd name="T42" fmla="*/ 142 w 145"/>
                  <a:gd name="T43" fmla="*/ 187 h 225"/>
                  <a:gd name="T44" fmla="*/ 145 w 145"/>
                  <a:gd name="T45" fmla="*/ 222 h 225"/>
                  <a:gd name="T46" fmla="*/ 142 w 145"/>
                  <a:gd name="T47" fmla="*/ 225 h 225"/>
                  <a:gd name="T48" fmla="*/ 142 w 145"/>
                  <a:gd name="T49" fmla="*/ 225 h 225"/>
                  <a:gd name="T50" fmla="*/ 135 w 145"/>
                  <a:gd name="T51" fmla="*/ 208 h 225"/>
                  <a:gd name="T52" fmla="*/ 131 w 145"/>
                  <a:gd name="T53" fmla="*/ 191 h 225"/>
                  <a:gd name="T54" fmla="*/ 128 w 145"/>
                  <a:gd name="T55" fmla="*/ 180 h 225"/>
                  <a:gd name="T56" fmla="*/ 124 w 145"/>
                  <a:gd name="T57" fmla="*/ 170 h 225"/>
                  <a:gd name="T58" fmla="*/ 117 w 145"/>
                  <a:gd name="T59" fmla="*/ 153 h 225"/>
                  <a:gd name="T60" fmla="*/ 110 w 145"/>
                  <a:gd name="T61" fmla="*/ 139 h 225"/>
                  <a:gd name="T62" fmla="*/ 107 w 145"/>
                  <a:gd name="T63" fmla="*/ 128 h 225"/>
                  <a:gd name="T64" fmla="*/ 103 w 145"/>
                  <a:gd name="T65" fmla="*/ 125 h 225"/>
                  <a:gd name="T66" fmla="*/ 100 w 145"/>
                  <a:gd name="T67" fmla="*/ 118 h 225"/>
                  <a:gd name="T68" fmla="*/ 93 w 145"/>
                  <a:gd name="T69" fmla="*/ 115 h 225"/>
                  <a:gd name="T70" fmla="*/ 90 w 145"/>
                  <a:gd name="T71" fmla="*/ 108 h 225"/>
                  <a:gd name="T72" fmla="*/ 83 w 145"/>
                  <a:gd name="T73" fmla="*/ 101 h 225"/>
                  <a:gd name="T74" fmla="*/ 79 w 145"/>
                  <a:gd name="T75" fmla="*/ 94 h 225"/>
                  <a:gd name="T76" fmla="*/ 72 w 145"/>
                  <a:gd name="T77" fmla="*/ 87 h 225"/>
                  <a:gd name="T78" fmla="*/ 69 w 145"/>
                  <a:gd name="T79" fmla="*/ 80 h 225"/>
                  <a:gd name="T80" fmla="*/ 62 w 145"/>
                  <a:gd name="T81" fmla="*/ 73 h 225"/>
                  <a:gd name="T82" fmla="*/ 59 w 145"/>
                  <a:gd name="T83" fmla="*/ 66 h 225"/>
                  <a:gd name="T84" fmla="*/ 55 w 145"/>
                  <a:gd name="T85" fmla="*/ 59 h 225"/>
                  <a:gd name="T86" fmla="*/ 48 w 145"/>
                  <a:gd name="T87" fmla="*/ 52 h 225"/>
                  <a:gd name="T88" fmla="*/ 45 w 145"/>
                  <a:gd name="T89" fmla="*/ 45 h 225"/>
                  <a:gd name="T90" fmla="*/ 38 w 145"/>
                  <a:gd name="T91" fmla="*/ 42 h 225"/>
                  <a:gd name="T92" fmla="*/ 34 w 145"/>
                  <a:gd name="T93" fmla="*/ 35 h 225"/>
                  <a:gd name="T94" fmla="*/ 27 w 145"/>
                  <a:gd name="T95" fmla="*/ 28 h 225"/>
                  <a:gd name="T96" fmla="*/ 21 w 145"/>
                  <a:gd name="T97" fmla="*/ 21 h 225"/>
                  <a:gd name="T98" fmla="*/ 14 w 145"/>
                  <a:gd name="T99" fmla="*/ 18 h 225"/>
                  <a:gd name="T100" fmla="*/ 7 w 145"/>
                  <a:gd name="T101" fmla="*/ 11 h 225"/>
                  <a:gd name="T102" fmla="*/ 0 w 145"/>
                  <a:gd name="T103" fmla="*/ 4 h 225"/>
                  <a:gd name="T104" fmla="*/ 0 w 145"/>
                  <a:gd name="T105" fmla="*/ 0 h 225"/>
                  <a:gd name="T106" fmla="*/ 3 w 145"/>
                  <a:gd name="T107" fmla="*/ 0 h 225"/>
                  <a:gd name="T108" fmla="*/ 3 w 145"/>
                  <a:gd name="T109" fmla="*/ 0 h 225"/>
                  <a:gd name="T110" fmla="*/ 3 w 145"/>
                  <a:gd name="T111" fmla="*/ 0 h 22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45"/>
                  <a:gd name="T169" fmla="*/ 0 h 225"/>
                  <a:gd name="T170" fmla="*/ 145 w 145"/>
                  <a:gd name="T171" fmla="*/ 225 h 225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45" h="225">
                    <a:moveTo>
                      <a:pt x="3" y="0"/>
                    </a:moveTo>
                    <a:lnTo>
                      <a:pt x="10" y="7"/>
                    </a:lnTo>
                    <a:lnTo>
                      <a:pt x="17" y="14"/>
                    </a:lnTo>
                    <a:lnTo>
                      <a:pt x="24" y="21"/>
                    </a:lnTo>
                    <a:lnTo>
                      <a:pt x="31" y="25"/>
                    </a:lnTo>
                    <a:lnTo>
                      <a:pt x="45" y="38"/>
                    </a:lnTo>
                    <a:lnTo>
                      <a:pt x="55" y="49"/>
                    </a:lnTo>
                    <a:lnTo>
                      <a:pt x="59" y="56"/>
                    </a:lnTo>
                    <a:lnTo>
                      <a:pt x="65" y="59"/>
                    </a:lnTo>
                    <a:lnTo>
                      <a:pt x="69" y="66"/>
                    </a:lnTo>
                    <a:lnTo>
                      <a:pt x="76" y="73"/>
                    </a:lnTo>
                    <a:lnTo>
                      <a:pt x="79" y="80"/>
                    </a:lnTo>
                    <a:lnTo>
                      <a:pt x="86" y="87"/>
                    </a:lnTo>
                    <a:lnTo>
                      <a:pt x="90" y="94"/>
                    </a:lnTo>
                    <a:lnTo>
                      <a:pt x="97" y="101"/>
                    </a:lnTo>
                    <a:lnTo>
                      <a:pt x="107" y="115"/>
                    </a:lnTo>
                    <a:lnTo>
                      <a:pt x="114" y="125"/>
                    </a:lnTo>
                    <a:lnTo>
                      <a:pt x="121" y="135"/>
                    </a:lnTo>
                    <a:lnTo>
                      <a:pt x="128" y="149"/>
                    </a:lnTo>
                    <a:lnTo>
                      <a:pt x="131" y="159"/>
                    </a:lnTo>
                    <a:lnTo>
                      <a:pt x="135" y="166"/>
                    </a:lnTo>
                    <a:lnTo>
                      <a:pt x="142" y="187"/>
                    </a:lnTo>
                    <a:lnTo>
                      <a:pt x="145" y="222"/>
                    </a:lnTo>
                    <a:lnTo>
                      <a:pt x="142" y="225"/>
                    </a:lnTo>
                    <a:lnTo>
                      <a:pt x="135" y="208"/>
                    </a:lnTo>
                    <a:lnTo>
                      <a:pt x="131" y="191"/>
                    </a:lnTo>
                    <a:lnTo>
                      <a:pt x="128" y="180"/>
                    </a:lnTo>
                    <a:lnTo>
                      <a:pt x="124" y="170"/>
                    </a:lnTo>
                    <a:lnTo>
                      <a:pt x="117" y="153"/>
                    </a:lnTo>
                    <a:lnTo>
                      <a:pt x="110" y="139"/>
                    </a:lnTo>
                    <a:lnTo>
                      <a:pt x="107" y="128"/>
                    </a:lnTo>
                    <a:lnTo>
                      <a:pt x="103" y="125"/>
                    </a:lnTo>
                    <a:lnTo>
                      <a:pt x="100" y="118"/>
                    </a:lnTo>
                    <a:lnTo>
                      <a:pt x="93" y="115"/>
                    </a:lnTo>
                    <a:lnTo>
                      <a:pt x="90" y="108"/>
                    </a:lnTo>
                    <a:lnTo>
                      <a:pt x="83" y="101"/>
                    </a:lnTo>
                    <a:lnTo>
                      <a:pt x="79" y="94"/>
                    </a:lnTo>
                    <a:lnTo>
                      <a:pt x="72" y="87"/>
                    </a:lnTo>
                    <a:lnTo>
                      <a:pt x="69" y="80"/>
                    </a:lnTo>
                    <a:lnTo>
                      <a:pt x="62" y="73"/>
                    </a:lnTo>
                    <a:lnTo>
                      <a:pt x="59" y="66"/>
                    </a:lnTo>
                    <a:lnTo>
                      <a:pt x="55" y="59"/>
                    </a:lnTo>
                    <a:lnTo>
                      <a:pt x="48" y="52"/>
                    </a:lnTo>
                    <a:lnTo>
                      <a:pt x="45" y="45"/>
                    </a:lnTo>
                    <a:lnTo>
                      <a:pt x="38" y="42"/>
                    </a:lnTo>
                    <a:lnTo>
                      <a:pt x="34" y="35"/>
                    </a:lnTo>
                    <a:lnTo>
                      <a:pt x="27" y="28"/>
                    </a:lnTo>
                    <a:lnTo>
                      <a:pt x="21" y="21"/>
                    </a:lnTo>
                    <a:lnTo>
                      <a:pt x="14" y="18"/>
                    </a:lnTo>
                    <a:lnTo>
                      <a:pt x="7" y="11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3" name="Freeform 287"/>
              <p:cNvSpPr>
                <a:spLocks/>
              </p:cNvSpPr>
              <p:nvPr/>
            </p:nvSpPr>
            <p:spPr bwMode="auto">
              <a:xfrm>
                <a:off x="3796" y="1225"/>
                <a:ext cx="55" cy="142"/>
              </a:xfrm>
              <a:custGeom>
                <a:avLst/>
                <a:gdLst>
                  <a:gd name="T0" fmla="*/ 55 w 55"/>
                  <a:gd name="T1" fmla="*/ 4 h 142"/>
                  <a:gd name="T2" fmla="*/ 41 w 55"/>
                  <a:gd name="T3" fmla="*/ 11 h 142"/>
                  <a:gd name="T4" fmla="*/ 31 w 55"/>
                  <a:gd name="T5" fmla="*/ 18 h 142"/>
                  <a:gd name="T6" fmla="*/ 24 w 55"/>
                  <a:gd name="T7" fmla="*/ 28 h 142"/>
                  <a:gd name="T8" fmla="*/ 17 w 55"/>
                  <a:gd name="T9" fmla="*/ 38 h 142"/>
                  <a:gd name="T10" fmla="*/ 14 w 55"/>
                  <a:gd name="T11" fmla="*/ 45 h 142"/>
                  <a:gd name="T12" fmla="*/ 14 w 55"/>
                  <a:gd name="T13" fmla="*/ 56 h 142"/>
                  <a:gd name="T14" fmla="*/ 17 w 55"/>
                  <a:gd name="T15" fmla="*/ 69 h 142"/>
                  <a:gd name="T16" fmla="*/ 17 w 55"/>
                  <a:gd name="T17" fmla="*/ 107 h 142"/>
                  <a:gd name="T18" fmla="*/ 10 w 55"/>
                  <a:gd name="T19" fmla="*/ 125 h 142"/>
                  <a:gd name="T20" fmla="*/ 7 w 55"/>
                  <a:gd name="T21" fmla="*/ 132 h 142"/>
                  <a:gd name="T22" fmla="*/ 3 w 55"/>
                  <a:gd name="T23" fmla="*/ 142 h 142"/>
                  <a:gd name="T24" fmla="*/ 0 w 55"/>
                  <a:gd name="T25" fmla="*/ 142 h 142"/>
                  <a:gd name="T26" fmla="*/ 0 w 55"/>
                  <a:gd name="T27" fmla="*/ 142 h 142"/>
                  <a:gd name="T28" fmla="*/ 7 w 55"/>
                  <a:gd name="T29" fmla="*/ 121 h 142"/>
                  <a:gd name="T30" fmla="*/ 7 w 55"/>
                  <a:gd name="T31" fmla="*/ 107 h 142"/>
                  <a:gd name="T32" fmla="*/ 3 w 55"/>
                  <a:gd name="T33" fmla="*/ 69 h 142"/>
                  <a:gd name="T34" fmla="*/ 7 w 55"/>
                  <a:gd name="T35" fmla="*/ 35 h 142"/>
                  <a:gd name="T36" fmla="*/ 14 w 55"/>
                  <a:gd name="T37" fmla="*/ 28 h 142"/>
                  <a:gd name="T38" fmla="*/ 17 w 55"/>
                  <a:gd name="T39" fmla="*/ 21 h 142"/>
                  <a:gd name="T40" fmla="*/ 21 w 55"/>
                  <a:gd name="T41" fmla="*/ 18 h 142"/>
                  <a:gd name="T42" fmla="*/ 27 w 55"/>
                  <a:gd name="T43" fmla="*/ 14 h 142"/>
                  <a:gd name="T44" fmla="*/ 31 w 55"/>
                  <a:gd name="T45" fmla="*/ 11 h 142"/>
                  <a:gd name="T46" fmla="*/ 38 w 55"/>
                  <a:gd name="T47" fmla="*/ 7 h 142"/>
                  <a:gd name="T48" fmla="*/ 55 w 55"/>
                  <a:gd name="T49" fmla="*/ 0 h 142"/>
                  <a:gd name="T50" fmla="*/ 55 w 55"/>
                  <a:gd name="T51" fmla="*/ 0 h 142"/>
                  <a:gd name="T52" fmla="*/ 55 w 55"/>
                  <a:gd name="T53" fmla="*/ 4 h 142"/>
                  <a:gd name="T54" fmla="*/ 55 w 55"/>
                  <a:gd name="T55" fmla="*/ 4 h 142"/>
                  <a:gd name="T56" fmla="*/ 55 w 55"/>
                  <a:gd name="T57" fmla="*/ 4 h 14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55"/>
                  <a:gd name="T88" fmla="*/ 0 h 142"/>
                  <a:gd name="T89" fmla="*/ 55 w 55"/>
                  <a:gd name="T90" fmla="*/ 142 h 142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55" h="142">
                    <a:moveTo>
                      <a:pt x="55" y="4"/>
                    </a:moveTo>
                    <a:lnTo>
                      <a:pt x="41" y="11"/>
                    </a:lnTo>
                    <a:lnTo>
                      <a:pt x="31" y="18"/>
                    </a:lnTo>
                    <a:lnTo>
                      <a:pt x="24" y="28"/>
                    </a:lnTo>
                    <a:lnTo>
                      <a:pt x="17" y="38"/>
                    </a:lnTo>
                    <a:lnTo>
                      <a:pt x="14" y="45"/>
                    </a:lnTo>
                    <a:lnTo>
                      <a:pt x="14" y="56"/>
                    </a:lnTo>
                    <a:lnTo>
                      <a:pt x="17" y="69"/>
                    </a:lnTo>
                    <a:lnTo>
                      <a:pt x="17" y="107"/>
                    </a:lnTo>
                    <a:lnTo>
                      <a:pt x="10" y="125"/>
                    </a:lnTo>
                    <a:lnTo>
                      <a:pt x="7" y="132"/>
                    </a:lnTo>
                    <a:lnTo>
                      <a:pt x="3" y="142"/>
                    </a:lnTo>
                    <a:lnTo>
                      <a:pt x="0" y="142"/>
                    </a:lnTo>
                    <a:lnTo>
                      <a:pt x="7" y="121"/>
                    </a:lnTo>
                    <a:lnTo>
                      <a:pt x="7" y="107"/>
                    </a:lnTo>
                    <a:lnTo>
                      <a:pt x="3" y="69"/>
                    </a:lnTo>
                    <a:lnTo>
                      <a:pt x="7" y="35"/>
                    </a:lnTo>
                    <a:lnTo>
                      <a:pt x="14" y="28"/>
                    </a:lnTo>
                    <a:lnTo>
                      <a:pt x="17" y="21"/>
                    </a:lnTo>
                    <a:lnTo>
                      <a:pt x="21" y="18"/>
                    </a:lnTo>
                    <a:lnTo>
                      <a:pt x="27" y="14"/>
                    </a:lnTo>
                    <a:lnTo>
                      <a:pt x="31" y="11"/>
                    </a:lnTo>
                    <a:lnTo>
                      <a:pt x="38" y="7"/>
                    </a:lnTo>
                    <a:lnTo>
                      <a:pt x="55" y="0"/>
                    </a:lnTo>
                    <a:lnTo>
                      <a:pt x="55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4" name="Freeform 288"/>
              <p:cNvSpPr>
                <a:spLocks/>
              </p:cNvSpPr>
              <p:nvPr/>
            </p:nvSpPr>
            <p:spPr bwMode="auto">
              <a:xfrm>
                <a:off x="3858" y="1291"/>
                <a:ext cx="73" cy="138"/>
              </a:xfrm>
              <a:custGeom>
                <a:avLst/>
                <a:gdLst>
                  <a:gd name="T0" fmla="*/ 73 w 73"/>
                  <a:gd name="T1" fmla="*/ 0 h 138"/>
                  <a:gd name="T2" fmla="*/ 73 w 73"/>
                  <a:gd name="T3" fmla="*/ 14 h 138"/>
                  <a:gd name="T4" fmla="*/ 69 w 73"/>
                  <a:gd name="T5" fmla="*/ 21 h 138"/>
                  <a:gd name="T6" fmla="*/ 62 w 73"/>
                  <a:gd name="T7" fmla="*/ 28 h 138"/>
                  <a:gd name="T8" fmla="*/ 62 w 73"/>
                  <a:gd name="T9" fmla="*/ 38 h 138"/>
                  <a:gd name="T10" fmla="*/ 62 w 73"/>
                  <a:gd name="T11" fmla="*/ 52 h 138"/>
                  <a:gd name="T12" fmla="*/ 62 w 73"/>
                  <a:gd name="T13" fmla="*/ 66 h 138"/>
                  <a:gd name="T14" fmla="*/ 55 w 73"/>
                  <a:gd name="T15" fmla="*/ 79 h 138"/>
                  <a:gd name="T16" fmla="*/ 55 w 73"/>
                  <a:gd name="T17" fmla="*/ 83 h 138"/>
                  <a:gd name="T18" fmla="*/ 48 w 73"/>
                  <a:gd name="T19" fmla="*/ 90 h 138"/>
                  <a:gd name="T20" fmla="*/ 45 w 73"/>
                  <a:gd name="T21" fmla="*/ 97 h 138"/>
                  <a:gd name="T22" fmla="*/ 38 w 73"/>
                  <a:gd name="T23" fmla="*/ 104 h 138"/>
                  <a:gd name="T24" fmla="*/ 21 w 73"/>
                  <a:gd name="T25" fmla="*/ 121 h 138"/>
                  <a:gd name="T26" fmla="*/ 14 w 73"/>
                  <a:gd name="T27" fmla="*/ 131 h 138"/>
                  <a:gd name="T28" fmla="*/ 10 w 73"/>
                  <a:gd name="T29" fmla="*/ 135 h 138"/>
                  <a:gd name="T30" fmla="*/ 7 w 73"/>
                  <a:gd name="T31" fmla="*/ 138 h 138"/>
                  <a:gd name="T32" fmla="*/ 3 w 73"/>
                  <a:gd name="T33" fmla="*/ 138 h 138"/>
                  <a:gd name="T34" fmla="*/ 0 w 73"/>
                  <a:gd name="T35" fmla="*/ 135 h 138"/>
                  <a:gd name="T36" fmla="*/ 0 w 73"/>
                  <a:gd name="T37" fmla="*/ 131 h 138"/>
                  <a:gd name="T38" fmla="*/ 0 w 73"/>
                  <a:gd name="T39" fmla="*/ 128 h 138"/>
                  <a:gd name="T40" fmla="*/ 10 w 73"/>
                  <a:gd name="T41" fmla="*/ 117 h 138"/>
                  <a:gd name="T42" fmla="*/ 21 w 73"/>
                  <a:gd name="T43" fmla="*/ 107 h 138"/>
                  <a:gd name="T44" fmla="*/ 31 w 73"/>
                  <a:gd name="T45" fmla="*/ 97 h 138"/>
                  <a:gd name="T46" fmla="*/ 41 w 73"/>
                  <a:gd name="T47" fmla="*/ 86 h 138"/>
                  <a:gd name="T48" fmla="*/ 48 w 73"/>
                  <a:gd name="T49" fmla="*/ 76 h 138"/>
                  <a:gd name="T50" fmla="*/ 52 w 73"/>
                  <a:gd name="T51" fmla="*/ 62 h 138"/>
                  <a:gd name="T52" fmla="*/ 55 w 73"/>
                  <a:gd name="T53" fmla="*/ 52 h 138"/>
                  <a:gd name="T54" fmla="*/ 55 w 73"/>
                  <a:gd name="T55" fmla="*/ 24 h 138"/>
                  <a:gd name="T56" fmla="*/ 59 w 73"/>
                  <a:gd name="T57" fmla="*/ 21 h 138"/>
                  <a:gd name="T58" fmla="*/ 62 w 73"/>
                  <a:gd name="T59" fmla="*/ 21 h 138"/>
                  <a:gd name="T60" fmla="*/ 69 w 73"/>
                  <a:gd name="T61" fmla="*/ 14 h 138"/>
                  <a:gd name="T62" fmla="*/ 69 w 73"/>
                  <a:gd name="T63" fmla="*/ 7 h 138"/>
                  <a:gd name="T64" fmla="*/ 69 w 73"/>
                  <a:gd name="T65" fmla="*/ 0 h 138"/>
                  <a:gd name="T66" fmla="*/ 73 w 73"/>
                  <a:gd name="T67" fmla="*/ 0 h 138"/>
                  <a:gd name="T68" fmla="*/ 73 w 73"/>
                  <a:gd name="T69" fmla="*/ 0 h 138"/>
                  <a:gd name="T70" fmla="*/ 73 w 73"/>
                  <a:gd name="T71" fmla="*/ 0 h 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3"/>
                  <a:gd name="T109" fmla="*/ 0 h 138"/>
                  <a:gd name="T110" fmla="*/ 73 w 73"/>
                  <a:gd name="T111" fmla="*/ 138 h 13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3" h="138">
                    <a:moveTo>
                      <a:pt x="73" y="0"/>
                    </a:moveTo>
                    <a:lnTo>
                      <a:pt x="73" y="14"/>
                    </a:lnTo>
                    <a:lnTo>
                      <a:pt x="69" y="21"/>
                    </a:lnTo>
                    <a:lnTo>
                      <a:pt x="62" y="28"/>
                    </a:lnTo>
                    <a:lnTo>
                      <a:pt x="62" y="38"/>
                    </a:lnTo>
                    <a:lnTo>
                      <a:pt x="62" y="52"/>
                    </a:lnTo>
                    <a:lnTo>
                      <a:pt x="62" y="66"/>
                    </a:lnTo>
                    <a:lnTo>
                      <a:pt x="55" y="79"/>
                    </a:lnTo>
                    <a:lnTo>
                      <a:pt x="55" y="83"/>
                    </a:lnTo>
                    <a:lnTo>
                      <a:pt x="48" y="90"/>
                    </a:lnTo>
                    <a:lnTo>
                      <a:pt x="45" y="97"/>
                    </a:lnTo>
                    <a:lnTo>
                      <a:pt x="38" y="104"/>
                    </a:lnTo>
                    <a:lnTo>
                      <a:pt x="21" y="121"/>
                    </a:lnTo>
                    <a:lnTo>
                      <a:pt x="14" y="131"/>
                    </a:lnTo>
                    <a:lnTo>
                      <a:pt x="10" y="135"/>
                    </a:lnTo>
                    <a:lnTo>
                      <a:pt x="7" y="138"/>
                    </a:lnTo>
                    <a:lnTo>
                      <a:pt x="3" y="138"/>
                    </a:lnTo>
                    <a:lnTo>
                      <a:pt x="0" y="135"/>
                    </a:lnTo>
                    <a:lnTo>
                      <a:pt x="0" y="131"/>
                    </a:lnTo>
                    <a:lnTo>
                      <a:pt x="0" y="128"/>
                    </a:lnTo>
                    <a:lnTo>
                      <a:pt x="10" y="117"/>
                    </a:lnTo>
                    <a:lnTo>
                      <a:pt x="21" y="107"/>
                    </a:lnTo>
                    <a:lnTo>
                      <a:pt x="31" y="97"/>
                    </a:lnTo>
                    <a:lnTo>
                      <a:pt x="41" y="86"/>
                    </a:lnTo>
                    <a:lnTo>
                      <a:pt x="48" y="76"/>
                    </a:lnTo>
                    <a:lnTo>
                      <a:pt x="52" y="62"/>
                    </a:lnTo>
                    <a:lnTo>
                      <a:pt x="55" y="52"/>
                    </a:lnTo>
                    <a:lnTo>
                      <a:pt x="55" y="24"/>
                    </a:lnTo>
                    <a:lnTo>
                      <a:pt x="59" y="21"/>
                    </a:lnTo>
                    <a:lnTo>
                      <a:pt x="62" y="21"/>
                    </a:lnTo>
                    <a:lnTo>
                      <a:pt x="69" y="14"/>
                    </a:lnTo>
                    <a:lnTo>
                      <a:pt x="69" y="7"/>
                    </a:lnTo>
                    <a:lnTo>
                      <a:pt x="69" y="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5" name="Freeform 289"/>
              <p:cNvSpPr>
                <a:spLocks/>
              </p:cNvSpPr>
              <p:nvPr/>
            </p:nvSpPr>
            <p:spPr bwMode="auto">
              <a:xfrm>
                <a:off x="3730" y="1339"/>
                <a:ext cx="83" cy="111"/>
              </a:xfrm>
              <a:custGeom>
                <a:avLst/>
                <a:gdLst>
                  <a:gd name="T0" fmla="*/ 69 w 83"/>
                  <a:gd name="T1" fmla="*/ 7 h 111"/>
                  <a:gd name="T2" fmla="*/ 59 w 83"/>
                  <a:gd name="T3" fmla="*/ 7 h 111"/>
                  <a:gd name="T4" fmla="*/ 48 w 83"/>
                  <a:gd name="T5" fmla="*/ 7 h 111"/>
                  <a:gd name="T6" fmla="*/ 45 w 83"/>
                  <a:gd name="T7" fmla="*/ 14 h 111"/>
                  <a:gd name="T8" fmla="*/ 38 w 83"/>
                  <a:gd name="T9" fmla="*/ 21 h 111"/>
                  <a:gd name="T10" fmla="*/ 31 w 83"/>
                  <a:gd name="T11" fmla="*/ 31 h 111"/>
                  <a:gd name="T12" fmla="*/ 28 w 83"/>
                  <a:gd name="T13" fmla="*/ 38 h 111"/>
                  <a:gd name="T14" fmla="*/ 24 w 83"/>
                  <a:gd name="T15" fmla="*/ 45 h 111"/>
                  <a:gd name="T16" fmla="*/ 21 w 83"/>
                  <a:gd name="T17" fmla="*/ 52 h 111"/>
                  <a:gd name="T18" fmla="*/ 14 w 83"/>
                  <a:gd name="T19" fmla="*/ 59 h 111"/>
                  <a:gd name="T20" fmla="*/ 10 w 83"/>
                  <a:gd name="T21" fmla="*/ 66 h 111"/>
                  <a:gd name="T22" fmla="*/ 10 w 83"/>
                  <a:gd name="T23" fmla="*/ 80 h 111"/>
                  <a:gd name="T24" fmla="*/ 17 w 83"/>
                  <a:gd name="T25" fmla="*/ 87 h 111"/>
                  <a:gd name="T26" fmla="*/ 21 w 83"/>
                  <a:gd name="T27" fmla="*/ 90 h 111"/>
                  <a:gd name="T28" fmla="*/ 28 w 83"/>
                  <a:gd name="T29" fmla="*/ 94 h 111"/>
                  <a:gd name="T30" fmla="*/ 38 w 83"/>
                  <a:gd name="T31" fmla="*/ 97 h 111"/>
                  <a:gd name="T32" fmla="*/ 45 w 83"/>
                  <a:gd name="T33" fmla="*/ 101 h 111"/>
                  <a:gd name="T34" fmla="*/ 48 w 83"/>
                  <a:gd name="T35" fmla="*/ 104 h 111"/>
                  <a:gd name="T36" fmla="*/ 59 w 83"/>
                  <a:gd name="T37" fmla="*/ 104 h 111"/>
                  <a:gd name="T38" fmla="*/ 80 w 83"/>
                  <a:gd name="T39" fmla="*/ 104 h 111"/>
                  <a:gd name="T40" fmla="*/ 83 w 83"/>
                  <a:gd name="T41" fmla="*/ 107 h 111"/>
                  <a:gd name="T42" fmla="*/ 83 w 83"/>
                  <a:gd name="T43" fmla="*/ 107 h 111"/>
                  <a:gd name="T44" fmla="*/ 55 w 83"/>
                  <a:gd name="T45" fmla="*/ 111 h 111"/>
                  <a:gd name="T46" fmla="*/ 45 w 83"/>
                  <a:gd name="T47" fmla="*/ 107 h 111"/>
                  <a:gd name="T48" fmla="*/ 35 w 83"/>
                  <a:gd name="T49" fmla="*/ 104 h 111"/>
                  <a:gd name="T50" fmla="*/ 10 w 83"/>
                  <a:gd name="T51" fmla="*/ 94 h 111"/>
                  <a:gd name="T52" fmla="*/ 4 w 83"/>
                  <a:gd name="T53" fmla="*/ 80 h 111"/>
                  <a:gd name="T54" fmla="*/ 0 w 83"/>
                  <a:gd name="T55" fmla="*/ 66 h 111"/>
                  <a:gd name="T56" fmla="*/ 4 w 83"/>
                  <a:gd name="T57" fmla="*/ 56 h 111"/>
                  <a:gd name="T58" fmla="*/ 10 w 83"/>
                  <a:gd name="T59" fmla="*/ 49 h 111"/>
                  <a:gd name="T60" fmla="*/ 14 w 83"/>
                  <a:gd name="T61" fmla="*/ 42 h 111"/>
                  <a:gd name="T62" fmla="*/ 21 w 83"/>
                  <a:gd name="T63" fmla="*/ 35 h 111"/>
                  <a:gd name="T64" fmla="*/ 24 w 83"/>
                  <a:gd name="T65" fmla="*/ 31 h 111"/>
                  <a:gd name="T66" fmla="*/ 31 w 83"/>
                  <a:gd name="T67" fmla="*/ 24 h 111"/>
                  <a:gd name="T68" fmla="*/ 35 w 83"/>
                  <a:gd name="T69" fmla="*/ 18 h 111"/>
                  <a:gd name="T70" fmla="*/ 42 w 83"/>
                  <a:gd name="T71" fmla="*/ 11 h 111"/>
                  <a:gd name="T72" fmla="*/ 48 w 83"/>
                  <a:gd name="T73" fmla="*/ 4 h 111"/>
                  <a:gd name="T74" fmla="*/ 59 w 83"/>
                  <a:gd name="T75" fmla="*/ 0 h 111"/>
                  <a:gd name="T76" fmla="*/ 69 w 83"/>
                  <a:gd name="T77" fmla="*/ 0 h 111"/>
                  <a:gd name="T78" fmla="*/ 76 w 83"/>
                  <a:gd name="T79" fmla="*/ 4 h 111"/>
                  <a:gd name="T80" fmla="*/ 73 w 83"/>
                  <a:gd name="T81" fmla="*/ 7 h 111"/>
                  <a:gd name="T82" fmla="*/ 69 w 83"/>
                  <a:gd name="T83" fmla="*/ 7 h 111"/>
                  <a:gd name="T84" fmla="*/ 69 w 83"/>
                  <a:gd name="T85" fmla="*/ 7 h 111"/>
                  <a:gd name="T86" fmla="*/ 69 w 83"/>
                  <a:gd name="T87" fmla="*/ 7 h 11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83"/>
                  <a:gd name="T133" fmla="*/ 0 h 111"/>
                  <a:gd name="T134" fmla="*/ 83 w 83"/>
                  <a:gd name="T135" fmla="*/ 111 h 11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83" h="111">
                    <a:moveTo>
                      <a:pt x="69" y="7"/>
                    </a:moveTo>
                    <a:lnTo>
                      <a:pt x="59" y="7"/>
                    </a:lnTo>
                    <a:lnTo>
                      <a:pt x="48" y="7"/>
                    </a:lnTo>
                    <a:lnTo>
                      <a:pt x="45" y="14"/>
                    </a:lnTo>
                    <a:lnTo>
                      <a:pt x="38" y="21"/>
                    </a:lnTo>
                    <a:lnTo>
                      <a:pt x="31" y="31"/>
                    </a:lnTo>
                    <a:lnTo>
                      <a:pt x="28" y="38"/>
                    </a:lnTo>
                    <a:lnTo>
                      <a:pt x="24" y="45"/>
                    </a:lnTo>
                    <a:lnTo>
                      <a:pt x="21" y="52"/>
                    </a:lnTo>
                    <a:lnTo>
                      <a:pt x="14" y="59"/>
                    </a:lnTo>
                    <a:lnTo>
                      <a:pt x="10" y="66"/>
                    </a:lnTo>
                    <a:lnTo>
                      <a:pt x="10" y="80"/>
                    </a:lnTo>
                    <a:lnTo>
                      <a:pt x="17" y="87"/>
                    </a:lnTo>
                    <a:lnTo>
                      <a:pt x="21" y="90"/>
                    </a:lnTo>
                    <a:lnTo>
                      <a:pt x="28" y="94"/>
                    </a:lnTo>
                    <a:lnTo>
                      <a:pt x="38" y="97"/>
                    </a:lnTo>
                    <a:lnTo>
                      <a:pt x="45" y="101"/>
                    </a:lnTo>
                    <a:lnTo>
                      <a:pt x="48" y="104"/>
                    </a:lnTo>
                    <a:lnTo>
                      <a:pt x="59" y="104"/>
                    </a:lnTo>
                    <a:lnTo>
                      <a:pt x="80" y="104"/>
                    </a:lnTo>
                    <a:lnTo>
                      <a:pt x="83" y="107"/>
                    </a:lnTo>
                    <a:lnTo>
                      <a:pt x="55" y="111"/>
                    </a:lnTo>
                    <a:lnTo>
                      <a:pt x="45" y="107"/>
                    </a:lnTo>
                    <a:lnTo>
                      <a:pt x="35" y="104"/>
                    </a:lnTo>
                    <a:lnTo>
                      <a:pt x="10" y="94"/>
                    </a:lnTo>
                    <a:lnTo>
                      <a:pt x="4" y="80"/>
                    </a:lnTo>
                    <a:lnTo>
                      <a:pt x="0" y="66"/>
                    </a:lnTo>
                    <a:lnTo>
                      <a:pt x="4" y="56"/>
                    </a:lnTo>
                    <a:lnTo>
                      <a:pt x="10" y="49"/>
                    </a:lnTo>
                    <a:lnTo>
                      <a:pt x="14" y="42"/>
                    </a:lnTo>
                    <a:lnTo>
                      <a:pt x="21" y="35"/>
                    </a:lnTo>
                    <a:lnTo>
                      <a:pt x="24" y="31"/>
                    </a:lnTo>
                    <a:lnTo>
                      <a:pt x="31" y="24"/>
                    </a:lnTo>
                    <a:lnTo>
                      <a:pt x="35" y="18"/>
                    </a:lnTo>
                    <a:lnTo>
                      <a:pt x="42" y="11"/>
                    </a:lnTo>
                    <a:lnTo>
                      <a:pt x="48" y="4"/>
                    </a:lnTo>
                    <a:lnTo>
                      <a:pt x="59" y="0"/>
                    </a:lnTo>
                    <a:lnTo>
                      <a:pt x="69" y="0"/>
                    </a:lnTo>
                    <a:lnTo>
                      <a:pt x="76" y="4"/>
                    </a:lnTo>
                    <a:lnTo>
                      <a:pt x="73" y="7"/>
                    </a:lnTo>
                    <a:lnTo>
                      <a:pt x="69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6" name="Freeform 290"/>
              <p:cNvSpPr>
                <a:spLocks/>
              </p:cNvSpPr>
              <p:nvPr/>
            </p:nvSpPr>
            <p:spPr bwMode="auto">
              <a:xfrm>
                <a:off x="3785" y="1388"/>
                <a:ext cx="45" cy="58"/>
              </a:xfrm>
              <a:custGeom>
                <a:avLst/>
                <a:gdLst>
                  <a:gd name="T0" fmla="*/ 7 w 45"/>
                  <a:gd name="T1" fmla="*/ 0 h 58"/>
                  <a:gd name="T2" fmla="*/ 11 w 45"/>
                  <a:gd name="T3" fmla="*/ 17 h 58"/>
                  <a:gd name="T4" fmla="*/ 11 w 45"/>
                  <a:gd name="T5" fmla="*/ 27 h 58"/>
                  <a:gd name="T6" fmla="*/ 18 w 45"/>
                  <a:gd name="T7" fmla="*/ 34 h 58"/>
                  <a:gd name="T8" fmla="*/ 21 w 45"/>
                  <a:gd name="T9" fmla="*/ 38 h 58"/>
                  <a:gd name="T10" fmla="*/ 25 w 45"/>
                  <a:gd name="T11" fmla="*/ 45 h 58"/>
                  <a:gd name="T12" fmla="*/ 32 w 45"/>
                  <a:gd name="T13" fmla="*/ 48 h 58"/>
                  <a:gd name="T14" fmla="*/ 38 w 45"/>
                  <a:gd name="T15" fmla="*/ 52 h 58"/>
                  <a:gd name="T16" fmla="*/ 45 w 45"/>
                  <a:gd name="T17" fmla="*/ 55 h 58"/>
                  <a:gd name="T18" fmla="*/ 45 w 45"/>
                  <a:gd name="T19" fmla="*/ 58 h 58"/>
                  <a:gd name="T20" fmla="*/ 42 w 45"/>
                  <a:gd name="T21" fmla="*/ 58 h 58"/>
                  <a:gd name="T22" fmla="*/ 28 w 45"/>
                  <a:gd name="T23" fmla="*/ 52 h 58"/>
                  <a:gd name="T24" fmla="*/ 21 w 45"/>
                  <a:gd name="T25" fmla="*/ 48 h 58"/>
                  <a:gd name="T26" fmla="*/ 11 w 45"/>
                  <a:gd name="T27" fmla="*/ 38 h 58"/>
                  <a:gd name="T28" fmla="*/ 4 w 45"/>
                  <a:gd name="T29" fmla="*/ 31 h 58"/>
                  <a:gd name="T30" fmla="*/ 0 w 45"/>
                  <a:gd name="T31" fmla="*/ 17 h 58"/>
                  <a:gd name="T32" fmla="*/ 4 w 45"/>
                  <a:gd name="T33" fmla="*/ 0 h 58"/>
                  <a:gd name="T34" fmla="*/ 7 w 45"/>
                  <a:gd name="T35" fmla="*/ 0 h 58"/>
                  <a:gd name="T36" fmla="*/ 7 w 45"/>
                  <a:gd name="T37" fmla="*/ 0 h 58"/>
                  <a:gd name="T38" fmla="*/ 7 w 45"/>
                  <a:gd name="T39" fmla="*/ 0 h 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5"/>
                  <a:gd name="T61" fmla="*/ 0 h 58"/>
                  <a:gd name="T62" fmla="*/ 45 w 45"/>
                  <a:gd name="T63" fmla="*/ 58 h 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5" h="58">
                    <a:moveTo>
                      <a:pt x="7" y="0"/>
                    </a:moveTo>
                    <a:lnTo>
                      <a:pt x="11" y="17"/>
                    </a:lnTo>
                    <a:lnTo>
                      <a:pt x="11" y="27"/>
                    </a:lnTo>
                    <a:lnTo>
                      <a:pt x="18" y="34"/>
                    </a:lnTo>
                    <a:lnTo>
                      <a:pt x="21" y="38"/>
                    </a:lnTo>
                    <a:lnTo>
                      <a:pt x="25" y="45"/>
                    </a:lnTo>
                    <a:lnTo>
                      <a:pt x="32" y="48"/>
                    </a:lnTo>
                    <a:lnTo>
                      <a:pt x="38" y="52"/>
                    </a:lnTo>
                    <a:lnTo>
                      <a:pt x="45" y="55"/>
                    </a:lnTo>
                    <a:lnTo>
                      <a:pt x="45" y="58"/>
                    </a:lnTo>
                    <a:lnTo>
                      <a:pt x="42" y="58"/>
                    </a:lnTo>
                    <a:lnTo>
                      <a:pt x="28" y="52"/>
                    </a:lnTo>
                    <a:lnTo>
                      <a:pt x="21" y="48"/>
                    </a:lnTo>
                    <a:lnTo>
                      <a:pt x="11" y="38"/>
                    </a:lnTo>
                    <a:lnTo>
                      <a:pt x="4" y="31"/>
                    </a:lnTo>
                    <a:lnTo>
                      <a:pt x="0" y="17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7" name="Freeform 291"/>
              <p:cNvSpPr>
                <a:spLocks/>
              </p:cNvSpPr>
              <p:nvPr/>
            </p:nvSpPr>
            <p:spPr bwMode="auto">
              <a:xfrm>
                <a:off x="3689" y="1367"/>
                <a:ext cx="41" cy="38"/>
              </a:xfrm>
              <a:custGeom>
                <a:avLst/>
                <a:gdLst>
                  <a:gd name="T0" fmla="*/ 0 w 41"/>
                  <a:gd name="T1" fmla="*/ 0 h 38"/>
                  <a:gd name="T2" fmla="*/ 7 w 41"/>
                  <a:gd name="T3" fmla="*/ 3 h 38"/>
                  <a:gd name="T4" fmla="*/ 10 w 41"/>
                  <a:gd name="T5" fmla="*/ 7 h 38"/>
                  <a:gd name="T6" fmla="*/ 17 w 41"/>
                  <a:gd name="T7" fmla="*/ 10 h 38"/>
                  <a:gd name="T8" fmla="*/ 20 w 41"/>
                  <a:gd name="T9" fmla="*/ 14 h 38"/>
                  <a:gd name="T10" fmla="*/ 31 w 41"/>
                  <a:gd name="T11" fmla="*/ 24 h 38"/>
                  <a:gd name="T12" fmla="*/ 34 w 41"/>
                  <a:gd name="T13" fmla="*/ 28 h 38"/>
                  <a:gd name="T14" fmla="*/ 41 w 41"/>
                  <a:gd name="T15" fmla="*/ 31 h 38"/>
                  <a:gd name="T16" fmla="*/ 41 w 41"/>
                  <a:gd name="T17" fmla="*/ 35 h 38"/>
                  <a:gd name="T18" fmla="*/ 41 w 41"/>
                  <a:gd name="T19" fmla="*/ 38 h 38"/>
                  <a:gd name="T20" fmla="*/ 34 w 41"/>
                  <a:gd name="T21" fmla="*/ 38 h 38"/>
                  <a:gd name="T22" fmla="*/ 24 w 41"/>
                  <a:gd name="T23" fmla="*/ 28 h 38"/>
                  <a:gd name="T24" fmla="*/ 17 w 41"/>
                  <a:gd name="T25" fmla="*/ 21 h 38"/>
                  <a:gd name="T26" fmla="*/ 10 w 41"/>
                  <a:gd name="T27" fmla="*/ 10 h 38"/>
                  <a:gd name="T28" fmla="*/ 3 w 41"/>
                  <a:gd name="T29" fmla="*/ 7 h 38"/>
                  <a:gd name="T30" fmla="*/ 0 w 41"/>
                  <a:gd name="T31" fmla="*/ 3 h 38"/>
                  <a:gd name="T32" fmla="*/ 0 w 41"/>
                  <a:gd name="T33" fmla="*/ 0 h 38"/>
                  <a:gd name="T34" fmla="*/ 0 w 41"/>
                  <a:gd name="T35" fmla="*/ 0 h 38"/>
                  <a:gd name="T36" fmla="*/ 0 w 41"/>
                  <a:gd name="T37" fmla="*/ 0 h 38"/>
                  <a:gd name="T38" fmla="*/ 0 w 41"/>
                  <a:gd name="T39" fmla="*/ 0 h 3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1"/>
                  <a:gd name="T61" fmla="*/ 0 h 38"/>
                  <a:gd name="T62" fmla="*/ 41 w 41"/>
                  <a:gd name="T63" fmla="*/ 38 h 3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1" h="38">
                    <a:moveTo>
                      <a:pt x="0" y="0"/>
                    </a:moveTo>
                    <a:lnTo>
                      <a:pt x="7" y="3"/>
                    </a:lnTo>
                    <a:lnTo>
                      <a:pt x="10" y="7"/>
                    </a:lnTo>
                    <a:lnTo>
                      <a:pt x="17" y="10"/>
                    </a:lnTo>
                    <a:lnTo>
                      <a:pt x="20" y="14"/>
                    </a:lnTo>
                    <a:lnTo>
                      <a:pt x="31" y="24"/>
                    </a:lnTo>
                    <a:lnTo>
                      <a:pt x="34" y="28"/>
                    </a:lnTo>
                    <a:lnTo>
                      <a:pt x="41" y="31"/>
                    </a:lnTo>
                    <a:lnTo>
                      <a:pt x="41" y="35"/>
                    </a:lnTo>
                    <a:lnTo>
                      <a:pt x="41" y="38"/>
                    </a:lnTo>
                    <a:lnTo>
                      <a:pt x="34" y="38"/>
                    </a:lnTo>
                    <a:lnTo>
                      <a:pt x="24" y="28"/>
                    </a:lnTo>
                    <a:lnTo>
                      <a:pt x="17" y="21"/>
                    </a:lnTo>
                    <a:lnTo>
                      <a:pt x="10" y="10"/>
                    </a:lnTo>
                    <a:lnTo>
                      <a:pt x="3" y="7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8" name="Freeform 292"/>
              <p:cNvSpPr>
                <a:spLocks/>
              </p:cNvSpPr>
              <p:nvPr/>
            </p:nvSpPr>
            <p:spPr bwMode="auto">
              <a:xfrm>
                <a:off x="3554" y="1325"/>
                <a:ext cx="76" cy="21"/>
              </a:xfrm>
              <a:custGeom>
                <a:avLst/>
                <a:gdLst>
                  <a:gd name="T0" fmla="*/ 17 w 76"/>
                  <a:gd name="T1" fmla="*/ 0 h 21"/>
                  <a:gd name="T2" fmla="*/ 72 w 76"/>
                  <a:gd name="T3" fmla="*/ 14 h 21"/>
                  <a:gd name="T4" fmla="*/ 76 w 76"/>
                  <a:gd name="T5" fmla="*/ 18 h 21"/>
                  <a:gd name="T6" fmla="*/ 72 w 76"/>
                  <a:gd name="T7" fmla="*/ 21 h 21"/>
                  <a:gd name="T8" fmla="*/ 69 w 76"/>
                  <a:gd name="T9" fmla="*/ 21 h 21"/>
                  <a:gd name="T10" fmla="*/ 52 w 76"/>
                  <a:gd name="T11" fmla="*/ 14 h 21"/>
                  <a:gd name="T12" fmla="*/ 34 w 76"/>
                  <a:gd name="T13" fmla="*/ 11 h 21"/>
                  <a:gd name="T14" fmla="*/ 17 w 76"/>
                  <a:gd name="T15" fmla="*/ 7 h 21"/>
                  <a:gd name="T16" fmla="*/ 0 w 76"/>
                  <a:gd name="T17" fmla="*/ 4 h 21"/>
                  <a:gd name="T18" fmla="*/ 0 w 76"/>
                  <a:gd name="T19" fmla="*/ 4 h 21"/>
                  <a:gd name="T20" fmla="*/ 3 w 76"/>
                  <a:gd name="T21" fmla="*/ 4 h 21"/>
                  <a:gd name="T22" fmla="*/ 17 w 76"/>
                  <a:gd name="T23" fmla="*/ 0 h 21"/>
                  <a:gd name="T24" fmla="*/ 17 w 76"/>
                  <a:gd name="T25" fmla="*/ 0 h 21"/>
                  <a:gd name="T26" fmla="*/ 17 w 76"/>
                  <a:gd name="T27" fmla="*/ 0 h 2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6"/>
                  <a:gd name="T43" fmla="*/ 0 h 21"/>
                  <a:gd name="T44" fmla="*/ 76 w 76"/>
                  <a:gd name="T45" fmla="*/ 21 h 2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6" h="21">
                    <a:moveTo>
                      <a:pt x="17" y="0"/>
                    </a:moveTo>
                    <a:lnTo>
                      <a:pt x="72" y="14"/>
                    </a:lnTo>
                    <a:lnTo>
                      <a:pt x="76" y="18"/>
                    </a:lnTo>
                    <a:lnTo>
                      <a:pt x="72" y="21"/>
                    </a:lnTo>
                    <a:lnTo>
                      <a:pt x="69" y="21"/>
                    </a:lnTo>
                    <a:lnTo>
                      <a:pt x="52" y="14"/>
                    </a:lnTo>
                    <a:lnTo>
                      <a:pt x="34" y="11"/>
                    </a:lnTo>
                    <a:lnTo>
                      <a:pt x="17" y="7"/>
                    </a:lnTo>
                    <a:lnTo>
                      <a:pt x="0" y="4"/>
                    </a:lnTo>
                    <a:lnTo>
                      <a:pt x="3" y="4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09" name="Freeform 293"/>
              <p:cNvSpPr>
                <a:spLocks/>
              </p:cNvSpPr>
              <p:nvPr/>
            </p:nvSpPr>
            <p:spPr bwMode="auto">
              <a:xfrm>
                <a:off x="3295" y="1270"/>
                <a:ext cx="138" cy="31"/>
              </a:xfrm>
              <a:custGeom>
                <a:avLst/>
                <a:gdLst>
                  <a:gd name="T0" fmla="*/ 10 w 138"/>
                  <a:gd name="T1" fmla="*/ 0 h 31"/>
                  <a:gd name="T2" fmla="*/ 58 w 138"/>
                  <a:gd name="T3" fmla="*/ 7 h 31"/>
                  <a:gd name="T4" fmla="*/ 83 w 138"/>
                  <a:gd name="T5" fmla="*/ 14 h 31"/>
                  <a:gd name="T6" fmla="*/ 103 w 138"/>
                  <a:gd name="T7" fmla="*/ 17 h 31"/>
                  <a:gd name="T8" fmla="*/ 121 w 138"/>
                  <a:gd name="T9" fmla="*/ 21 h 31"/>
                  <a:gd name="T10" fmla="*/ 127 w 138"/>
                  <a:gd name="T11" fmla="*/ 24 h 31"/>
                  <a:gd name="T12" fmla="*/ 134 w 138"/>
                  <a:gd name="T13" fmla="*/ 28 h 31"/>
                  <a:gd name="T14" fmla="*/ 138 w 138"/>
                  <a:gd name="T15" fmla="*/ 28 h 31"/>
                  <a:gd name="T16" fmla="*/ 134 w 138"/>
                  <a:gd name="T17" fmla="*/ 31 h 31"/>
                  <a:gd name="T18" fmla="*/ 107 w 138"/>
                  <a:gd name="T19" fmla="*/ 24 h 31"/>
                  <a:gd name="T20" fmla="*/ 86 w 138"/>
                  <a:gd name="T21" fmla="*/ 21 h 31"/>
                  <a:gd name="T22" fmla="*/ 65 w 138"/>
                  <a:gd name="T23" fmla="*/ 17 h 31"/>
                  <a:gd name="T24" fmla="*/ 48 w 138"/>
                  <a:gd name="T25" fmla="*/ 14 h 31"/>
                  <a:gd name="T26" fmla="*/ 31 w 138"/>
                  <a:gd name="T27" fmla="*/ 11 h 31"/>
                  <a:gd name="T28" fmla="*/ 0 w 138"/>
                  <a:gd name="T29" fmla="*/ 7 h 31"/>
                  <a:gd name="T30" fmla="*/ 3 w 138"/>
                  <a:gd name="T31" fmla="*/ 4 h 31"/>
                  <a:gd name="T32" fmla="*/ 10 w 138"/>
                  <a:gd name="T33" fmla="*/ 0 h 31"/>
                  <a:gd name="T34" fmla="*/ 10 w 138"/>
                  <a:gd name="T35" fmla="*/ 0 h 31"/>
                  <a:gd name="T36" fmla="*/ 10 w 138"/>
                  <a:gd name="T37" fmla="*/ 0 h 3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38"/>
                  <a:gd name="T58" fmla="*/ 0 h 31"/>
                  <a:gd name="T59" fmla="*/ 138 w 138"/>
                  <a:gd name="T60" fmla="*/ 31 h 3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38" h="31">
                    <a:moveTo>
                      <a:pt x="10" y="0"/>
                    </a:moveTo>
                    <a:lnTo>
                      <a:pt x="58" y="7"/>
                    </a:lnTo>
                    <a:lnTo>
                      <a:pt x="83" y="14"/>
                    </a:lnTo>
                    <a:lnTo>
                      <a:pt x="103" y="17"/>
                    </a:lnTo>
                    <a:lnTo>
                      <a:pt x="121" y="21"/>
                    </a:lnTo>
                    <a:lnTo>
                      <a:pt x="127" y="24"/>
                    </a:lnTo>
                    <a:lnTo>
                      <a:pt x="134" y="28"/>
                    </a:lnTo>
                    <a:lnTo>
                      <a:pt x="138" y="28"/>
                    </a:lnTo>
                    <a:lnTo>
                      <a:pt x="134" y="31"/>
                    </a:lnTo>
                    <a:lnTo>
                      <a:pt x="107" y="24"/>
                    </a:lnTo>
                    <a:lnTo>
                      <a:pt x="86" y="21"/>
                    </a:lnTo>
                    <a:lnTo>
                      <a:pt x="65" y="17"/>
                    </a:lnTo>
                    <a:lnTo>
                      <a:pt x="48" y="14"/>
                    </a:lnTo>
                    <a:lnTo>
                      <a:pt x="31" y="11"/>
                    </a:lnTo>
                    <a:lnTo>
                      <a:pt x="0" y="7"/>
                    </a:lnTo>
                    <a:lnTo>
                      <a:pt x="3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0" name="Freeform 294"/>
              <p:cNvSpPr>
                <a:spLocks/>
              </p:cNvSpPr>
              <p:nvPr/>
            </p:nvSpPr>
            <p:spPr bwMode="auto">
              <a:xfrm>
                <a:off x="3678" y="1052"/>
                <a:ext cx="14" cy="63"/>
              </a:xfrm>
              <a:custGeom>
                <a:avLst/>
                <a:gdLst>
                  <a:gd name="T0" fmla="*/ 4 w 14"/>
                  <a:gd name="T1" fmla="*/ 0 h 63"/>
                  <a:gd name="T2" fmla="*/ 4 w 14"/>
                  <a:gd name="T3" fmla="*/ 25 h 63"/>
                  <a:gd name="T4" fmla="*/ 4 w 14"/>
                  <a:gd name="T5" fmla="*/ 28 h 63"/>
                  <a:gd name="T6" fmla="*/ 7 w 14"/>
                  <a:gd name="T7" fmla="*/ 32 h 63"/>
                  <a:gd name="T8" fmla="*/ 11 w 14"/>
                  <a:gd name="T9" fmla="*/ 38 h 63"/>
                  <a:gd name="T10" fmla="*/ 14 w 14"/>
                  <a:gd name="T11" fmla="*/ 52 h 63"/>
                  <a:gd name="T12" fmla="*/ 11 w 14"/>
                  <a:gd name="T13" fmla="*/ 63 h 63"/>
                  <a:gd name="T14" fmla="*/ 4 w 14"/>
                  <a:gd name="T15" fmla="*/ 63 h 63"/>
                  <a:gd name="T16" fmla="*/ 4 w 14"/>
                  <a:gd name="T17" fmla="*/ 52 h 63"/>
                  <a:gd name="T18" fmla="*/ 4 w 14"/>
                  <a:gd name="T19" fmla="*/ 42 h 63"/>
                  <a:gd name="T20" fmla="*/ 0 w 14"/>
                  <a:gd name="T21" fmla="*/ 25 h 63"/>
                  <a:gd name="T22" fmla="*/ 0 w 14"/>
                  <a:gd name="T23" fmla="*/ 0 h 63"/>
                  <a:gd name="T24" fmla="*/ 4 w 14"/>
                  <a:gd name="T25" fmla="*/ 0 h 63"/>
                  <a:gd name="T26" fmla="*/ 4 w 14"/>
                  <a:gd name="T27" fmla="*/ 0 h 63"/>
                  <a:gd name="T28" fmla="*/ 4 w 14"/>
                  <a:gd name="T29" fmla="*/ 0 h 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"/>
                  <a:gd name="T46" fmla="*/ 0 h 63"/>
                  <a:gd name="T47" fmla="*/ 14 w 14"/>
                  <a:gd name="T48" fmla="*/ 63 h 6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" h="63">
                    <a:moveTo>
                      <a:pt x="4" y="0"/>
                    </a:moveTo>
                    <a:lnTo>
                      <a:pt x="4" y="25"/>
                    </a:lnTo>
                    <a:lnTo>
                      <a:pt x="4" y="28"/>
                    </a:lnTo>
                    <a:lnTo>
                      <a:pt x="7" y="32"/>
                    </a:lnTo>
                    <a:lnTo>
                      <a:pt x="11" y="38"/>
                    </a:lnTo>
                    <a:lnTo>
                      <a:pt x="14" y="52"/>
                    </a:lnTo>
                    <a:lnTo>
                      <a:pt x="11" y="63"/>
                    </a:lnTo>
                    <a:lnTo>
                      <a:pt x="4" y="63"/>
                    </a:lnTo>
                    <a:lnTo>
                      <a:pt x="4" y="52"/>
                    </a:lnTo>
                    <a:lnTo>
                      <a:pt x="4" y="42"/>
                    </a:lnTo>
                    <a:lnTo>
                      <a:pt x="0" y="25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1" name="Freeform 295"/>
              <p:cNvSpPr>
                <a:spLocks/>
              </p:cNvSpPr>
              <p:nvPr/>
            </p:nvSpPr>
            <p:spPr bwMode="auto">
              <a:xfrm>
                <a:off x="3682" y="1132"/>
                <a:ext cx="31" cy="10"/>
              </a:xfrm>
              <a:custGeom>
                <a:avLst/>
                <a:gdLst>
                  <a:gd name="T0" fmla="*/ 3 w 31"/>
                  <a:gd name="T1" fmla="*/ 0 h 10"/>
                  <a:gd name="T2" fmla="*/ 20 w 31"/>
                  <a:gd name="T3" fmla="*/ 3 h 10"/>
                  <a:gd name="T4" fmla="*/ 27 w 31"/>
                  <a:gd name="T5" fmla="*/ 3 h 10"/>
                  <a:gd name="T6" fmla="*/ 31 w 31"/>
                  <a:gd name="T7" fmla="*/ 3 h 10"/>
                  <a:gd name="T8" fmla="*/ 27 w 31"/>
                  <a:gd name="T9" fmla="*/ 7 h 10"/>
                  <a:gd name="T10" fmla="*/ 20 w 31"/>
                  <a:gd name="T11" fmla="*/ 10 h 10"/>
                  <a:gd name="T12" fmla="*/ 3 w 31"/>
                  <a:gd name="T13" fmla="*/ 3 h 10"/>
                  <a:gd name="T14" fmla="*/ 0 w 31"/>
                  <a:gd name="T15" fmla="*/ 3 h 10"/>
                  <a:gd name="T16" fmla="*/ 3 w 31"/>
                  <a:gd name="T17" fmla="*/ 0 h 10"/>
                  <a:gd name="T18" fmla="*/ 3 w 31"/>
                  <a:gd name="T19" fmla="*/ 0 h 10"/>
                  <a:gd name="T20" fmla="*/ 3 w 31"/>
                  <a:gd name="T21" fmla="*/ 0 h 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1"/>
                  <a:gd name="T34" fmla="*/ 0 h 10"/>
                  <a:gd name="T35" fmla="*/ 31 w 31"/>
                  <a:gd name="T36" fmla="*/ 10 h 1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1" h="10">
                    <a:moveTo>
                      <a:pt x="3" y="0"/>
                    </a:moveTo>
                    <a:lnTo>
                      <a:pt x="20" y="3"/>
                    </a:lnTo>
                    <a:lnTo>
                      <a:pt x="27" y="3"/>
                    </a:lnTo>
                    <a:lnTo>
                      <a:pt x="31" y="3"/>
                    </a:lnTo>
                    <a:lnTo>
                      <a:pt x="27" y="7"/>
                    </a:lnTo>
                    <a:lnTo>
                      <a:pt x="20" y="10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2" name="Freeform 296"/>
              <p:cNvSpPr>
                <a:spLocks/>
              </p:cNvSpPr>
              <p:nvPr/>
            </p:nvSpPr>
            <p:spPr bwMode="auto">
              <a:xfrm>
                <a:off x="3689" y="1139"/>
                <a:ext cx="24" cy="48"/>
              </a:xfrm>
              <a:custGeom>
                <a:avLst/>
                <a:gdLst>
                  <a:gd name="T0" fmla="*/ 7 w 24"/>
                  <a:gd name="T1" fmla="*/ 0 h 48"/>
                  <a:gd name="T2" fmla="*/ 10 w 24"/>
                  <a:gd name="T3" fmla="*/ 17 h 48"/>
                  <a:gd name="T4" fmla="*/ 13 w 24"/>
                  <a:gd name="T5" fmla="*/ 24 h 48"/>
                  <a:gd name="T6" fmla="*/ 20 w 24"/>
                  <a:gd name="T7" fmla="*/ 34 h 48"/>
                  <a:gd name="T8" fmla="*/ 24 w 24"/>
                  <a:gd name="T9" fmla="*/ 45 h 48"/>
                  <a:gd name="T10" fmla="*/ 24 w 24"/>
                  <a:gd name="T11" fmla="*/ 45 h 48"/>
                  <a:gd name="T12" fmla="*/ 24 w 24"/>
                  <a:gd name="T13" fmla="*/ 48 h 48"/>
                  <a:gd name="T14" fmla="*/ 20 w 24"/>
                  <a:gd name="T15" fmla="*/ 48 h 48"/>
                  <a:gd name="T16" fmla="*/ 10 w 24"/>
                  <a:gd name="T17" fmla="*/ 38 h 48"/>
                  <a:gd name="T18" fmla="*/ 7 w 24"/>
                  <a:gd name="T19" fmla="*/ 21 h 48"/>
                  <a:gd name="T20" fmla="*/ 0 w 24"/>
                  <a:gd name="T21" fmla="*/ 0 h 48"/>
                  <a:gd name="T22" fmla="*/ 3 w 24"/>
                  <a:gd name="T23" fmla="*/ 0 h 48"/>
                  <a:gd name="T24" fmla="*/ 7 w 24"/>
                  <a:gd name="T25" fmla="*/ 0 h 48"/>
                  <a:gd name="T26" fmla="*/ 7 w 24"/>
                  <a:gd name="T27" fmla="*/ 0 h 48"/>
                  <a:gd name="T28" fmla="*/ 7 w 24"/>
                  <a:gd name="T29" fmla="*/ 0 h 4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48"/>
                  <a:gd name="T47" fmla="*/ 24 w 24"/>
                  <a:gd name="T48" fmla="*/ 48 h 4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48">
                    <a:moveTo>
                      <a:pt x="7" y="0"/>
                    </a:moveTo>
                    <a:lnTo>
                      <a:pt x="10" y="17"/>
                    </a:lnTo>
                    <a:lnTo>
                      <a:pt x="13" y="24"/>
                    </a:lnTo>
                    <a:lnTo>
                      <a:pt x="20" y="34"/>
                    </a:lnTo>
                    <a:lnTo>
                      <a:pt x="24" y="45"/>
                    </a:lnTo>
                    <a:lnTo>
                      <a:pt x="24" y="48"/>
                    </a:lnTo>
                    <a:lnTo>
                      <a:pt x="20" y="48"/>
                    </a:lnTo>
                    <a:lnTo>
                      <a:pt x="10" y="38"/>
                    </a:lnTo>
                    <a:lnTo>
                      <a:pt x="7" y="21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3" name="Freeform 297"/>
              <p:cNvSpPr>
                <a:spLocks/>
              </p:cNvSpPr>
              <p:nvPr/>
            </p:nvSpPr>
            <p:spPr bwMode="auto">
              <a:xfrm>
                <a:off x="3706" y="1153"/>
                <a:ext cx="28" cy="7"/>
              </a:xfrm>
              <a:custGeom>
                <a:avLst/>
                <a:gdLst>
                  <a:gd name="T0" fmla="*/ 3 w 28"/>
                  <a:gd name="T1" fmla="*/ 0 h 7"/>
                  <a:gd name="T2" fmla="*/ 14 w 28"/>
                  <a:gd name="T3" fmla="*/ 0 h 7"/>
                  <a:gd name="T4" fmla="*/ 24 w 28"/>
                  <a:gd name="T5" fmla="*/ 0 h 7"/>
                  <a:gd name="T6" fmla="*/ 28 w 28"/>
                  <a:gd name="T7" fmla="*/ 3 h 7"/>
                  <a:gd name="T8" fmla="*/ 28 w 28"/>
                  <a:gd name="T9" fmla="*/ 3 h 7"/>
                  <a:gd name="T10" fmla="*/ 24 w 28"/>
                  <a:gd name="T11" fmla="*/ 7 h 7"/>
                  <a:gd name="T12" fmla="*/ 3 w 28"/>
                  <a:gd name="T13" fmla="*/ 3 h 7"/>
                  <a:gd name="T14" fmla="*/ 0 w 28"/>
                  <a:gd name="T15" fmla="*/ 0 h 7"/>
                  <a:gd name="T16" fmla="*/ 3 w 28"/>
                  <a:gd name="T17" fmla="*/ 0 h 7"/>
                  <a:gd name="T18" fmla="*/ 3 w 28"/>
                  <a:gd name="T19" fmla="*/ 0 h 7"/>
                  <a:gd name="T20" fmla="*/ 3 w 28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8"/>
                  <a:gd name="T34" fmla="*/ 0 h 7"/>
                  <a:gd name="T35" fmla="*/ 28 w 28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8" h="7">
                    <a:moveTo>
                      <a:pt x="3" y="0"/>
                    </a:moveTo>
                    <a:lnTo>
                      <a:pt x="14" y="0"/>
                    </a:lnTo>
                    <a:lnTo>
                      <a:pt x="24" y="0"/>
                    </a:lnTo>
                    <a:lnTo>
                      <a:pt x="28" y="3"/>
                    </a:lnTo>
                    <a:lnTo>
                      <a:pt x="24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4" name="Freeform 298"/>
              <p:cNvSpPr>
                <a:spLocks/>
              </p:cNvSpPr>
              <p:nvPr/>
            </p:nvSpPr>
            <p:spPr bwMode="auto">
              <a:xfrm>
                <a:off x="2745" y="1287"/>
                <a:ext cx="166" cy="56"/>
              </a:xfrm>
              <a:custGeom>
                <a:avLst/>
                <a:gdLst>
                  <a:gd name="T0" fmla="*/ 0 w 166"/>
                  <a:gd name="T1" fmla="*/ 52 h 56"/>
                  <a:gd name="T2" fmla="*/ 31 w 166"/>
                  <a:gd name="T3" fmla="*/ 38 h 56"/>
                  <a:gd name="T4" fmla="*/ 45 w 166"/>
                  <a:gd name="T5" fmla="*/ 35 h 56"/>
                  <a:gd name="T6" fmla="*/ 52 w 166"/>
                  <a:gd name="T7" fmla="*/ 32 h 56"/>
                  <a:gd name="T8" fmla="*/ 66 w 166"/>
                  <a:gd name="T9" fmla="*/ 28 h 56"/>
                  <a:gd name="T10" fmla="*/ 80 w 166"/>
                  <a:gd name="T11" fmla="*/ 21 h 56"/>
                  <a:gd name="T12" fmla="*/ 86 w 166"/>
                  <a:gd name="T13" fmla="*/ 18 h 56"/>
                  <a:gd name="T14" fmla="*/ 97 w 166"/>
                  <a:gd name="T15" fmla="*/ 14 h 56"/>
                  <a:gd name="T16" fmla="*/ 100 w 166"/>
                  <a:gd name="T17" fmla="*/ 14 h 56"/>
                  <a:gd name="T18" fmla="*/ 118 w 166"/>
                  <a:gd name="T19" fmla="*/ 11 h 56"/>
                  <a:gd name="T20" fmla="*/ 131 w 166"/>
                  <a:gd name="T21" fmla="*/ 7 h 56"/>
                  <a:gd name="T22" fmla="*/ 145 w 166"/>
                  <a:gd name="T23" fmla="*/ 4 h 56"/>
                  <a:gd name="T24" fmla="*/ 159 w 166"/>
                  <a:gd name="T25" fmla="*/ 0 h 56"/>
                  <a:gd name="T26" fmla="*/ 163 w 166"/>
                  <a:gd name="T27" fmla="*/ 0 h 56"/>
                  <a:gd name="T28" fmla="*/ 166 w 166"/>
                  <a:gd name="T29" fmla="*/ 4 h 56"/>
                  <a:gd name="T30" fmla="*/ 166 w 166"/>
                  <a:gd name="T31" fmla="*/ 7 h 56"/>
                  <a:gd name="T32" fmla="*/ 159 w 166"/>
                  <a:gd name="T33" fmla="*/ 11 h 56"/>
                  <a:gd name="T34" fmla="*/ 104 w 166"/>
                  <a:gd name="T35" fmla="*/ 21 h 56"/>
                  <a:gd name="T36" fmla="*/ 100 w 166"/>
                  <a:gd name="T37" fmla="*/ 25 h 56"/>
                  <a:gd name="T38" fmla="*/ 69 w 166"/>
                  <a:gd name="T39" fmla="*/ 35 h 56"/>
                  <a:gd name="T40" fmla="*/ 38 w 166"/>
                  <a:gd name="T41" fmla="*/ 45 h 56"/>
                  <a:gd name="T42" fmla="*/ 28 w 166"/>
                  <a:gd name="T43" fmla="*/ 49 h 56"/>
                  <a:gd name="T44" fmla="*/ 7 w 166"/>
                  <a:gd name="T45" fmla="*/ 56 h 56"/>
                  <a:gd name="T46" fmla="*/ 0 w 166"/>
                  <a:gd name="T47" fmla="*/ 52 h 56"/>
                  <a:gd name="T48" fmla="*/ 0 w 166"/>
                  <a:gd name="T49" fmla="*/ 52 h 56"/>
                  <a:gd name="T50" fmla="*/ 0 w 166"/>
                  <a:gd name="T51" fmla="*/ 52 h 5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66"/>
                  <a:gd name="T79" fmla="*/ 0 h 56"/>
                  <a:gd name="T80" fmla="*/ 166 w 166"/>
                  <a:gd name="T81" fmla="*/ 56 h 5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66" h="56">
                    <a:moveTo>
                      <a:pt x="0" y="52"/>
                    </a:moveTo>
                    <a:lnTo>
                      <a:pt x="31" y="38"/>
                    </a:lnTo>
                    <a:lnTo>
                      <a:pt x="45" y="35"/>
                    </a:lnTo>
                    <a:lnTo>
                      <a:pt x="52" y="32"/>
                    </a:lnTo>
                    <a:lnTo>
                      <a:pt x="66" y="28"/>
                    </a:lnTo>
                    <a:lnTo>
                      <a:pt x="80" y="21"/>
                    </a:lnTo>
                    <a:lnTo>
                      <a:pt x="86" y="18"/>
                    </a:lnTo>
                    <a:lnTo>
                      <a:pt x="97" y="14"/>
                    </a:lnTo>
                    <a:lnTo>
                      <a:pt x="100" y="14"/>
                    </a:lnTo>
                    <a:lnTo>
                      <a:pt x="118" y="11"/>
                    </a:lnTo>
                    <a:lnTo>
                      <a:pt x="131" y="7"/>
                    </a:lnTo>
                    <a:lnTo>
                      <a:pt x="145" y="4"/>
                    </a:lnTo>
                    <a:lnTo>
                      <a:pt x="159" y="0"/>
                    </a:lnTo>
                    <a:lnTo>
                      <a:pt x="163" y="0"/>
                    </a:lnTo>
                    <a:lnTo>
                      <a:pt x="166" y="4"/>
                    </a:lnTo>
                    <a:lnTo>
                      <a:pt x="166" y="7"/>
                    </a:lnTo>
                    <a:lnTo>
                      <a:pt x="159" y="11"/>
                    </a:lnTo>
                    <a:lnTo>
                      <a:pt x="104" y="21"/>
                    </a:lnTo>
                    <a:lnTo>
                      <a:pt x="100" y="25"/>
                    </a:lnTo>
                    <a:lnTo>
                      <a:pt x="69" y="35"/>
                    </a:lnTo>
                    <a:lnTo>
                      <a:pt x="38" y="45"/>
                    </a:lnTo>
                    <a:lnTo>
                      <a:pt x="28" y="49"/>
                    </a:lnTo>
                    <a:lnTo>
                      <a:pt x="7" y="56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5" name="Freeform 299"/>
              <p:cNvSpPr>
                <a:spLocks/>
              </p:cNvSpPr>
              <p:nvPr/>
            </p:nvSpPr>
            <p:spPr bwMode="auto">
              <a:xfrm>
                <a:off x="3039" y="1256"/>
                <a:ext cx="24" cy="11"/>
              </a:xfrm>
              <a:custGeom>
                <a:avLst/>
                <a:gdLst>
                  <a:gd name="T0" fmla="*/ 3 w 24"/>
                  <a:gd name="T1" fmla="*/ 0 h 11"/>
                  <a:gd name="T2" fmla="*/ 21 w 24"/>
                  <a:gd name="T3" fmla="*/ 0 h 11"/>
                  <a:gd name="T4" fmla="*/ 24 w 24"/>
                  <a:gd name="T5" fmla="*/ 0 h 11"/>
                  <a:gd name="T6" fmla="*/ 24 w 24"/>
                  <a:gd name="T7" fmla="*/ 4 h 11"/>
                  <a:gd name="T8" fmla="*/ 14 w 24"/>
                  <a:gd name="T9" fmla="*/ 7 h 11"/>
                  <a:gd name="T10" fmla="*/ 3 w 24"/>
                  <a:gd name="T11" fmla="*/ 11 h 11"/>
                  <a:gd name="T12" fmla="*/ 0 w 24"/>
                  <a:gd name="T13" fmla="*/ 11 h 11"/>
                  <a:gd name="T14" fmla="*/ 0 w 24"/>
                  <a:gd name="T15" fmla="*/ 7 h 11"/>
                  <a:gd name="T16" fmla="*/ 0 w 24"/>
                  <a:gd name="T17" fmla="*/ 4 h 11"/>
                  <a:gd name="T18" fmla="*/ 3 w 24"/>
                  <a:gd name="T19" fmla="*/ 0 h 11"/>
                  <a:gd name="T20" fmla="*/ 3 w 24"/>
                  <a:gd name="T21" fmla="*/ 0 h 11"/>
                  <a:gd name="T22" fmla="*/ 3 w 24"/>
                  <a:gd name="T23" fmla="*/ 0 h 1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11"/>
                  <a:gd name="T38" fmla="*/ 24 w 24"/>
                  <a:gd name="T39" fmla="*/ 11 h 1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11">
                    <a:moveTo>
                      <a:pt x="3" y="0"/>
                    </a:moveTo>
                    <a:lnTo>
                      <a:pt x="21" y="0"/>
                    </a:lnTo>
                    <a:lnTo>
                      <a:pt x="24" y="0"/>
                    </a:lnTo>
                    <a:lnTo>
                      <a:pt x="24" y="4"/>
                    </a:lnTo>
                    <a:lnTo>
                      <a:pt x="14" y="7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6" name="Freeform 300"/>
              <p:cNvSpPr>
                <a:spLocks/>
              </p:cNvSpPr>
              <p:nvPr/>
            </p:nvSpPr>
            <p:spPr bwMode="auto">
              <a:xfrm>
                <a:off x="2783" y="1315"/>
                <a:ext cx="135" cy="45"/>
              </a:xfrm>
              <a:custGeom>
                <a:avLst/>
                <a:gdLst>
                  <a:gd name="T0" fmla="*/ 135 w 135"/>
                  <a:gd name="T1" fmla="*/ 4 h 45"/>
                  <a:gd name="T2" fmla="*/ 121 w 135"/>
                  <a:gd name="T3" fmla="*/ 10 h 45"/>
                  <a:gd name="T4" fmla="*/ 111 w 135"/>
                  <a:gd name="T5" fmla="*/ 14 h 45"/>
                  <a:gd name="T6" fmla="*/ 100 w 135"/>
                  <a:gd name="T7" fmla="*/ 21 h 45"/>
                  <a:gd name="T8" fmla="*/ 86 w 135"/>
                  <a:gd name="T9" fmla="*/ 24 h 45"/>
                  <a:gd name="T10" fmla="*/ 4 w 135"/>
                  <a:gd name="T11" fmla="*/ 45 h 45"/>
                  <a:gd name="T12" fmla="*/ 0 w 135"/>
                  <a:gd name="T13" fmla="*/ 45 h 45"/>
                  <a:gd name="T14" fmla="*/ 4 w 135"/>
                  <a:gd name="T15" fmla="*/ 42 h 45"/>
                  <a:gd name="T16" fmla="*/ 14 w 135"/>
                  <a:gd name="T17" fmla="*/ 38 h 45"/>
                  <a:gd name="T18" fmla="*/ 24 w 135"/>
                  <a:gd name="T19" fmla="*/ 35 h 45"/>
                  <a:gd name="T20" fmla="*/ 42 w 135"/>
                  <a:gd name="T21" fmla="*/ 28 h 45"/>
                  <a:gd name="T22" fmla="*/ 62 w 135"/>
                  <a:gd name="T23" fmla="*/ 21 h 45"/>
                  <a:gd name="T24" fmla="*/ 83 w 135"/>
                  <a:gd name="T25" fmla="*/ 14 h 45"/>
                  <a:gd name="T26" fmla="*/ 131 w 135"/>
                  <a:gd name="T27" fmla="*/ 0 h 45"/>
                  <a:gd name="T28" fmla="*/ 135 w 135"/>
                  <a:gd name="T29" fmla="*/ 4 h 45"/>
                  <a:gd name="T30" fmla="*/ 135 w 135"/>
                  <a:gd name="T31" fmla="*/ 4 h 45"/>
                  <a:gd name="T32" fmla="*/ 135 w 135"/>
                  <a:gd name="T33" fmla="*/ 4 h 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35"/>
                  <a:gd name="T52" fmla="*/ 0 h 45"/>
                  <a:gd name="T53" fmla="*/ 135 w 135"/>
                  <a:gd name="T54" fmla="*/ 45 h 4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35" h="45">
                    <a:moveTo>
                      <a:pt x="135" y="4"/>
                    </a:moveTo>
                    <a:lnTo>
                      <a:pt x="121" y="10"/>
                    </a:lnTo>
                    <a:lnTo>
                      <a:pt x="111" y="14"/>
                    </a:lnTo>
                    <a:lnTo>
                      <a:pt x="100" y="21"/>
                    </a:lnTo>
                    <a:lnTo>
                      <a:pt x="86" y="24"/>
                    </a:lnTo>
                    <a:lnTo>
                      <a:pt x="4" y="45"/>
                    </a:lnTo>
                    <a:lnTo>
                      <a:pt x="0" y="45"/>
                    </a:lnTo>
                    <a:lnTo>
                      <a:pt x="4" y="42"/>
                    </a:lnTo>
                    <a:lnTo>
                      <a:pt x="14" y="38"/>
                    </a:lnTo>
                    <a:lnTo>
                      <a:pt x="24" y="35"/>
                    </a:lnTo>
                    <a:lnTo>
                      <a:pt x="42" y="28"/>
                    </a:lnTo>
                    <a:lnTo>
                      <a:pt x="62" y="21"/>
                    </a:lnTo>
                    <a:lnTo>
                      <a:pt x="83" y="14"/>
                    </a:lnTo>
                    <a:lnTo>
                      <a:pt x="131" y="0"/>
                    </a:lnTo>
                    <a:lnTo>
                      <a:pt x="135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7" name="Freeform 301"/>
              <p:cNvSpPr>
                <a:spLocks/>
              </p:cNvSpPr>
              <p:nvPr/>
            </p:nvSpPr>
            <p:spPr bwMode="auto">
              <a:xfrm>
                <a:off x="2918" y="1360"/>
                <a:ext cx="79" cy="10"/>
              </a:xfrm>
              <a:custGeom>
                <a:avLst/>
                <a:gdLst>
                  <a:gd name="T0" fmla="*/ 3 w 79"/>
                  <a:gd name="T1" fmla="*/ 7 h 10"/>
                  <a:gd name="T2" fmla="*/ 28 w 79"/>
                  <a:gd name="T3" fmla="*/ 0 h 10"/>
                  <a:gd name="T4" fmla="*/ 52 w 79"/>
                  <a:gd name="T5" fmla="*/ 0 h 10"/>
                  <a:gd name="T6" fmla="*/ 79 w 79"/>
                  <a:gd name="T7" fmla="*/ 3 h 10"/>
                  <a:gd name="T8" fmla="*/ 79 w 79"/>
                  <a:gd name="T9" fmla="*/ 3 h 10"/>
                  <a:gd name="T10" fmla="*/ 79 w 79"/>
                  <a:gd name="T11" fmla="*/ 7 h 10"/>
                  <a:gd name="T12" fmla="*/ 52 w 79"/>
                  <a:gd name="T13" fmla="*/ 7 h 10"/>
                  <a:gd name="T14" fmla="*/ 28 w 79"/>
                  <a:gd name="T15" fmla="*/ 7 h 10"/>
                  <a:gd name="T16" fmla="*/ 3 w 79"/>
                  <a:gd name="T17" fmla="*/ 10 h 10"/>
                  <a:gd name="T18" fmla="*/ 0 w 79"/>
                  <a:gd name="T19" fmla="*/ 7 h 10"/>
                  <a:gd name="T20" fmla="*/ 3 w 79"/>
                  <a:gd name="T21" fmla="*/ 7 h 10"/>
                  <a:gd name="T22" fmla="*/ 3 w 79"/>
                  <a:gd name="T23" fmla="*/ 7 h 10"/>
                  <a:gd name="T24" fmla="*/ 3 w 79"/>
                  <a:gd name="T25" fmla="*/ 7 h 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9"/>
                  <a:gd name="T40" fmla="*/ 0 h 10"/>
                  <a:gd name="T41" fmla="*/ 79 w 79"/>
                  <a:gd name="T42" fmla="*/ 10 h 1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9" h="10">
                    <a:moveTo>
                      <a:pt x="3" y="7"/>
                    </a:moveTo>
                    <a:lnTo>
                      <a:pt x="28" y="0"/>
                    </a:lnTo>
                    <a:lnTo>
                      <a:pt x="52" y="0"/>
                    </a:lnTo>
                    <a:lnTo>
                      <a:pt x="79" y="3"/>
                    </a:lnTo>
                    <a:lnTo>
                      <a:pt x="79" y="7"/>
                    </a:lnTo>
                    <a:lnTo>
                      <a:pt x="52" y="7"/>
                    </a:lnTo>
                    <a:lnTo>
                      <a:pt x="28" y="7"/>
                    </a:lnTo>
                    <a:lnTo>
                      <a:pt x="3" y="10"/>
                    </a:lnTo>
                    <a:lnTo>
                      <a:pt x="0" y="7"/>
                    </a:ln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8" name="Freeform 302"/>
              <p:cNvSpPr>
                <a:spLocks/>
              </p:cNvSpPr>
              <p:nvPr/>
            </p:nvSpPr>
            <p:spPr bwMode="auto">
              <a:xfrm>
                <a:off x="3001" y="1357"/>
                <a:ext cx="66" cy="17"/>
              </a:xfrm>
              <a:custGeom>
                <a:avLst/>
                <a:gdLst>
                  <a:gd name="T0" fmla="*/ 3 w 66"/>
                  <a:gd name="T1" fmla="*/ 0 h 17"/>
                  <a:gd name="T2" fmla="*/ 17 w 66"/>
                  <a:gd name="T3" fmla="*/ 0 h 17"/>
                  <a:gd name="T4" fmla="*/ 31 w 66"/>
                  <a:gd name="T5" fmla="*/ 0 h 17"/>
                  <a:gd name="T6" fmla="*/ 41 w 66"/>
                  <a:gd name="T7" fmla="*/ 3 h 17"/>
                  <a:gd name="T8" fmla="*/ 48 w 66"/>
                  <a:gd name="T9" fmla="*/ 6 h 17"/>
                  <a:gd name="T10" fmla="*/ 55 w 66"/>
                  <a:gd name="T11" fmla="*/ 10 h 17"/>
                  <a:gd name="T12" fmla="*/ 66 w 66"/>
                  <a:gd name="T13" fmla="*/ 10 h 17"/>
                  <a:gd name="T14" fmla="*/ 66 w 66"/>
                  <a:gd name="T15" fmla="*/ 13 h 17"/>
                  <a:gd name="T16" fmla="*/ 66 w 66"/>
                  <a:gd name="T17" fmla="*/ 13 h 17"/>
                  <a:gd name="T18" fmla="*/ 55 w 66"/>
                  <a:gd name="T19" fmla="*/ 17 h 17"/>
                  <a:gd name="T20" fmla="*/ 41 w 66"/>
                  <a:gd name="T21" fmla="*/ 10 h 17"/>
                  <a:gd name="T22" fmla="*/ 38 w 66"/>
                  <a:gd name="T23" fmla="*/ 6 h 17"/>
                  <a:gd name="T24" fmla="*/ 31 w 66"/>
                  <a:gd name="T25" fmla="*/ 3 h 17"/>
                  <a:gd name="T26" fmla="*/ 14 w 66"/>
                  <a:gd name="T27" fmla="*/ 3 h 17"/>
                  <a:gd name="T28" fmla="*/ 0 w 66"/>
                  <a:gd name="T29" fmla="*/ 3 h 17"/>
                  <a:gd name="T30" fmla="*/ 0 w 66"/>
                  <a:gd name="T31" fmla="*/ 0 h 17"/>
                  <a:gd name="T32" fmla="*/ 3 w 66"/>
                  <a:gd name="T33" fmla="*/ 0 h 17"/>
                  <a:gd name="T34" fmla="*/ 3 w 66"/>
                  <a:gd name="T35" fmla="*/ 0 h 17"/>
                  <a:gd name="T36" fmla="*/ 3 w 66"/>
                  <a:gd name="T37" fmla="*/ 0 h 1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6"/>
                  <a:gd name="T58" fmla="*/ 0 h 17"/>
                  <a:gd name="T59" fmla="*/ 66 w 66"/>
                  <a:gd name="T60" fmla="*/ 17 h 1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6" h="17">
                    <a:moveTo>
                      <a:pt x="3" y="0"/>
                    </a:moveTo>
                    <a:lnTo>
                      <a:pt x="17" y="0"/>
                    </a:lnTo>
                    <a:lnTo>
                      <a:pt x="31" y="0"/>
                    </a:lnTo>
                    <a:lnTo>
                      <a:pt x="41" y="3"/>
                    </a:lnTo>
                    <a:lnTo>
                      <a:pt x="48" y="6"/>
                    </a:lnTo>
                    <a:lnTo>
                      <a:pt x="55" y="10"/>
                    </a:lnTo>
                    <a:lnTo>
                      <a:pt x="66" y="10"/>
                    </a:lnTo>
                    <a:lnTo>
                      <a:pt x="66" y="13"/>
                    </a:lnTo>
                    <a:lnTo>
                      <a:pt x="55" y="17"/>
                    </a:lnTo>
                    <a:lnTo>
                      <a:pt x="41" y="10"/>
                    </a:lnTo>
                    <a:lnTo>
                      <a:pt x="38" y="6"/>
                    </a:lnTo>
                    <a:lnTo>
                      <a:pt x="31" y="3"/>
                    </a:lnTo>
                    <a:lnTo>
                      <a:pt x="14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19" name="Freeform 303"/>
              <p:cNvSpPr>
                <a:spLocks/>
              </p:cNvSpPr>
              <p:nvPr/>
            </p:nvSpPr>
            <p:spPr bwMode="auto">
              <a:xfrm>
                <a:off x="2914" y="1374"/>
                <a:ext cx="135" cy="14"/>
              </a:xfrm>
              <a:custGeom>
                <a:avLst/>
                <a:gdLst>
                  <a:gd name="T0" fmla="*/ 4 w 135"/>
                  <a:gd name="T1" fmla="*/ 3 h 14"/>
                  <a:gd name="T2" fmla="*/ 32 w 135"/>
                  <a:gd name="T3" fmla="*/ 3 h 14"/>
                  <a:gd name="T4" fmla="*/ 63 w 135"/>
                  <a:gd name="T5" fmla="*/ 3 h 14"/>
                  <a:gd name="T6" fmla="*/ 87 w 135"/>
                  <a:gd name="T7" fmla="*/ 3 h 14"/>
                  <a:gd name="T8" fmla="*/ 132 w 135"/>
                  <a:gd name="T9" fmla="*/ 0 h 14"/>
                  <a:gd name="T10" fmla="*/ 135 w 135"/>
                  <a:gd name="T11" fmla="*/ 3 h 14"/>
                  <a:gd name="T12" fmla="*/ 132 w 135"/>
                  <a:gd name="T13" fmla="*/ 3 h 14"/>
                  <a:gd name="T14" fmla="*/ 111 w 135"/>
                  <a:gd name="T15" fmla="*/ 7 h 14"/>
                  <a:gd name="T16" fmla="*/ 87 w 135"/>
                  <a:gd name="T17" fmla="*/ 10 h 14"/>
                  <a:gd name="T18" fmla="*/ 63 w 135"/>
                  <a:gd name="T19" fmla="*/ 14 h 14"/>
                  <a:gd name="T20" fmla="*/ 35 w 135"/>
                  <a:gd name="T21" fmla="*/ 10 h 14"/>
                  <a:gd name="T22" fmla="*/ 18 w 135"/>
                  <a:gd name="T23" fmla="*/ 7 h 14"/>
                  <a:gd name="T24" fmla="*/ 4 w 135"/>
                  <a:gd name="T25" fmla="*/ 7 h 14"/>
                  <a:gd name="T26" fmla="*/ 0 w 135"/>
                  <a:gd name="T27" fmla="*/ 3 h 14"/>
                  <a:gd name="T28" fmla="*/ 4 w 135"/>
                  <a:gd name="T29" fmla="*/ 3 h 14"/>
                  <a:gd name="T30" fmla="*/ 4 w 135"/>
                  <a:gd name="T31" fmla="*/ 3 h 14"/>
                  <a:gd name="T32" fmla="*/ 4 w 135"/>
                  <a:gd name="T33" fmla="*/ 3 h 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35"/>
                  <a:gd name="T52" fmla="*/ 0 h 14"/>
                  <a:gd name="T53" fmla="*/ 135 w 135"/>
                  <a:gd name="T54" fmla="*/ 14 h 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35" h="14">
                    <a:moveTo>
                      <a:pt x="4" y="3"/>
                    </a:moveTo>
                    <a:lnTo>
                      <a:pt x="32" y="3"/>
                    </a:lnTo>
                    <a:lnTo>
                      <a:pt x="63" y="3"/>
                    </a:lnTo>
                    <a:lnTo>
                      <a:pt x="87" y="3"/>
                    </a:lnTo>
                    <a:lnTo>
                      <a:pt x="132" y="0"/>
                    </a:lnTo>
                    <a:lnTo>
                      <a:pt x="135" y="3"/>
                    </a:lnTo>
                    <a:lnTo>
                      <a:pt x="132" y="3"/>
                    </a:lnTo>
                    <a:lnTo>
                      <a:pt x="111" y="7"/>
                    </a:lnTo>
                    <a:lnTo>
                      <a:pt x="87" y="10"/>
                    </a:lnTo>
                    <a:lnTo>
                      <a:pt x="63" y="14"/>
                    </a:lnTo>
                    <a:lnTo>
                      <a:pt x="35" y="10"/>
                    </a:lnTo>
                    <a:lnTo>
                      <a:pt x="18" y="7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0" name="Freeform 304"/>
              <p:cNvSpPr>
                <a:spLocks/>
              </p:cNvSpPr>
              <p:nvPr/>
            </p:nvSpPr>
            <p:spPr bwMode="auto">
              <a:xfrm>
                <a:off x="3039" y="1343"/>
                <a:ext cx="69" cy="27"/>
              </a:xfrm>
              <a:custGeom>
                <a:avLst/>
                <a:gdLst>
                  <a:gd name="T0" fmla="*/ 0 w 69"/>
                  <a:gd name="T1" fmla="*/ 0 h 27"/>
                  <a:gd name="T2" fmla="*/ 14 w 69"/>
                  <a:gd name="T3" fmla="*/ 0 h 27"/>
                  <a:gd name="T4" fmla="*/ 28 w 69"/>
                  <a:gd name="T5" fmla="*/ 7 h 27"/>
                  <a:gd name="T6" fmla="*/ 38 w 69"/>
                  <a:gd name="T7" fmla="*/ 14 h 27"/>
                  <a:gd name="T8" fmla="*/ 52 w 69"/>
                  <a:gd name="T9" fmla="*/ 20 h 27"/>
                  <a:gd name="T10" fmla="*/ 66 w 69"/>
                  <a:gd name="T11" fmla="*/ 24 h 27"/>
                  <a:gd name="T12" fmla="*/ 69 w 69"/>
                  <a:gd name="T13" fmla="*/ 27 h 27"/>
                  <a:gd name="T14" fmla="*/ 66 w 69"/>
                  <a:gd name="T15" fmla="*/ 27 h 27"/>
                  <a:gd name="T16" fmla="*/ 34 w 69"/>
                  <a:gd name="T17" fmla="*/ 20 h 27"/>
                  <a:gd name="T18" fmla="*/ 24 w 69"/>
                  <a:gd name="T19" fmla="*/ 14 h 27"/>
                  <a:gd name="T20" fmla="*/ 10 w 69"/>
                  <a:gd name="T21" fmla="*/ 7 h 27"/>
                  <a:gd name="T22" fmla="*/ 7 w 69"/>
                  <a:gd name="T23" fmla="*/ 3 h 27"/>
                  <a:gd name="T24" fmla="*/ 0 w 69"/>
                  <a:gd name="T25" fmla="*/ 0 h 27"/>
                  <a:gd name="T26" fmla="*/ 0 w 69"/>
                  <a:gd name="T27" fmla="*/ 0 h 27"/>
                  <a:gd name="T28" fmla="*/ 0 w 69"/>
                  <a:gd name="T29" fmla="*/ 0 h 27"/>
                  <a:gd name="T30" fmla="*/ 0 w 69"/>
                  <a:gd name="T31" fmla="*/ 0 h 27"/>
                  <a:gd name="T32" fmla="*/ 0 w 69"/>
                  <a:gd name="T33" fmla="*/ 0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9"/>
                  <a:gd name="T52" fmla="*/ 0 h 27"/>
                  <a:gd name="T53" fmla="*/ 69 w 69"/>
                  <a:gd name="T54" fmla="*/ 27 h 2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9" h="27">
                    <a:moveTo>
                      <a:pt x="0" y="0"/>
                    </a:moveTo>
                    <a:lnTo>
                      <a:pt x="14" y="0"/>
                    </a:lnTo>
                    <a:lnTo>
                      <a:pt x="28" y="7"/>
                    </a:lnTo>
                    <a:lnTo>
                      <a:pt x="38" y="14"/>
                    </a:lnTo>
                    <a:lnTo>
                      <a:pt x="52" y="20"/>
                    </a:lnTo>
                    <a:lnTo>
                      <a:pt x="66" y="24"/>
                    </a:lnTo>
                    <a:lnTo>
                      <a:pt x="69" y="27"/>
                    </a:lnTo>
                    <a:lnTo>
                      <a:pt x="66" y="27"/>
                    </a:lnTo>
                    <a:lnTo>
                      <a:pt x="34" y="20"/>
                    </a:lnTo>
                    <a:lnTo>
                      <a:pt x="24" y="14"/>
                    </a:lnTo>
                    <a:lnTo>
                      <a:pt x="10" y="7"/>
                    </a:lnTo>
                    <a:lnTo>
                      <a:pt x="7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1" name="Freeform 305"/>
              <p:cNvSpPr>
                <a:spLocks/>
              </p:cNvSpPr>
              <p:nvPr/>
            </p:nvSpPr>
            <p:spPr bwMode="auto">
              <a:xfrm>
                <a:off x="3277" y="1267"/>
                <a:ext cx="45" cy="155"/>
              </a:xfrm>
              <a:custGeom>
                <a:avLst/>
                <a:gdLst>
                  <a:gd name="T0" fmla="*/ 4 w 45"/>
                  <a:gd name="T1" fmla="*/ 3 h 155"/>
                  <a:gd name="T2" fmla="*/ 14 w 45"/>
                  <a:gd name="T3" fmla="*/ 34 h 155"/>
                  <a:gd name="T4" fmla="*/ 21 w 45"/>
                  <a:gd name="T5" fmla="*/ 65 h 155"/>
                  <a:gd name="T6" fmla="*/ 28 w 45"/>
                  <a:gd name="T7" fmla="*/ 90 h 155"/>
                  <a:gd name="T8" fmla="*/ 28 w 45"/>
                  <a:gd name="T9" fmla="*/ 103 h 155"/>
                  <a:gd name="T10" fmla="*/ 35 w 45"/>
                  <a:gd name="T11" fmla="*/ 117 h 155"/>
                  <a:gd name="T12" fmla="*/ 38 w 45"/>
                  <a:gd name="T13" fmla="*/ 128 h 155"/>
                  <a:gd name="T14" fmla="*/ 45 w 45"/>
                  <a:gd name="T15" fmla="*/ 141 h 155"/>
                  <a:gd name="T16" fmla="*/ 45 w 45"/>
                  <a:gd name="T17" fmla="*/ 152 h 155"/>
                  <a:gd name="T18" fmla="*/ 45 w 45"/>
                  <a:gd name="T19" fmla="*/ 155 h 155"/>
                  <a:gd name="T20" fmla="*/ 42 w 45"/>
                  <a:gd name="T21" fmla="*/ 155 h 155"/>
                  <a:gd name="T22" fmla="*/ 38 w 45"/>
                  <a:gd name="T23" fmla="*/ 152 h 155"/>
                  <a:gd name="T24" fmla="*/ 38 w 45"/>
                  <a:gd name="T25" fmla="*/ 145 h 155"/>
                  <a:gd name="T26" fmla="*/ 31 w 45"/>
                  <a:gd name="T27" fmla="*/ 131 h 155"/>
                  <a:gd name="T28" fmla="*/ 25 w 45"/>
                  <a:gd name="T29" fmla="*/ 117 h 155"/>
                  <a:gd name="T30" fmla="*/ 21 w 45"/>
                  <a:gd name="T31" fmla="*/ 93 h 155"/>
                  <a:gd name="T32" fmla="*/ 18 w 45"/>
                  <a:gd name="T33" fmla="*/ 65 h 155"/>
                  <a:gd name="T34" fmla="*/ 14 w 45"/>
                  <a:gd name="T35" fmla="*/ 52 h 155"/>
                  <a:gd name="T36" fmla="*/ 11 w 45"/>
                  <a:gd name="T37" fmla="*/ 34 h 155"/>
                  <a:gd name="T38" fmla="*/ 0 w 45"/>
                  <a:gd name="T39" fmla="*/ 3 h 155"/>
                  <a:gd name="T40" fmla="*/ 4 w 45"/>
                  <a:gd name="T41" fmla="*/ 0 h 155"/>
                  <a:gd name="T42" fmla="*/ 4 w 45"/>
                  <a:gd name="T43" fmla="*/ 3 h 155"/>
                  <a:gd name="T44" fmla="*/ 4 w 45"/>
                  <a:gd name="T45" fmla="*/ 3 h 155"/>
                  <a:gd name="T46" fmla="*/ 4 w 45"/>
                  <a:gd name="T47" fmla="*/ 3 h 15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5"/>
                  <a:gd name="T73" fmla="*/ 0 h 155"/>
                  <a:gd name="T74" fmla="*/ 45 w 45"/>
                  <a:gd name="T75" fmla="*/ 155 h 15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5" h="155">
                    <a:moveTo>
                      <a:pt x="4" y="3"/>
                    </a:moveTo>
                    <a:lnTo>
                      <a:pt x="14" y="34"/>
                    </a:lnTo>
                    <a:lnTo>
                      <a:pt x="21" y="65"/>
                    </a:lnTo>
                    <a:lnTo>
                      <a:pt x="28" y="90"/>
                    </a:lnTo>
                    <a:lnTo>
                      <a:pt x="28" y="103"/>
                    </a:lnTo>
                    <a:lnTo>
                      <a:pt x="35" y="117"/>
                    </a:lnTo>
                    <a:lnTo>
                      <a:pt x="38" y="128"/>
                    </a:lnTo>
                    <a:lnTo>
                      <a:pt x="45" y="141"/>
                    </a:lnTo>
                    <a:lnTo>
                      <a:pt x="45" y="152"/>
                    </a:lnTo>
                    <a:lnTo>
                      <a:pt x="45" y="155"/>
                    </a:lnTo>
                    <a:lnTo>
                      <a:pt x="42" y="155"/>
                    </a:lnTo>
                    <a:lnTo>
                      <a:pt x="38" y="152"/>
                    </a:lnTo>
                    <a:lnTo>
                      <a:pt x="38" y="145"/>
                    </a:lnTo>
                    <a:lnTo>
                      <a:pt x="31" y="131"/>
                    </a:lnTo>
                    <a:lnTo>
                      <a:pt x="25" y="117"/>
                    </a:lnTo>
                    <a:lnTo>
                      <a:pt x="21" y="93"/>
                    </a:lnTo>
                    <a:lnTo>
                      <a:pt x="18" y="65"/>
                    </a:lnTo>
                    <a:lnTo>
                      <a:pt x="14" y="52"/>
                    </a:lnTo>
                    <a:lnTo>
                      <a:pt x="11" y="34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2" name="Freeform 306"/>
              <p:cNvSpPr>
                <a:spLocks/>
              </p:cNvSpPr>
              <p:nvPr/>
            </p:nvSpPr>
            <p:spPr bwMode="auto">
              <a:xfrm>
                <a:off x="3250" y="1284"/>
                <a:ext cx="41" cy="145"/>
              </a:xfrm>
              <a:custGeom>
                <a:avLst/>
                <a:gdLst>
                  <a:gd name="T0" fmla="*/ 3 w 41"/>
                  <a:gd name="T1" fmla="*/ 0 h 145"/>
                  <a:gd name="T2" fmla="*/ 7 w 41"/>
                  <a:gd name="T3" fmla="*/ 21 h 145"/>
                  <a:gd name="T4" fmla="*/ 10 w 41"/>
                  <a:gd name="T5" fmla="*/ 41 h 145"/>
                  <a:gd name="T6" fmla="*/ 14 w 41"/>
                  <a:gd name="T7" fmla="*/ 62 h 145"/>
                  <a:gd name="T8" fmla="*/ 17 w 41"/>
                  <a:gd name="T9" fmla="*/ 76 h 145"/>
                  <a:gd name="T10" fmla="*/ 24 w 41"/>
                  <a:gd name="T11" fmla="*/ 93 h 145"/>
                  <a:gd name="T12" fmla="*/ 27 w 41"/>
                  <a:gd name="T13" fmla="*/ 100 h 145"/>
                  <a:gd name="T14" fmla="*/ 31 w 41"/>
                  <a:gd name="T15" fmla="*/ 111 h 145"/>
                  <a:gd name="T16" fmla="*/ 38 w 41"/>
                  <a:gd name="T17" fmla="*/ 124 h 145"/>
                  <a:gd name="T18" fmla="*/ 41 w 41"/>
                  <a:gd name="T19" fmla="*/ 138 h 145"/>
                  <a:gd name="T20" fmla="*/ 41 w 41"/>
                  <a:gd name="T21" fmla="*/ 142 h 145"/>
                  <a:gd name="T22" fmla="*/ 38 w 41"/>
                  <a:gd name="T23" fmla="*/ 145 h 145"/>
                  <a:gd name="T24" fmla="*/ 31 w 41"/>
                  <a:gd name="T25" fmla="*/ 142 h 145"/>
                  <a:gd name="T26" fmla="*/ 27 w 41"/>
                  <a:gd name="T27" fmla="*/ 128 h 145"/>
                  <a:gd name="T28" fmla="*/ 24 w 41"/>
                  <a:gd name="T29" fmla="*/ 114 h 145"/>
                  <a:gd name="T30" fmla="*/ 10 w 41"/>
                  <a:gd name="T31" fmla="*/ 79 h 145"/>
                  <a:gd name="T32" fmla="*/ 7 w 41"/>
                  <a:gd name="T33" fmla="*/ 41 h 145"/>
                  <a:gd name="T34" fmla="*/ 3 w 41"/>
                  <a:gd name="T35" fmla="*/ 21 h 145"/>
                  <a:gd name="T36" fmla="*/ 0 w 41"/>
                  <a:gd name="T37" fmla="*/ 0 h 145"/>
                  <a:gd name="T38" fmla="*/ 0 w 41"/>
                  <a:gd name="T39" fmla="*/ 0 h 145"/>
                  <a:gd name="T40" fmla="*/ 3 w 41"/>
                  <a:gd name="T41" fmla="*/ 0 h 145"/>
                  <a:gd name="T42" fmla="*/ 3 w 41"/>
                  <a:gd name="T43" fmla="*/ 0 h 145"/>
                  <a:gd name="T44" fmla="*/ 3 w 41"/>
                  <a:gd name="T45" fmla="*/ 0 h 14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1"/>
                  <a:gd name="T70" fmla="*/ 0 h 145"/>
                  <a:gd name="T71" fmla="*/ 41 w 41"/>
                  <a:gd name="T72" fmla="*/ 145 h 14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1" h="145">
                    <a:moveTo>
                      <a:pt x="3" y="0"/>
                    </a:moveTo>
                    <a:lnTo>
                      <a:pt x="7" y="21"/>
                    </a:lnTo>
                    <a:lnTo>
                      <a:pt x="10" y="41"/>
                    </a:lnTo>
                    <a:lnTo>
                      <a:pt x="14" y="62"/>
                    </a:lnTo>
                    <a:lnTo>
                      <a:pt x="17" y="76"/>
                    </a:lnTo>
                    <a:lnTo>
                      <a:pt x="24" y="93"/>
                    </a:lnTo>
                    <a:lnTo>
                      <a:pt x="27" y="100"/>
                    </a:lnTo>
                    <a:lnTo>
                      <a:pt x="31" y="111"/>
                    </a:lnTo>
                    <a:lnTo>
                      <a:pt x="38" y="124"/>
                    </a:lnTo>
                    <a:lnTo>
                      <a:pt x="41" y="138"/>
                    </a:lnTo>
                    <a:lnTo>
                      <a:pt x="41" y="142"/>
                    </a:lnTo>
                    <a:lnTo>
                      <a:pt x="38" y="145"/>
                    </a:lnTo>
                    <a:lnTo>
                      <a:pt x="31" y="142"/>
                    </a:lnTo>
                    <a:lnTo>
                      <a:pt x="27" y="128"/>
                    </a:lnTo>
                    <a:lnTo>
                      <a:pt x="24" y="114"/>
                    </a:lnTo>
                    <a:lnTo>
                      <a:pt x="10" y="79"/>
                    </a:lnTo>
                    <a:lnTo>
                      <a:pt x="7" y="41"/>
                    </a:lnTo>
                    <a:lnTo>
                      <a:pt x="3" y="21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3" name="Freeform 307"/>
              <p:cNvSpPr>
                <a:spLocks/>
              </p:cNvSpPr>
              <p:nvPr/>
            </p:nvSpPr>
            <p:spPr bwMode="auto">
              <a:xfrm>
                <a:off x="3281" y="1422"/>
                <a:ext cx="21" cy="14"/>
              </a:xfrm>
              <a:custGeom>
                <a:avLst/>
                <a:gdLst>
                  <a:gd name="T0" fmla="*/ 3 w 21"/>
                  <a:gd name="T1" fmla="*/ 4 h 14"/>
                  <a:gd name="T2" fmla="*/ 21 w 21"/>
                  <a:gd name="T3" fmla="*/ 0 h 14"/>
                  <a:gd name="T4" fmla="*/ 21 w 21"/>
                  <a:gd name="T5" fmla="*/ 4 h 14"/>
                  <a:gd name="T6" fmla="*/ 14 w 21"/>
                  <a:gd name="T7" fmla="*/ 7 h 14"/>
                  <a:gd name="T8" fmla="*/ 7 w 21"/>
                  <a:gd name="T9" fmla="*/ 14 h 14"/>
                  <a:gd name="T10" fmla="*/ 0 w 21"/>
                  <a:gd name="T11" fmla="*/ 11 h 14"/>
                  <a:gd name="T12" fmla="*/ 0 w 21"/>
                  <a:gd name="T13" fmla="*/ 7 h 14"/>
                  <a:gd name="T14" fmla="*/ 3 w 21"/>
                  <a:gd name="T15" fmla="*/ 4 h 14"/>
                  <a:gd name="T16" fmla="*/ 3 w 21"/>
                  <a:gd name="T17" fmla="*/ 4 h 14"/>
                  <a:gd name="T18" fmla="*/ 3 w 21"/>
                  <a:gd name="T19" fmla="*/ 4 h 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"/>
                  <a:gd name="T31" fmla="*/ 0 h 14"/>
                  <a:gd name="T32" fmla="*/ 21 w 21"/>
                  <a:gd name="T33" fmla="*/ 14 h 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" h="14">
                    <a:moveTo>
                      <a:pt x="3" y="4"/>
                    </a:moveTo>
                    <a:lnTo>
                      <a:pt x="21" y="0"/>
                    </a:lnTo>
                    <a:lnTo>
                      <a:pt x="21" y="4"/>
                    </a:lnTo>
                    <a:lnTo>
                      <a:pt x="14" y="7"/>
                    </a:lnTo>
                    <a:lnTo>
                      <a:pt x="7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4" name="Freeform 308"/>
              <p:cNvSpPr>
                <a:spLocks/>
              </p:cNvSpPr>
              <p:nvPr/>
            </p:nvSpPr>
            <p:spPr bwMode="auto">
              <a:xfrm>
                <a:off x="3146" y="1405"/>
                <a:ext cx="152" cy="62"/>
              </a:xfrm>
              <a:custGeom>
                <a:avLst/>
                <a:gdLst>
                  <a:gd name="T0" fmla="*/ 3 w 152"/>
                  <a:gd name="T1" fmla="*/ 0 h 62"/>
                  <a:gd name="T2" fmla="*/ 21 w 152"/>
                  <a:gd name="T3" fmla="*/ 7 h 62"/>
                  <a:gd name="T4" fmla="*/ 35 w 152"/>
                  <a:gd name="T5" fmla="*/ 14 h 62"/>
                  <a:gd name="T6" fmla="*/ 48 w 152"/>
                  <a:gd name="T7" fmla="*/ 17 h 62"/>
                  <a:gd name="T8" fmla="*/ 62 w 152"/>
                  <a:gd name="T9" fmla="*/ 24 h 62"/>
                  <a:gd name="T10" fmla="*/ 76 w 152"/>
                  <a:gd name="T11" fmla="*/ 28 h 62"/>
                  <a:gd name="T12" fmla="*/ 90 w 152"/>
                  <a:gd name="T13" fmla="*/ 35 h 62"/>
                  <a:gd name="T14" fmla="*/ 104 w 152"/>
                  <a:gd name="T15" fmla="*/ 38 h 62"/>
                  <a:gd name="T16" fmla="*/ 121 w 152"/>
                  <a:gd name="T17" fmla="*/ 45 h 62"/>
                  <a:gd name="T18" fmla="*/ 135 w 152"/>
                  <a:gd name="T19" fmla="*/ 48 h 62"/>
                  <a:gd name="T20" fmla="*/ 149 w 152"/>
                  <a:gd name="T21" fmla="*/ 52 h 62"/>
                  <a:gd name="T22" fmla="*/ 152 w 152"/>
                  <a:gd name="T23" fmla="*/ 55 h 62"/>
                  <a:gd name="T24" fmla="*/ 152 w 152"/>
                  <a:gd name="T25" fmla="*/ 59 h 62"/>
                  <a:gd name="T26" fmla="*/ 152 w 152"/>
                  <a:gd name="T27" fmla="*/ 62 h 62"/>
                  <a:gd name="T28" fmla="*/ 145 w 152"/>
                  <a:gd name="T29" fmla="*/ 62 h 62"/>
                  <a:gd name="T30" fmla="*/ 131 w 152"/>
                  <a:gd name="T31" fmla="*/ 59 h 62"/>
                  <a:gd name="T32" fmla="*/ 124 w 152"/>
                  <a:gd name="T33" fmla="*/ 55 h 62"/>
                  <a:gd name="T34" fmla="*/ 118 w 152"/>
                  <a:gd name="T35" fmla="*/ 52 h 62"/>
                  <a:gd name="T36" fmla="*/ 100 w 152"/>
                  <a:gd name="T37" fmla="*/ 45 h 62"/>
                  <a:gd name="T38" fmla="*/ 86 w 152"/>
                  <a:gd name="T39" fmla="*/ 41 h 62"/>
                  <a:gd name="T40" fmla="*/ 73 w 152"/>
                  <a:gd name="T41" fmla="*/ 35 h 62"/>
                  <a:gd name="T42" fmla="*/ 59 w 152"/>
                  <a:gd name="T43" fmla="*/ 28 h 62"/>
                  <a:gd name="T44" fmla="*/ 45 w 152"/>
                  <a:gd name="T45" fmla="*/ 24 h 62"/>
                  <a:gd name="T46" fmla="*/ 31 w 152"/>
                  <a:gd name="T47" fmla="*/ 17 h 62"/>
                  <a:gd name="T48" fmla="*/ 17 w 152"/>
                  <a:gd name="T49" fmla="*/ 10 h 62"/>
                  <a:gd name="T50" fmla="*/ 0 w 152"/>
                  <a:gd name="T51" fmla="*/ 3 h 62"/>
                  <a:gd name="T52" fmla="*/ 0 w 152"/>
                  <a:gd name="T53" fmla="*/ 0 h 62"/>
                  <a:gd name="T54" fmla="*/ 3 w 152"/>
                  <a:gd name="T55" fmla="*/ 0 h 62"/>
                  <a:gd name="T56" fmla="*/ 3 w 152"/>
                  <a:gd name="T57" fmla="*/ 0 h 62"/>
                  <a:gd name="T58" fmla="*/ 3 w 152"/>
                  <a:gd name="T59" fmla="*/ 0 h 6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52"/>
                  <a:gd name="T91" fmla="*/ 0 h 62"/>
                  <a:gd name="T92" fmla="*/ 152 w 152"/>
                  <a:gd name="T93" fmla="*/ 62 h 6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52" h="62">
                    <a:moveTo>
                      <a:pt x="3" y="0"/>
                    </a:moveTo>
                    <a:lnTo>
                      <a:pt x="21" y="7"/>
                    </a:lnTo>
                    <a:lnTo>
                      <a:pt x="35" y="14"/>
                    </a:lnTo>
                    <a:lnTo>
                      <a:pt x="48" y="17"/>
                    </a:lnTo>
                    <a:lnTo>
                      <a:pt x="62" y="24"/>
                    </a:lnTo>
                    <a:lnTo>
                      <a:pt x="76" y="28"/>
                    </a:lnTo>
                    <a:lnTo>
                      <a:pt x="90" y="35"/>
                    </a:lnTo>
                    <a:lnTo>
                      <a:pt x="104" y="38"/>
                    </a:lnTo>
                    <a:lnTo>
                      <a:pt x="121" y="45"/>
                    </a:lnTo>
                    <a:lnTo>
                      <a:pt x="135" y="48"/>
                    </a:lnTo>
                    <a:lnTo>
                      <a:pt x="149" y="52"/>
                    </a:lnTo>
                    <a:lnTo>
                      <a:pt x="152" y="55"/>
                    </a:lnTo>
                    <a:lnTo>
                      <a:pt x="152" y="59"/>
                    </a:lnTo>
                    <a:lnTo>
                      <a:pt x="152" y="62"/>
                    </a:lnTo>
                    <a:lnTo>
                      <a:pt x="145" y="62"/>
                    </a:lnTo>
                    <a:lnTo>
                      <a:pt x="131" y="59"/>
                    </a:lnTo>
                    <a:lnTo>
                      <a:pt x="124" y="55"/>
                    </a:lnTo>
                    <a:lnTo>
                      <a:pt x="118" y="52"/>
                    </a:lnTo>
                    <a:lnTo>
                      <a:pt x="100" y="45"/>
                    </a:lnTo>
                    <a:lnTo>
                      <a:pt x="86" y="41"/>
                    </a:lnTo>
                    <a:lnTo>
                      <a:pt x="73" y="35"/>
                    </a:lnTo>
                    <a:lnTo>
                      <a:pt x="59" y="28"/>
                    </a:lnTo>
                    <a:lnTo>
                      <a:pt x="45" y="24"/>
                    </a:lnTo>
                    <a:lnTo>
                      <a:pt x="31" y="17"/>
                    </a:lnTo>
                    <a:lnTo>
                      <a:pt x="17" y="10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5" name="Freeform 309"/>
              <p:cNvSpPr>
                <a:spLocks/>
              </p:cNvSpPr>
              <p:nvPr/>
            </p:nvSpPr>
            <p:spPr bwMode="auto">
              <a:xfrm>
                <a:off x="3305" y="1408"/>
                <a:ext cx="135" cy="63"/>
              </a:xfrm>
              <a:custGeom>
                <a:avLst/>
                <a:gdLst>
                  <a:gd name="T0" fmla="*/ 135 w 135"/>
                  <a:gd name="T1" fmla="*/ 4 h 63"/>
                  <a:gd name="T2" fmla="*/ 121 w 135"/>
                  <a:gd name="T3" fmla="*/ 11 h 63"/>
                  <a:gd name="T4" fmla="*/ 111 w 135"/>
                  <a:gd name="T5" fmla="*/ 14 h 63"/>
                  <a:gd name="T6" fmla="*/ 97 w 135"/>
                  <a:gd name="T7" fmla="*/ 21 h 63"/>
                  <a:gd name="T8" fmla="*/ 86 w 135"/>
                  <a:gd name="T9" fmla="*/ 28 h 63"/>
                  <a:gd name="T10" fmla="*/ 73 w 135"/>
                  <a:gd name="T11" fmla="*/ 32 h 63"/>
                  <a:gd name="T12" fmla="*/ 62 w 135"/>
                  <a:gd name="T13" fmla="*/ 38 h 63"/>
                  <a:gd name="T14" fmla="*/ 52 w 135"/>
                  <a:gd name="T15" fmla="*/ 42 h 63"/>
                  <a:gd name="T16" fmla="*/ 38 w 135"/>
                  <a:gd name="T17" fmla="*/ 49 h 63"/>
                  <a:gd name="T18" fmla="*/ 28 w 135"/>
                  <a:gd name="T19" fmla="*/ 52 h 63"/>
                  <a:gd name="T20" fmla="*/ 14 w 135"/>
                  <a:gd name="T21" fmla="*/ 59 h 63"/>
                  <a:gd name="T22" fmla="*/ 7 w 135"/>
                  <a:gd name="T23" fmla="*/ 63 h 63"/>
                  <a:gd name="T24" fmla="*/ 0 w 135"/>
                  <a:gd name="T25" fmla="*/ 59 h 63"/>
                  <a:gd name="T26" fmla="*/ 0 w 135"/>
                  <a:gd name="T27" fmla="*/ 59 h 63"/>
                  <a:gd name="T28" fmla="*/ 0 w 135"/>
                  <a:gd name="T29" fmla="*/ 56 h 63"/>
                  <a:gd name="T30" fmla="*/ 3 w 135"/>
                  <a:gd name="T31" fmla="*/ 52 h 63"/>
                  <a:gd name="T32" fmla="*/ 10 w 135"/>
                  <a:gd name="T33" fmla="*/ 49 h 63"/>
                  <a:gd name="T34" fmla="*/ 24 w 135"/>
                  <a:gd name="T35" fmla="*/ 42 h 63"/>
                  <a:gd name="T36" fmla="*/ 35 w 135"/>
                  <a:gd name="T37" fmla="*/ 38 h 63"/>
                  <a:gd name="T38" fmla="*/ 48 w 135"/>
                  <a:gd name="T39" fmla="*/ 35 h 63"/>
                  <a:gd name="T40" fmla="*/ 59 w 135"/>
                  <a:gd name="T41" fmla="*/ 32 h 63"/>
                  <a:gd name="T42" fmla="*/ 69 w 135"/>
                  <a:gd name="T43" fmla="*/ 25 h 63"/>
                  <a:gd name="T44" fmla="*/ 83 w 135"/>
                  <a:gd name="T45" fmla="*/ 21 h 63"/>
                  <a:gd name="T46" fmla="*/ 93 w 135"/>
                  <a:gd name="T47" fmla="*/ 18 h 63"/>
                  <a:gd name="T48" fmla="*/ 107 w 135"/>
                  <a:gd name="T49" fmla="*/ 11 h 63"/>
                  <a:gd name="T50" fmla="*/ 121 w 135"/>
                  <a:gd name="T51" fmla="*/ 7 h 63"/>
                  <a:gd name="T52" fmla="*/ 131 w 135"/>
                  <a:gd name="T53" fmla="*/ 0 h 63"/>
                  <a:gd name="T54" fmla="*/ 135 w 135"/>
                  <a:gd name="T55" fmla="*/ 4 h 63"/>
                  <a:gd name="T56" fmla="*/ 135 w 135"/>
                  <a:gd name="T57" fmla="*/ 4 h 63"/>
                  <a:gd name="T58" fmla="*/ 135 w 135"/>
                  <a:gd name="T59" fmla="*/ 4 h 6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5"/>
                  <a:gd name="T91" fmla="*/ 0 h 63"/>
                  <a:gd name="T92" fmla="*/ 135 w 135"/>
                  <a:gd name="T93" fmla="*/ 63 h 6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5" h="63">
                    <a:moveTo>
                      <a:pt x="135" y="4"/>
                    </a:moveTo>
                    <a:lnTo>
                      <a:pt x="121" y="11"/>
                    </a:lnTo>
                    <a:lnTo>
                      <a:pt x="111" y="14"/>
                    </a:lnTo>
                    <a:lnTo>
                      <a:pt x="97" y="21"/>
                    </a:lnTo>
                    <a:lnTo>
                      <a:pt x="86" y="28"/>
                    </a:lnTo>
                    <a:lnTo>
                      <a:pt x="73" y="32"/>
                    </a:lnTo>
                    <a:lnTo>
                      <a:pt x="62" y="38"/>
                    </a:lnTo>
                    <a:lnTo>
                      <a:pt x="52" y="42"/>
                    </a:lnTo>
                    <a:lnTo>
                      <a:pt x="38" y="49"/>
                    </a:lnTo>
                    <a:lnTo>
                      <a:pt x="28" y="52"/>
                    </a:lnTo>
                    <a:lnTo>
                      <a:pt x="14" y="59"/>
                    </a:lnTo>
                    <a:lnTo>
                      <a:pt x="7" y="63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3" y="52"/>
                    </a:lnTo>
                    <a:lnTo>
                      <a:pt x="10" y="49"/>
                    </a:lnTo>
                    <a:lnTo>
                      <a:pt x="24" y="42"/>
                    </a:lnTo>
                    <a:lnTo>
                      <a:pt x="35" y="38"/>
                    </a:lnTo>
                    <a:lnTo>
                      <a:pt x="48" y="35"/>
                    </a:lnTo>
                    <a:lnTo>
                      <a:pt x="59" y="32"/>
                    </a:lnTo>
                    <a:lnTo>
                      <a:pt x="69" y="25"/>
                    </a:lnTo>
                    <a:lnTo>
                      <a:pt x="83" y="21"/>
                    </a:lnTo>
                    <a:lnTo>
                      <a:pt x="93" y="18"/>
                    </a:lnTo>
                    <a:lnTo>
                      <a:pt x="107" y="11"/>
                    </a:lnTo>
                    <a:lnTo>
                      <a:pt x="121" y="7"/>
                    </a:lnTo>
                    <a:lnTo>
                      <a:pt x="131" y="0"/>
                    </a:lnTo>
                    <a:lnTo>
                      <a:pt x="135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6" name="Freeform 310"/>
              <p:cNvSpPr>
                <a:spLocks/>
              </p:cNvSpPr>
              <p:nvPr/>
            </p:nvSpPr>
            <p:spPr bwMode="auto">
              <a:xfrm>
                <a:off x="3319" y="1384"/>
                <a:ext cx="107" cy="52"/>
              </a:xfrm>
              <a:custGeom>
                <a:avLst/>
                <a:gdLst>
                  <a:gd name="T0" fmla="*/ 107 w 107"/>
                  <a:gd name="T1" fmla="*/ 4 h 52"/>
                  <a:gd name="T2" fmla="*/ 93 w 107"/>
                  <a:gd name="T3" fmla="*/ 11 h 52"/>
                  <a:gd name="T4" fmla="*/ 79 w 107"/>
                  <a:gd name="T5" fmla="*/ 18 h 52"/>
                  <a:gd name="T6" fmla="*/ 69 w 107"/>
                  <a:gd name="T7" fmla="*/ 21 h 52"/>
                  <a:gd name="T8" fmla="*/ 55 w 107"/>
                  <a:gd name="T9" fmla="*/ 28 h 52"/>
                  <a:gd name="T10" fmla="*/ 7 w 107"/>
                  <a:gd name="T11" fmla="*/ 52 h 52"/>
                  <a:gd name="T12" fmla="*/ 0 w 107"/>
                  <a:gd name="T13" fmla="*/ 49 h 52"/>
                  <a:gd name="T14" fmla="*/ 0 w 107"/>
                  <a:gd name="T15" fmla="*/ 45 h 52"/>
                  <a:gd name="T16" fmla="*/ 7 w 107"/>
                  <a:gd name="T17" fmla="*/ 38 h 52"/>
                  <a:gd name="T18" fmla="*/ 14 w 107"/>
                  <a:gd name="T19" fmla="*/ 35 h 52"/>
                  <a:gd name="T20" fmla="*/ 24 w 107"/>
                  <a:gd name="T21" fmla="*/ 31 h 52"/>
                  <a:gd name="T22" fmla="*/ 52 w 107"/>
                  <a:gd name="T23" fmla="*/ 24 h 52"/>
                  <a:gd name="T24" fmla="*/ 65 w 107"/>
                  <a:gd name="T25" fmla="*/ 18 h 52"/>
                  <a:gd name="T26" fmla="*/ 79 w 107"/>
                  <a:gd name="T27" fmla="*/ 11 h 52"/>
                  <a:gd name="T28" fmla="*/ 90 w 107"/>
                  <a:gd name="T29" fmla="*/ 7 h 52"/>
                  <a:gd name="T30" fmla="*/ 103 w 107"/>
                  <a:gd name="T31" fmla="*/ 0 h 52"/>
                  <a:gd name="T32" fmla="*/ 107 w 107"/>
                  <a:gd name="T33" fmla="*/ 0 h 52"/>
                  <a:gd name="T34" fmla="*/ 107 w 107"/>
                  <a:gd name="T35" fmla="*/ 4 h 52"/>
                  <a:gd name="T36" fmla="*/ 107 w 107"/>
                  <a:gd name="T37" fmla="*/ 4 h 52"/>
                  <a:gd name="T38" fmla="*/ 107 w 107"/>
                  <a:gd name="T39" fmla="*/ 4 h 5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7"/>
                  <a:gd name="T61" fmla="*/ 0 h 52"/>
                  <a:gd name="T62" fmla="*/ 107 w 107"/>
                  <a:gd name="T63" fmla="*/ 52 h 5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7" h="52">
                    <a:moveTo>
                      <a:pt x="107" y="4"/>
                    </a:moveTo>
                    <a:lnTo>
                      <a:pt x="93" y="11"/>
                    </a:lnTo>
                    <a:lnTo>
                      <a:pt x="79" y="18"/>
                    </a:lnTo>
                    <a:lnTo>
                      <a:pt x="69" y="21"/>
                    </a:lnTo>
                    <a:lnTo>
                      <a:pt x="55" y="28"/>
                    </a:lnTo>
                    <a:lnTo>
                      <a:pt x="7" y="52"/>
                    </a:lnTo>
                    <a:lnTo>
                      <a:pt x="0" y="49"/>
                    </a:lnTo>
                    <a:lnTo>
                      <a:pt x="0" y="45"/>
                    </a:lnTo>
                    <a:lnTo>
                      <a:pt x="7" y="38"/>
                    </a:lnTo>
                    <a:lnTo>
                      <a:pt x="14" y="35"/>
                    </a:lnTo>
                    <a:lnTo>
                      <a:pt x="24" y="31"/>
                    </a:lnTo>
                    <a:lnTo>
                      <a:pt x="52" y="24"/>
                    </a:lnTo>
                    <a:lnTo>
                      <a:pt x="65" y="18"/>
                    </a:lnTo>
                    <a:lnTo>
                      <a:pt x="79" y="11"/>
                    </a:lnTo>
                    <a:lnTo>
                      <a:pt x="90" y="7"/>
                    </a:lnTo>
                    <a:lnTo>
                      <a:pt x="103" y="0"/>
                    </a:lnTo>
                    <a:lnTo>
                      <a:pt x="107" y="0"/>
                    </a:lnTo>
                    <a:lnTo>
                      <a:pt x="107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7" name="Freeform 311"/>
              <p:cNvSpPr>
                <a:spLocks/>
              </p:cNvSpPr>
              <p:nvPr/>
            </p:nvSpPr>
            <p:spPr bwMode="auto">
              <a:xfrm>
                <a:off x="3295" y="1336"/>
                <a:ext cx="141" cy="41"/>
              </a:xfrm>
              <a:custGeom>
                <a:avLst/>
                <a:gdLst>
                  <a:gd name="T0" fmla="*/ 3 w 141"/>
                  <a:gd name="T1" fmla="*/ 0 h 41"/>
                  <a:gd name="T2" fmla="*/ 13 w 141"/>
                  <a:gd name="T3" fmla="*/ 3 h 41"/>
                  <a:gd name="T4" fmla="*/ 24 w 141"/>
                  <a:gd name="T5" fmla="*/ 7 h 41"/>
                  <a:gd name="T6" fmla="*/ 41 w 141"/>
                  <a:gd name="T7" fmla="*/ 10 h 41"/>
                  <a:gd name="T8" fmla="*/ 55 w 141"/>
                  <a:gd name="T9" fmla="*/ 17 h 41"/>
                  <a:gd name="T10" fmla="*/ 76 w 141"/>
                  <a:gd name="T11" fmla="*/ 21 h 41"/>
                  <a:gd name="T12" fmla="*/ 110 w 141"/>
                  <a:gd name="T13" fmla="*/ 27 h 41"/>
                  <a:gd name="T14" fmla="*/ 138 w 141"/>
                  <a:gd name="T15" fmla="*/ 34 h 41"/>
                  <a:gd name="T16" fmla="*/ 141 w 141"/>
                  <a:gd name="T17" fmla="*/ 34 h 41"/>
                  <a:gd name="T18" fmla="*/ 141 w 141"/>
                  <a:gd name="T19" fmla="*/ 38 h 41"/>
                  <a:gd name="T20" fmla="*/ 141 w 141"/>
                  <a:gd name="T21" fmla="*/ 38 h 41"/>
                  <a:gd name="T22" fmla="*/ 138 w 141"/>
                  <a:gd name="T23" fmla="*/ 41 h 41"/>
                  <a:gd name="T24" fmla="*/ 110 w 141"/>
                  <a:gd name="T25" fmla="*/ 31 h 41"/>
                  <a:gd name="T26" fmla="*/ 93 w 141"/>
                  <a:gd name="T27" fmla="*/ 27 h 41"/>
                  <a:gd name="T28" fmla="*/ 72 w 141"/>
                  <a:gd name="T29" fmla="*/ 24 h 41"/>
                  <a:gd name="T30" fmla="*/ 0 w 141"/>
                  <a:gd name="T31" fmla="*/ 7 h 41"/>
                  <a:gd name="T32" fmla="*/ 0 w 141"/>
                  <a:gd name="T33" fmla="*/ 3 h 41"/>
                  <a:gd name="T34" fmla="*/ 0 w 141"/>
                  <a:gd name="T35" fmla="*/ 0 h 41"/>
                  <a:gd name="T36" fmla="*/ 0 w 141"/>
                  <a:gd name="T37" fmla="*/ 0 h 41"/>
                  <a:gd name="T38" fmla="*/ 3 w 141"/>
                  <a:gd name="T39" fmla="*/ 0 h 41"/>
                  <a:gd name="T40" fmla="*/ 3 w 141"/>
                  <a:gd name="T41" fmla="*/ 0 h 41"/>
                  <a:gd name="T42" fmla="*/ 3 w 141"/>
                  <a:gd name="T43" fmla="*/ 0 h 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41"/>
                  <a:gd name="T67" fmla="*/ 0 h 41"/>
                  <a:gd name="T68" fmla="*/ 141 w 141"/>
                  <a:gd name="T69" fmla="*/ 41 h 4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41" h="41">
                    <a:moveTo>
                      <a:pt x="3" y="0"/>
                    </a:moveTo>
                    <a:lnTo>
                      <a:pt x="13" y="3"/>
                    </a:lnTo>
                    <a:lnTo>
                      <a:pt x="24" y="7"/>
                    </a:lnTo>
                    <a:lnTo>
                      <a:pt x="41" y="10"/>
                    </a:lnTo>
                    <a:lnTo>
                      <a:pt x="55" y="17"/>
                    </a:lnTo>
                    <a:lnTo>
                      <a:pt x="76" y="21"/>
                    </a:lnTo>
                    <a:lnTo>
                      <a:pt x="110" y="27"/>
                    </a:lnTo>
                    <a:lnTo>
                      <a:pt x="138" y="34"/>
                    </a:lnTo>
                    <a:lnTo>
                      <a:pt x="141" y="34"/>
                    </a:lnTo>
                    <a:lnTo>
                      <a:pt x="141" y="38"/>
                    </a:lnTo>
                    <a:lnTo>
                      <a:pt x="138" y="41"/>
                    </a:lnTo>
                    <a:lnTo>
                      <a:pt x="110" y="31"/>
                    </a:lnTo>
                    <a:lnTo>
                      <a:pt x="93" y="27"/>
                    </a:lnTo>
                    <a:lnTo>
                      <a:pt x="72" y="24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8" name="Freeform 312"/>
              <p:cNvSpPr>
                <a:spLocks/>
              </p:cNvSpPr>
              <p:nvPr/>
            </p:nvSpPr>
            <p:spPr bwMode="auto">
              <a:xfrm>
                <a:off x="3302" y="1360"/>
                <a:ext cx="76" cy="24"/>
              </a:xfrm>
              <a:custGeom>
                <a:avLst/>
                <a:gdLst>
                  <a:gd name="T0" fmla="*/ 3 w 76"/>
                  <a:gd name="T1" fmla="*/ 0 h 24"/>
                  <a:gd name="T2" fmla="*/ 31 w 76"/>
                  <a:gd name="T3" fmla="*/ 7 h 24"/>
                  <a:gd name="T4" fmla="*/ 38 w 76"/>
                  <a:gd name="T5" fmla="*/ 10 h 24"/>
                  <a:gd name="T6" fmla="*/ 48 w 76"/>
                  <a:gd name="T7" fmla="*/ 14 h 24"/>
                  <a:gd name="T8" fmla="*/ 62 w 76"/>
                  <a:gd name="T9" fmla="*/ 17 h 24"/>
                  <a:gd name="T10" fmla="*/ 76 w 76"/>
                  <a:gd name="T11" fmla="*/ 21 h 24"/>
                  <a:gd name="T12" fmla="*/ 76 w 76"/>
                  <a:gd name="T13" fmla="*/ 21 h 24"/>
                  <a:gd name="T14" fmla="*/ 76 w 76"/>
                  <a:gd name="T15" fmla="*/ 24 h 24"/>
                  <a:gd name="T16" fmla="*/ 48 w 76"/>
                  <a:gd name="T17" fmla="*/ 17 h 24"/>
                  <a:gd name="T18" fmla="*/ 27 w 76"/>
                  <a:gd name="T19" fmla="*/ 10 h 24"/>
                  <a:gd name="T20" fmla="*/ 17 w 76"/>
                  <a:gd name="T21" fmla="*/ 7 h 24"/>
                  <a:gd name="T22" fmla="*/ 3 w 76"/>
                  <a:gd name="T23" fmla="*/ 3 h 24"/>
                  <a:gd name="T24" fmla="*/ 0 w 76"/>
                  <a:gd name="T25" fmla="*/ 0 h 24"/>
                  <a:gd name="T26" fmla="*/ 3 w 76"/>
                  <a:gd name="T27" fmla="*/ 0 h 24"/>
                  <a:gd name="T28" fmla="*/ 3 w 76"/>
                  <a:gd name="T29" fmla="*/ 0 h 24"/>
                  <a:gd name="T30" fmla="*/ 3 w 76"/>
                  <a:gd name="T31" fmla="*/ 0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6"/>
                  <a:gd name="T49" fmla="*/ 0 h 24"/>
                  <a:gd name="T50" fmla="*/ 76 w 76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6" h="24">
                    <a:moveTo>
                      <a:pt x="3" y="0"/>
                    </a:moveTo>
                    <a:lnTo>
                      <a:pt x="31" y="7"/>
                    </a:lnTo>
                    <a:lnTo>
                      <a:pt x="38" y="10"/>
                    </a:lnTo>
                    <a:lnTo>
                      <a:pt x="48" y="14"/>
                    </a:lnTo>
                    <a:lnTo>
                      <a:pt x="62" y="17"/>
                    </a:lnTo>
                    <a:lnTo>
                      <a:pt x="76" y="21"/>
                    </a:lnTo>
                    <a:lnTo>
                      <a:pt x="76" y="24"/>
                    </a:lnTo>
                    <a:lnTo>
                      <a:pt x="48" y="17"/>
                    </a:lnTo>
                    <a:lnTo>
                      <a:pt x="27" y="10"/>
                    </a:lnTo>
                    <a:lnTo>
                      <a:pt x="17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29" name="Freeform 313"/>
              <p:cNvSpPr>
                <a:spLocks/>
              </p:cNvSpPr>
              <p:nvPr/>
            </p:nvSpPr>
            <p:spPr bwMode="auto">
              <a:xfrm>
                <a:off x="3302" y="1374"/>
                <a:ext cx="51" cy="21"/>
              </a:xfrm>
              <a:custGeom>
                <a:avLst/>
                <a:gdLst>
                  <a:gd name="T0" fmla="*/ 3 w 51"/>
                  <a:gd name="T1" fmla="*/ 0 h 21"/>
                  <a:gd name="T2" fmla="*/ 24 w 51"/>
                  <a:gd name="T3" fmla="*/ 3 h 21"/>
                  <a:gd name="T4" fmla="*/ 38 w 51"/>
                  <a:gd name="T5" fmla="*/ 10 h 21"/>
                  <a:gd name="T6" fmla="*/ 51 w 51"/>
                  <a:gd name="T7" fmla="*/ 21 h 21"/>
                  <a:gd name="T8" fmla="*/ 51 w 51"/>
                  <a:gd name="T9" fmla="*/ 21 h 21"/>
                  <a:gd name="T10" fmla="*/ 48 w 51"/>
                  <a:gd name="T11" fmla="*/ 21 h 21"/>
                  <a:gd name="T12" fmla="*/ 24 w 51"/>
                  <a:gd name="T13" fmla="*/ 10 h 21"/>
                  <a:gd name="T14" fmla="*/ 13 w 51"/>
                  <a:gd name="T15" fmla="*/ 7 h 21"/>
                  <a:gd name="T16" fmla="*/ 3 w 51"/>
                  <a:gd name="T17" fmla="*/ 3 h 21"/>
                  <a:gd name="T18" fmla="*/ 0 w 51"/>
                  <a:gd name="T19" fmla="*/ 0 h 21"/>
                  <a:gd name="T20" fmla="*/ 3 w 51"/>
                  <a:gd name="T21" fmla="*/ 0 h 21"/>
                  <a:gd name="T22" fmla="*/ 3 w 51"/>
                  <a:gd name="T23" fmla="*/ 0 h 21"/>
                  <a:gd name="T24" fmla="*/ 3 w 51"/>
                  <a:gd name="T25" fmla="*/ 0 h 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1"/>
                  <a:gd name="T40" fmla="*/ 0 h 21"/>
                  <a:gd name="T41" fmla="*/ 51 w 51"/>
                  <a:gd name="T42" fmla="*/ 21 h 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1" h="21">
                    <a:moveTo>
                      <a:pt x="3" y="0"/>
                    </a:moveTo>
                    <a:lnTo>
                      <a:pt x="24" y="3"/>
                    </a:lnTo>
                    <a:lnTo>
                      <a:pt x="38" y="10"/>
                    </a:lnTo>
                    <a:lnTo>
                      <a:pt x="51" y="21"/>
                    </a:lnTo>
                    <a:lnTo>
                      <a:pt x="48" y="21"/>
                    </a:lnTo>
                    <a:lnTo>
                      <a:pt x="24" y="10"/>
                    </a:lnTo>
                    <a:lnTo>
                      <a:pt x="13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0" name="Freeform 314"/>
              <p:cNvSpPr>
                <a:spLocks/>
              </p:cNvSpPr>
              <p:nvPr/>
            </p:nvSpPr>
            <p:spPr bwMode="auto">
              <a:xfrm>
                <a:off x="3302" y="1384"/>
                <a:ext cx="34" cy="21"/>
              </a:xfrm>
              <a:custGeom>
                <a:avLst/>
                <a:gdLst>
                  <a:gd name="T0" fmla="*/ 3 w 34"/>
                  <a:gd name="T1" fmla="*/ 0 h 21"/>
                  <a:gd name="T2" fmla="*/ 13 w 34"/>
                  <a:gd name="T3" fmla="*/ 7 h 21"/>
                  <a:gd name="T4" fmla="*/ 34 w 34"/>
                  <a:gd name="T5" fmla="*/ 18 h 21"/>
                  <a:gd name="T6" fmla="*/ 34 w 34"/>
                  <a:gd name="T7" fmla="*/ 18 h 21"/>
                  <a:gd name="T8" fmla="*/ 31 w 34"/>
                  <a:gd name="T9" fmla="*/ 21 h 21"/>
                  <a:gd name="T10" fmla="*/ 10 w 34"/>
                  <a:gd name="T11" fmla="*/ 11 h 21"/>
                  <a:gd name="T12" fmla="*/ 6 w 34"/>
                  <a:gd name="T13" fmla="*/ 7 h 21"/>
                  <a:gd name="T14" fmla="*/ 3 w 34"/>
                  <a:gd name="T15" fmla="*/ 4 h 21"/>
                  <a:gd name="T16" fmla="*/ 0 w 34"/>
                  <a:gd name="T17" fmla="*/ 4 h 21"/>
                  <a:gd name="T18" fmla="*/ 3 w 34"/>
                  <a:gd name="T19" fmla="*/ 0 h 21"/>
                  <a:gd name="T20" fmla="*/ 3 w 34"/>
                  <a:gd name="T21" fmla="*/ 0 h 21"/>
                  <a:gd name="T22" fmla="*/ 3 w 34"/>
                  <a:gd name="T23" fmla="*/ 0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"/>
                  <a:gd name="T37" fmla="*/ 0 h 21"/>
                  <a:gd name="T38" fmla="*/ 34 w 34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" h="21">
                    <a:moveTo>
                      <a:pt x="3" y="0"/>
                    </a:moveTo>
                    <a:lnTo>
                      <a:pt x="13" y="7"/>
                    </a:lnTo>
                    <a:lnTo>
                      <a:pt x="34" y="18"/>
                    </a:lnTo>
                    <a:lnTo>
                      <a:pt x="31" y="21"/>
                    </a:lnTo>
                    <a:lnTo>
                      <a:pt x="10" y="11"/>
                    </a:lnTo>
                    <a:lnTo>
                      <a:pt x="6" y="7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1" name="Freeform 315"/>
              <p:cNvSpPr>
                <a:spLocks/>
              </p:cNvSpPr>
              <p:nvPr/>
            </p:nvSpPr>
            <p:spPr bwMode="auto">
              <a:xfrm>
                <a:off x="3329" y="1388"/>
                <a:ext cx="55" cy="20"/>
              </a:xfrm>
              <a:custGeom>
                <a:avLst/>
                <a:gdLst>
                  <a:gd name="T0" fmla="*/ 55 w 55"/>
                  <a:gd name="T1" fmla="*/ 3 h 20"/>
                  <a:gd name="T2" fmla="*/ 49 w 55"/>
                  <a:gd name="T3" fmla="*/ 7 h 20"/>
                  <a:gd name="T4" fmla="*/ 42 w 55"/>
                  <a:gd name="T5" fmla="*/ 7 h 20"/>
                  <a:gd name="T6" fmla="*/ 31 w 55"/>
                  <a:gd name="T7" fmla="*/ 14 h 20"/>
                  <a:gd name="T8" fmla="*/ 17 w 55"/>
                  <a:gd name="T9" fmla="*/ 17 h 20"/>
                  <a:gd name="T10" fmla="*/ 7 w 55"/>
                  <a:gd name="T11" fmla="*/ 20 h 20"/>
                  <a:gd name="T12" fmla="*/ 0 w 55"/>
                  <a:gd name="T13" fmla="*/ 20 h 20"/>
                  <a:gd name="T14" fmla="*/ 0 w 55"/>
                  <a:gd name="T15" fmla="*/ 17 h 20"/>
                  <a:gd name="T16" fmla="*/ 4 w 55"/>
                  <a:gd name="T17" fmla="*/ 14 h 20"/>
                  <a:gd name="T18" fmla="*/ 52 w 55"/>
                  <a:gd name="T19" fmla="*/ 0 h 20"/>
                  <a:gd name="T20" fmla="*/ 55 w 55"/>
                  <a:gd name="T21" fmla="*/ 0 h 20"/>
                  <a:gd name="T22" fmla="*/ 55 w 55"/>
                  <a:gd name="T23" fmla="*/ 3 h 20"/>
                  <a:gd name="T24" fmla="*/ 55 w 55"/>
                  <a:gd name="T25" fmla="*/ 3 h 20"/>
                  <a:gd name="T26" fmla="*/ 55 w 55"/>
                  <a:gd name="T27" fmla="*/ 3 h 2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5"/>
                  <a:gd name="T43" fmla="*/ 0 h 20"/>
                  <a:gd name="T44" fmla="*/ 55 w 55"/>
                  <a:gd name="T45" fmla="*/ 20 h 2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5" h="20">
                    <a:moveTo>
                      <a:pt x="55" y="3"/>
                    </a:moveTo>
                    <a:lnTo>
                      <a:pt x="49" y="7"/>
                    </a:lnTo>
                    <a:lnTo>
                      <a:pt x="42" y="7"/>
                    </a:lnTo>
                    <a:lnTo>
                      <a:pt x="31" y="14"/>
                    </a:lnTo>
                    <a:lnTo>
                      <a:pt x="17" y="17"/>
                    </a:lnTo>
                    <a:lnTo>
                      <a:pt x="7" y="20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4" y="14"/>
                    </a:lnTo>
                    <a:lnTo>
                      <a:pt x="52" y="0"/>
                    </a:lnTo>
                    <a:lnTo>
                      <a:pt x="55" y="0"/>
                    </a:lnTo>
                    <a:lnTo>
                      <a:pt x="55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2" name="Freeform 316"/>
              <p:cNvSpPr>
                <a:spLocks/>
              </p:cNvSpPr>
              <p:nvPr/>
            </p:nvSpPr>
            <p:spPr bwMode="auto">
              <a:xfrm>
                <a:off x="3308" y="1381"/>
                <a:ext cx="42" cy="21"/>
              </a:xfrm>
              <a:custGeom>
                <a:avLst/>
                <a:gdLst>
                  <a:gd name="T0" fmla="*/ 4 w 42"/>
                  <a:gd name="T1" fmla="*/ 14 h 21"/>
                  <a:gd name="T2" fmla="*/ 21 w 42"/>
                  <a:gd name="T3" fmla="*/ 7 h 21"/>
                  <a:gd name="T4" fmla="*/ 38 w 42"/>
                  <a:gd name="T5" fmla="*/ 0 h 21"/>
                  <a:gd name="T6" fmla="*/ 42 w 42"/>
                  <a:gd name="T7" fmla="*/ 0 h 21"/>
                  <a:gd name="T8" fmla="*/ 42 w 42"/>
                  <a:gd name="T9" fmla="*/ 3 h 21"/>
                  <a:gd name="T10" fmla="*/ 25 w 42"/>
                  <a:gd name="T11" fmla="*/ 10 h 21"/>
                  <a:gd name="T12" fmla="*/ 14 w 42"/>
                  <a:gd name="T13" fmla="*/ 17 h 21"/>
                  <a:gd name="T14" fmla="*/ 4 w 42"/>
                  <a:gd name="T15" fmla="*/ 21 h 21"/>
                  <a:gd name="T16" fmla="*/ 0 w 42"/>
                  <a:gd name="T17" fmla="*/ 17 h 21"/>
                  <a:gd name="T18" fmla="*/ 4 w 42"/>
                  <a:gd name="T19" fmla="*/ 14 h 21"/>
                  <a:gd name="T20" fmla="*/ 4 w 42"/>
                  <a:gd name="T21" fmla="*/ 14 h 21"/>
                  <a:gd name="T22" fmla="*/ 4 w 42"/>
                  <a:gd name="T23" fmla="*/ 14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2"/>
                  <a:gd name="T37" fmla="*/ 0 h 21"/>
                  <a:gd name="T38" fmla="*/ 42 w 42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2" h="21">
                    <a:moveTo>
                      <a:pt x="4" y="14"/>
                    </a:moveTo>
                    <a:lnTo>
                      <a:pt x="21" y="7"/>
                    </a:lnTo>
                    <a:lnTo>
                      <a:pt x="38" y="0"/>
                    </a:lnTo>
                    <a:lnTo>
                      <a:pt x="42" y="0"/>
                    </a:lnTo>
                    <a:lnTo>
                      <a:pt x="42" y="3"/>
                    </a:lnTo>
                    <a:lnTo>
                      <a:pt x="25" y="10"/>
                    </a:lnTo>
                    <a:lnTo>
                      <a:pt x="14" y="17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3" name="Freeform 317"/>
              <p:cNvSpPr>
                <a:spLocks/>
              </p:cNvSpPr>
              <p:nvPr/>
            </p:nvSpPr>
            <p:spPr bwMode="auto">
              <a:xfrm>
                <a:off x="3305" y="1367"/>
                <a:ext cx="31" cy="10"/>
              </a:xfrm>
              <a:custGeom>
                <a:avLst/>
                <a:gdLst>
                  <a:gd name="T0" fmla="*/ 3 w 31"/>
                  <a:gd name="T1" fmla="*/ 7 h 10"/>
                  <a:gd name="T2" fmla="*/ 14 w 31"/>
                  <a:gd name="T3" fmla="*/ 3 h 10"/>
                  <a:gd name="T4" fmla="*/ 28 w 31"/>
                  <a:gd name="T5" fmla="*/ 0 h 10"/>
                  <a:gd name="T6" fmla="*/ 31 w 31"/>
                  <a:gd name="T7" fmla="*/ 0 h 10"/>
                  <a:gd name="T8" fmla="*/ 28 w 31"/>
                  <a:gd name="T9" fmla="*/ 3 h 10"/>
                  <a:gd name="T10" fmla="*/ 21 w 31"/>
                  <a:gd name="T11" fmla="*/ 7 h 10"/>
                  <a:gd name="T12" fmla="*/ 14 w 31"/>
                  <a:gd name="T13" fmla="*/ 10 h 10"/>
                  <a:gd name="T14" fmla="*/ 3 w 31"/>
                  <a:gd name="T15" fmla="*/ 10 h 10"/>
                  <a:gd name="T16" fmla="*/ 0 w 31"/>
                  <a:gd name="T17" fmla="*/ 10 h 10"/>
                  <a:gd name="T18" fmla="*/ 3 w 31"/>
                  <a:gd name="T19" fmla="*/ 7 h 10"/>
                  <a:gd name="T20" fmla="*/ 3 w 31"/>
                  <a:gd name="T21" fmla="*/ 7 h 10"/>
                  <a:gd name="T22" fmla="*/ 3 w 31"/>
                  <a:gd name="T23" fmla="*/ 7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"/>
                  <a:gd name="T37" fmla="*/ 0 h 10"/>
                  <a:gd name="T38" fmla="*/ 31 w 31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" h="10">
                    <a:moveTo>
                      <a:pt x="3" y="7"/>
                    </a:moveTo>
                    <a:lnTo>
                      <a:pt x="14" y="3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28" y="3"/>
                    </a:lnTo>
                    <a:lnTo>
                      <a:pt x="21" y="7"/>
                    </a:lnTo>
                    <a:lnTo>
                      <a:pt x="14" y="10"/>
                    </a:lnTo>
                    <a:lnTo>
                      <a:pt x="3" y="10"/>
                    </a:lnTo>
                    <a:lnTo>
                      <a:pt x="0" y="10"/>
                    </a:ln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4" name="Freeform 318"/>
              <p:cNvSpPr>
                <a:spLocks/>
              </p:cNvSpPr>
              <p:nvPr/>
            </p:nvSpPr>
            <p:spPr bwMode="auto">
              <a:xfrm>
                <a:off x="3308" y="1353"/>
                <a:ext cx="101" cy="31"/>
              </a:xfrm>
              <a:custGeom>
                <a:avLst/>
                <a:gdLst>
                  <a:gd name="T0" fmla="*/ 0 w 101"/>
                  <a:gd name="T1" fmla="*/ 0 h 31"/>
                  <a:gd name="T2" fmla="*/ 32 w 101"/>
                  <a:gd name="T3" fmla="*/ 10 h 31"/>
                  <a:gd name="T4" fmla="*/ 49 w 101"/>
                  <a:gd name="T5" fmla="*/ 14 h 31"/>
                  <a:gd name="T6" fmla="*/ 66 w 101"/>
                  <a:gd name="T7" fmla="*/ 17 h 31"/>
                  <a:gd name="T8" fmla="*/ 101 w 101"/>
                  <a:gd name="T9" fmla="*/ 24 h 31"/>
                  <a:gd name="T10" fmla="*/ 101 w 101"/>
                  <a:gd name="T11" fmla="*/ 28 h 31"/>
                  <a:gd name="T12" fmla="*/ 101 w 101"/>
                  <a:gd name="T13" fmla="*/ 31 h 31"/>
                  <a:gd name="T14" fmla="*/ 97 w 101"/>
                  <a:gd name="T15" fmla="*/ 31 h 31"/>
                  <a:gd name="T16" fmla="*/ 80 w 101"/>
                  <a:gd name="T17" fmla="*/ 24 h 31"/>
                  <a:gd name="T18" fmla="*/ 63 w 101"/>
                  <a:gd name="T19" fmla="*/ 21 h 31"/>
                  <a:gd name="T20" fmla="*/ 28 w 101"/>
                  <a:gd name="T21" fmla="*/ 10 h 31"/>
                  <a:gd name="T22" fmla="*/ 14 w 101"/>
                  <a:gd name="T23" fmla="*/ 7 h 31"/>
                  <a:gd name="T24" fmla="*/ 0 w 101"/>
                  <a:gd name="T25" fmla="*/ 4 h 31"/>
                  <a:gd name="T26" fmla="*/ 0 w 101"/>
                  <a:gd name="T27" fmla="*/ 0 h 31"/>
                  <a:gd name="T28" fmla="*/ 0 w 101"/>
                  <a:gd name="T29" fmla="*/ 0 h 31"/>
                  <a:gd name="T30" fmla="*/ 0 w 101"/>
                  <a:gd name="T31" fmla="*/ 0 h 31"/>
                  <a:gd name="T32" fmla="*/ 0 w 101"/>
                  <a:gd name="T33" fmla="*/ 0 h 3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1"/>
                  <a:gd name="T52" fmla="*/ 0 h 31"/>
                  <a:gd name="T53" fmla="*/ 101 w 101"/>
                  <a:gd name="T54" fmla="*/ 31 h 3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1" h="31">
                    <a:moveTo>
                      <a:pt x="0" y="0"/>
                    </a:moveTo>
                    <a:lnTo>
                      <a:pt x="32" y="10"/>
                    </a:lnTo>
                    <a:lnTo>
                      <a:pt x="49" y="14"/>
                    </a:lnTo>
                    <a:lnTo>
                      <a:pt x="66" y="17"/>
                    </a:lnTo>
                    <a:lnTo>
                      <a:pt x="101" y="24"/>
                    </a:lnTo>
                    <a:lnTo>
                      <a:pt x="101" y="28"/>
                    </a:lnTo>
                    <a:lnTo>
                      <a:pt x="101" y="31"/>
                    </a:lnTo>
                    <a:lnTo>
                      <a:pt x="97" y="31"/>
                    </a:lnTo>
                    <a:lnTo>
                      <a:pt x="80" y="24"/>
                    </a:lnTo>
                    <a:lnTo>
                      <a:pt x="63" y="21"/>
                    </a:lnTo>
                    <a:lnTo>
                      <a:pt x="28" y="10"/>
                    </a:lnTo>
                    <a:lnTo>
                      <a:pt x="14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5" name="Freeform 319"/>
              <p:cNvSpPr>
                <a:spLocks/>
              </p:cNvSpPr>
              <p:nvPr/>
            </p:nvSpPr>
            <p:spPr bwMode="auto">
              <a:xfrm>
                <a:off x="3436" y="949"/>
                <a:ext cx="21" cy="83"/>
              </a:xfrm>
              <a:custGeom>
                <a:avLst/>
                <a:gdLst>
                  <a:gd name="T0" fmla="*/ 7 w 21"/>
                  <a:gd name="T1" fmla="*/ 0 h 83"/>
                  <a:gd name="T2" fmla="*/ 11 w 21"/>
                  <a:gd name="T3" fmla="*/ 7 h 83"/>
                  <a:gd name="T4" fmla="*/ 11 w 21"/>
                  <a:gd name="T5" fmla="*/ 14 h 83"/>
                  <a:gd name="T6" fmla="*/ 11 w 21"/>
                  <a:gd name="T7" fmla="*/ 20 h 83"/>
                  <a:gd name="T8" fmla="*/ 11 w 21"/>
                  <a:gd name="T9" fmla="*/ 27 h 83"/>
                  <a:gd name="T10" fmla="*/ 14 w 21"/>
                  <a:gd name="T11" fmla="*/ 38 h 83"/>
                  <a:gd name="T12" fmla="*/ 21 w 21"/>
                  <a:gd name="T13" fmla="*/ 48 h 83"/>
                  <a:gd name="T14" fmla="*/ 21 w 21"/>
                  <a:gd name="T15" fmla="*/ 65 h 83"/>
                  <a:gd name="T16" fmla="*/ 18 w 21"/>
                  <a:gd name="T17" fmla="*/ 79 h 83"/>
                  <a:gd name="T18" fmla="*/ 14 w 21"/>
                  <a:gd name="T19" fmla="*/ 83 h 83"/>
                  <a:gd name="T20" fmla="*/ 14 w 21"/>
                  <a:gd name="T21" fmla="*/ 79 h 83"/>
                  <a:gd name="T22" fmla="*/ 11 w 21"/>
                  <a:gd name="T23" fmla="*/ 65 h 83"/>
                  <a:gd name="T24" fmla="*/ 7 w 21"/>
                  <a:gd name="T25" fmla="*/ 52 h 83"/>
                  <a:gd name="T26" fmla="*/ 0 w 21"/>
                  <a:gd name="T27" fmla="*/ 31 h 83"/>
                  <a:gd name="T28" fmla="*/ 0 w 21"/>
                  <a:gd name="T29" fmla="*/ 24 h 83"/>
                  <a:gd name="T30" fmla="*/ 4 w 21"/>
                  <a:gd name="T31" fmla="*/ 14 h 83"/>
                  <a:gd name="T32" fmla="*/ 7 w 21"/>
                  <a:gd name="T33" fmla="*/ 7 h 83"/>
                  <a:gd name="T34" fmla="*/ 4 w 21"/>
                  <a:gd name="T35" fmla="*/ 0 h 83"/>
                  <a:gd name="T36" fmla="*/ 4 w 21"/>
                  <a:gd name="T37" fmla="*/ 0 h 83"/>
                  <a:gd name="T38" fmla="*/ 7 w 21"/>
                  <a:gd name="T39" fmla="*/ 0 h 83"/>
                  <a:gd name="T40" fmla="*/ 7 w 21"/>
                  <a:gd name="T41" fmla="*/ 0 h 83"/>
                  <a:gd name="T42" fmla="*/ 7 w 21"/>
                  <a:gd name="T43" fmla="*/ 0 h 8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1"/>
                  <a:gd name="T67" fmla="*/ 0 h 83"/>
                  <a:gd name="T68" fmla="*/ 21 w 21"/>
                  <a:gd name="T69" fmla="*/ 83 h 8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1" h="83">
                    <a:moveTo>
                      <a:pt x="7" y="0"/>
                    </a:moveTo>
                    <a:lnTo>
                      <a:pt x="11" y="7"/>
                    </a:lnTo>
                    <a:lnTo>
                      <a:pt x="11" y="14"/>
                    </a:lnTo>
                    <a:lnTo>
                      <a:pt x="11" y="20"/>
                    </a:lnTo>
                    <a:lnTo>
                      <a:pt x="11" y="27"/>
                    </a:lnTo>
                    <a:lnTo>
                      <a:pt x="14" y="38"/>
                    </a:lnTo>
                    <a:lnTo>
                      <a:pt x="21" y="48"/>
                    </a:lnTo>
                    <a:lnTo>
                      <a:pt x="21" y="65"/>
                    </a:lnTo>
                    <a:lnTo>
                      <a:pt x="18" y="79"/>
                    </a:lnTo>
                    <a:lnTo>
                      <a:pt x="14" y="83"/>
                    </a:lnTo>
                    <a:lnTo>
                      <a:pt x="14" y="79"/>
                    </a:lnTo>
                    <a:lnTo>
                      <a:pt x="11" y="65"/>
                    </a:lnTo>
                    <a:lnTo>
                      <a:pt x="7" y="52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4" y="14"/>
                    </a:lnTo>
                    <a:lnTo>
                      <a:pt x="7" y="7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6" name="Freeform 320"/>
              <p:cNvSpPr>
                <a:spLocks/>
              </p:cNvSpPr>
              <p:nvPr/>
            </p:nvSpPr>
            <p:spPr bwMode="auto">
              <a:xfrm>
                <a:off x="3471" y="1001"/>
                <a:ext cx="21" cy="24"/>
              </a:xfrm>
              <a:custGeom>
                <a:avLst/>
                <a:gdLst>
                  <a:gd name="T0" fmla="*/ 21 w 21"/>
                  <a:gd name="T1" fmla="*/ 3 h 24"/>
                  <a:gd name="T2" fmla="*/ 21 w 21"/>
                  <a:gd name="T3" fmla="*/ 6 h 24"/>
                  <a:gd name="T4" fmla="*/ 21 w 21"/>
                  <a:gd name="T5" fmla="*/ 10 h 24"/>
                  <a:gd name="T6" fmla="*/ 17 w 21"/>
                  <a:gd name="T7" fmla="*/ 17 h 24"/>
                  <a:gd name="T8" fmla="*/ 14 w 21"/>
                  <a:gd name="T9" fmla="*/ 20 h 24"/>
                  <a:gd name="T10" fmla="*/ 10 w 21"/>
                  <a:gd name="T11" fmla="*/ 20 h 24"/>
                  <a:gd name="T12" fmla="*/ 3 w 21"/>
                  <a:gd name="T13" fmla="*/ 24 h 24"/>
                  <a:gd name="T14" fmla="*/ 0 w 21"/>
                  <a:gd name="T15" fmla="*/ 20 h 24"/>
                  <a:gd name="T16" fmla="*/ 0 w 21"/>
                  <a:gd name="T17" fmla="*/ 17 h 24"/>
                  <a:gd name="T18" fmla="*/ 3 w 21"/>
                  <a:gd name="T19" fmla="*/ 13 h 24"/>
                  <a:gd name="T20" fmla="*/ 10 w 21"/>
                  <a:gd name="T21" fmla="*/ 6 h 24"/>
                  <a:gd name="T22" fmla="*/ 21 w 21"/>
                  <a:gd name="T23" fmla="*/ 0 h 24"/>
                  <a:gd name="T24" fmla="*/ 21 w 21"/>
                  <a:gd name="T25" fmla="*/ 0 h 24"/>
                  <a:gd name="T26" fmla="*/ 21 w 21"/>
                  <a:gd name="T27" fmla="*/ 3 h 24"/>
                  <a:gd name="T28" fmla="*/ 21 w 21"/>
                  <a:gd name="T29" fmla="*/ 3 h 24"/>
                  <a:gd name="T30" fmla="*/ 21 w 21"/>
                  <a:gd name="T31" fmla="*/ 3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1"/>
                  <a:gd name="T49" fmla="*/ 0 h 24"/>
                  <a:gd name="T50" fmla="*/ 21 w 21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1" h="24">
                    <a:moveTo>
                      <a:pt x="21" y="3"/>
                    </a:moveTo>
                    <a:lnTo>
                      <a:pt x="21" y="6"/>
                    </a:lnTo>
                    <a:lnTo>
                      <a:pt x="21" y="10"/>
                    </a:lnTo>
                    <a:lnTo>
                      <a:pt x="17" y="17"/>
                    </a:lnTo>
                    <a:lnTo>
                      <a:pt x="14" y="20"/>
                    </a:lnTo>
                    <a:lnTo>
                      <a:pt x="10" y="20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3"/>
                    </a:lnTo>
                    <a:lnTo>
                      <a:pt x="10" y="6"/>
                    </a:lnTo>
                    <a:lnTo>
                      <a:pt x="21" y="0"/>
                    </a:lnTo>
                    <a:lnTo>
                      <a:pt x="2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7" name="Freeform 321"/>
              <p:cNvSpPr>
                <a:spLocks/>
              </p:cNvSpPr>
              <p:nvPr/>
            </p:nvSpPr>
            <p:spPr bwMode="auto">
              <a:xfrm>
                <a:off x="3467" y="976"/>
                <a:ext cx="11" cy="31"/>
              </a:xfrm>
              <a:custGeom>
                <a:avLst/>
                <a:gdLst>
                  <a:gd name="T0" fmla="*/ 7 w 11"/>
                  <a:gd name="T1" fmla="*/ 0 h 31"/>
                  <a:gd name="T2" fmla="*/ 7 w 11"/>
                  <a:gd name="T3" fmla="*/ 7 h 31"/>
                  <a:gd name="T4" fmla="*/ 11 w 11"/>
                  <a:gd name="T5" fmla="*/ 14 h 31"/>
                  <a:gd name="T6" fmla="*/ 7 w 11"/>
                  <a:gd name="T7" fmla="*/ 25 h 31"/>
                  <a:gd name="T8" fmla="*/ 7 w 11"/>
                  <a:gd name="T9" fmla="*/ 31 h 31"/>
                  <a:gd name="T10" fmla="*/ 0 w 11"/>
                  <a:gd name="T11" fmla="*/ 31 h 31"/>
                  <a:gd name="T12" fmla="*/ 0 w 11"/>
                  <a:gd name="T13" fmla="*/ 14 h 31"/>
                  <a:gd name="T14" fmla="*/ 4 w 11"/>
                  <a:gd name="T15" fmla="*/ 0 h 31"/>
                  <a:gd name="T16" fmla="*/ 7 w 11"/>
                  <a:gd name="T17" fmla="*/ 0 h 31"/>
                  <a:gd name="T18" fmla="*/ 7 w 11"/>
                  <a:gd name="T19" fmla="*/ 0 h 31"/>
                  <a:gd name="T20" fmla="*/ 7 w 11"/>
                  <a:gd name="T21" fmla="*/ 0 h 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"/>
                  <a:gd name="T34" fmla="*/ 0 h 31"/>
                  <a:gd name="T35" fmla="*/ 11 w 11"/>
                  <a:gd name="T36" fmla="*/ 31 h 3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" h="31">
                    <a:moveTo>
                      <a:pt x="7" y="0"/>
                    </a:moveTo>
                    <a:lnTo>
                      <a:pt x="7" y="7"/>
                    </a:lnTo>
                    <a:lnTo>
                      <a:pt x="11" y="14"/>
                    </a:lnTo>
                    <a:lnTo>
                      <a:pt x="7" y="25"/>
                    </a:lnTo>
                    <a:lnTo>
                      <a:pt x="7" y="31"/>
                    </a:lnTo>
                    <a:lnTo>
                      <a:pt x="0" y="31"/>
                    </a:lnTo>
                    <a:lnTo>
                      <a:pt x="0" y="14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8" name="Freeform 322"/>
              <p:cNvSpPr>
                <a:spLocks/>
              </p:cNvSpPr>
              <p:nvPr/>
            </p:nvSpPr>
            <p:spPr bwMode="auto">
              <a:xfrm>
                <a:off x="3540" y="969"/>
                <a:ext cx="28" cy="52"/>
              </a:xfrm>
              <a:custGeom>
                <a:avLst/>
                <a:gdLst>
                  <a:gd name="T0" fmla="*/ 28 w 28"/>
                  <a:gd name="T1" fmla="*/ 4 h 52"/>
                  <a:gd name="T2" fmla="*/ 21 w 28"/>
                  <a:gd name="T3" fmla="*/ 18 h 52"/>
                  <a:gd name="T4" fmla="*/ 17 w 28"/>
                  <a:gd name="T5" fmla="*/ 32 h 52"/>
                  <a:gd name="T6" fmla="*/ 10 w 28"/>
                  <a:gd name="T7" fmla="*/ 42 h 52"/>
                  <a:gd name="T8" fmla="*/ 3 w 28"/>
                  <a:gd name="T9" fmla="*/ 52 h 52"/>
                  <a:gd name="T10" fmla="*/ 0 w 28"/>
                  <a:gd name="T11" fmla="*/ 52 h 52"/>
                  <a:gd name="T12" fmla="*/ 0 w 28"/>
                  <a:gd name="T13" fmla="*/ 52 h 52"/>
                  <a:gd name="T14" fmla="*/ 3 w 28"/>
                  <a:gd name="T15" fmla="*/ 38 h 52"/>
                  <a:gd name="T16" fmla="*/ 7 w 28"/>
                  <a:gd name="T17" fmla="*/ 28 h 52"/>
                  <a:gd name="T18" fmla="*/ 10 w 28"/>
                  <a:gd name="T19" fmla="*/ 21 h 52"/>
                  <a:gd name="T20" fmla="*/ 14 w 28"/>
                  <a:gd name="T21" fmla="*/ 14 h 52"/>
                  <a:gd name="T22" fmla="*/ 21 w 28"/>
                  <a:gd name="T23" fmla="*/ 7 h 52"/>
                  <a:gd name="T24" fmla="*/ 24 w 28"/>
                  <a:gd name="T25" fmla="*/ 0 h 52"/>
                  <a:gd name="T26" fmla="*/ 28 w 28"/>
                  <a:gd name="T27" fmla="*/ 0 h 52"/>
                  <a:gd name="T28" fmla="*/ 28 w 28"/>
                  <a:gd name="T29" fmla="*/ 4 h 52"/>
                  <a:gd name="T30" fmla="*/ 28 w 28"/>
                  <a:gd name="T31" fmla="*/ 4 h 52"/>
                  <a:gd name="T32" fmla="*/ 28 w 28"/>
                  <a:gd name="T33" fmla="*/ 4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"/>
                  <a:gd name="T52" fmla="*/ 0 h 52"/>
                  <a:gd name="T53" fmla="*/ 28 w 28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" h="52">
                    <a:moveTo>
                      <a:pt x="28" y="4"/>
                    </a:moveTo>
                    <a:lnTo>
                      <a:pt x="21" y="18"/>
                    </a:lnTo>
                    <a:lnTo>
                      <a:pt x="17" y="32"/>
                    </a:lnTo>
                    <a:lnTo>
                      <a:pt x="10" y="42"/>
                    </a:lnTo>
                    <a:lnTo>
                      <a:pt x="3" y="52"/>
                    </a:lnTo>
                    <a:lnTo>
                      <a:pt x="0" y="52"/>
                    </a:lnTo>
                    <a:lnTo>
                      <a:pt x="3" y="38"/>
                    </a:lnTo>
                    <a:lnTo>
                      <a:pt x="7" y="28"/>
                    </a:lnTo>
                    <a:lnTo>
                      <a:pt x="10" y="21"/>
                    </a:lnTo>
                    <a:lnTo>
                      <a:pt x="14" y="14"/>
                    </a:lnTo>
                    <a:lnTo>
                      <a:pt x="21" y="7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28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39" name="Freeform 323"/>
              <p:cNvSpPr>
                <a:spLocks/>
              </p:cNvSpPr>
              <p:nvPr/>
            </p:nvSpPr>
            <p:spPr bwMode="auto">
              <a:xfrm>
                <a:off x="3053" y="1094"/>
                <a:ext cx="27" cy="10"/>
              </a:xfrm>
              <a:custGeom>
                <a:avLst/>
                <a:gdLst>
                  <a:gd name="T0" fmla="*/ 0 w 27"/>
                  <a:gd name="T1" fmla="*/ 0 h 10"/>
                  <a:gd name="T2" fmla="*/ 17 w 27"/>
                  <a:gd name="T3" fmla="*/ 0 h 10"/>
                  <a:gd name="T4" fmla="*/ 24 w 27"/>
                  <a:gd name="T5" fmla="*/ 3 h 10"/>
                  <a:gd name="T6" fmla="*/ 27 w 27"/>
                  <a:gd name="T7" fmla="*/ 3 h 10"/>
                  <a:gd name="T8" fmla="*/ 27 w 27"/>
                  <a:gd name="T9" fmla="*/ 3 h 10"/>
                  <a:gd name="T10" fmla="*/ 14 w 27"/>
                  <a:gd name="T11" fmla="*/ 10 h 10"/>
                  <a:gd name="T12" fmla="*/ 7 w 27"/>
                  <a:gd name="T13" fmla="*/ 7 h 10"/>
                  <a:gd name="T14" fmla="*/ 0 w 27"/>
                  <a:gd name="T15" fmla="*/ 3 h 10"/>
                  <a:gd name="T16" fmla="*/ 0 w 27"/>
                  <a:gd name="T17" fmla="*/ 3 h 10"/>
                  <a:gd name="T18" fmla="*/ 0 w 27"/>
                  <a:gd name="T19" fmla="*/ 0 h 10"/>
                  <a:gd name="T20" fmla="*/ 0 w 27"/>
                  <a:gd name="T21" fmla="*/ 0 h 10"/>
                  <a:gd name="T22" fmla="*/ 0 w 27"/>
                  <a:gd name="T23" fmla="*/ 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7"/>
                  <a:gd name="T37" fmla="*/ 0 h 10"/>
                  <a:gd name="T38" fmla="*/ 27 w 27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7" h="10">
                    <a:moveTo>
                      <a:pt x="0" y="0"/>
                    </a:moveTo>
                    <a:lnTo>
                      <a:pt x="17" y="0"/>
                    </a:lnTo>
                    <a:lnTo>
                      <a:pt x="24" y="3"/>
                    </a:lnTo>
                    <a:lnTo>
                      <a:pt x="27" y="3"/>
                    </a:lnTo>
                    <a:lnTo>
                      <a:pt x="14" y="10"/>
                    </a:lnTo>
                    <a:lnTo>
                      <a:pt x="7" y="7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0" name="Freeform 324"/>
              <p:cNvSpPr>
                <a:spLocks/>
              </p:cNvSpPr>
              <p:nvPr/>
            </p:nvSpPr>
            <p:spPr bwMode="auto">
              <a:xfrm>
                <a:off x="3049" y="1087"/>
                <a:ext cx="31" cy="10"/>
              </a:xfrm>
              <a:custGeom>
                <a:avLst/>
                <a:gdLst>
                  <a:gd name="T0" fmla="*/ 0 w 31"/>
                  <a:gd name="T1" fmla="*/ 7 h 10"/>
                  <a:gd name="T2" fmla="*/ 14 w 31"/>
                  <a:gd name="T3" fmla="*/ 0 h 10"/>
                  <a:gd name="T4" fmla="*/ 28 w 31"/>
                  <a:gd name="T5" fmla="*/ 0 h 10"/>
                  <a:gd name="T6" fmla="*/ 31 w 31"/>
                  <a:gd name="T7" fmla="*/ 0 h 10"/>
                  <a:gd name="T8" fmla="*/ 28 w 31"/>
                  <a:gd name="T9" fmla="*/ 3 h 10"/>
                  <a:gd name="T10" fmla="*/ 18 w 31"/>
                  <a:gd name="T11" fmla="*/ 7 h 10"/>
                  <a:gd name="T12" fmla="*/ 0 w 31"/>
                  <a:gd name="T13" fmla="*/ 10 h 10"/>
                  <a:gd name="T14" fmla="*/ 0 w 31"/>
                  <a:gd name="T15" fmla="*/ 7 h 10"/>
                  <a:gd name="T16" fmla="*/ 0 w 31"/>
                  <a:gd name="T17" fmla="*/ 7 h 10"/>
                  <a:gd name="T18" fmla="*/ 0 w 31"/>
                  <a:gd name="T19" fmla="*/ 7 h 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10"/>
                  <a:gd name="T32" fmla="*/ 31 w 31"/>
                  <a:gd name="T33" fmla="*/ 10 h 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10">
                    <a:moveTo>
                      <a:pt x="0" y="7"/>
                    </a:moveTo>
                    <a:lnTo>
                      <a:pt x="1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28" y="3"/>
                    </a:lnTo>
                    <a:lnTo>
                      <a:pt x="18" y="7"/>
                    </a:lnTo>
                    <a:lnTo>
                      <a:pt x="0" y="1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1" name="Freeform 325"/>
              <p:cNvSpPr>
                <a:spLocks/>
              </p:cNvSpPr>
              <p:nvPr/>
            </p:nvSpPr>
            <p:spPr bwMode="auto">
              <a:xfrm>
                <a:off x="3481" y="900"/>
                <a:ext cx="7" cy="11"/>
              </a:xfrm>
              <a:custGeom>
                <a:avLst/>
                <a:gdLst>
                  <a:gd name="T0" fmla="*/ 4 w 7"/>
                  <a:gd name="T1" fmla="*/ 0 h 11"/>
                  <a:gd name="T2" fmla="*/ 4 w 7"/>
                  <a:gd name="T3" fmla="*/ 4 h 11"/>
                  <a:gd name="T4" fmla="*/ 7 w 7"/>
                  <a:gd name="T5" fmla="*/ 7 h 11"/>
                  <a:gd name="T6" fmla="*/ 7 w 7"/>
                  <a:gd name="T7" fmla="*/ 11 h 11"/>
                  <a:gd name="T8" fmla="*/ 4 w 7"/>
                  <a:gd name="T9" fmla="*/ 11 h 11"/>
                  <a:gd name="T10" fmla="*/ 0 w 7"/>
                  <a:gd name="T11" fmla="*/ 4 h 11"/>
                  <a:gd name="T12" fmla="*/ 0 w 7"/>
                  <a:gd name="T13" fmla="*/ 0 h 11"/>
                  <a:gd name="T14" fmla="*/ 4 w 7"/>
                  <a:gd name="T15" fmla="*/ 0 h 11"/>
                  <a:gd name="T16" fmla="*/ 4 w 7"/>
                  <a:gd name="T17" fmla="*/ 0 h 11"/>
                  <a:gd name="T18" fmla="*/ 4 w 7"/>
                  <a:gd name="T19" fmla="*/ 0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"/>
                  <a:gd name="T31" fmla="*/ 0 h 11"/>
                  <a:gd name="T32" fmla="*/ 7 w 7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" h="11">
                    <a:moveTo>
                      <a:pt x="4" y="0"/>
                    </a:moveTo>
                    <a:lnTo>
                      <a:pt x="4" y="4"/>
                    </a:lnTo>
                    <a:lnTo>
                      <a:pt x="7" y="7"/>
                    </a:lnTo>
                    <a:lnTo>
                      <a:pt x="7" y="11"/>
                    </a:lnTo>
                    <a:lnTo>
                      <a:pt x="4" y="11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2" name="Freeform 326"/>
              <p:cNvSpPr>
                <a:spLocks/>
              </p:cNvSpPr>
              <p:nvPr/>
            </p:nvSpPr>
            <p:spPr bwMode="auto">
              <a:xfrm>
                <a:off x="3495" y="904"/>
                <a:ext cx="4" cy="7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3 h 7"/>
                  <a:gd name="T4" fmla="*/ 4 w 4"/>
                  <a:gd name="T5" fmla="*/ 7 h 7"/>
                  <a:gd name="T6" fmla="*/ 0 w 4"/>
                  <a:gd name="T7" fmla="*/ 7 h 7"/>
                  <a:gd name="T8" fmla="*/ 0 w 4"/>
                  <a:gd name="T9" fmla="*/ 7 h 7"/>
                  <a:gd name="T10" fmla="*/ 0 w 4"/>
                  <a:gd name="T11" fmla="*/ 3 h 7"/>
                  <a:gd name="T12" fmla="*/ 0 w 4"/>
                  <a:gd name="T13" fmla="*/ 0 h 7"/>
                  <a:gd name="T14" fmla="*/ 0 w 4"/>
                  <a:gd name="T15" fmla="*/ 0 h 7"/>
                  <a:gd name="T16" fmla="*/ 4 w 4"/>
                  <a:gd name="T17" fmla="*/ 0 h 7"/>
                  <a:gd name="T18" fmla="*/ 4 w 4"/>
                  <a:gd name="T19" fmla="*/ 0 h 7"/>
                  <a:gd name="T20" fmla="*/ 4 w 4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"/>
                  <a:gd name="T34" fmla="*/ 0 h 7"/>
                  <a:gd name="T35" fmla="*/ 4 w 4"/>
                  <a:gd name="T36" fmla="*/ 7 h 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" h="7">
                    <a:moveTo>
                      <a:pt x="4" y="0"/>
                    </a:moveTo>
                    <a:lnTo>
                      <a:pt x="4" y="3"/>
                    </a:lnTo>
                    <a:lnTo>
                      <a:pt x="4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3" name="Freeform 327"/>
              <p:cNvSpPr>
                <a:spLocks/>
              </p:cNvSpPr>
              <p:nvPr/>
            </p:nvSpPr>
            <p:spPr bwMode="auto">
              <a:xfrm>
                <a:off x="3236" y="887"/>
                <a:ext cx="31" cy="10"/>
              </a:xfrm>
              <a:custGeom>
                <a:avLst/>
                <a:gdLst>
                  <a:gd name="T0" fmla="*/ 0 w 31"/>
                  <a:gd name="T1" fmla="*/ 6 h 10"/>
                  <a:gd name="T2" fmla="*/ 10 w 31"/>
                  <a:gd name="T3" fmla="*/ 3 h 10"/>
                  <a:gd name="T4" fmla="*/ 21 w 31"/>
                  <a:gd name="T5" fmla="*/ 3 h 10"/>
                  <a:gd name="T6" fmla="*/ 31 w 31"/>
                  <a:gd name="T7" fmla="*/ 0 h 10"/>
                  <a:gd name="T8" fmla="*/ 31 w 31"/>
                  <a:gd name="T9" fmla="*/ 0 h 10"/>
                  <a:gd name="T10" fmla="*/ 31 w 31"/>
                  <a:gd name="T11" fmla="*/ 3 h 10"/>
                  <a:gd name="T12" fmla="*/ 28 w 31"/>
                  <a:gd name="T13" fmla="*/ 6 h 10"/>
                  <a:gd name="T14" fmla="*/ 24 w 31"/>
                  <a:gd name="T15" fmla="*/ 6 h 10"/>
                  <a:gd name="T16" fmla="*/ 14 w 31"/>
                  <a:gd name="T17" fmla="*/ 6 h 10"/>
                  <a:gd name="T18" fmla="*/ 0 w 31"/>
                  <a:gd name="T19" fmla="*/ 10 h 10"/>
                  <a:gd name="T20" fmla="*/ 0 w 31"/>
                  <a:gd name="T21" fmla="*/ 6 h 10"/>
                  <a:gd name="T22" fmla="*/ 0 w 31"/>
                  <a:gd name="T23" fmla="*/ 6 h 10"/>
                  <a:gd name="T24" fmla="*/ 0 w 31"/>
                  <a:gd name="T25" fmla="*/ 6 h 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10"/>
                  <a:gd name="T41" fmla="*/ 31 w 31"/>
                  <a:gd name="T42" fmla="*/ 10 h 1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10">
                    <a:moveTo>
                      <a:pt x="0" y="6"/>
                    </a:moveTo>
                    <a:lnTo>
                      <a:pt x="10" y="3"/>
                    </a:lnTo>
                    <a:lnTo>
                      <a:pt x="21" y="3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28" y="6"/>
                    </a:lnTo>
                    <a:lnTo>
                      <a:pt x="24" y="6"/>
                    </a:lnTo>
                    <a:lnTo>
                      <a:pt x="14" y="6"/>
                    </a:lnTo>
                    <a:lnTo>
                      <a:pt x="0" y="1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4" name="Freeform 328"/>
              <p:cNvSpPr>
                <a:spLocks/>
              </p:cNvSpPr>
              <p:nvPr/>
            </p:nvSpPr>
            <p:spPr bwMode="auto">
              <a:xfrm>
                <a:off x="3239" y="900"/>
                <a:ext cx="21" cy="4"/>
              </a:xfrm>
              <a:custGeom>
                <a:avLst/>
                <a:gdLst>
                  <a:gd name="T0" fmla="*/ 0 w 21"/>
                  <a:gd name="T1" fmla="*/ 0 h 4"/>
                  <a:gd name="T2" fmla="*/ 7 w 21"/>
                  <a:gd name="T3" fmla="*/ 0 h 4"/>
                  <a:gd name="T4" fmla="*/ 11 w 21"/>
                  <a:gd name="T5" fmla="*/ 0 h 4"/>
                  <a:gd name="T6" fmla="*/ 18 w 21"/>
                  <a:gd name="T7" fmla="*/ 0 h 4"/>
                  <a:gd name="T8" fmla="*/ 21 w 21"/>
                  <a:gd name="T9" fmla="*/ 0 h 4"/>
                  <a:gd name="T10" fmla="*/ 21 w 21"/>
                  <a:gd name="T11" fmla="*/ 0 h 4"/>
                  <a:gd name="T12" fmla="*/ 11 w 21"/>
                  <a:gd name="T13" fmla="*/ 4 h 4"/>
                  <a:gd name="T14" fmla="*/ 7 w 21"/>
                  <a:gd name="T15" fmla="*/ 4 h 4"/>
                  <a:gd name="T16" fmla="*/ 0 w 21"/>
                  <a:gd name="T17" fmla="*/ 0 h 4"/>
                  <a:gd name="T18" fmla="*/ 0 w 21"/>
                  <a:gd name="T19" fmla="*/ 0 h 4"/>
                  <a:gd name="T20" fmla="*/ 0 w 21"/>
                  <a:gd name="T21" fmla="*/ 0 h 4"/>
                  <a:gd name="T22" fmla="*/ 0 w 21"/>
                  <a:gd name="T23" fmla="*/ 0 h 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4"/>
                  <a:gd name="T38" fmla="*/ 21 w 21"/>
                  <a:gd name="T39" fmla="*/ 4 h 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4">
                    <a:moveTo>
                      <a:pt x="0" y="0"/>
                    </a:moveTo>
                    <a:lnTo>
                      <a:pt x="7" y="0"/>
                    </a:lnTo>
                    <a:lnTo>
                      <a:pt x="11" y="0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5" name="Freeform 329"/>
              <p:cNvSpPr>
                <a:spLocks/>
              </p:cNvSpPr>
              <p:nvPr/>
            </p:nvSpPr>
            <p:spPr bwMode="auto">
              <a:xfrm>
                <a:off x="3250" y="893"/>
                <a:ext cx="3" cy="7"/>
              </a:xfrm>
              <a:custGeom>
                <a:avLst/>
                <a:gdLst>
                  <a:gd name="T0" fmla="*/ 3 w 3"/>
                  <a:gd name="T1" fmla="*/ 0 h 7"/>
                  <a:gd name="T2" fmla="*/ 3 w 3"/>
                  <a:gd name="T3" fmla="*/ 7 h 7"/>
                  <a:gd name="T4" fmla="*/ 0 w 3"/>
                  <a:gd name="T5" fmla="*/ 7 h 7"/>
                  <a:gd name="T6" fmla="*/ 0 w 3"/>
                  <a:gd name="T7" fmla="*/ 4 h 7"/>
                  <a:gd name="T8" fmla="*/ 0 w 3"/>
                  <a:gd name="T9" fmla="*/ 0 h 7"/>
                  <a:gd name="T10" fmla="*/ 3 w 3"/>
                  <a:gd name="T11" fmla="*/ 0 h 7"/>
                  <a:gd name="T12" fmla="*/ 3 w 3"/>
                  <a:gd name="T13" fmla="*/ 0 h 7"/>
                  <a:gd name="T14" fmla="*/ 3 w 3"/>
                  <a:gd name="T15" fmla="*/ 0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7"/>
                  <a:gd name="T26" fmla="*/ 3 w 3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7">
                    <a:moveTo>
                      <a:pt x="3" y="0"/>
                    </a:moveTo>
                    <a:lnTo>
                      <a:pt x="3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6" name="Freeform 330"/>
              <p:cNvSpPr>
                <a:spLocks/>
              </p:cNvSpPr>
              <p:nvPr/>
            </p:nvSpPr>
            <p:spPr bwMode="auto">
              <a:xfrm>
                <a:off x="3243" y="893"/>
                <a:ext cx="3" cy="7"/>
              </a:xfrm>
              <a:custGeom>
                <a:avLst/>
                <a:gdLst>
                  <a:gd name="T0" fmla="*/ 0 w 3"/>
                  <a:gd name="T1" fmla="*/ 0 h 7"/>
                  <a:gd name="T2" fmla="*/ 3 w 3"/>
                  <a:gd name="T3" fmla="*/ 7 h 7"/>
                  <a:gd name="T4" fmla="*/ 0 w 3"/>
                  <a:gd name="T5" fmla="*/ 7 h 7"/>
                  <a:gd name="T6" fmla="*/ 0 w 3"/>
                  <a:gd name="T7" fmla="*/ 7 h 7"/>
                  <a:gd name="T8" fmla="*/ 0 w 3"/>
                  <a:gd name="T9" fmla="*/ 0 h 7"/>
                  <a:gd name="T10" fmla="*/ 0 w 3"/>
                  <a:gd name="T11" fmla="*/ 0 h 7"/>
                  <a:gd name="T12" fmla="*/ 0 w 3"/>
                  <a:gd name="T13" fmla="*/ 0 h 7"/>
                  <a:gd name="T14" fmla="*/ 0 w 3"/>
                  <a:gd name="T15" fmla="*/ 0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"/>
                  <a:gd name="T25" fmla="*/ 0 h 7"/>
                  <a:gd name="T26" fmla="*/ 3 w 3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" h="7">
                    <a:moveTo>
                      <a:pt x="0" y="0"/>
                    </a:moveTo>
                    <a:lnTo>
                      <a:pt x="3" y="7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7" name="Freeform 331"/>
              <p:cNvSpPr>
                <a:spLocks/>
              </p:cNvSpPr>
              <p:nvPr/>
            </p:nvSpPr>
            <p:spPr bwMode="auto">
              <a:xfrm>
                <a:off x="3696" y="1336"/>
                <a:ext cx="20" cy="14"/>
              </a:xfrm>
              <a:custGeom>
                <a:avLst/>
                <a:gdLst>
                  <a:gd name="T0" fmla="*/ 6 w 20"/>
                  <a:gd name="T1" fmla="*/ 0 h 14"/>
                  <a:gd name="T2" fmla="*/ 20 w 20"/>
                  <a:gd name="T3" fmla="*/ 10 h 14"/>
                  <a:gd name="T4" fmla="*/ 20 w 20"/>
                  <a:gd name="T5" fmla="*/ 10 h 14"/>
                  <a:gd name="T6" fmla="*/ 17 w 20"/>
                  <a:gd name="T7" fmla="*/ 14 h 14"/>
                  <a:gd name="T8" fmla="*/ 3 w 20"/>
                  <a:gd name="T9" fmla="*/ 10 h 14"/>
                  <a:gd name="T10" fmla="*/ 0 w 20"/>
                  <a:gd name="T11" fmla="*/ 3 h 14"/>
                  <a:gd name="T12" fmla="*/ 3 w 20"/>
                  <a:gd name="T13" fmla="*/ 0 h 14"/>
                  <a:gd name="T14" fmla="*/ 6 w 20"/>
                  <a:gd name="T15" fmla="*/ 0 h 14"/>
                  <a:gd name="T16" fmla="*/ 6 w 20"/>
                  <a:gd name="T17" fmla="*/ 0 h 14"/>
                  <a:gd name="T18" fmla="*/ 6 w 20"/>
                  <a:gd name="T19" fmla="*/ 0 h 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"/>
                  <a:gd name="T31" fmla="*/ 0 h 14"/>
                  <a:gd name="T32" fmla="*/ 20 w 20"/>
                  <a:gd name="T33" fmla="*/ 14 h 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" h="14">
                    <a:moveTo>
                      <a:pt x="6" y="0"/>
                    </a:moveTo>
                    <a:lnTo>
                      <a:pt x="20" y="10"/>
                    </a:lnTo>
                    <a:lnTo>
                      <a:pt x="17" y="14"/>
                    </a:lnTo>
                    <a:lnTo>
                      <a:pt x="3" y="10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8" name="Freeform 332"/>
              <p:cNvSpPr>
                <a:spLocks/>
              </p:cNvSpPr>
              <p:nvPr/>
            </p:nvSpPr>
            <p:spPr bwMode="auto">
              <a:xfrm>
                <a:off x="3685" y="1336"/>
                <a:ext cx="28" cy="24"/>
              </a:xfrm>
              <a:custGeom>
                <a:avLst/>
                <a:gdLst>
                  <a:gd name="T0" fmla="*/ 28 w 28"/>
                  <a:gd name="T1" fmla="*/ 3 h 24"/>
                  <a:gd name="T2" fmla="*/ 17 w 28"/>
                  <a:gd name="T3" fmla="*/ 3 h 24"/>
                  <a:gd name="T4" fmla="*/ 14 w 28"/>
                  <a:gd name="T5" fmla="*/ 10 h 24"/>
                  <a:gd name="T6" fmla="*/ 4 w 28"/>
                  <a:gd name="T7" fmla="*/ 24 h 24"/>
                  <a:gd name="T8" fmla="*/ 0 w 28"/>
                  <a:gd name="T9" fmla="*/ 24 h 24"/>
                  <a:gd name="T10" fmla="*/ 4 w 28"/>
                  <a:gd name="T11" fmla="*/ 14 h 24"/>
                  <a:gd name="T12" fmla="*/ 7 w 28"/>
                  <a:gd name="T13" fmla="*/ 7 h 24"/>
                  <a:gd name="T14" fmla="*/ 17 w 28"/>
                  <a:gd name="T15" fmla="*/ 0 h 24"/>
                  <a:gd name="T16" fmla="*/ 28 w 28"/>
                  <a:gd name="T17" fmla="*/ 0 h 24"/>
                  <a:gd name="T18" fmla="*/ 28 w 28"/>
                  <a:gd name="T19" fmla="*/ 0 h 24"/>
                  <a:gd name="T20" fmla="*/ 28 w 28"/>
                  <a:gd name="T21" fmla="*/ 3 h 24"/>
                  <a:gd name="T22" fmla="*/ 28 w 28"/>
                  <a:gd name="T23" fmla="*/ 3 h 24"/>
                  <a:gd name="T24" fmla="*/ 28 w 28"/>
                  <a:gd name="T25" fmla="*/ 3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"/>
                  <a:gd name="T40" fmla="*/ 0 h 24"/>
                  <a:gd name="T41" fmla="*/ 28 w 28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" h="24">
                    <a:moveTo>
                      <a:pt x="28" y="3"/>
                    </a:moveTo>
                    <a:lnTo>
                      <a:pt x="17" y="3"/>
                    </a:lnTo>
                    <a:lnTo>
                      <a:pt x="14" y="10"/>
                    </a:lnTo>
                    <a:lnTo>
                      <a:pt x="4" y="24"/>
                    </a:lnTo>
                    <a:lnTo>
                      <a:pt x="0" y="24"/>
                    </a:lnTo>
                    <a:lnTo>
                      <a:pt x="4" y="14"/>
                    </a:lnTo>
                    <a:lnTo>
                      <a:pt x="7" y="7"/>
                    </a:lnTo>
                    <a:lnTo>
                      <a:pt x="17" y="0"/>
                    </a:lnTo>
                    <a:lnTo>
                      <a:pt x="28" y="0"/>
                    </a:lnTo>
                    <a:lnTo>
                      <a:pt x="28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49" name="Freeform 333"/>
              <p:cNvSpPr>
                <a:spLocks/>
              </p:cNvSpPr>
              <p:nvPr/>
            </p:nvSpPr>
            <p:spPr bwMode="auto">
              <a:xfrm>
                <a:off x="3720" y="1339"/>
                <a:ext cx="48" cy="21"/>
              </a:xfrm>
              <a:custGeom>
                <a:avLst/>
                <a:gdLst>
                  <a:gd name="T0" fmla="*/ 0 w 48"/>
                  <a:gd name="T1" fmla="*/ 0 h 21"/>
                  <a:gd name="T2" fmla="*/ 31 w 48"/>
                  <a:gd name="T3" fmla="*/ 11 h 21"/>
                  <a:gd name="T4" fmla="*/ 41 w 48"/>
                  <a:gd name="T5" fmla="*/ 14 h 21"/>
                  <a:gd name="T6" fmla="*/ 45 w 48"/>
                  <a:gd name="T7" fmla="*/ 18 h 21"/>
                  <a:gd name="T8" fmla="*/ 48 w 48"/>
                  <a:gd name="T9" fmla="*/ 21 h 21"/>
                  <a:gd name="T10" fmla="*/ 45 w 48"/>
                  <a:gd name="T11" fmla="*/ 21 h 21"/>
                  <a:gd name="T12" fmla="*/ 41 w 48"/>
                  <a:gd name="T13" fmla="*/ 21 h 21"/>
                  <a:gd name="T14" fmla="*/ 27 w 48"/>
                  <a:gd name="T15" fmla="*/ 18 h 21"/>
                  <a:gd name="T16" fmla="*/ 14 w 48"/>
                  <a:gd name="T17" fmla="*/ 11 h 21"/>
                  <a:gd name="T18" fmla="*/ 7 w 48"/>
                  <a:gd name="T19" fmla="*/ 7 h 21"/>
                  <a:gd name="T20" fmla="*/ 0 w 48"/>
                  <a:gd name="T21" fmla="*/ 4 h 21"/>
                  <a:gd name="T22" fmla="*/ 0 w 48"/>
                  <a:gd name="T23" fmla="*/ 0 h 21"/>
                  <a:gd name="T24" fmla="*/ 0 w 48"/>
                  <a:gd name="T25" fmla="*/ 0 h 21"/>
                  <a:gd name="T26" fmla="*/ 0 w 48"/>
                  <a:gd name="T27" fmla="*/ 0 h 21"/>
                  <a:gd name="T28" fmla="*/ 0 w 48"/>
                  <a:gd name="T29" fmla="*/ 0 h 2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21"/>
                  <a:gd name="T47" fmla="*/ 48 w 48"/>
                  <a:gd name="T48" fmla="*/ 21 h 2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21">
                    <a:moveTo>
                      <a:pt x="0" y="0"/>
                    </a:moveTo>
                    <a:lnTo>
                      <a:pt x="31" y="11"/>
                    </a:lnTo>
                    <a:lnTo>
                      <a:pt x="41" y="14"/>
                    </a:lnTo>
                    <a:lnTo>
                      <a:pt x="45" y="18"/>
                    </a:lnTo>
                    <a:lnTo>
                      <a:pt x="48" y="21"/>
                    </a:lnTo>
                    <a:lnTo>
                      <a:pt x="45" y="21"/>
                    </a:lnTo>
                    <a:lnTo>
                      <a:pt x="41" y="21"/>
                    </a:lnTo>
                    <a:lnTo>
                      <a:pt x="27" y="18"/>
                    </a:lnTo>
                    <a:lnTo>
                      <a:pt x="14" y="11"/>
                    </a:lnTo>
                    <a:lnTo>
                      <a:pt x="7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0" name="Freeform 334"/>
              <p:cNvSpPr>
                <a:spLocks/>
              </p:cNvSpPr>
              <p:nvPr/>
            </p:nvSpPr>
            <p:spPr bwMode="auto">
              <a:xfrm>
                <a:off x="3585" y="1346"/>
                <a:ext cx="76" cy="17"/>
              </a:xfrm>
              <a:custGeom>
                <a:avLst/>
                <a:gdLst>
                  <a:gd name="T0" fmla="*/ 0 w 76"/>
                  <a:gd name="T1" fmla="*/ 0 h 17"/>
                  <a:gd name="T2" fmla="*/ 14 w 76"/>
                  <a:gd name="T3" fmla="*/ 4 h 17"/>
                  <a:gd name="T4" fmla="*/ 41 w 76"/>
                  <a:gd name="T5" fmla="*/ 7 h 17"/>
                  <a:gd name="T6" fmla="*/ 73 w 76"/>
                  <a:gd name="T7" fmla="*/ 14 h 17"/>
                  <a:gd name="T8" fmla="*/ 76 w 76"/>
                  <a:gd name="T9" fmla="*/ 14 h 17"/>
                  <a:gd name="T10" fmla="*/ 73 w 76"/>
                  <a:gd name="T11" fmla="*/ 17 h 17"/>
                  <a:gd name="T12" fmla="*/ 41 w 76"/>
                  <a:gd name="T13" fmla="*/ 11 h 17"/>
                  <a:gd name="T14" fmla="*/ 14 w 76"/>
                  <a:gd name="T15" fmla="*/ 7 h 17"/>
                  <a:gd name="T16" fmla="*/ 0 w 76"/>
                  <a:gd name="T17" fmla="*/ 4 h 17"/>
                  <a:gd name="T18" fmla="*/ 0 w 76"/>
                  <a:gd name="T19" fmla="*/ 4 h 17"/>
                  <a:gd name="T20" fmla="*/ 0 w 76"/>
                  <a:gd name="T21" fmla="*/ 0 h 17"/>
                  <a:gd name="T22" fmla="*/ 0 w 76"/>
                  <a:gd name="T23" fmla="*/ 0 h 17"/>
                  <a:gd name="T24" fmla="*/ 0 w 76"/>
                  <a:gd name="T25" fmla="*/ 0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6"/>
                  <a:gd name="T40" fmla="*/ 0 h 17"/>
                  <a:gd name="T41" fmla="*/ 76 w 7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6" h="17">
                    <a:moveTo>
                      <a:pt x="0" y="0"/>
                    </a:moveTo>
                    <a:lnTo>
                      <a:pt x="14" y="4"/>
                    </a:lnTo>
                    <a:lnTo>
                      <a:pt x="41" y="7"/>
                    </a:lnTo>
                    <a:lnTo>
                      <a:pt x="73" y="14"/>
                    </a:lnTo>
                    <a:lnTo>
                      <a:pt x="76" y="14"/>
                    </a:lnTo>
                    <a:lnTo>
                      <a:pt x="73" y="17"/>
                    </a:lnTo>
                    <a:lnTo>
                      <a:pt x="41" y="11"/>
                    </a:lnTo>
                    <a:lnTo>
                      <a:pt x="14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1" name="Freeform 335"/>
              <p:cNvSpPr>
                <a:spLocks/>
              </p:cNvSpPr>
              <p:nvPr/>
            </p:nvSpPr>
            <p:spPr bwMode="auto">
              <a:xfrm>
                <a:off x="3450" y="1308"/>
                <a:ext cx="14" cy="35"/>
              </a:xfrm>
              <a:custGeom>
                <a:avLst/>
                <a:gdLst>
                  <a:gd name="T0" fmla="*/ 14 w 14"/>
                  <a:gd name="T1" fmla="*/ 4 h 35"/>
                  <a:gd name="T2" fmla="*/ 11 w 14"/>
                  <a:gd name="T3" fmla="*/ 17 h 35"/>
                  <a:gd name="T4" fmla="*/ 7 w 14"/>
                  <a:gd name="T5" fmla="*/ 21 h 35"/>
                  <a:gd name="T6" fmla="*/ 4 w 14"/>
                  <a:gd name="T7" fmla="*/ 35 h 35"/>
                  <a:gd name="T8" fmla="*/ 0 w 14"/>
                  <a:gd name="T9" fmla="*/ 35 h 35"/>
                  <a:gd name="T10" fmla="*/ 0 w 14"/>
                  <a:gd name="T11" fmla="*/ 21 h 35"/>
                  <a:gd name="T12" fmla="*/ 4 w 14"/>
                  <a:gd name="T13" fmla="*/ 14 h 35"/>
                  <a:gd name="T14" fmla="*/ 4 w 14"/>
                  <a:gd name="T15" fmla="*/ 14 h 35"/>
                  <a:gd name="T16" fmla="*/ 11 w 14"/>
                  <a:gd name="T17" fmla="*/ 4 h 35"/>
                  <a:gd name="T18" fmla="*/ 14 w 14"/>
                  <a:gd name="T19" fmla="*/ 0 h 35"/>
                  <a:gd name="T20" fmla="*/ 14 w 14"/>
                  <a:gd name="T21" fmla="*/ 4 h 35"/>
                  <a:gd name="T22" fmla="*/ 14 w 14"/>
                  <a:gd name="T23" fmla="*/ 4 h 35"/>
                  <a:gd name="T24" fmla="*/ 14 w 14"/>
                  <a:gd name="T25" fmla="*/ 4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"/>
                  <a:gd name="T40" fmla="*/ 0 h 35"/>
                  <a:gd name="T41" fmla="*/ 14 w 14"/>
                  <a:gd name="T42" fmla="*/ 35 h 3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" h="35">
                    <a:moveTo>
                      <a:pt x="14" y="4"/>
                    </a:moveTo>
                    <a:lnTo>
                      <a:pt x="11" y="17"/>
                    </a:lnTo>
                    <a:lnTo>
                      <a:pt x="7" y="21"/>
                    </a:lnTo>
                    <a:lnTo>
                      <a:pt x="4" y="35"/>
                    </a:lnTo>
                    <a:lnTo>
                      <a:pt x="0" y="35"/>
                    </a:lnTo>
                    <a:lnTo>
                      <a:pt x="0" y="21"/>
                    </a:lnTo>
                    <a:lnTo>
                      <a:pt x="4" y="14"/>
                    </a:lnTo>
                    <a:lnTo>
                      <a:pt x="11" y="4"/>
                    </a:lnTo>
                    <a:lnTo>
                      <a:pt x="14" y="0"/>
                    </a:ln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2" name="Freeform 336"/>
              <p:cNvSpPr>
                <a:spLocks/>
              </p:cNvSpPr>
              <p:nvPr/>
            </p:nvSpPr>
            <p:spPr bwMode="auto">
              <a:xfrm>
                <a:off x="3464" y="1346"/>
                <a:ext cx="14" cy="17"/>
              </a:xfrm>
              <a:custGeom>
                <a:avLst/>
                <a:gdLst>
                  <a:gd name="T0" fmla="*/ 14 w 14"/>
                  <a:gd name="T1" fmla="*/ 4 h 17"/>
                  <a:gd name="T2" fmla="*/ 14 w 14"/>
                  <a:gd name="T3" fmla="*/ 11 h 17"/>
                  <a:gd name="T4" fmla="*/ 10 w 14"/>
                  <a:gd name="T5" fmla="*/ 14 h 17"/>
                  <a:gd name="T6" fmla="*/ 10 w 14"/>
                  <a:gd name="T7" fmla="*/ 17 h 17"/>
                  <a:gd name="T8" fmla="*/ 3 w 14"/>
                  <a:gd name="T9" fmla="*/ 17 h 17"/>
                  <a:gd name="T10" fmla="*/ 0 w 14"/>
                  <a:gd name="T11" fmla="*/ 11 h 17"/>
                  <a:gd name="T12" fmla="*/ 3 w 14"/>
                  <a:gd name="T13" fmla="*/ 7 h 17"/>
                  <a:gd name="T14" fmla="*/ 7 w 14"/>
                  <a:gd name="T15" fmla="*/ 7 h 17"/>
                  <a:gd name="T16" fmla="*/ 7 w 14"/>
                  <a:gd name="T17" fmla="*/ 4 h 17"/>
                  <a:gd name="T18" fmla="*/ 10 w 14"/>
                  <a:gd name="T19" fmla="*/ 0 h 17"/>
                  <a:gd name="T20" fmla="*/ 14 w 14"/>
                  <a:gd name="T21" fmla="*/ 4 h 17"/>
                  <a:gd name="T22" fmla="*/ 14 w 14"/>
                  <a:gd name="T23" fmla="*/ 4 h 17"/>
                  <a:gd name="T24" fmla="*/ 14 w 14"/>
                  <a:gd name="T25" fmla="*/ 4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"/>
                  <a:gd name="T40" fmla="*/ 0 h 17"/>
                  <a:gd name="T41" fmla="*/ 14 w 14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" h="17">
                    <a:moveTo>
                      <a:pt x="14" y="4"/>
                    </a:moveTo>
                    <a:lnTo>
                      <a:pt x="14" y="11"/>
                    </a:lnTo>
                    <a:lnTo>
                      <a:pt x="10" y="14"/>
                    </a:lnTo>
                    <a:lnTo>
                      <a:pt x="10" y="17"/>
                    </a:lnTo>
                    <a:lnTo>
                      <a:pt x="3" y="17"/>
                    </a:lnTo>
                    <a:lnTo>
                      <a:pt x="0" y="11"/>
                    </a:lnTo>
                    <a:lnTo>
                      <a:pt x="3" y="7"/>
                    </a:lnTo>
                    <a:lnTo>
                      <a:pt x="7" y="7"/>
                    </a:lnTo>
                    <a:lnTo>
                      <a:pt x="7" y="4"/>
                    </a:lnTo>
                    <a:lnTo>
                      <a:pt x="10" y="0"/>
                    </a:ln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3" name="Freeform 337"/>
              <p:cNvSpPr>
                <a:spLocks/>
              </p:cNvSpPr>
              <p:nvPr/>
            </p:nvSpPr>
            <p:spPr bwMode="auto">
              <a:xfrm>
                <a:off x="3443" y="1360"/>
                <a:ext cx="24" cy="14"/>
              </a:xfrm>
              <a:custGeom>
                <a:avLst/>
                <a:gdLst>
                  <a:gd name="T0" fmla="*/ 0 w 24"/>
                  <a:gd name="T1" fmla="*/ 10 h 14"/>
                  <a:gd name="T2" fmla="*/ 7 w 24"/>
                  <a:gd name="T3" fmla="*/ 10 h 14"/>
                  <a:gd name="T4" fmla="*/ 14 w 24"/>
                  <a:gd name="T5" fmla="*/ 7 h 14"/>
                  <a:gd name="T6" fmla="*/ 21 w 24"/>
                  <a:gd name="T7" fmla="*/ 0 h 14"/>
                  <a:gd name="T8" fmla="*/ 24 w 24"/>
                  <a:gd name="T9" fmla="*/ 0 h 14"/>
                  <a:gd name="T10" fmla="*/ 24 w 24"/>
                  <a:gd name="T11" fmla="*/ 3 h 14"/>
                  <a:gd name="T12" fmla="*/ 18 w 24"/>
                  <a:gd name="T13" fmla="*/ 10 h 14"/>
                  <a:gd name="T14" fmla="*/ 7 w 24"/>
                  <a:gd name="T15" fmla="*/ 14 h 14"/>
                  <a:gd name="T16" fmla="*/ 0 w 24"/>
                  <a:gd name="T17" fmla="*/ 10 h 14"/>
                  <a:gd name="T18" fmla="*/ 0 w 24"/>
                  <a:gd name="T19" fmla="*/ 10 h 14"/>
                  <a:gd name="T20" fmla="*/ 0 w 24"/>
                  <a:gd name="T21" fmla="*/ 10 h 14"/>
                  <a:gd name="T22" fmla="*/ 0 w 24"/>
                  <a:gd name="T23" fmla="*/ 10 h 14"/>
                  <a:gd name="T24" fmla="*/ 0 w 24"/>
                  <a:gd name="T25" fmla="*/ 10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14"/>
                  <a:gd name="T41" fmla="*/ 24 w 24"/>
                  <a:gd name="T42" fmla="*/ 14 h 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14">
                    <a:moveTo>
                      <a:pt x="0" y="10"/>
                    </a:moveTo>
                    <a:lnTo>
                      <a:pt x="7" y="10"/>
                    </a:lnTo>
                    <a:lnTo>
                      <a:pt x="14" y="7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4" y="3"/>
                    </a:lnTo>
                    <a:lnTo>
                      <a:pt x="18" y="10"/>
                    </a:lnTo>
                    <a:lnTo>
                      <a:pt x="7" y="14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4" name="Freeform 338"/>
              <p:cNvSpPr>
                <a:spLocks/>
              </p:cNvSpPr>
              <p:nvPr/>
            </p:nvSpPr>
            <p:spPr bwMode="auto">
              <a:xfrm>
                <a:off x="3495" y="1350"/>
                <a:ext cx="80" cy="52"/>
              </a:xfrm>
              <a:custGeom>
                <a:avLst/>
                <a:gdLst>
                  <a:gd name="T0" fmla="*/ 80 w 80"/>
                  <a:gd name="T1" fmla="*/ 3 h 52"/>
                  <a:gd name="T2" fmla="*/ 76 w 80"/>
                  <a:gd name="T3" fmla="*/ 7 h 52"/>
                  <a:gd name="T4" fmla="*/ 69 w 80"/>
                  <a:gd name="T5" fmla="*/ 10 h 52"/>
                  <a:gd name="T6" fmla="*/ 59 w 80"/>
                  <a:gd name="T7" fmla="*/ 17 h 52"/>
                  <a:gd name="T8" fmla="*/ 52 w 80"/>
                  <a:gd name="T9" fmla="*/ 24 h 52"/>
                  <a:gd name="T10" fmla="*/ 42 w 80"/>
                  <a:gd name="T11" fmla="*/ 27 h 52"/>
                  <a:gd name="T12" fmla="*/ 35 w 80"/>
                  <a:gd name="T13" fmla="*/ 34 h 52"/>
                  <a:gd name="T14" fmla="*/ 24 w 80"/>
                  <a:gd name="T15" fmla="*/ 41 h 52"/>
                  <a:gd name="T16" fmla="*/ 14 w 80"/>
                  <a:gd name="T17" fmla="*/ 45 h 52"/>
                  <a:gd name="T18" fmla="*/ 4 w 80"/>
                  <a:gd name="T19" fmla="*/ 52 h 52"/>
                  <a:gd name="T20" fmla="*/ 0 w 80"/>
                  <a:gd name="T21" fmla="*/ 52 h 52"/>
                  <a:gd name="T22" fmla="*/ 0 w 80"/>
                  <a:gd name="T23" fmla="*/ 48 h 52"/>
                  <a:gd name="T24" fmla="*/ 14 w 80"/>
                  <a:gd name="T25" fmla="*/ 41 h 52"/>
                  <a:gd name="T26" fmla="*/ 24 w 80"/>
                  <a:gd name="T27" fmla="*/ 34 h 52"/>
                  <a:gd name="T28" fmla="*/ 31 w 80"/>
                  <a:gd name="T29" fmla="*/ 31 h 52"/>
                  <a:gd name="T30" fmla="*/ 42 w 80"/>
                  <a:gd name="T31" fmla="*/ 24 h 52"/>
                  <a:gd name="T32" fmla="*/ 48 w 80"/>
                  <a:gd name="T33" fmla="*/ 20 h 52"/>
                  <a:gd name="T34" fmla="*/ 59 w 80"/>
                  <a:gd name="T35" fmla="*/ 13 h 52"/>
                  <a:gd name="T36" fmla="*/ 69 w 80"/>
                  <a:gd name="T37" fmla="*/ 7 h 52"/>
                  <a:gd name="T38" fmla="*/ 76 w 80"/>
                  <a:gd name="T39" fmla="*/ 0 h 52"/>
                  <a:gd name="T40" fmla="*/ 80 w 80"/>
                  <a:gd name="T41" fmla="*/ 0 h 52"/>
                  <a:gd name="T42" fmla="*/ 80 w 80"/>
                  <a:gd name="T43" fmla="*/ 3 h 52"/>
                  <a:gd name="T44" fmla="*/ 80 w 80"/>
                  <a:gd name="T45" fmla="*/ 3 h 52"/>
                  <a:gd name="T46" fmla="*/ 80 w 80"/>
                  <a:gd name="T47" fmla="*/ 3 h 5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0"/>
                  <a:gd name="T73" fmla="*/ 0 h 52"/>
                  <a:gd name="T74" fmla="*/ 80 w 80"/>
                  <a:gd name="T75" fmla="*/ 52 h 52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0" h="52">
                    <a:moveTo>
                      <a:pt x="80" y="3"/>
                    </a:moveTo>
                    <a:lnTo>
                      <a:pt x="76" y="7"/>
                    </a:lnTo>
                    <a:lnTo>
                      <a:pt x="69" y="10"/>
                    </a:lnTo>
                    <a:lnTo>
                      <a:pt x="59" y="17"/>
                    </a:lnTo>
                    <a:lnTo>
                      <a:pt x="52" y="24"/>
                    </a:lnTo>
                    <a:lnTo>
                      <a:pt x="42" y="27"/>
                    </a:lnTo>
                    <a:lnTo>
                      <a:pt x="35" y="34"/>
                    </a:lnTo>
                    <a:lnTo>
                      <a:pt x="24" y="41"/>
                    </a:lnTo>
                    <a:lnTo>
                      <a:pt x="14" y="45"/>
                    </a:lnTo>
                    <a:lnTo>
                      <a:pt x="4" y="52"/>
                    </a:lnTo>
                    <a:lnTo>
                      <a:pt x="0" y="52"/>
                    </a:lnTo>
                    <a:lnTo>
                      <a:pt x="0" y="48"/>
                    </a:lnTo>
                    <a:lnTo>
                      <a:pt x="14" y="41"/>
                    </a:lnTo>
                    <a:lnTo>
                      <a:pt x="24" y="34"/>
                    </a:lnTo>
                    <a:lnTo>
                      <a:pt x="31" y="31"/>
                    </a:lnTo>
                    <a:lnTo>
                      <a:pt x="42" y="24"/>
                    </a:lnTo>
                    <a:lnTo>
                      <a:pt x="48" y="20"/>
                    </a:lnTo>
                    <a:lnTo>
                      <a:pt x="59" y="13"/>
                    </a:lnTo>
                    <a:lnTo>
                      <a:pt x="69" y="7"/>
                    </a:lnTo>
                    <a:lnTo>
                      <a:pt x="76" y="0"/>
                    </a:lnTo>
                    <a:lnTo>
                      <a:pt x="80" y="0"/>
                    </a:lnTo>
                    <a:lnTo>
                      <a:pt x="8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5" name="Freeform 339"/>
              <p:cNvSpPr>
                <a:spLocks/>
              </p:cNvSpPr>
              <p:nvPr/>
            </p:nvSpPr>
            <p:spPr bwMode="auto">
              <a:xfrm>
                <a:off x="3488" y="1405"/>
                <a:ext cx="145" cy="55"/>
              </a:xfrm>
              <a:custGeom>
                <a:avLst/>
                <a:gdLst>
                  <a:gd name="T0" fmla="*/ 142 w 145"/>
                  <a:gd name="T1" fmla="*/ 55 h 55"/>
                  <a:gd name="T2" fmla="*/ 138 w 145"/>
                  <a:gd name="T3" fmla="*/ 45 h 55"/>
                  <a:gd name="T4" fmla="*/ 128 w 145"/>
                  <a:gd name="T5" fmla="*/ 41 h 55"/>
                  <a:gd name="T6" fmla="*/ 107 w 145"/>
                  <a:gd name="T7" fmla="*/ 41 h 55"/>
                  <a:gd name="T8" fmla="*/ 83 w 145"/>
                  <a:gd name="T9" fmla="*/ 35 h 55"/>
                  <a:gd name="T10" fmla="*/ 73 w 145"/>
                  <a:gd name="T11" fmla="*/ 28 h 55"/>
                  <a:gd name="T12" fmla="*/ 62 w 145"/>
                  <a:gd name="T13" fmla="*/ 24 h 55"/>
                  <a:gd name="T14" fmla="*/ 45 w 145"/>
                  <a:gd name="T15" fmla="*/ 21 h 55"/>
                  <a:gd name="T16" fmla="*/ 31 w 145"/>
                  <a:gd name="T17" fmla="*/ 14 h 55"/>
                  <a:gd name="T18" fmla="*/ 17 w 145"/>
                  <a:gd name="T19" fmla="*/ 10 h 55"/>
                  <a:gd name="T20" fmla="*/ 0 w 145"/>
                  <a:gd name="T21" fmla="*/ 7 h 55"/>
                  <a:gd name="T22" fmla="*/ 0 w 145"/>
                  <a:gd name="T23" fmla="*/ 3 h 55"/>
                  <a:gd name="T24" fmla="*/ 4 w 145"/>
                  <a:gd name="T25" fmla="*/ 0 h 55"/>
                  <a:gd name="T26" fmla="*/ 62 w 145"/>
                  <a:gd name="T27" fmla="*/ 14 h 55"/>
                  <a:gd name="T28" fmla="*/ 87 w 145"/>
                  <a:gd name="T29" fmla="*/ 21 h 55"/>
                  <a:gd name="T30" fmla="*/ 97 w 145"/>
                  <a:gd name="T31" fmla="*/ 24 h 55"/>
                  <a:gd name="T32" fmla="*/ 107 w 145"/>
                  <a:gd name="T33" fmla="*/ 28 h 55"/>
                  <a:gd name="T34" fmla="*/ 121 w 145"/>
                  <a:gd name="T35" fmla="*/ 28 h 55"/>
                  <a:gd name="T36" fmla="*/ 132 w 145"/>
                  <a:gd name="T37" fmla="*/ 31 h 55"/>
                  <a:gd name="T38" fmla="*/ 142 w 145"/>
                  <a:gd name="T39" fmla="*/ 41 h 55"/>
                  <a:gd name="T40" fmla="*/ 145 w 145"/>
                  <a:gd name="T41" fmla="*/ 55 h 55"/>
                  <a:gd name="T42" fmla="*/ 142 w 145"/>
                  <a:gd name="T43" fmla="*/ 55 h 55"/>
                  <a:gd name="T44" fmla="*/ 142 w 145"/>
                  <a:gd name="T45" fmla="*/ 55 h 55"/>
                  <a:gd name="T46" fmla="*/ 142 w 145"/>
                  <a:gd name="T47" fmla="*/ 55 h 55"/>
                  <a:gd name="T48" fmla="*/ 142 w 145"/>
                  <a:gd name="T49" fmla="*/ 55 h 5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5"/>
                  <a:gd name="T76" fmla="*/ 0 h 55"/>
                  <a:gd name="T77" fmla="*/ 145 w 145"/>
                  <a:gd name="T78" fmla="*/ 55 h 5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5" h="55">
                    <a:moveTo>
                      <a:pt x="142" y="55"/>
                    </a:moveTo>
                    <a:lnTo>
                      <a:pt x="138" y="45"/>
                    </a:lnTo>
                    <a:lnTo>
                      <a:pt x="128" y="41"/>
                    </a:lnTo>
                    <a:lnTo>
                      <a:pt x="107" y="41"/>
                    </a:lnTo>
                    <a:lnTo>
                      <a:pt x="83" y="35"/>
                    </a:lnTo>
                    <a:lnTo>
                      <a:pt x="73" y="28"/>
                    </a:lnTo>
                    <a:lnTo>
                      <a:pt x="62" y="24"/>
                    </a:lnTo>
                    <a:lnTo>
                      <a:pt x="45" y="21"/>
                    </a:lnTo>
                    <a:lnTo>
                      <a:pt x="31" y="14"/>
                    </a:lnTo>
                    <a:lnTo>
                      <a:pt x="17" y="10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62" y="14"/>
                    </a:lnTo>
                    <a:lnTo>
                      <a:pt x="87" y="21"/>
                    </a:lnTo>
                    <a:lnTo>
                      <a:pt x="97" y="24"/>
                    </a:lnTo>
                    <a:lnTo>
                      <a:pt x="107" y="28"/>
                    </a:lnTo>
                    <a:lnTo>
                      <a:pt x="121" y="28"/>
                    </a:lnTo>
                    <a:lnTo>
                      <a:pt x="132" y="31"/>
                    </a:lnTo>
                    <a:lnTo>
                      <a:pt x="142" y="41"/>
                    </a:lnTo>
                    <a:lnTo>
                      <a:pt x="145" y="55"/>
                    </a:lnTo>
                    <a:lnTo>
                      <a:pt x="142" y="5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6" name="Freeform 340"/>
              <p:cNvSpPr>
                <a:spLocks/>
              </p:cNvSpPr>
              <p:nvPr/>
            </p:nvSpPr>
            <p:spPr bwMode="auto">
              <a:xfrm>
                <a:off x="3637" y="1405"/>
                <a:ext cx="86" cy="52"/>
              </a:xfrm>
              <a:custGeom>
                <a:avLst/>
                <a:gdLst>
                  <a:gd name="T0" fmla="*/ 83 w 86"/>
                  <a:gd name="T1" fmla="*/ 3 h 52"/>
                  <a:gd name="T2" fmla="*/ 62 w 86"/>
                  <a:gd name="T3" fmla="*/ 14 h 52"/>
                  <a:gd name="T4" fmla="*/ 55 w 86"/>
                  <a:gd name="T5" fmla="*/ 21 h 52"/>
                  <a:gd name="T6" fmla="*/ 48 w 86"/>
                  <a:gd name="T7" fmla="*/ 24 h 52"/>
                  <a:gd name="T8" fmla="*/ 45 w 86"/>
                  <a:gd name="T9" fmla="*/ 28 h 52"/>
                  <a:gd name="T10" fmla="*/ 38 w 86"/>
                  <a:gd name="T11" fmla="*/ 31 h 52"/>
                  <a:gd name="T12" fmla="*/ 31 w 86"/>
                  <a:gd name="T13" fmla="*/ 35 h 52"/>
                  <a:gd name="T14" fmla="*/ 24 w 86"/>
                  <a:gd name="T15" fmla="*/ 38 h 52"/>
                  <a:gd name="T16" fmla="*/ 14 w 86"/>
                  <a:gd name="T17" fmla="*/ 41 h 52"/>
                  <a:gd name="T18" fmla="*/ 0 w 86"/>
                  <a:gd name="T19" fmla="*/ 52 h 52"/>
                  <a:gd name="T20" fmla="*/ 0 w 86"/>
                  <a:gd name="T21" fmla="*/ 52 h 52"/>
                  <a:gd name="T22" fmla="*/ 0 w 86"/>
                  <a:gd name="T23" fmla="*/ 48 h 52"/>
                  <a:gd name="T24" fmla="*/ 3 w 86"/>
                  <a:gd name="T25" fmla="*/ 41 h 52"/>
                  <a:gd name="T26" fmla="*/ 7 w 86"/>
                  <a:gd name="T27" fmla="*/ 38 h 52"/>
                  <a:gd name="T28" fmla="*/ 10 w 86"/>
                  <a:gd name="T29" fmla="*/ 35 h 52"/>
                  <a:gd name="T30" fmla="*/ 27 w 86"/>
                  <a:gd name="T31" fmla="*/ 28 h 52"/>
                  <a:gd name="T32" fmla="*/ 41 w 86"/>
                  <a:gd name="T33" fmla="*/ 21 h 52"/>
                  <a:gd name="T34" fmla="*/ 45 w 86"/>
                  <a:gd name="T35" fmla="*/ 14 h 52"/>
                  <a:gd name="T36" fmla="*/ 52 w 86"/>
                  <a:gd name="T37" fmla="*/ 14 h 52"/>
                  <a:gd name="T38" fmla="*/ 62 w 86"/>
                  <a:gd name="T39" fmla="*/ 7 h 52"/>
                  <a:gd name="T40" fmla="*/ 72 w 86"/>
                  <a:gd name="T41" fmla="*/ 3 h 52"/>
                  <a:gd name="T42" fmla="*/ 83 w 86"/>
                  <a:gd name="T43" fmla="*/ 0 h 52"/>
                  <a:gd name="T44" fmla="*/ 86 w 86"/>
                  <a:gd name="T45" fmla="*/ 0 h 52"/>
                  <a:gd name="T46" fmla="*/ 83 w 86"/>
                  <a:gd name="T47" fmla="*/ 3 h 52"/>
                  <a:gd name="T48" fmla="*/ 83 w 86"/>
                  <a:gd name="T49" fmla="*/ 3 h 52"/>
                  <a:gd name="T50" fmla="*/ 83 w 86"/>
                  <a:gd name="T51" fmla="*/ 3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6"/>
                  <a:gd name="T79" fmla="*/ 0 h 52"/>
                  <a:gd name="T80" fmla="*/ 86 w 86"/>
                  <a:gd name="T81" fmla="*/ 52 h 5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6" h="52">
                    <a:moveTo>
                      <a:pt x="83" y="3"/>
                    </a:moveTo>
                    <a:lnTo>
                      <a:pt x="62" y="14"/>
                    </a:lnTo>
                    <a:lnTo>
                      <a:pt x="55" y="21"/>
                    </a:lnTo>
                    <a:lnTo>
                      <a:pt x="48" y="24"/>
                    </a:lnTo>
                    <a:lnTo>
                      <a:pt x="45" y="28"/>
                    </a:lnTo>
                    <a:lnTo>
                      <a:pt x="38" y="31"/>
                    </a:lnTo>
                    <a:lnTo>
                      <a:pt x="31" y="35"/>
                    </a:lnTo>
                    <a:lnTo>
                      <a:pt x="24" y="38"/>
                    </a:lnTo>
                    <a:lnTo>
                      <a:pt x="14" y="41"/>
                    </a:lnTo>
                    <a:lnTo>
                      <a:pt x="0" y="52"/>
                    </a:lnTo>
                    <a:lnTo>
                      <a:pt x="0" y="48"/>
                    </a:lnTo>
                    <a:lnTo>
                      <a:pt x="3" y="41"/>
                    </a:lnTo>
                    <a:lnTo>
                      <a:pt x="7" y="38"/>
                    </a:lnTo>
                    <a:lnTo>
                      <a:pt x="10" y="35"/>
                    </a:lnTo>
                    <a:lnTo>
                      <a:pt x="27" y="28"/>
                    </a:lnTo>
                    <a:lnTo>
                      <a:pt x="41" y="21"/>
                    </a:lnTo>
                    <a:lnTo>
                      <a:pt x="45" y="14"/>
                    </a:lnTo>
                    <a:lnTo>
                      <a:pt x="52" y="14"/>
                    </a:lnTo>
                    <a:lnTo>
                      <a:pt x="62" y="7"/>
                    </a:lnTo>
                    <a:lnTo>
                      <a:pt x="72" y="3"/>
                    </a:lnTo>
                    <a:lnTo>
                      <a:pt x="83" y="0"/>
                    </a:lnTo>
                    <a:lnTo>
                      <a:pt x="86" y="0"/>
                    </a:lnTo>
                    <a:lnTo>
                      <a:pt x="8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7" name="Freeform 341"/>
              <p:cNvSpPr>
                <a:spLocks/>
              </p:cNvSpPr>
              <p:nvPr/>
            </p:nvSpPr>
            <p:spPr bwMode="auto">
              <a:xfrm>
                <a:off x="3454" y="1398"/>
                <a:ext cx="138" cy="80"/>
              </a:xfrm>
              <a:custGeom>
                <a:avLst/>
                <a:gdLst>
                  <a:gd name="T0" fmla="*/ 27 w 138"/>
                  <a:gd name="T1" fmla="*/ 7 h 80"/>
                  <a:gd name="T2" fmla="*/ 24 w 138"/>
                  <a:gd name="T3" fmla="*/ 4 h 80"/>
                  <a:gd name="T4" fmla="*/ 20 w 138"/>
                  <a:gd name="T5" fmla="*/ 4 h 80"/>
                  <a:gd name="T6" fmla="*/ 10 w 138"/>
                  <a:gd name="T7" fmla="*/ 14 h 80"/>
                  <a:gd name="T8" fmla="*/ 10 w 138"/>
                  <a:gd name="T9" fmla="*/ 21 h 80"/>
                  <a:gd name="T10" fmla="*/ 10 w 138"/>
                  <a:gd name="T11" fmla="*/ 28 h 80"/>
                  <a:gd name="T12" fmla="*/ 20 w 138"/>
                  <a:gd name="T13" fmla="*/ 35 h 80"/>
                  <a:gd name="T14" fmla="*/ 31 w 138"/>
                  <a:gd name="T15" fmla="*/ 42 h 80"/>
                  <a:gd name="T16" fmla="*/ 51 w 138"/>
                  <a:gd name="T17" fmla="*/ 45 h 80"/>
                  <a:gd name="T18" fmla="*/ 72 w 138"/>
                  <a:gd name="T19" fmla="*/ 48 h 80"/>
                  <a:gd name="T20" fmla="*/ 89 w 138"/>
                  <a:gd name="T21" fmla="*/ 55 h 80"/>
                  <a:gd name="T22" fmla="*/ 96 w 138"/>
                  <a:gd name="T23" fmla="*/ 59 h 80"/>
                  <a:gd name="T24" fmla="*/ 107 w 138"/>
                  <a:gd name="T25" fmla="*/ 62 h 80"/>
                  <a:gd name="T26" fmla="*/ 114 w 138"/>
                  <a:gd name="T27" fmla="*/ 69 h 80"/>
                  <a:gd name="T28" fmla="*/ 121 w 138"/>
                  <a:gd name="T29" fmla="*/ 69 h 80"/>
                  <a:gd name="T30" fmla="*/ 138 w 138"/>
                  <a:gd name="T31" fmla="*/ 76 h 80"/>
                  <a:gd name="T32" fmla="*/ 138 w 138"/>
                  <a:gd name="T33" fmla="*/ 76 h 80"/>
                  <a:gd name="T34" fmla="*/ 138 w 138"/>
                  <a:gd name="T35" fmla="*/ 80 h 80"/>
                  <a:gd name="T36" fmla="*/ 103 w 138"/>
                  <a:gd name="T37" fmla="*/ 73 h 80"/>
                  <a:gd name="T38" fmla="*/ 86 w 138"/>
                  <a:gd name="T39" fmla="*/ 69 h 80"/>
                  <a:gd name="T40" fmla="*/ 69 w 138"/>
                  <a:gd name="T41" fmla="*/ 62 h 80"/>
                  <a:gd name="T42" fmla="*/ 58 w 138"/>
                  <a:gd name="T43" fmla="*/ 55 h 80"/>
                  <a:gd name="T44" fmla="*/ 48 w 138"/>
                  <a:gd name="T45" fmla="*/ 52 h 80"/>
                  <a:gd name="T46" fmla="*/ 27 w 138"/>
                  <a:gd name="T47" fmla="*/ 48 h 80"/>
                  <a:gd name="T48" fmla="*/ 3 w 138"/>
                  <a:gd name="T49" fmla="*/ 35 h 80"/>
                  <a:gd name="T50" fmla="*/ 0 w 138"/>
                  <a:gd name="T51" fmla="*/ 24 h 80"/>
                  <a:gd name="T52" fmla="*/ 3 w 138"/>
                  <a:gd name="T53" fmla="*/ 14 h 80"/>
                  <a:gd name="T54" fmla="*/ 7 w 138"/>
                  <a:gd name="T55" fmla="*/ 7 h 80"/>
                  <a:gd name="T56" fmla="*/ 10 w 138"/>
                  <a:gd name="T57" fmla="*/ 4 h 80"/>
                  <a:gd name="T58" fmla="*/ 13 w 138"/>
                  <a:gd name="T59" fmla="*/ 0 h 80"/>
                  <a:gd name="T60" fmla="*/ 17 w 138"/>
                  <a:gd name="T61" fmla="*/ 0 h 80"/>
                  <a:gd name="T62" fmla="*/ 24 w 138"/>
                  <a:gd name="T63" fmla="*/ 0 h 80"/>
                  <a:gd name="T64" fmla="*/ 31 w 138"/>
                  <a:gd name="T65" fmla="*/ 0 h 80"/>
                  <a:gd name="T66" fmla="*/ 31 w 138"/>
                  <a:gd name="T67" fmla="*/ 4 h 80"/>
                  <a:gd name="T68" fmla="*/ 27 w 138"/>
                  <a:gd name="T69" fmla="*/ 7 h 80"/>
                  <a:gd name="T70" fmla="*/ 27 w 138"/>
                  <a:gd name="T71" fmla="*/ 7 h 80"/>
                  <a:gd name="T72" fmla="*/ 27 w 138"/>
                  <a:gd name="T73" fmla="*/ 7 h 8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8"/>
                  <a:gd name="T112" fmla="*/ 0 h 80"/>
                  <a:gd name="T113" fmla="*/ 138 w 138"/>
                  <a:gd name="T114" fmla="*/ 80 h 8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8" h="80">
                    <a:moveTo>
                      <a:pt x="27" y="7"/>
                    </a:moveTo>
                    <a:lnTo>
                      <a:pt x="24" y="4"/>
                    </a:lnTo>
                    <a:lnTo>
                      <a:pt x="20" y="4"/>
                    </a:lnTo>
                    <a:lnTo>
                      <a:pt x="10" y="14"/>
                    </a:lnTo>
                    <a:lnTo>
                      <a:pt x="10" y="21"/>
                    </a:lnTo>
                    <a:lnTo>
                      <a:pt x="10" y="28"/>
                    </a:lnTo>
                    <a:lnTo>
                      <a:pt x="20" y="35"/>
                    </a:lnTo>
                    <a:lnTo>
                      <a:pt x="31" y="42"/>
                    </a:lnTo>
                    <a:lnTo>
                      <a:pt x="51" y="45"/>
                    </a:lnTo>
                    <a:lnTo>
                      <a:pt x="72" y="48"/>
                    </a:lnTo>
                    <a:lnTo>
                      <a:pt x="89" y="55"/>
                    </a:lnTo>
                    <a:lnTo>
                      <a:pt x="96" y="59"/>
                    </a:lnTo>
                    <a:lnTo>
                      <a:pt x="107" y="62"/>
                    </a:lnTo>
                    <a:lnTo>
                      <a:pt x="114" y="69"/>
                    </a:lnTo>
                    <a:lnTo>
                      <a:pt x="121" y="69"/>
                    </a:lnTo>
                    <a:lnTo>
                      <a:pt x="138" y="76"/>
                    </a:lnTo>
                    <a:lnTo>
                      <a:pt x="138" y="80"/>
                    </a:lnTo>
                    <a:lnTo>
                      <a:pt x="103" y="73"/>
                    </a:lnTo>
                    <a:lnTo>
                      <a:pt x="86" y="69"/>
                    </a:lnTo>
                    <a:lnTo>
                      <a:pt x="69" y="62"/>
                    </a:lnTo>
                    <a:lnTo>
                      <a:pt x="58" y="55"/>
                    </a:lnTo>
                    <a:lnTo>
                      <a:pt x="48" y="52"/>
                    </a:lnTo>
                    <a:lnTo>
                      <a:pt x="27" y="48"/>
                    </a:lnTo>
                    <a:lnTo>
                      <a:pt x="3" y="35"/>
                    </a:lnTo>
                    <a:lnTo>
                      <a:pt x="0" y="24"/>
                    </a:lnTo>
                    <a:lnTo>
                      <a:pt x="3" y="14"/>
                    </a:lnTo>
                    <a:lnTo>
                      <a:pt x="7" y="7"/>
                    </a:lnTo>
                    <a:lnTo>
                      <a:pt x="10" y="4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24" y="0"/>
                    </a:lnTo>
                    <a:lnTo>
                      <a:pt x="31" y="0"/>
                    </a:lnTo>
                    <a:lnTo>
                      <a:pt x="31" y="4"/>
                    </a:lnTo>
                    <a:lnTo>
                      <a:pt x="27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8" name="Freeform 342"/>
              <p:cNvSpPr>
                <a:spLocks/>
              </p:cNvSpPr>
              <p:nvPr/>
            </p:nvSpPr>
            <p:spPr bwMode="auto">
              <a:xfrm>
                <a:off x="3609" y="1422"/>
                <a:ext cx="100" cy="66"/>
              </a:xfrm>
              <a:custGeom>
                <a:avLst/>
                <a:gdLst>
                  <a:gd name="T0" fmla="*/ 4 w 100"/>
                  <a:gd name="T1" fmla="*/ 59 h 66"/>
                  <a:gd name="T2" fmla="*/ 21 w 100"/>
                  <a:gd name="T3" fmla="*/ 56 h 66"/>
                  <a:gd name="T4" fmla="*/ 28 w 100"/>
                  <a:gd name="T5" fmla="*/ 52 h 66"/>
                  <a:gd name="T6" fmla="*/ 38 w 100"/>
                  <a:gd name="T7" fmla="*/ 45 h 66"/>
                  <a:gd name="T8" fmla="*/ 42 w 100"/>
                  <a:gd name="T9" fmla="*/ 35 h 66"/>
                  <a:gd name="T10" fmla="*/ 49 w 100"/>
                  <a:gd name="T11" fmla="*/ 31 h 66"/>
                  <a:gd name="T12" fmla="*/ 52 w 100"/>
                  <a:gd name="T13" fmla="*/ 28 h 66"/>
                  <a:gd name="T14" fmla="*/ 66 w 100"/>
                  <a:gd name="T15" fmla="*/ 21 h 66"/>
                  <a:gd name="T16" fmla="*/ 69 w 100"/>
                  <a:gd name="T17" fmla="*/ 18 h 66"/>
                  <a:gd name="T18" fmla="*/ 73 w 100"/>
                  <a:gd name="T19" fmla="*/ 14 h 66"/>
                  <a:gd name="T20" fmla="*/ 83 w 100"/>
                  <a:gd name="T21" fmla="*/ 11 h 66"/>
                  <a:gd name="T22" fmla="*/ 90 w 100"/>
                  <a:gd name="T23" fmla="*/ 4 h 66"/>
                  <a:gd name="T24" fmla="*/ 100 w 100"/>
                  <a:gd name="T25" fmla="*/ 0 h 66"/>
                  <a:gd name="T26" fmla="*/ 100 w 100"/>
                  <a:gd name="T27" fmla="*/ 0 h 66"/>
                  <a:gd name="T28" fmla="*/ 100 w 100"/>
                  <a:gd name="T29" fmla="*/ 4 h 66"/>
                  <a:gd name="T30" fmla="*/ 83 w 100"/>
                  <a:gd name="T31" fmla="*/ 14 h 66"/>
                  <a:gd name="T32" fmla="*/ 76 w 100"/>
                  <a:gd name="T33" fmla="*/ 18 h 66"/>
                  <a:gd name="T34" fmla="*/ 66 w 100"/>
                  <a:gd name="T35" fmla="*/ 24 h 66"/>
                  <a:gd name="T36" fmla="*/ 52 w 100"/>
                  <a:gd name="T37" fmla="*/ 42 h 66"/>
                  <a:gd name="T38" fmla="*/ 45 w 100"/>
                  <a:gd name="T39" fmla="*/ 52 h 66"/>
                  <a:gd name="T40" fmla="*/ 42 w 100"/>
                  <a:gd name="T41" fmla="*/ 56 h 66"/>
                  <a:gd name="T42" fmla="*/ 35 w 100"/>
                  <a:gd name="T43" fmla="*/ 59 h 66"/>
                  <a:gd name="T44" fmla="*/ 24 w 100"/>
                  <a:gd name="T45" fmla="*/ 66 h 66"/>
                  <a:gd name="T46" fmla="*/ 4 w 100"/>
                  <a:gd name="T47" fmla="*/ 62 h 66"/>
                  <a:gd name="T48" fmla="*/ 0 w 100"/>
                  <a:gd name="T49" fmla="*/ 59 h 66"/>
                  <a:gd name="T50" fmla="*/ 4 w 100"/>
                  <a:gd name="T51" fmla="*/ 59 h 66"/>
                  <a:gd name="T52" fmla="*/ 4 w 100"/>
                  <a:gd name="T53" fmla="*/ 59 h 66"/>
                  <a:gd name="T54" fmla="*/ 4 w 100"/>
                  <a:gd name="T55" fmla="*/ 59 h 6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00"/>
                  <a:gd name="T85" fmla="*/ 0 h 66"/>
                  <a:gd name="T86" fmla="*/ 100 w 100"/>
                  <a:gd name="T87" fmla="*/ 66 h 6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00" h="66">
                    <a:moveTo>
                      <a:pt x="4" y="59"/>
                    </a:moveTo>
                    <a:lnTo>
                      <a:pt x="21" y="56"/>
                    </a:lnTo>
                    <a:lnTo>
                      <a:pt x="28" y="52"/>
                    </a:lnTo>
                    <a:lnTo>
                      <a:pt x="38" y="45"/>
                    </a:lnTo>
                    <a:lnTo>
                      <a:pt x="42" y="35"/>
                    </a:lnTo>
                    <a:lnTo>
                      <a:pt x="49" y="31"/>
                    </a:lnTo>
                    <a:lnTo>
                      <a:pt x="52" y="28"/>
                    </a:lnTo>
                    <a:lnTo>
                      <a:pt x="66" y="21"/>
                    </a:lnTo>
                    <a:lnTo>
                      <a:pt x="69" y="18"/>
                    </a:lnTo>
                    <a:lnTo>
                      <a:pt x="73" y="14"/>
                    </a:lnTo>
                    <a:lnTo>
                      <a:pt x="83" y="11"/>
                    </a:lnTo>
                    <a:lnTo>
                      <a:pt x="90" y="4"/>
                    </a:lnTo>
                    <a:lnTo>
                      <a:pt x="100" y="0"/>
                    </a:lnTo>
                    <a:lnTo>
                      <a:pt x="100" y="4"/>
                    </a:lnTo>
                    <a:lnTo>
                      <a:pt x="83" y="14"/>
                    </a:lnTo>
                    <a:lnTo>
                      <a:pt x="76" y="18"/>
                    </a:lnTo>
                    <a:lnTo>
                      <a:pt x="66" y="24"/>
                    </a:lnTo>
                    <a:lnTo>
                      <a:pt x="52" y="42"/>
                    </a:lnTo>
                    <a:lnTo>
                      <a:pt x="45" y="52"/>
                    </a:lnTo>
                    <a:lnTo>
                      <a:pt x="42" y="56"/>
                    </a:lnTo>
                    <a:lnTo>
                      <a:pt x="35" y="59"/>
                    </a:lnTo>
                    <a:lnTo>
                      <a:pt x="24" y="66"/>
                    </a:lnTo>
                    <a:lnTo>
                      <a:pt x="4" y="62"/>
                    </a:lnTo>
                    <a:lnTo>
                      <a:pt x="0" y="59"/>
                    </a:lnTo>
                    <a:lnTo>
                      <a:pt x="4" y="5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59" name="Freeform 343"/>
              <p:cNvSpPr>
                <a:spLocks/>
              </p:cNvSpPr>
              <p:nvPr/>
            </p:nvSpPr>
            <p:spPr bwMode="auto">
              <a:xfrm>
                <a:off x="3595" y="1453"/>
                <a:ext cx="35" cy="31"/>
              </a:xfrm>
              <a:custGeom>
                <a:avLst/>
                <a:gdLst>
                  <a:gd name="T0" fmla="*/ 31 w 35"/>
                  <a:gd name="T1" fmla="*/ 7 h 31"/>
                  <a:gd name="T2" fmla="*/ 21 w 35"/>
                  <a:gd name="T3" fmla="*/ 7 h 31"/>
                  <a:gd name="T4" fmla="*/ 11 w 35"/>
                  <a:gd name="T5" fmla="*/ 18 h 31"/>
                  <a:gd name="T6" fmla="*/ 11 w 35"/>
                  <a:gd name="T7" fmla="*/ 21 h 31"/>
                  <a:gd name="T8" fmla="*/ 11 w 35"/>
                  <a:gd name="T9" fmla="*/ 21 h 31"/>
                  <a:gd name="T10" fmla="*/ 14 w 35"/>
                  <a:gd name="T11" fmla="*/ 28 h 31"/>
                  <a:gd name="T12" fmla="*/ 18 w 35"/>
                  <a:gd name="T13" fmla="*/ 31 h 31"/>
                  <a:gd name="T14" fmla="*/ 14 w 35"/>
                  <a:gd name="T15" fmla="*/ 31 h 31"/>
                  <a:gd name="T16" fmla="*/ 7 w 35"/>
                  <a:gd name="T17" fmla="*/ 28 h 31"/>
                  <a:gd name="T18" fmla="*/ 4 w 35"/>
                  <a:gd name="T19" fmla="*/ 21 h 31"/>
                  <a:gd name="T20" fmla="*/ 0 w 35"/>
                  <a:gd name="T21" fmla="*/ 11 h 31"/>
                  <a:gd name="T22" fmla="*/ 0 w 35"/>
                  <a:gd name="T23" fmla="*/ 7 h 31"/>
                  <a:gd name="T24" fmla="*/ 7 w 35"/>
                  <a:gd name="T25" fmla="*/ 0 h 31"/>
                  <a:gd name="T26" fmla="*/ 18 w 35"/>
                  <a:gd name="T27" fmla="*/ 0 h 31"/>
                  <a:gd name="T28" fmla="*/ 35 w 35"/>
                  <a:gd name="T29" fmla="*/ 4 h 31"/>
                  <a:gd name="T30" fmla="*/ 35 w 35"/>
                  <a:gd name="T31" fmla="*/ 7 h 31"/>
                  <a:gd name="T32" fmla="*/ 31 w 35"/>
                  <a:gd name="T33" fmla="*/ 7 h 31"/>
                  <a:gd name="T34" fmla="*/ 31 w 35"/>
                  <a:gd name="T35" fmla="*/ 7 h 31"/>
                  <a:gd name="T36" fmla="*/ 31 w 35"/>
                  <a:gd name="T37" fmla="*/ 7 h 3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5"/>
                  <a:gd name="T58" fmla="*/ 0 h 31"/>
                  <a:gd name="T59" fmla="*/ 35 w 35"/>
                  <a:gd name="T60" fmla="*/ 31 h 3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5" h="31">
                    <a:moveTo>
                      <a:pt x="31" y="7"/>
                    </a:moveTo>
                    <a:lnTo>
                      <a:pt x="21" y="7"/>
                    </a:lnTo>
                    <a:lnTo>
                      <a:pt x="11" y="18"/>
                    </a:lnTo>
                    <a:lnTo>
                      <a:pt x="11" y="21"/>
                    </a:lnTo>
                    <a:lnTo>
                      <a:pt x="14" y="28"/>
                    </a:lnTo>
                    <a:lnTo>
                      <a:pt x="18" y="31"/>
                    </a:lnTo>
                    <a:lnTo>
                      <a:pt x="14" y="31"/>
                    </a:lnTo>
                    <a:lnTo>
                      <a:pt x="7" y="28"/>
                    </a:lnTo>
                    <a:lnTo>
                      <a:pt x="4" y="21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7" y="0"/>
                    </a:lnTo>
                    <a:lnTo>
                      <a:pt x="18" y="0"/>
                    </a:lnTo>
                    <a:lnTo>
                      <a:pt x="35" y="4"/>
                    </a:lnTo>
                    <a:lnTo>
                      <a:pt x="35" y="7"/>
                    </a:ln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0" name="Freeform 344"/>
              <p:cNvSpPr>
                <a:spLocks/>
              </p:cNvSpPr>
              <p:nvPr/>
            </p:nvSpPr>
            <p:spPr bwMode="auto">
              <a:xfrm>
                <a:off x="2800" y="1367"/>
                <a:ext cx="173" cy="69"/>
              </a:xfrm>
              <a:custGeom>
                <a:avLst/>
                <a:gdLst>
                  <a:gd name="T0" fmla="*/ 4 w 173"/>
                  <a:gd name="T1" fmla="*/ 0 h 69"/>
                  <a:gd name="T2" fmla="*/ 18 w 173"/>
                  <a:gd name="T3" fmla="*/ 3 h 69"/>
                  <a:gd name="T4" fmla="*/ 28 w 173"/>
                  <a:gd name="T5" fmla="*/ 10 h 69"/>
                  <a:gd name="T6" fmla="*/ 42 w 173"/>
                  <a:gd name="T7" fmla="*/ 14 h 69"/>
                  <a:gd name="T8" fmla="*/ 56 w 173"/>
                  <a:gd name="T9" fmla="*/ 21 h 69"/>
                  <a:gd name="T10" fmla="*/ 76 w 173"/>
                  <a:gd name="T11" fmla="*/ 28 h 69"/>
                  <a:gd name="T12" fmla="*/ 94 w 173"/>
                  <a:gd name="T13" fmla="*/ 31 h 69"/>
                  <a:gd name="T14" fmla="*/ 111 w 173"/>
                  <a:gd name="T15" fmla="*/ 38 h 69"/>
                  <a:gd name="T16" fmla="*/ 132 w 173"/>
                  <a:gd name="T17" fmla="*/ 45 h 69"/>
                  <a:gd name="T18" fmla="*/ 159 w 173"/>
                  <a:gd name="T19" fmla="*/ 59 h 69"/>
                  <a:gd name="T20" fmla="*/ 166 w 173"/>
                  <a:gd name="T21" fmla="*/ 62 h 69"/>
                  <a:gd name="T22" fmla="*/ 170 w 173"/>
                  <a:gd name="T23" fmla="*/ 66 h 69"/>
                  <a:gd name="T24" fmla="*/ 173 w 173"/>
                  <a:gd name="T25" fmla="*/ 69 h 69"/>
                  <a:gd name="T26" fmla="*/ 170 w 173"/>
                  <a:gd name="T27" fmla="*/ 69 h 69"/>
                  <a:gd name="T28" fmla="*/ 152 w 173"/>
                  <a:gd name="T29" fmla="*/ 66 h 69"/>
                  <a:gd name="T30" fmla="*/ 146 w 173"/>
                  <a:gd name="T31" fmla="*/ 62 h 69"/>
                  <a:gd name="T32" fmla="*/ 139 w 173"/>
                  <a:gd name="T33" fmla="*/ 59 h 69"/>
                  <a:gd name="T34" fmla="*/ 125 w 173"/>
                  <a:gd name="T35" fmla="*/ 55 h 69"/>
                  <a:gd name="T36" fmla="*/ 114 w 173"/>
                  <a:gd name="T37" fmla="*/ 52 h 69"/>
                  <a:gd name="T38" fmla="*/ 108 w 173"/>
                  <a:gd name="T39" fmla="*/ 45 h 69"/>
                  <a:gd name="T40" fmla="*/ 97 w 173"/>
                  <a:gd name="T41" fmla="*/ 41 h 69"/>
                  <a:gd name="T42" fmla="*/ 90 w 173"/>
                  <a:gd name="T43" fmla="*/ 38 h 69"/>
                  <a:gd name="T44" fmla="*/ 73 w 173"/>
                  <a:gd name="T45" fmla="*/ 31 h 69"/>
                  <a:gd name="T46" fmla="*/ 63 w 173"/>
                  <a:gd name="T47" fmla="*/ 28 h 69"/>
                  <a:gd name="T48" fmla="*/ 52 w 173"/>
                  <a:gd name="T49" fmla="*/ 24 h 69"/>
                  <a:gd name="T50" fmla="*/ 38 w 173"/>
                  <a:gd name="T51" fmla="*/ 21 h 69"/>
                  <a:gd name="T52" fmla="*/ 28 w 173"/>
                  <a:gd name="T53" fmla="*/ 14 h 69"/>
                  <a:gd name="T54" fmla="*/ 14 w 173"/>
                  <a:gd name="T55" fmla="*/ 7 h 69"/>
                  <a:gd name="T56" fmla="*/ 0 w 173"/>
                  <a:gd name="T57" fmla="*/ 3 h 69"/>
                  <a:gd name="T58" fmla="*/ 0 w 173"/>
                  <a:gd name="T59" fmla="*/ 0 h 69"/>
                  <a:gd name="T60" fmla="*/ 4 w 173"/>
                  <a:gd name="T61" fmla="*/ 0 h 69"/>
                  <a:gd name="T62" fmla="*/ 4 w 173"/>
                  <a:gd name="T63" fmla="*/ 0 h 69"/>
                  <a:gd name="T64" fmla="*/ 4 w 173"/>
                  <a:gd name="T65" fmla="*/ 0 h 6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3"/>
                  <a:gd name="T100" fmla="*/ 0 h 69"/>
                  <a:gd name="T101" fmla="*/ 173 w 173"/>
                  <a:gd name="T102" fmla="*/ 69 h 6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3" h="69">
                    <a:moveTo>
                      <a:pt x="4" y="0"/>
                    </a:moveTo>
                    <a:lnTo>
                      <a:pt x="18" y="3"/>
                    </a:lnTo>
                    <a:lnTo>
                      <a:pt x="28" y="10"/>
                    </a:lnTo>
                    <a:lnTo>
                      <a:pt x="42" y="14"/>
                    </a:lnTo>
                    <a:lnTo>
                      <a:pt x="56" y="21"/>
                    </a:lnTo>
                    <a:lnTo>
                      <a:pt x="76" y="28"/>
                    </a:lnTo>
                    <a:lnTo>
                      <a:pt x="94" y="31"/>
                    </a:lnTo>
                    <a:lnTo>
                      <a:pt x="111" y="38"/>
                    </a:lnTo>
                    <a:lnTo>
                      <a:pt x="132" y="45"/>
                    </a:lnTo>
                    <a:lnTo>
                      <a:pt x="159" y="59"/>
                    </a:lnTo>
                    <a:lnTo>
                      <a:pt x="166" y="62"/>
                    </a:lnTo>
                    <a:lnTo>
                      <a:pt x="170" y="66"/>
                    </a:lnTo>
                    <a:lnTo>
                      <a:pt x="173" y="69"/>
                    </a:lnTo>
                    <a:lnTo>
                      <a:pt x="170" y="69"/>
                    </a:lnTo>
                    <a:lnTo>
                      <a:pt x="152" y="66"/>
                    </a:lnTo>
                    <a:lnTo>
                      <a:pt x="146" y="62"/>
                    </a:lnTo>
                    <a:lnTo>
                      <a:pt x="139" y="59"/>
                    </a:lnTo>
                    <a:lnTo>
                      <a:pt x="125" y="55"/>
                    </a:lnTo>
                    <a:lnTo>
                      <a:pt x="114" y="52"/>
                    </a:lnTo>
                    <a:lnTo>
                      <a:pt x="108" y="45"/>
                    </a:lnTo>
                    <a:lnTo>
                      <a:pt x="97" y="41"/>
                    </a:lnTo>
                    <a:lnTo>
                      <a:pt x="90" y="38"/>
                    </a:lnTo>
                    <a:lnTo>
                      <a:pt x="73" y="31"/>
                    </a:lnTo>
                    <a:lnTo>
                      <a:pt x="63" y="28"/>
                    </a:lnTo>
                    <a:lnTo>
                      <a:pt x="52" y="24"/>
                    </a:lnTo>
                    <a:lnTo>
                      <a:pt x="38" y="21"/>
                    </a:lnTo>
                    <a:lnTo>
                      <a:pt x="28" y="14"/>
                    </a:lnTo>
                    <a:lnTo>
                      <a:pt x="14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1" name="Freeform 345"/>
              <p:cNvSpPr>
                <a:spLocks/>
              </p:cNvSpPr>
              <p:nvPr/>
            </p:nvSpPr>
            <p:spPr bwMode="auto">
              <a:xfrm>
                <a:off x="2990" y="1377"/>
                <a:ext cx="115" cy="45"/>
              </a:xfrm>
              <a:custGeom>
                <a:avLst/>
                <a:gdLst>
                  <a:gd name="T0" fmla="*/ 115 w 115"/>
                  <a:gd name="T1" fmla="*/ 4 h 45"/>
                  <a:gd name="T2" fmla="*/ 104 w 115"/>
                  <a:gd name="T3" fmla="*/ 11 h 45"/>
                  <a:gd name="T4" fmla="*/ 94 w 115"/>
                  <a:gd name="T5" fmla="*/ 14 h 45"/>
                  <a:gd name="T6" fmla="*/ 87 w 115"/>
                  <a:gd name="T7" fmla="*/ 18 h 45"/>
                  <a:gd name="T8" fmla="*/ 80 w 115"/>
                  <a:gd name="T9" fmla="*/ 21 h 45"/>
                  <a:gd name="T10" fmla="*/ 70 w 115"/>
                  <a:gd name="T11" fmla="*/ 25 h 45"/>
                  <a:gd name="T12" fmla="*/ 63 w 115"/>
                  <a:gd name="T13" fmla="*/ 28 h 45"/>
                  <a:gd name="T14" fmla="*/ 52 w 115"/>
                  <a:gd name="T15" fmla="*/ 31 h 45"/>
                  <a:gd name="T16" fmla="*/ 42 w 115"/>
                  <a:gd name="T17" fmla="*/ 35 h 45"/>
                  <a:gd name="T18" fmla="*/ 25 w 115"/>
                  <a:gd name="T19" fmla="*/ 42 h 45"/>
                  <a:gd name="T20" fmla="*/ 0 w 115"/>
                  <a:gd name="T21" fmla="*/ 45 h 45"/>
                  <a:gd name="T22" fmla="*/ 0 w 115"/>
                  <a:gd name="T23" fmla="*/ 45 h 45"/>
                  <a:gd name="T24" fmla="*/ 11 w 115"/>
                  <a:gd name="T25" fmla="*/ 38 h 45"/>
                  <a:gd name="T26" fmla="*/ 18 w 115"/>
                  <a:gd name="T27" fmla="*/ 35 h 45"/>
                  <a:gd name="T28" fmla="*/ 21 w 115"/>
                  <a:gd name="T29" fmla="*/ 35 h 45"/>
                  <a:gd name="T30" fmla="*/ 38 w 115"/>
                  <a:gd name="T31" fmla="*/ 28 h 45"/>
                  <a:gd name="T32" fmla="*/ 59 w 115"/>
                  <a:gd name="T33" fmla="*/ 21 h 45"/>
                  <a:gd name="T34" fmla="*/ 77 w 115"/>
                  <a:gd name="T35" fmla="*/ 14 h 45"/>
                  <a:gd name="T36" fmla="*/ 94 w 115"/>
                  <a:gd name="T37" fmla="*/ 11 h 45"/>
                  <a:gd name="T38" fmla="*/ 111 w 115"/>
                  <a:gd name="T39" fmla="*/ 0 h 45"/>
                  <a:gd name="T40" fmla="*/ 115 w 115"/>
                  <a:gd name="T41" fmla="*/ 4 h 45"/>
                  <a:gd name="T42" fmla="*/ 115 w 115"/>
                  <a:gd name="T43" fmla="*/ 4 h 45"/>
                  <a:gd name="T44" fmla="*/ 115 w 115"/>
                  <a:gd name="T45" fmla="*/ 4 h 4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5"/>
                  <a:gd name="T70" fmla="*/ 0 h 45"/>
                  <a:gd name="T71" fmla="*/ 115 w 115"/>
                  <a:gd name="T72" fmla="*/ 45 h 4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5" h="45">
                    <a:moveTo>
                      <a:pt x="115" y="4"/>
                    </a:moveTo>
                    <a:lnTo>
                      <a:pt x="104" y="11"/>
                    </a:lnTo>
                    <a:lnTo>
                      <a:pt x="94" y="14"/>
                    </a:lnTo>
                    <a:lnTo>
                      <a:pt x="87" y="18"/>
                    </a:lnTo>
                    <a:lnTo>
                      <a:pt x="80" y="21"/>
                    </a:lnTo>
                    <a:lnTo>
                      <a:pt x="70" y="25"/>
                    </a:lnTo>
                    <a:lnTo>
                      <a:pt x="63" y="28"/>
                    </a:lnTo>
                    <a:lnTo>
                      <a:pt x="52" y="31"/>
                    </a:lnTo>
                    <a:lnTo>
                      <a:pt x="42" y="35"/>
                    </a:lnTo>
                    <a:lnTo>
                      <a:pt x="25" y="42"/>
                    </a:lnTo>
                    <a:lnTo>
                      <a:pt x="0" y="45"/>
                    </a:lnTo>
                    <a:lnTo>
                      <a:pt x="11" y="38"/>
                    </a:lnTo>
                    <a:lnTo>
                      <a:pt x="18" y="35"/>
                    </a:lnTo>
                    <a:lnTo>
                      <a:pt x="21" y="35"/>
                    </a:lnTo>
                    <a:lnTo>
                      <a:pt x="38" y="28"/>
                    </a:lnTo>
                    <a:lnTo>
                      <a:pt x="59" y="21"/>
                    </a:lnTo>
                    <a:lnTo>
                      <a:pt x="77" y="14"/>
                    </a:lnTo>
                    <a:lnTo>
                      <a:pt x="94" y="11"/>
                    </a:lnTo>
                    <a:lnTo>
                      <a:pt x="111" y="0"/>
                    </a:lnTo>
                    <a:lnTo>
                      <a:pt x="115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2" name="Freeform 346"/>
              <p:cNvSpPr>
                <a:spLocks/>
              </p:cNvSpPr>
              <p:nvPr/>
            </p:nvSpPr>
            <p:spPr bwMode="auto">
              <a:xfrm>
                <a:off x="2766" y="1363"/>
                <a:ext cx="197" cy="90"/>
              </a:xfrm>
              <a:custGeom>
                <a:avLst/>
                <a:gdLst>
                  <a:gd name="T0" fmla="*/ 21 w 197"/>
                  <a:gd name="T1" fmla="*/ 4 h 90"/>
                  <a:gd name="T2" fmla="*/ 10 w 197"/>
                  <a:gd name="T3" fmla="*/ 7 h 90"/>
                  <a:gd name="T4" fmla="*/ 21 w 197"/>
                  <a:gd name="T5" fmla="*/ 11 h 90"/>
                  <a:gd name="T6" fmla="*/ 38 w 197"/>
                  <a:gd name="T7" fmla="*/ 18 h 90"/>
                  <a:gd name="T8" fmla="*/ 52 w 197"/>
                  <a:gd name="T9" fmla="*/ 25 h 90"/>
                  <a:gd name="T10" fmla="*/ 69 w 197"/>
                  <a:gd name="T11" fmla="*/ 32 h 90"/>
                  <a:gd name="T12" fmla="*/ 76 w 197"/>
                  <a:gd name="T13" fmla="*/ 35 h 90"/>
                  <a:gd name="T14" fmla="*/ 83 w 197"/>
                  <a:gd name="T15" fmla="*/ 39 h 90"/>
                  <a:gd name="T16" fmla="*/ 100 w 197"/>
                  <a:gd name="T17" fmla="*/ 45 h 90"/>
                  <a:gd name="T18" fmla="*/ 114 w 197"/>
                  <a:gd name="T19" fmla="*/ 52 h 90"/>
                  <a:gd name="T20" fmla="*/ 128 w 197"/>
                  <a:gd name="T21" fmla="*/ 56 h 90"/>
                  <a:gd name="T22" fmla="*/ 142 w 197"/>
                  <a:gd name="T23" fmla="*/ 63 h 90"/>
                  <a:gd name="T24" fmla="*/ 155 w 197"/>
                  <a:gd name="T25" fmla="*/ 70 h 90"/>
                  <a:gd name="T26" fmla="*/ 166 w 197"/>
                  <a:gd name="T27" fmla="*/ 73 h 90"/>
                  <a:gd name="T28" fmla="*/ 183 w 197"/>
                  <a:gd name="T29" fmla="*/ 80 h 90"/>
                  <a:gd name="T30" fmla="*/ 197 w 197"/>
                  <a:gd name="T31" fmla="*/ 87 h 90"/>
                  <a:gd name="T32" fmla="*/ 197 w 197"/>
                  <a:gd name="T33" fmla="*/ 87 h 90"/>
                  <a:gd name="T34" fmla="*/ 197 w 197"/>
                  <a:gd name="T35" fmla="*/ 90 h 90"/>
                  <a:gd name="T36" fmla="*/ 180 w 197"/>
                  <a:gd name="T37" fmla="*/ 83 h 90"/>
                  <a:gd name="T38" fmla="*/ 166 w 197"/>
                  <a:gd name="T39" fmla="*/ 77 h 90"/>
                  <a:gd name="T40" fmla="*/ 152 w 197"/>
                  <a:gd name="T41" fmla="*/ 73 h 90"/>
                  <a:gd name="T42" fmla="*/ 138 w 197"/>
                  <a:gd name="T43" fmla="*/ 66 h 90"/>
                  <a:gd name="T44" fmla="*/ 124 w 197"/>
                  <a:gd name="T45" fmla="*/ 63 h 90"/>
                  <a:gd name="T46" fmla="*/ 110 w 197"/>
                  <a:gd name="T47" fmla="*/ 59 h 90"/>
                  <a:gd name="T48" fmla="*/ 97 w 197"/>
                  <a:gd name="T49" fmla="*/ 52 h 90"/>
                  <a:gd name="T50" fmla="*/ 79 w 197"/>
                  <a:gd name="T51" fmla="*/ 45 h 90"/>
                  <a:gd name="T52" fmla="*/ 72 w 197"/>
                  <a:gd name="T53" fmla="*/ 42 h 90"/>
                  <a:gd name="T54" fmla="*/ 62 w 197"/>
                  <a:gd name="T55" fmla="*/ 39 h 90"/>
                  <a:gd name="T56" fmla="*/ 55 w 197"/>
                  <a:gd name="T57" fmla="*/ 35 h 90"/>
                  <a:gd name="T58" fmla="*/ 48 w 197"/>
                  <a:gd name="T59" fmla="*/ 32 h 90"/>
                  <a:gd name="T60" fmla="*/ 41 w 197"/>
                  <a:gd name="T61" fmla="*/ 28 h 90"/>
                  <a:gd name="T62" fmla="*/ 34 w 197"/>
                  <a:gd name="T63" fmla="*/ 25 h 90"/>
                  <a:gd name="T64" fmla="*/ 27 w 197"/>
                  <a:gd name="T65" fmla="*/ 21 h 90"/>
                  <a:gd name="T66" fmla="*/ 21 w 197"/>
                  <a:gd name="T67" fmla="*/ 18 h 90"/>
                  <a:gd name="T68" fmla="*/ 0 w 197"/>
                  <a:gd name="T69" fmla="*/ 11 h 90"/>
                  <a:gd name="T70" fmla="*/ 0 w 197"/>
                  <a:gd name="T71" fmla="*/ 7 h 90"/>
                  <a:gd name="T72" fmla="*/ 0 w 197"/>
                  <a:gd name="T73" fmla="*/ 7 h 90"/>
                  <a:gd name="T74" fmla="*/ 21 w 197"/>
                  <a:gd name="T75" fmla="*/ 0 h 90"/>
                  <a:gd name="T76" fmla="*/ 24 w 197"/>
                  <a:gd name="T77" fmla="*/ 0 h 90"/>
                  <a:gd name="T78" fmla="*/ 21 w 197"/>
                  <a:gd name="T79" fmla="*/ 4 h 90"/>
                  <a:gd name="T80" fmla="*/ 21 w 197"/>
                  <a:gd name="T81" fmla="*/ 4 h 90"/>
                  <a:gd name="T82" fmla="*/ 21 w 197"/>
                  <a:gd name="T83" fmla="*/ 4 h 9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97"/>
                  <a:gd name="T127" fmla="*/ 0 h 90"/>
                  <a:gd name="T128" fmla="*/ 197 w 197"/>
                  <a:gd name="T129" fmla="*/ 90 h 9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97" h="90">
                    <a:moveTo>
                      <a:pt x="21" y="4"/>
                    </a:moveTo>
                    <a:lnTo>
                      <a:pt x="10" y="7"/>
                    </a:lnTo>
                    <a:lnTo>
                      <a:pt x="21" y="11"/>
                    </a:lnTo>
                    <a:lnTo>
                      <a:pt x="38" y="18"/>
                    </a:lnTo>
                    <a:lnTo>
                      <a:pt x="52" y="25"/>
                    </a:lnTo>
                    <a:lnTo>
                      <a:pt x="69" y="32"/>
                    </a:lnTo>
                    <a:lnTo>
                      <a:pt x="76" y="35"/>
                    </a:lnTo>
                    <a:lnTo>
                      <a:pt x="83" y="39"/>
                    </a:lnTo>
                    <a:lnTo>
                      <a:pt x="100" y="45"/>
                    </a:lnTo>
                    <a:lnTo>
                      <a:pt x="114" y="52"/>
                    </a:lnTo>
                    <a:lnTo>
                      <a:pt x="128" y="56"/>
                    </a:lnTo>
                    <a:lnTo>
                      <a:pt x="142" y="63"/>
                    </a:lnTo>
                    <a:lnTo>
                      <a:pt x="155" y="70"/>
                    </a:lnTo>
                    <a:lnTo>
                      <a:pt x="166" y="73"/>
                    </a:lnTo>
                    <a:lnTo>
                      <a:pt x="183" y="80"/>
                    </a:lnTo>
                    <a:lnTo>
                      <a:pt x="197" y="87"/>
                    </a:lnTo>
                    <a:lnTo>
                      <a:pt x="197" y="90"/>
                    </a:lnTo>
                    <a:lnTo>
                      <a:pt x="180" y="83"/>
                    </a:lnTo>
                    <a:lnTo>
                      <a:pt x="166" y="77"/>
                    </a:lnTo>
                    <a:lnTo>
                      <a:pt x="152" y="73"/>
                    </a:lnTo>
                    <a:lnTo>
                      <a:pt x="138" y="66"/>
                    </a:lnTo>
                    <a:lnTo>
                      <a:pt x="124" y="63"/>
                    </a:lnTo>
                    <a:lnTo>
                      <a:pt x="110" y="59"/>
                    </a:lnTo>
                    <a:lnTo>
                      <a:pt x="97" y="52"/>
                    </a:lnTo>
                    <a:lnTo>
                      <a:pt x="79" y="45"/>
                    </a:lnTo>
                    <a:lnTo>
                      <a:pt x="72" y="42"/>
                    </a:lnTo>
                    <a:lnTo>
                      <a:pt x="62" y="39"/>
                    </a:lnTo>
                    <a:lnTo>
                      <a:pt x="55" y="35"/>
                    </a:lnTo>
                    <a:lnTo>
                      <a:pt x="48" y="32"/>
                    </a:lnTo>
                    <a:lnTo>
                      <a:pt x="41" y="28"/>
                    </a:lnTo>
                    <a:lnTo>
                      <a:pt x="34" y="25"/>
                    </a:lnTo>
                    <a:lnTo>
                      <a:pt x="27" y="21"/>
                    </a:lnTo>
                    <a:lnTo>
                      <a:pt x="21" y="18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3" name="Freeform 347"/>
              <p:cNvSpPr>
                <a:spLocks/>
              </p:cNvSpPr>
              <p:nvPr/>
            </p:nvSpPr>
            <p:spPr bwMode="auto">
              <a:xfrm>
                <a:off x="2973" y="1395"/>
                <a:ext cx="100" cy="58"/>
              </a:xfrm>
              <a:custGeom>
                <a:avLst/>
                <a:gdLst>
                  <a:gd name="T0" fmla="*/ 0 w 100"/>
                  <a:gd name="T1" fmla="*/ 55 h 58"/>
                  <a:gd name="T2" fmla="*/ 14 w 100"/>
                  <a:gd name="T3" fmla="*/ 48 h 58"/>
                  <a:gd name="T4" fmla="*/ 17 w 100"/>
                  <a:gd name="T5" fmla="*/ 45 h 58"/>
                  <a:gd name="T6" fmla="*/ 24 w 100"/>
                  <a:gd name="T7" fmla="*/ 38 h 58"/>
                  <a:gd name="T8" fmla="*/ 28 w 100"/>
                  <a:gd name="T9" fmla="*/ 34 h 58"/>
                  <a:gd name="T10" fmla="*/ 35 w 100"/>
                  <a:gd name="T11" fmla="*/ 31 h 58"/>
                  <a:gd name="T12" fmla="*/ 42 w 100"/>
                  <a:gd name="T13" fmla="*/ 27 h 58"/>
                  <a:gd name="T14" fmla="*/ 49 w 100"/>
                  <a:gd name="T15" fmla="*/ 24 h 58"/>
                  <a:gd name="T16" fmla="*/ 59 w 100"/>
                  <a:gd name="T17" fmla="*/ 17 h 58"/>
                  <a:gd name="T18" fmla="*/ 69 w 100"/>
                  <a:gd name="T19" fmla="*/ 13 h 58"/>
                  <a:gd name="T20" fmla="*/ 76 w 100"/>
                  <a:gd name="T21" fmla="*/ 7 h 58"/>
                  <a:gd name="T22" fmla="*/ 83 w 100"/>
                  <a:gd name="T23" fmla="*/ 7 h 58"/>
                  <a:gd name="T24" fmla="*/ 97 w 100"/>
                  <a:gd name="T25" fmla="*/ 0 h 58"/>
                  <a:gd name="T26" fmla="*/ 100 w 100"/>
                  <a:gd name="T27" fmla="*/ 0 h 58"/>
                  <a:gd name="T28" fmla="*/ 97 w 100"/>
                  <a:gd name="T29" fmla="*/ 0 h 58"/>
                  <a:gd name="T30" fmla="*/ 87 w 100"/>
                  <a:gd name="T31" fmla="*/ 10 h 58"/>
                  <a:gd name="T32" fmla="*/ 80 w 100"/>
                  <a:gd name="T33" fmla="*/ 13 h 58"/>
                  <a:gd name="T34" fmla="*/ 73 w 100"/>
                  <a:gd name="T35" fmla="*/ 20 h 58"/>
                  <a:gd name="T36" fmla="*/ 62 w 100"/>
                  <a:gd name="T37" fmla="*/ 24 h 58"/>
                  <a:gd name="T38" fmla="*/ 52 w 100"/>
                  <a:gd name="T39" fmla="*/ 31 h 58"/>
                  <a:gd name="T40" fmla="*/ 38 w 100"/>
                  <a:gd name="T41" fmla="*/ 38 h 58"/>
                  <a:gd name="T42" fmla="*/ 24 w 100"/>
                  <a:gd name="T43" fmla="*/ 45 h 58"/>
                  <a:gd name="T44" fmla="*/ 21 w 100"/>
                  <a:gd name="T45" fmla="*/ 48 h 58"/>
                  <a:gd name="T46" fmla="*/ 14 w 100"/>
                  <a:gd name="T47" fmla="*/ 51 h 58"/>
                  <a:gd name="T48" fmla="*/ 7 w 100"/>
                  <a:gd name="T49" fmla="*/ 55 h 58"/>
                  <a:gd name="T50" fmla="*/ 0 w 100"/>
                  <a:gd name="T51" fmla="*/ 58 h 58"/>
                  <a:gd name="T52" fmla="*/ 0 w 100"/>
                  <a:gd name="T53" fmla="*/ 58 h 58"/>
                  <a:gd name="T54" fmla="*/ 0 w 100"/>
                  <a:gd name="T55" fmla="*/ 55 h 58"/>
                  <a:gd name="T56" fmla="*/ 0 w 100"/>
                  <a:gd name="T57" fmla="*/ 55 h 58"/>
                  <a:gd name="T58" fmla="*/ 0 w 100"/>
                  <a:gd name="T59" fmla="*/ 55 h 5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0"/>
                  <a:gd name="T91" fmla="*/ 0 h 58"/>
                  <a:gd name="T92" fmla="*/ 100 w 100"/>
                  <a:gd name="T93" fmla="*/ 58 h 5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0" h="58">
                    <a:moveTo>
                      <a:pt x="0" y="55"/>
                    </a:moveTo>
                    <a:lnTo>
                      <a:pt x="14" y="48"/>
                    </a:lnTo>
                    <a:lnTo>
                      <a:pt x="17" y="45"/>
                    </a:lnTo>
                    <a:lnTo>
                      <a:pt x="24" y="38"/>
                    </a:lnTo>
                    <a:lnTo>
                      <a:pt x="28" y="34"/>
                    </a:lnTo>
                    <a:lnTo>
                      <a:pt x="35" y="31"/>
                    </a:lnTo>
                    <a:lnTo>
                      <a:pt x="42" y="27"/>
                    </a:lnTo>
                    <a:lnTo>
                      <a:pt x="49" y="24"/>
                    </a:lnTo>
                    <a:lnTo>
                      <a:pt x="59" y="17"/>
                    </a:lnTo>
                    <a:lnTo>
                      <a:pt x="69" y="13"/>
                    </a:lnTo>
                    <a:lnTo>
                      <a:pt x="76" y="7"/>
                    </a:lnTo>
                    <a:lnTo>
                      <a:pt x="83" y="7"/>
                    </a:lnTo>
                    <a:lnTo>
                      <a:pt x="97" y="0"/>
                    </a:lnTo>
                    <a:lnTo>
                      <a:pt x="100" y="0"/>
                    </a:lnTo>
                    <a:lnTo>
                      <a:pt x="97" y="0"/>
                    </a:lnTo>
                    <a:lnTo>
                      <a:pt x="87" y="10"/>
                    </a:lnTo>
                    <a:lnTo>
                      <a:pt x="80" y="13"/>
                    </a:lnTo>
                    <a:lnTo>
                      <a:pt x="73" y="20"/>
                    </a:lnTo>
                    <a:lnTo>
                      <a:pt x="62" y="24"/>
                    </a:lnTo>
                    <a:lnTo>
                      <a:pt x="52" y="31"/>
                    </a:lnTo>
                    <a:lnTo>
                      <a:pt x="38" y="38"/>
                    </a:lnTo>
                    <a:lnTo>
                      <a:pt x="24" y="45"/>
                    </a:lnTo>
                    <a:lnTo>
                      <a:pt x="21" y="48"/>
                    </a:lnTo>
                    <a:lnTo>
                      <a:pt x="14" y="51"/>
                    </a:lnTo>
                    <a:lnTo>
                      <a:pt x="7" y="55"/>
                    </a:lnTo>
                    <a:lnTo>
                      <a:pt x="0" y="58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4" name="Freeform 348"/>
              <p:cNvSpPr>
                <a:spLocks/>
              </p:cNvSpPr>
              <p:nvPr/>
            </p:nvSpPr>
            <p:spPr bwMode="auto">
              <a:xfrm>
                <a:off x="3004" y="1367"/>
                <a:ext cx="7" cy="17"/>
              </a:xfrm>
              <a:custGeom>
                <a:avLst/>
                <a:gdLst>
                  <a:gd name="T0" fmla="*/ 7 w 7"/>
                  <a:gd name="T1" fmla="*/ 0 h 17"/>
                  <a:gd name="T2" fmla="*/ 7 w 7"/>
                  <a:gd name="T3" fmla="*/ 10 h 17"/>
                  <a:gd name="T4" fmla="*/ 4 w 7"/>
                  <a:gd name="T5" fmla="*/ 17 h 17"/>
                  <a:gd name="T6" fmla="*/ 4 w 7"/>
                  <a:gd name="T7" fmla="*/ 17 h 17"/>
                  <a:gd name="T8" fmla="*/ 0 w 7"/>
                  <a:gd name="T9" fmla="*/ 17 h 17"/>
                  <a:gd name="T10" fmla="*/ 0 w 7"/>
                  <a:gd name="T11" fmla="*/ 10 h 17"/>
                  <a:gd name="T12" fmla="*/ 4 w 7"/>
                  <a:gd name="T13" fmla="*/ 0 h 17"/>
                  <a:gd name="T14" fmla="*/ 4 w 7"/>
                  <a:gd name="T15" fmla="*/ 0 h 17"/>
                  <a:gd name="T16" fmla="*/ 7 w 7"/>
                  <a:gd name="T17" fmla="*/ 0 h 17"/>
                  <a:gd name="T18" fmla="*/ 7 w 7"/>
                  <a:gd name="T19" fmla="*/ 0 h 17"/>
                  <a:gd name="T20" fmla="*/ 7 w 7"/>
                  <a:gd name="T21" fmla="*/ 0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"/>
                  <a:gd name="T34" fmla="*/ 0 h 17"/>
                  <a:gd name="T35" fmla="*/ 7 w 7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" h="17">
                    <a:moveTo>
                      <a:pt x="7" y="0"/>
                    </a:moveTo>
                    <a:lnTo>
                      <a:pt x="7" y="10"/>
                    </a:lnTo>
                    <a:lnTo>
                      <a:pt x="4" y="17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5" name="Freeform 349"/>
              <p:cNvSpPr>
                <a:spLocks/>
              </p:cNvSpPr>
              <p:nvPr/>
            </p:nvSpPr>
            <p:spPr bwMode="auto">
              <a:xfrm>
                <a:off x="3184" y="1135"/>
                <a:ext cx="66" cy="49"/>
              </a:xfrm>
              <a:custGeom>
                <a:avLst/>
                <a:gdLst>
                  <a:gd name="T0" fmla="*/ 3 w 66"/>
                  <a:gd name="T1" fmla="*/ 42 h 49"/>
                  <a:gd name="T2" fmla="*/ 17 w 66"/>
                  <a:gd name="T3" fmla="*/ 42 h 49"/>
                  <a:gd name="T4" fmla="*/ 35 w 66"/>
                  <a:gd name="T5" fmla="*/ 38 h 49"/>
                  <a:gd name="T6" fmla="*/ 41 w 66"/>
                  <a:gd name="T7" fmla="*/ 28 h 49"/>
                  <a:gd name="T8" fmla="*/ 45 w 66"/>
                  <a:gd name="T9" fmla="*/ 18 h 49"/>
                  <a:gd name="T10" fmla="*/ 52 w 66"/>
                  <a:gd name="T11" fmla="*/ 11 h 49"/>
                  <a:gd name="T12" fmla="*/ 62 w 66"/>
                  <a:gd name="T13" fmla="*/ 0 h 49"/>
                  <a:gd name="T14" fmla="*/ 62 w 66"/>
                  <a:gd name="T15" fmla="*/ 0 h 49"/>
                  <a:gd name="T16" fmla="*/ 66 w 66"/>
                  <a:gd name="T17" fmla="*/ 4 h 49"/>
                  <a:gd name="T18" fmla="*/ 52 w 66"/>
                  <a:gd name="T19" fmla="*/ 21 h 49"/>
                  <a:gd name="T20" fmla="*/ 45 w 66"/>
                  <a:gd name="T21" fmla="*/ 35 h 49"/>
                  <a:gd name="T22" fmla="*/ 41 w 66"/>
                  <a:gd name="T23" fmla="*/ 38 h 49"/>
                  <a:gd name="T24" fmla="*/ 38 w 66"/>
                  <a:gd name="T25" fmla="*/ 45 h 49"/>
                  <a:gd name="T26" fmla="*/ 28 w 66"/>
                  <a:gd name="T27" fmla="*/ 45 h 49"/>
                  <a:gd name="T28" fmla="*/ 21 w 66"/>
                  <a:gd name="T29" fmla="*/ 49 h 49"/>
                  <a:gd name="T30" fmla="*/ 3 w 66"/>
                  <a:gd name="T31" fmla="*/ 45 h 49"/>
                  <a:gd name="T32" fmla="*/ 0 w 66"/>
                  <a:gd name="T33" fmla="*/ 45 h 49"/>
                  <a:gd name="T34" fmla="*/ 3 w 66"/>
                  <a:gd name="T35" fmla="*/ 42 h 49"/>
                  <a:gd name="T36" fmla="*/ 3 w 66"/>
                  <a:gd name="T37" fmla="*/ 42 h 49"/>
                  <a:gd name="T38" fmla="*/ 3 w 66"/>
                  <a:gd name="T39" fmla="*/ 42 h 4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6"/>
                  <a:gd name="T61" fmla="*/ 0 h 49"/>
                  <a:gd name="T62" fmla="*/ 66 w 66"/>
                  <a:gd name="T63" fmla="*/ 49 h 4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6" h="49">
                    <a:moveTo>
                      <a:pt x="3" y="42"/>
                    </a:moveTo>
                    <a:lnTo>
                      <a:pt x="17" y="42"/>
                    </a:lnTo>
                    <a:lnTo>
                      <a:pt x="35" y="38"/>
                    </a:lnTo>
                    <a:lnTo>
                      <a:pt x="41" y="28"/>
                    </a:lnTo>
                    <a:lnTo>
                      <a:pt x="45" y="18"/>
                    </a:lnTo>
                    <a:lnTo>
                      <a:pt x="52" y="11"/>
                    </a:lnTo>
                    <a:lnTo>
                      <a:pt x="62" y="0"/>
                    </a:lnTo>
                    <a:lnTo>
                      <a:pt x="66" y="4"/>
                    </a:lnTo>
                    <a:lnTo>
                      <a:pt x="52" y="21"/>
                    </a:lnTo>
                    <a:lnTo>
                      <a:pt x="45" y="35"/>
                    </a:lnTo>
                    <a:lnTo>
                      <a:pt x="41" y="38"/>
                    </a:lnTo>
                    <a:lnTo>
                      <a:pt x="38" y="45"/>
                    </a:lnTo>
                    <a:lnTo>
                      <a:pt x="28" y="45"/>
                    </a:lnTo>
                    <a:lnTo>
                      <a:pt x="21" y="49"/>
                    </a:lnTo>
                    <a:lnTo>
                      <a:pt x="3" y="45"/>
                    </a:lnTo>
                    <a:lnTo>
                      <a:pt x="0" y="45"/>
                    </a:lnTo>
                    <a:lnTo>
                      <a:pt x="3" y="4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6" name="Freeform 350"/>
              <p:cNvSpPr>
                <a:spLocks/>
              </p:cNvSpPr>
              <p:nvPr/>
            </p:nvSpPr>
            <p:spPr bwMode="auto">
              <a:xfrm>
                <a:off x="3239" y="1153"/>
                <a:ext cx="31" cy="24"/>
              </a:xfrm>
              <a:custGeom>
                <a:avLst/>
                <a:gdLst>
                  <a:gd name="T0" fmla="*/ 4 w 31"/>
                  <a:gd name="T1" fmla="*/ 0 h 24"/>
                  <a:gd name="T2" fmla="*/ 18 w 31"/>
                  <a:gd name="T3" fmla="*/ 17 h 24"/>
                  <a:gd name="T4" fmla="*/ 28 w 31"/>
                  <a:gd name="T5" fmla="*/ 17 h 24"/>
                  <a:gd name="T6" fmla="*/ 31 w 31"/>
                  <a:gd name="T7" fmla="*/ 17 h 24"/>
                  <a:gd name="T8" fmla="*/ 31 w 31"/>
                  <a:gd name="T9" fmla="*/ 20 h 24"/>
                  <a:gd name="T10" fmla="*/ 21 w 31"/>
                  <a:gd name="T11" fmla="*/ 24 h 24"/>
                  <a:gd name="T12" fmla="*/ 14 w 31"/>
                  <a:gd name="T13" fmla="*/ 24 h 24"/>
                  <a:gd name="T14" fmla="*/ 11 w 31"/>
                  <a:gd name="T15" fmla="*/ 24 h 24"/>
                  <a:gd name="T16" fmla="*/ 7 w 31"/>
                  <a:gd name="T17" fmla="*/ 13 h 24"/>
                  <a:gd name="T18" fmla="*/ 4 w 31"/>
                  <a:gd name="T19" fmla="*/ 7 h 24"/>
                  <a:gd name="T20" fmla="*/ 0 w 31"/>
                  <a:gd name="T21" fmla="*/ 3 h 24"/>
                  <a:gd name="T22" fmla="*/ 0 w 31"/>
                  <a:gd name="T23" fmla="*/ 0 h 24"/>
                  <a:gd name="T24" fmla="*/ 4 w 31"/>
                  <a:gd name="T25" fmla="*/ 0 h 24"/>
                  <a:gd name="T26" fmla="*/ 4 w 31"/>
                  <a:gd name="T27" fmla="*/ 0 h 24"/>
                  <a:gd name="T28" fmla="*/ 4 w 31"/>
                  <a:gd name="T29" fmla="*/ 0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1"/>
                  <a:gd name="T46" fmla="*/ 0 h 24"/>
                  <a:gd name="T47" fmla="*/ 31 w 31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1" h="24">
                    <a:moveTo>
                      <a:pt x="4" y="0"/>
                    </a:moveTo>
                    <a:lnTo>
                      <a:pt x="18" y="17"/>
                    </a:lnTo>
                    <a:lnTo>
                      <a:pt x="28" y="17"/>
                    </a:lnTo>
                    <a:lnTo>
                      <a:pt x="31" y="17"/>
                    </a:lnTo>
                    <a:lnTo>
                      <a:pt x="31" y="20"/>
                    </a:lnTo>
                    <a:lnTo>
                      <a:pt x="21" y="24"/>
                    </a:lnTo>
                    <a:lnTo>
                      <a:pt x="14" y="24"/>
                    </a:lnTo>
                    <a:lnTo>
                      <a:pt x="11" y="24"/>
                    </a:lnTo>
                    <a:lnTo>
                      <a:pt x="7" y="13"/>
                    </a:lnTo>
                    <a:lnTo>
                      <a:pt x="4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7" name="Freeform 351"/>
              <p:cNvSpPr>
                <a:spLocks/>
              </p:cNvSpPr>
              <p:nvPr/>
            </p:nvSpPr>
            <p:spPr bwMode="auto">
              <a:xfrm>
                <a:off x="3208" y="990"/>
                <a:ext cx="21" cy="17"/>
              </a:xfrm>
              <a:custGeom>
                <a:avLst/>
                <a:gdLst>
                  <a:gd name="T0" fmla="*/ 7 w 21"/>
                  <a:gd name="T1" fmla="*/ 4 h 17"/>
                  <a:gd name="T2" fmla="*/ 7 w 21"/>
                  <a:gd name="T3" fmla="*/ 7 h 17"/>
                  <a:gd name="T4" fmla="*/ 11 w 21"/>
                  <a:gd name="T5" fmla="*/ 11 h 17"/>
                  <a:gd name="T6" fmla="*/ 14 w 21"/>
                  <a:gd name="T7" fmla="*/ 7 h 17"/>
                  <a:gd name="T8" fmla="*/ 14 w 21"/>
                  <a:gd name="T9" fmla="*/ 4 h 17"/>
                  <a:gd name="T10" fmla="*/ 14 w 21"/>
                  <a:gd name="T11" fmla="*/ 4 h 17"/>
                  <a:gd name="T12" fmla="*/ 17 w 21"/>
                  <a:gd name="T13" fmla="*/ 0 h 17"/>
                  <a:gd name="T14" fmla="*/ 21 w 21"/>
                  <a:gd name="T15" fmla="*/ 4 h 17"/>
                  <a:gd name="T16" fmla="*/ 21 w 21"/>
                  <a:gd name="T17" fmla="*/ 11 h 17"/>
                  <a:gd name="T18" fmla="*/ 17 w 21"/>
                  <a:gd name="T19" fmla="*/ 14 h 17"/>
                  <a:gd name="T20" fmla="*/ 11 w 21"/>
                  <a:gd name="T21" fmla="*/ 17 h 17"/>
                  <a:gd name="T22" fmla="*/ 4 w 21"/>
                  <a:gd name="T23" fmla="*/ 11 h 17"/>
                  <a:gd name="T24" fmla="*/ 0 w 21"/>
                  <a:gd name="T25" fmla="*/ 7 h 17"/>
                  <a:gd name="T26" fmla="*/ 4 w 21"/>
                  <a:gd name="T27" fmla="*/ 4 h 17"/>
                  <a:gd name="T28" fmla="*/ 7 w 21"/>
                  <a:gd name="T29" fmla="*/ 4 h 17"/>
                  <a:gd name="T30" fmla="*/ 7 w 21"/>
                  <a:gd name="T31" fmla="*/ 4 h 17"/>
                  <a:gd name="T32" fmla="*/ 7 w 21"/>
                  <a:gd name="T33" fmla="*/ 4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17"/>
                  <a:gd name="T53" fmla="*/ 21 w 21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17">
                    <a:moveTo>
                      <a:pt x="7" y="4"/>
                    </a:moveTo>
                    <a:lnTo>
                      <a:pt x="7" y="7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4" y="4"/>
                    </a:lnTo>
                    <a:lnTo>
                      <a:pt x="17" y="0"/>
                    </a:lnTo>
                    <a:lnTo>
                      <a:pt x="21" y="4"/>
                    </a:lnTo>
                    <a:lnTo>
                      <a:pt x="21" y="11"/>
                    </a:lnTo>
                    <a:lnTo>
                      <a:pt x="17" y="14"/>
                    </a:lnTo>
                    <a:lnTo>
                      <a:pt x="11" y="17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4" y="4"/>
                    </a:ln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8" name="Freeform 352"/>
              <p:cNvSpPr>
                <a:spLocks/>
              </p:cNvSpPr>
              <p:nvPr/>
            </p:nvSpPr>
            <p:spPr bwMode="auto">
              <a:xfrm>
                <a:off x="3229" y="997"/>
                <a:ext cx="21" cy="14"/>
              </a:xfrm>
              <a:custGeom>
                <a:avLst/>
                <a:gdLst>
                  <a:gd name="T0" fmla="*/ 3 w 21"/>
                  <a:gd name="T1" fmla="*/ 7 h 14"/>
                  <a:gd name="T2" fmla="*/ 7 w 21"/>
                  <a:gd name="T3" fmla="*/ 7 h 14"/>
                  <a:gd name="T4" fmla="*/ 10 w 21"/>
                  <a:gd name="T5" fmla="*/ 7 h 14"/>
                  <a:gd name="T6" fmla="*/ 14 w 21"/>
                  <a:gd name="T7" fmla="*/ 4 h 14"/>
                  <a:gd name="T8" fmla="*/ 14 w 21"/>
                  <a:gd name="T9" fmla="*/ 4 h 14"/>
                  <a:gd name="T10" fmla="*/ 10 w 21"/>
                  <a:gd name="T11" fmla="*/ 0 h 14"/>
                  <a:gd name="T12" fmla="*/ 14 w 21"/>
                  <a:gd name="T13" fmla="*/ 0 h 14"/>
                  <a:gd name="T14" fmla="*/ 21 w 21"/>
                  <a:gd name="T15" fmla="*/ 4 h 14"/>
                  <a:gd name="T16" fmla="*/ 21 w 21"/>
                  <a:gd name="T17" fmla="*/ 4 h 14"/>
                  <a:gd name="T18" fmla="*/ 21 w 21"/>
                  <a:gd name="T19" fmla="*/ 7 h 14"/>
                  <a:gd name="T20" fmla="*/ 17 w 21"/>
                  <a:gd name="T21" fmla="*/ 14 h 14"/>
                  <a:gd name="T22" fmla="*/ 10 w 21"/>
                  <a:gd name="T23" fmla="*/ 14 h 14"/>
                  <a:gd name="T24" fmla="*/ 7 w 21"/>
                  <a:gd name="T25" fmla="*/ 14 h 14"/>
                  <a:gd name="T26" fmla="*/ 0 w 21"/>
                  <a:gd name="T27" fmla="*/ 7 h 14"/>
                  <a:gd name="T28" fmla="*/ 3 w 21"/>
                  <a:gd name="T29" fmla="*/ 7 h 14"/>
                  <a:gd name="T30" fmla="*/ 3 w 21"/>
                  <a:gd name="T31" fmla="*/ 7 h 14"/>
                  <a:gd name="T32" fmla="*/ 3 w 21"/>
                  <a:gd name="T33" fmla="*/ 7 h 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14"/>
                  <a:gd name="T53" fmla="*/ 21 w 21"/>
                  <a:gd name="T54" fmla="*/ 14 h 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14">
                    <a:moveTo>
                      <a:pt x="3" y="7"/>
                    </a:moveTo>
                    <a:lnTo>
                      <a:pt x="7" y="7"/>
                    </a:lnTo>
                    <a:lnTo>
                      <a:pt x="10" y="7"/>
                    </a:lnTo>
                    <a:lnTo>
                      <a:pt x="14" y="4"/>
                    </a:lnTo>
                    <a:lnTo>
                      <a:pt x="10" y="0"/>
                    </a:lnTo>
                    <a:lnTo>
                      <a:pt x="14" y="0"/>
                    </a:lnTo>
                    <a:lnTo>
                      <a:pt x="21" y="4"/>
                    </a:lnTo>
                    <a:lnTo>
                      <a:pt x="21" y="7"/>
                    </a:lnTo>
                    <a:lnTo>
                      <a:pt x="17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0" y="7"/>
                    </a:ln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69" name="Freeform 353"/>
              <p:cNvSpPr>
                <a:spLocks/>
              </p:cNvSpPr>
              <p:nvPr/>
            </p:nvSpPr>
            <p:spPr bwMode="auto">
              <a:xfrm>
                <a:off x="3253" y="983"/>
                <a:ext cx="14" cy="18"/>
              </a:xfrm>
              <a:custGeom>
                <a:avLst/>
                <a:gdLst>
                  <a:gd name="T0" fmla="*/ 0 w 14"/>
                  <a:gd name="T1" fmla="*/ 14 h 18"/>
                  <a:gd name="T2" fmla="*/ 7 w 14"/>
                  <a:gd name="T3" fmla="*/ 14 h 18"/>
                  <a:gd name="T4" fmla="*/ 7 w 14"/>
                  <a:gd name="T5" fmla="*/ 7 h 18"/>
                  <a:gd name="T6" fmla="*/ 7 w 14"/>
                  <a:gd name="T7" fmla="*/ 4 h 18"/>
                  <a:gd name="T8" fmla="*/ 4 w 14"/>
                  <a:gd name="T9" fmla="*/ 4 h 18"/>
                  <a:gd name="T10" fmla="*/ 0 w 14"/>
                  <a:gd name="T11" fmla="*/ 0 h 18"/>
                  <a:gd name="T12" fmla="*/ 4 w 14"/>
                  <a:gd name="T13" fmla="*/ 0 h 18"/>
                  <a:gd name="T14" fmla="*/ 14 w 14"/>
                  <a:gd name="T15" fmla="*/ 11 h 18"/>
                  <a:gd name="T16" fmla="*/ 14 w 14"/>
                  <a:gd name="T17" fmla="*/ 14 h 18"/>
                  <a:gd name="T18" fmla="*/ 11 w 14"/>
                  <a:gd name="T19" fmla="*/ 18 h 18"/>
                  <a:gd name="T20" fmla="*/ 4 w 14"/>
                  <a:gd name="T21" fmla="*/ 18 h 18"/>
                  <a:gd name="T22" fmla="*/ 0 w 14"/>
                  <a:gd name="T23" fmla="*/ 14 h 18"/>
                  <a:gd name="T24" fmla="*/ 0 w 14"/>
                  <a:gd name="T25" fmla="*/ 11 h 18"/>
                  <a:gd name="T26" fmla="*/ 0 w 14"/>
                  <a:gd name="T27" fmla="*/ 14 h 18"/>
                  <a:gd name="T28" fmla="*/ 0 w 14"/>
                  <a:gd name="T29" fmla="*/ 14 h 18"/>
                  <a:gd name="T30" fmla="*/ 0 w 14"/>
                  <a:gd name="T31" fmla="*/ 14 h 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"/>
                  <a:gd name="T49" fmla="*/ 0 h 18"/>
                  <a:gd name="T50" fmla="*/ 14 w 14"/>
                  <a:gd name="T51" fmla="*/ 18 h 1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" h="18">
                    <a:moveTo>
                      <a:pt x="0" y="14"/>
                    </a:moveTo>
                    <a:lnTo>
                      <a:pt x="7" y="14"/>
                    </a:lnTo>
                    <a:lnTo>
                      <a:pt x="7" y="7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14" y="11"/>
                    </a:lnTo>
                    <a:lnTo>
                      <a:pt x="14" y="14"/>
                    </a:lnTo>
                    <a:lnTo>
                      <a:pt x="11" y="18"/>
                    </a:lnTo>
                    <a:lnTo>
                      <a:pt x="4" y="18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70" name="Line 354"/>
              <p:cNvSpPr>
                <a:spLocks noChangeShapeType="1"/>
              </p:cNvSpPr>
              <p:nvPr/>
            </p:nvSpPr>
            <p:spPr bwMode="auto">
              <a:xfrm>
                <a:off x="3281" y="156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171" name="Line 355"/>
              <p:cNvSpPr>
                <a:spLocks noChangeShapeType="1"/>
              </p:cNvSpPr>
              <p:nvPr/>
            </p:nvSpPr>
            <p:spPr bwMode="auto">
              <a:xfrm>
                <a:off x="3281" y="156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172" name="Rectangle 356"/>
              <p:cNvSpPr>
                <a:spLocks noChangeArrowheads="1"/>
              </p:cNvSpPr>
              <p:nvPr/>
            </p:nvSpPr>
            <p:spPr bwMode="auto">
              <a:xfrm>
                <a:off x="3403" y="1541"/>
                <a:ext cx="792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Manufactured</a:t>
                </a:r>
                <a:endParaRPr lang="en-US" altLang="en-US" dirty="0"/>
              </a:p>
            </p:txBody>
          </p:sp>
          <p:sp>
            <p:nvSpPr>
              <p:cNvPr id="42177" name="Line 361"/>
              <p:cNvSpPr>
                <a:spLocks noChangeShapeType="1"/>
              </p:cNvSpPr>
              <p:nvPr/>
            </p:nvSpPr>
            <p:spPr bwMode="auto">
              <a:xfrm>
                <a:off x="3282" y="1522"/>
                <a:ext cx="0" cy="12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178" name="Freeform 362"/>
              <p:cNvSpPr>
                <a:spLocks/>
              </p:cNvSpPr>
              <p:nvPr/>
            </p:nvSpPr>
            <p:spPr bwMode="auto">
              <a:xfrm>
                <a:off x="3254" y="1626"/>
                <a:ext cx="59" cy="114"/>
              </a:xfrm>
              <a:custGeom>
                <a:avLst/>
                <a:gdLst>
                  <a:gd name="T0" fmla="*/ 0 w 59"/>
                  <a:gd name="T1" fmla="*/ 0 h 114"/>
                  <a:gd name="T2" fmla="*/ 28 w 59"/>
                  <a:gd name="T3" fmla="*/ 114 h 114"/>
                  <a:gd name="T4" fmla="*/ 59 w 59"/>
                  <a:gd name="T5" fmla="*/ 0 h 114"/>
                  <a:gd name="T6" fmla="*/ 0 w 59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9"/>
                  <a:gd name="T13" fmla="*/ 0 h 114"/>
                  <a:gd name="T14" fmla="*/ 59 w 59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9" h="114">
                    <a:moveTo>
                      <a:pt x="0" y="0"/>
                    </a:moveTo>
                    <a:lnTo>
                      <a:pt x="28" y="114"/>
                    </a:lnTo>
                    <a:lnTo>
                      <a:pt x="5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79" name="Line 363"/>
              <p:cNvSpPr>
                <a:spLocks noChangeShapeType="1"/>
              </p:cNvSpPr>
              <p:nvPr/>
            </p:nvSpPr>
            <p:spPr bwMode="auto">
              <a:xfrm>
                <a:off x="3326" y="1740"/>
                <a:ext cx="905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180" name="Rectangle 364"/>
              <p:cNvSpPr>
                <a:spLocks noChangeArrowheads="1"/>
              </p:cNvSpPr>
              <p:nvPr/>
            </p:nvSpPr>
            <p:spPr bwMode="auto">
              <a:xfrm>
                <a:off x="2484" y="1541"/>
                <a:ext cx="61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Off-the-shelf</a:t>
                </a:r>
                <a:endParaRPr lang="en-US" altLang="en-US" dirty="0"/>
              </a:p>
            </p:txBody>
          </p:sp>
          <p:sp>
            <p:nvSpPr>
              <p:cNvPr id="42181" name="Line 365"/>
              <p:cNvSpPr>
                <a:spLocks noChangeShapeType="1"/>
              </p:cNvSpPr>
              <p:nvPr/>
            </p:nvSpPr>
            <p:spPr bwMode="auto">
              <a:xfrm>
                <a:off x="2427" y="1740"/>
                <a:ext cx="906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182" name="Freeform 366"/>
              <p:cNvSpPr>
                <a:spLocks/>
              </p:cNvSpPr>
              <p:nvPr/>
            </p:nvSpPr>
            <p:spPr bwMode="auto">
              <a:xfrm>
                <a:off x="4570" y="1543"/>
                <a:ext cx="97" cy="100"/>
              </a:xfrm>
              <a:custGeom>
                <a:avLst/>
                <a:gdLst>
                  <a:gd name="T0" fmla="*/ 73 w 97"/>
                  <a:gd name="T1" fmla="*/ 35 h 100"/>
                  <a:gd name="T2" fmla="*/ 97 w 97"/>
                  <a:gd name="T3" fmla="*/ 35 h 100"/>
                  <a:gd name="T4" fmla="*/ 45 w 97"/>
                  <a:gd name="T5" fmla="*/ 0 h 100"/>
                  <a:gd name="T6" fmla="*/ 0 w 97"/>
                  <a:gd name="T7" fmla="*/ 35 h 100"/>
                  <a:gd name="T8" fmla="*/ 24 w 97"/>
                  <a:gd name="T9" fmla="*/ 35 h 100"/>
                  <a:gd name="T10" fmla="*/ 24 w 97"/>
                  <a:gd name="T11" fmla="*/ 73 h 100"/>
                  <a:gd name="T12" fmla="*/ 10 w 97"/>
                  <a:gd name="T13" fmla="*/ 94 h 100"/>
                  <a:gd name="T14" fmla="*/ 17 w 97"/>
                  <a:gd name="T15" fmla="*/ 100 h 100"/>
                  <a:gd name="T16" fmla="*/ 31 w 97"/>
                  <a:gd name="T17" fmla="*/ 76 h 100"/>
                  <a:gd name="T18" fmla="*/ 45 w 97"/>
                  <a:gd name="T19" fmla="*/ 76 h 100"/>
                  <a:gd name="T20" fmla="*/ 45 w 97"/>
                  <a:gd name="T21" fmla="*/ 97 h 100"/>
                  <a:gd name="T22" fmla="*/ 52 w 97"/>
                  <a:gd name="T23" fmla="*/ 97 h 100"/>
                  <a:gd name="T24" fmla="*/ 52 w 97"/>
                  <a:gd name="T25" fmla="*/ 76 h 100"/>
                  <a:gd name="T26" fmla="*/ 66 w 97"/>
                  <a:gd name="T27" fmla="*/ 76 h 100"/>
                  <a:gd name="T28" fmla="*/ 79 w 97"/>
                  <a:gd name="T29" fmla="*/ 97 h 100"/>
                  <a:gd name="T30" fmla="*/ 86 w 97"/>
                  <a:gd name="T31" fmla="*/ 94 h 100"/>
                  <a:gd name="T32" fmla="*/ 73 w 97"/>
                  <a:gd name="T33" fmla="*/ 73 h 100"/>
                  <a:gd name="T34" fmla="*/ 73 w 97"/>
                  <a:gd name="T35" fmla="*/ 35 h 100"/>
                  <a:gd name="T36" fmla="*/ 73 w 97"/>
                  <a:gd name="T37" fmla="*/ 35 h 1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7"/>
                  <a:gd name="T58" fmla="*/ 0 h 100"/>
                  <a:gd name="T59" fmla="*/ 97 w 97"/>
                  <a:gd name="T60" fmla="*/ 100 h 10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7" h="100">
                    <a:moveTo>
                      <a:pt x="73" y="35"/>
                    </a:moveTo>
                    <a:lnTo>
                      <a:pt x="97" y="35"/>
                    </a:lnTo>
                    <a:lnTo>
                      <a:pt x="45" y="0"/>
                    </a:lnTo>
                    <a:lnTo>
                      <a:pt x="0" y="35"/>
                    </a:lnTo>
                    <a:lnTo>
                      <a:pt x="24" y="35"/>
                    </a:lnTo>
                    <a:lnTo>
                      <a:pt x="24" y="73"/>
                    </a:lnTo>
                    <a:lnTo>
                      <a:pt x="10" y="94"/>
                    </a:lnTo>
                    <a:lnTo>
                      <a:pt x="17" y="100"/>
                    </a:lnTo>
                    <a:lnTo>
                      <a:pt x="31" y="76"/>
                    </a:lnTo>
                    <a:lnTo>
                      <a:pt x="45" y="76"/>
                    </a:lnTo>
                    <a:lnTo>
                      <a:pt x="45" y="97"/>
                    </a:lnTo>
                    <a:lnTo>
                      <a:pt x="52" y="97"/>
                    </a:lnTo>
                    <a:lnTo>
                      <a:pt x="52" y="76"/>
                    </a:lnTo>
                    <a:lnTo>
                      <a:pt x="66" y="76"/>
                    </a:lnTo>
                    <a:lnTo>
                      <a:pt x="79" y="97"/>
                    </a:lnTo>
                    <a:lnTo>
                      <a:pt x="86" y="94"/>
                    </a:lnTo>
                    <a:lnTo>
                      <a:pt x="73" y="73"/>
                    </a:lnTo>
                    <a:lnTo>
                      <a:pt x="73" y="35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3" name="Freeform 367"/>
              <p:cNvSpPr>
                <a:spLocks/>
              </p:cNvSpPr>
              <p:nvPr/>
            </p:nvSpPr>
            <p:spPr bwMode="auto">
              <a:xfrm>
                <a:off x="4601" y="1578"/>
                <a:ext cx="31" cy="34"/>
              </a:xfrm>
              <a:custGeom>
                <a:avLst/>
                <a:gdLst>
                  <a:gd name="T0" fmla="*/ 0 w 31"/>
                  <a:gd name="T1" fmla="*/ 0 h 34"/>
                  <a:gd name="T2" fmla="*/ 0 w 31"/>
                  <a:gd name="T3" fmla="*/ 34 h 34"/>
                  <a:gd name="T4" fmla="*/ 31 w 31"/>
                  <a:gd name="T5" fmla="*/ 34 h 34"/>
                  <a:gd name="T6" fmla="*/ 31 w 31"/>
                  <a:gd name="T7" fmla="*/ 0 h 34"/>
                  <a:gd name="T8" fmla="*/ 0 w 31"/>
                  <a:gd name="T9" fmla="*/ 0 h 34"/>
                  <a:gd name="T10" fmla="*/ 0 w 31"/>
                  <a:gd name="T11" fmla="*/ 0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4"/>
                  <a:gd name="T20" fmla="*/ 31 w 31"/>
                  <a:gd name="T21" fmla="*/ 34 h 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4">
                    <a:moveTo>
                      <a:pt x="0" y="0"/>
                    </a:moveTo>
                    <a:lnTo>
                      <a:pt x="0" y="34"/>
                    </a:lnTo>
                    <a:lnTo>
                      <a:pt x="31" y="34"/>
                    </a:lnTo>
                    <a:lnTo>
                      <a:pt x="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4" name="Freeform 368"/>
              <p:cNvSpPr>
                <a:spLocks/>
              </p:cNvSpPr>
              <p:nvPr/>
            </p:nvSpPr>
            <p:spPr bwMode="auto">
              <a:xfrm>
                <a:off x="4594" y="1554"/>
                <a:ext cx="45" cy="13"/>
              </a:xfrm>
              <a:custGeom>
                <a:avLst/>
                <a:gdLst>
                  <a:gd name="T0" fmla="*/ 21 w 45"/>
                  <a:gd name="T1" fmla="*/ 0 h 13"/>
                  <a:gd name="T2" fmla="*/ 45 w 45"/>
                  <a:gd name="T3" fmla="*/ 13 h 13"/>
                  <a:gd name="T4" fmla="*/ 0 w 45"/>
                  <a:gd name="T5" fmla="*/ 13 h 13"/>
                  <a:gd name="T6" fmla="*/ 21 w 45"/>
                  <a:gd name="T7" fmla="*/ 0 h 13"/>
                  <a:gd name="T8" fmla="*/ 21 w 45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3"/>
                  <a:gd name="T17" fmla="*/ 45 w 45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3">
                    <a:moveTo>
                      <a:pt x="21" y="0"/>
                    </a:moveTo>
                    <a:lnTo>
                      <a:pt x="45" y="13"/>
                    </a:lnTo>
                    <a:lnTo>
                      <a:pt x="0" y="13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5" name="Freeform 369"/>
              <p:cNvSpPr>
                <a:spLocks/>
              </p:cNvSpPr>
              <p:nvPr/>
            </p:nvSpPr>
            <p:spPr bwMode="auto">
              <a:xfrm>
                <a:off x="4331" y="1536"/>
                <a:ext cx="453" cy="287"/>
              </a:xfrm>
              <a:custGeom>
                <a:avLst/>
                <a:gdLst>
                  <a:gd name="T0" fmla="*/ 422 w 453"/>
                  <a:gd name="T1" fmla="*/ 149 h 287"/>
                  <a:gd name="T2" fmla="*/ 405 w 453"/>
                  <a:gd name="T3" fmla="*/ 170 h 287"/>
                  <a:gd name="T4" fmla="*/ 405 w 453"/>
                  <a:gd name="T5" fmla="*/ 121 h 287"/>
                  <a:gd name="T6" fmla="*/ 415 w 453"/>
                  <a:gd name="T7" fmla="*/ 101 h 287"/>
                  <a:gd name="T8" fmla="*/ 191 w 453"/>
                  <a:gd name="T9" fmla="*/ 101 h 287"/>
                  <a:gd name="T10" fmla="*/ 191 w 453"/>
                  <a:gd name="T11" fmla="*/ 173 h 287"/>
                  <a:gd name="T12" fmla="*/ 156 w 453"/>
                  <a:gd name="T13" fmla="*/ 173 h 287"/>
                  <a:gd name="T14" fmla="*/ 146 w 453"/>
                  <a:gd name="T15" fmla="*/ 0 h 287"/>
                  <a:gd name="T16" fmla="*/ 111 w 453"/>
                  <a:gd name="T17" fmla="*/ 0 h 287"/>
                  <a:gd name="T18" fmla="*/ 104 w 453"/>
                  <a:gd name="T19" fmla="*/ 173 h 287"/>
                  <a:gd name="T20" fmla="*/ 97 w 453"/>
                  <a:gd name="T21" fmla="*/ 173 h 287"/>
                  <a:gd name="T22" fmla="*/ 87 w 453"/>
                  <a:gd name="T23" fmla="*/ 0 h 287"/>
                  <a:gd name="T24" fmla="*/ 52 w 453"/>
                  <a:gd name="T25" fmla="*/ 0 h 287"/>
                  <a:gd name="T26" fmla="*/ 45 w 453"/>
                  <a:gd name="T27" fmla="*/ 173 h 287"/>
                  <a:gd name="T28" fmla="*/ 0 w 453"/>
                  <a:gd name="T29" fmla="*/ 173 h 287"/>
                  <a:gd name="T30" fmla="*/ 14 w 453"/>
                  <a:gd name="T31" fmla="*/ 201 h 287"/>
                  <a:gd name="T32" fmla="*/ 14 w 453"/>
                  <a:gd name="T33" fmla="*/ 287 h 287"/>
                  <a:gd name="T34" fmla="*/ 453 w 453"/>
                  <a:gd name="T35" fmla="*/ 287 h 287"/>
                  <a:gd name="T36" fmla="*/ 453 w 453"/>
                  <a:gd name="T37" fmla="*/ 180 h 287"/>
                  <a:gd name="T38" fmla="*/ 422 w 453"/>
                  <a:gd name="T39" fmla="*/ 149 h 287"/>
                  <a:gd name="T40" fmla="*/ 422 w 453"/>
                  <a:gd name="T41" fmla="*/ 149 h 28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53"/>
                  <a:gd name="T64" fmla="*/ 0 h 287"/>
                  <a:gd name="T65" fmla="*/ 453 w 453"/>
                  <a:gd name="T66" fmla="*/ 287 h 28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53" h="287">
                    <a:moveTo>
                      <a:pt x="422" y="149"/>
                    </a:moveTo>
                    <a:lnTo>
                      <a:pt x="405" y="170"/>
                    </a:lnTo>
                    <a:lnTo>
                      <a:pt x="405" y="121"/>
                    </a:lnTo>
                    <a:lnTo>
                      <a:pt x="415" y="101"/>
                    </a:lnTo>
                    <a:lnTo>
                      <a:pt x="191" y="101"/>
                    </a:lnTo>
                    <a:lnTo>
                      <a:pt x="191" y="173"/>
                    </a:lnTo>
                    <a:lnTo>
                      <a:pt x="156" y="173"/>
                    </a:lnTo>
                    <a:lnTo>
                      <a:pt x="146" y="0"/>
                    </a:lnTo>
                    <a:lnTo>
                      <a:pt x="111" y="0"/>
                    </a:lnTo>
                    <a:lnTo>
                      <a:pt x="104" y="173"/>
                    </a:lnTo>
                    <a:lnTo>
                      <a:pt x="97" y="173"/>
                    </a:lnTo>
                    <a:lnTo>
                      <a:pt x="87" y="0"/>
                    </a:lnTo>
                    <a:lnTo>
                      <a:pt x="52" y="0"/>
                    </a:lnTo>
                    <a:lnTo>
                      <a:pt x="45" y="173"/>
                    </a:lnTo>
                    <a:lnTo>
                      <a:pt x="0" y="173"/>
                    </a:lnTo>
                    <a:lnTo>
                      <a:pt x="14" y="201"/>
                    </a:lnTo>
                    <a:lnTo>
                      <a:pt x="14" y="287"/>
                    </a:lnTo>
                    <a:lnTo>
                      <a:pt x="453" y="287"/>
                    </a:lnTo>
                    <a:lnTo>
                      <a:pt x="453" y="180"/>
                    </a:lnTo>
                    <a:lnTo>
                      <a:pt x="422" y="149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6" name="Freeform 370"/>
              <p:cNvSpPr>
                <a:spLocks/>
              </p:cNvSpPr>
              <p:nvPr/>
            </p:nvSpPr>
            <p:spPr bwMode="auto">
              <a:xfrm>
                <a:off x="4584" y="1699"/>
                <a:ext cx="193" cy="114"/>
              </a:xfrm>
              <a:custGeom>
                <a:avLst/>
                <a:gdLst>
                  <a:gd name="T0" fmla="*/ 193 w 193"/>
                  <a:gd name="T1" fmla="*/ 21 h 114"/>
                  <a:gd name="T2" fmla="*/ 193 w 193"/>
                  <a:gd name="T3" fmla="*/ 114 h 114"/>
                  <a:gd name="T4" fmla="*/ 0 w 193"/>
                  <a:gd name="T5" fmla="*/ 114 h 114"/>
                  <a:gd name="T6" fmla="*/ 0 w 193"/>
                  <a:gd name="T7" fmla="*/ 27 h 114"/>
                  <a:gd name="T8" fmla="*/ 27 w 193"/>
                  <a:gd name="T9" fmla="*/ 3 h 114"/>
                  <a:gd name="T10" fmla="*/ 48 w 193"/>
                  <a:gd name="T11" fmla="*/ 24 h 114"/>
                  <a:gd name="T12" fmla="*/ 76 w 193"/>
                  <a:gd name="T13" fmla="*/ 0 h 114"/>
                  <a:gd name="T14" fmla="*/ 93 w 193"/>
                  <a:gd name="T15" fmla="*/ 21 h 114"/>
                  <a:gd name="T16" fmla="*/ 121 w 193"/>
                  <a:gd name="T17" fmla="*/ 0 h 114"/>
                  <a:gd name="T18" fmla="*/ 148 w 193"/>
                  <a:gd name="T19" fmla="*/ 21 h 114"/>
                  <a:gd name="T20" fmla="*/ 169 w 193"/>
                  <a:gd name="T21" fmla="*/ 0 h 114"/>
                  <a:gd name="T22" fmla="*/ 193 w 193"/>
                  <a:gd name="T23" fmla="*/ 21 h 114"/>
                  <a:gd name="T24" fmla="*/ 193 w 193"/>
                  <a:gd name="T25" fmla="*/ 21 h 1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93"/>
                  <a:gd name="T40" fmla="*/ 0 h 114"/>
                  <a:gd name="T41" fmla="*/ 193 w 193"/>
                  <a:gd name="T42" fmla="*/ 114 h 1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93" h="114">
                    <a:moveTo>
                      <a:pt x="193" y="21"/>
                    </a:moveTo>
                    <a:lnTo>
                      <a:pt x="193" y="114"/>
                    </a:lnTo>
                    <a:lnTo>
                      <a:pt x="0" y="114"/>
                    </a:lnTo>
                    <a:lnTo>
                      <a:pt x="0" y="27"/>
                    </a:lnTo>
                    <a:lnTo>
                      <a:pt x="27" y="3"/>
                    </a:lnTo>
                    <a:lnTo>
                      <a:pt x="48" y="24"/>
                    </a:lnTo>
                    <a:lnTo>
                      <a:pt x="76" y="0"/>
                    </a:lnTo>
                    <a:lnTo>
                      <a:pt x="93" y="21"/>
                    </a:lnTo>
                    <a:lnTo>
                      <a:pt x="121" y="0"/>
                    </a:lnTo>
                    <a:lnTo>
                      <a:pt x="148" y="21"/>
                    </a:lnTo>
                    <a:lnTo>
                      <a:pt x="169" y="0"/>
                    </a:lnTo>
                    <a:lnTo>
                      <a:pt x="193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7" name="Freeform 371"/>
              <p:cNvSpPr>
                <a:spLocks/>
              </p:cNvSpPr>
              <p:nvPr/>
            </p:nvSpPr>
            <p:spPr bwMode="auto">
              <a:xfrm>
                <a:off x="4529" y="1643"/>
                <a:ext cx="203" cy="170"/>
              </a:xfrm>
              <a:custGeom>
                <a:avLst/>
                <a:gdLst>
                  <a:gd name="T0" fmla="*/ 197 w 203"/>
                  <a:gd name="T1" fmla="*/ 14 h 170"/>
                  <a:gd name="T2" fmla="*/ 197 w 203"/>
                  <a:gd name="T3" fmla="*/ 63 h 170"/>
                  <a:gd name="T4" fmla="*/ 176 w 203"/>
                  <a:gd name="T5" fmla="*/ 42 h 170"/>
                  <a:gd name="T6" fmla="*/ 152 w 203"/>
                  <a:gd name="T7" fmla="*/ 66 h 170"/>
                  <a:gd name="T8" fmla="*/ 131 w 203"/>
                  <a:gd name="T9" fmla="*/ 45 h 170"/>
                  <a:gd name="T10" fmla="*/ 103 w 203"/>
                  <a:gd name="T11" fmla="*/ 70 h 170"/>
                  <a:gd name="T12" fmla="*/ 82 w 203"/>
                  <a:gd name="T13" fmla="*/ 45 h 170"/>
                  <a:gd name="T14" fmla="*/ 48 w 203"/>
                  <a:gd name="T15" fmla="*/ 80 h 170"/>
                  <a:gd name="T16" fmla="*/ 48 w 203"/>
                  <a:gd name="T17" fmla="*/ 170 h 170"/>
                  <a:gd name="T18" fmla="*/ 0 w 203"/>
                  <a:gd name="T19" fmla="*/ 170 h 170"/>
                  <a:gd name="T20" fmla="*/ 0 w 203"/>
                  <a:gd name="T21" fmla="*/ 0 h 170"/>
                  <a:gd name="T22" fmla="*/ 203 w 203"/>
                  <a:gd name="T23" fmla="*/ 0 h 170"/>
                  <a:gd name="T24" fmla="*/ 197 w 203"/>
                  <a:gd name="T25" fmla="*/ 14 h 170"/>
                  <a:gd name="T26" fmla="*/ 197 w 203"/>
                  <a:gd name="T27" fmla="*/ 14 h 1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03"/>
                  <a:gd name="T43" fmla="*/ 0 h 170"/>
                  <a:gd name="T44" fmla="*/ 203 w 203"/>
                  <a:gd name="T45" fmla="*/ 170 h 1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03" h="170">
                    <a:moveTo>
                      <a:pt x="197" y="14"/>
                    </a:moveTo>
                    <a:lnTo>
                      <a:pt x="197" y="63"/>
                    </a:lnTo>
                    <a:lnTo>
                      <a:pt x="176" y="42"/>
                    </a:lnTo>
                    <a:lnTo>
                      <a:pt x="152" y="66"/>
                    </a:lnTo>
                    <a:lnTo>
                      <a:pt x="131" y="45"/>
                    </a:lnTo>
                    <a:lnTo>
                      <a:pt x="103" y="70"/>
                    </a:lnTo>
                    <a:lnTo>
                      <a:pt x="82" y="45"/>
                    </a:lnTo>
                    <a:lnTo>
                      <a:pt x="48" y="80"/>
                    </a:lnTo>
                    <a:lnTo>
                      <a:pt x="48" y="170"/>
                    </a:lnTo>
                    <a:lnTo>
                      <a:pt x="0" y="170"/>
                    </a:lnTo>
                    <a:lnTo>
                      <a:pt x="0" y="0"/>
                    </a:lnTo>
                    <a:lnTo>
                      <a:pt x="203" y="0"/>
                    </a:lnTo>
                    <a:lnTo>
                      <a:pt x="197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8" name="Freeform 372"/>
              <p:cNvSpPr>
                <a:spLocks/>
              </p:cNvSpPr>
              <p:nvPr/>
            </p:nvSpPr>
            <p:spPr bwMode="auto">
              <a:xfrm>
                <a:off x="4442" y="1547"/>
                <a:ext cx="38" cy="162"/>
              </a:xfrm>
              <a:custGeom>
                <a:avLst/>
                <a:gdLst>
                  <a:gd name="T0" fmla="*/ 10 w 38"/>
                  <a:gd name="T1" fmla="*/ 0 h 162"/>
                  <a:gd name="T2" fmla="*/ 28 w 38"/>
                  <a:gd name="T3" fmla="*/ 0 h 162"/>
                  <a:gd name="T4" fmla="*/ 38 w 38"/>
                  <a:gd name="T5" fmla="*/ 162 h 162"/>
                  <a:gd name="T6" fmla="*/ 0 w 38"/>
                  <a:gd name="T7" fmla="*/ 162 h 162"/>
                  <a:gd name="T8" fmla="*/ 10 w 38"/>
                  <a:gd name="T9" fmla="*/ 0 h 162"/>
                  <a:gd name="T10" fmla="*/ 10 w 38"/>
                  <a:gd name="T11" fmla="*/ 0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8"/>
                  <a:gd name="T19" fmla="*/ 0 h 162"/>
                  <a:gd name="T20" fmla="*/ 38 w 38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8" h="162">
                    <a:moveTo>
                      <a:pt x="10" y="0"/>
                    </a:moveTo>
                    <a:lnTo>
                      <a:pt x="28" y="0"/>
                    </a:lnTo>
                    <a:lnTo>
                      <a:pt x="38" y="162"/>
                    </a:lnTo>
                    <a:lnTo>
                      <a:pt x="0" y="162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89" name="Freeform 373"/>
              <p:cNvSpPr>
                <a:spLocks/>
              </p:cNvSpPr>
              <p:nvPr/>
            </p:nvSpPr>
            <p:spPr bwMode="auto">
              <a:xfrm>
                <a:off x="4383" y="1547"/>
                <a:ext cx="35" cy="162"/>
              </a:xfrm>
              <a:custGeom>
                <a:avLst/>
                <a:gdLst>
                  <a:gd name="T0" fmla="*/ 7 w 35"/>
                  <a:gd name="T1" fmla="*/ 0 h 162"/>
                  <a:gd name="T2" fmla="*/ 28 w 35"/>
                  <a:gd name="T3" fmla="*/ 0 h 162"/>
                  <a:gd name="T4" fmla="*/ 35 w 35"/>
                  <a:gd name="T5" fmla="*/ 162 h 162"/>
                  <a:gd name="T6" fmla="*/ 0 w 35"/>
                  <a:gd name="T7" fmla="*/ 162 h 162"/>
                  <a:gd name="T8" fmla="*/ 7 w 35"/>
                  <a:gd name="T9" fmla="*/ 0 h 162"/>
                  <a:gd name="T10" fmla="*/ 7 w 35"/>
                  <a:gd name="T11" fmla="*/ 0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"/>
                  <a:gd name="T19" fmla="*/ 0 h 162"/>
                  <a:gd name="T20" fmla="*/ 35 w 35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" h="162">
                    <a:moveTo>
                      <a:pt x="7" y="0"/>
                    </a:moveTo>
                    <a:lnTo>
                      <a:pt x="28" y="0"/>
                    </a:lnTo>
                    <a:lnTo>
                      <a:pt x="35" y="162"/>
                    </a:lnTo>
                    <a:lnTo>
                      <a:pt x="0" y="16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0" name="Freeform 374"/>
              <p:cNvSpPr>
                <a:spLocks/>
              </p:cNvSpPr>
              <p:nvPr/>
            </p:nvSpPr>
            <p:spPr bwMode="auto">
              <a:xfrm>
                <a:off x="4345" y="1720"/>
                <a:ext cx="177" cy="93"/>
              </a:xfrm>
              <a:custGeom>
                <a:avLst/>
                <a:gdLst>
                  <a:gd name="T0" fmla="*/ 0 w 177"/>
                  <a:gd name="T1" fmla="*/ 0 h 93"/>
                  <a:gd name="T2" fmla="*/ 177 w 177"/>
                  <a:gd name="T3" fmla="*/ 0 h 93"/>
                  <a:gd name="T4" fmla="*/ 177 w 177"/>
                  <a:gd name="T5" fmla="*/ 93 h 93"/>
                  <a:gd name="T6" fmla="*/ 7 w 177"/>
                  <a:gd name="T7" fmla="*/ 93 h 93"/>
                  <a:gd name="T8" fmla="*/ 7 w 177"/>
                  <a:gd name="T9" fmla="*/ 13 h 93"/>
                  <a:gd name="T10" fmla="*/ 0 w 177"/>
                  <a:gd name="T11" fmla="*/ 0 h 93"/>
                  <a:gd name="T12" fmla="*/ 0 w 177"/>
                  <a:gd name="T13" fmla="*/ 0 h 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93"/>
                  <a:gd name="T23" fmla="*/ 177 w 177"/>
                  <a:gd name="T24" fmla="*/ 93 h 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93">
                    <a:moveTo>
                      <a:pt x="0" y="0"/>
                    </a:moveTo>
                    <a:lnTo>
                      <a:pt x="177" y="0"/>
                    </a:lnTo>
                    <a:lnTo>
                      <a:pt x="177" y="93"/>
                    </a:lnTo>
                    <a:lnTo>
                      <a:pt x="7" y="93"/>
                    </a:lnTo>
                    <a:lnTo>
                      <a:pt x="7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1" name="Freeform 375"/>
              <p:cNvSpPr>
                <a:spLocks/>
              </p:cNvSpPr>
              <p:nvPr/>
            </p:nvSpPr>
            <p:spPr bwMode="auto">
              <a:xfrm>
                <a:off x="4484" y="1730"/>
                <a:ext cx="13" cy="17"/>
              </a:xfrm>
              <a:custGeom>
                <a:avLst/>
                <a:gdLst>
                  <a:gd name="T0" fmla="*/ 0 w 13"/>
                  <a:gd name="T1" fmla="*/ 10 h 17"/>
                  <a:gd name="T2" fmla="*/ 0 w 13"/>
                  <a:gd name="T3" fmla="*/ 7 h 17"/>
                  <a:gd name="T4" fmla="*/ 0 w 13"/>
                  <a:gd name="T5" fmla="*/ 7 h 17"/>
                  <a:gd name="T6" fmla="*/ 0 w 13"/>
                  <a:gd name="T7" fmla="*/ 3 h 17"/>
                  <a:gd name="T8" fmla="*/ 0 w 13"/>
                  <a:gd name="T9" fmla="*/ 3 h 17"/>
                  <a:gd name="T10" fmla="*/ 3 w 13"/>
                  <a:gd name="T11" fmla="*/ 3 h 17"/>
                  <a:gd name="T12" fmla="*/ 3 w 13"/>
                  <a:gd name="T13" fmla="*/ 3 h 17"/>
                  <a:gd name="T14" fmla="*/ 3 w 13"/>
                  <a:gd name="T15" fmla="*/ 3 h 17"/>
                  <a:gd name="T16" fmla="*/ 6 w 13"/>
                  <a:gd name="T17" fmla="*/ 0 h 17"/>
                  <a:gd name="T18" fmla="*/ 6 w 13"/>
                  <a:gd name="T19" fmla="*/ 3 h 17"/>
                  <a:gd name="T20" fmla="*/ 10 w 13"/>
                  <a:gd name="T21" fmla="*/ 3 h 17"/>
                  <a:gd name="T22" fmla="*/ 10 w 13"/>
                  <a:gd name="T23" fmla="*/ 3 h 17"/>
                  <a:gd name="T24" fmla="*/ 10 w 13"/>
                  <a:gd name="T25" fmla="*/ 3 h 17"/>
                  <a:gd name="T26" fmla="*/ 13 w 13"/>
                  <a:gd name="T27" fmla="*/ 3 h 17"/>
                  <a:gd name="T28" fmla="*/ 13 w 13"/>
                  <a:gd name="T29" fmla="*/ 7 h 17"/>
                  <a:gd name="T30" fmla="*/ 13 w 13"/>
                  <a:gd name="T31" fmla="*/ 7 h 17"/>
                  <a:gd name="T32" fmla="*/ 13 w 13"/>
                  <a:gd name="T33" fmla="*/ 10 h 17"/>
                  <a:gd name="T34" fmla="*/ 13 w 13"/>
                  <a:gd name="T35" fmla="*/ 10 h 17"/>
                  <a:gd name="T36" fmla="*/ 13 w 13"/>
                  <a:gd name="T37" fmla="*/ 10 h 17"/>
                  <a:gd name="T38" fmla="*/ 13 w 13"/>
                  <a:gd name="T39" fmla="*/ 14 h 17"/>
                  <a:gd name="T40" fmla="*/ 10 w 13"/>
                  <a:gd name="T41" fmla="*/ 14 h 17"/>
                  <a:gd name="T42" fmla="*/ 10 w 13"/>
                  <a:gd name="T43" fmla="*/ 14 h 17"/>
                  <a:gd name="T44" fmla="*/ 10 w 13"/>
                  <a:gd name="T45" fmla="*/ 17 h 17"/>
                  <a:gd name="T46" fmla="*/ 6 w 13"/>
                  <a:gd name="T47" fmla="*/ 17 h 17"/>
                  <a:gd name="T48" fmla="*/ 6 w 13"/>
                  <a:gd name="T49" fmla="*/ 17 h 17"/>
                  <a:gd name="T50" fmla="*/ 3 w 13"/>
                  <a:gd name="T51" fmla="*/ 17 h 17"/>
                  <a:gd name="T52" fmla="*/ 3 w 13"/>
                  <a:gd name="T53" fmla="*/ 17 h 17"/>
                  <a:gd name="T54" fmla="*/ 3 w 13"/>
                  <a:gd name="T55" fmla="*/ 14 h 17"/>
                  <a:gd name="T56" fmla="*/ 0 w 13"/>
                  <a:gd name="T57" fmla="*/ 14 h 17"/>
                  <a:gd name="T58" fmla="*/ 0 w 13"/>
                  <a:gd name="T59" fmla="*/ 14 h 17"/>
                  <a:gd name="T60" fmla="*/ 0 w 13"/>
                  <a:gd name="T61" fmla="*/ 10 h 17"/>
                  <a:gd name="T62" fmla="*/ 0 w 13"/>
                  <a:gd name="T63" fmla="*/ 10 h 17"/>
                  <a:gd name="T64" fmla="*/ 0 w 13"/>
                  <a:gd name="T65" fmla="*/ 10 h 17"/>
                  <a:gd name="T66" fmla="*/ 0 w 13"/>
                  <a:gd name="T67" fmla="*/ 10 h 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"/>
                  <a:gd name="T103" fmla="*/ 0 h 17"/>
                  <a:gd name="T104" fmla="*/ 13 w 13"/>
                  <a:gd name="T105" fmla="*/ 17 h 1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" h="17">
                    <a:moveTo>
                      <a:pt x="0" y="10"/>
                    </a:moveTo>
                    <a:lnTo>
                      <a:pt x="0" y="7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6" y="0"/>
                    </a:lnTo>
                    <a:lnTo>
                      <a:pt x="6" y="3"/>
                    </a:lnTo>
                    <a:lnTo>
                      <a:pt x="10" y="3"/>
                    </a:lnTo>
                    <a:lnTo>
                      <a:pt x="13" y="3"/>
                    </a:lnTo>
                    <a:lnTo>
                      <a:pt x="13" y="7"/>
                    </a:lnTo>
                    <a:lnTo>
                      <a:pt x="13" y="10"/>
                    </a:lnTo>
                    <a:lnTo>
                      <a:pt x="13" y="14"/>
                    </a:lnTo>
                    <a:lnTo>
                      <a:pt x="10" y="14"/>
                    </a:lnTo>
                    <a:lnTo>
                      <a:pt x="10" y="17"/>
                    </a:lnTo>
                    <a:lnTo>
                      <a:pt x="6" y="17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0" y="14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2" name="Freeform 376"/>
              <p:cNvSpPr>
                <a:spLocks/>
              </p:cNvSpPr>
              <p:nvPr/>
            </p:nvSpPr>
            <p:spPr bwMode="auto">
              <a:xfrm>
                <a:off x="4387" y="1464"/>
                <a:ext cx="266" cy="83"/>
              </a:xfrm>
              <a:custGeom>
                <a:avLst/>
                <a:gdLst>
                  <a:gd name="T0" fmla="*/ 262 w 266"/>
                  <a:gd name="T1" fmla="*/ 55 h 83"/>
                  <a:gd name="T2" fmla="*/ 259 w 266"/>
                  <a:gd name="T3" fmla="*/ 52 h 83"/>
                  <a:gd name="T4" fmla="*/ 252 w 266"/>
                  <a:gd name="T5" fmla="*/ 45 h 83"/>
                  <a:gd name="T6" fmla="*/ 242 w 266"/>
                  <a:gd name="T7" fmla="*/ 38 h 83"/>
                  <a:gd name="T8" fmla="*/ 231 w 266"/>
                  <a:gd name="T9" fmla="*/ 31 h 83"/>
                  <a:gd name="T10" fmla="*/ 218 w 266"/>
                  <a:gd name="T11" fmla="*/ 27 h 83"/>
                  <a:gd name="T12" fmla="*/ 211 w 266"/>
                  <a:gd name="T13" fmla="*/ 27 h 83"/>
                  <a:gd name="T14" fmla="*/ 200 w 266"/>
                  <a:gd name="T15" fmla="*/ 31 h 83"/>
                  <a:gd name="T16" fmla="*/ 197 w 266"/>
                  <a:gd name="T17" fmla="*/ 27 h 83"/>
                  <a:gd name="T18" fmla="*/ 193 w 266"/>
                  <a:gd name="T19" fmla="*/ 20 h 83"/>
                  <a:gd name="T20" fmla="*/ 190 w 266"/>
                  <a:gd name="T21" fmla="*/ 14 h 83"/>
                  <a:gd name="T22" fmla="*/ 180 w 266"/>
                  <a:gd name="T23" fmla="*/ 7 h 83"/>
                  <a:gd name="T24" fmla="*/ 169 w 266"/>
                  <a:gd name="T25" fmla="*/ 3 h 83"/>
                  <a:gd name="T26" fmla="*/ 159 w 266"/>
                  <a:gd name="T27" fmla="*/ 0 h 83"/>
                  <a:gd name="T28" fmla="*/ 145 w 266"/>
                  <a:gd name="T29" fmla="*/ 3 h 83"/>
                  <a:gd name="T30" fmla="*/ 131 w 266"/>
                  <a:gd name="T31" fmla="*/ 10 h 83"/>
                  <a:gd name="T32" fmla="*/ 124 w 266"/>
                  <a:gd name="T33" fmla="*/ 10 h 83"/>
                  <a:gd name="T34" fmla="*/ 114 w 266"/>
                  <a:gd name="T35" fmla="*/ 3 h 83"/>
                  <a:gd name="T36" fmla="*/ 103 w 266"/>
                  <a:gd name="T37" fmla="*/ 3 h 83"/>
                  <a:gd name="T38" fmla="*/ 93 w 266"/>
                  <a:gd name="T39" fmla="*/ 3 h 83"/>
                  <a:gd name="T40" fmla="*/ 83 w 266"/>
                  <a:gd name="T41" fmla="*/ 7 h 83"/>
                  <a:gd name="T42" fmla="*/ 76 w 266"/>
                  <a:gd name="T43" fmla="*/ 10 h 83"/>
                  <a:gd name="T44" fmla="*/ 65 w 266"/>
                  <a:gd name="T45" fmla="*/ 17 h 83"/>
                  <a:gd name="T46" fmla="*/ 59 w 266"/>
                  <a:gd name="T47" fmla="*/ 24 h 83"/>
                  <a:gd name="T48" fmla="*/ 52 w 266"/>
                  <a:gd name="T49" fmla="*/ 24 h 83"/>
                  <a:gd name="T50" fmla="*/ 48 w 266"/>
                  <a:gd name="T51" fmla="*/ 24 h 83"/>
                  <a:gd name="T52" fmla="*/ 41 w 266"/>
                  <a:gd name="T53" fmla="*/ 24 h 83"/>
                  <a:gd name="T54" fmla="*/ 27 w 266"/>
                  <a:gd name="T55" fmla="*/ 27 h 83"/>
                  <a:gd name="T56" fmla="*/ 17 w 266"/>
                  <a:gd name="T57" fmla="*/ 34 h 83"/>
                  <a:gd name="T58" fmla="*/ 10 w 266"/>
                  <a:gd name="T59" fmla="*/ 41 h 83"/>
                  <a:gd name="T60" fmla="*/ 3 w 266"/>
                  <a:gd name="T61" fmla="*/ 55 h 83"/>
                  <a:gd name="T62" fmla="*/ 0 w 266"/>
                  <a:gd name="T63" fmla="*/ 69 h 83"/>
                  <a:gd name="T64" fmla="*/ 0 w 266"/>
                  <a:gd name="T65" fmla="*/ 83 h 83"/>
                  <a:gd name="T66" fmla="*/ 24 w 266"/>
                  <a:gd name="T67" fmla="*/ 72 h 83"/>
                  <a:gd name="T68" fmla="*/ 27 w 266"/>
                  <a:gd name="T69" fmla="*/ 69 h 83"/>
                  <a:gd name="T70" fmla="*/ 31 w 266"/>
                  <a:gd name="T71" fmla="*/ 65 h 83"/>
                  <a:gd name="T72" fmla="*/ 41 w 266"/>
                  <a:gd name="T73" fmla="*/ 65 h 83"/>
                  <a:gd name="T74" fmla="*/ 59 w 266"/>
                  <a:gd name="T75" fmla="*/ 65 h 83"/>
                  <a:gd name="T76" fmla="*/ 59 w 266"/>
                  <a:gd name="T77" fmla="*/ 72 h 83"/>
                  <a:gd name="T78" fmla="*/ 59 w 266"/>
                  <a:gd name="T79" fmla="*/ 83 h 83"/>
                  <a:gd name="T80" fmla="*/ 86 w 266"/>
                  <a:gd name="T81" fmla="*/ 72 h 83"/>
                  <a:gd name="T82" fmla="*/ 86 w 266"/>
                  <a:gd name="T83" fmla="*/ 69 h 83"/>
                  <a:gd name="T84" fmla="*/ 93 w 266"/>
                  <a:gd name="T85" fmla="*/ 65 h 83"/>
                  <a:gd name="T86" fmla="*/ 100 w 266"/>
                  <a:gd name="T87" fmla="*/ 65 h 83"/>
                  <a:gd name="T88" fmla="*/ 110 w 266"/>
                  <a:gd name="T89" fmla="*/ 65 h 83"/>
                  <a:gd name="T90" fmla="*/ 128 w 266"/>
                  <a:gd name="T91" fmla="*/ 65 h 83"/>
                  <a:gd name="T92" fmla="*/ 142 w 266"/>
                  <a:gd name="T93" fmla="*/ 62 h 83"/>
                  <a:gd name="T94" fmla="*/ 162 w 266"/>
                  <a:gd name="T95" fmla="*/ 62 h 83"/>
                  <a:gd name="T96" fmla="*/ 183 w 266"/>
                  <a:gd name="T97" fmla="*/ 62 h 83"/>
                  <a:gd name="T98" fmla="*/ 204 w 266"/>
                  <a:gd name="T99" fmla="*/ 62 h 83"/>
                  <a:gd name="T100" fmla="*/ 221 w 266"/>
                  <a:gd name="T101" fmla="*/ 62 h 83"/>
                  <a:gd name="T102" fmla="*/ 242 w 266"/>
                  <a:gd name="T103" fmla="*/ 62 h 83"/>
                  <a:gd name="T104" fmla="*/ 259 w 266"/>
                  <a:gd name="T105" fmla="*/ 62 h 83"/>
                  <a:gd name="T106" fmla="*/ 262 w 266"/>
                  <a:gd name="T107" fmla="*/ 58 h 8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266"/>
                  <a:gd name="T163" fmla="*/ 0 h 83"/>
                  <a:gd name="T164" fmla="*/ 266 w 266"/>
                  <a:gd name="T165" fmla="*/ 83 h 83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266" h="83">
                    <a:moveTo>
                      <a:pt x="262" y="58"/>
                    </a:moveTo>
                    <a:lnTo>
                      <a:pt x="262" y="55"/>
                    </a:lnTo>
                    <a:lnTo>
                      <a:pt x="259" y="52"/>
                    </a:lnTo>
                    <a:lnTo>
                      <a:pt x="256" y="48"/>
                    </a:lnTo>
                    <a:lnTo>
                      <a:pt x="252" y="45"/>
                    </a:lnTo>
                    <a:lnTo>
                      <a:pt x="249" y="41"/>
                    </a:lnTo>
                    <a:lnTo>
                      <a:pt x="245" y="38"/>
                    </a:lnTo>
                    <a:lnTo>
                      <a:pt x="242" y="38"/>
                    </a:lnTo>
                    <a:lnTo>
                      <a:pt x="238" y="34"/>
                    </a:lnTo>
                    <a:lnTo>
                      <a:pt x="235" y="31"/>
                    </a:lnTo>
                    <a:lnTo>
                      <a:pt x="231" y="31"/>
                    </a:lnTo>
                    <a:lnTo>
                      <a:pt x="224" y="31"/>
                    </a:lnTo>
                    <a:lnTo>
                      <a:pt x="221" y="27"/>
                    </a:lnTo>
                    <a:lnTo>
                      <a:pt x="218" y="27"/>
                    </a:lnTo>
                    <a:lnTo>
                      <a:pt x="214" y="27"/>
                    </a:lnTo>
                    <a:lnTo>
                      <a:pt x="211" y="27"/>
                    </a:lnTo>
                    <a:lnTo>
                      <a:pt x="207" y="31"/>
                    </a:lnTo>
                    <a:lnTo>
                      <a:pt x="204" y="31"/>
                    </a:lnTo>
                    <a:lnTo>
                      <a:pt x="200" y="31"/>
                    </a:lnTo>
                    <a:lnTo>
                      <a:pt x="197" y="34"/>
                    </a:lnTo>
                    <a:lnTo>
                      <a:pt x="197" y="31"/>
                    </a:lnTo>
                    <a:lnTo>
                      <a:pt x="197" y="27"/>
                    </a:lnTo>
                    <a:lnTo>
                      <a:pt x="197" y="24"/>
                    </a:lnTo>
                    <a:lnTo>
                      <a:pt x="197" y="20"/>
                    </a:lnTo>
                    <a:lnTo>
                      <a:pt x="193" y="20"/>
                    </a:lnTo>
                    <a:lnTo>
                      <a:pt x="193" y="17"/>
                    </a:lnTo>
                    <a:lnTo>
                      <a:pt x="190" y="14"/>
                    </a:lnTo>
                    <a:lnTo>
                      <a:pt x="186" y="10"/>
                    </a:lnTo>
                    <a:lnTo>
                      <a:pt x="183" y="7"/>
                    </a:lnTo>
                    <a:lnTo>
                      <a:pt x="180" y="7"/>
                    </a:lnTo>
                    <a:lnTo>
                      <a:pt x="180" y="3"/>
                    </a:lnTo>
                    <a:lnTo>
                      <a:pt x="173" y="3"/>
                    </a:lnTo>
                    <a:lnTo>
                      <a:pt x="169" y="3"/>
                    </a:lnTo>
                    <a:lnTo>
                      <a:pt x="166" y="0"/>
                    </a:lnTo>
                    <a:lnTo>
                      <a:pt x="162" y="0"/>
                    </a:lnTo>
                    <a:lnTo>
                      <a:pt x="159" y="0"/>
                    </a:lnTo>
                    <a:lnTo>
                      <a:pt x="155" y="3"/>
                    </a:lnTo>
                    <a:lnTo>
                      <a:pt x="148" y="3"/>
                    </a:lnTo>
                    <a:lnTo>
                      <a:pt x="145" y="3"/>
                    </a:lnTo>
                    <a:lnTo>
                      <a:pt x="142" y="7"/>
                    </a:lnTo>
                    <a:lnTo>
                      <a:pt x="138" y="7"/>
                    </a:lnTo>
                    <a:lnTo>
                      <a:pt x="131" y="10"/>
                    </a:lnTo>
                    <a:lnTo>
                      <a:pt x="128" y="14"/>
                    </a:lnTo>
                    <a:lnTo>
                      <a:pt x="124" y="10"/>
                    </a:lnTo>
                    <a:lnTo>
                      <a:pt x="121" y="7"/>
                    </a:lnTo>
                    <a:lnTo>
                      <a:pt x="117" y="7"/>
                    </a:lnTo>
                    <a:lnTo>
                      <a:pt x="114" y="3"/>
                    </a:lnTo>
                    <a:lnTo>
                      <a:pt x="110" y="3"/>
                    </a:lnTo>
                    <a:lnTo>
                      <a:pt x="107" y="3"/>
                    </a:lnTo>
                    <a:lnTo>
                      <a:pt x="103" y="3"/>
                    </a:lnTo>
                    <a:lnTo>
                      <a:pt x="100" y="3"/>
                    </a:lnTo>
                    <a:lnTo>
                      <a:pt x="97" y="3"/>
                    </a:lnTo>
                    <a:lnTo>
                      <a:pt x="93" y="3"/>
                    </a:lnTo>
                    <a:lnTo>
                      <a:pt x="90" y="3"/>
                    </a:lnTo>
                    <a:lnTo>
                      <a:pt x="86" y="7"/>
                    </a:lnTo>
                    <a:lnTo>
                      <a:pt x="83" y="7"/>
                    </a:lnTo>
                    <a:lnTo>
                      <a:pt x="79" y="10"/>
                    </a:lnTo>
                    <a:lnTo>
                      <a:pt x="76" y="10"/>
                    </a:lnTo>
                    <a:lnTo>
                      <a:pt x="72" y="14"/>
                    </a:lnTo>
                    <a:lnTo>
                      <a:pt x="69" y="14"/>
                    </a:lnTo>
                    <a:lnTo>
                      <a:pt x="65" y="17"/>
                    </a:lnTo>
                    <a:lnTo>
                      <a:pt x="62" y="20"/>
                    </a:lnTo>
                    <a:lnTo>
                      <a:pt x="59" y="24"/>
                    </a:lnTo>
                    <a:lnTo>
                      <a:pt x="55" y="24"/>
                    </a:lnTo>
                    <a:lnTo>
                      <a:pt x="52" y="24"/>
                    </a:lnTo>
                    <a:lnTo>
                      <a:pt x="48" y="24"/>
                    </a:lnTo>
                    <a:lnTo>
                      <a:pt x="45" y="24"/>
                    </a:lnTo>
                    <a:lnTo>
                      <a:pt x="41" y="24"/>
                    </a:lnTo>
                    <a:lnTo>
                      <a:pt x="38" y="24"/>
                    </a:lnTo>
                    <a:lnTo>
                      <a:pt x="34" y="27"/>
                    </a:lnTo>
                    <a:lnTo>
                      <a:pt x="27" y="27"/>
                    </a:lnTo>
                    <a:lnTo>
                      <a:pt x="24" y="27"/>
                    </a:lnTo>
                    <a:lnTo>
                      <a:pt x="21" y="31"/>
                    </a:lnTo>
                    <a:lnTo>
                      <a:pt x="17" y="34"/>
                    </a:lnTo>
                    <a:lnTo>
                      <a:pt x="14" y="34"/>
                    </a:lnTo>
                    <a:lnTo>
                      <a:pt x="14" y="38"/>
                    </a:lnTo>
                    <a:lnTo>
                      <a:pt x="10" y="41"/>
                    </a:lnTo>
                    <a:lnTo>
                      <a:pt x="7" y="48"/>
                    </a:lnTo>
                    <a:lnTo>
                      <a:pt x="3" y="52"/>
                    </a:lnTo>
                    <a:lnTo>
                      <a:pt x="3" y="55"/>
                    </a:lnTo>
                    <a:lnTo>
                      <a:pt x="0" y="62"/>
                    </a:lnTo>
                    <a:lnTo>
                      <a:pt x="0" y="65"/>
                    </a:lnTo>
                    <a:lnTo>
                      <a:pt x="0" y="69"/>
                    </a:lnTo>
                    <a:lnTo>
                      <a:pt x="0" y="72"/>
                    </a:lnTo>
                    <a:lnTo>
                      <a:pt x="0" y="83"/>
                    </a:lnTo>
                    <a:lnTo>
                      <a:pt x="27" y="83"/>
                    </a:lnTo>
                    <a:lnTo>
                      <a:pt x="27" y="72"/>
                    </a:lnTo>
                    <a:lnTo>
                      <a:pt x="24" y="72"/>
                    </a:lnTo>
                    <a:lnTo>
                      <a:pt x="27" y="69"/>
                    </a:lnTo>
                    <a:lnTo>
                      <a:pt x="31" y="65"/>
                    </a:lnTo>
                    <a:lnTo>
                      <a:pt x="34" y="65"/>
                    </a:lnTo>
                    <a:lnTo>
                      <a:pt x="41" y="65"/>
                    </a:lnTo>
                    <a:lnTo>
                      <a:pt x="45" y="65"/>
                    </a:lnTo>
                    <a:lnTo>
                      <a:pt x="52" y="65"/>
                    </a:lnTo>
                    <a:lnTo>
                      <a:pt x="59" y="65"/>
                    </a:lnTo>
                    <a:lnTo>
                      <a:pt x="59" y="69"/>
                    </a:lnTo>
                    <a:lnTo>
                      <a:pt x="59" y="72"/>
                    </a:lnTo>
                    <a:lnTo>
                      <a:pt x="59" y="83"/>
                    </a:lnTo>
                    <a:lnTo>
                      <a:pt x="86" y="83"/>
                    </a:lnTo>
                    <a:lnTo>
                      <a:pt x="86" y="72"/>
                    </a:lnTo>
                    <a:lnTo>
                      <a:pt x="86" y="69"/>
                    </a:lnTo>
                    <a:lnTo>
                      <a:pt x="90" y="69"/>
                    </a:lnTo>
                    <a:lnTo>
                      <a:pt x="90" y="65"/>
                    </a:lnTo>
                    <a:lnTo>
                      <a:pt x="93" y="65"/>
                    </a:lnTo>
                    <a:lnTo>
                      <a:pt x="97" y="65"/>
                    </a:lnTo>
                    <a:lnTo>
                      <a:pt x="100" y="65"/>
                    </a:lnTo>
                    <a:lnTo>
                      <a:pt x="103" y="65"/>
                    </a:lnTo>
                    <a:lnTo>
                      <a:pt x="107" y="65"/>
                    </a:lnTo>
                    <a:lnTo>
                      <a:pt x="110" y="65"/>
                    </a:lnTo>
                    <a:lnTo>
                      <a:pt x="117" y="65"/>
                    </a:lnTo>
                    <a:lnTo>
                      <a:pt x="121" y="65"/>
                    </a:lnTo>
                    <a:lnTo>
                      <a:pt x="128" y="65"/>
                    </a:lnTo>
                    <a:lnTo>
                      <a:pt x="131" y="65"/>
                    </a:lnTo>
                    <a:lnTo>
                      <a:pt x="138" y="62"/>
                    </a:lnTo>
                    <a:lnTo>
                      <a:pt x="142" y="62"/>
                    </a:lnTo>
                    <a:lnTo>
                      <a:pt x="148" y="62"/>
                    </a:lnTo>
                    <a:lnTo>
                      <a:pt x="155" y="62"/>
                    </a:lnTo>
                    <a:lnTo>
                      <a:pt x="162" y="62"/>
                    </a:lnTo>
                    <a:lnTo>
                      <a:pt x="169" y="62"/>
                    </a:lnTo>
                    <a:lnTo>
                      <a:pt x="176" y="62"/>
                    </a:lnTo>
                    <a:lnTo>
                      <a:pt x="183" y="62"/>
                    </a:lnTo>
                    <a:lnTo>
                      <a:pt x="190" y="62"/>
                    </a:lnTo>
                    <a:lnTo>
                      <a:pt x="197" y="62"/>
                    </a:lnTo>
                    <a:lnTo>
                      <a:pt x="204" y="62"/>
                    </a:lnTo>
                    <a:lnTo>
                      <a:pt x="211" y="62"/>
                    </a:lnTo>
                    <a:lnTo>
                      <a:pt x="214" y="62"/>
                    </a:lnTo>
                    <a:lnTo>
                      <a:pt x="221" y="62"/>
                    </a:lnTo>
                    <a:lnTo>
                      <a:pt x="228" y="62"/>
                    </a:lnTo>
                    <a:lnTo>
                      <a:pt x="235" y="62"/>
                    </a:lnTo>
                    <a:lnTo>
                      <a:pt x="242" y="62"/>
                    </a:lnTo>
                    <a:lnTo>
                      <a:pt x="249" y="62"/>
                    </a:lnTo>
                    <a:lnTo>
                      <a:pt x="256" y="62"/>
                    </a:lnTo>
                    <a:lnTo>
                      <a:pt x="259" y="62"/>
                    </a:lnTo>
                    <a:lnTo>
                      <a:pt x="266" y="62"/>
                    </a:lnTo>
                    <a:lnTo>
                      <a:pt x="262" y="5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3" name="Freeform 377"/>
              <p:cNvSpPr>
                <a:spLocks/>
              </p:cNvSpPr>
              <p:nvPr/>
            </p:nvSpPr>
            <p:spPr bwMode="auto">
              <a:xfrm>
                <a:off x="4394" y="1474"/>
                <a:ext cx="114" cy="62"/>
              </a:xfrm>
              <a:custGeom>
                <a:avLst/>
                <a:gdLst>
                  <a:gd name="T0" fmla="*/ 14 w 114"/>
                  <a:gd name="T1" fmla="*/ 55 h 62"/>
                  <a:gd name="T2" fmla="*/ 10 w 114"/>
                  <a:gd name="T3" fmla="*/ 59 h 62"/>
                  <a:gd name="T4" fmla="*/ 10 w 114"/>
                  <a:gd name="T5" fmla="*/ 62 h 62"/>
                  <a:gd name="T6" fmla="*/ 7 w 114"/>
                  <a:gd name="T7" fmla="*/ 62 h 62"/>
                  <a:gd name="T8" fmla="*/ 7 w 114"/>
                  <a:gd name="T9" fmla="*/ 62 h 62"/>
                  <a:gd name="T10" fmla="*/ 0 w 114"/>
                  <a:gd name="T11" fmla="*/ 59 h 62"/>
                  <a:gd name="T12" fmla="*/ 3 w 114"/>
                  <a:gd name="T13" fmla="*/ 52 h 62"/>
                  <a:gd name="T14" fmla="*/ 3 w 114"/>
                  <a:gd name="T15" fmla="*/ 45 h 62"/>
                  <a:gd name="T16" fmla="*/ 10 w 114"/>
                  <a:gd name="T17" fmla="*/ 38 h 62"/>
                  <a:gd name="T18" fmla="*/ 14 w 114"/>
                  <a:gd name="T19" fmla="*/ 31 h 62"/>
                  <a:gd name="T20" fmla="*/ 20 w 114"/>
                  <a:gd name="T21" fmla="*/ 28 h 62"/>
                  <a:gd name="T22" fmla="*/ 24 w 114"/>
                  <a:gd name="T23" fmla="*/ 24 h 62"/>
                  <a:gd name="T24" fmla="*/ 31 w 114"/>
                  <a:gd name="T25" fmla="*/ 24 h 62"/>
                  <a:gd name="T26" fmla="*/ 38 w 114"/>
                  <a:gd name="T27" fmla="*/ 24 h 62"/>
                  <a:gd name="T28" fmla="*/ 41 w 114"/>
                  <a:gd name="T29" fmla="*/ 24 h 62"/>
                  <a:gd name="T30" fmla="*/ 45 w 114"/>
                  <a:gd name="T31" fmla="*/ 24 h 62"/>
                  <a:gd name="T32" fmla="*/ 48 w 114"/>
                  <a:gd name="T33" fmla="*/ 24 h 62"/>
                  <a:gd name="T34" fmla="*/ 55 w 114"/>
                  <a:gd name="T35" fmla="*/ 24 h 62"/>
                  <a:gd name="T36" fmla="*/ 58 w 114"/>
                  <a:gd name="T37" fmla="*/ 21 h 62"/>
                  <a:gd name="T38" fmla="*/ 62 w 114"/>
                  <a:gd name="T39" fmla="*/ 14 h 62"/>
                  <a:gd name="T40" fmla="*/ 65 w 114"/>
                  <a:gd name="T41" fmla="*/ 10 h 62"/>
                  <a:gd name="T42" fmla="*/ 72 w 114"/>
                  <a:gd name="T43" fmla="*/ 7 h 62"/>
                  <a:gd name="T44" fmla="*/ 76 w 114"/>
                  <a:gd name="T45" fmla="*/ 7 h 62"/>
                  <a:gd name="T46" fmla="*/ 83 w 114"/>
                  <a:gd name="T47" fmla="*/ 4 h 62"/>
                  <a:gd name="T48" fmla="*/ 86 w 114"/>
                  <a:gd name="T49" fmla="*/ 4 h 62"/>
                  <a:gd name="T50" fmla="*/ 93 w 114"/>
                  <a:gd name="T51" fmla="*/ 0 h 62"/>
                  <a:gd name="T52" fmla="*/ 100 w 114"/>
                  <a:gd name="T53" fmla="*/ 0 h 62"/>
                  <a:gd name="T54" fmla="*/ 103 w 114"/>
                  <a:gd name="T55" fmla="*/ 4 h 62"/>
                  <a:gd name="T56" fmla="*/ 110 w 114"/>
                  <a:gd name="T57" fmla="*/ 4 h 62"/>
                  <a:gd name="T58" fmla="*/ 114 w 114"/>
                  <a:gd name="T59" fmla="*/ 7 h 62"/>
                  <a:gd name="T60" fmla="*/ 114 w 114"/>
                  <a:gd name="T61" fmla="*/ 10 h 62"/>
                  <a:gd name="T62" fmla="*/ 110 w 114"/>
                  <a:gd name="T63" fmla="*/ 10 h 62"/>
                  <a:gd name="T64" fmla="*/ 107 w 114"/>
                  <a:gd name="T65" fmla="*/ 14 h 62"/>
                  <a:gd name="T66" fmla="*/ 103 w 114"/>
                  <a:gd name="T67" fmla="*/ 14 h 62"/>
                  <a:gd name="T68" fmla="*/ 100 w 114"/>
                  <a:gd name="T69" fmla="*/ 14 h 62"/>
                  <a:gd name="T70" fmla="*/ 96 w 114"/>
                  <a:gd name="T71" fmla="*/ 14 h 62"/>
                  <a:gd name="T72" fmla="*/ 90 w 114"/>
                  <a:gd name="T73" fmla="*/ 14 h 62"/>
                  <a:gd name="T74" fmla="*/ 83 w 114"/>
                  <a:gd name="T75" fmla="*/ 14 h 62"/>
                  <a:gd name="T76" fmla="*/ 76 w 114"/>
                  <a:gd name="T77" fmla="*/ 17 h 62"/>
                  <a:gd name="T78" fmla="*/ 69 w 114"/>
                  <a:gd name="T79" fmla="*/ 24 h 62"/>
                  <a:gd name="T80" fmla="*/ 62 w 114"/>
                  <a:gd name="T81" fmla="*/ 28 h 62"/>
                  <a:gd name="T82" fmla="*/ 58 w 114"/>
                  <a:gd name="T83" fmla="*/ 35 h 62"/>
                  <a:gd name="T84" fmla="*/ 58 w 114"/>
                  <a:gd name="T85" fmla="*/ 38 h 62"/>
                  <a:gd name="T86" fmla="*/ 55 w 114"/>
                  <a:gd name="T87" fmla="*/ 45 h 62"/>
                  <a:gd name="T88" fmla="*/ 48 w 114"/>
                  <a:gd name="T89" fmla="*/ 45 h 62"/>
                  <a:gd name="T90" fmla="*/ 38 w 114"/>
                  <a:gd name="T91" fmla="*/ 48 h 62"/>
                  <a:gd name="T92" fmla="*/ 31 w 114"/>
                  <a:gd name="T93" fmla="*/ 48 h 62"/>
                  <a:gd name="T94" fmla="*/ 24 w 114"/>
                  <a:gd name="T95" fmla="*/ 48 h 62"/>
                  <a:gd name="T96" fmla="*/ 20 w 114"/>
                  <a:gd name="T97" fmla="*/ 48 h 62"/>
                  <a:gd name="T98" fmla="*/ 17 w 114"/>
                  <a:gd name="T99" fmla="*/ 48 h 62"/>
                  <a:gd name="T100" fmla="*/ 17 w 114"/>
                  <a:gd name="T101" fmla="*/ 52 h 62"/>
                  <a:gd name="T102" fmla="*/ 17 w 114"/>
                  <a:gd name="T103" fmla="*/ 52 h 62"/>
                  <a:gd name="T104" fmla="*/ 17 w 114"/>
                  <a:gd name="T105" fmla="*/ 52 h 6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14"/>
                  <a:gd name="T160" fmla="*/ 0 h 62"/>
                  <a:gd name="T161" fmla="*/ 114 w 114"/>
                  <a:gd name="T162" fmla="*/ 62 h 6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14" h="62">
                    <a:moveTo>
                      <a:pt x="17" y="52"/>
                    </a:moveTo>
                    <a:lnTo>
                      <a:pt x="14" y="55"/>
                    </a:lnTo>
                    <a:lnTo>
                      <a:pt x="10" y="55"/>
                    </a:lnTo>
                    <a:lnTo>
                      <a:pt x="10" y="59"/>
                    </a:lnTo>
                    <a:lnTo>
                      <a:pt x="10" y="62"/>
                    </a:lnTo>
                    <a:lnTo>
                      <a:pt x="7" y="62"/>
                    </a:lnTo>
                    <a:lnTo>
                      <a:pt x="0" y="62"/>
                    </a:lnTo>
                    <a:lnTo>
                      <a:pt x="0" y="59"/>
                    </a:lnTo>
                    <a:lnTo>
                      <a:pt x="3" y="55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3" y="45"/>
                    </a:lnTo>
                    <a:lnTo>
                      <a:pt x="7" y="42"/>
                    </a:lnTo>
                    <a:lnTo>
                      <a:pt x="10" y="38"/>
                    </a:lnTo>
                    <a:lnTo>
                      <a:pt x="10" y="35"/>
                    </a:lnTo>
                    <a:lnTo>
                      <a:pt x="14" y="31"/>
                    </a:lnTo>
                    <a:lnTo>
                      <a:pt x="17" y="28"/>
                    </a:lnTo>
                    <a:lnTo>
                      <a:pt x="20" y="28"/>
                    </a:lnTo>
                    <a:lnTo>
                      <a:pt x="20" y="24"/>
                    </a:lnTo>
                    <a:lnTo>
                      <a:pt x="24" y="24"/>
                    </a:lnTo>
                    <a:lnTo>
                      <a:pt x="27" y="24"/>
                    </a:lnTo>
                    <a:lnTo>
                      <a:pt x="31" y="24"/>
                    </a:lnTo>
                    <a:lnTo>
                      <a:pt x="34" y="24"/>
                    </a:lnTo>
                    <a:lnTo>
                      <a:pt x="38" y="24"/>
                    </a:lnTo>
                    <a:lnTo>
                      <a:pt x="41" y="24"/>
                    </a:lnTo>
                    <a:lnTo>
                      <a:pt x="45" y="24"/>
                    </a:lnTo>
                    <a:lnTo>
                      <a:pt x="48" y="24"/>
                    </a:lnTo>
                    <a:lnTo>
                      <a:pt x="52" y="24"/>
                    </a:lnTo>
                    <a:lnTo>
                      <a:pt x="55" y="24"/>
                    </a:lnTo>
                    <a:lnTo>
                      <a:pt x="55" y="21"/>
                    </a:lnTo>
                    <a:lnTo>
                      <a:pt x="58" y="21"/>
                    </a:lnTo>
                    <a:lnTo>
                      <a:pt x="58" y="17"/>
                    </a:lnTo>
                    <a:lnTo>
                      <a:pt x="62" y="14"/>
                    </a:lnTo>
                    <a:lnTo>
                      <a:pt x="65" y="14"/>
                    </a:lnTo>
                    <a:lnTo>
                      <a:pt x="65" y="10"/>
                    </a:lnTo>
                    <a:lnTo>
                      <a:pt x="69" y="10"/>
                    </a:lnTo>
                    <a:lnTo>
                      <a:pt x="72" y="7"/>
                    </a:lnTo>
                    <a:lnTo>
                      <a:pt x="76" y="7"/>
                    </a:lnTo>
                    <a:lnTo>
                      <a:pt x="79" y="4"/>
                    </a:lnTo>
                    <a:lnTo>
                      <a:pt x="83" y="4"/>
                    </a:lnTo>
                    <a:lnTo>
                      <a:pt x="86" y="4"/>
                    </a:lnTo>
                    <a:lnTo>
                      <a:pt x="90" y="0"/>
                    </a:lnTo>
                    <a:lnTo>
                      <a:pt x="93" y="0"/>
                    </a:lnTo>
                    <a:lnTo>
                      <a:pt x="96" y="0"/>
                    </a:lnTo>
                    <a:lnTo>
                      <a:pt x="100" y="0"/>
                    </a:lnTo>
                    <a:lnTo>
                      <a:pt x="103" y="4"/>
                    </a:lnTo>
                    <a:lnTo>
                      <a:pt x="107" y="4"/>
                    </a:lnTo>
                    <a:lnTo>
                      <a:pt x="110" y="4"/>
                    </a:lnTo>
                    <a:lnTo>
                      <a:pt x="114" y="7"/>
                    </a:lnTo>
                    <a:lnTo>
                      <a:pt x="114" y="10"/>
                    </a:lnTo>
                    <a:lnTo>
                      <a:pt x="110" y="10"/>
                    </a:lnTo>
                    <a:lnTo>
                      <a:pt x="110" y="14"/>
                    </a:lnTo>
                    <a:lnTo>
                      <a:pt x="107" y="14"/>
                    </a:lnTo>
                    <a:lnTo>
                      <a:pt x="103" y="14"/>
                    </a:lnTo>
                    <a:lnTo>
                      <a:pt x="100" y="14"/>
                    </a:lnTo>
                    <a:lnTo>
                      <a:pt x="96" y="14"/>
                    </a:lnTo>
                    <a:lnTo>
                      <a:pt x="93" y="14"/>
                    </a:lnTo>
                    <a:lnTo>
                      <a:pt x="90" y="14"/>
                    </a:lnTo>
                    <a:lnTo>
                      <a:pt x="86" y="14"/>
                    </a:lnTo>
                    <a:lnTo>
                      <a:pt x="83" y="14"/>
                    </a:lnTo>
                    <a:lnTo>
                      <a:pt x="79" y="17"/>
                    </a:lnTo>
                    <a:lnTo>
                      <a:pt x="76" y="17"/>
                    </a:lnTo>
                    <a:lnTo>
                      <a:pt x="72" y="21"/>
                    </a:lnTo>
                    <a:lnTo>
                      <a:pt x="69" y="24"/>
                    </a:lnTo>
                    <a:lnTo>
                      <a:pt x="65" y="24"/>
                    </a:lnTo>
                    <a:lnTo>
                      <a:pt x="62" y="28"/>
                    </a:lnTo>
                    <a:lnTo>
                      <a:pt x="62" y="31"/>
                    </a:lnTo>
                    <a:lnTo>
                      <a:pt x="58" y="35"/>
                    </a:lnTo>
                    <a:lnTo>
                      <a:pt x="58" y="38"/>
                    </a:lnTo>
                    <a:lnTo>
                      <a:pt x="55" y="42"/>
                    </a:lnTo>
                    <a:lnTo>
                      <a:pt x="55" y="45"/>
                    </a:lnTo>
                    <a:lnTo>
                      <a:pt x="48" y="45"/>
                    </a:lnTo>
                    <a:lnTo>
                      <a:pt x="41" y="45"/>
                    </a:lnTo>
                    <a:lnTo>
                      <a:pt x="38" y="48"/>
                    </a:lnTo>
                    <a:lnTo>
                      <a:pt x="34" y="48"/>
                    </a:lnTo>
                    <a:lnTo>
                      <a:pt x="31" y="48"/>
                    </a:lnTo>
                    <a:lnTo>
                      <a:pt x="27" y="48"/>
                    </a:lnTo>
                    <a:lnTo>
                      <a:pt x="24" y="48"/>
                    </a:lnTo>
                    <a:lnTo>
                      <a:pt x="20" y="48"/>
                    </a:lnTo>
                    <a:lnTo>
                      <a:pt x="17" y="48"/>
                    </a:lnTo>
                    <a:lnTo>
                      <a:pt x="17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4" name="Freeform 378"/>
              <p:cNvSpPr>
                <a:spLocks/>
              </p:cNvSpPr>
              <p:nvPr/>
            </p:nvSpPr>
            <p:spPr bwMode="auto">
              <a:xfrm>
                <a:off x="4456" y="1474"/>
                <a:ext cx="183" cy="62"/>
              </a:xfrm>
              <a:custGeom>
                <a:avLst/>
                <a:gdLst>
                  <a:gd name="T0" fmla="*/ 90 w 183"/>
                  <a:gd name="T1" fmla="*/ 45 h 62"/>
                  <a:gd name="T2" fmla="*/ 66 w 183"/>
                  <a:gd name="T3" fmla="*/ 45 h 62"/>
                  <a:gd name="T4" fmla="*/ 45 w 183"/>
                  <a:gd name="T5" fmla="*/ 45 h 62"/>
                  <a:gd name="T6" fmla="*/ 34 w 183"/>
                  <a:gd name="T7" fmla="*/ 48 h 62"/>
                  <a:gd name="T8" fmla="*/ 24 w 183"/>
                  <a:gd name="T9" fmla="*/ 48 h 62"/>
                  <a:gd name="T10" fmla="*/ 17 w 183"/>
                  <a:gd name="T11" fmla="*/ 48 h 62"/>
                  <a:gd name="T12" fmla="*/ 17 w 183"/>
                  <a:gd name="T13" fmla="*/ 52 h 62"/>
                  <a:gd name="T14" fmla="*/ 14 w 183"/>
                  <a:gd name="T15" fmla="*/ 52 h 62"/>
                  <a:gd name="T16" fmla="*/ 14 w 183"/>
                  <a:gd name="T17" fmla="*/ 55 h 62"/>
                  <a:gd name="T18" fmla="*/ 10 w 183"/>
                  <a:gd name="T19" fmla="*/ 59 h 62"/>
                  <a:gd name="T20" fmla="*/ 7 w 183"/>
                  <a:gd name="T21" fmla="*/ 62 h 62"/>
                  <a:gd name="T22" fmla="*/ 7 w 183"/>
                  <a:gd name="T23" fmla="*/ 62 h 62"/>
                  <a:gd name="T24" fmla="*/ 7 w 183"/>
                  <a:gd name="T25" fmla="*/ 62 h 62"/>
                  <a:gd name="T26" fmla="*/ 0 w 183"/>
                  <a:gd name="T27" fmla="*/ 59 h 62"/>
                  <a:gd name="T28" fmla="*/ 0 w 183"/>
                  <a:gd name="T29" fmla="*/ 52 h 62"/>
                  <a:gd name="T30" fmla="*/ 3 w 183"/>
                  <a:gd name="T31" fmla="*/ 45 h 62"/>
                  <a:gd name="T32" fmla="*/ 7 w 183"/>
                  <a:gd name="T33" fmla="*/ 35 h 62"/>
                  <a:gd name="T34" fmla="*/ 10 w 183"/>
                  <a:gd name="T35" fmla="*/ 28 h 62"/>
                  <a:gd name="T36" fmla="*/ 17 w 183"/>
                  <a:gd name="T37" fmla="*/ 24 h 62"/>
                  <a:gd name="T38" fmla="*/ 24 w 183"/>
                  <a:gd name="T39" fmla="*/ 21 h 62"/>
                  <a:gd name="T40" fmla="*/ 28 w 183"/>
                  <a:gd name="T41" fmla="*/ 21 h 62"/>
                  <a:gd name="T42" fmla="*/ 34 w 183"/>
                  <a:gd name="T43" fmla="*/ 21 h 62"/>
                  <a:gd name="T44" fmla="*/ 38 w 183"/>
                  <a:gd name="T45" fmla="*/ 21 h 62"/>
                  <a:gd name="T46" fmla="*/ 41 w 183"/>
                  <a:gd name="T47" fmla="*/ 21 h 62"/>
                  <a:gd name="T48" fmla="*/ 48 w 183"/>
                  <a:gd name="T49" fmla="*/ 21 h 62"/>
                  <a:gd name="T50" fmla="*/ 52 w 183"/>
                  <a:gd name="T51" fmla="*/ 21 h 62"/>
                  <a:gd name="T52" fmla="*/ 55 w 183"/>
                  <a:gd name="T53" fmla="*/ 17 h 62"/>
                  <a:gd name="T54" fmla="*/ 59 w 183"/>
                  <a:gd name="T55" fmla="*/ 14 h 62"/>
                  <a:gd name="T56" fmla="*/ 62 w 183"/>
                  <a:gd name="T57" fmla="*/ 10 h 62"/>
                  <a:gd name="T58" fmla="*/ 69 w 183"/>
                  <a:gd name="T59" fmla="*/ 7 h 62"/>
                  <a:gd name="T60" fmla="*/ 73 w 183"/>
                  <a:gd name="T61" fmla="*/ 4 h 62"/>
                  <a:gd name="T62" fmla="*/ 79 w 183"/>
                  <a:gd name="T63" fmla="*/ 0 h 62"/>
                  <a:gd name="T64" fmla="*/ 86 w 183"/>
                  <a:gd name="T65" fmla="*/ 0 h 62"/>
                  <a:gd name="T66" fmla="*/ 90 w 183"/>
                  <a:gd name="T67" fmla="*/ 0 h 62"/>
                  <a:gd name="T68" fmla="*/ 97 w 183"/>
                  <a:gd name="T69" fmla="*/ 0 h 62"/>
                  <a:gd name="T70" fmla="*/ 104 w 183"/>
                  <a:gd name="T71" fmla="*/ 0 h 62"/>
                  <a:gd name="T72" fmla="*/ 107 w 183"/>
                  <a:gd name="T73" fmla="*/ 4 h 62"/>
                  <a:gd name="T74" fmla="*/ 111 w 183"/>
                  <a:gd name="T75" fmla="*/ 7 h 62"/>
                  <a:gd name="T76" fmla="*/ 117 w 183"/>
                  <a:gd name="T77" fmla="*/ 10 h 62"/>
                  <a:gd name="T78" fmla="*/ 121 w 183"/>
                  <a:gd name="T79" fmla="*/ 21 h 62"/>
                  <a:gd name="T80" fmla="*/ 117 w 183"/>
                  <a:gd name="T81" fmla="*/ 35 h 62"/>
                  <a:gd name="T82" fmla="*/ 128 w 183"/>
                  <a:gd name="T83" fmla="*/ 31 h 62"/>
                  <a:gd name="T84" fmla="*/ 135 w 183"/>
                  <a:gd name="T85" fmla="*/ 28 h 62"/>
                  <a:gd name="T86" fmla="*/ 142 w 183"/>
                  <a:gd name="T87" fmla="*/ 28 h 62"/>
                  <a:gd name="T88" fmla="*/ 149 w 183"/>
                  <a:gd name="T89" fmla="*/ 24 h 62"/>
                  <a:gd name="T90" fmla="*/ 155 w 183"/>
                  <a:gd name="T91" fmla="*/ 28 h 62"/>
                  <a:gd name="T92" fmla="*/ 166 w 183"/>
                  <a:gd name="T93" fmla="*/ 31 h 62"/>
                  <a:gd name="T94" fmla="*/ 173 w 183"/>
                  <a:gd name="T95" fmla="*/ 38 h 62"/>
                  <a:gd name="T96" fmla="*/ 180 w 183"/>
                  <a:gd name="T97" fmla="*/ 42 h 62"/>
                  <a:gd name="T98" fmla="*/ 180 w 183"/>
                  <a:gd name="T99" fmla="*/ 45 h 62"/>
                  <a:gd name="T100" fmla="*/ 173 w 183"/>
                  <a:gd name="T101" fmla="*/ 45 h 62"/>
                  <a:gd name="T102" fmla="*/ 166 w 183"/>
                  <a:gd name="T103" fmla="*/ 45 h 62"/>
                  <a:gd name="T104" fmla="*/ 155 w 183"/>
                  <a:gd name="T105" fmla="*/ 45 h 62"/>
                  <a:gd name="T106" fmla="*/ 145 w 183"/>
                  <a:gd name="T107" fmla="*/ 45 h 62"/>
                  <a:gd name="T108" fmla="*/ 135 w 183"/>
                  <a:gd name="T109" fmla="*/ 45 h 62"/>
                  <a:gd name="T110" fmla="*/ 124 w 183"/>
                  <a:gd name="T111" fmla="*/ 45 h 62"/>
                  <a:gd name="T112" fmla="*/ 111 w 183"/>
                  <a:gd name="T113" fmla="*/ 45 h 62"/>
                  <a:gd name="T114" fmla="*/ 107 w 183"/>
                  <a:gd name="T115" fmla="*/ 45 h 6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83"/>
                  <a:gd name="T175" fmla="*/ 0 h 62"/>
                  <a:gd name="T176" fmla="*/ 183 w 183"/>
                  <a:gd name="T177" fmla="*/ 62 h 62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83" h="62">
                    <a:moveTo>
                      <a:pt x="107" y="45"/>
                    </a:moveTo>
                    <a:lnTo>
                      <a:pt x="90" y="45"/>
                    </a:lnTo>
                    <a:lnTo>
                      <a:pt x="76" y="45"/>
                    </a:lnTo>
                    <a:lnTo>
                      <a:pt x="66" y="45"/>
                    </a:lnTo>
                    <a:lnTo>
                      <a:pt x="55" y="45"/>
                    </a:lnTo>
                    <a:lnTo>
                      <a:pt x="45" y="45"/>
                    </a:lnTo>
                    <a:lnTo>
                      <a:pt x="38" y="48"/>
                    </a:lnTo>
                    <a:lnTo>
                      <a:pt x="34" y="48"/>
                    </a:lnTo>
                    <a:lnTo>
                      <a:pt x="28" y="48"/>
                    </a:lnTo>
                    <a:lnTo>
                      <a:pt x="24" y="48"/>
                    </a:lnTo>
                    <a:lnTo>
                      <a:pt x="21" y="48"/>
                    </a:lnTo>
                    <a:lnTo>
                      <a:pt x="17" y="48"/>
                    </a:lnTo>
                    <a:lnTo>
                      <a:pt x="17" y="52"/>
                    </a:lnTo>
                    <a:lnTo>
                      <a:pt x="14" y="52"/>
                    </a:lnTo>
                    <a:lnTo>
                      <a:pt x="14" y="55"/>
                    </a:lnTo>
                    <a:lnTo>
                      <a:pt x="10" y="55"/>
                    </a:lnTo>
                    <a:lnTo>
                      <a:pt x="10" y="59"/>
                    </a:lnTo>
                    <a:lnTo>
                      <a:pt x="7" y="59"/>
                    </a:lnTo>
                    <a:lnTo>
                      <a:pt x="7" y="62"/>
                    </a:lnTo>
                    <a:lnTo>
                      <a:pt x="0" y="62"/>
                    </a:lnTo>
                    <a:lnTo>
                      <a:pt x="0" y="59"/>
                    </a:lnTo>
                    <a:lnTo>
                      <a:pt x="0" y="55"/>
                    </a:lnTo>
                    <a:lnTo>
                      <a:pt x="0" y="52"/>
                    </a:lnTo>
                    <a:lnTo>
                      <a:pt x="0" y="48"/>
                    </a:lnTo>
                    <a:lnTo>
                      <a:pt x="3" y="45"/>
                    </a:lnTo>
                    <a:lnTo>
                      <a:pt x="3" y="38"/>
                    </a:lnTo>
                    <a:lnTo>
                      <a:pt x="7" y="35"/>
                    </a:lnTo>
                    <a:lnTo>
                      <a:pt x="10" y="31"/>
                    </a:lnTo>
                    <a:lnTo>
                      <a:pt x="10" y="28"/>
                    </a:lnTo>
                    <a:lnTo>
                      <a:pt x="14" y="28"/>
                    </a:lnTo>
                    <a:lnTo>
                      <a:pt x="17" y="24"/>
                    </a:lnTo>
                    <a:lnTo>
                      <a:pt x="21" y="24"/>
                    </a:lnTo>
                    <a:lnTo>
                      <a:pt x="24" y="21"/>
                    </a:lnTo>
                    <a:lnTo>
                      <a:pt x="28" y="21"/>
                    </a:lnTo>
                    <a:lnTo>
                      <a:pt x="34" y="21"/>
                    </a:lnTo>
                    <a:lnTo>
                      <a:pt x="38" y="21"/>
                    </a:lnTo>
                    <a:lnTo>
                      <a:pt x="41" y="21"/>
                    </a:lnTo>
                    <a:lnTo>
                      <a:pt x="45" y="21"/>
                    </a:lnTo>
                    <a:lnTo>
                      <a:pt x="48" y="21"/>
                    </a:lnTo>
                    <a:lnTo>
                      <a:pt x="52" y="21"/>
                    </a:lnTo>
                    <a:lnTo>
                      <a:pt x="55" y="17"/>
                    </a:lnTo>
                    <a:lnTo>
                      <a:pt x="59" y="14"/>
                    </a:lnTo>
                    <a:lnTo>
                      <a:pt x="62" y="10"/>
                    </a:lnTo>
                    <a:lnTo>
                      <a:pt x="66" y="7"/>
                    </a:lnTo>
                    <a:lnTo>
                      <a:pt x="69" y="7"/>
                    </a:lnTo>
                    <a:lnTo>
                      <a:pt x="73" y="4"/>
                    </a:lnTo>
                    <a:lnTo>
                      <a:pt x="76" y="4"/>
                    </a:lnTo>
                    <a:lnTo>
                      <a:pt x="79" y="0"/>
                    </a:lnTo>
                    <a:lnTo>
                      <a:pt x="83" y="0"/>
                    </a:lnTo>
                    <a:lnTo>
                      <a:pt x="86" y="0"/>
                    </a:lnTo>
                    <a:lnTo>
                      <a:pt x="90" y="0"/>
                    </a:lnTo>
                    <a:lnTo>
                      <a:pt x="93" y="0"/>
                    </a:lnTo>
                    <a:lnTo>
                      <a:pt x="97" y="0"/>
                    </a:lnTo>
                    <a:lnTo>
                      <a:pt x="100" y="0"/>
                    </a:lnTo>
                    <a:lnTo>
                      <a:pt x="104" y="0"/>
                    </a:lnTo>
                    <a:lnTo>
                      <a:pt x="107" y="4"/>
                    </a:lnTo>
                    <a:lnTo>
                      <a:pt x="111" y="4"/>
                    </a:lnTo>
                    <a:lnTo>
                      <a:pt x="111" y="7"/>
                    </a:lnTo>
                    <a:lnTo>
                      <a:pt x="114" y="7"/>
                    </a:lnTo>
                    <a:lnTo>
                      <a:pt x="117" y="10"/>
                    </a:lnTo>
                    <a:lnTo>
                      <a:pt x="117" y="17"/>
                    </a:lnTo>
                    <a:lnTo>
                      <a:pt x="121" y="21"/>
                    </a:lnTo>
                    <a:lnTo>
                      <a:pt x="121" y="28"/>
                    </a:lnTo>
                    <a:lnTo>
                      <a:pt x="117" y="35"/>
                    </a:lnTo>
                    <a:lnTo>
                      <a:pt x="124" y="31"/>
                    </a:lnTo>
                    <a:lnTo>
                      <a:pt x="128" y="31"/>
                    </a:lnTo>
                    <a:lnTo>
                      <a:pt x="131" y="31"/>
                    </a:lnTo>
                    <a:lnTo>
                      <a:pt x="135" y="28"/>
                    </a:lnTo>
                    <a:lnTo>
                      <a:pt x="138" y="28"/>
                    </a:lnTo>
                    <a:lnTo>
                      <a:pt x="142" y="28"/>
                    </a:lnTo>
                    <a:lnTo>
                      <a:pt x="145" y="28"/>
                    </a:lnTo>
                    <a:lnTo>
                      <a:pt x="149" y="24"/>
                    </a:lnTo>
                    <a:lnTo>
                      <a:pt x="155" y="28"/>
                    </a:lnTo>
                    <a:lnTo>
                      <a:pt x="159" y="28"/>
                    </a:lnTo>
                    <a:lnTo>
                      <a:pt x="166" y="31"/>
                    </a:lnTo>
                    <a:lnTo>
                      <a:pt x="169" y="35"/>
                    </a:lnTo>
                    <a:lnTo>
                      <a:pt x="173" y="38"/>
                    </a:lnTo>
                    <a:lnTo>
                      <a:pt x="176" y="38"/>
                    </a:lnTo>
                    <a:lnTo>
                      <a:pt x="180" y="42"/>
                    </a:lnTo>
                    <a:lnTo>
                      <a:pt x="183" y="45"/>
                    </a:lnTo>
                    <a:lnTo>
                      <a:pt x="180" y="45"/>
                    </a:lnTo>
                    <a:lnTo>
                      <a:pt x="176" y="45"/>
                    </a:lnTo>
                    <a:lnTo>
                      <a:pt x="173" y="45"/>
                    </a:lnTo>
                    <a:lnTo>
                      <a:pt x="169" y="45"/>
                    </a:lnTo>
                    <a:lnTo>
                      <a:pt x="166" y="45"/>
                    </a:lnTo>
                    <a:lnTo>
                      <a:pt x="159" y="45"/>
                    </a:lnTo>
                    <a:lnTo>
                      <a:pt x="155" y="45"/>
                    </a:lnTo>
                    <a:lnTo>
                      <a:pt x="152" y="45"/>
                    </a:lnTo>
                    <a:lnTo>
                      <a:pt x="145" y="45"/>
                    </a:lnTo>
                    <a:lnTo>
                      <a:pt x="142" y="45"/>
                    </a:lnTo>
                    <a:lnTo>
                      <a:pt x="135" y="45"/>
                    </a:lnTo>
                    <a:lnTo>
                      <a:pt x="128" y="45"/>
                    </a:lnTo>
                    <a:lnTo>
                      <a:pt x="124" y="45"/>
                    </a:lnTo>
                    <a:lnTo>
                      <a:pt x="117" y="45"/>
                    </a:lnTo>
                    <a:lnTo>
                      <a:pt x="111" y="45"/>
                    </a:lnTo>
                    <a:lnTo>
                      <a:pt x="107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5" name="Freeform 379"/>
              <p:cNvSpPr>
                <a:spLocks/>
              </p:cNvSpPr>
              <p:nvPr/>
            </p:nvSpPr>
            <p:spPr bwMode="auto">
              <a:xfrm>
                <a:off x="1967" y="1478"/>
                <a:ext cx="146" cy="121"/>
              </a:xfrm>
              <a:custGeom>
                <a:avLst/>
                <a:gdLst>
                  <a:gd name="T0" fmla="*/ 90 w 146"/>
                  <a:gd name="T1" fmla="*/ 6 h 121"/>
                  <a:gd name="T2" fmla="*/ 101 w 146"/>
                  <a:gd name="T3" fmla="*/ 3 h 121"/>
                  <a:gd name="T4" fmla="*/ 111 w 146"/>
                  <a:gd name="T5" fmla="*/ 3 h 121"/>
                  <a:gd name="T6" fmla="*/ 121 w 146"/>
                  <a:gd name="T7" fmla="*/ 0 h 121"/>
                  <a:gd name="T8" fmla="*/ 128 w 146"/>
                  <a:gd name="T9" fmla="*/ 0 h 121"/>
                  <a:gd name="T10" fmla="*/ 132 w 146"/>
                  <a:gd name="T11" fmla="*/ 3 h 121"/>
                  <a:gd name="T12" fmla="*/ 132 w 146"/>
                  <a:gd name="T13" fmla="*/ 3 h 121"/>
                  <a:gd name="T14" fmla="*/ 135 w 146"/>
                  <a:gd name="T15" fmla="*/ 6 h 121"/>
                  <a:gd name="T16" fmla="*/ 139 w 146"/>
                  <a:gd name="T17" fmla="*/ 13 h 121"/>
                  <a:gd name="T18" fmla="*/ 142 w 146"/>
                  <a:gd name="T19" fmla="*/ 20 h 121"/>
                  <a:gd name="T20" fmla="*/ 146 w 146"/>
                  <a:gd name="T21" fmla="*/ 27 h 121"/>
                  <a:gd name="T22" fmla="*/ 139 w 146"/>
                  <a:gd name="T23" fmla="*/ 31 h 121"/>
                  <a:gd name="T24" fmla="*/ 132 w 146"/>
                  <a:gd name="T25" fmla="*/ 31 h 121"/>
                  <a:gd name="T26" fmla="*/ 128 w 146"/>
                  <a:gd name="T27" fmla="*/ 34 h 121"/>
                  <a:gd name="T28" fmla="*/ 125 w 146"/>
                  <a:gd name="T29" fmla="*/ 41 h 121"/>
                  <a:gd name="T30" fmla="*/ 128 w 146"/>
                  <a:gd name="T31" fmla="*/ 44 h 121"/>
                  <a:gd name="T32" fmla="*/ 121 w 146"/>
                  <a:gd name="T33" fmla="*/ 100 h 121"/>
                  <a:gd name="T34" fmla="*/ 121 w 146"/>
                  <a:gd name="T35" fmla="*/ 110 h 121"/>
                  <a:gd name="T36" fmla="*/ 114 w 146"/>
                  <a:gd name="T37" fmla="*/ 114 h 121"/>
                  <a:gd name="T38" fmla="*/ 111 w 146"/>
                  <a:gd name="T39" fmla="*/ 117 h 121"/>
                  <a:gd name="T40" fmla="*/ 101 w 146"/>
                  <a:gd name="T41" fmla="*/ 121 h 121"/>
                  <a:gd name="T42" fmla="*/ 94 w 146"/>
                  <a:gd name="T43" fmla="*/ 121 h 121"/>
                  <a:gd name="T44" fmla="*/ 83 w 146"/>
                  <a:gd name="T45" fmla="*/ 121 h 121"/>
                  <a:gd name="T46" fmla="*/ 76 w 146"/>
                  <a:gd name="T47" fmla="*/ 121 h 121"/>
                  <a:gd name="T48" fmla="*/ 70 w 146"/>
                  <a:gd name="T49" fmla="*/ 117 h 121"/>
                  <a:gd name="T50" fmla="*/ 63 w 146"/>
                  <a:gd name="T51" fmla="*/ 110 h 121"/>
                  <a:gd name="T52" fmla="*/ 59 w 146"/>
                  <a:gd name="T53" fmla="*/ 100 h 121"/>
                  <a:gd name="T54" fmla="*/ 56 w 146"/>
                  <a:gd name="T55" fmla="*/ 93 h 121"/>
                  <a:gd name="T56" fmla="*/ 52 w 146"/>
                  <a:gd name="T57" fmla="*/ 83 h 121"/>
                  <a:gd name="T58" fmla="*/ 45 w 146"/>
                  <a:gd name="T59" fmla="*/ 79 h 121"/>
                  <a:gd name="T60" fmla="*/ 42 w 146"/>
                  <a:gd name="T61" fmla="*/ 72 h 121"/>
                  <a:gd name="T62" fmla="*/ 35 w 146"/>
                  <a:gd name="T63" fmla="*/ 69 h 121"/>
                  <a:gd name="T64" fmla="*/ 32 w 146"/>
                  <a:gd name="T65" fmla="*/ 69 h 121"/>
                  <a:gd name="T66" fmla="*/ 28 w 146"/>
                  <a:gd name="T67" fmla="*/ 72 h 121"/>
                  <a:gd name="T68" fmla="*/ 25 w 146"/>
                  <a:gd name="T69" fmla="*/ 72 h 121"/>
                  <a:gd name="T70" fmla="*/ 18 w 146"/>
                  <a:gd name="T71" fmla="*/ 72 h 121"/>
                  <a:gd name="T72" fmla="*/ 11 w 146"/>
                  <a:gd name="T73" fmla="*/ 69 h 121"/>
                  <a:gd name="T74" fmla="*/ 4 w 146"/>
                  <a:gd name="T75" fmla="*/ 65 h 121"/>
                  <a:gd name="T76" fmla="*/ 0 w 146"/>
                  <a:gd name="T77" fmla="*/ 62 h 121"/>
                  <a:gd name="T78" fmla="*/ 0 w 146"/>
                  <a:gd name="T79" fmla="*/ 51 h 121"/>
                  <a:gd name="T80" fmla="*/ 4 w 146"/>
                  <a:gd name="T81" fmla="*/ 41 h 121"/>
                  <a:gd name="T82" fmla="*/ 11 w 146"/>
                  <a:gd name="T83" fmla="*/ 34 h 121"/>
                  <a:gd name="T84" fmla="*/ 18 w 146"/>
                  <a:gd name="T85" fmla="*/ 27 h 121"/>
                  <a:gd name="T86" fmla="*/ 28 w 146"/>
                  <a:gd name="T87" fmla="*/ 20 h 121"/>
                  <a:gd name="T88" fmla="*/ 38 w 146"/>
                  <a:gd name="T89" fmla="*/ 17 h 121"/>
                  <a:gd name="T90" fmla="*/ 49 w 146"/>
                  <a:gd name="T91" fmla="*/ 13 h 121"/>
                  <a:gd name="T92" fmla="*/ 63 w 146"/>
                  <a:gd name="T93" fmla="*/ 10 h 121"/>
                  <a:gd name="T94" fmla="*/ 70 w 146"/>
                  <a:gd name="T95" fmla="*/ 10 h 121"/>
                  <a:gd name="T96" fmla="*/ 73 w 146"/>
                  <a:gd name="T97" fmla="*/ 6 h 121"/>
                  <a:gd name="T98" fmla="*/ 76 w 146"/>
                  <a:gd name="T99" fmla="*/ 6 h 121"/>
                  <a:gd name="T100" fmla="*/ 80 w 146"/>
                  <a:gd name="T101" fmla="*/ 6 h 121"/>
                  <a:gd name="T102" fmla="*/ 83 w 146"/>
                  <a:gd name="T103" fmla="*/ 6 h 12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46"/>
                  <a:gd name="T157" fmla="*/ 0 h 121"/>
                  <a:gd name="T158" fmla="*/ 146 w 146"/>
                  <a:gd name="T159" fmla="*/ 121 h 12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46" h="121">
                    <a:moveTo>
                      <a:pt x="83" y="6"/>
                    </a:moveTo>
                    <a:lnTo>
                      <a:pt x="90" y="6"/>
                    </a:lnTo>
                    <a:lnTo>
                      <a:pt x="94" y="3"/>
                    </a:lnTo>
                    <a:lnTo>
                      <a:pt x="101" y="3"/>
                    </a:lnTo>
                    <a:lnTo>
                      <a:pt x="104" y="3"/>
                    </a:lnTo>
                    <a:lnTo>
                      <a:pt x="111" y="3"/>
                    </a:lnTo>
                    <a:lnTo>
                      <a:pt x="114" y="0"/>
                    </a:lnTo>
                    <a:lnTo>
                      <a:pt x="121" y="0"/>
                    </a:lnTo>
                    <a:lnTo>
                      <a:pt x="125" y="0"/>
                    </a:lnTo>
                    <a:lnTo>
                      <a:pt x="128" y="0"/>
                    </a:lnTo>
                    <a:lnTo>
                      <a:pt x="132" y="3"/>
                    </a:lnTo>
                    <a:lnTo>
                      <a:pt x="135" y="6"/>
                    </a:lnTo>
                    <a:lnTo>
                      <a:pt x="135" y="10"/>
                    </a:lnTo>
                    <a:lnTo>
                      <a:pt x="139" y="13"/>
                    </a:lnTo>
                    <a:lnTo>
                      <a:pt x="142" y="17"/>
                    </a:lnTo>
                    <a:lnTo>
                      <a:pt x="142" y="20"/>
                    </a:lnTo>
                    <a:lnTo>
                      <a:pt x="146" y="24"/>
                    </a:lnTo>
                    <a:lnTo>
                      <a:pt x="146" y="27"/>
                    </a:lnTo>
                    <a:lnTo>
                      <a:pt x="142" y="27"/>
                    </a:lnTo>
                    <a:lnTo>
                      <a:pt x="139" y="31"/>
                    </a:lnTo>
                    <a:lnTo>
                      <a:pt x="135" y="31"/>
                    </a:lnTo>
                    <a:lnTo>
                      <a:pt x="132" y="31"/>
                    </a:lnTo>
                    <a:lnTo>
                      <a:pt x="128" y="34"/>
                    </a:lnTo>
                    <a:lnTo>
                      <a:pt x="125" y="34"/>
                    </a:lnTo>
                    <a:lnTo>
                      <a:pt x="125" y="41"/>
                    </a:lnTo>
                    <a:lnTo>
                      <a:pt x="128" y="41"/>
                    </a:lnTo>
                    <a:lnTo>
                      <a:pt x="128" y="44"/>
                    </a:lnTo>
                    <a:lnTo>
                      <a:pt x="128" y="55"/>
                    </a:lnTo>
                    <a:lnTo>
                      <a:pt x="121" y="100"/>
                    </a:lnTo>
                    <a:lnTo>
                      <a:pt x="125" y="110"/>
                    </a:lnTo>
                    <a:lnTo>
                      <a:pt x="121" y="110"/>
                    </a:lnTo>
                    <a:lnTo>
                      <a:pt x="118" y="114"/>
                    </a:lnTo>
                    <a:lnTo>
                      <a:pt x="114" y="114"/>
                    </a:lnTo>
                    <a:lnTo>
                      <a:pt x="111" y="117"/>
                    </a:lnTo>
                    <a:lnTo>
                      <a:pt x="108" y="121"/>
                    </a:lnTo>
                    <a:lnTo>
                      <a:pt x="101" y="121"/>
                    </a:lnTo>
                    <a:lnTo>
                      <a:pt x="97" y="121"/>
                    </a:lnTo>
                    <a:lnTo>
                      <a:pt x="94" y="121"/>
                    </a:lnTo>
                    <a:lnTo>
                      <a:pt x="87" y="121"/>
                    </a:lnTo>
                    <a:lnTo>
                      <a:pt x="83" y="121"/>
                    </a:lnTo>
                    <a:lnTo>
                      <a:pt x="80" y="121"/>
                    </a:lnTo>
                    <a:lnTo>
                      <a:pt x="76" y="121"/>
                    </a:lnTo>
                    <a:lnTo>
                      <a:pt x="73" y="117"/>
                    </a:lnTo>
                    <a:lnTo>
                      <a:pt x="70" y="117"/>
                    </a:lnTo>
                    <a:lnTo>
                      <a:pt x="66" y="114"/>
                    </a:lnTo>
                    <a:lnTo>
                      <a:pt x="63" y="110"/>
                    </a:lnTo>
                    <a:lnTo>
                      <a:pt x="59" y="107"/>
                    </a:lnTo>
                    <a:lnTo>
                      <a:pt x="59" y="100"/>
                    </a:lnTo>
                    <a:lnTo>
                      <a:pt x="59" y="96"/>
                    </a:lnTo>
                    <a:lnTo>
                      <a:pt x="56" y="93"/>
                    </a:lnTo>
                    <a:lnTo>
                      <a:pt x="56" y="86"/>
                    </a:lnTo>
                    <a:lnTo>
                      <a:pt x="52" y="83"/>
                    </a:lnTo>
                    <a:lnTo>
                      <a:pt x="49" y="79"/>
                    </a:lnTo>
                    <a:lnTo>
                      <a:pt x="45" y="79"/>
                    </a:lnTo>
                    <a:lnTo>
                      <a:pt x="45" y="76"/>
                    </a:lnTo>
                    <a:lnTo>
                      <a:pt x="42" y="72"/>
                    </a:lnTo>
                    <a:lnTo>
                      <a:pt x="38" y="69"/>
                    </a:lnTo>
                    <a:lnTo>
                      <a:pt x="35" y="69"/>
                    </a:lnTo>
                    <a:lnTo>
                      <a:pt x="32" y="69"/>
                    </a:lnTo>
                    <a:lnTo>
                      <a:pt x="28" y="72"/>
                    </a:lnTo>
                    <a:lnTo>
                      <a:pt x="25" y="72"/>
                    </a:lnTo>
                    <a:lnTo>
                      <a:pt x="21" y="72"/>
                    </a:lnTo>
                    <a:lnTo>
                      <a:pt x="18" y="72"/>
                    </a:lnTo>
                    <a:lnTo>
                      <a:pt x="14" y="72"/>
                    </a:lnTo>
                    <a:lnTo>
                      <a:pt x="11" y="69"/>
                    </a:lnTo>
                    <a:lnTo>
                      <a:pt x="7" y="69"/>
                    </a:lnTo>
                    <a:lnTo>
                      <a:pt x="4" y="65"/>
                    </a:lnTo>
                    <a:lnTo>
                      <a:pt x="0" y="62"/>
                    </a:lnTo>
                    <a:lnTo>
                      <a:pt x="0" y="58"/>
                    </a:lnTo>
                    <a:lnTo>
                      <a:pt x="0" y="51"/>
                    </a:lnTo>
                    <a:lnTo>
                      <a:pt x="0" y="48"/>
                    </a:lnTo>
                    <a:lnTo>
                      <a:pt x="4" y="41"/>
                    </a:lnTo>
                    <a:lnTo>
                      <a:pt x="7" y="38"/>
                    </a:lnTo>
                    <a:lnTo>
                      <a:pt x="11" y="34"/>
                    </a:lnTo>
                    <a:lnTo>
                      <a:pt x="14" y="31"/>
                    </a:lnTo>
                    <a:lnTo>
                      <a:pt x="18" y="27"/>
                    </a:lnTo>
                    <a:lnTo>
                      <a:pt x="21" y="24"/>
                    </a:lnTo>
                    <a:lnTo>
                      <a:pt x="28" y="20"/>
                    </a:lnTo>
                    <a:lnTo>
                      <a:pt x="32" y="20"/>
                    </a:lnTo>
                    <a:lnTo>
                      <a:pt x="38" y="17"/>
                    </a:lnTo>
                    <a:lnTo>
                      <a:pt x="42" y="17"/>
                    </a:lnTo>
                    <a:lnTo>
                      <a:pt x="49" y="13"/>
                    </a:lnTo>
                    <a:lnTo>
                      <a:pt x="56" y="13"/>
                    </a:lnTo>
                    <a:lnTo>
                      <a:pt x="63" y="10"/>
                    </a:lnTo>
                    <a:lnTo>
                      <a:pt x="70" y="10"/>
                    </a:lnTo>
                    <a:lnTo>
                      <a:pt x="73" y="10"/>
                    </a:lnTo>
                    <a:lnTo>
                      <a:pt x="73" y="6"/>
                    </a:lnTo>
                    <a:lnTo>
                      <a:pt x="76" y="6"/>
                    </a:lnTo>
                    <a:lnTo>
                      <a:pt x="80" y="6"/>
                    </a:lnTo>
                    <a:lnTo>
                      <a:pt x="83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6" name="Freeform 380"/>
              <p:cNvSpPr>
                <a:spLocks/>
              </p:cNvSpPr>
              <p:nvPr/>
            </p:nvSpPr>
            <p:spPr bwMode="auto">
              <a:xfrm>
                <a:off x="2002" y="1592"/>
                <a:ext cx="114" cy="252"/>
              </a:xfrm>
              <a:custGeom>
                <a:avLst/>
                <a:gdLst>
                  <a:gd name="T0" fmla="*/ 66 w 114"/>
                  <a:gd name="T1" fmla="*/ 3 h 252"/>
                  <a:gd name="T2" fmla="*/ 73 w 114"/>
                  <a:gd name="T3" fmla="*/ 3 h 252"/>
                  <a:gd name="T4" fmla="*/ 79 w 114"/>
                  <a:gd name="T5" fmla="*/ 0 h 252"/>
                  <a:gd name="T6" fmla="*/ 86 w 114"/>
                  <a:gd name="T7" fmla="*/ 0 h 252"/>
                  <a:gd name="T8" fmla="*/ 93 w 114"/>
                  <a:gd name="T9" fmla="*/ 0 h 252"/>
                  <a:gd name="T10" fmla="*/ 97 w 114"/>
                  <a:gd name="T11" fmla="*/ 10 h 252"/>
                  <a:gd name="T12" fmla="*/ 100 w 114"/>
                  <a:gd name="T13" fmla="*/ 20 h 252"/>
                  <a:gd name="T14" fmla="*/ 104 w 114"/>
                  <a:gd name="T15" fmla="*/ 31 h 252"/>
                  <a:gd name="T16" fmla="*/ 107 w 114"/>
                  <a:gd name="T17" fmla="*/ 41 h 252"/>
                  <a:gd name="T18" fmla="*/ 111 w 114"/>
                  <a:gd name="T19" fmla="*/ 51 h 252"/>
                  <a:gd name="T20" fmla="*/ 111 w 114"/>
                  <a:gd name="T21" fmla="*/ 96 h 252"/>
                  <a:gd name="T22" fmla="*/ 114 w 114"/>
                  <a:gd name="T23" fmla="*/ 148 h 252"/>
                  <a:gd name="T24" fmla="*/ 107 w 114"/>
                  <a:gd name="T25" fmla="*/ 166 h 252"/>
                  <a:gd name="T26" fmla="*/ 104 w 114"/>
                  <a:gd name="T27" fmla="*/ 183 h 252"/>
                  <a:gd name="T28" fmla="*/ 93 w 114"/>
                  <a:gd name="T29" fmla="*/ 197 h 252"/>
                  <a:gd name="T30" fmla="*/ 86 w 114"/>
                  <a:gd name="T31" fmla="*/ 214 h 252"/>
                  <a:gd name="T32" fmla="*/ 83 w 114"/>
                  <a:gd name="T33" fmla="*/ 110 h 252"/>
                  <a:gd name="T34" fmla="*/ 76 w 114"/>
                  <a:gd name="T35" fmla="*/ 96 h 252"/>
                  <a:gd name="T36" fmla="*/ 76 w 114"/>
                  <a:gd name="T37" fmla="*/ 83 h 252"/>
                  <a:gd name="T38" fmla="*/ 73 w 114"/>
                  <a:gd name="T39" fmla="*/ 69 h 252"/>
                  <a:gd name="T40" fmla="*/ 66 w 114"/>
                  <a:gd name="T41" fmla="*/ 69 h 252"/>
                  <a:gd name="T42" fmla="*/ 59 w 114"/>
                  <a:gd name="T43" fmla="*/ 89 h 252"/>
                  <a:gd name="T44" fmla="*/ 59 w 114"/>
                  <a:gd name="T45" fmla="*/ 107 h 252"/>
                  <a:gd name="T46" fmla="*/ 55 w 114"/>
                  <a:gd name="T47" fmla="*/ 124 h 252"/>
                  <a:gd name="T48" fmla="*/ 52 w 114"/>
                  <a:gd name="T49" fmla="*/ 145 h 252"/>
                  <a:gd name="T50" fmla="*/ 41 w 114"/>
                  <a:gd name="T51" fmla="*/ 159 h 252"/>
                  <a:gd name="T52" fmla="*/ 35 w 114"/>
                  <a:gd name="T53" fmla="*/ 172 h 252"/>
                  <a:gd name="T54" fmla="*/ 28 w 114"/>
                  <a:gd name="T55" fmla="*/ 186 h 252"/>
                  <a:gd name="T56" fmla="*/ 24 w 114"/>
                  <a:gd name="T57" fmla="*/ 204 h 252"/>
                  <a:gd name="T58" fmla="*/ 21 w 114"/>
                  <a:gd name="T59" fmla="*/ 217 h 252"/>
                  <a:gd name="T60" fmla="*/ 17 w 114"/>
                  <a:gd name="T61" fmla="*/ 231 h 252"/>
                  <a:gd name="T62" fmla="*/ 10 w 114"/>
                  <a:gd name="T63" fmla="*/ 245 h 252"/>
                  <a:gd name="T64" fmla="*/ 3 w 114"/>
                  <a:gd name="T65" fmla="*/ 242 h 252"/>
                  <a:gd name="T66" fmla="*/ 0 w 114"/>
                  <a:gd name="T67" fmla="*/ 221 h 252"/>
                  <a:gd name="T68" fmla="*/ 21 w 114"/>
                  <a:gd name="T69" fmla="*/ 41 h 252"/>
                  <a:gd name="T70" fmla="*/ 24 w 114"/>
                  <a:gd name="T71" fmla="*/ 27 h 252"/>
                  <a:gd name="T72" fmla="*/ 24 w 114"/>
                  <a:gd name="T73" fmla="*/ 13 h 252"/>
                  <a:gd name="T74" fmla="*/ 24 w 114"/>
                  <a:gd name="T75" fmla="*/ 7 h 252"/>
                  <a:gd name="T76" fmla="*/ 28 w 114"/>
                  <a:gd name="T77" fmla="*/ 0 h 252"/>
                  <a:gd name="T78" fmla="*/ 35 w 114"/>
                  <a:gd name="T79" fmla="*/ 0 h 252"/>
                  <a:gd name="T80" fmla="*/ 45 w 114"/>
                  <a:gd name="T81" fmla="*/ 0 h 252"/>
                  <a:gd name="T82" fmla="*/ 52 w 114"/>
                  <a:gd name="T83" fmla="*/ 3 h 252"/>
                  <a:gd name="T84" fmla="*/ 62 w 114"/>
                  <a:gd name="T85" fmla="*/ 3 h 25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4"/>
                  <a:gd name="T130" fmla="*/ 0 h 252"/>
                  <a:gd name="T131" fmla="*/ 114 w 114"/>
                  <a:gd name="T132" fmla="*/ 252 h 25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4" h="252">
                    <a:moveTo>
                      <a:pt x="62" y="3"/>
                    </a:moveTo>
                    <a:lnTo>
                      <a:pt x="66" y="3"/>
                    </a:lnTo>
                    <a:lnTo>
                      <a:pt x="69" y="3"/>
                    </a:lnTo>
                    <a:lnTo>
                      <a:pt x="73" y="3"/>
                    </a:lnTo>
                    <a:lnTo>
                      <a:pt x="76" y="0"/>
                    </a:lnTo>
                    <a:lnTo>
                      <a:pt x="79" y="0"/>
                    </a:lnTo>
                    <a:lnTo>
                      <a:pt x="83" y="0"/>
                    </a:lnTo>
                    <a:lnTo>
                      <a:pt x="86" y="0"/>
                    </a:lnTo>
                    <a:lnTo>
                      <a:pt x="90" y="0"/>
                    </a:lnTo>
                    <a:lnTo>
                      <a:pt x="93" y="0"/>
                    </a:lnTo>
                    <a:lnTo>
                      <a:pt x="97" y="3"/>
                    </a:lnTo>
                    <a:lnTo>
                      <a:pt x="97" y="10"/>
                    </a:lnTo>
                    <a:lnTo>
                      <a:pt x="97" y="13"/>
                    </a:lnTo>
                    <a:lnTo>
                      <a:pt x="100" y="20"/>
                    </a:lnTo>
                    <a:lnTo>
                      <a:pt x="104" y="24"/>
                    </a:lnTo>
                    <a:lnTo>
                      <a:pt x="104" y="31"/>
                    </a:lnTo>
                    <a:lnTo>
                      <a:pt x="107" y="34"/>
                    </a:lnTo>
                    <a:lnTo>
                      <a:pt x="107" y="41"/>
                    </a:lnTo>
                    <a:lnTo>
                      <a:pt x="107" y="45"/>
                    </a:lnTo>
                    <a:lnTo>
                      <a:pt x="111" y="51"/>
                    </a:lnTo>
                    <a:lnTo>
                      <a:pt x="111" y="58"/>
                    </a:lnTo>
                    <a:lnTo>
                      <a:pt x="111" y="96"/>
                    </a:lnTo>
                    <a:lnTo>
                      <a:pt x="114" y="117"/>
                    </a:lnTo>
                    <a:lnTo>
                      <a:pt x="114" y="148"/>
                    </a:lnTo>
                    <a:lnTo>
                      <a:pt x="111" y="155"/>
                    </a:lnTo>
                    <a:lnTo>
                      <a:pt x="107" y="166"/>
                    </a:lnTo>
                    <a:lnTo>
                      <a:pt x="107" y="172"/>
                    </a:lnTo>
                    <a:lnTo>
                      <a:pt x="104" y="183"/>
                    </a:lnTo>
                    <a:lnTo>
                      <a:pt x="100" y="190"/>
                    </a:lnTo>
                    <a:lnTo>
                      <a:pt x="93" y="197"/>
                    </a:lnTo>
                    <a:lnTo>
                      <a:pt x="90" y="204"/>
                    </a:lnTo>
                    <a:lnTo>
                      <a:pt x="86" y="214"/>
                    </a:lnTo>
                    <a:lnTo>
                      <a:pt x="86" y="117"/>
                    </a:lnTo>
                    <a:lnTo>
                      <a:pt x="83" y="110"/>
                    </a:lnTo>
                    <a:lnTo>
                      <a:pt x="79" y="103"/>
                    </a:lnTo>
                    <a:lnTo>
                      <a:pt x="76" y="96"/>
                    </a:lnTo>
                    <a:lnTo>
                      <a:pt x="76" y="89"/>
                    </a:lnTo>
                    <a:lnTo>
                      <a:pt x="76" y="83"/>
                    </a:lnTo>
                    <a:lnTo>
                      <a:pt x="73" y="76"/>
                    </a:lnTo>
                    <a:lnTo>
                      <a:pt x="73" y="69"/>
                    </a:lnTo>
                    <a:lnTo>
                      <a:pt x="73" y="62"/>
                    </a:lnTo>
                    <a:lnTo>
                      <a:pt x="66" y="69"/>
                    </a:lnTo>
                    <a:lnTo>
                      <a:pt x="62" y="79"/>
                    </a:lnTo>
                    <a:lnTo>
                      <a:pt x="59" y="89"/>
                    </a:lnTo>
                    <a:lnTo>
                      <a:pt x="59" y="96"/>
                    </a:lnTo>
                    <a:lnTo>
                      <a:pt x="59" y="107"/>
                    </a:lnTo>
                    <a:lnTo>
                      <a:pt x="55" y="114"/>
                    </a:lnTo>
                    <a:lnTo>
                      <a:pt x="55" y="124"/>
                    </a:lnTo>
                    <a:lnTo>
                      <a:pt x="52" y="134"/>
                    </a:lnTo>
                    <a:lnTo>
                      <a:pt x="52" y="145"/>
                    </a:lnTo>
                    <a:lnTo>
                      <a:pt x="48" y="152"/>
                    </a:lnTo>
                    <a:lnTo>
                      <a:pt x="41" y="159"/>
                    </a:lnTo>
                    <a:lnTo>
                      <a:pt x="38" y="166"/>
                    </a:lnTo>
                    <a:lnTo>
                      <a:pt x="35" y="172"/>
                    </a:lnTo>
                    <a:lnTo>
                      <a:pt x="31" y="179"/>
                    </a:lnTo>
                    <a:lnTo>
                      <a:pt x="28" y="186"/>
                    </a:lnTo>
                    <a:lnTo>
                      <a:pt x="24" y="197"/>
                    </a:lnTo>
                    <a:lnTo>
                      <a:pt x="24" y="204"/>
                    </a:lnTo>
                    <a:lnTo>
                      <a:pt x="24" y="210"/>
                    </a:lnTo>
                    <a:lnTo>
                      <a:pt x="21" y="217"/>
                    </a:lnTo>
                    <a:lnTo>
                      <a:pt x="21" y="224"/>
                    </a:lnTo>
                    <a:lnTo>
                      <a:pt x="17" y="231"/>
                    </a:lnTo>
                    <a:lnTo>
                      <a:pt x="14" y="238"/>
                    </a:lnTo>
                    <a:lnTo>
                      <a:pt x="10" y="245"/>
                    </a:lnTo>
                    <a:lnTo>
                      <a:pt x="7" y="252"/>
                    </a:lnTo>
                    <a:lnTo>
                      <a:pt x="3" y="242"/>
                    </a:lnTo>
                    <a:lnTo>
                      <a:pt x="0" y="231"/>
                    </a:lnTo>
                    <a:lnTo>
                      <a:pt x="0" y="221"/>
                    </a:lnTo>
                    <a:lnTo>
                      <a:pt x="0" y="210"/>
                    </a:lnTo>
                    <a:lnTo>
                      <a:pt x="21" y="41"/>
                    </a:lnTo>
                    <a:lnTo>
                      <a:pt x="24" y="34"/>
                    </a:lnTo>
                    <a:lnTo>
                      <a:pt x="24" y="27"/>
                    </a:lnTo>
                    <a:lnTo>
                      <a:pt x="24" y="20"/>
                    </a:lnTo>
                    <a:lnTo>
                      <a:pt x="24" y="13"/>
                    </a:lnTo>
                    <a:lnTo>
                      <a:pt x="24" y="10"/>
                    </a:lnTo>
                    <a:lnTo>
                      <a:pt x="24" y="7"/>
                    </a:lnTo>
                    <a:lnTo>
                      <a:pt x="24" y="3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5" y="0"/>
                    </a:lnTo>
                    <a:lnTo>
                      <a:pt x="48" y="0"/>
                    </a:lnTo>
                    <a:lnTo>
                      <a:pt x="52" y="3"/>
                    </a:lnTo>
                    <a:lnTo>
                      <a:pt x="59" y="3"/>
                    </a:lnTo>
                    <a:lnTo>
                      <a:pt x="62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7" name="Freeform 381"/>
              <p:cNvSpPr>
                <a:spLocks/>
              </p:cNvSpPr>
              <p:nvPr/>
            </p:nvSpPr>
            <p:spPr bwMode="auto">
              <a:xfrm>
                <a:off x="1909" y="1592"/>
                <a:ext cx="55" cy="45"/>
              </a:xfrm>
              <a:custGeom>
                <a:avLst/>
                <a:gdLst>
                  <a:gd name="T0" fmla="*/ 10 w 55"/>
                  <a:gd name="T1" fmla="*/ 45 h 45"/>
                  <a:gd name="T2" fmla="*/ 13 w 55"/>
                  <a:gd name="T3" fmla="*/ 45 h 45"/>
                  <a:gd name="T4" fmla="*/ 17 w 55"/>
                  <a:gd name="T5" fmla="*/ 41 h 45"/>
                  <a:gd name="T6" fmla="*/ 20 w 55"/>
                  <a:gd name="T7" fmla="*/ 41 h 45"/>
                  <a:gd name="T8" fmla="*/ 20 w 55"/>
                  <a:gd name="T9" fmla="*/ 38 h 45"/>
                  <a:gd name="T10" fmla="*/ 20 w 55"/>
                  <a:gd name="T11" fmla="*/ 34 h 45"/>
                  <a:gd name="T12" fmla="*/ 24 w 55"/>
                  <a:gd name="T13" fmla="*/ 31 h 45"/>
                  <a:gd name="T14" fmla="*/ 24 w 55"/>
                  <a:gd name="T15" fmla="*/ 27 h 45"/>
                  <a:gd name="T16" fmla="*/ 27 w 55"/>
                  <a:gd name="T17" fmla="*/ 24 h 45"/>
                  <a:gd name="T18" fmla="*/ 31 w 55"/>
                  <a:gd name="T19" fmla="*/ 20 h 45"/>
                  <a:gd name="T20" fmla="*/ 34 w 55"/>
                  <a:gd name="T21" fmla="*/ 17 h 45"/>
                  <a:gd name="T22" fmla="*/ 38 w 55"/>
                  <a:gd name="T23" fmla="*/ 17 h 45"/>
                  <a:gd name="T24" fmla="*/ 41 w 55"/>
                  <a:gd name="T25" fmla="*/ 13 h 45"/>
                  <a:gd name="T26" fmla="*/ 45 w 55"/>
                  <a:gd name="T27" fmla="*/ 10 h 45"/>
                  <a:gd name="T28" fmla="*/ 48 w 55"/>
                  <a:gd name="T29" fmla="*/ 7 h 45"/>
                  <a:gd name="T30" fmla="*/ 51 w 55"/>
                  <a:gd name="T31" fmla="*/ 3 h 45"/>
                  <a:gd name="T32" fmla="*/ 55 w 55"/>
                  <a:gd name="T33" fmla="*/ 0 h 45"/>
                  <a:gd name="T34" fmla="*/ 51 w 55"/>
                  <a:gd name="T35" fmla="*/ 0 h 45"/>
                  <a:gd name="T36" fmla="*/ 51 w 55"/>
                  <a:gd name="T37" fmla="*/ 0 h 45"/>
                  <a:gd name="T38" fmla="*/ 48 w 55"/>
                  <a:gd name="T39" fmla="*/ 0 h 45"/>
                  <a:gd name="T40" fmla="*/ 48 w 55"/>
                  <a:gd name="T41" fmla="*/ 0 h 45"/>
                  <a:gd name="T42" fmla="*/ 41 w 55"/>
                  <a:gd name="T43" fmla="*/ 0 h 45"/>
                  <a:gd name="T44" fmla="*/ 38 w 55"/>
                  <a:gd name="T45" fmla="*/ 0 h 45"/>
                  <a:gd name="T46" fmla="*/ 34 w 55"/>
                  <a:gd name="T47" fmla="*/ 3 h 45"/>
                  <a:gd name="T48" fmla="*/ 31 w 55"/>
                  <a:gd name="T49" fmla="*/ 7 h 45"/>
                  <a:gd name="T50" fmla="*/ 27 w 55"/>
                  <a:gd name="T51" fmla="*/ 7 h 45"/>
                  <a:gd name="T52" fmla="*/ 27 w 55"/>
                  <a:gd name="T53" fmla="*/ 10 h 45"/>
                  <a:gd name="T54" fmla="*/ 24 w 55"/>
                  <a:gd name="T55" fmla="*/ 13 h 45"/>
                  <a:gd name="T56" fmla="*/ 20 w 55"/>
                  <a:gd name="T57" fmla="*/ 17 h 45"/>
                  <a:gd name="T58" fmla="*/ 17 w 55"/>
                  <a:gd name="T59" fmla="*/ 20 h 45"/>
                  <a:gd name="T60" fmla="*/ 13 w 55"/>
                  <a:gd name="T61" fmla="*/ 24 h 45"/>
                  <a:gd name="T62" fmla="*/ 10 w 55"/>
                  <a:gd name="T63" fmla="*/ 27 h 45"/>
                  <a:gd name="T64" fmla="*/ 10 w 55"/>
                  <a:gd name="T65" fmla="*/ 31 h 45"/>
                  <a:gd name="T66" fmla="*/ 7 w 55"/>
                  <a:gd name="T67" fmla="*/ 31 h 45"/>
                  <a:gd name="T68" fmla="*/ 3 w 55"/>
                  <a:gd name="T69" fmla="*/ 34 h 45"/>
                  <a:gd name="T70" fmla="*/ 0 w 55"/>
                  <a:gd name="T71" fmla="*/ 38 h 45"/>
                  <a:gd name="T72" fmla="*/ 0 w 55"/>
                  <a:gd name="T73" fmla="*/ 41 h 45"/>
                  <a:gd name="T74" fmla="*/ 0 w 55"/>
                  <a:gd name="T75" fmla="*/ 41 h 45"/>
                  <a:gd name="T76" fmla="*/ 3 w 55"/>
                  <a:gd name="T77" fmla="*/ 41 h 45"/>
                  <a:gd name="T78" fmla="*/ 3 w 55"/>
                  <a:gd name="T79" fmla="*/ 45 h 45"/>
                  <a:gd name="T80" fmla="*/ 7 w 55"/>
                  <a:gd name="T81" fmla="*/ 45 h 45"/>
                  <a:gd name="T82" fmla="*/ 7 w 55"/>
                  <a:gd name="T83" fmla="*/ 45 h 45"/>
                  <a:gd name="T84" fmla="*/ 7 w 55"/>
                  <a:gd name="T85" fmla="*/ 45 h 45"/>
                  <a:gd name="T86" fmla="*/ 10 w 55"/>
                  <a:gd name="T87" fmla="*/ 45 h 45"/>
                  <a:gd name="T88" fmla="*/ 10 w 55"/>
                  <a:gd name="T89" fmla="*/ 45 h 45"/>
                  <a:gd name="T90" fmla="*/ 10 w 55"/>
                  <a:gd name="T91" fmla="*/ 45 h 4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5"/>
                  <a:gd name="T139" fmla="*/ 0 h 45"/>
                  <a:gd name="T140" fmla="*/ 55 w 55"/>
                  <a:gd name="T141" fmla="*/ 45 h 4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5" h="45">
                    <a:moveTo>
                      <a:pt x="10" y="45"/>
                    </a:moveTo>
                    <a:lnTo>
                      <a:pt x="13" y="45"/>
                    </a:lnTo>
                    <a:lnTo>
                      <a:pt x="17" y="41"/>
                    </a:lnTo>
                    <a:lnTo>
                      <a:pt x="20" y="41"/>
                    </a:lnTo>
                    <a:lnTo>
                      <a:pt x="20" y="38"/>
                    </a:lnTo>
                    <a:lnTo>
                      <a:pt x="20" y="34"/>
                    </a:lnTo>
                    <a:lnTo>
                      <a:pt x="24" y="31"/>
                    </a:lnTo>
                    <a:lnTo>
                      <a:pt x="24" y="27"/>
                    </a:lnTo>
                    <a:lnTo>
                      <a:pt x="27" y="24"/>
                    </a:lnTo>
                    <a:lnTo>
                      <a:pt x="31" y="20"/>
                    </a:lnTo>
                    <a:lnTo>
                      <a:pt x="34" y="17"/>
                    </a:lnTo>
                    <a:lnTo>
                      <a:pt x="38" y="17"/>
                    </a:lnTo>
                    <a:lnTo>
                      <a:pt x="41" y="13"/>
                    </a:lnTo>
                    <a:lnTo>
                      <a:pt x="45" y="10"/>
                    </a:lnTo>
                    <a:lnTo>
                      <a:pt x="48" y="7"/>
                    </a:lnTo>
                    <a:lnTo>
                      <a:pt x="51" y="3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1" y="0"/>
                    </a:lnTo>
                    <a:lnTo>
                      <a:pt x="38" y="0"/>
                    </a:lnTo>
                    <a:lnTo>
                      <a:pt x="34" y="3"/>
                    </a:lnTo>
                    <a:lnTo>
                      <a:pt x="31" y="7"/>
                    </a:lnTo>
                    <a:lnTo>
                      <a:pt x="27" y="7"/>
                    </a:lnTo>
                    <a:lnTo>
                      <a:pt x="27" y="10"/>
                    </a:lnTo>
                    <a:lnTo>
                      <a:pt x="24" y="13"/>
                    </a:lnTo>
                    <a:lnTo>
                      <a:pt x="20" y="17"/>
                    </a:lnTo>
                    <a:lnTo>
                      <a:pt x="17" y="20"/>
                    </a:lnTo>
                    <a:lnTo>
                      <a:pt x="13" y="24"/>
                    </a:lnTo>
                    <a:lnTo>
                      <a:pt x="10" y="27"/>
                    </a:lnTo>
                    <a:lnTo>
                      <a:pt x="10" y="31"/>
                    </a:lnTo>
                    <a:lnTo>
                      <a:pt x="7" y="31"/>
                    </a:lnTo>
                    <a:lnTo>
                      <a:pt x="3" y="34"/>
                    </a:lnTo>
                    <a:lnTo>
                      <a:pt x="0" y="38"/>
                    </a:lnTo>
                    <a:lnTo>
                      <a:pt x="0" y="41"/>
                    </a:lnTo>
                    <a:lnTo>
                      <a:pt x="3" y="41"/>
                    </a:lnTo>
                    <a:lnTo>
                      <a:pt x="3" y="45"/>
                    </a:lnTo>
                    <a:lnTo>
                      <a:pt x="7" y="45"/>
                    </a:lnTo>
                    <a:lnTo>
                      <a:pt x="10" y="45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8" name="Freeform 382"/>
              <p:cNvSpPr>
                <a:spLocks/>
              </p:cNvSpPr>
              <p:nvPr/>
            </p:nvSpPr>
            <p:spPr bwMode="auto">
              <a:xfrm>
                <a:off x="2088" y="1436"/>
                <a:ext cx="260" cy="311"/>
              </a:xfrm>
              <a:custGeom>
                <a:avLst/>
                <a:gdLst>
                  <a:gd name="T0" fmla="*/ 242 w 260"/>
                  <a:gd name="T1" fmla="*/ 31 h 311"/>
                  <a:gd name="T2" fmla="*/ 242 w 260"/>
                  <a:gd name="T3" fmla="*/ 90 h 311"/>
                  <a:gd name="T4" fmla="*/ 246 w 260"/>
                  <a:gd name="T5" fmla="*/ 149 h 311"/>
                  <a:gd name="T6" fmla="*/ 249 w 260"/>
                  <a:gd name="T7" fmla="*/ 190 h 311"/>
                  <a:gd name="T8" fmla="*/ 253 w 260"/>
                  <a:gd name="T9" fmla="*/ 228 h 311"/>
                  <a:gd name="T10" fmla="*/ 256 w 260"/>
                  <a:gd name="T11" fmla="*/ 270 h 311"/>
                  <a:gd name="T12" fmla="*/ 235 w 260"/>
                  <a:gd name="T13" fmla="*/ 311 h 311"/>
                  <a:gd name="T14" fmla="*/ 25 w 260"/>
                  <a:gd name="T15" fmla="*/ 270 h 311"/>
                  <a:gd name="T16" fmla="*/ 25 w 260"/>
                  <a:gd name="T17" fmla="*/ 249 h 311"/>
                  <a:gd name="T18" fmla="*/ 21 w 260"/>
                  <a:gd name="T19" fmla="*/ 232 h 311"/>
                  <a:gd name="T20" fmla="*/ 18 w 260"/>
                  <a:gd name="T21" fmla="*/ 214 h 311"/>
                  <a:gd name="T22" fmla="*/ 14 w 260"/>
                  <a:gd name="T23" fmla="*/ 194 h 311"/>
                  <a:gd name="T24" fmla="*/ 11 w 260"/>
                  <a:gd name="T25" fmla="*/ 183 h 311"/>
                  <a:gd name="T26" fmla="*/ 7 w 260"/>
                  <a:gd name="T27" fmla="*/ 173 h 311"/>
                  <a:gd name="T28" fmla="*/ 7 w 260"/>
                  <a:gd name="T29" fmla="*/ 163 h 311"/>
                  <a:gd name="T30" fmla="*/ 0 w 260"/>
                  <a:gd name="T31" fmla="*/ 152 h 311"/>
                  <a:gd name="T32" fmla="*/ 38 w 260"/>
                  <a:gd name="T33" fmla="*/ 145 h 311"/>
                  <a:gd name="T34" fmla="*/ 35 w 260"/>
                  <a:gd name="T35" fmla="*/ 142 h 311"/>
                  <a:gd name="T36" fmla="*/ 31 w 260"/>
                  <a:gd name="T37" fmla="*/ 138 h 311"/>
                  <a:gd name="T38" fmla="*/ 28 w 260"/>
                  <a:gd name="T39" fmla="*/ 135 h 311"/>
                  <a:gd name="T40" fmla="*/ 28 w 260"/>
                  <a:gd name="T41" fmla="*/ 128 h 311"/>
                  <a:gd name="T42" fmla="*/ 31 w 260"/>
                  <a:gd name="T43" fmla="*/ 125 h 311"/>
                  <a:gd name="T44" fmla="*/ 38 w 260"/>
                  <a:gd name="T45" fmla="*/ 125 h 311"/>
                  <a:gd name="T46" fmla="*/ 45 w 260"/>
                  <a:gd name="T47" fmla="*/ 125 h 311"/>
                  <a:gd name="T48" fmla="*/ 52 w 260"/>
                  <a:gd name="T49" fmla="*/ 125 h 311"/>
                  <a:gd name="T50" fmla="*/ 56 w 260"/>
                  <a:gd name="T51" fmla="*/ 125 h 311"/>
                  <a:gd name="T52" fmla="*/ 63 w 260"/>
                  <a:gd name="T53" fmla="*/ 125 h 311"/>
                  <a:gd name="T54" fmla="*/ 70 w 260"/>
                  <a:gd name="T55" fmla="*/ 121 h 311"/>
                  <a:gd name="T56" fmla="*/ 76 w 260"/>
                  <a:gd name="T57" fmla="*/ 121 h 311"/>
                  <a:gd name="T58" fmla="*/ 80 w 260"/>
                  <a:gd name="T59" fmla="*/ 121 h 311"/>
                  <a:gd name="T60" fmla="*/ 87 w 260"/>
                  <a:gd name="T61" fmla="*/ 121 h 311"/>
                  <a:gd name="T62" fmla="*/ 94 w 260"/>
                  <a:gd name="T63" fmla="*/ 121 h 311"/>
                  <a:gd name="T64" fmla="*/ 225 w 260"/>
                  <a:gd name="T65" fmla="*/ 121 h 311"/>
                  <a:gd name="T66" fmla="*/ 232 w 260"/>
                  <a:gd name="T67" fmla="*/ 0 h 311"/>
                  <a:gd name="T68" fmla="*/ 246 w 260"/>
                  <a:gd name="T69" fmla="*/ 0 h 31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60"/>
                  <a:gd name="T106" fmla="*/ 0 h 311"/>
                  <a:gd name="T107" fmla="*/ 260 w 260"/>
                  <a:gd name="T108" fmla="*/ 311 h 31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60" h="311">
                    <a:moveTo>
                      <a:pt x="246" y="0"/>
                    </a:moveTo>
                    <a:lnTo>
                      <a:pt x="242" y="31"/>
                    </a:lnTo>
                    <a:lnTo>
                      <a:pt x="242" y="62"/>
                    </a:lnTo>
                    <a:lnTo>
                      <a:pt x="242" y="90"/>
                    </a:lnTo>
                    <a:lnTo>
                      <a:pt x="246" y="125"/>
                    </a:lnTo>
                    <a:lnTo>
                      <a:pt x="246" y="149"/>
                    </a:lnTo>
                    <a:lnTo>
                      <a:pt x="246" y="169"/>
                    </a:lnTo>
                    <a:lnTo>
                      <a:pt x="249" y="190"/>
                    </a:lnTo>
                    <a:lnTo>
                      <a:pt x="249" y="207"/>
                    </a:lnTo>
                    <a:lnTo>
                      <a:pt x="253" y="228"/>
                    </a:lnTo>
                    <a:lnTo>
                      <a:pt x="256" y="249"/>
                    </a:lnTo>
                    <a:lnTo>
                      <a:pt x="256" y="270"/>
                    </a:lnTo>
                    <a:lnTo>
                      <a:pt x="260" y="294"/>
                    </a:lnTo>
                    <a:lnTo>
                      <a:pt x="235" y="311"/>
                    </a:lnTo>
                    <a:lnTo>
                      <a:pt x="235" y="273"/>
                    </a:lnTo>
                    <a:lnTo>
                      <a:pt x="25" y="270"/>
                    </a:lnTo>
                    <a:lnTo>
                      <a:pt x="25" y="259"/>
                    </a:lnTo>
                    <a:lnTo>
                      <a:pt x="25" y="249"/>
                    </a:lnTo>
                    <a:lnTo>
                      <a:pt x="25" y="242"/>
                    </a:lnTo>
                    <a:lnTo>
                      <a:pt x="21" y="232"/>
                    </a:lnTo>
                    <a:lnTo>
                      <a:pt x="21" y="225"/>
                    </a:lnTo>
                    <a:lnTo>
                      <a:pt x="18" y="214"/>
                    </a:lnTo>
                    <a:lnTo>
                      <a:pt x="18" y="204"/>
                    </a:lnTo>
                    <a:lnTo>
                      <a:pt x="14" y="194"/>
                    </a:lnTo>
                    <a:lnTo>
                      <a:pt x="14" y="187"/>
                    </a:lnTo>
                    <a:lnTo>
                      <a:pt x="11" y="183"/>
                    </a:lnTo>
                    <a:lnTo>
                      <a:pt x="11" y="176"/>
                    </a:lnTo>
                    <a:lnTo>
                      <a:pt x="7" y="173"/>
                    </a:lnTo>
                    <a:lnTo>
                      <a:pt x="7" y="169"/>
                    </a:lnTo>
                    <a:lnTo>
                      <a:pt x="7" y="163"/>
                    </a:lnTo>
                    <a:lnTo>
                      <a:pt x="4" y="159"/>
                    </a:lnTo>
                    <a:lnTo>
                      <a:pt x="0" y="152"/>
                    </a:lnTo>
                    <a:lnTo>
                      <a:pt x="38" y="145"/>
                    </a:lnTo>
                    <a:lnTo>
                      <a:pt x="35" y="142"/>
                    </a:lnTo>
                    <a:lnTo>
                      <a:pt x="31" y="138"/>
                    </a:lnTo>
                    <a:lnTo>
                      <a:pt x="28" y="135"/>
                    </a:lnTo>
                    <a:lnTo>
                      <a:pt x="28" y="131"/>
                    </a:lnTo>
                    <a:lnTo>
                      <a:pt x="28" y="128"/>
                    </a:lnTo>
                    <a:lnTo>
                      <a:pt x="31" y="128"/>
                    </a:lnTo>
                    <a:lnTo>
                      <a:pt x="31" y="125"/>
                    </a:lnTo>
                    <a:lnTo>
                      <a:pt x="35" y="125"/>
                    </a:lnTo>
                    <a:lnTo>
                      <a:pt x="38" y="125"/>
                    </a:lnTo>
                    <a:lnTo>
                      <a:pt x="42" y="125"/>
                    </a:lnTo>
                    <a:lnTo>
                      <a:pt x="45" y="125"/>
                    </a:lnTo>
                    <a:lnTo>
                      <a:pt x="52" y="125"/>
                    </a:lnTo>
                    <a:lnTo>
                      <a:pt x="56" y="125"/>
                    </a:lnTo>
                    <a:lnTo>
                      <a:pt x="59" y="125"/>
                    </a:lnTo>
                    <a:lnTo>
                      <a:pt x="63" y="125"/>
                    </a:lnTo>
                    <a:lnTo>
                      <a:pt x="66" y="121"/>
                    </a:lnTo>
                    <a:lnTo>
                      <a:pt x="70" y="121"/>
                    </a:lnTo>
                    <a:lnTo>
                      <a:pt x="73" y="121"/>
                    </a:lnTo>
                    <a:lnTo>
                      <a:pt x="76" y="121"/>
                    </a:lnTo>
                    <a:lnTo>
                      <a:pt x="80" y="121"/>
                    </a:lnTo>
                    <a:lnTo>
                      <a:pt x="83" y="121"/>
                    </a:lnTo>
                    <a:lnTo>
                      <a:pt x="87" y="121"/>
                    </a:lnTo>
                    <a:lnTo>
                      <a:pt x="90" y="121"/>
                    </a:lnTo>
                    <a:lnTo>
                      <a:pt x="94" y="121"/>
                    </a:lnTo>
                    <a:lnTo>
                      <a:pt x="97" y="121"/>
                    </a:lnTo>
                    <a:lnTo>
                      <a:pt x="225" y="121"/>
                    </a:lnTo>
                    <a:lnTo>
                      <a:pt x="225" y="17"/>
                    </a:lnTo>
                    <a:lnTo>
                      <a:pt x="232" y="0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199" name="Freeform 383"/>
              <p:cNvSpPr>
                <a:spLocks/>
              </p:cNvSpPr>
              <p:nvPr/>
            </p:nvSpPr>
            <p:spPr bwMode="auto">
              <a:xfrm>
                <a:off x="2126" y="1664"/>
                <a:ext cx="35" cy="38"/>
              </a:xfrm>
              <a:custGeom>
                <a:avLst/>
                <a:gdLst>
                  <a:gd name="T0" fmla="*/ 25 w 35"/>
                  <a:gd name="T1" fmla="*/ 38 h 38"/>
                  <a:gd name="T2" fmla="*/ 35 w 35"/>
                  <a:gd name="T3" fmla="*/ 0 h 38"/>
                  <a:gd name="T4" fmla="*/ 14 w 35"/>
                  <a:gd name="T5" fmla="*/ 4 h 38"/>
                  <a:gd name="T6" fmla="*/ 0 w 35"/>
                  <a:gd name="T7" fmla="*/ 38 h 38"/>
                  <a:gd name="T8" fmla="*/ 25 w 35"/>
                  <a:gd name="T9" fmla="*/ 38 h 38"/>
                  <a:gd name="T10" fmla="*/ 25 w 35"/>
                  <a:gd name="T11" fmla="*/ 38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"/>
                  <a:gd name="T19" fmla="*/ 0 h 38"/>
                  <a:gd name="T20" fmla="*/ 35 w 35"/>
                  <a:gd name="T21" fmla="*/ 38 h 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" h="38">
                    <a:moveTo>
                      <a:pt x="25" y="38"/>
                    </a:moveTo>
                    <a:lnTo>
                      <a:pt x="35" y="0"/>
                    </a:lnTo>
                    <a:lnTo>
                      <a:pt x="14" y="4"/>
                    </a:lnTo>
                    <a:lnTo>
                      <a:pt x="0" y="38"/>
                    </a:lnTo>
                    <a:lnTo>
                      <a:pt x="25" y="38"/>
                    </a:lnTo>
                    <a:close/>
                  </a:path>
                </a:pathLst>
              </a:custGeom>
              <a:solidFill>
                <a:srgbClr val="989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0" name="Freeform 384"/>
              <p:cNvSpPr>
                <a:spLocks/>
              </p:cNvSpPr>
              <p:nvPr/>
            </p:nvSpPr>
            <p:spPr bwMode="auto">
              <a:xfrm>
                <a:off x="2168" y="1661"/>
                <a:ext cx="24" cy="41"/>
              </a:xfrm>
              <a:custGeom>
                <a:avLst/>
                <a:gdLst>
                  <a:gd name="T0" fmla="*/ 17 w 24"/>
                  <a:gd name="T1" fmla="*/ 0 h 41"/>
                  <a:gd name="T2" fmla="*/ 0 w 24"/>
                  <a:gd name="T3" fmla="*/ 41 h 41"/>
                  <a:gd name="T4" fmla="*/ 10 w 24"/>
                  <a:gd name="T5" fmla="*/ 41 h 41"/>
                  <a:gd name="T6" fmla="*/ 24 w 24"/>
                  <a:gd name="T7" fmla="*/ 0 h 41"/>
                  <a:gd name="T8" fmla="*/ 17 w 24"/>
                  <a:gd name="T9" fmla="*/ 0 h 41"/>
                  <a:gd name="T10" fmla="*/ 17 w 24"/>
                  <a:gd name="T11" fmla="*/ 0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41"/>
                  <a:gd name="T20" fmla="*/ 24 w 24"/>
                  <a:gd name="T21" fmla="*/ 41 h 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41">
                    <a:moveTo>
                      <a:pt x="17" y="0"/>
                    </a:moveTo>
                    <a:lnTo>
                      <a:pt x="0" y="41"/>
                    </a:lnTo>
                    <a:lnTo>
                      <a:pt x="10" y="41"/>
                    </a:lnTo>
                    <a:lnTo>
                      <a:pt x="24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1" name="Freeform 385"/>
              <p:cNvSpPr>
                <a:spLocks/>
              </p:cNvSpPr>
              <p:nvPr/>
            </p:nvSpPr>
            <p:spPr bwMode="auto">
              <a:xfrm>
                <a:off x="2178" y="1661"/>
                <a:ext cx="21" cy="41"/>
              </a:xfrm>
              <a:custGeom>
                <a:avLst/>
                <a:gdLst>
                  <a:gd name="T0" fmla="*/ 7 w 21"/>
                  <a:gd name="T1" fmla="*/ 41 h 41"/>
                  <a:gd name="T2" fmla="*/ 21 w 21"/>
                  <a:gd name="T3" fmla="*/ 0 h 41"/>
                  <a:gd name="T4" fmla="*/ 11 w 21"/>
                  <a:gd name="T5" fmla="*/ 0 h 41"/>
                  <a:gd name="T6" fmla="*/ 0 w 21"/>
                  <a:gd name="T7" fmla="*/ 41 h 41"/>
                  <a:gd name="T8" fmla="*/ 7 w 21"/>
                  <a:gd name="T9" fmla="*/ 41 h 41"/>
                  <a:gd name="T10" fmla="*/ 7 w 21"/>
                  <a:gd name="T11" fmla="*/ 41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41"/>
                  <a:gd name="T20" fmla="*/ 21 w 21"/>
                  <a:gd name="T21" fmla="*/ 41 h 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41">
                    <a:moveTo>
                      <a:pt x="7" y="41"/>
                    </a:moveTo>
                    <a:lnTo>
                      <a:pt x="21" y="0"/>
                    </a:lnTo>
                    <a:lnTo>
                      <a:pt x="11" y="0"/>
                    </a:lnTo>
                    <a:lnTo>
                      <a:pt x="0" y="41"/>
                    </a:ln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2" name="Freeform 386"/>
              <p:cNvSpPr>
                <a:spLocks/>
              </p:cNvSpPr>
              <p:nvPr/>
            </p:nvSpPr>
            <p:spPr bwMode="auto">
              <a:xfrm>
                <a:off x="2209" y="1661"/>
                <a:ext cx="28" cy="45"/>
              </a:xfrm>
              <a:custGeom>
                <a:avLst/>
                <a:gdLst>
                  <a:gd name="T0" fmla="*/ 11 w 28"/>
                  <a:gd name="T1" fmla="*/ 45 h 45"/>
                  <a:gd name="T2" fmla="*/ 21 w 28"/>
                  <a:gd name="T3" fmla="*/ 7 h 45"/>
                  <a:gd name="T4" fmla="*/ 28 w 28"/>
                  <a:gd name="T5" fmla="*/ 3 h 45"/>
                  <a:gd name="T6" fmla="*/ 11 w 28"/>
                  <a:gd name="T7" fmla="*/ 0 h 45"/>
                  <a:gd name="T8" fmla="*/ 7 w 28"/>
                  <a:gd name="T9" fmla="*/ 3 h 45"/>
                  <a:gd name="T10" fmla="*/ 0 w 28"/>
                  <a:gd name="T11" fmla="*/ 45 h 45"/>
                  <a:gd name="T12" fmla="*/ 11 w 28"/>
                  <a:gd name="T13" fmla="*/ 45 h 45"/>
                  <a:gd name="T14" fmla="*/ 11 w 28"/>
                  <a:gd name="T15" fmla="*/ 45 h 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"/>
                  <a:gd name="T25" fmla="*/ 0 h 45"/>
                  <a:gd name="T26" fmla="*/ 28 w 28"/>
                  <a:gd name="T27" fmla="*/ 45 h 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" h="45">
                    <a:moveTo>
                      <a:pt x="11" y="45"/>
                    </a:moveTo>
                    <a:lnTo>
                      <a:pt x="21" y="7"/>
                    </a:lnTo>
                    <a:lnTo>
                      <a:pt x="28" y="3"/>
                    </a:lnTo>
                    <a:lnTo>
                      <a:pt x="11" y="0"/>
                    </a:lnTo>
                    <a:lnTo>
                      <a:pt x="7" y="3"/>
                    </a:lnTo>
                    <a:lnTo>
                      <a:pt x="0" y="45"/>
                    </a:lnTo>
                    <a:lnTo>
                      <a:pt x="11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3" name="Freeform 387"/>
              <p:cNvSpPr>
                <a:spLocks/>
              </p:cNvSpPr>
              <p:nvPr/>
            </p:nvSpPr>
            <p:spPr bwMode="auto">
              <a:xfrm>
                <a:off x="2244" y="1661"/>
                <a:ext cx="21" cy="41"/>
              </a:xfrm>
              <a:custGeom>
                <a:avLst/>
                <a:gdLst>
                  <a:gd name="T0" fmla="*/ 14 w 21"/>
                  <a:gd name="T1" fmla="*/ 41 h 41"/>
                  <a:gd name="T2" fmla="*/ 21 w 21"/>
                  <a:gd name="T3" fmla="*/ 0 h 41"/>
                  <a:gd name="T4" fmla="*/ 7 w 21"/>
                  <a:gd name="T5" fmla="*/ 0 h 41"/>
                  <a:gd name="T6" fmla="*/ 0 w 21"/>
                  <a:gd name="T7" fmla="*/ 41 h 41"/>
                  <a:gd name="T8" fmla="*/ 14 w 21"/>
                  <a:gd name="T9" fmla="*/ 41 h 41"/>
                  <a:gd name="T10" fmla="*/ 14 w 21"/>
                  <a:gd name="T11" fmla="*/ 41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41"/>
                  <a:gd name="T20" fmla="*/ 21 w 21"/>
                  <a:gd name="T21" fmla="*/ 41 h 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41">
                    <a:moveTo>
                      <a:pt x="14" y="41"/>
                    </a:moveTo>
                    <a:lnTo>
                      <a:pt x="21" y="0"/>
                    </a:lnTo>
                    <a:lnTo>
                      <a:pt x="7" y="0"/>
                    </a:lnTo>
                    <a:lnTo>
                      <a:pt x="0" y="41"/>
                    </a:lnTo>
                    <a:lnTo>
                      <a:pt x="14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4" name="Freeform 388"/>
              <p:cNvSpPr>
                <a:spLocks/>
              </p:cNvSpPr>
              <p:nvPr/>
            </p:nvSpPr>
            <p:spPr bwMode="auto">
              <a:xfrm>
                <a:off x="2227" y="1605"/>
                <a:ext cx="20" cy="49"/>
              </a:xfrm>
              <a:custGeom>
                <a:avLst/>
                <a:gdLst>
                  <a:gd name="T0" fmla="*/ 10 w 20"/>
                  <a:gd name="T1" fmla="*/ 45 h 49"/>
                  <a:gd name="T2" fmla="*/ 20 w 20"/>
                  <a:gd name="T3" fmla="*/ 4 h 49"/>
                  <a:gd name="T4" fmla="*/ 7 w 20"/>
                  <a:gd name="T5" fmla="*/ 0 h 49"/>
                  <a:gd name="T6" fmla="*/ 7 w 20"/>
                  <a:gd name="T7" fmla="*/ 7 h 49"/>
                  <a:gd name="T8" fmla="*/ 0 w 20"/>
                  <a:gd name="T9" fmla="*/ 49 h 49"/>
                  <a:gd name="T10" fmla="*/ 10 w 20"/>
                  <a:gd name="T11" fmla="*/ 45 h 49"/>
                  <a:gd name="T12" fmla="*/ 10 w 20"/>
                  <a:gd name="T13" fmla="*/ 45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49"/>
                  <a:gd name="T23" fmla="*/ 20 w 20"/>
                  <a:gd name="T24" fmla="*/ 49 h 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49">
                    <a:moveTo>
                      <a:pt x="10" y="45"/>
                    </a:moveTo>
                    <a:lnTo>
                      <a:pt x="20" y="4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49"/>
                    </a:lnTo>
                    <a:lnTo>
                      <a:pt x="10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5" name="Freeform 389"/>
              <p:cNvSpPr>
                <a:spLocks/>
              </p:cNvSpPr>
              <p:nvPr/>
            </p:nvSpPr>
            <p:spPr bwMode="auto">
              <a:xfrm>
                <a:off x="2126" y="1602"/>
                <a:ext cx="25" cy="48"/>
              </a:xfrm>
              <a:custGeom>
                <a:avLst/>
                <a:gdLst>
                  <a:gd name="T0" fmla="*/ 7 w 25"/>
                  <a:gd name="T1" fmla="*/ 48 h 48"/>
                  <a:gd name="T2" fmla="*/ 25 w 25"/>
                  <a:gd name="T3" fmla="*/ 0 h 48"/>
                  <a:gd name="T4" fmla="*/ 18 w 25"/>
                  <a:gd name="T5" fmla="*/ 0 h 48"/>
                  <a:gd name="T6" fmla="*/ 0 w 25"/>
                  <a:gd name="T7" fmla="*/ 45 h 48"/>
                  <a:gd name="T8" fmla="*/ 7 w 25"/>
                  <a:gd name="T9" fmla="*/ 48 h 48"/>
                  <a:gd name="T10" fmla="*/ 7 w 25"/>
                  <a:gd name="T11" fmla="*/ 48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48"/>
                  <a:gd name="T20" fmla="*/ 25 w 25"/>
                  <a:gd name="T21" fmla="*/ 48 h 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48">
                    <a:moveTo>
                      <a:pt x="7" y="48"/>
                    </a:moveTo>
                    <a:lnTo>
                      <a:pt x="25" y="0"/>
                    </a:lnTo>
                    <a:lnTo>
                      <a:pt x="18" y="0"/>
                    </a:lnTo>
                    <a:lnTo>
                      <a:pt x="0" y="45"/>
                    </a:lnTo>
                    <a:lnTo>
                      <a:pt x="7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6" name="Freeform 390"/>
              <p:cNvSpPr>
                <a:spLocks/>
              </p:cNvSpPr>
              <p:nvPr/>
            </p:nvSpPr>
            <p:spPr bwMode="auto">
              <a:xfrm>
                <a:off x="2192" y="1602"/>
                <a:ext cx="24" cy="52"/>
              </a:xfrm>
              <a:custGeom>
                <a:avLst/>
                <a:gdLst>
                  <a:gd name="T0" fmla="*/ 14 w 24"/>
                  <a:gd name="T1" fmla="*/ 52 h 52"/>
                  <a:gd name="T2" fmla="*/ 24 w 24"/>
                  <a:gd name="T3" fmla="*/ 7 h 52"/>
                  <a:gd name="T4" fmla="*/ 10 w 24"/>
                  <a:gd name="T5" fmla="*/ 0 h 52"/>
                  <a:gd name="T6" fmla="*/ 0 w 24"/>
                  <a:gd name="T7" fmla="*/ 48 h 52"/>
                  <a:gd name="T8" fmla="*/ 14 w 24"/>
                  <a:gd name="T9" fmla="*/ 52 h 52"/>
                  <a:gd name="T10" fmla="*/ 14 w 24"/>
                  <a:gd name="T11" fmla="*/ 52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52"/>
                  <a:gd name="T20" fmla="*/ 24 w 24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52">
                    <a:moveTo>
                      <a:pt x="14" y="52"/>
                    </a:moveTo>
                    <a:lnTo>
                      <a:pt x="24" y="7"/>
                    </a:lnTo>
                    <a:lnTo>
                      <a:pt x="10" y="0"/>
                    </a:lnTo>
                    <a:lnTo>
                      <a:pt x="0" y="48"/>
                    </a:lnTo>
                    <a:lnTo>
                      <a:pt x="14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7" name="Freeform 391"/>
              <p:cNvSpPr>
                <a:spLocks/>
              </p:cNvSpPr>
              <p:nvPr/>
            </p:nvSpPr>
            <p:spPr bwMode="auto">
              <a:xfrm>
                <a:off x="2261" y="1605"/>
                <a:ext cx="17" cy="49"/>
              </a:xfrm>
              <a:custGeom>
                <a:avLst/>
                <a:gdLst>
                  <a:gd name="T0" fmla="*/ 0 w 17"/>
                  <a:gd name="T1" fmla="*/ 45 h 49"/>
                  <a:gd name="T2" fmla="*/ 7 w 17"/>
                  <a:gd name="T3" fmla="*/ 14 h 49"/>
                  <a:gd name="T4" fmla="*/ 0 w 17"/>
                  <a:gd name="T5" fmla="*/ 4 h 49"/>
                  <a:gd name="T6" fmla="*/ 11 w 17"/>
                  <a:gd name="T7" fmla="*/ 0 h 49"/>
                  <a:gd name="T8" fmla="*/ 17 w 17"/>
                  <a:gd name="T9" fmla="*/ 7 h 49"/>
                  <a:gd name="T10" fmla="*/ 7 w 17"/>
                  <a:gd name="T11" fmla="*/ 49 h 49"/>
                  <a:gd name="T12" fmla="*/ 0 w 17"/>
                  <a:gd name="T13" fmla="*/ 45 h 49"/>
                  <a:gd name="T14" fmla="*/ 0 w 17"/>
                  <a:gd name="T15" fmla="*/ 45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49"/>
                  <a:gd name="T26" fmla="*/ 17 w 17"/>
                  <a:gd name="T27" fmla="*/ 49 h 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49">
                    <a:moveTo>
                      <a:pt x="0" y="45"/>
                    </a:moveTo>
                    <a:lnTo>
                      <a:pt x="7" y="14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7" y="7"/>
                    </a:lnTo>
                    <a:lnTo>
                      <a:pt x="7" y="4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8" name="Freeform 392"/>
              <p:cNvSpPr>
                <a:spLocks/>
              </p:cNvSpPr>
              <p:nvPr/>
            </p:nvSpPr>
            <p:spPr bwMode="auto">
              <a:xfrm>
                <a:off x="2268" y="1602"/>
                <a:ext cx="21" cy="52"/>
              </a:xfrm>
              <a:custGeom>
                <a:avLst/>
                <a:gdLst>
                  <a:gd name="T0" fmla="*/ 7 w 21"/>
                  <a:gd name="T1" fmla="*/ 52 h 52"/>
                  <a:gd name="T2" fmla="*/ 21 w 21"/>
                  <a:gd name="T3" fmla="*/ 3 h 52"/>
                  <a:gd name="T4" fmla="*/ 14 w 21"/>
                  <a:gd name="T5" fmla="*/ 0 h 52"/>
                  <a:gd name="T6" fmla="*/ 7 w 21"/>
                  <a:gd name="T7" fmla="*/ 7 h 52"/>
                  <a:gd name="T8" fmla="*/ 0 w 21"/>
                  <a:gd name="T9" fmla="*/ 52 h 52"/>
                  <a:gd name="T10" fmla="*/ 7 w 21"/>
                  <a:gd name="T11" fmla="*/ 52 h 52"/>
                  <a:gd name="T12" fmla="*/ 7 w 21"/>
                  <a:gd name="T13" fmla="*/ 52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52"/>
                  <a:gd name="T23" fmla="*/ 21 w 21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52">
                    <a:moveTo>
                      <a:pt x="7" y="52"/>
                    </a:moveTo>
                    <a:lnTo>
                      <a:pt x="21" y="3"/>
                    </a:lnTo>
                    <a:lnTo>
                      <a:pt x="14" y="0"/>
                    </a:lnTo>
                    <a:lnTo>
                      <a:pt x="7" y="7"/>
                    </a:lnTo>
                    <a:lnTo>
                      <a:pt x="0" y="52"/>
                    </a:lnTo>
                    <a:lnTo>
                      <a:pt x="7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09" name="Freeform 393"/>
              <p:cNvSpPr>
                <a:spLocks/>
              </p:cNvSpPr>
              <p:nvPr/>
            </p:nvSpPr>
            <p:spPr bwMode="auto">
              <a:xfrm>
                <a:off x="1974" y="1412"/>
                <a:ext cx="73" cy="72"/>
              </a:xfrm>
              <a:custGeom>
                <a:avLst/>
                <a:gdLst>
                  <a:gd name="T0" fmla="*/ 69 w 73"/>
                  <a:gd name="T1" fmla="*/ 31 h 72"/>
                  <a:gd name="T2" fmla="*/ 69 w 73"/>
                  <a:gd name="T3" fmla="*/ 28 h 72"/>
                  <a:gd name="T4" fmla="*/ 73 w 73"/>
                  <a:gd name="T5" fmla="*/ 28 h 72"/>
                  <a:gd name="T6" fmla="*/ 73 w 73"/>
                  <a:gd name="T7" fmla="*/ 28 h 72"/>
                  <a:gd name="T8" fmla="*/ 73 w 73"/>
                  <a:gd name="T9" fmla="*/ 24 h 72"/>
                  <a:gd name="T10" fmla="*/ 73 w 73"/>
                  <a:gd name="T11" fmla="*/ 21 h 72"/>
                  <a:gd name="T12" fmla="*/ 73 w 73"/>
                  <a:gd name="T13" fmla="*/ 17 h 72"/>
                  <a:gd name="T14" fmla="*/ 69 w 73"/>
                  <a:gd name="T15" fmla="*/ 10 h 72"/>
                  <a:gd name="T16" fmla="*/ 66 w 73"/>
                  <a:gd name="T17" fmla="*/ 7 h 72"/>
                  <a:gd name="T18" fmla="*/ 66 w 73"/>
                  <a:gd name="T19" fmla="*/ 3 h 72"/>
                  <a:gd name="T20" fmla="*/ 63 w 73"/>
                  <a:gd name="T21" fmla="*/ 0 h 72"/>
                  <a:gd name="T22" fmla="*/ 56 w 73"/>
                  <a:gd name="T23" fmla="*/ 0 h 72"/>
                  <a:gd name="T24" fmla="*/ 52 w 73"/>
                  <a:gd name="T25" fmla="*/ 0 h 72"/>
                  <a:gd name="T26" fmla="*/ 49 w 73"/>
                  <a:gd name="T27" fmla="*/ 0 h 72"/>
                  <a:gd name="T28" fmla="*/ 45 w 73"/>
                  <a:gd name="T29" fmla="*/ 0 h 72"/>
                  <a:gd name="T30" fmla="*/ 42 w 73"/>
                  <a:gd name="T31" fmla="*/ 0 h 72"/>
                  <a:gd name="T32" fmla="*/ 38 w 73"/>
                  <a:gd name="T33" fmla="*/ 3 h 72"/>
                  <a:gd name="T34" fmla="*/ 35 w 73"/>
                  <a:gd name="T35" fmla="*/ 3 h 72"/>
                  <a:gd name="T36" fmla="*/ 31 w 73"/>
                  <a:gd name="T37" fmla="*/ 7 h 72"/>
                  <a:gd name="T38" fmla="*/ 28 w 73"/>
                  <a:gd name="T39" fmla="*/ 7 h 72"/>
                  <a:gd name="T40" fmla="*/ 25 w 73"/>
                  <a:gd name="T41" fmla="*/ 10 h 72"/>
                  <a:gd name="T42" fmla="*/ 21 w 73"/>
                  <a:gd name="T43" fmla="*/ 10 h 72"/>
                  <a:gd name="T44" fmla="*/ 18 w 73"/>
                  <a:gd name="T45" fmla="*/ 14 h 72"/>
                  <a:gd name="T46" fmla="*/ 11 w 73"/>
                  <a:gd name="T47" fmla="*/ 14 h 72"/>
                  <a:gd name="T48" fmla="*/ 7 w 73"/>
                  <a:gd name="T49" fmla="*/ 17 h 72"/>
                  <a:gd name="T50" fmla="*/ 4 w 73"/>
                  <a:gd name="T51" fmla="*/ 21 h 72"/>
                  <a:gd name="T52" fmla="*/ 0 w 73"/>
                  <a:gd name="T53" fmla="*/ 24 h 72"/>
                  <a:gd name="T54" fmla="*/ 0 w 73"/>
                  <a:gd name="T55" fmla="*/ 24 h 72"/>
                  <a:gd name="T56" fmla="*/ 0 w 73"/>
                  <a:gd name="T57" fmla="*/ 31 h 72"/>
                  <a:gd name="T58" fmla="*/ 0 w 73"/>
                  <a:gd name="T59" fmla="*/ 38 h 72"/>
                  <a:gd name="T60" fmla="*/ 0 w 73"/>
                  <a:gd name="T61" fmla="*/ 45 h 72"/>
                  <a:gd name="T62" fmla="*/ 4 w 73"/>
                  <a:gd name="T63" fmla="*/ 52 h 72"/>
                  <a:gd name="T64" fmla="*/ 7 w 73"/>
                  <a:gd name="T65" fmla="*/ 59 h 72"/>
                  <a:gd name="T66" fmla="*/ 14 w 73"/>
                  <a:gd name="T67" fmla="*/ 66 h 72"/>
                  <a:gd name="T68" fmla="*/ 21 w 73"/>
                  <a:gd name="T69" fmla="*/ 69 h 72"/>
                  <a:gd name="T70" fmla="*/ 28 w 73"/>
                  <a:gd name="T71" fmla="*/ 72 h 72"/>
                  <a:gd name="T72" fmla="*/ 38 w 73"/>
                  <a:gd name="T73" fmla="*/ 72 h 72"/>
                  <a:gd name="T74" fmla="*/ 42 w 73"/>
                  <a:gd name="T75" fmla="*/ 72 h 72"/>
                  <a:gd name="T76" fmla="*/ 42 w 73"/>
                  <a:gd name="T77" fmla="*/ 72 h 72"/>
                  <a:gd name="T78" fmla="*/ 45 w 73"/>
                  <a:gd name="T79" fmla="*/ 69 h 72"/>
                  <a:gd name="T80" fmla="*/ 45 w 73"/>
                  <a:gd name="T81" fmla="*/ 66 h 72"/>
                  <a:gd name="T82" fmla="*/ 49 w 73"/>
                  <a:gd name="T83" fmla="*/ 62 h 72"/>
                  <a:gd name="T84" fmla="*/ 49 w 73"/>
                  <a:gd name="T85" fmla="*/ 59 h 72"/>
                  <a:gd name="T86" fmla="*/ 49 w 73"/>
                  <a:gd name="T87" fmla="*/ 55 h 72"/>
                  <a:gd name="T88" fmla="*/ 49 w 73"/>
                  <a:gd name="T89" fmla="*/ 52 h 72"/>
                  <a:gd name="T90" fmla="*/ 35 w 73"/>
                  <a:gd name="T91" fmla="*/ 31 h 72"/>
                  <a:gd name="T92" fmla="*/ 35 w 73"/>
                  <a:gd name="T93" fmla="*/ 31 h 72"/>
                  <a:gd name="T94" fmla="*/ 38 w 73"/>
                  <a:gd name="T95" fmla="*/ 28 h 72"/>
                  <a:gd name="T96" fmla="*/ 38 w 73"/>
                  <a:gd name="T97" fmla="*/ 24 h 72"/>
                  <a:gd name="T98" fmla="*/ 42 w 73"/>
                  <a:gd name="T99" fmla="*/ 24 h 72"/>
                  <a:gd name="T100" fmla="*/ 45 w 73"/>
                  <a:gd name="T101" fmla="*/ 21 h 72"/>
                  <a:gd name="T102" fmla="*/ 45 w 73"/>
                  <a:gd name="T103" fmla="*/ 21 h 72"/>
                  <a:gd name="T104" fmla="*/ 49 w 73"/>
                  <a:gd name="T105" fmla="*/ 17 h 72"/>
                  <a:gd name="T106" fmla="*/ 52 w 73"/>
                  <a:gd name="T107" fmla="*/ 17 h 72"/>
                  <a:gd name="T108" fmla="*/ 52 w 73"/>
                  <a:gd name="T109" fmla="*/ 17 h 72"/>
                  <a:gd name="T110" fmla="*/ 56 w 73"/>
                  <a:gd name="T111" fmla="*/ 21 h 72"/>
                  <a:gd name="T112" fmla="*/ 59 w 73"/>
                  <a:gd name="T113" fmla="*/ 21 h 72"/>
                  <a:gd name="T114" fmla="*/ 59 w 73"/>
                  <a:gd name="T115" fmla="*/ 24 h 72"/>
                  <a:gd name="T116" fmla="*/ 63 w 73"/>
                  <a:gd name="T117" fmla="*/ 24 h 72"/>
                  <a:gd name="T118" fmla="*/ 66 w 73"/>
                  <a:gd name="T119" fmla="*/ 28 h 72"/>
                  <a:gd name="T120" fmla="*/ 66 w 73"/>
                  <a:gd name="T121" fmla="*/ 28 h 72"/>
                  <a:gd name="T122" fmla="*/ 69 w 73"/>
                  <a:gd name="T123" fmla="*/ 31 h 72"/>
                  <a:gd name="T124" fmla="*/ 69 w 73"/>
                  <a:gd name="T125" fmla="*/ 31 h 7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73"/>
                  <a:gd name="T190" fmla="*/ 0 h 72"/>
                  <a:gd name="T191" fmla="*/ 73 w 73"/>
                  <a:gd name="T192" fmla="*/ 72 h 72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73" h="72">
                    <a:moveTo>
                      <a:pt x="69" y="31"/>
                    </a:moveTo>
                    <a:lnTo>
                      <a:pt x="69" y="28"/>
                    </a:lnTo>
                    <a:lnTo>
                      <a:pt x="73" y="28"/>
                    </a:lnTo>
                    <a:lnTo>
                      <a:pt x="73" y="24"/>
                    </a:lnTo>
                    <a:lnTo>
                      <a:pt x="73" y="21"/>
                    </a:lnTo>
                    <a:lnTo>
                      <a:pt x="73" y="17"/>
                    </a:lnTo>
                    <a:lnTo>
                      <a:pt x="69" y="10"/>
                    </a:lnTo>
                    <a:lnTo>
                      <a:pt x="66" y="7"/>
                    </a:lnTo>
                    <a:lnTo>
                      <a:pt x="66" y="3"/>
                    </a:lnTo>
                    <a:lnTo>
                      <a:pt x="63" y="0"/>
                    </a:lnTo>
                    <a:lnTo>
                      <a:pt x="56" y="0"/>
                    </a:lnTo>
                    <a:lnTo>
                      <a:pt x="52" y="0"/>
                    </a:lnTo>
                    <a:lnTo>
                      <a:pt x="49" y="0"/>
                    </a:lnTo>
                    <a:lnTo>
                      <a:pt x="45" y="0"/>
                    </a:lnTo>
                    <a:lnTo>
                      <a:pt x="42" y="0"/>
                    </a:lnTo>
                    <a:lnTo>
                      <a:pt x="38" y="3"/>
                    </a:lnTo>
                    <a:lnTo>
                      <a:pt x="35" y="3"/>
                    </a:lnTo>
                    <a:lnTo>
                      <a:pt x="31" y="7"/>
                    </a:lnTo>
                    <a:lnTo>
                      <a:pt x="28" y="7"/>
                    </a:lnTo>
                    <a:lnTo>
                      <a:pt x="25" y="10"/>
                    </a:lnTo>
                    <a:lnTo>
                      <a:pt x="21" y="10"/>
                    </a:lnTo>
                    <a:lnTo>
                      <a:pt x="18" y="14"/>
                    </a:lnTo>
                    <a:lnTo>
                      <a:pt x="11" y="14"/>
                    </a:lnTo>
                    <a:lnTo>
                      <a:pt x="7" y="17"/>
                    </a:lnTo>
                    <a:lnTo>
                      <a:pt x="4" y="21"/>
                    </a:lnTo>
                    <a:lnTo>
                      <a:pt x="0" y="24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4" y="52"/>
                    </a:lnTo>
                    <a:lnTo>
                      <a:pt x="7" y="59"/>
                    </a:lnTo>
                    <a:lnTo>
                      <a:pt x="14" y="66"/>
                    </a:lnTo>
                    <a:lnTo>
                      <a:pt x="21" y="69"/>
                    </a:lnTo>
                    <a:lnTo>
                      <a:pt x="28" y="72"/>
                    </a:lnTo>
                    <a:lnTo>
                      <a:pt x="38" y="72"/>
                    </a:lnTo>
                    <a:lnTo>
                      <a:pt x="42" y="72"/>
                    </a:lnTo>
                    <a:lnTo>
                      <a:pt x="45" y="69"/>
                    </a:lnTo>
                    <a:lnTo>
                      <a:pt x="45" y="66"/>
                    </a:lnTo>
                    <a:lnTo>
                      <a:pt x="49" y="62"/>
                    </a:lnTo>
                    <a:lnTo>
                      <a:pt x="49" y="59"/>
                    </a:lnTo>
                    <a:lnTo>
                      <a:pt x="49" y="55"/>
                    </a:lnTo>
                    <a:lnTo>
                      <a:pt x="49" y="52"/>
                    </a:lnTo>
                    <a:lnTo>
                      <a:pt x="35" y="31"/>
                    </a:lnTo>
                    <a:lnTo>
                      <a:pt x="38" y="28"/>
                    </a:lnTo>
                    <a:lnTo>
                      <a:pt x="38" y="24"/>
                    </a:lnTo>
                    <a:lnTo>
                      <a:pt x="42" y="24"/>
                    </a:lnTo>
                    <a:lnTo>
                      <a:pt x="45" y="21"/>
                    </a:lnTo>
                    <a:lnTo>
                      <a:pt x="49" y="17"/>
                    </a:lnTo>
                    <a:lnTo>
                      <a:pt x="52" y="17"/>
                    </a:lnTo>
                    <a:lnTo>
                      <a:pt x="56" y="21"/>
                    </a:lnTo>
                    <a:lnTo>
                      <a:pt x="59" y="21"/>
                    </a:lnTo>
                    <a:lnTo>
                      <a:pt x="59" y="24"/>
                    </a:lnTo>
                    <a:lnTo>
                      <a:pt x="63" y="24"/>
                    </a:lnTo>
                    <a:lnTo>
                      <a:pt x="66" y="28"/>
                    </a:lnTo>
                    <a:lnTo>
                      <a:pt x="69" y="31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0" name="Freeform 394"/>
              <p:cNvSpPr>
                <a:spLocks/>
              </p:cNvSpPr>
              <p:nvPr/>
            </p:nvSpPr>
            <p:spPr bwMode="auto">
              <a:xfrm>
                <a:off x="2019" y="1619"/>
                <a:ext cx="18" cy="24"/>
              </a:xfrm>
              <a:custGeom>
                <a:avLst/>
                <a:gdLst>
                  <a:gd name="T0" fmla="*/ 18 w 18"/>
                  <a:gd name="T1" fmla="*/ 24 h 24"/>
                  <a:gd name="T2" fmla="*/ 14 w 18"/>
                  <a:gd name="T3" fmla="*/ 21 h 24"/>
                  <a:gd name="T4" fmla="*/ 14 w 18"/>
                  <a:gd name="T5" fmla="*/ 18 h 24"/>
                  <a:gd name="T6" fmla="*/ 11 w 18"/>
                  <a:gd name="T7" fmla="*/ 14 h 24"/>
                  <a:gd name="T8" fmla="*/ 11 w 18"/>
                  <a:gd name="T9" fmla="*/ 14 h 24"/>
                  <a:gd name="T10" fmla="*/ 7 w 18"/>
                  <a:gd name="T11" fmla="*/ 11 h 24"/>
                  <a:gd name="T12" fmla="*/ 4 w 18"/>
                  <a:gd name="T13" fmla="*/ 7 h 24"/>
                  <a:gd name="T14" fmla="*/ 4 w 18"/>
                  <a:gd name="T15" fmla="*/ 4 h 24"/>
                  <a:gd name="T16" fmla="*/ 0 w 18"/>
                  <a:gd name="T17" fmla="*/ 0 h 24"/>
                  <a:gd name="T18" fmla="*/ 0 w 18"/>
                  <a:gd name="T19" fmla="*/ 4 h 24"/>
                  <a:gd name="T20" fmla="*/ 0 w 18"/>
                  <a:gd name="T21" fmla="*/ 11 h 24"/>
                  <a:gd name="T22" fmla="*/ 0 w 18"/>
                  <a:gd name="T23" fmla="*/ 14 h 24"/>
                  <a:gd name="T24" fmla="*/ 0 w 18"/>
                  <a:gd name="T25" fmla="*/ 18 h 24"/>
                  <a:gd name="T26" fmla="*/ 4 w 18"/>
                  <a:gd name="T27" fmla="*/ 21 h 24"/>
                  <a:gd name="T28" fmla="*/ 4 w 18"/>
                  <a:gd name="T29" fmla="*/ 24 h 24"/>
                  <a:gd name="T30" fmla="*/ 7 w 18"/>
                  <a:gd name="T31" fmla="*/ 24 h 24"/>
                  <a:gd name="T32" fmla="*/ 11 w 18"/>
                  <a:gd name="T33" fmla="*/ 24 h 24"/>
                  <a:gd name="T34" fmla="*/ 14 w 18"/>
                  <a:gd name="T35" fmla="*/ 24 h 24"/>
                  <a:gd name="T36" fmla="*/ 14 w 18"/>
                  <a:gd name="T37" fmla="*/ 24 h 24"/>
                  <a:gd name="T38" fmla="*/ 18 w 18"/>
                  <a:gd name="T39" fmla="*/ 24 h 24"/>
                  <a:gd name="T40" fmla="*/ 18 w 18"/>
                  <a:gd name="T41" fmla="*/ 24 h 24"/>
                  <a:gd name="T42" fmla="*/ 18 w 18"/>
                  <a:gd name="T43" fmla="*/ 24 h 2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8"/>
                  <a:gd name="T67" fmla="*/ 0 h 24"/>
                  <a:gd name="T68" fmla="*/ 18 w 18"/>
                  <a:gd name="T69" fmla="*/ 24 h 2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8" h="24">
                    <a:moveTo>
                      <a:pt x="18" y="24"/>
                    </a:moveTo>
                    <a:lnTo>
                      <a:pt x="14" y="21"/>
                    </a:lnTo>
                    <a:lnTo>
                      <a:pt x="14" y="18"/>
                    </a:lnTo>
                    <a:lnTo>
                      <a:pt x="11" y="14"/>
                    </a:lnTo>
                    <a:lnTo>
                      <a:pt x="7" y="11"/>
                    </a:lnTo>
                    <a:lnTo>
                      <a:pt x="4" y="7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4" y="21"/>
                    </a:lnTo>
                    <a:lnTo>
                      <a:pt x="4" y="24"/>
                    </a:lnTo>
                    <a:lnTo>
                      <a:pt x="7" y="24"/>
                    </a:lnTo>
                    <a:lnTo>
                      <a:pt x="11" y="24"/>
                    </a:lnTo>
                    <a:lnTo>
                      <a:pt x="14" y="24"/>
                    </a:lnTo>
                    <a:lnTo>
                      <a:pt x="18" y="24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1" name="Freeform 395"/>
              <p:cNvSpPr>
                <a:spLocks/>
              </p:cNvSpPr>
              <p:nvPr/>
            </p:nvSpPr>
            <p:spPr bwMode="auto">
              <a:xfrm>
                <a:off x="1954" y="1585"/>
                <a:ext cx="48" cy="69"/>
              </a:xfrm>
              <a:custGeom>
                <a:avLst/>
                <a:gdLst>
                  <a:gd name="T0" fmla="*/ 34 w 48"/>
                  <a:gd name="T1" fmla="*/ 69 h 69"/>
                  <a:gd name="T2" fmla="*/ 31 w 48"/>
                  <a:gd name="T3" fmla="*/ 62 h 69"/>
                  <a:gd name="T4" fmla="*/ 27 w 48"/>
                  <a:gd name="T5" fmla="*/ 58 h 69"/>
                  <a:gd name="T6" fmla="*/ 24 w 48"/>
                  <a:gd name="T7" fmla="*/ 52 h 69"/>
                  <a:gd name="T8" fmla="*/ 20 w 48"/>
                  <a:gd name="T9" fmla="*/ 48 h 69"/>
                  <a:gd name="T10" fmla="*/ 17 w 48"/>
                  <a:gd name="T11" fmla="*/ 45 h 69"/>
                  <a:gd name="T12" fmla="*/ 13 w 48"/>
                  <a:gd name="T13" fmla="*/ 38 h 69"/>
                  <a:gd name="T14" fmla="*/ 13 w 48"/>
                  <a:gd name="T15" fmla="*/ 34 h 69"/>
                  <a:gd name="T16" fmla="*/ 13 w 48"/>
                  <a:gd name="T17" fmla="*/ 27 h 69"/>
                  <a:gd name="T18" fmla="*/ 13 w 48"/>
                  <a:gd name="T19" fmla="*/ 24 h 69"/>
                  <a:gd name="T20" fmla="*/ 17 w 48"/>
                  <a:gd name="T21" fmla="*/ 20 h 69"/>
                  <a:gd name="T22" fmla="*/ 20 w 48"/>
                  <a:gd name="T23" fmla="*/ 17 h 69"/>
                  <a:gd name="T24" fmla="*/ 24 w 48"/>
                  <a:gd name="T25" fmla="*/ 14 h 69"/>
                  <a:gd name="T26" fmla="*/ 31 w 48"/>
                  <a:gd name="T27" fmla="*/ 10 h 69"/>
                  <a:gd name="T28" fmla="*/ 38 w 48"/>
                  <a:gd name="T29" fmla="*/ 10 h 69"/>
                  <a:gd name="T30" fmla="*/ 41 w 48"/>
                  <a:gd name="T31" fmla="*/ 7 h 69"/>
                  <a:gd name="T32" fmla="*/ 48 w 48"/>
                  <a:gd name="T33" fmla="*/ 7 h 69"/>
                  <a:gd name="T34" fmla="*/ 48 w 48"/>
                  <a:gd name="T35" fmla="*/ 7 h 69"/>
                  <a:gd name="T36" fmla="*/ 48 w 48"/>
                  <a:gd name="T37" fmla="*/ 3 h 69"/>
                  <a:gd name="T38" fmla="*/ 45 w 48"/>
                  <a:gd name="T39" fmla="*/ 3 h 69"/>
                  <a:gd name="T40" fmla="*/ 45 w 48"/>
                  <a:gd name="T41" fmla="*/ 3 h 69"/>
                  <a:gd name="T42" fmla="*/ 41 w 48"/>
                  <a:gd name="T43" fmla="*/ 3 h 69"/>
                  <a:gd name="T44" fmla="*/ 41 w 48"/>
                  <a:gd name="T45" fmla="*/ 0 h 69"/>
                  <a:gd name="T46" fmla="*/ 38 w 48"/>
                  <a:gd name="T47" fmla="*/ 0 h 69"/>
                  <a:gd name="T48" fmla="*/ 38 w 48"/>
                  <a:gd name="T49" fmla="*/ 0 h 69"/>
                  <a:gd name="T50" fmla="*/ 31 w 48"/>
                  <a:gd name="T51" fmla="*/ 0 h 69"/>
                  <a:gd name="T52" fmla="*/ 24 w 48"/>
                  <a:gd name="T53" fmla="*/ 3 h 69"/>
                  <a:gd name="T54" fmla="*/ 17 w 48"/>
                  <a:gd name="T55" fmla="*/ 3 h 69"/>
                  <a:gd name="T56" fmla="*/ 13 w 48"/>
                  <a:gd name="T57" fmla="*/ 3 h 69"/>
                  <a:gd name="T58" fmla="*/ 6 w 48"/>
                  <a:gd name="T59" fmla="*/ 7 h 69"/>
                  <a:gd name="T60" fmla="*/ 3 w 48"/>
                  <a:gd name="T61" fmla="*/ 10 h 69"/>
                  <a:gd name="T62" fmla="*/ 0 w 48"/>
                  <a:gd name="T63" fmla="*/ 14 h 69"/>
                  <a:gd name="T64" fmla="*/ 0 w 48"/>
                  <a:gd name="T65" fmla="*/ 17 h 69"/>
                  <a:gd name="T66" fmla="*/ 0 w 48"/>
                  <a:gd name="T67" fmla="*/ 24 h 69"/>
                  <a:gd name="T68" fmla="*/ 3 w 48"/>
                  <a:gd name="T69" fmla="*/ 31 h 69"/>
                  <a:gd name="T70" fmla="*/ 6 w 48"/>
                  <a:gd name="T71" fmla="*/ 34 h 69"/>
                  <a:gd name="T72" fmla="*/ 10 w 48"/>
                  <a:gd name="T73" fmla="*/ 41 h 69"/>
                  <a:gd name="T74" fmla="*/ 10 w 48"/>
                  <a:gd name="T75" fmla="*/ 48 h 69"/>
                  <a:gd name="T76" fmla="*/ 13 w 48"/>
                  <a:gd name="T77" fmla="*/ 52 h 69"/>
                  <a:gd name="T78" fmla="*/ 13 w 48"/>
                  <a:gd name="T79" fmla="*/ 55 h 69"/>
                  <a:gd name="T80" fmla="*/ 17 w 48"/>
                  <a:gd name="T81" fmla="*/ 62 h 69"/>
                  <a:gd name="T82" fmla="*/ 20 w 48"/>
                  <a:gd name="T83" fmla="*/ 65 h 69"/>
                  <a:gd name="T84" fmla="*/ 24 w 48"/>
                  <a:gd name="T85" fmla="*/ 65 h 69"/>
                  <a:gd name="T86" fmla="*/ 27 w 48"/>
                  <a:gd name="T87" fmla="*/ 69 h 69"/>
                  <a:gd name="T88" fmla="*/ 34 w 48"/>
                  <a:gd name="T89" fmla="*/ 69 h 69"/>
                  <a:gd name="T90" fmla="*/ 34 w 48"/>
                  <a:gd name="T91" fmla="*/ 69 h 6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8"/>
                  <a:gd name="T139" fmla="*/ 0 h 69"/>
                  <a:gd name="T140" fmla="*/ 48 w 48"/>
                  <a:gd name="T141" fmla="*/ 69 h 6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8" h="69">
                    <a:moveTo>
                      <a:pt x="34" y="69"/>
                    </a:moveTo>
                    <a:lnTo>
                      <a:pt x="31" y="62"/>
                    </a:lnTo>
                    <a:lnTo>
                      <a:pt x="27" y="58"/>
                    </a:lnTo>
                    <a:lnTo>
                      <a:pt x="24" y="52"/>
                    </a:lnTo>
                    <a:lnTo>
                      <a:pt x="20" y="48"/>
                    </a:lnTo>
                    <a:lnTo>
                      <a:pt x="17" y="45"/>
                    </a:lnTo>
                    <a:lnTo>
                      <a:pt x="13" y="38"/>
                    </a:lnTo>
                    <a:lnTo>
                      <a:pt x="13" y="34"/>
                    </a:lnTo>
                    <a:lnTo>
                      <a:pt x="13" y="27"/>
                    </a:lnTo>
                    <a:lnTo>
                      <a:pt x="13" y="24"/>
                    </a:lnTo>
                    <a:lnTo>
                      <a:pt x="17" y="20"/>
                    </a:lnTo>
                    <a:lnTo>
                      <a:pt x="20" y="17"/>
                    </a:lnTo>
                    <a:lnTo>
                      <a:pt x="24" y="14"/>
                    </a:lnTo>
                    <a:lnTo>
                      <a:pt x="31" y="10"/>
                    </a:lnTo>
                    <a:lnTo>
                      <a:pt x="38" y="10"/>
                    </a:lnTo>
                    <a:lnTo>
                      <a:pt x="41" y="7"/>
                    </a:lnTo>
                    <a:lnTo>
                      <a:pt x="48" y="7"/>
                    </a:lnTo>
                    <a:lnTo>
                      <a:pt x="48" y="3"/>
                    </a:lnTo>
                    <a:lnTo>
                      <a:pt x="45" y="3"/>
                    </a:lnTo>
                    <a:lnTo>
                      <a:pt x="41" y="3"/>
                    </a:lnTo>
                    <a:lnTo>
                      <a:pt x="41" y="0"/>
                    </a:lnTo>
                    <a:lnTo>
                      <a:pt x="38" y="0"/>
                    </a:lnTo>
                    <a:lnTo>
                      <a:pt x="31" y="0"/>
                    </a:lnTo>
                    <a:lnTo>
                      <a:pt x="24" y="3"/>
                    </a:lnTo>
                    <a:lnTo>
                      <a:pt x="17" y="3"/>
                    </a:lnTo>
                    <a:lnTo>
                      <a:pt x="13" y="3"/>
                    </a:lnTo>
                    <a:lnTo>
                      <a:pt x="6" y="7"/>
                    </a:lnTo>
                    <a:lnTo>
                      <a:pt x="3" y="10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4"/>
                    </a:lnTo>
                    <a:lnTo>
                      <a:pt x="3" y="31"/>
                    </a:lnTo>
                    <a:lnTo>
                      <a:pt x="6" y="34"/>
                    </a:lnTo>
                    <a:lnTo>
                      <a:pt x="10" y="41"/>
                    </a:lnTo>
                    <a:lnTo>
                      <a:pt x="10" y="48"/>
                    </a:lnTo>
                    <a:lnTo>
                      <a:pt x="13" y="52"/>
                    </a:lnTo>
                    <a:lnTo>
                      <a:pt x="13" y="55"/>
                    </a:lnTo>
                    <a:lnTo>
                      <a:pt x="17" y="62"/>
                    </a:lnTo>
                    <a:lnTo>
                      <a:pt x="20" y="65"/>
                    </a:lnTo>
                    <a:lnTo>
                      <a:pt x="24" y="65"/>
                    </a:lnTo>
                    <a:lnTo>
                      <a:pt x="27" y="69"/>
                    </a:lnTo>
                    <a:lnTo>
                      <a:pt x="34" y="69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2" name="Freeform 396"/>
              <p:cNvSpPr>
                <a:spLocks/>
              </p:cNvSpPr>
              <p:nvPr/>
            </p:nvSpPr>
            <p:spPr bwMode="auto">
              <a:xfrm>
                <a:off x="1909" y="1630"/>
                <a:ext cx="76" cy="69"/>
              </a:xfrm>
              <a:custGeom>
                <a:avLst/>
                <a:gdLst>
                  <a:gd name="T0" fmla="*/ 0 w 76"/>
                  <a:gd name="T1" fmla="*/ 0 h 69"/>
                  <a:gd name="T2" fmla="*/ 3 w 76"/>
                  <a:gd name="T3" fmla="*/ 3 h 69"/>
                  <a:gd name="T4" fmla="*/ 10 w 76"/>
                  <a:gd name="T5" fmla="*/ 7 h 69"/>
                  <a:gd name="T6" fmla="*/ 13 w 76"/>
                  <a:gd name="T7" fmla="*/ 7 h 69"/>
                  <a:gd name="T8" fmla="*/ 17 w 76"/>
                  <a:gd name="T9" fmla="*/ 10 h 69"/>
                  <a:gd name="T10" fmla="*/ 24 w 76"/>
                  <a:gd name="T11" fmla="*/ 10 h 69"/>
                  <a:gd name="T12" fmla="*/ 27 w 76"/>
                  <a:gd name="T13" fmla="*/ 13 h 69"/>
                  <a:gd name="T14" fmla="*/ 31 w 76"/>
                  <a:gd name="T15" fmla="*/ 13 h 69"/>
                  <a:gd name="T16" fmla="*/ 34 w 76"/>
                  <a:gd name="T17" fmla="*/ 17 h 69"/>
                  <a:gd name="T18" fmla="*/ 38 w 76"/>
                  <a:gd name="T19" fmla="*/ 17 h 69"/>
                  <a:gd name="T20" fmla="*/ 41 w 76"/>
                  <a:gd name="T21" fmla="*/ 20 h 69"/>
                  <a:gd name="T22" fmla="*/ 48 w 76"/>
                  <a:gd name="T23" fmla="*/ 20 h 69"/>
                  <a:gd name="T24" fmla="*/ 51 w 76"/>
                  <a:gd name="T25" fmla="*/ 20 h 69"/>
                  <a:gd name="T26" fmla="*/ 55 w 76"/>
                  <a:gd name="T27" fmla="*/ 24 h 69"/>
                  <a:gd name="T28" fmla="*/ 62 w 76"/>
                  <a:gd name="T29" fmla="*/ 24 h 69"/>
                  <a:gd name="T30" fmla="*/ 65 w 76"/>
                  <a:gd name="T31" fmla="*/ 24 h 69"/>
                  <a:gd name="T32" fmla="*/ 72 w 76"/>
                  <a:gd name="T33" fmla="*/ 24 h 69"/>
                  <a:gd name="T34" fmla="*/ 72 w 76"/>
                  <a:gd name="T35" fmla="*/ 27 h 69"/>
                  <a:gd name="T36" fmla="*/ 72 w 76"/>
                  <a:gd name="T37" fmla="*/ 31 h 69"/>
                  <a:gd name="T38" fmla="*/ 76 w 76"/>
                  <a:gd name="T39" fmla="*/ 34 h 69"/>
                  <a:gd name="T40" fmla="*/ 76 w 76"/>
                  <a:gd name="T41" fmla="*/ 38 h 69"/>
                  <a:gd name="T42" fmla="*/ 76 w 76"/>
                  <a:gd name="T43" fmla="*/ 65 h 69"/>
                  <a:gd name="T44" fmla="*/ 76 w 76"/>
                  <a:gd name="T45" fmla="*/ 65 h 69"/>
                  <a:gd name="T46" fmla="*/ 72 w 76"/>
                  <a:gd name="T47" fmla="*/ 69 h 69"/>
                  <a:gd name="T48" fmla="*/ 69 w 76"/>
                  <a:gd name="T49" fmla="*/ 69 h 69"/>
                  <a:gd name="T50" fmla="*/ 69 w 76"/>
                  <a:gd name="T51" fmla="*/ 69 h 69"/>
                  <a:gd name="T52" fmla="*/ 65 w 76"/>
                  <a:gd name="T53" fmla="*/ 69 h 69"/>
                  <a:gd name="T54" fmla="*/ 62 w 76"/>
                  <a:gd name="T55" fmla="*/ 69 h 69"/>
                  <a:gd name="T56" fmla="*/ 58 w 76"/>
                  <a:gd name="T57" fmla="*/ 65 h 69"/>
                  <a:gd name="T58" fmla="*/ 55 w 76"/>
                  <a:gd name="T59" fmla="*/ 65 h 69"/>
                  <a:gd name="T60" fmla="*/ 51 w 76"/>
                  <a:gd name="T61" fmla="*/ 65 h 69"/>
                  <a:gd name="T62" fmla="*/ 51 w 76"/>
                  <a:gd name="T63" fmla="*/ 62 h 69"/>
                  <a:gd name="T64" fmla="*/ 48 w 76"/>
                  <a:gd name="T65" fmla="*/ 62 h 69"/>
                  <a:gd name="T66" fmla="*/ 45 w 76"/>
                  <a:gd name="T67" fmla="*/ 62 h 69"/>
                  <a:gd name="T68" fmla="*/ 38 w 76"/>
                  <a:gd name="T69" fmla="*/ 62 h 69"/>
                  <a:gd name="T70" fmla="*/ 34 w 76"/>
                  <a:gd name="T71" fmla="*/ 58 h 69"/>
                  <a:gd name="T72" fmla="*/ 31 w 76"/>
                  <a:gd name="T73" fmla="*/ 58 h 69"/>
                  <a:gd name="T74" fmla="*/ 27 w 76"/>
                  <a:gd name="T75" fmla="*/ 58 h 69"/>
                  <a:gd name="T76" fmla="*/ 20 w 76"/>
                  <a:gd name="T77" fmla="*/ 58 h 69"/>
                  <a:gd name="T78" fmla="*/ 17 w 76"/>
                  <a:gd name="T79" fmla="*/ 55 h 69"/>
                  <a:gd name="T80" fmla="*/ 13 w 76"/>
                  <a:gd name="T81" fmla="*/ 55 h 69"/>
                  <a:gd name="T82" fmla="*/ 10 w 76"/>
                  <a:gd name="T83" fmla="*/ 51 h 69"/>
                  <a:gd name="T84" fmla="*/ 7 w 76"/>
                  <a:gd name="T85" fmla="*/ 48 h 69"/>
                  <a:gd name="T86" fmla="*/ 7 w 76"/>
                  <a:gd name="T87" fmla="*/ 45 h 69"/>
                  <a:gd name="T88" fmla="*/ 7 w 76"/>
                  <a:gd name="T89" fmla="*/ 41 h 69"/>
                  <a:gd name="T90" fmla="*/ 3 w 76"/>
                  <a:gd name="T91" fmla="*/ 38 h 69"/>
                  <a:gd name="T92" fmla="*/ 3 w 76"/>
                  <a:gd name="T93" fmla="*/ 27 h 69"/>
                  <a:gd name="T94" fmla="*/ 3 w 76"/>
                  <a:gd name="T95" fmla="*/ 17 h 69"/>
                  <a:gd name="T96" fmla="*/ 3 w 76"/>
                  <a:gd name="T97" fmla="*/ 10 h 69"/>
                  <a:gd name="T98" fmla="*/ 0 w 76"/>
                  <a:gd name="T99" fmla="*/ 0 h 69"/>
                  <a:gd name="T100" fmla="*/ 0 w 76"/>
                  <a:gd name="T101" fmla="*/ 0 h 6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76"/>
                  <a:gd name="T154" fmla="*/ 0 h 69"/>
                  <a:gd name="T155" fmla="*/ 76 w 76"/>
                  <a:gd name="T156" fmla="*/ 69 h 6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76" h="69">
                    <a:moveTo>
                      <a:pt x="0" y="0"/>
                    </a:moveTo>
                    <a:lnTo>
                      <a:pt x="3" y="3"/>
                    </a:lnTo>
                    <a:lnTo>
                      <a:pt x="10" y="7"/>
                    </a:lnTo>
                    <a:lnTo>
                      <a:pt x="13" y="7"/>
                    </a:lnTo>
                    <a:lnTo>
                      <a:pt x="17" y="10"/>
                    </a:lnTo>
                    <a:lnTo>
                      <a:pt x="24" y="10"/>
                    </a:lnTo>
                    <a:lnTo>
                      <a:pt x="27" y="13"/>
                    </a:lnTo>
                    <a:lnTo>
                      <a:pt x="31" y="13"/>
                    </a:lnTo>
                    <a:lnTo>
                      <a:pt x="34" y="17"/>
                    </a:lnTo>
                    <a:lnTo>
                      <a:pt x="38" y="17"/>
                    </a:lnTo>
                    <a:lnTo>
                      <a:pt x="41" y="20"/>
                    </a:lnTo>
                    <a:lnTo>
                      <a:pt x="48" y="20"/>
                    </a:lnTo>
                    <a:lnTo>
                      <a:pt x="51" y="20"/>
                    </a:lnTo>
                    <a:lnTo>
                      <a:pt x="55" y="24"/>
                    </a:lnTo>
                    <a:lnTo>
                      <a:pt x="62" y="24"/>
                    </a:lnTo>
                    <a:lnTo>
                      <a:pt x="65" y="24"/>
                    </a:lnTo>
                    <a:lnTo>
                      <a:pt x="72" y="24"/>
                    </a:lnTo>
                    <a:lnTo>
                      <a:pt x="72" y="27"/>
                    </a:lnTo>
                    <a:lnTo>
                      <a:pt x="72" y="31"/>
                    </a:lnTo>
                    <a:lnTo>
                      <a:pt x="76" y="34"/>
                    </a:lnTo>
                    <a:lnTo>
                      <a:pt x="76" y="38"/>
                    </a:lnTo>
                    <a:lnTo>
                      <a:pt x="76" y="65"/>
                    </a:lnTo>
                    <a:lnTo>
                      <a:pt x="72" y="69"/>
                    </a:lnTo>
                    <a:lnTo>
                      <a:pt x="69" y="69"/>
                    </a:lnTo>
                    <a:lnTo>
                      <a:pt x="65" y="69"/>
                    </a:lnTo>
                    <a:lnTo>
                      <a:pt x="62" y="69"/>
                    </a:lnTo>
                    <a:lnTo>
                      <a:pt x="58" y="65"/>
                    </a:lnTo>
                    <a:lnTo>
                      <a:pt x="55" y="65"/>
                    </a:lnTo>
                    <a:lnTo>
                      <a:pt x="51" y="65"/>
                    </a:lnTo>
                    <a:lnTo>
                      <a:pt x="51" y="62"/>
                    </a:lnTo>
                    <a:lnTo>
                      <a:pt x="48" y="62"/>
                    </a:lnTo>
                    <a:lnTo>
                      <a:pt x="45" y="62"/>
                    </a:lnTo>
                    <a:lnTo>
                      <a:pt x="38" y="62"/>
                    </a:lnTo>
                    <a:lnTo>
                      <a:pt x="34" y="58"/>
                    </a:lnTo>
                    <a:lnTo>
                      <a:pt x="31" y="58"/>
                    </a:lnTo>
                    <a:lnTo>
                      <a:pt x="27" y="58"/>
                    </a:lnTo>
                    <a:lnTo>
                      <a:pt x="20" y="58"/>
                    </a:lnTo>
                    <a:lnTo>
                      <a:pt x="17" y="55"/>
                    </a:lnTo>
                    <a:lnTo>
                      <a:pt x="13" y="55"/>
                    </a:lnTo>
                    <a:lnTo>
                      <a:pt x="10" y="51"/>
                    </a:lnTo>
                    <a:lnTo>
                      <a:pt x="7" y="48"/>
                    </a:lnTo>
                    <a:lnTo>
                      <a:pt x="7" y="45"/>
                    </a:lnTo>
                    <a:lnTo>
                      <a:pt x="7" y="41"/>
                    </a:lnTo>
                    <a:lnTo>
                      <a:pt x="3" y="38"/>
                    </a:lnTo>
                    <a:lnTo>
                      <a:pt x="3" y="27"/>
                    </a:lnTo>
                    <a:lnTo>
                      <a:pt x="3" y="17"/>
                    </a:lnTo>
                    <a:lnTo>
                      <a:pt x="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3" name="Freeform 397"/>
              <p:cNvSpPr>
                <a:spLocks/>
              </p:cNvSpPr>
              <p:nvPr/>
            </p:nvSpPr>
            <p:spPr bwMode="auto">
              <a:xfrm>
                <a:off x="1978" y="1650"/>
                <a:ext cx="62" cy="49"/>
              </a:xfrm>
              <a:custGeom>
                <a:avLst/>
                <a:gdLst>
                  <a:gd name="T0" fmla="*/ 62 w 62"/>
                  <a:gd name="T1" fmla="*/ 18 h 49"/>
                  <a:gd name="T2" fmla="*/ 62 w 62"/>
                  <a:gd name="T3" fmla="*/ 25 h 49"/>
                  <a:gd name="T4" fmla="*/ 62 w 62"/>
                  <a:gd name="T5" fmla="*/ 25 h 49"/>
                  <a:gd name="T6" fmla="*/ 59 w 62"/>
                  <a:gd name="T7" fmla="*/ 28 h 49"/>
                  <a:gd name="T8" fmla="*/ 59 w 62"/>
                  <a:gd name="T9" fmla="*/ 31 h 49"/>
                  <a:gd name="T10" fmla="*/ 55 w 62"/>
                  <a:gd name="T11" fmla="*/ 35 h 49"/>
                  <a:gd name="T12" fmla="*/ 52 w 62"/>
                  <a:gd name="T13" fmla="*/ 38 h 49"/>
                  <a:gd name="T14" fmla="*/ 48 w 62"/>
                  <a:gd name="T15" fmla="*/ 38 h 49"/>
                  <a:gd name="T16" fmla="*/ 45 w 62"/>
                  <a:gd name="T17" fmla="*/ 42 h 49"/>
                  <a:gd name="T18" fmla="*/ 41 w 62"/>
                  <a:gd name="T19" fmla="*/ 42 h 49"/>
                  <a:gd name="T20" fmla="*/ 34 w 62"/>
                  <a:gd name="T21" fmla="*/ 42 h 49"/>
                  <a:gd name="T22" fmla="*/ 31 w 62"/>
                  <a:gd name="T23" fmla="*/ 45 h 49"/>
                  <a:gd name="T24" fmla="*/ 24 w 62"/>
                  <a:gd name="T25" fmla="*/ 45 h 49"/>
                  <a:gd name="T26" fmla="*/ 21 w 62"/>
                  <a:gd name="T27" fmla="*/ 49 h 49"/>
                  <a:gd name="T28" fmla="*/ 14 w 62"/>
                  <a:gd name="T29" fmla="*/ 49 h 49"/>
                  <a:gd name="T30" fmla="*/ 10 w 62"/>
                  <a:gd name="T31" fmla="*/ 49 h 49"/>
                  <a:gd name="T32" fmla="*/ 7 w 62"/>
                  <a:gd name="T33" fmla="*/ 49 h 49"/>
                  <a:gd name="T34" fmla="*/ 3 w 62"/>
                  <a:gd name="T35" fmla="*/ 45 h 49"/>
                  <a:gd name="T36" fmla="*/ 3 w 62"/>
                  <a:gd name="T37" fmla="*/ 42 h 49"/>
                  <a:gd name="T38" fmla="*/ 3 w 62"/>
                  <a:gd name="T39" fmla="*/ 38 h 49"/>
                  <a:gd name="T40" fmla="*/ 0 w 62"/>
                  <a:gd name="T41" fmla="*/ 35 h 49"/>
                  <a:gd name="T42" fmla="*/ 0 w 62"/>
                  <a:gd name="T43" fmla="*/ 4 h 49"/>
                  <a:gd name="T44" fmla="*/ 7 w 62"/>
                  <a:gd name="T45" fmla="*/ 4 h 49"/>
                  <a:gd name="T46" fmla="*/ 10 w 62"/>
                  <a:gd name="T47" fmla="*/ 4 h 49"/>
                  <a:gd name="T48" fmla="*/ 14 w 62"/>
                  <a:gd name="T49" fmla="*/ 0 h 49"/>
                  <a:gd name="T50" fmla="*/ 17 w 62"/>
                  <a:gd name="T51" fmla="*/ 0 h 49"/>
                  <a:gd name="T52" fmla="*/ 21 w 62"/>
                  <a:gd name="T53" fmla="*/ 0 h 49"/>
                  <a:gd name="T54" fmla="*/ 24 w 62"/>
                  <a:gd name="T55" fmla="*/ 0 h 49"/>
                  <a:gd name="T56" fmla="*/ 27 w 62"/>
                  <a:gd name="T57" fmla="*/ 0 h 49"/>
                  <a:gd name="T58" fmla="*/ 34 w 62"/>
                  <a:gd name="T59" fmla="*/ 0 h 49"/>
                  <a:gd name="T60" fmla="*/ 62 w 62"/>
                  <a:gd name="T61" fmla="*/ 0 h 49"/>
                  <a:gd name="T62" fmla="*/ 62 w 62"/>
                  <a:gd name="T63" fmla="*/ 4 h 49"/>
                  <a:gd name="T64" fmla="*/ 62 w 62"/>
                  <a:gd name="T65" fmla="*/ 11 h 49"/>
                  <a:gd name="T66" fmla="*/ 62 w 62"/>
                  <a:gd name="T67" fmla="*/ 14 h 49"/>
                  <a:gd name="T68" fmla="*/ 62 w 62"/>
                  <a:gd name="T69" fmla="*/ 18 h 49"/>
                  <a:gd name="T70" fmla="*/ 62 w 62"/>
                  <a:gd name="T71" fmla="*/ 18 h 49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2"/>
                  <a:gd name="T109" fmla="*/ 0 h 49"/>
                  <a:gd name="T110" fmla="*/ 62 w 62"/>
                  <a:gd name="T111" fmla="*/ 49 h 49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2" h="49">
                    <a:moveTo>
                      <a:pt x="62" y="18"/>
                    </a:moveTo>
                    <a:lnTo>
                      <a:pt x="62" y="25"/>
                    </a:lnTo>
                    <a:lnTo>
                      <a:pt x="59" y="28"/>
                    </a:lnTo>
                    <a:lnTo>
                      <a:pt x="59" y="31"/>
                    </a:lnTo>
                    <a:lnTo>
                      <a:pt x="55" y="35"/>
                    </a:lnTo>
                    <a:lnTo>
                      <a:pt x="52" y="38"/>
                    </a:lnTo>
                    <a:lnTo>
                      <a:pt x="48" y="38"/>
                    </a:lnTo>
                    <a:lnTo>
                      <a:pt x="45" y="42"/>
                    </a:lnTo>
                    <a:lnTo>
                      <a:pt x="41" y="42"/>
                    </a:lnTo>
                    <a:lnTo>
                      <a:pt x="34" y="42"/>
                    </a:lnTo>
                    <a:lnTo>
                      <a:pt x="31" y="45"/>
                    </a:lnTo>
                    <a:lnTo>
                      <a:pt x="24" y="45"/>
                    </a:lnTo>
                    <a:lnTo>
                      <a:pt x="21" y="49"/>
                    </a:lnTo>
                    <a:lnTo>
                      <a:pt x="14" y="49"/>
                    </a:lnTo>
                    <a:lnTo>
                      <a:pt x="10" y="49"/>
                    </a:lnTo>
                    <a:lnTo>
                      <a:pt x="7" y="49"/>
                    </a:lnTo>
                    <a:lnTo>
                      <a:pt x="3" y="45"/>
                    </a:lnTo>
                    <a:lnTo>
                      <a:pt x="3" y="42"/>
                    </a:lnTo>
                    <a:lnTo>
                      <a:pt x="3" y="38"/>
                    </a:lnTo>
                    <a:lnTo>
                      <a:pt x="0" y="35"/>
                    </a:lnTo>
                    <a:lnTo>
                      <a:pt x="0" y="4"/>
                    </a:lnTo>
                    <a:lnTo>
                      <a:pt x="7" y="4"/>
                    </a:lnTo>
                    <a:lnTo>
                      <a:pt x="10" y="4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1" y="0"/>
                    </a:lnTo>
                    <a:lnTo>
                      <a:pt x="24" y="0"/>
                    </a:lnTo>
                    <a:lnTo>
                      <a:pt x="27" y="0"/>
                    </a:lnTo>
                    <a:lnTo>
                      <a:pt x="34" y="0"/>
                    </a:lnTo>
                    <a:lnTo>
                      <a:pt x="62" y="0"/>
                    </a:lnTo>
                    <a:lnTo>
                      <a:pt x="62" y="4"/>
                    </a:lnTo>
                    <a:lnTo>
                      <a:pt x="62" y="11"/>
                    </a:lnTo>
                    <a:lnTo>
                      <a:pt x="62" y="14"/>
                    </a:lnTo>
                    <a:lnTo>
                      <a:pt x="62" y="18"/>
                    </a:ln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4" name="Freeform 398"/>
              <p:cNvSpPr>
                <a:spLocks/>
              </p:cNvSpPr>
              <p:nvPr/>
            </p:nvSpPr>
            <p:spPr bwMode="auto">
              <a:xfrm>
                <a:off x="1971" y="1415"/>
                <a:ext cx="55" cy="73"/>
              </a:xfrm>
              <a:custGeom>
                <a:avLst/>
                <a:gdLst>
                  <a:gd name="T0" fmla="*/ 34 w 55"/>
                  <a:gd name="T1" fmla="*/ 4 h 73"/>
                  <a:gd name="T2" fmla="*/ 24 w 55"/>
                  <a:gd name="T3" fmla="*/ 11 h 73"/>
                  <a:gd name="T4" fmla="*/ 17 w 55"/>
                  <a:gd name="T5" fmla="*/ 18 h 73"/>
                  <a:gd name="T6" fmla="*/ 10 w 55"/>
                  <a:gd name="T7" fmla="*/ 28 h 73"/>
                  <a:gd name="T8" fmla="*/ 7 w 55"/>
                  <a:gd name="T9" fmla="*/ 38 h 73"/>
                  <a:gd name="T10" fmla="*/ 14 w 55"/>
                  <a:gd name="T11" fmla="*/ 45 h 73"/>
                  <a:gd name="T12" fmla="*/ 21 w 55"/>
                  <a:gd name="T13" fmla="*/ 52 h 73"/>
                  <a:gd name="T14" fmla="*/ 24 w 55"/>
                  <a:gd name="T15" fmla="*/ 59 h 73"/>
                  <a:gd name="T16" fmla="*/ 28 w 55"/>
                  <a:gd name="T17" fmla="*/ 63 h 73"/>
                  <a:gd name="T18" fmla="*/ 31 w 55"/>
                  <a:gd name="T19" fmla="*/ 66 h 73"/>
                  <a:gd name="T20" fmla="*/ 38 w 55"/>
                  <a:gd name="T21" fmla="*/ 66 h 73"/>
                  <a:gd name="T22" fmla="*/ 41 w 55"/>
                  <a:gd name="T23" fmla="*/ 63 h 73"/>
                  <a:gd name="T24" fmla="*/ 45 w 55"/>
                  <a:gd name="T25" fmla="*/ 63 h 73"/>
                  <a:gd name="T26" fmla="*/ 45 w 55"/>
                  <a:gd name="T27" fmla="*/ 56 h 73"/>
                  <a:gd name="T28" fmla="*/ 41 w 55"/>
                  <a:gd name="T29" fmla="*/ 52 h 73"/>
                  <a:gd name="T30" fmla="*/ 41 w 55"/>
                  <a:gd name="T31" fmla="*/ 49 h 73"/>
                  <a:gd name="T32" fmla="*/ 45 w 55"/>
                  <a:gd name="T33" fmla="*/ 45 h 73"/>
                  <a:gd name="T34" fmla="*/ 48 w 55"/>
                  <a:gd name="T35" fmla="*/ 49 h 73"/>
                  <a:gd name="T36" fmla="*/ 48 w 55"/>
                  <a:gd name="T37" fmla="*/ 52 h 73"/>
                  <a:gd name="T38" fmla="*/ 52 w 55"/>
                  <a:gd name="T39" fmla="*/ 56 h 73"/>
                  <a:gd name="T40" fmla="*/ 55 w 55"/>
                  <a:gd name="T41" fmla="*/ 63 h 73"/>
                  <a:gd name="T42" fmla="*/ 55 w 55"/>
                  <a:gd name="T43" fmla="*/ 66 h 73"/>
                  <a:gd name="T44" fmla="*/ 48 w 55"/>
                  <a:gd name="T45" fmla="*/ 73 h 73"/>
                  <a:gd name="T46" fmla="*/ 41 w 55"/>
                  <a:gd name="T47" fmla="*/ 73 h 73"/>
                  <a:gd name="T48" fmla="*/ 31 w 55"/>
                  <a:gd name="T49" fmla="*/ 73 h 73"/>
                  <a:gd name="T50" fmla="*/ 24 w 55"/>
                  <a:gd name="T51" fmla="*/ 73 h 73"/>
                  <a:gd name="T52" fmla="*/ 17 w 55"/>
                  <a:gd name="T53" fmla="*/ 69 h 73"/>
                  <a:gd name="T54" fmla="*/ 14 w 55"/>
                  <a:gd name="T55" fmla="*/ 63 h 73"/>
                  <a:gd name="T56" fmla="*/ 10 w 55"/>
                  <a:gd name="T57" fmla="*/ 56 h 73"/>
                  <a:gd name="T58" fmla="*/ 7 w 55"/>
                  <a:gd name="T59" fmla="*/ 49 h 73"/>
                  <a:gd name="T60" fmla="*/ 3 w 55"/>
                  <a:gd name="T61" fmla="*/ 42 h 73"/>
                  <a:gd name="T62" fmla="*/ 0 w 55"/>
                  <a:gd name="T63" fmla="*/ 35 h 73"/>
                  <a:gd name="T64" fmla="*/ 0 w 55"/>
                  <a:gd name="T65" fmla="*/ 25 h 73"/>
                  <a:gd name="T66" fmla="*/ 7 w 55"/>
                  <a:gd name="T67" fmla="*/ 14 h 73"/>
                  <a:gd name="T68" fmla="*/ 17 w 55"/>
                  <a:gd name="T69" fmla="*/ 7 h 73"/>
                  <a:gd name="T70" fmla="*/ 31 w 55"/>
                  <a:gd name="T71" fmla="*/ 0 h 73"/>
                  <a:gd name="T72" fmla="*/ 41 w 55"/>
                  <a:gd name="T73" fmla="*/ 4 h 7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55"/>
                  <a:gd name="T112" fmla="*/ 0 h 73"/>
                  <a:gd name="T113" fmla="*/ 55 w 55"/>
                  <a:gd name="T114" fmla="*/ 73 h 73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55" h="73">
                    <a:moveTo>
                      <a:pt x="41" y="4"/>
                    </a:moveTo>
                    <a:lnTo>
                      <a:pt x="34" y="4"/>
                    </a:lnTo>
                    <a:lnTo>
                      <a:pt x="31" y="7"/>
                    </a:lnTo>
                    <a:lnTo>
                      <a:pt x="24" y="11"/>
                    </a:lnTo>
                    <a:lnTo>
                      <a:pt x="21" y="14"/>
                    </a:lnTo>
                    <a:lnTo>
                      <a:pt x="17" y="18"/>
                    </a:lnTo>
                    <a:lnTo>
                      <a:pt x="10" y="21"/>
                    </a:lnTo>
                    <a:lnTo>
                      <a:pt x="10" y="28"/>
                    </a:lnTo>
                    <a:lnTo>
                      <a:pt x="7" y="31"/>
                    </a:lnTo>
                    <a:lnTo>
                      <a:pt x="7" y="38"/>
                    </a:lnTo>
                    <a:lnTo>
                      <a:pt x="10" y="42"/>
                    </a:lnTo>
                    <a:lnTo>
                      <a:pt x="14" y="45"/>
                    </a:lnTo>
                    <a:lnTo>
                      <a:pt x="17" y="49"/>
                    </a:lnTo>
                    <a:lnTo>
                      <a:pt x="21" y="52"/>
                    </a:lnTo>
                    <a:lnTo>
                      <a:pt x="24" y="56"/>
                    </a:lnTo>
                    <a:lnTo>
                      <a:pt x="24" y="59"/>
                    </a:lnTo>
                    <a:lnTo>
                      <a:pt x="24" y="63"/>
                    </a:lnTo>
                    <a:lnTo>
                      <a:pt x="28" y="63"/>
                    </a:lnTo>
                    <a:lnTo>
                      <a:pt x="31" y="66"/>
                    </a:lnTo>
                    <a:lnTo>
                      <a:pt x="34" y="66"/>
                    </a:lnTo>
                    <a:lnTo>
                      <a:pt x="38" y="66"/>
                    </a:lnTo>
                    <a:lnTo>
                      <a:pt x="41" y="63"/>
                    </a:lnTo>
                    <a:lnTo>
                      <a:pt x="45" y="63"/>
                    </a:lnTo>
                    <a:lnTo>
                      <a:pt x="45" y="59"/>
                    </a:lnTo>
                    <a:lnTo>
                      <a:pt x="45" y="56"/>
                    </a:lnTo>
                    <a:lnTo>
                      <a:pt x="41" y="56"/>
                    </a:lnTo>
                    <a:lnTo>
                      <a:pt x="41" y="52"/>
                    </a:lnTo>
                    <a:lnTo>
                      <a:pt x="41" y="49"/>
                    </a:lnTo>
                    <a:lnTo>
                      <a:pt x="45" y="45"/>
                    </a:lnTo>
                    <a:lnTo>
                      <a:pt x="45" y="49"/>
                    </a:lnTo>
                    <a:lnTo>
                      <a:pt x="48" y="49"/>
                    </a:lnTo>
                    <a:lnTo>
                      <a:pt x="48" y="52"/>
                    </a:lnTo>
                    <a:lnTo>
                      <a:pt x="52" y="52"/>
                    </a:lnTo>
                    <a:lnTo>
                      <a:pt x="52" y="56"/>
                    </a:lnTo>
                    <a:lnTo>
                      <a:pt x="52" y="59"/>
                    </a:lnTo>
                    <a:lnTo>
                      <a:pt x="55" y="63"/>
                    </a:lnTo>
                    <a:lnTo>
                      <a:pt x="55" y="66"/>
                    </a:lnTo>
                    <a:lnTo>
                      <a:pt x="52" y="69"/>
                    </a:lnTo>
                    <a:lnTo>
                      <a:pt x="48" y="73"/>
                    </a:lnTo>
                    <a:lnTo>
                      <a:pt x="45" y="73"/>
                    </a:lnTo>
                    <a:lnTo>
                      <a:pt x="41" y="73"/>
                    </a:lnTo>
                    <a:lnTo>
                      <a:pt x="34" y="73"/>
                    </a:lnTo>
                    <a:lnTo>
                      <a:pt x="31" y="73"/>
                    </a:lnTo>
                    <a:lnTo>
                      <a:pt x="28" y="73"/>
                    </a:lnTo>
                    <a:lnTo>
                      <a:pt x="24" y="73"/>
                    </a:lnTo>
                    <a:lnTo>
                      <a:pt x="21" y="73"/>
                    </a:lnTo>
                    <a:lnTo>
                      <a:pt x="17" y="69"/>
                    </a:lnTo>
                    <a:lnTo>
                      <a:pt x="14" y="66"/>
                    </a:lnTo>
                    <a:lnTo>
                      <a:pt x="14" y="63"/>
                    </a:lnTo>
                    <a:lnTo>
                      <a:pt x="14" y="59"/>
                    </a:lnTo>
                    <a:lnTo>
                      <a:pt x="10" y="56"/>
                    </a:lnTo>
                    <a:lnTo>
                      <a:pt x="7" y="52"/>
                    </a:lnTo>
                    <a:lnTo>
                      <a:pt x="7" y="49"/>
                    </a:lnTo>
                    <a:lnTo>
                      <a:pt x="3" y="45"/>
                    </a:lnTo>
                    <a:lnTo>
                      <a:pt x="3" y="42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0" y="28"/>
                    </a:lnTo>
                    <a:lnTo>
                      <a:pt x="0" y="25"/>
                    </a:lnTo>
                    <a:lnTo>
                      <a:pt x="3" y="18"/>
                    </a:lnTo>
                    <a:lnTo>
                      <a:pt x="7" y="14"/>
                    </a:lnTo>
                    <a:lnTo>
                      <a:pt x="14" y="11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1" y="0"/>
                    </a:lnTo>
                    <a:lnTo>
                      <a:pt x="38" y="0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5" name="Freeform 399"/>
              <p:cNvSpPr>
                <a:spLocks/>
              </p:cNvSpPr>
              <p:nvPr/>
            </p:nvSpPr>
            <p:spPr bwMode="auto">
              <a:xfrm>
                <a:off x="1995" y="1419"/>
                <a:ext cx="31" cy="34"/>
              </a:xfrm>
              <a:custGeom>
                <a:avLst/>
                <a:gdLst>
                  <a:gd name="T0" fmla="*/ 28 w 31"/>
                  <a:gd name="T1" fmla="*/ 14 h 34"/>
                  <a:gd name="T2" fmla="*/ 28 w 31"/>
                  <a:gd name="T3" fmla="*/ 17 h 34"/>
                  <a:gd name="T4" fmla="*/ 24 w 31"/>
                  <a:gd name="T5" fmla="*/ 17 h 34"/>
                  <a:gd name="T6" fmla="*/ 21 w 31"/>
                  <a:gd name="T7" fmla="*/ 21 h 34"/>
                  <a:gd name="T8" fmla="*/ 17 w 31"/>
                  <a:gd name="T9" fmla="*/ 24 h 34"/>
                  <a:gd name="T10" fmla="*/ 17 w 31"/>
                  <a:gd name="T11" fmla="*/ 27 h 34"/>
                  <a:gd name="T12" fmla="*/ 14 w 31"/>
                  <a:gd name="T13" fmla="*/ 27 h 34"/>
                  <a:gd name="T14" fmla="*/ 10 w 31"/>
                  <a:gd name="T15" fmla="*/ 31 h 34"/>
                  <a:gd name="T16" fmla="*/ 7 w 31"/>
                  <a:gd name="T17" fmla="*/ 34 h 34"/>
                  <a:gd name="T18" fmla="*/ 7 w 31"/>
                  <a:gd name="T19" fmla="*/ 34 h 34"/>
                  <a:gd name="T20" fmla="*/ 4 w 31"/>
                  <a:gd name="T21" fmla="*/ 34 h 34"/>
                  <a:gd name="T22" fmla="*/ 4 w 31"/>
                  <a:gd name="T23" fmla="*/ 31 h 34"/>
                  <a:gd name="T24" fmla="*/ 0 w 31"/>
                  <a:gd name="T25" fmla="*/ 31 h 34"/>
                  <a:gd name="T26" fmla="*/ 4 w 31"/>
                  <a:gd name="T27" fmla="*/ 27 h 34"/>
                  <a:gd name="T28" fmla="*/ 7 w 31"/>
                  <a:gd name="T29" fmla="*/ 24 h 34"/>
                  <a:gd name="T30" fmla="*/ 7 w 31"/>
                  <a:gd name="T31" fmla="*/ 21 h 34"/>
                  <a:gd name="T32" fmla="*/ 10 w 31"/>
                  <a:gd name="T33" fmla="*/ 17 h 34"/>
                  <a:gd name="T34" fmla="*/ 17 w 31"/>
                  <a:gd name="T35" fmla="*/ 17 h 34"/>
                  <a:gd name="T36" fmla="*/ 17 w 31"/>
                  <a:gd name="T37" fmla="*/ 14 h 34"/>
                  <a:gd name="T38" fmla="*/ 21 w 31"/>
                  <a:gd name="T39" fmla="*/ 10 h 34"/>
                  <a:gd name="T40" fmla="*/ 24 w 31"/>
                  <a:gd name="T41" fmla="*/ 7 h 34"/>
                  <a:gd name="T42" fmla="*/ 24 w 31"/>
                  <a:gd name="T43" fmla="*/ 3 h 34"/>
                  <a:gd name="T44" fmla="*/ 24 w 31"/>
                  <a:gd name="T45" fmla="*/ 3 h 34"/>
                  <a:gd name="T46" fmla="*/ 24 w 31"/>
                  <a:gd name="T47" fmla="*/ 0 h 34"/>
                  <a:gd name="T48" fmla="*/ 28 w 31"/>
                  <a:gd name="T49" fmla="*/ 0 h 34"/>
                  <a:gd name="T50" fmla="*/ 31 w 31"/>
                  <a:gd name="T51" fmla="*/ 0 h 34"/>
                  <a:gd name="T52" fmla="*/ 31 w 31"/>
                  <a:gd name="T53" fmla="*/ 3 h 34"/>
                  <a:gd name="T54" fmla="*/ 31 w 31"/>
                  <a:gd name="T55" fmla="*/ 3 h 34"/>
                  <a:gd name="T56" fmla="*/ 31 w 31"/>
                  <a:gd name="T57" fmla="*/ 7 h 34"/>
                  <a:gd name="T58" fmla="*/ 31 w 31"/>
                  <a:gd name="T59" fmla="*/ 7 h 34"/>
                  <a:gd name="T60" fmla="*/ 28 w 31"/>
                  <a:gd name="T61" fmla="*/ 10 h 34"/>
                  <a:gd name="T62" fmla="*/ 28 w 31"/>
                  <a:gd name="T63" fmla="*/ 10 h 34"/>
                  <a:gd name="T64" fmla="*/ 28 w 31"/>
                  <a:gd name="T65" fmla="*/ 14 h 34"/>
                  <a:gd name="T66" fmla="*/ 28 w 31"/>
                  <a:gd name="T67" fmla="*/ 14 h 3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1"/>
                  <a:gd name="T103" fmla="*/ 0 h 34"/>
                  <a:gd name="T104" fmla="*/ 31 w 31"/>
                  <a:gd name="T105" fmla="*/ 34 h 3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1" h="34">
                    <a:moveTo>
                      <a:pt x="28" y="14"/>
                    </a:moveTo>
                    <a:lnTo>
                      <a:pt x="28" y="17"/>
                    </a:lnTo>
                    <a:lnTo>
                      <a:pt x="24" y="17"/>
                    </a:lnTo>
                    <a:lnTo>
                      <a:pt x="21" y="21"/>
                    </a:lnTo>
                    <a:lnTo>
                      <a:pt x="17" y="24"/>
                    </a:lnTo>
                    <a:lnTo>
                      <a:pt x="17" y="27"/>
                    </a:lnTo>
                    <a:lnTo>
                      <a:pt x="14" y="27"/>
                    </a:lnTo>
                    <a:lnTo>
                      <a:pt x="10" y="31"/>
                    </a:lnTo>
                    <a:lnTo>
                      <a:pt x="7" y="34"/>
                    </a:lnTo>
                    <a:lnTo>
                      <a:pt x="4" y="34"/>
                    </a:lnTo>
                    <a:lnTo>
                      <a:pt x="4" y="31"/>
                    </a:lnTo>
                    <a:lnTo>
                      <a:pt x="0" y="31"/>
                    </a:lnTo>
                    <a:lnTo>
                      <a:pt x="4" y="27"/>
                    </a:lnTo>
                    <a:lnTo>
                      <a:pt x="7" y="24"/>
                    </a:lnTo>
                    <a:lnTo>
                      <a:pt x="7" y="21"/>
                    </a:lnTo>
                    <a:lnTo>
                      <a:pt x="10" y="17"/>
                    </a:lnTo>
                    <a:lnTo>
                      <a:pt x="17" y="17"/>
                    </a:lnTo>
                    <a:lnTo>
                      <a:pt x="17" y="14"/>
                    </a:lnTo>
                    <a:lnTo>
                      <a:pt x="21" y="10"/>
                    </a:lnTo>
                    <a:lnTo>
                      <a:pt x="24" y="7"/>
                    </a:lnTo>
                    <a:lnTo>
                      <a:pt x="24" y="3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31" y="7"/>
                    </a:lnTo>
                    <a:lnTo>
                      <a:pt x="28" y="10"/>
                    </a:lnTo>
                    <a:lnTo>
                      <a:pt x="28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6" name="Freeform 400"/>
              <p:cNvSpPr>
                <a:spLocks/>
              </p:cNvSpPr>
              <p:nvPr/>
            </p:nvSpPr>
            <p:spPr bwMode="auto">
              <a:xfrm>
                <a:off x="2057" y="1419"/>
                <a:ext cx="225" cy="155"/>
              </a:xfrm>
              <a:custGeom>
                <a:avLst/>
                <a:gdLst>
                  <a:gd name="T0" fmla="*/ 204 w 225"/>
                  <a:gd name="T1" fmla="*/ 7 h 155"/>
                  <a:gd name="T2" fmla="*/ 218 w 225"/>
                  <a:gd name="T3" fmla="*/ 14 h 155"/>
                  <a:gd name="T4" fmla="*/ 221 w 225"/>
                  <a:gd name="T5" fmla="*/ 17 h 155"/>
                  <a:gd name="T6" fmla="*/ 218 w 225"/>
                  <a:gd name="T7" fmla="*/ 17 h 155"/>
                  <a:gd name="T8" fmla="*/ 204 w 225"/>
                  <a:gd name="T9" fmla="*/ 14 h 155"/>
                  <a:gd name="T10" fmla="*/ 190 w 225"/>
                  <a:gd name="T11" fmla="*/ 14 h 155"/>
                  <a:gd name="T12" fmla="*/ 177 w 225"/>
                  <a:gd name="T13" fmla="*/ 10 h 155"/>
                  <a:gd name="T14" fmla="*/ 163 w 225"/>
                  <a:gd name="T15" fmla="*/ 10 h 155"/>
                  <a:gd name="T16" fmla="*/ 152 w 225"/>
                  <a:gd name="T17" fmla="*/ 7 h 155"/>
                  <a:gd name="T18" fmla="*/ 142 w 225"/>
                  <a:gd name="T19" fmla="*/ 10 h 155"/>
                  <a:gd name="T20" fmla="*/ 139 w 225"/>
                  <a:gd name="T21" fmla="*/ 17 h 155"/>
                  <a:gd name="T22" fmla="*/ 135 w 225"/>
                  <a:gd name="T23" fmla="*/ 27 h 155"/>
                  <a:gd name="T24" fmla="*/ 142 w 225"/>
                  <a:gd name="T25" fmla="*/ 34 h 155"/>
                  <a:gd name="T26" fmla="*/ 145 w 225"/>
                  <a:gd name="T27" fmla="*/ 38 h 155"/>
                  <a:gd name="T28" fmla="*/ 139 w 225"/>
                  <a:gd name="T29" fmla="*/ 41 h 155"/>
                  <a:gd name="T30" fmla="*/ 128 w 225"/>
                  <a:gd name="T31" fmla="*/ 45 h 155"/>
                  <a:gd name="T32" fmla="*/ 107 w 225"/>
                  <a:gd name="T33" fmla="*/ 52 h 155"/>
                  <a:gd name="T34" fmla="*/ 87 w 225"/>
                  <a:gd name="T35" fmla="*/ 59 h 155"/>
                  <a:gd name="T36" fmla="*/ 66 w 225"/>
                  <a:gd name="T37" fmla="*/ 62 h 155"/>
                  <a:gd name="T38" fmla="*/ 52 w 225"/>
                  <a:gd name="T39" fmla="*/ 72 h 155"/>
                  <a:gd name="T40" fmla="*/ 56 w 225"/>
                  <a:gd name="T41" fmla="*/ 93 h 155"/>
                  <a:gd name="T42" fmla="*/ 42 w 225"/>
                  <a:gd name="T43" fmla="*/ 100 h 155"/>
                  <a:gd name="T44" fmla="*/ 35 w 225"/>
                  <a:gd name="T45" fmla="*/ 152 h 155"/>
                  <a:gd name="T46" fmla="*/ 31 w 225"/>
                  <a:gd name="T47" fmla="*/ 128 h 155"/>
                  <a:gd name="T48" fmla="*/ 35 w 225"/>
                  <a:gd name="T49" fmla="*/ 107 h 155"/>
                  <a:gd name="T50" fmla="*/ 28 w 225"/>
                  <a:gd name="T51" fmla="*/ 93 h 155"/>
                  <a:gd name="T52" fmla="*/ 31 w 225"/>
                  <a:gd name="T53" fmla="*/ 86 h 155"/>
                  <a:gd name="T54" fmla="*/ 42 w 225"/>
                  <a:gd name="T55" fmla="*/ 93 h 155"/>
                  <a:gd name="T56" fmla="*/ 45 w 225"/>
                  <a:gd name="T57" fmla="*/ 90 h 155"/>
                  <a:gd name="T58" fmla="*/ 49 w 225"/>
                  <a:gd name="T59" fmla="*/ 83 h 155"/>
                  <a:gd name="T60" fmla="*/ 42 w 225"/>
                  <a:gd name="T61" fmla="*/ 72 h 155"/>
                  <a:gd name="T62" fmla="*/ 31 w 225"/>
                  <a:gd name="T63" fmla="*/ 69 h 155"/>
                  <a:gd name="T64" fmla="*/ 14 w 225"/>
                  <a:gd name="T65" fmla="*/ 69 h 155"/>
                  <a:gd name="T66" fmla="*/ 0 w 225"/>
                  <a:gd name="T67" fmla="*/ 69 h 155"/>
                  <a:gd name="T68" fmla="*/ 11 w 225"/>
                  <a:gd name="T69" fmla="*/ 62 h 155"/>
                  <a:gd name="T70" fmla="*/ 28 w 225"/>
                  <a:gd name="T71" fmla="*/ 62 h 155"/>
                  <a:gd name="T72" fmla="*/ 42 w 225"/>
                  <a:gd name="T73" fmla="*/ 59 h 155"/>
                  <a:gd name="T74" fmla="*/ 49 w 225"/>
                  <a:gd name="T75" fmla="*/ 62 h 155"/>
                  <a:gd name="T76" fmla="*/ 56 w 225"/>
                  <a:gd name="T77" fmla="*/ 59 h 155"/>
                  <a:gd name="T78" fmla="*/ 66 w 225"/>
                  <a:gd name="T79" fmla="*/ 55 h 155"/>
                  <a:gd name="T80" fmla="*/ 97 w 225"/>
                  <a:gd name="T81" fmla="*/ 48 h 155"/>
                  <a:gd name="T82" fmla="*/ 114 w 225"/>
                  <a:gd name="T83" fmla="*/ 41 h 155"/>
                  <a:gd name="T84" fmla="*/ 128 w 225"/>
                  <a:gd name="T85" fmla="*/ 34 h 155"/>
                  <a:gd name="T86" fmla="*/ 128 w 225"/>
                  <a:gd name="T87" fmla="*/ 17 h 155"/>
                  <a:gd name="T88" fmla="*/ 139 w 225"/>
                  <a:gd name="T89" fmla="*/ 3 h 155"/>
                  <a:gd name="T90" fmla="*/ 152 w 225"/>
                  <a:gd name="T91" fmla="*/ 0 h 155"/>
                  <a:gd name="T92" fmla="*/ 166 w 225"/>
                  <a:gd name="T93" fmla="*/ 3 h 155"/>
                  <a:gd name="T94" fmla="*/ 180 w 225"/>
                  <a:gd name="T95" fmla="*/ 3 h 155"/>
                  <a:gd name="T96" fmla="*/ 190 w 225"/>
                  <a:gd name="T97" fmla="*/ 3 h 15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25"/>
                  <a:gd name="T148" fmla="*/ 0 h 155"/>
                  <a:gd name="T149" fmla="*/ 225 w 225"/>
                  <a:gd name="T150" fmla="*/ 155 h 15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25" h="155">
                    <a:moveTo>
                      <a:pt x="190" y="3"/>
                    </a:moveTo>
                    <a:lnTo>
                      <a:pt x="194" y="3"/>
                    </a:lnTo>
                    <a:lnTo>
                      <a:pt x="201" y="7"/>
                    </a:lnTo>
                    <a:lnTo>
                      <a:pt x="204" y="7"/>
                    </a:lnTo>
                    <a:lnTo>
                      <a:pt x="208" y="10"/>
                    </a:lnTo>
                    <a:lnTo>
                      <a:pt x="211" y="10"/>
                    </a:lnTo>
                    <a:lnTo>
                      <a:pt x="215" y="14"/>
                    </a:lnTo>
                    <a:lnTo>
                      <a:pt x="218" y="14"/>
                    </a:lnTo>
                    <a:lnTo>
                      <a:pt x="225" y="17"/>
                    </a:lnTo>
                    <a:lnTo>
                      <a:pt x="221" y="17"/>
                    </a:lnTo>
                    <a:lnTo>
                      <a:pt x="221" y="21"/>
                    </a:lnTo>
                    <a:lnTo>
                      <a:pt x="218" y="21"/>
                    </a:lnTo>
                    <a:lnTo>
                      <a:pt x="218" y="17"/>
                    </a:lnTo>
                    <a:lnTo>
                      <a:pt x="215" y="17"/>
                    </a:lnTo>
                    <a:lnTo>
                      <a:pt x="211" y="17"/>
                    </a:lnTo>
                    <a:lnTo>
                      <a:pt x="208" y="17"/>
                    </a:lnTo>
                    <a:lnTo>
                      <a:pt x="204" y="14"/>
                    </a:lnTo>
                    <a:lnTo>
                      <a:pt x="201" y="14"/>
                    </a:lnTo>
                    <a:lnTo>
                      <a:pt x="197" y="14"/>
                    </a:lnTo>
                    <a:lnTo>
                      <a:pt x="190" y="14"/>
                    </a:lnTo>
                    <a:lnTo>
                      <a:pt x="187" y="14"/>
                    </a:lnTo>
                    <a:lnTo>
                      <a:pt x="183" y="10"/>
                    </a:lnTo>
                    <a:lnTo>
                      <a:pt x="180" y="10"/>
                    </a:lnTo>
                    <a:lnTo>
                      <a:pt x="177" y="10"/>
                    </a:lnTo>
                    <a:lnTo>
                      <a:pt x="170" y="10"/>
                    </a:lnTo>
                    <a:lnTo>
                      <a:pt x="166" y="14"/>
                    </a:lnTo>
                    <a:lnTo>
                      <a:pt x="166" y="10"/>
                    </a:lnTo>
                    <a:lnTo>
                      <a:pt x="163" y="10"/>
                    </a:lnTo>
                    <a:lnTo>
                      <a:pt x="159" y="10"/>
                    </a:lnTo>
                    <a:lnTo>
                      <a:pt x="159" y="7"/>
                    </a:lnTo>
                    <a:lnTo>
                      <a:pt x="156" y="7"/>
                    </a:lnTo>
                    <a:lnTo>
                      <a:pt x="152" y="7"/>
                    </a:lnTo>
                    <a:lnTo>
                      <a:pt x="149" y="7"/>
                    </a:lnTo>
                    <a:lnTo>
                      <a:pt x="149" y="10"/>
                    </a:lnTo>
                    <a:lnTo>
                      <a:pt x="145" y="10"/>
                    </a:lnTo>
                    <a:lnTo>
                      <a:pt x="142" y="10"/>
                    </a:lnTo>
                    <a:lnTo>
                      <a:pt x="142" y="14"/>
                    </a:lnTo>
                    <a:lnTo>
                      <a:pt x="139" y="14"/>
                    </a:lnTo>
                    <a:lnTo>
                      <a:pt x="139" y="17"/>
                    </a:lnTo>
                    <a:lnTo>
                      <a:pt x="135" y="17"/>
                    </a:lnTo>
                    <a:lnTo>
                      <a:pt x="135" y="24"/>
                    </a:lnTo>
                    <a:lnTo>
                      <a:pt x="135" y="27"/>
                    </a:lnTo>
                    <a:lnTo>
                      <a:pt x="135" y="31"/>
                    </a:lnTo>
                    <a:lnTo>
                      <a:pt x="139" y="34"/>
                    </a:lnTo>
                    <a:lnTo>
                      <a:pt x="142" y="38"/>
                    </a:lnTo>
                    <a:lnTo>
                      <a:pt x="142" y="34"/>
                    </a:lnTo>
                    <a:lnTo>
                      <a:pt x="145" y="34"/>
                    </a:lnTo>
                    <a:lnTo>
                      <a:pt x="145" y="38"/>
                    </a:lnTo>
                    <a:lnTo>
                      <a:pt x="145" y="41"/>
                    </a:lnTo>
                    <a:lnTo>
                      <a:pt x="142" y="41"/>
                    </a:lnTo>
                    <a:lnTo>
                      <a:pt x="139" y="41"/>
                    </a:lnTo>
                    <a:lnTo>
                      <a:pt x="135" y="41"/>
                    </a:lnTo>
                    <a:lnTo>
                      <a:pt x="132" y="45"/>
                    </a:lnTo>
                    <a:lnTo>
                      <a:pt x="128" y="45"/>
                    </a:lnTo>
                    <a:lnTo>
                      <a:pt x="121" y="48"/>
                    </a:lnTo>
                    <a:lnTo>
                      <a:pt x="118" y="48"/>
                    </a:lnTo>
                    <a:lnTo>
                      <a:pt x="111" y="48"/>
                    </a:lnTo>
                    <a:lnTo>
                      <a:pt x="107" y="52"/>
                    </a:lnTo>
                    <a:lnTo>
                      <a:pt x="104" y="55"/>
                    </a:lnTo>
                    <a:lnTo>
                      <a:pt x="97" y="55"/>
                    </a:lnTo>
                    <a:lnTo>
                      <a:pt x="94" y="59"/>
                    </a:lnTo>
                    <a:lnTo>
                      <a:pt x="87" y="59"/>
                    </a:lnTo>
                    <a:lnTo>
                      <a:pt x="83" y="59"/>
                    </a:lnTo>
                    <a:lnTo>
                      <a:pt x="76" y="62"/>
                    </a:lnTo>
                    <a:lnTo>
                      <a:pt x="73" y="62"/>
                    </a:lnTo>
                    <a:lnTo>
                      <a:pt x="66" y="62"/>
                    </a:lnTo>
                    <a:lnTo>
                      <a:pt x="62" y="65"/>
                    </a:lnTo>
                    <a:lnTo>
                      <a:pt x="56" y="65"/>
                    </a:lnTo>
                    <a:lnTo>
                      <a:pt x="52" y="65"/>
                    </a:lnTo>
                    <a:lnTo>
                      <a:pt x="52" y="72"/>
                    </a:lnTo>
                    <a:lnTo>
                      <a:pt x="56" y="79"/>
                    </a:lnTo>
                    <a:lnTo>
                      <a:pt x="56" y="83"/>
                    </a:lnTo>
                    <a:lnTo>
                      <a:pt x="59" y="90"/>
                    </a:lnTo>
                    <a:lnTo>
                      <a:pt x="56" y="93"/>
                    </a:lnTo>
                    <a:lnTo>
                      <a:pt x="52" y="93"/>
                    </a:lnTo>
                    <a:lnTo>
                      <a:pt x="49" y="97"/>
                    </a:lnTo>
                    <a:lnTo>
                      <a:pt x="45" y="97"/>
                    </a:lnTo>
                    <a:lnTo>
                      <a:pt x="42" y="100"/>
                    </a:lnTo>
                    <a:lnTo>
                      <a:pt x="38" y="103"/>
                    </a:lnTo>
                    <a:lnTo>
                      <a:pt x="42" y="107"/>
                    </a:lnTo>
                    <a:lnTo>
                      <a:pt x="35" y="152"/>
                    </a:lnTo>
                    <a:lnTo>
                      <a:pt x="31" y="155"/>
                    </a:lnTo>
                    <a:lnTo>
                      <a:pt x="28" y="145"/>
                    </a:lnTo>
                    <a:lnTo>
                      <a:pt x="31" y="135"/>
                    </a:lnTo>
                    <a:lnTo>
                      <a:pt x="31" y="128"/>
                    </a:lnTo>
                    <a:lnTo>
                      <a:pt x="31" y="117"/>
                    </a:lnTo>
                    <a:lnTo>
                      <a:pt x="35" y="114"/>
                    </a:lnTo>
                    <a:lnTo>
                      <a:pt x="35" y="110"/>
                    </a:lnTo>
                    <a:lnTo>
                      <a:pt x="35" y="107"/>
                    </a:lnTo>
                    <a:lnTo>
                      <a:pt x="31" y="103"/>
                    </a:lnTo>
                    <a:lnTo>
                      <a:pt x="31" y="100"/>
                    </a:lnTo>
                    <a:lnTo>
                      <a:pt x="28" y="97"/>
                    </a:lnTo>
                    <a:lnTo>
                      <a:pt x="28" y="93"/>
                    </a:lnTo>
                    <a:lnTo>
                      <a:pt x="28" y="90"/>
                    </a:lnTo>
                    <a:lnTo>
                      <a:pt x="28" y="86"/>
                    </a:lnTo>
                    <a:lnTo>
                      <a:pt x="31" y="86"/>
                    </a:lnTo>
                    <a:lnTo>
                      <a:pt x="35" y="90"/>
                    </a:lnTo>
                    <a:lnTo>
                      <a:pt x="38" y="93"/>
                    </a:lnTo>
                    <a:lnTo>
                      <a:pt x="42" y="93"/>
                    </a:lnTo>
                    <a:lnTo>
                      <a:pt x="42" y="90"/>
                    </a:lnTo>
                    <a:lnTo>
                      <a:pt x="45" y="90"/>
                    </a:lnTo>
                    <a:lnTo>
                      <a:pt x="49" y="86"/>
                    </a:lnTo>
                    <a:lnTo>
                      <a:pt x="49" y="83"/>
                    </a:lnTo>
                    <a:lnTo>
                      <a:pt x="49" y="79"/>
                    </a:lnTo>
                    <a:lnTo>
                      <a:pt x="45" y="76"/>
                    </a:lnTo>
                    <a:lnTo>
                      <a:pt x="45" y="72"/>
                    </a:lnTo>
                    <a:lnTo>
                      <a:pt x="42" y="72"/>
                    </a:lnTo>
                    <a:lnTo>
                      <a:pt x="42" y="69"/>
                    </a:lnTo>
                    <a:lnTo>
                      <a:pt x="38" y="69"/>
                    </a:lnTo>
                    <a:lnTo>
                      <a:pt x="35" y="69"/>
                    </a:lnTo>
                    <a:lnTo>
                      <a:pt x="31" y="69"/>
                    </a:lnTo>
                    <a:lnTo>
                      <a:pt x="24" y="69"/>
                    </a:lnTo>
                    <a:lnTo>
                      <a:pt x="21" y="69"/>
                    </a:lnTo>
                    <a:lnTo>
                      <a:pt x="18" y="69"/>
                    </a:lnTo>
                    <a:lnTo>
                      <a:pt x="14" y="69"/>
                    </a:lnTo>
                    <a:lnTo>
                      <a:pt x="7" y="69"/>
                    </a:lnTo>
                    <a:lnTo>
                      <a:pt x="4" y="69"/>
                    </a:lnTo>
                    <a:lnTo>
                      <a:pt x="0" y="69"/>
                    </a:lnTo>
                    <a:lnTo>
                      <a:pt x="0" y="65"/>
                    </a:lnTo>
                    <a:lnTo>
                      <a:pt x="4" y="62"/>
                    </a:lnTo>
                    <a:lnTo>
                      <a:pt x="11" y="62"/>
                    </a:lnTo>
                    <a:lnTo>
                      <a:pt x="14" y="62"/>
                    </a:lnTo>
                    <a:lnTo>
                      <a:pt x="18" y="62"/>
                    </a:lnTo>
                    <a:lnTo>
                      <a:pt x="24" y="62"/>
                    </a:lnTo>
                    <a:lnTo>
                      <a:pt x="28" y="62"/>
                    </a:lnTo>
                    <a:lnTo>
                      <a:pt x="31" y="62"/>
                    </a:lnTo>
                    <a:lnTo>
                      <a:pt x="38" y="62"/>
                    </a:lnTo>
                    <a:lnTo>
                      <a:pt x="38" y="59"/>
                    </a:lnTo>
                    <a:lnTo>
                      <a:pt x="42" y="59"/>
                    </a:lnTo>
                    <a:lnTo>
                      <a:pt x="42" y="62"/>
                    </a:lnTo>
                    <a:lnTo>
                      <a:pt x="45" y="62"/>
                    </a:lnTo>
                    <a:lnTo>
                      <a:pt x="49" y="62"/>
                    </a:lnTo>
                    <a:lnTo>
                      <a:pt x="52" y="59"/>
                    </a:lnTo>
                    <a:lnTo>
                      <a:pt x="56" y="59"/>
                    </a:lnTo>
                    <a:lnTo>
                      <a:pt x="59" y="59"/>
                    </a:lnTo>
                    <a:lnTo>
                      <a:pt x="62" y="59"/>
                    </a:lnTo>
                    <a:lnTo>
                      <a:pt x="62" y="55"/>
                    </a:lnTo>
                    <a:lnTo>
                      <a:pt x="66" y="55"/>
                    </a:lnTo>
                    <a:lnTo>
                      <a:pt x="69" y="55"/>
                    </a:lnTo>
                    <a:lnTo>
                      <a:pt x="73" y="55"/>
                    </a:lnTo>
                    <a:lnTo>
                      <a:pt x="90" y="52"/>
                    </a:lnTo>
                    <a:lnTo>
                      <a:pt x="97" y="48"/>
                    </a:lnTo>
                    <a:lnTo>
                      <a:pt x="101" y="48"/>
                    </a:lnTo>
                    <a:lnTo>
                      <a:pt x="104" y="45"/>
                    </a:lnTo>
                    <a:lnTo>
                      <a:pt x="111" y="45"/>
                    </a:lnTo>
                    <a:lnTo>
                      <a:pt x="114" y="41"/>
                    </a:lnTo>
                    <a:lnTo>
                      <a:pt x="118" y="41"/>
                    </a:lnTo>
                    <a:lnTo>
                      <a:pt x="125" y="38"/>
                    </a:lnTo>
                    <a:lnTo>
                      <a:pt x="128" y="38"/>
                    </a:lnTo>
                    <a:lnTo>
                      <a:pt x="128" y="34"/>
                    </a:lnTo>
                    <a:lnTo>
                      <a:pt x="128" y="31"/>
                    </a:lnTo>
                    <a:lnTo>
                      <a:pt x="125" y="24"/>
                    </a:lnTo>
                    <a:lnTo>
                      <a:pt x="128" y="21"/>
                    </a:lnTo>
                    <a:lnTo>
                      <a:pt x="128" y="17"/>
                    </a:lnTo>
                    <a:lnTo>
                      <a:pt x="132" y="14"/>
                    </a:lnTo>
                    <a:lnTo>
                      <a:pt x="132" y="10"/>
                    </a:lnTo>
                    <a:lnTo>
                      <a:pt x="135" y="7"/>
                    </a:lnTo>
                    <a:lnTo>
                      <a:pt x="139" y="3"/>
                    </a:lnTo>
                    <a:lnTo>
                      <a:pt x="142" y="3"/>
                    </a:lnTo>
                    <a:lnTo>
                      <a:pt x="145" y="0"/>
                    </a:lnTo>
                    <a:lnTo>
                      <a:pt x="149" y="0"/>
                    </a:lnTo>
                    <a:lnTo>
                      <a:pt x="152" y="0"/>
                    </a:lnTo>
                    <a:lnTo>
                      <a:pt x="156" y="0"/>
                    </a:lnTo>
                    <a:lnTo>
                      <a:pt x="159" y="0"/>
                    </a:lnTo>
                    <a:lnTo>
                      <a:pt x="163" y="0"/>
                    </a:lnTo>
                    <a:lnTo>
                      <a:pt x="166" y="3"/>
                    </a:lnTo>
                    <a:lnTo>
                      <a:pt x="170" y="3"/>
                    </a:lnTo>
                    <a:lnTo>
                      <a:pt x="173" y="3"/>
                    </a:lnTo>
                    <a:lnTo>
                      <a:pt x="177" y="3"/>
                    </a:lnTo>
                    <a:lnTo>
                      <a:pt x="180" y="3"/>
                    </a:lnTo>
                    <a:lnTo>
                      <a:pt x="183" y="3"/>
                    </a:lnTo>
                    <a:lnTo>
                      <a:pt x="187" y="3"/>
                    </a:lnTo>
                    <a:lnTo>
                      <a:pt x="190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7" name="Freeform 401"/>
              <p:cNvSpPr>
                <a:spLocks/>
              </p:cNvSpPr>
              <p:nvPr/>
            </p:nvSpPr>
            <p:spPr bwMode="auto">
              <a:xfrm>
                <a:off x="2030" y="1433"/>
                <a:ext cx="17" cy="45"/>
              </a:xfrm>
              <a:custGeom>
                <a:avLst/>
                <a:gdLst>
                  <a:gd name="T0" fmla="*/ 13 w 17"/>
                  <a:gd name="T1" fmla="*/ 3 h 45"/>
                  <a:gd name="T2" fmla="*/ 13 w 17"/>
                  <a:gd name="T3" fmla="*/ 7 h 45"/>
                  <a:gd name="T4" fmla="*/ 17 w 17"/>
                  <a:gd name="T5" fmla="*/ 13 h 45"/>
                  <a:gd name="T6" fmla="*/ 17 w 17"/>
                  <a:gd name="T7" fmla="*/ 17 h 45"/>
                  <a:gd name="T8" fmla="*/ 17 w 17"/>
                  <a:gd name="T9" fmla="*/ 20 h 45"/>
                  <a:gd name="T10" fmla="*/ 17 w 17"/>
                  <a:gd name="T11" fmla="*/ 27 h 45"/>
                  <a:gd name="T12" fmla="*/ 17 w 17"/>
                  <a:gd name="T13" fmla="*/ 31 h 45"/>
                  <a:gd name="T14" fmla="*/ 17 w 17"/>
                  <a:gd name="T15" fmla="*/ 38 h 45"/>
                  <a:gd name="T16" fmla="*/ 13 w 17"/>
                  <a:gd name="T17" fmla="*/ 41 h 45"/>
                  <a:gd name="T18" fmla="*/ 10 w 17"/>
                  <a:gd name="T19" fmla="*/ 41 h 45"/>
                  <a:gd name="T20" fmla="*/ 10 w 17"/>
                  <a:gd name="T21" fmla="*/ 41 h 45"/>
                  <a:gd name="T22" fmla="*/ 10 w 17"/>
                  <a:gd name="T23" fmla="*/ 41 h 45"/>
                  <a:gd name="T24" fmla="*/ 7 w 17"/>
                  <a:gd name="T25" fmla="*/ 45 h 45"/>
                  <a:gd name="T26" fmla="*/ 7 w 17"/>
                  <a:gd name="T27" fmla="*/ 45 h 45"/>
                  <a:gd name="T28" fmla="*/ 3 w 17"/>
                  <a:gd name="T29" fmla="*/ 45 h 45"/>
                  <a:gd name="T30" fmla="*/ 3 w 17"/>
                  <a:gd name="T31" fmla="*/ 45 h 45"/>
                  <a:gd name="T32" fmla="*/ 0 w 17"/>
                  <a:gd name="T33" fmla="*/ 41 h 45"/>
                  <a:gd name="T34" fmla="*/ 0 w 17"/>
                  <a:gd name="T35" fmla="*/ 41 h 45"/>
                  <a:gd name="T36" fmla="*/ 0 w 17"/>
                  <a:gd name="T37" fmla="*/ 41 h 45"/>
                  <a:gd name="T38" fmla="*/ 0 w 17"/>
                  <a:gd name="T39" fmla="*/ 41 h 45"/>
                  <a:gd name="T40" fmla="*/ 0 w 17"/>
                  <a:gd name="T41" fmla="*/ 38 h 45"/>
                  <a:gd name="T42" fmla="*/ 0 w 17"/>
                  <a:gd name="T43" fmla="*/ 38 h 45"/>
                  <a:gd name="T44" fmla="*/ 3 w 17"/>
                  <a:gd name="T45" fmla="*/ 38 h 45"/>
                  <a:gd name="T46" fmla="*/ 3 w 17"/>
                  <a:gd name="T47" fmla="*/ 34 h 45"/>
                  <a:gd name="T48" fmla="*/ 7 w 17"/>
                  <a:gd name="T49" fmla="*/ 34 h 45"/>
                  <a:gd name="T50" fmla="*/ 7 w 17"/>
                  <a:gd name="T51" fmla="*/ 34 h 45"/>
                  <a:gd name="T52" fmla="*/ 10 w 17"/>
                  <a:gd name="T53" fmla="*/ 31 h 45"/>
                  <a:gd name="T54" fmla="*/ 10 w 17"/>
                  <a:gd name="T55" fmla="*/ 31 h 45"/>
                  <a:gd name="T56" fmla="*/ 10 w 17"/>
                  <a:gd name="T57" fmla="*/ 27 h 45"/>
                  <a:gd name="T58" fmla="*/ 10 w 17"/>
                  <a:gd name="T59" fmla="*/ 20 h 45"/>
                  <a:gd name="T60" fmla="*/ 10 w 17"/>
                  <a:gd name="T61" fmla="*/ 13 h 45"/>
                  <a:gd name="T62" fmla="*/ 7 w 17"/>
                  <a:gd name="T63" fmla="*/ 7 h 45"/>
                  <a:gd name="T64" fmla="*/ 3 w 17"/>
                  <a:gd name="T65" fmla="*/ 3 h 45"/>
                  <a:gd name="T66" fmla="*/ 7 w 17"/>
                  <a:gd name="T67" fmla="*/ 0 h 45"/>
                  <a:gd name="T68" fmla="*/ 7 w 17"/>
                  <a:gd name="T69" fmla="*/ 0 h 45"/>
                  <a:gd name="T70" fmla="*/ 10 w 17"/>
                  <a:gd name="T71" fmla="*/ 3 h 45"/>
                  <a:gd name="T72" fmla="*/ 13 w 17"/>
                  <a:gd name="T73" fmla="*/ 3 h 45"/>
                  <a:gd name="T74" fmla="*/ 13 w 17"/>
                  <a:gd name="T75" fmla="*/ 3 h 45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7"/>
                  <a:gd name="T115" fmla="*/ 0 h 45"/>
                  <a:gd name="T116" fmla="*/ 17 w 17"/>
                  <a:gd name="T117" fmla="*/ 45 h 45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7" h="45">
                    <a:moveTo>
                      <a:pt x="13" y="3"/>
                    </a:moveTo>
                    <a:lnTo>
                      <a:pt x="13" y="7"/>
                    </a:lnTo>
                    <a:lnTo>
                      <a:pt x="17" y="13"/>
                    </a:lnTo>
                    <a:lnTo>
                      <a:pt x="17" y="17"/>
                    </a:lnTo>
                    <a:lnTo>
                      <a:pt x="17" y="20"/>
                    </a:lnTo>
                    <a:lnTo>
                      <a:pt x="17" y="27"/>
                    </a:lnTo>
                    <a:lnTo>
                      <a:pt x="17" y="31"/>
                    </a:lnTo>
                    <a:lnTo>
                      <a:pt x="17" y="38"/>
                    </a:lnTo>
                    <a:lnTo>
                      <a:pt x="13" y="41"/>
                    </a:lnTo>
                    <a:lnTo>
                      <a:pt x="10" y="41"/>
                    </a:lnTo>
                    <a:lnTo>
                      <a:pt x="7" y="45"/>
                    </a:lnTo>
                    <a:lnTo>
                      <a:pt x="3" y="45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3" y="38"/>
                    </a:lnTo>
                    <a:lnTo>
                      <a:pt x="3" y="34"/>
                    </a:lnTo>
                    <a:lnTo>
                      <a:pt x="7" y="34"/>
                    </a:lnTo>
                    <a:lnTo>
                      <a:pt x="10" y="31"/>
                    </a:lnTo>
                    <a:lnTo>
                      <a:pt x="10" y="27"/>
                    </a:lnTo>
                    <a:lnTo>
                      <a:pt x="10" y="20"/>
                    </a:lnTo>
                    <a:lnTo>
                      <a:pt x="10" y="13"/>
                    </a:lnTo>
                    <a:lnTo>
                      <a:pt x="7" y="7"/>
                    </a:lnTo>
                    <a:lnTo>
                      <a:pt x="3" y="3"/>
                    </a:lnTo>
                    <a:lnTo>
                      <a:pt x="7" y="0"/>
                    </a:lnTo>
                    <a:lnTo>
                      <a:pt x="10" y="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8" name="Freeform 402"/>
              <p:cNvSpPr>
                <a:spLocks/>
              </p:cNvSpPr>
              <p:nvPr/>
            </p:nvSpPr>
            <p:spPr bwMode="auto">
              <a:xfrm>
                <a:off x="2327" y="1440"/>
                <a:ext cx="24" cy="276"/>
              </a:xfrm>
              <a:custGeom>
                <a:avLst/>
                <a:gdLst>
                  <a:gd name="T0" fmla="*/ 7 w 24"/>
                  <a:gd name="T1" fmla="*/ 3 h 276"/>
                  <a:gd name="T2" fmla="*/ 7 w 24"/>
                  <a:gd name="T3" fmla="*/ 27 h 276"/>
                  <a:gd name="T4" fmla="*/ 7 w 24"/>
                  <a:gd name="T5" fmla="*/ 48 h 276"/>
                  <a:gd name="T6" fmla="*/ 7 w 24"/>
                  <a:gd name="T7" fmla="*/ 72 h 276"/>
                  <a:gd name="T8" fmla="*/ 7 w 24"/>
                  <a:gd name="T9" fmla="*/ 96 h 276"/>
                  <a:gd name="T10" fmla="*/ 7 w 24"/>
                  <a:gd name="T11" fmla="*/ 117 h 276"/>
                  <a:gd name="T12" fmla="*/ 10 w 24"/>
                  <a:gd name="T13" fmla="*/ 141 h 276"/>
                  <a:gd name="T14" fmla="*/ 10 w 24"/>
                  <a:gd name="T15" fmla="*/ 165 h 276"/>
                  <a:gd name="T16" fmla="*/ 14 w 24"/>
                  <a:gd name="T17" fmla="*/ 186 h 276"/>
                  <a:gd name="T18" fmla="*/ 14 w 24"/>
                  <a:gd name="T19" fmla="*/ 197 h 276"/>
                  <a:gd name="T20" fmla="*/ 17 w 24"/>
                  <a:gd name="T21" fmla="*/ 207 h 276"/>
                  <a:gd name="T22" fmla="*/ 17 w 24"/>
                  <a:gd name="T23" fmla="*/ 217 h 276"/>
                  <a:gd name="T24" fmla="*/ 21 w 24"/>
                  <a:gd name="T25" fmla="*/ 228 h 276"/>
                  <a:gd name="T26" fmla="*/ 21 w 24"/>
                  <a:gd name="T27" fmla="*/ 238 h 276"/>
                  <a:gd name="T28" fmla="*/ 21 w 24"/>
                  <a:gd name="T29" fmla="*/ 248 h 276"/>
                  <a:gd name="T30" fmla="*/ 24 w 24"/>
                  <a:gd name="T31" fmla="*/ 259 h 276"/>
                  <a:gd name="T32" fmla="*/ 24 w 24"/>
                  <a:gd name="T33" fmla="*/ 269 h 276"/>
                  <a:gd name="T34" fmla="*/ 24 w 24"/>
                  <a:gd name="T35" fmla="*/ 273 h 276"/>
                  <a:gd name="T36" fmla="*/ 21 w 24"/>
                  <a:gd name="T37" fmla="*/ 273 h 276"/>
                  <a:gd name="T38" fmla="*/ 21 w 24"/>
                  <a:gd name="T39" fmla="*/ 276 h 276"/>
                  <a:gd name="T40" fmla="*/ 17 w 24"/>
                  <a:gd name="T41" fmla="*/ 276 h 276"/>
                  <a:gd name="T42" fmla="*/ 14 w 24"/>
                  <a:gd name="T43" fmla="*/ 262 h 276"/>
                  <a:gd name="T44" fmla="*/ 14 w 24"/>
                  <a:gd name="T45" fmla="*/ 248 h 276"/>
                  <a:gd name="T46" fmla="*/ 10 w 24"/>
                  <a:gd name="T47" fmla="*/ 235 h 276"/>
                  <a:gd name="T48" fmla="*/ 10 w 24"/>
                  <a:gd name="T49" fmla="*/ 221 h 276"/>
                  <a:gd name="T50" fmla="*/ 7 w 24"/>
                  <a:gd name="T51" fmla="*/ 210 h 276"/>
                  <a:gd name="T52" fmla="*/ 7 w 24"/>
                  <a:gd name="T53" fmla="*/ 200 h 276"/>
                  <a:gd name="T54" fmla="*/ 7 w 24"/>
                  <a:gd name="T55" fmla="*/ 190 h 276"/>
                  <a:gd name="T56" fmla="*/ 3 w 24"/>
                  <a:gd name="T57" fmla="*/ 176 h 276"/>
                  <a:gd name="T58" fmla="*/ 3 w 24"/>
                  <a:gd name="T59" fmla="*/ 165 h 276"/>
                  <a:gd name="T60" fmla="*/ 3 w 24"/>
                  <a:gd name="T61" fmla="*/ 155 h 276"/>
                  <a:gd name="T62" fmla="*/ 0 w 24"/>
                  <a:gd name="T63" fmla="*/ 145 h 276"/>
                  <a:gd name="T64" fmla="*/ 0 w 24"/>
                  <a:gd name="T65" fmla="*/ 134 h 276"/>
                  <a:gd name="T66" fmla="*/ 0 w 24"/>
                  <a:gd name="T67" fmla="*/ 114 h 276"/>
                  <a:gd name="T68" fmla="*/ 0 w 24"/>
                  <a:gd name="T69" fmla="*/ 0 h 276"/>
                  <a:gd name="T70" fmla="*/ 3 w 24"/>
                  <a:gd name="T71" fmla="*/ 0 h 276"/>
                  <a:gd name="T72" fmla="*/ 3 w 24"/>
                  <a:gd name="T73" fmla="*/ 0 h 276"/>
                  <a:gd name="T74" fmla="*/ 7 w 24"/>
                  <a:gd name="T75" fmla="*/ 0 h 276"/>
                  <a:gd name="T76" fmla="*/ 7 w 24"/>
                  <a:gd name="T77" fmla="*/ 3 h 276"/>
                  <a:gd name="T78" fmla="*/ 7 w 24"/>
                  <a:gd name="T79" fmla="*/ 3 h 27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24"/>
                  <a:gd name="T121" fmla="*/ 0 h 276"/>
                  <a:gd name="T122" fmla="*/ 24 w 24"/>
                  <a:gd name="T123" fmla="*/ 276 h 27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24" h="276">
                    <a:moveTo>
                      <a:pt x="7" y="3"/>
                    </a:moveTo>
                    <a:lnTo>
                      <a:pt x="7" y="27"/>
                    </a:lnTo>
                    <a:lnTo>
                      <a:pt x="7" y="48"/>
                    </a:lnTo>
                    <a:lnTo>
                      <a:pt x="7" y="72"/>
                    </a:lnTo>
                    <a:lnTo>
                      <a:pt x="7" y="96"/>
                    </a:lnTo>
                    <a:lnTo>
                      <a:pt x="7" y="117"/>
                    </a:lnTo>
                    <a:lnTo>
                      <a:pt x="10" y="141"/>
                    </a:lnTo>
                    <a:lnTo>
                      <a:pt x="10" y="165"/>
                    </a:lnTo>
                    <a:lnTo>
                      <a:pt x="14" y="186"/>
                    </a:lnTo>
                    <a:lnTo>
                      <a:pt x="14" y="197"/>
                    </a:lnTo>
                    <a:lnTo>
                      <a:pt x="17" y="207"/>
                    </a:lnTo>
                    <a:lnTo>
                      <a:pt x="17" y="217"/>
                    </a:lnTo>
                    <a:lnTo>
                      <a:pt x="21" y="228"/>
                    </a:lnTo>
                    <a:lnTo>
                      <a:pt x="21" y="238"/>
                    </a:lnTo>
                    <a:lnTo>
                      <a:pt x="21" y="248"/>
                    </a:lnTo>
                    <a:lnTo>
                      <a:pt x="24" y="259"/>
                    </a:lnTo>
                    <a:lnTo>
                      <a:pt x="24" y="269"/>
                    </a:lnTo>
                    <a:lnTo>
                      <a:pt x="24" y="273"/>
                    </a:lnTo>
                    <a:lnTo>
                      <a:pt x="21" y="273"/>
                    </a:lnTo>
                    <a:lnTo>
                      <a:pt x="21" y="276"/>
                    </a:lnTo>
                    <a:lnTo>
                      <a:pt x="17" y="276"/>
                    </a:lnTo>
                    <a:lnTo>
                      <a:pt x="14" y="262"/>
                    </a:lnTo>
                    <a:lnTo>
                      <a:pt x="14" y="248"/>
                    </a:lnTo>
                    <a:lnTo>
                      <a:pt x="10" y="235"/>
                    </a:lnTo>
                    <a:lnTo>
                      <a:pt x="10" y="221"/>
                    </a:lnTo>
                    <a:lnTo>
                      <a:pt x="7" y="210"/>
                    </a:lnTo>
                    <a:lnTo>
                      <a:pt x="7" y="200"/>
                    </a:lnTo>
                    <a:lnTo>
                      <a:pt x="7" y="190"/>
                    </a:lnTo>
                    <a:lnTo>
                      <a:pt x="3" y="176"/>
                    </a:lnTo>
                    <a:lnTo>
                      <a:pt x="3" y="165"/>
                    </a:lnTo>
                    <a:lnTo>
                      <a:pt x="3" y="155"/>
                    </a:lnTo>
                    <a:lnTo>
                      <a:pt x="0" y="145"/>
                    </a:lnTo>
                    <a:lnTo>
                      <a:pt x="0" y="134"/>
                    </a:lnTo>
                    <a:lnTo>
                      <a:pt x="0" y="114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19" name="Freeform 403"/>
              <p:cNvSpPr>
                <a:spLocks/>
              </p:cNvSpPr>
              <p:nvPr/>
            </p:nvSpPr>
            <p:spPr bwMode="auto">
              <a:xfrm>
                <a:off x="2306" y="1453"/>
                <a:ext cx="10" cy="125"/>
              </a:xfrm>
              <a:custGeom>
                <a:avLst/>
                <a:gdLst>
                  <a:gd name="T0" fmla="*/ 10 w 10"/>
                  <a:gd name="T1" fmla="*/ 4 h 125"/>
                  <a:gd name="T2" fmla="*/ 10 w 10"/>
                  <a:gd name="T3" fmla="*/ 31 h 125"/>
                  <a:gd name="T4" fmla="*/ 10 w 10"/>
                  <a:gd name="T5" fmla="*/ 63 h 125"/>
                  <a:gd name="T6" fmla="*/ 10 w 10"/>
                  <a:gd name="T7" fmla="*/ 90 h 125"/>
                  <a:gd name="T8" fmla="*/ 10 w 10"/>
                  <a:gd name="T9" fmla="*/ 121 h 125"/>
                  <a:gd name="T10" fmla="*/ 10 w 10"/>
                  <a:gd name="T11" fmla="*/ 121 h 125"/>
                  <a:gd name="T12" fmla="*/ 10 w 10"/>
                  <a:gd name="T13" fmla="*/ 121 h 125"/>
                  <a:gd name="T14" fmla="*/ 10 w 10"/>
                  <a:gd name="T15" fmla="*/ 125 h 125"/>
                  <a:gd name="T16" fmla="*/ 7 w 10"/>
                  <a:gd name="T17" fmla="*/ 125 h 125"/>
                  <a:gd name="T18" fmla="*/ 7 w 10"/>
                  <a:gd name="T19" fmla="*/ 125 h 125"/>
                  <a:gd name="T20" fmla="*/ 4 w 10"/>
                  <a:gd name="T21" fmla="*/ 125 h 125"/>
                  <a:gd name="T22" fmla="*/ 4 w 10"/>
                  <a:gd name="T23" fmla="*/ 125 h 125"/>
                  <a:gd name="T24" fmla="*/ 4 w 10"/>
                  <a:gd name="T25" fmla="*/ 121 h 125"/>
                  <a:gd name="T26" fmla="*/ 0 w 10"/>
                  <a:gd name="T27" fmla="*/ 94 h 125"/>
                  <a:gd name="T28" fmla="*/ 0 w 10"/>
                  <a:gd name="T29" fmla="*/ 63 h 125"/>
                  <a:gd name="T30" fmla="*/ 4 w 10"/>
                  <a:gd name="T31" fmla="*/ 31 h 125"/>
                  <a:gd name="T32" fmla="*/ 4 w 10"/>
                  <a:gd name="T33" fmla="*/ 0 h 125"/>
                  <a:gd name="T34" fmla="*/ 4 w 10"/>
                  <a:gd name="T35" fmla="*/ 0 h 125"/>
                  <a:gd name="T36" fmla="*/ 7 w 10"/>
                  <a:gd name="T37" fmla="*/ 0 h 125"/>
                  <a:gd name="T38" fmla="*/ 10 w 10"/>
                  <a:gd name="T39" fmla="*/ 0 h 125"/>
                  <a:gd name="T40" fmla="*/ 10 w 10"/>
                  <a:gd name="T41" fmla="*/ 4 h 125"/>
                  <a:gd name="T42" fmla="*/ 10 w 10"/>
                  <a:gd name="T43" fmla="*/ 4 h 12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"/>
                  <a:gd name="T67" fmla="*/ 0 h 125"/>
                  <a:gd name="T68" fmla="*/ 10 w 10"/>
                  <a:gd name="T69" fmla="*/ 125 h 12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" h="125">
                    <a:moveTo>
                      <a:pt x="10" y="4"/>
                    </a:moveTo>
                    <a:lnTo>
                      <a:pt x="10" y="31"/>
                    </a:lnTo>
                    <a:lnTo>
                      <a:pt x="10" y="63"/>
                    </a:lnTo>
                    <a:lnTo>
                      <a:pt x="10" y="90"/>
                    </a:lnTo>
                    <a:lnTo>
                      <a:pt x="10" y="121"/>
                    </a:lnTo>
                    <a:lnTo>
                      <a:pt x="10" y="125"/>
                    </a:lnTo>
                    <a:lnTo>
                      <a:pt x="7" y="125"/>
                    </a:lnTo>
                    <a:lnTo>
                      <a:pt x="4" y="125"/>
                    </a:lnTo>
                    <a:lnTo>
                      <a:pt x="4" y="121"/>
                    </a:lnTo>
                    <a:lnTo>
                      <a:pt x="0" y="94"/>
                    </a:lnTo>
                    <a:lnTo>
                      <a:pt x="0" y="63"/>
                    </a:lnTo>
                    <a:lnTo>
                      <a:pt x="4" y="31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0" name="Freeform 404"/>
              <p:cNvSpPr>
                <a:spLocks/>
              </p:cNvSpPr>
              <p:nvPr/>
            </p:nvSpPr>
            <p:spPr bwMode="auto">
              <a:xfrm>
                <a:off x="2123" y="1457"/>
                <a:ext cx="162" cy="52"/>
              </a:xfrm>
              <a:custGeom>
                <a:avLst/>
                <a:gdLst>
                  <a:gd name="T0" fmla="*/ 107 w 162"/>
                  <a:gd name="T1" fmla="*/ 7 h 52"/>
                  <a:gd name="T2" fmla="*/ 111 w 162"/>
                  <a:gd name="T3" fmla="*/ 7 h 52"/>
                  <a:gd name="T4" fmla="*/ 114 w 162"/>
                  <a:gd name="T5" fmla="*/ 7 h 52"/>
                  <a:gd name="T6" fmla="*/ 117 w 162"/>
                  <a:gd name="T7" fmla="*/ 3 h 52"/>
                  <a:gd name="T8" fmla="*/ 124 w 162"/>
                  <a:gd name="T9" fmla="*/ 7 h 52"/>
                  <a:gd name="T10" fmla="*/ 135 w 162"/>
                  <a:gd name="T11" fmla="*/ 7 h 52"/>
                  <a:gd name="T12" fmla="*/ 145 w 162"/>
                  <a:gd name="T13" fmla="*/ 7 h 52"/>
                  <a:gd name="T14" fmla="*/ 155 w 162"/>
                  <a:gd name="T15" fmla="*/ 7 h 52"/>
                  <a:gd name="T16" fmla="*/ 159 w 162"/>
                  <a:gd name="T17" fmla="*/ 10 h 52"/>
                  <a:gd name="T18" fmla="*/ 159 w 162"/>
                  <a:gd name="T19" fmla="*/ 14 h 52"/>
                  <a:gd name="T20" fmla="*/ 152 w 162"/>
                  <a:gd name="T21" fmla="*/ 14 h 52"/>
                  <a:gd name="T22" fmla="*/ 149 w 162"/>
                  <a:gd name="T23" fmla="*/ 14 h 52"/>
                  <a:gd name="T24" fmla="*/ 142 w 162"/>
                  <a:gd name="T25" fmla="*/ 14 h 52"/>
                  <a:gd name="T26" fmla="*/ 135 w 162"/>
                  <a:gd name="T27" fmla="*/ 14 h 52"/>
                  <a:gd name="T28" fmla="*/ 128 w 162"/>
                  <a:gd name="T29" fmla="*/ 10 h 52"/>
                  <a:gd name="T30" fmla="*/ 117 w 162"/>
                  <a:gd name="T31" fmla="*/ 10 h 52"/>
                  <a:gd name="T32" fmla="*/ 107 w 162"/>
                  <a:gd name="T33" fmla="*/ 14 h 52"/>
                  <a:gd name="T34" fmla="*/ 97 w 162"/>
                  <a:gd name="T35" fmla="*/ 14 h 52"/>
                  <a:gd name="T36" fmla="*/ 93 w 162"/>
                  <a:gd name="T37" fmla="*/ 10 h 52"/>
                  <a:gd name="T38" fmla="*/ 93 w 162"/>
                  <a:gd name="T39" fmla="*/ 14 h 52"/>
                  <a:gd name="T40" fmla="*/ 86 w 162"/>
                  <a:gd name="T41" fmla="*/ 14 h 52"/>
                  <a:gd name="T42" fmla="*/ 79 w 162"/>
                  <a:gd name="T43" fmla="*/ 17 h 52"/>
                  <a:gd name="T44" fmla="*/ 73 w 162"/>
                  <a:gd name="T45" fmla="*/ 21 h 52"/>
                  <a:gd name="T46" fmla="*/ 66 w 162"/>
                  <a:gd name="T47" fmla="*/ 24 h 52"/>
                  <a:gd name="T48" fmla="*/ 55 w 162"/>
                  <a:gd name="T49" fmla="*/ 24 h 52"/>
                  <a:gd name="T50" fmla="*/ 48 w 162"/>
                  <a:gd name="T51" fmla="*/ 24 h 52"/>
                  <a:gd name="T52" fmla="*/ 41 w 162"/>
                  <a:gd name="T53" fmla="*/ 27 h 52"/>
                  <a:gd name="T54" fmla="*/ 35 w 162"/>
                  <a:gd name="T55" fmla="*/ 34 h 52"/>
                  <a:gd name="T56" fmla="*/ 28 w 162"/>
                  <a:gd name="T57" fmla="*/ 38 h 52"/>
                  <a:gd name="T58" fmla="*/ 21 w 162"/>
                  <a:gd name="T59" fmla="*/ 41 h 52"/>
                  <a:gd name="T60" fmla="*/ 17 w 162"/>
                  <a:gd name="T61" fmla="*/ 48 h 52"/>
                  <a:gd name="T62" fmla="*/ 7 w 162"/>
                  <a:gd name="T63" fmla="*/ 48 h 52"/>
                  <a:gd name="T64" fmla="*/ 3 w 162"/>
                  <a:gd name="T65" fmla="*/ 48 h 52"/>
                  <a:gd name="T66" fmla="*/ 0 w 162"/>
                  <a:gd name="T67" fmla="*/ 48 h 52"/>
                  <a:gd name="T68" fmla="*/ 7 w 162"/>
                  <a:gd name="T69" fmla="*/ 45 h 52"/>
                  <a:gd name="T70" fmla="*/ 17 w 162"/>
                  <a:gd name="T71" fmla="*/ 38 h 52"/>
                  <a:gd name="T72" fmla="*/ 24 w 162"/>
                  <a:gd name="T73" fmla="*/ 31 h 52"/>
                  <a:gd name="T74" fmla="*/ 35 w 162"/>
                  <a:gd name="T75" fmla="*/ 24 h 52"/>
                  <a:gd name="T76" fmla="*/ 45 w 162"/>
                  <a:gd name="T77" fmla="*/ 21 h 52"/>
                  <a:gd name="T78" fmla="*/ 55 w 162"/>
                  <a:gd name="T79" fmla="*/ 17 h 52"/>
                  <a:gd name="T80" fmla="*/ 66 w 162"/>
                  <a:gd name="T81" fmla="*/ 14 h 52"/>
                  <a:gd name="T82" fmla="*/ 76 w 162"/>
                  <a:gd name="T83" fmla="*/ 10 h 52"/>
                  <a:gd name="T84" fmla="*/ 83 w 162"/>
                  <a:gd name="T85" fmla="*/ 7 h 52"/>
                  <a:gd name="T86" fmla="*/ 83 w 162"/>
                  <a:gd name="T87" fmla="*/ 7 h 52"/>
                  <a:gd name="T88" fmla="*/ 86 w 162"/>
                  <a:gd name="T89" fmla="*/ 7 h 52"/>
                  <a:gd name="T90" fmla="*/ 90 w 162"/>
                  <a:gd name="T91" fmla="*/ 3 h 52"/>
                  <a:gd name="T92" fmla="*/ 97 w 162"/>
                  <a:gd name="T93" fmla="*/ 0 h 52"/>
                  <a:gd name="T94" fmla="*/ 100 w 162"/>
                  <a:gd name="T95" fmla="*/ 3 h 52"/>
                  <a:gd name="T96" fmla="*/ 104 w 162"/>
                  <a:gd name="T97" fmla="*/ 7 h 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62"/>
                  <a:gd name="T148" fmla="*/ 0 h 52"/>
                  <a:gd name="T149" fmla="*/ 162 w 162"/>
                  <a:gd name="T150" fmla="*/ 52 h 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62" h="52">
                    <a:moveTo>
                      <a:pt x="104" y="7"/>
                    </a:moveTo>
                    <a:lnTo>
                      <a:pt x="107" y="7"/>
                    </a:lnTo>
                    <a:lnTo>
                      <a:pt x="111" y="7"/>
                    </a:lnTo>
                    <a:lnTo>
                      <a:pt x="114" y="7"/>
                    </a:lnTo>
                    <a:lnTo>
                      <a:pt x="114" y="3"/>
                    </a:lnTo>
                    <a:lnTo>
                      <a:pt x="117" y="3"/>
                    </a:lnTo>
                    <a:lnTo>
                      <a:pt x="121" y="3"/>
                    </a:lnTo>
                    <a:lnTo>
                      <a:pt x="124" y="7"/>
                    </a:lnTo>
                    <a:lnTo>
                      <a:pt x="131" y="7"/>
                    </a:lnTo>
                    <a:lnTo>
                      <a:pt x="135" y="7"/>
                    </a:lnTo>
                    <a:lnTo>
                      <a:pt x="142" y="7"/>
                    </a:lnTo>
                    <a:lnTo>
                      <a:pt x="145" y="7"/>
                    </a:lnTo>
                    <a:lnTo>
                      <a:pt x="152" y="7"/>
                    </a:lnTo>
                    <a:lnTo>
                      <a:pt x="155" y="7"/>
                    </a:lnTo>
                    <a:lnTo>
                      <a:pt x="162" y="7"/>
                    </a:lnTo>
                    <a:lnTo>
                      <a:pt x="159" y="10"/>
                    </a:lnTo>
                    <a:lnTo>
                      <a:pt x="159" y="14"/>
                    </a:lnTo>
                    <a:lnTo>
                      <a:pt x="155" y="14"/>
                    </a:lnTo>
                    <a:lnTo>
                      <a:pt x="152" y="14"/>
                    </a:lnTo>
                    <a:lnTo>
                      <a:pt x="149" y="14"/>
                    </a:lnTo>
                    <a:lnTo>
                      <a:pt x="145" y="14"/>
                    </a:lnTo>
                    <a:lnTo>
                      <a:pt x="142" y="14"/>
                    </a:lnTo>
                    <a:lnTo>
                      <a:pt x="138" y="14"/>
                    </a:lnTo>
                    <a:lnTo>
                      <a:pt x="135" y="14"/>
                    </a:lnTo>
                    <a:lnTo>
                      <a:pt x="131" y="14"/>
                    </a:lnTo>
                    <a:lnTo>
                      <a:pt x="128" y="10"/>
                    </a:lnTo>
                    <a:lnTo>
                      <a:pt x="121" y="10"/>
                    </a:lnTo>
                    <a:lnTo>
                      <a:pt x="117" y="10"/>
                    </a:lnTo>
                    <a:lnTo>
                      <a:pt x="111" y="14"/>
                    </a:lnTo>
                    <a:lnTo>
                      <a:pt x="107" y="14"/>
                    </a:lnTo>
                    <a:lnTo>
                      <a:pt x="104" y="14"/>
                    </a:lnTo>
                    <a:lnTo>
                      <a:pt x="97" y="14"/>
                    </a:lnTo>
                    <a:lnTo>
                      <a:pt x="93" y="10"/>
                    </a:lnTo>
                    <a:lnTo>
                      <a:pt x="93" y="14"/>
                    </a:lnTo>
                    <a:lnTo>
                      <a:pt x="90" y="14"/>
                    </a:lnTo>
                    <a:lnTo>
                      <a:pt x="86" y="14"/>
                    </a:lnTo>
                    <a:lnTo>
                      <a:pt x="83" y="14"/>
                    </a:lnTo>
                    <a:lnTo>
                      <a:pt x="79" y="17"/>
                    </a:lnTo>
                    <a:lnTo>
                      <a:pt x="73" y="17"/>
                    </a:lnTo>
                    <a:lnTo>
                      <a:pt x="73" y="21"/>
                    </a:lnTo>
                    <a:lnTo>
                      <a:pt x="69" y="21"/>
                    </a:lnTo>
                    <a:lnTo>
                      <a:pt x="66" y="24"/>
                    </a:lnTo>
                    <a:lnTo>
                      <a:pt x="62" y="24"/>
                    </a:lnTo>
                    <a:lnTo>
                      <a:pt x="55" y="24"/>
                    </a:lnTo>
                    <a:lnTo>
                      <a:pt x="52" y="24"/>
                    </a:lnTo>
                    <a:lnTo>
                      <a:pt x="48" y="24"/>
                    </a:lnTo>
                    <a:lnTo>
                      <a:pt x="45" y="27"/>
                    </a:lnTo>
                    <a:lnTo>
                      <a:pt x="41" y="27"/>
                    </a:lnTo>
                    <a:lnTo>
                      <a:pt x="38" y="31"/>
                    </a:lnTo>
                    <a:lnTo>
                      <a:pt x="35" y="34"/>
                    </a:lnTo>
                    <a:lnTo>
                      <a:pt x="31" y="34"/>
                    </a:lnTo>
                    <a:lnTo>
                      <a:pt x="28" y="38"/>
                    </a:lnTo>
                    <a:lnTo>
                      <a:pt x="24" y="41"/>
                    </a:lnTo>
                    <a:lnTo>
                      <a:pt x="21" y="41"/>
                    </a:lnTo>
                    <a:lnTo>
                      <a:pt x="21" y="45"/>
                    </a:lnTo>
                    <a:lnTo>
                      <a:pt x="17" y="48"/>
                    </a:lnTo>
                    <a:lnTo>
                      <a:pt x="14" y="48"/>
                    </a:lnTo>
                    <a:lnTo>
                      <a:pt x="7" y="48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0" y="48"/>
                    </a:lnTo>
                    <a:lnTo>
                      <a:pt x="0" y="45"/>
                    </a:lnTo>
                    <a:lnTo>
                      <a:pt x="7" y="45"/>
                    </a:lnTo>
                    <a:lnTo>
                      <a:pt x="10" y="41"/>
                    </a:lnTo>
                    <a:lnTo>
                      <a:pt x="17" y="38"/>
                    </a:lnTo>
                    <a:lnTo>
                      <a:pt x="21" y="34"/>
                    </a:lnTo>
                    <a:lnTo>
                      <a:pt x="24" y="31"/>
                    </a:lnTo>
                    <a:lnTo>
                      <a:pt x="31" y="27"/>
                    </a:lnTo>
                    <a:lnTo>
                      <a:pt x="35" y="24"/>
                    </a:lnTo>
                    <a:lnTo>
                      <a:pt x="41" y="21"/>
                    </a:lnTo>
                    <a:lnTo>
                      <a:pt x="45" y="21"/>
                    </a:lnTo>
                    <a:lnTo>
                      <a:pt x="52" y="21"/>
                    </a:lnTo>
                    <a:lnTo>
                      <a:pt x="55" y="17"/>
                    </a:lnTo>
                    <a:lnTo>
                      <a:pt x="62" y="17"/>
                    </a:lnTo>
                    <a:lnTo>
                      <a:pt x="66" y="14"/>
                    </a:lnTo>
                    <a:lnTo>
                      <a:pt x="69" y="10"/>
                    </a:lnTo>
                    <a:lnTo>
                      <a:pt x="76" y="10"/>
                    </a:lnTo>
                    <a:lnTo>
                      <a:pt x="79" y="7"/>
                    </a:lnTo>
                    <a:lnTo>
                      <a:pt x="83" y="7"/>
                    </a:lnTo>
                    <a:lnTo>
                      <a:pt x="86" y="7"/>
                    </a:lnTo>
                    <a:lnTo>
                      <a:pt x="86" y="3"/>
                    </a:lnTo>
                    <a:lnTo>
                      <a:pt x="90" y="3"/>
                    </a:lnTo>
                    <a:lnTo>
                      <a:pt x="97" y="0"/>
                    </a:lnTo>
                    <a:lnTo>
                      <a:pt x="97" y="3"/>
                    </a:lnTo>
                    <a:lnTo>
                      <a:pt x="100" y="3"/>
                    </a:lnTo>
                    <a:lnTo>
                      <a:pt x="100" y="7"/>
                    </a:lnTo>
                    <a:lnTo>
                      <a:pt x="104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1" name="Freeform 405"/>
              <p:cNvSpPr>
                <a:spLocks/>
              </p:cNvSpPr>
              <p:nvPr/>
            </p:nvSpPr>
            <p:spPr bwMode="auto">
              <a:xfrm>
                <a:off x="2023" y="1478"/>
                <a:ext cx="34" cy="20"/>
              </a:xfrm>
              <a:custGeom>
                <a:avLst/>
                <a:gdLst>
                  <a:gd name="T0" fmla="*/ 34 w 34"/>
                  <a:gd name="T1" fmla="*/ 13 h 20"/>
                  <a:gd name="T2" fmla="*/ 34 w 34"/>
                  <a:gd name="T3" fmla="*/ 13 h 20"/>
                  <a:gd name="T4" fmla="*/ 34 w 34"/>
                  <a:gd name="T5" fmla="*/ 13 h 20"/>
                  <a:gd name="T6" fmla="*/ 31 w 34"/>
                  <a:gd name="T7" fmla="*/ 13 h 20"/>
                  <a:gd name="T8" fmla="*/ 31 w 34"/>
                  <a:gd name="T9" fmla="*/ 17 h 20"/>
                  <a:gd name="T10" fmla="*/ 31 w 34"/>
                  <a:gd name="T11" fmla="*/ 17 h 20"/>
                  <a:gd name="T12" fmla="*/ 27 w 34"/>
                  <a:gd name="T13" fmla="*/ 20 h 20"/>
                  <a:gd name="T14" fmla="*/ 27 w 34"/>
                  <a:gd name="T15" fmla="*/ 20 h 20"/>
                  <a:gd name="T16" fmla="*/ 24 w 34"/>
                  <a:gd name="T17" fmla="*/ 20 h 20"/>
                  <a:gd name="T18" fmla="*/ 20 w 34"/>
                  <a:gd name="T19" fmla="*/ 20 h 20"/>
                  <a:gd name="T20" fmla="*/ 20 w 34"/>
                  <a:gd name="T21" fmla="*/ 20 h 20"/>
                  <a:gd name="T22" fmla="*/ 17 w 34"/>
                  <a:gd name="T23" fmla="*/ 20 h 20"/>
                  <a:gd name="T24" fmla="*/ 14 w 34"/>
                  <a:gd name="T25" fmla="*/ 20 h 20"/>
                  <a:gd name="T26" fmla="*/ 10 w 34"/>
                  <a:gd name="T27" fmla="*/ 20 h 20"/>
                  <a:gd name="T28" fmla="*/ 10 w 34"/>
                  <a:gd name="T29" fmla="*/ 20 h 20"/>
                  <a:gd name="T30" fmla="*/ 7 w 34"/>
                  <a:gd name="T31" fmla="*/ 20 h 20"/>
                  <a:gd name="T32" fmla="*/ 3 w 34"/>
                  <a:gd name="T33" fmla="*/ 17 h 20"/>
                  <a:gd name="T34" fmla="*/ 3 w 34"/>
                  <a:gd name="T35" fmla="*/ 17 h 20"/>
                  <a:gd name="T36" fmla="*/ 0 w 34"/>
                  <a:gd name="T37" fmla="*/ 17 h 20"/>
                  <a:gd name="T38" fmla="*/ 0 w 34"/>
                  <a:gd name="T39" fmla="*/ 13 h 20"/>
                  <a:gd name="T40" fmla="*/ 0 w 34"/>
                  <a:gd name="T41" fmla="*/ 13 h 20"/>
                  <a:gd name="T42" fmla="*/ 0 w 34"/>
                  <a:gd name="T43" fmla="*/ 13 h 20"/>
                  <a:gd name="T44" fmla="*/ 3 w 34"/>
                  <a:gd name="T45" fmla="*/ 13 h 20"/>
                  <a:gd name="T46" fmla="*/ 7 w 34"/>
                  <a:gd name="T47" fmla="*/ 13 h 20"/>
                  <a:gd name="T48" fmla="*/ 10 w 34"/>
                  <a:gd name="T49" fmla="*/ 13 h 20"/>
                  <a:gd name="T50" fmla="*/ 14 w 34"/>
                  <a:gd name="T51" fmla="*/ 13 h 20"/>
                  <a:gd name="T52" fmla="*/ 17 w 34"/>
                  <a:gd name="T53" fmla="*/ 13 h 20"/>
                  <a:gd name="T54" fmla="*/ 20 w 34"/>
                  <a:gd name="T55" fmla="*/ 13 h 20"/>
                  <a:gd name="T56" fmla="*/ 24 w 34"/>
                  <a:gd name="T57" fmla="*/ 13 h 20"/>
                  <a:gd name="T58" fmla="*/ 24 w 34"/>
                  <a:gd name="T59" fmla="*/ 10 h 20"/>
                  <a:gd name="T60" fmla="*/ 24 w 34"/>
                  <a:gd name="T61" fmla="*/ 10 h 20"/>
                  <a:gd name="T62" fmla="*/ 20 w 34"/>
                  <a:gd name="T63" fmla="*/ 6 h 20"/>
                  <a:gd name="T64" fmla="*/ 20 w 34"/>
                  <a:gd name="T65" fmla="*/ 3 h 20"/>
                  <a:gd name="T66" fmla="*/ 20 w 34"/>
                  <a:gd name="T67" fmla="*/ 0 h 20"/>
                  <a:gd name="T68" fmla="*/ 24 w 34"/>
                  <a:gd name="T69" fmla="*/ 0 h 20"/>
                  <a:gd name="T70" fmla="*/ 27 w 34"/>
                  <a:gd name="T71" fmla="*/ 0 h 20"/>
                  <a:gd name="T72" fmla="*/ 27 w 34"/>
                  <a:gd name="T73" fmla="*/ 3 h 20"/>
                  <a:gd name="T74" fmla="*/ 31 w 34"/>
                  <a:gd name="T75" fmla="*/ 3 h 20"/>
                  <a:gd name="T76" fmla="*/ 31 w 34"/>
                  <a:gd name="T77" fmla="*/ 6 h 20"/>
                  <a:gd name="T78" fmla="*/ 31 w 34"/>
                  <a:gd name="T79" fmla="*/ 10 h 20"/>
                  <a:gd name="T80" fmla="*/ 31 w 34"/>
                  <a:gd name="T81" fmla="*/ 10 h 20"/>
                  <a:gd name="T82" fmla="*/ 34 w 34"/>
                  <a:gd name="T83" fmla="*/ 13 h 20"/>
                  <a:gd name="T84" fmla="*/ 34 w 34"/>
                  <a:gd name="T85" fmla="*/ 13 h 2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4"/>
                  <a:gd name="T130" fmla="*/ 0 h 20"/>
                  <a:gd name="T131" fmla="*/ 34 w 34"/>
                  <a:gd name="T132" fmla="*/ 20 h 2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4" h="20">
                    <a:moveTo>
                      <a:pt x="34" y="13"/>
                    </a:moveTo>
                    <a:lnTo>
                      <a:pt x="34" y="13"/>
                    </a:lnTo>
                    <a:lnTo>
                      <a:pt x="31" y="13"/>
                    </a:lnTo>
                    <a:lnTo>
                      <a:pt x="31" y="17"/>
                    </a:lnTo>
                    <a:lnTo>
                      <a:pt x="27" y="20"/>
                    </a:lnTo>
                    <a:lnTo>
                      <a:pt x="24" y="20"/>
                    </a:lnTo>
                    <a:lnTo>
                      <a:pt x="20" y="20"/>
                    </a:lnTo>
                    <a:lnTo>
                      <a:pt x="17" y="20"/>
                    </a:lnTo>
                    <a:lnTo>
                      <a:pt x="14" y="20"/>
                    </a:lnTo>
                    <a:lnTo>
                      <a:pt x="10" y="20"/>
                    </a:lnTo>
                    <a:lnTo>
                      <a:pt x="7" y="20"/>
                    </a:lnTo>
                    <a:lnTo>
                      <a:pt x="3" y="17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3" y="13"/>
                    </a:lnTo>
                    <a:lnTo>
                      <a:pt x="7" y="13"/>
                    </a:lnTo>
                    <a:lnTo>
                      <a:pt x="10" y="13"/>
                    </a:lnTo>
                    <a:lnTo>
                      <a:pt x="14" y="13"/>
                    </a:lnTo>
                    <a:lnTo>
                      <a:pt x="17" y="13"/>
                    </a:lnTo>
                    <a:lnTo>
                      <a:pt x="20" y="13"/>
                    </a:lnTo>
                    <a:lnTo>
                      <a:pt x="24" y="13"/>
                    </a:lnTo>
                    <a:lnTo>
                      <a:pt x="24" y="10"/>
                    </a:lnTo>
                    <a:lnTo>
                      <a:pt x="20" y="6"/>
                    </a:lnTo>
                    <a:lnTo>
                      <a:pt x="20" y="3"/>
                    </a:lnTo>
                    <a:lnTo>
                      <a:pt x="20" y="0"/>
                    </a:lnTo>
                    <a:lnTo>
                      <a:pt x="24" y="0"/>
                    </a:lnTo>
                    <a:lnTo>
                      <a:pt x="27" y="0"/>
                    </a:lnTo>
                    <a:lnTo>
                      <a:pt x="27" y="3"/>
                    </a:lnTo>
                    <a:lnTo>
                      <a:pt x="31" y="3"/>
                    </a:lnTo>
                    <a:lnTo>
                      <a:pt x="31" y="6"/>
                    </a:lnTo>
                    <a:lnTo>
                      <a:pt x="31" y="10"/>
                    </a:lnTo>
                    <a:lnTo>
                      <a:pt x="34" y="1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2" name="Freeform 406"/>
              <p:cNvSpPr>
                <a:spLocks/>
              </p:cNvSpPr>
              <p:nvPr/>
            </p:nvSpPr>
            <p:spPr bwMode="auto">
              <a:xfrm>
                <a:off x="1943" y="1495"/>
                <a:ext cx="94" cy="97"/>
              </a:xfrm>
              <a:custGeom>
                <a:avLst/>
                <a:gdLst>
                  <a:gd name="T0" fmla="*/ 66 w 94"/>
                  <a:gd name="T1" fmla="*/ 7 h 97"/>
                  <a:gd name="T2" fmla="*/ 59 w 94"/>
                  <a:gd name="T3" fmla="*/ 7 h 97"/>
                  <a:gd name="T4" fmla="*/ 52 w 94"/>
                  <a:gd name="T5" fmla="*/ 7 h 97"/>
                  <a:gd name="T6" fmla="*/ 49 w 94"/>
                  <a:gd name="T7" fmla="*/ 10 h 97"/>
                  <a:gd name="T8" fmla="*/ 45 w 94"/>
                  <a:gd name="T9" fmla="*/ 17 h 97"/>
                  <a:gd name="T10" fmla="*/ 42 w 94"/>
                  <a:gd name="T11" fmla="*/ 24 h 97"/>
                  <a:gd name="T12" fmla="*/ 35 w 94"/>
                  <a:gd name="T13" fmla="*/ 31 h 97"/>
                  <a:gd name="T14" fmla="*/ 31 w 94"/>
                  <a:gd name="T15" fmla="*/ 38 h 97"/>
                  <a:gd name="T16" fmla="*/ 28 w 94"/>
                  <a:gd name="T17" fmla="*/ 45 h 97"/>
                  <a:gd name="T18" fmla="*/ 35 w 94"/>
                  <a:gd name="T19" fmla="*/ 48 h 97"/>
                  <a:gd name="T20" fmla="*/ 42 w 94"/>
                  <a:gd name="T21" fmla="*/ 52 h 97"/>
                  <a:gd name="T22" fmla="*/ 49 w 94"/>
                  <a:gd name="T23" fmla="*/ 55 h 97"/>
                  <a:gd name="T24" fmla="*/ 56 w 94"/>
                  <a:gd name="T25" fmla="*/ 52 h 97"/>
                  <a:gd name="T26" fmla="*/ 59 w 94"/>
                  <a:gd name="T27" fmla="*/ 52 h 97"/>
                  <a:gd name="T28" fmla="*/ 62 w 94"/>
                  <a:gd name="T29" fmla="*/ 52 h 97"/>
                  <a:gd name="T30" fmla="*/ 66 w 94"/>
                  <a:gd name="T31" fmla="*/ 48 h 97"/>
                  <a:gd name="T32" fmla="*/ 69 w 94"/>
                  <a:gd name="T33" fmla="*/ 52 h 97"/>
                  <a:gd name="T34" fmla="*/ 76 w 94"/>
                  <a:gd name="T35" fmla="*/ 62 h 97"/>
                  <a:gd name="T36" fmla="*/ 83 w 94"/>
                  <a:gd name="T37" fmla="*/ 72 h 97"/>
                  <a:gd name="T38" fmla="*/ 90 w 94"/>
                  <a:gd name="T39" fmla="*/ 83 h 97"/>
                  <a:gd name="T40" fmla="*/ 94 w 94"/>
                  <a:gd name="T41" fmla="*/ 93 h 97"/>
                  <a:gd name="T42" fmla="*/ 94 w 94"/>
                  <a:gd name="T43" fmla="*/ 97 h 97"/>
                  <a:gd name="T44" fmla="*/ 90 w 94"/>
                  <a:gd name="T45" fmla="*/ 97 h 97"/>
                  <a:gd name="T46" fmla="*/ 87 w 94"/>
                  <a:gd name="T47" fmla="*/ 93 h 97"/>
                  <a:gd name="T48" fmla="*/ 87 w 94"/>
                  <a:gd name="T49" fmla="*/ 90 h 97"/>
                  <a:gd name="T50" fmla="*/ 83 w 94"/>
                  <a:gd name="T51" fmla="*/ 86 h 97"/>
                  <a:gd name="T52" fmla="*/ 83 w 94"/>
                  <a:gd name="T53" fmla="*/ 86 h 97"/>
                  <a:gd name="T54" fmla="*/ 80 w 94"/>
                  <a:gd name="T55" fmla="*/ 76 h 97"/>
                  <a:gd name="T56" fmla="*/ 73 w 94"/>
                  <a:gd name="T57" fmla="*/ 69 h 97"/>
                  <a:gd name="T58" fmla="*/ 66 w 94"/>
                  <a:gd name="T59" fmla="*/ 62 h 97"/>
                  <a:gd name="T60" fmla="*/ 62 w 94"/>
                  <a:gd name="T61" fmla="*/ 55 h 97"/>
                  <a:gd name="T62" fmla="*/ 56 w 94"/>
                  <a:gd name="T63" fmla="*/ 59 h 97"/>
                  <a:gd name="T64" fmla="*/ 49 w 94"/>
                  <a:gd name="T65" fmla="*/ 66 h 97"/>
                  <a:gd name="T66" fmla="*/ 42 w 94"/>
                  <a:gd name="T67" fmla="*/ 72 h 97"/>
                  <a:gd name="T68" fmla="*/ 38 w 94"/>
                  <a:gd name="T69" fmla="*/ 79 h 97"/>
                  <a:gd name="T70" fmla="*/ 35 w 94"/>
                  <a:gd name="T71" fmla="*/ 72 h 97"/>
                  <a:gd name="T72" fmla="*/ 35 w 94"/>
                  <a:gd name="T73" fmla="*/ 69 h 97"/>
                  <a:gd name="T74" fmla="*/ 38 w 94"/>
                  <a:gd name="T75" fmla="*/ 66 h 97"/>
                  <a:gd name="T76" fmla="*/ 42 w 94"/>
                  <a:gd name="T77" fmla="*/ 62 h 97"/>
                  <a:gd name="T78" fmla="*/ 42 w 94"/>
                  <a:gd name="T79" fmla="*/ 59 h 97"/>
                  <a:gd name="T80" fmla="*/ 35 w 94"/>
                  <a:gd name="T81" fmla="*/ 55 h 97"/>
                  <a:gd name="T82" fmla="*/ 31 w 94"/>
                  <a:gd name="T83" fmla="*/ 55 h 97"/>
                  <a:gd name="T84" fmla="*/ 28 w 94"/>
                  <a:gd name="T85" fmla="*/ 52 h 97"/>
                  <a:gd name="T86" fmla="*/ 11 w 94"/>
                  <a:gd name="T87" fmla="*/ 76 h 97"/>
                  <a:gd name="T88" fmla="*/ 11 w 94"/>
                  <a:gd name="T89" fmla="*/ 79 h 97"/>
                  <a:gd name="T90" fmla="*/ 17 w 94"/>
                  <a:gd name="T91" fmla="*/ 83 h 97"/>
                  <a:gd name="T92" fmla="*/ 17 w 94"/>
                  <a:gd name="T93" fmla="*/ 86 h 97"/>
                  <a:gd name="T94" fmla="*/ 14 w 94"/>
                  <a:gd name="T95" fmla="*/ 90 h 97"/>
                  <a:gd name="T96" fmla="*/ 11 w 94"/>
                  <a:gd name="T97" fmla="*/ 86 h 97"/>
                  <a:gd name="T98" fmla="*/ 7 w 94"/>
                  <a:gd name="T99" fmla="*/ 83 h 97"/>
                  <a:gd name="T100" fmla="*/ 4 w 94"/>
                  <a:gd name="T101" fmla="*/ 83 h 97"/>
                  <a:gd name="T102" fmla="*/ 0 w 94"/>
                  <a:gd name="T103" fmla="*/ 79 h 97"/>
                  <a:gd name="T104" fmla="*/ 7 w 94"/>
                  <a:gd name="T105" fmla="*/ 62 h 97"/>
                  <a:gd name="T106" fmla="*/ 17 w 94"/>
                  <a:gd name="T107" fmla="*/ 45 h 97"/>
                  <a:gd name="T108" fmla="*/ 28 w 94"/>
                  <a:gd name="T109" fmla="*/ 31 h 97"/>
                  <a:gd name="T110" fmla="*/ 38 w 94"/>
                  <a:gd name="T111" fmla="*/ 14 h 97"/>
                  <a:gd name="T112" fmla="*/ 45 w 94"/>
                  <a:gd name="T113" fmla="*/ 3 h 97"/>
                  <a:gd name="T114" fmla="*/ 49 w 94"/>
                  <a:gd name="T115" fmla="*/ 3 h 97"/>
                  <a:gd name="T116" fmla="*/ 56 w 94"/>
                  <a:gd name="T117" fmla="*/ 3 h 97"/>
                  <a:gd name="T118" fmla="*/ 59 w 94"/>
                  <a:gd name="T119" fmla="*/ 0 h 97"/>
                  <a:gd name="T120" fmla="*/ 66 w 94"/>
                  <a:gd name="T121" fmla="*/ 3 h 9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94"/>
                  <a:gd name="T184" fmla="*/ 0 h 97"/>
                  <a:gd name="T185" fmla="*/ 94 w 94"/>
                  <a:gd name="T186" fmla="*/ 97 h 9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94" h="97">
                    <a:moveTo>
                      <a:pt x="66" y="3"/>
                    </a:moveTo>
                    <a:lnTo>
                      <a:pt x="66" y="7"/>
                    </a:lnTo>
                    <a:lnTo>
                      <a:pt x="62" y="7"/>
                    </a:lnTo>
                    <a:lnTo>
                      <a:pt x="59" y="7"/>
                    </a:lnTo>
                    <a:lnTo>
                      <a:pt x="56" y="7"/>
                    </a:lnTo>
                    <a:lnTo>
                      <a:pt x="52" y="7"/>
                    </a:lnTo>
                    <a:lnTo>
                      <a:pt x="49" y="10"/>
                    </a:lnTo>
                    <a:lnTo>
                      <a:pt x="45" y="14"/>
                    </a:lnTo>
                    <a:lnTo>
                      <a:pt x="45" y="17"/>
                    </a:lnTo>
                    <a:lnTo>
                      <a:pt x="42" y="21"/>
                    </a:lnTo>
                    <a:lnTo>
                      <a:pt x="42" y="24"/>
                    </a:lnTo>
                    <a:lnTo>
                      <a:pt x="38" y="27"/>
                    </a:lnTo>
                    <a:lnTo>
                      <a:pt x="35" y="31"/>
                    </a:lnTo>
                    <a:lnTo>
                      <a:pt x="35" y="34"/>
                    </a:lnTo>
                    <a:lnTo>
                      <a:pt x="31" y="38"/>
                    </a:lnTo>
                    <a:lnTo>
                      <a:pt x="28" y="41"/>
                    </a:lnTo>
                    <a:lnTo>
                      <a:pt x="28" y="45"/>
                    </a:lnTo>
                    <a:lnTo>
                      <a:pt x="31" y="45"/>
                    </a:lnTo>
                    <a:lnTo>
                      <a:pt x="35" y="48"/>
                    </a:lnTo>
                    <a:lnTo>
                      <a:pt x="38" y="52"/>
                    </a:lnTo>
                    <a:lnTo>
                      <a:pt x="42" y="52"/>
                    </a:lnTo>
                    <a:lnTo>
                      <a:pt x="45" y="55"/>
                    </a:lnTo>
                    <a:lnTo>
                      <a:pt x="49" y="55"/>
                    </a:lnTo>
                    <a:lnTo>
                      <a:pt x="52" y="55"/>
                    </a:lnTo>
                    <a:lnTo>
                      <a:pt x="56" y="52"/>
                    </a:lnTo>
                    <a:lnTo>
                      <a:pt x="59" y="52"/>
                    </a:lnTo>
                    <a:lnTo>
                      <a:pt x="62" y="52"/>
                    </a:lnTo>
                    <a:lnTo>
                      <a:pt x="62" y="48"/>
                    </a:lnTo>
                    <a:lnTo>
                      <a:pt x="66" y="48"/>
                    </a:lnTo>
                    <a:lnTo>
                      <a:pt x="66" y="52"/>
                    </a:lnTo>
                    <a:lnTo>
                      <a:pt x="69" y="52"/>
                    </a:lnTo>
                    <a:lnTo>
                      <a:pt x="73" y="55"/>
                    </a:lnTo>
                    <a:lnTo>
                      <a:pt x="76" y="62"/>
                    </a:lnTo>
                    <a:lnTo>
                      <a:pt x="80" y="66"/>
                    </a:lnTo>
                    <a:lnTo>
                      <a:pt x="83" y="72"/>
                    </a:lnTo>
                    <a:lnTo>
                      <a:pt x="87" y="76"/>
                    </a:lnTo>
                    <a:lnTo>
                      <a:pt x="90" y="83"/>
                    </a:lnTo>
                    <a:lnTo>
                      <a:pt x="90" y="86"/>
                    </a:lnTo>
                    <a:lnTo>
                      <a:pt x="94" y="93"/>
                    </a:lnTo>
                    <a:lnTo>
                      <a:pt x="94" y="97"/>
                    </a:lnTo>
                    <a:lnTo>
                      <a:pt x="90" y="97"/>
                    </a:lnTo>
                    <a:lnTo>
                      <a:pt x="87" y="93"/>
                    </a:lnTo>
                    <a:lnTo>
                      <a:pt x="87" y="90"/>
                    </a:lnTo>
                    <a:lnTo>
                      <a:pt x="83" y="90"/>
                    </a:lnTo>
                    <a:lnTo>
                      <a:pt x="83" y="86"/>
                    </a:lnTo>
                    <a:lnTo>
                      <a:pt x="80" y="79"/>
                    </a:lnTo>
                    <a:lnTo>
                      <a:pt x="80" y="76"/>
                    </a:lnTo>
                    <a:lnTo>
                      <a:pt x="76" y="72"/>
                    </a:lnTo>
                    <a:lnTo>
                      <a:pt x="73" y="69"/>
                    </a:lnTo>
                    <a:lnTo>
                      <a:pt x="69" y="66"/>
                    </a:lnTo>
                    <a:lnTo>
                      <a:pt x="66" y="62"/>
                    </a:lnTo>
                    <a:lnTo>
                      <a:pt x="62" y="59"/>
                    </a:lnTo>
                    <a:lnTo>
                      <a:pt x="62" y="55"/>
                    </a:lnTo>
                    <a:lnTo>
                      <a:pt x="59" y="59"/>
                    </a:lnTo>
                    <a:lnTo>
                      <a:pt x="56" y="59"/>
                    </a:lnTo>
                    <a:lnTo>
                      <a:pt x="52" y="62"/>
                    </a:lnTo>
                    <a:lnTo>
                      <a:pt x="49" y="66"/>
                    </a:lnTo>
                    <a:lnTo>
                      <a:pt x="45" y="69"/>
                    </a:lnTo>
                    <a:lnTo>
                      <a:pt x="42" y="72"/>
                    </a:lnTo>
                    <a:lnTo>
                      <a:pt x="42" y="76"/>
                    </a:lnTo>
                    <a:lnTo>
                      <a:pt x="38" y="79"/>
                    </a:lnTo>
                    <a:lnTo>
                      <a:pt x="31" y="76"/>
                    </a:lnTo>
                    <a:lnTo>
                      <a:pt x="35" y="72"/>
                    </a:lnTo>
                    <a:lnTo>
                      <a:pt x="35" y="69"/>
                    </a:lnTo>
                    <a:lnTo>
                      <a:pt x="38" y="69"/>
                    </a:lnTo>
                    <a:lnTo>
                      <a:pt x="38" y="66"/>
                    </a:lnTo>
                    <a:lnTo>
                      <a:pt x="42" y="62"/>
                    </a:lnTo>
                    <a:lnTo>
                      <a:pt x="42" y="59"/>
                    </a:lnTo>
                    <a:lnTo>
                      <a:pt x="38" y="59"/>
                    </a:lnTo>
                    <a:lnTo>
                      <a:pt x="35" y="55"/>
                    </a:lnTo>
                    <a:lnTo>
                      <a:pt x="31" y="55"/>
                    </a:lnTo>
                    <a:lnTo>
                      <a:pt x="28" y="52"/>
                    </a:lnTo>
                    <a:lnTo>
                      <a:pt x="24" y="48"/>
                    </a:lnTo>
                    <a:lnTo>
                      <a:pt x="11" y="76"/>
                    </a:lnTo>
                    <a:lnTo>
                      <a:pt x="11" y="79"/>
                    </a:lnTo>
                    <a:lnTo>
                      <a:pt x="14" y="83"/>
                    </a:lnTo>
                    <a:lnTo>
                      <a:pt x="17" y="83"/>
                    </a:lnTo>
                    <a:lnTo>
                      <a:pt x="17" y="86"/>
                    </a:lnTo>
                    <a:lnTo>
                      <a:pt x="14" y="90"/>
                    </a:lnTo>
                    <a:lnTo>
                      <a:pt x="11" y="86"/>
                    </a:lnTo>
                    <a:lnTo>
                      <a:pt x="7" y="86"/>
                    </a:lnTo>
                    <a:lnTo>
                      <a:pt x="7" y="83"/>
                    </a:lnTo>
                    <a:lnTo>
                      <a:pt x="4" y="83"/>
                    </a:lnTo>
                    <a:lnTo>
                      <a:pt x="4" y="79"/>
                    </a:lnTo>
                    <a:lnTo>
                      <a:pt x="0" y="79"/>
                    </a:lnTo>
                    <a:lnTo>
                      <a:pt x="4" y="69"/>
                    </a:lnTo>
                    <a:lnTo>
                      <a:pt x="7" y="62"/>
                    </a:lnTo>
                    <a:lnTo>
                      <a:pt x="14" y="52"/>
                    </a:lnTo>
                    <a:lnTo>
                      <a:pt x="17" y="45"/>
                    </a:lnTo>
                    <a:lnTo>
                      <a:pt x="21" y="38"/>
                    </a:lnTo>
                    <a:lnTo>
                      <a:pt x="28" y="31"/>
                    </a:lnTo>
                    <a:lnTo>
                      <a:pt x="31" y="21"/>
                    </a:lnTo>
                    <a:lnTo>
                      <a:pt x="38" y="14"/>
                    </a:lnTo>
                    <a:lnTo>
                      <a:pt x="42" y="7"/>
                    </a:lnTo>
                    <a:lnTo>
                      <a:pt x="45" y="3"/>
                    </a:lnTo>
                    <a:lnTo>
                      <a:pt x="49" y="3"/>
                    </a:lnTo>
                    <a:lnTo>
                      <a:pt x="52" y="3"/>
                    </a:lnTo>
                    <a:lnTo>
                      <a:pt x="56" y="3"/>
                    </a:lnTo>
                    <a:lnTo>
                      <a:pt x="56" y="0"/>
                    </a:lnTo>
                    <a:lnTo>
                      <a:pt x="59" y="0"/>
                    </a:lnTo>
                    <a:lnTo>
                      <a:pt x="62" y="3"/>
                    </a:lnTo>
                    <a:lnTo>
                      <a:pt x="66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3" name="Freeform 407"/>
              <p:cNvSpPr>
                <a:spLocks/>
              </p:cNvSpPr>
              <p:nvPr/>
            </p:nvSpPr>
            <p:spPr bwMode="auto">
              <a:xfrm>
                <a:off x="2126" y="1581"/>
                <a:ext cx="180" cy="7"/>
              </a:xfrm>
              <a:custGeom>
                <a:avLst/>
                <a:gdLst>
                  <a:gd name="T0" fmla="*/ 177 w 180"/>
                  <a:gd name="T1" fmla="*/ 0 h 7"/>
                  <a:gd name="T2" fmla="*/ 177 w 180"/>
                  <a:gd name="T3" fmla="*/ 4 h 7"/>
                  <a:gd name="T4" fmla="*/ 180 w 180"/>
                  <a:gd name="T5" fmla="*/ 4 h 7"/>
                  <a:gd name="T6" fmla="*/ 180 w 180"/>
                  <a:gd name="T7" fmla="*/ 7 h 7"/>
                  <a:gd name="T8" fmla="*/ 177 w 180"/>
                  <a:gd name="T9" fmla="*/ 7 h 7"/>
                  <a:gd name="T10" fmla="*/ 166 w 180"/>
                  <a:gd name="T11" fmla="*/ 7 h 7"/>
                  <a:gd name="T12" fmla="*/ 156 w 180"/>
                  <a:gd name="T13" fmla="*/ 7 h 7"/>
                  <a:gd name="T14" fmla="*/ 146 w 180"/>
                  <a:gd name="T15" fmla="*/ 7 h 7"/>
                  <a:gd name="T16" fmla="*/ 135 w 180"/>
                  <a:gd name="T17" fmla="*/ 7 h 7"/>
                  <a:gd name="T18" fmla="*/ 121 w 180"/>
                  <a:gd name="T19" fmla="*/ 7 h 7"/>
                  <a:gd name="T20" fmla="*/ 111 w 180"/>
                  <a:gd name="T21" fmla="*/ 7 h 7"/>
                  <a:gd name="T22" fmla="*/ 101 w 180"/>
                  <a:gd name="T23" fmla="*/ 7 h 7"/>
                  <a:gd name="T24" fmla="*/ 90 w 180"/>
                  <a:gd name="T25" fmla="*/ 7 h 7"/>
                  <a:gd name="T26" fmla="*/ 80 w 180"/>
                  <a:gd name="T27" fmla="*/ 7 h 7"/>
                  <a:gd name="T28" fmla="*/ 70 w 180"/>
                  <a:gd name="T29" fmla="*/ 7 h 7"/>
                  <a:gd name="T30" fmla="*/ 59 w 180"/>
                  <a:gd name="T31" fmla="*/ 7 h 7"/>
                  <a:gd name="T32" fmla="*/ 49 w 180"/>
                  <a:gd name="T33" fmla="*/ 7 h 7"/>
                  <a:gd name="T34" fmla="*/ 38 w 180"/>
                  <a:gd name="T35" fmla="*/ 7 h 7"/>
                  <a:gd name="T36" fmla="*/ 25 w 180"/>
                  <a:gd name="T37" fmla="*/ 7 h 7"/>
                  <a:gd name="T38" fmla="*/ 14 w 180"/>
                  <a:gd name="T39" fmla="*/ 7 h 7"/>
                  <a:gd name="T40" fmla="*/ 4 w 180"/>
                  <a:gd name="T41" fmla="*/ 7 h 7"/>
                  <a:gd name="T42" fmla="*/ 0 w 180"/>
                  <a:gd name="T43" fmla="*/ 4 h 7"/>
                  <a:gd name="T44" fmla="*/ 0 w 180"/>
                  <a:gd name="T45" fmla="*/ 4 h 7"/>
                  <a:gd name="T46" fmla="*/ 0 w 180"/>
                  <a:gd name="T47" fmla="*/ 0 h 7"/>
                  <a:gd name="T48" fmla="*/ 4 w 180"/>
                  <a:gd name="T49" fmla="*/ 0 h 7"/>
                  <a:gd name="T50" fmla="*/ 7 w 180"/>
                  <a:gd name="T51" fmla="*/ 0 h 7"/>
                  <a:gd name="T52" fmla="*/ 14 w 180"/>
                  <a:gd name="T53" fmla="*/ 0 h 7"/>
                  <a:gd name="T54" fmla="*/ 21 w 180"/>
                  <a:gd name="T55" fmla="*/ 0 h 7"/>
                  <a:gd name="T56" fmla="*/ 28 w 180"/>
                  <a:gd name="T57" fmla="*/ 0 h 7"/>
                  <a:gd name="T58" fmla="*/ 35 w 180"/>
                  <a:gd name="T59" fmla="*/ 0 h 7"/>
                  <a:gd name="T60" fmla="*/ 42 w 180"/>
                  <a:gd name="T61" fmla="*/ 0 h 7"/>
                  <a:gd name="T62" fmla="*/ 49 w 180"/>
                  <a:gd name="T63" fmla="*/ 0 h 7"/>
                  <a:gd name="T64" fmla="*/ 56 w 180"/>
                  <a:gd name="T65" fmla="*/ 0 h 7"/>
                  <a:gd name="T66" fmla="*/ 63 w 180"/>
                  <a:gd name="T67" fmla="*/ 0 h 7"/>
                  <a:gd name="T68" fmla="*/ 70 w 180"/>
                  <a:gd name="T69" fmla="*/ 0 h 7"/>
                  <a:gd name="T70" fmla="*/ 76 w 180"/>
                  <a:gd name="T71" fmla="*/ 0 h 7"/>
                  <a:gd name="T72" fmla="*/ 80 w 180"/>
                  <a:gd name="T73" fmla="*/ 0 h 7"/>
                  <a:gd name="T74" fmla="*/ 87 w 180"/>
                  <a:gd name="T75" fmla="*/ 0 h 7"/>
                  <a:gd name="T76" fmla="*/ 94 w 180"/>
                  <a:gd name="T77" fmla="*/ 0 h 7"/>
                  <a:gd name="T78" fmla="*/ 101 w 180"/>
                  <a:gd name="T79" fmla="*/ 0 h 7"/>
                  <a:gd name="T80" fmla="*/ 108 w 180"/>
                  <a:gd name="T81" fmla="*/ 0 h 7"/>
                  <a:gd name="T82" fmla="*/ 111 w 180"/>
                  <a:gd name="T83" fmla="*/ 0 h 7"/>
                  <a:gd name="T84" fmla="*/ 118 w 180"/>
                  <a:gd name="T85" fmla="*/ 0 h 7"/>
                  <a:gd name="T86" fmla="*/ 121 w 180"/>
                  <a:gd name="T87" fmla="*/ 0 h 7"/>
                  <a:gd name="T88" fmla="*/ 125 w 180"/>
                  <a:gd name="T89" fmla="*/ 0 h 7"/>
                  <a:gd name="T90" fmla="*/ 128 w 180"/>
                  <a:gd name="T91" fmla="*/ 0 h 7"/>
                  <a:gd name="T92" fmla="*/ 135 w 180"/>
                  <a:gd name="T93" fmla="*/ 0 h 7"/>
                  <a:gd name="T94" fmla="*/ 139 w 180"/>
                  <a:gd name="T95" fmla="*/ 0 h 7"/>
                  <a:gd name="T96" fmla="*/ 142 w 180"/>
                  <a:gd name="T97" fmla="*/ 0 h 7"/>
                  <a:gd name="T98" fmla="*/ 146 w 180"/>
                  <a:gd name="T99" fmla="*/ 0 h 7"/>
                  <a:gd name="T100" fmla="*/ 149 w 180"/>
                  <a:gd name="T101" fmla="*/ 0 h 7"/>
                  <a:gd name="T102" fmla="*/ 156 w 180"/>
                  <a:gd name="T103" fmla="*/ 0 h 7"/>
                  <a:gd name="T104" fmla="*/ 159 w 180"/>
                  <a:gd name="T105" fmla="*/ 0 h 7"/>
                  <a:gd name="T106" fmla="*/ 163 w 180"/>
                  <a:gd name="T107" fmla="*/ 0 h 7"/>
                  <a:gd name="T108" fmla="*/ 166 w 180"/>
                  <a:gd name="T109" fmla="*/ 0 h 7"/>
                  <a:gd name="T110" fmla="*/ 173 w 180"/>
                  <a:gd name="T111" fmla="*/ 0 h 7"/>
                  <a:gd name="T112" fmla="*/ 177 w 180"/>
                  <a:gd name="T113" fmla="*/ 0 h 7"/>
                  <a:gd name="T114" fmla="*/ 177 w 180"/>
                  <a:gd name="T115" fmla="*/ 0 h 7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80"/>
                  <a:gd name="T175" fmla="*/ 0 h 7"/>
                  <a:gd name="T176" fmla="*/ 180 w 180"/>
                  <a:gd name="T177" fmla="*/ 7 h 7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80" h="7">
                    <a:moveTo>
                      <a:pt x="177" y="0"/>
                    </a:moveTo>
                    <a:lnTo>
                      <a:pt x="177" y="4"/>
                    </a:lnTo>
                    <a:lnTo>
                      <a:pt x="180" y="4"/>
                    </a:lnTo>
                    <a:lnTo>
                      <a:pt x="180" y="7"/>
                    </a:lnTo>
                    <a:lnTo>
                      <a:pt x="177" y="7"/>
                    </a:lnTo>
                    <a:lnTo>
                      <a:pt x="166" y="7"/>
                    </a:lnTo>
                    <a:lnTo>
                      <a:pt x="156" y="7"/>
                    </a:lnTo>
                    <a:lnTo>
                      <a:pt x="146" y="7"/>
                    </a:lnTo>
                    <a:lnTo>
                      <a:pt x="135" y="7"/>
                    </a:lnTo>
                    <a:lnTo>
                      <a:pt x="121" y="7"/>
                    </a:lnTo>
                    <a:lnTo>
                      <a:pt x="111" y="7"/>
                    </a:lnTo>
                    <a:lnTo>
                      <a:pt x="101" y="7"/>
                    </a:lnTo>
                    <a:lnTo>
                      <a:pt x="90" y="7"/>
                    </a:lnTo>
                    <a:lnTo>
                      <a:pt x="80" y="7"/>
                    </a:lnTo>
                    <a:lnTo>
                      <a:pt x="70" y="7"/>
                    </a:lnTo>
                    <a:lnTo>
                      <a:pt x="59" y="7"/>
                    </a:lnTo>
                    <a:lnTo>
                      <a:pt x="49" y="7"/>
                    </a:lnTo>
                    <a:lnTo>
                      <a:pt x="38" y="7"/>
                    </a:lnTo>
                    <a:lnTo>
                      <a:pt x="25" y="7"/>
                    </a:lnTo>
                    <a:lnTo>
                      <a:pt x="14" y="7"/>
                    </a:lnTo>
                    <a:lnTo>
                      <a:pt x="4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21" y="0"/>
                    </a:lnTo>
                    <a:lnTo>
                      <a:pt x="28" y="0"/>
                    </a:lnTo>
                    <a:lnTo>
                      <a:pt x="35" y="0"/>
                    </a:lnTo>
                    <a:lnTo>
                      <a:pt x="42" y="0"/>
                    </a:lnTo>
                    <a:lnTo>
                      <a:pt x="49" y="0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70" y="0"/>
                    </a:lnTo>
                    <a:lnTo>
                      <a:pt x="76" y="0"/>
                    </a:lnTo>
                    <a:lnTo>
                      <a:pt x="80" y="0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101" y="0"/>
                    </a:lnTo>
                    <a:lnTo>
                      <a:pt x="108" y="0"/>
                    </a:lnTo>
                    <a:lnTo>
                      <a:pt x="111" y="0"/>
                    </a:lnTo>
                    <a:lnTo>
                      <a:pt x="118" y="0"/>
                    </a:lnTo>
                    <a:lnTo>
                      <a:pt x="121" y="0"/>
                    </a:lnTo>
                    <a:lnTo>
                      <a:pt x="125" y="0"/>
                    </a:lnTo>
                    <a:lnTo>
                      <a:pt x="128" y="0"/>
                    </a:lnTo>
                    <a:lnTo>
                      <a:pt x="135" y="0"/>
                    </a:lnTo>
                    <a:lnTo>
                      <a:pt x="139" y="0"/>
                    </a:lnTo>
                    <a:lnTo>
                      <a:pt x="142" y="0"/>
                    </a:lnTo>
                    <a:lnTo>
                      <a:pt x="146" y="0"/>
                    </a:lnTo>
                    <a:lnTo>
                      <a:pt x="149" y="0"/>
                    </a:lnTo>
                    <a:lnTo>
                      <a:pt x="156" y="0"/>
                    </a:lnTo>
                    <a:lnTo>
                      <a:pt x="159" y="0"/>
                    </a:lnTo>
                    <a:lnTo>
                      <a:pt x="163" y="0"/>
                    </a:lnTo>
                    <a:lnTo>
                      <a:pt x="166" y="0"/>
                    </a:lnTo>
                    <a:lnTo>
                      <a:pt x="173" y="0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4" name="Freeform 408"/>
              <p:cNvSpPr>
                <a:spLocks/>
              </p:cNvSpPr>
              <p:nvPr/>
            </p:nvSpPr>
            <p:spPr bwMode="auto">
              <a:xfrm>
                <a:off x="1912" y="1588"/>
                <a:ext cx="73" cy="49"/>
              </a:xfrm>
              <a:custGeom>
                <a:avLst/>
                <a:gdLst>
                  <a:gd name="T0" fmla="*/ 48 w 73"/>
                  <a:gd name="T1" fmla="*/ 0 h 49"/>
                  <a:gd name="T2" fmla="*/ 48 w 73"/>
                  <a:gd name="T3" fmla="*/ 4 h 49"/>
                  <a:gd name="T4" fmla="*/ 52 w 73"/>
                  <a:gd name="T5" fmla="*/ 4 h 49"/>
                  <a:gd name="T6" fmla="*/ 59 w 73"/>
                  <a:gd name="T7" fmla="*/ 4 h 49"/>
                  <a:gd name="T8" fmla="*/ 62 w 73"/>
                  <a:gd name="T9" fmla="*/ 0 h 49"/>
                  <a:gd name="T10" fmla="*/ 69 w 73"/>
                  <a:gd name="T11" fmla="*/ 0 h 49"/>
                  <a:gd name="T12" fmla="*/ 69 w 73"/>
                  <a:gd name="T13" fmla="*/ 4 h 49"/>
                  <a:gd name="T14" fmla="*/ 69 w 73"/>
                  <a:gd name="T15" fmla="*/ 4 h 49"/>
                  <a:gd name="T16" fmla="*/ 62 w 73"/>
                  <a:gd name="T17" fmla="*/ 7 h 49"/>
                  <a:gd name="T18" fmla="*/ 55 w 73"/>
                  <a:gd name="T19" fmla="*/ 7 h 49"/>
                  <a:gd name="T20" fmla="*/ 48 w 73"/>
                  <a:gd name="T21" fmla="*/ 11 h 49"/>
                  <a:gd name="T22" fmla="*/ 45 w 73"/>
                  <a:gd name="T23" fmla="*/ 17 h 49"/>
                  <a:gd name="T24" fmla="*/ 48 w 73"/>
                  <a:gd name="T25" fmla="*/ 28 h 49"/>
                  <a:gd name="T26" fmla="*/ 48 w 73"/>
                  <a:gd name="T27" fmla="*/ 35 h 49"/>
                  <a:gd name="T28" fmla="*/ 52 w 73"/>
                  <a:gd name="T29" fmla="*/ 42 h 49"/>
                  <a:gd name="T30" fmla="*/ 55 w 73"/>
                  <a:gd name="T31" fmla="*/ 49 h 49"/>
                  <a:gd name="T32" fmla="*/ 52 w 73"/>
                  <a:gd name="T33" fmla="*/ 49 h 49"/>
                  <a:gd name="T34" fmla="*/ 48 w 73"/>
                  <a:gd name="T35" fmla="*/ 45 h 49"/>
                  <a:gd name="T36" fmla="*/ 45 w 73"/>
                  <a:gd name="T37" fmla="*/ 38 h 49"/>
                  <a:gd name="T38" fmla="*/ 42 w 73"/>
                  <a:gd name="T39" fmla="*/ 31 h 49"/>
                  <a:gd name="T40" fmla="*/ 38 w 73"/>
                  <a:gd name="T41" fmla="*/ 21 h 49"/>
                  <a:gd name="T42" fmla="*/ 38 w 73"/>
                  <a:gd name="T43" fmla="*/ 14 h 49"/>
                  <a:gd name="T44" fmla="*/ 42 w 73"/>
                  <a:gd name="T45" fmla="*/ 11 h 49"/>
                  <a:gd name="T46" fmla="*/ 42 w 73"/>
                  <a:gd name="T47" fmla="*/ 7 h 49"/>
                  <a:gd name="T48" fmla="*/ 31 w 73"/>
                  <a:gd name="T49" fmla="*/ 11 h 49"/>
                  <a:gd name="T50" fmla="*/ 24 w 73"/>
                  <a:gd name="T51" fmla="*/ 17 h 49"/>
                  <a:gd name="T52" fmla="*/ 17 w 73"/>
                  <a:gd name="T53" fmla="*/ 28 h 49"/>
                  <a:gd name="T54" fmla="*/ 10 w 73"/>
                  <a:gd name="T55" fmla="*/ 35 h 49"/>
                  <a:gd name="T56" fmla="*/ 10 w 73"/>
                  <a:gd name="T57" fmla="*/ 38 h 49"/>
                  <a:gd name="T58" fmla="*/ 4 w 73"/>
                  <a:gd name="T59" fmla="*/ 42 h 49"/>
                  <a:gd name="T60" fmla="*/ 0 w 73"/>
                  <a:gd name="T61" fmla="*/ 38 h 49"/>
                  <a:gd name="T62" fmla="*/ 0 w 73"/>
                  <a:gd name="T63" fmla="*/ 38 h 49"/>
                  <a:gd name="T64" fmla="*/ 4 w 73"/>
                  <a:gd name="T65" fmla="*/ 31 h 49"/>
                  <a:gd name="T66" fmla="*/ 10 w 73"/>
                  <a:gd name="T67" fmla="*/ 24 h 49"/>
                  <a:gd name="T68" fmla="*/ 14 w 73"/>
                  <a:gd name="T69" fmla="*/ 17 h 49"/>
                  <a:gd name="T70" fmla="*/ 21 w 73"/>
                  <a:gd name="T71" fmla="*/ 11 h 49"/>
                  <a:gd name="T72" fmla="*/ 24 w 73"/>
                  <a:gd name="T73" fmla="*/ 7 h 49"/>
                  <a:gd name="T74" fmla="*/ 31 w 73"/>
                  <a:gd name="T75" fmla="*/ 0 h 49"/>
                  <a:gd name="T76" fmla="*/ 38 w 73"/>
                  <a:gd name="T77" fmla="*/ 0 h 49"/>
                  <a:gd name="T78" fmla="*/ 48 w 73"/>
                  <a:gd name="T79" fmla="*/ 0 h 4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73"/>
                  <a:gd name="T121" fmla="*/ 0 h 49"/>
                  <a:gd name="T122" fmla="*/ 73 w 73"/>
                  <a:gd name="T123" fmla="*/ 49 h 4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73" h="49">
                    <a:moveTo>
                      <a:pt x="48" y="0"/>
                    </a:moveTo>
                    <a:lnTo>
                      <a:pt x="48" y="0"/>
                    </a:lnTo>
                    <a:lnTo>
                      <a:pt x="48" y="4"/>
                    </a:lnTo>
                    <a:lnTo>
                      <a:pt x="52" y="4"/>
                    </a:lnTo>
                    <a:lnTo>
                      <a:pt x="55" y="4"/>
                    </a:lnTo>
                    <a:lnTo>
                      <a:pt x="59" y="4"/>
                    </a:lnTo>
                    <a:lnTo>
                      <a:pt x="62" y="4"/>
                    </a:lnTo>
                    <a:lnTo>
                      <a:pt x="62" y="0"/>
                    </a:lnTo>
                    <a:lnTo>
                      <a:pt x="66" y="0"/>
                    </a:lnTo>
                    <a:lnTo>
                      <a:pt x="69" y="0"/>
                    </a:lnTo>
                    <a:lnTo>
                      <a:pt x="69" y="4"/>
                    </a:lnTo>
                    <a:lnTo>
                      <a:pt x="73" y="4"/>
                    </a:lnTo>
                    <a:lnTo>
                      <a:pt x="69" y="4"/>
                    </a:lnTo>
                    <a:lnTo>
                      <a:pt x="66" y="7"/>
                    </a:lnTo>
                    <a:lnTo>
                      <a:pt x="62" y="7"/>
                    </a:lnTo>
                    <a:lnTo>
                      <a:pt x="59" y="7"/>
                    </a:lnTo>
                    <a:lnTo>
                      <a:pt x="55" y="7"/>
                    </a:lnTo>
                    <a:lnTo>
                      <a:pt x="52" y="11"/>
                    </a:lnTo>
                    <a:lnTo>
                      <a:pt x="48" y="11"/>
                    </a:lnTo>
                    <a:lnTo>
                      <a:pt x="45" y="14"/>
                    </a:lnTo>
                    <a:lnTo>
                      <a:pt x="45" y="17"/>
                    </a:lnTo>
                    <a:lnTo>
                      <a:pt x="45" y="21"/>
                    </a:lnTo>
                    <a:lnTo>
                      <a:pt x="48" y="28"/>
                    </a:lnTo>
                    <a:lnTo>
                      <a:pt x="48" y="31"/>
                    </a:lnTo>
                    <a:lnTo>
                      <a:pt x="48" y="35"/>
                    </a:lnTo>
                    <a:lnTo>
                      <a:pt x="52" y="38"/>
                    </a:lnTo>
                    <a:lnTo>
                      <a:pt x="52" y="42"/>
                    </a:lnTo>
                    <a:lnTo>
                      <a:pt x="55" y="45"/>
                    </a:lnTo>
                    <a:lnTo>
                      <a:pt x="55" y="49"/>
                    </a:lnTo>
                    <a:lnTo>
                      <a:pt x="52" y="49"/>
                    </a:lnTo>
                    <a:lnTo>
                      <a:pt x="48" y="45"/>
                    </a:lnTo>
                    <a:lnTo>
                      <a:pt x="45" y="42"/>
                    </a:lnTo>
                    <a:lnTo>
                      <a:pt x="45" y="38"/>
                    </a:lnTo>
                    <a:lnTo>
                      <a:pt x="42" y="35"/>
                    </a:lnTo>
                    <a:lnTo>
                      <a:pt x="42" y="31"/>
                    </a:lnTo>
                    <a:lnTo>
                      <a:pt x="42" y="24"/>
                    </a:lnTo>
                    <a:lnTo>
                      <a:pt x="38" y="21"/>
                    </a:lnTo>
                    <a:lnTo>
                      <a:pt x="38" y="17"/>
                    </a:lnTo>
                    <a:lnTo>
                      <a:pt x="38" y="14"/>
                    </a:lnTo>
                    <a:lnTo>
                      <a:pt x="38" y="11"/>
                    </a:lnTo>
                    <a:lnTo>
                      <a:pt x="42" y="11"/>
                    </a:lnTo>
                    <a:lnTo>
                      <a:pt x="45" y="7"/>
                    </a:lnTo>
                    <a:lnTo>
                      <a:pt x="42" y="7"/>
                    </a:lnTo>
                    <a:lnTo>
                      <a:pt x="35" y="7"/>
                    </a:lnTo>
                    <a:lnTo>
                      <a:pt x="31" y="11"/>
                    </a:lnTo>
                    <a:lnTo>
                      <a:pt x="28" y="14"/>
                    </a:lnTo>
                    <a:lnTo>
                      <a:pt x="24" y="17"/>
                    </a:lnTo>
                    <a:lnTo>
                      <a:pt x="21" y="21"/>
                    </a:lnTo>
                    <a:lnTo>
                      <a:pt x="17" y="28"/>
                    </a:lnTo>
                    <a:lnTo>
                      <a:pt x="14" y="31"/>
                    </a:lnTo>
                    <a:lnTo>
                      <a:pt x="10" y="35"/>
                    </a:lnTo>
                    <a:lnTo>
                      <a:pt x="10" y="38"/>
                    </a:lnTo>
                    <a:lnTo>
                      <a:pt x="7" y="38"/>
                    </a:lnTo>
                    <a:lnTo>
                      <a:pt x="4" y="42"/>
                    </a:lnTo>
                    <a:lnTo>
                      <a:pt x="0" y="38"/>
                    </a:lnTo>
                    <a:lnTo>
                      <a:pt x="4" y="35"/>
                    </a:lnTo>
                    <a:lnTo>
                      <a:pt x="4" y="31"/>
                    </a:lnTo>
                    <a:lnTo>
                      <a:pt x="7" y="28"/>
                    </a:lnTo>
                    <a:lnTo>
                      <a:pt x="10" y="24"/>
                    </a:lnTo>
                    <a:lnTo>
                      <a:pt x="10" y="21"/>
                    </a:lnTo>
                    <a:lnTo>
                      <a:pt x="14" y="17"/>
                    </a:lnTo>
                    <a:lnTo>
                      <a:pt x="17" y="14"/>
                    </a:lnTo>
                    <a:lnTo>
                      <a:pt x="21" y="11"/>
                    </a:lnTo>
                    <a:lnTo>
                      <a:pt x="21" y="7"/>
                    </a:lnTo>
                    <a:lnTo>
                      <a:pt x="24" y="7"/>
                    </a:lnTo>
                    <a:lnTo>
                      <a:pt x="28" y="4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5" y="0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5" name="Freeform 409"/>
              <p:cNvSpPr>
                <a:spLocks/>
              </p:cNvSpPr>
              <p:nvPr/>
            </p:nvSpPr>
            <p:spPr bwMode="auto">
              <a:xfrm>
                <a:off x="1964" y="1588"/>
                <a:ext cx="73" cy="59"/>
              </a:xfrm>
              <a:custGeom>
                <a:avLst/>
                <a:gdLst>
                  <a:gd name="T0" fmla="*/ 66 w 73"/>
                  <a:gd name="T1" fmla="*/ 24 h 59"/>
                  <a:gd name="T2" fmla="*/ 62 w 73"/>
                  <a:gd name="T3" fmla="*/ 28 h 59"/>
                  <a:gd name="T4" fmla="*/ 59 w 73"/>
                  <a:gd name="T5" fmla="*/ 31 h 59"/>
                  <a:gd name="T6" fmla="*/ 62 w 73"/>
                  <a:gd name="T7" fmla="*/ 35 h 59"/>
                  <a:gd name="T8" fmla="*/ 66 w 73"/>
                  <a:gd name="T9" fmla="*/ 35 h 59"/>
                  <a:gd name="T10" fmla="*/ 69 w 73"/>
                  <a:gd name="T11" fmla="*/ 42 h 59"/>
                  <a:gd name="T12" fmla="*/ 73 w 73"/>
                  <a:gd name="T13" fmla="*/ 49 h 59"/>
                  <a:gd name="T14" fmla="*/ 69 w 73"/>
                  <a:gd name="T15" fmla="*/ 52 h 59"/>
                  <a:gd name="T16" fmla="*/ 66 w 73"/>
                  <a:gd name="T17" fmla="*/ 49 h 59"/>
                  <a:gd name="T18" fmla="*/ 62 w 73"/>
                  <a:gd name="T19" fmla="*/ 42 h 59"/>
                  <a:gd name="T20" fmla="*/ 59 w 73"/>
                  <a:gd name="T21" fmla="*/ 35 h 59"/>
                  <a:gd name="T22" fmla="*/ 55 w 73"/>
                  <a:gd name="T23" fmla="*/ 35 h 59"/>
                  <a:gd name="T24" fmla="*/ 52 w 73"/>
                  <a:gd name="T25" fmla="*/ 38 h 59"/>
                  <a:gd name="T26" fmla="*/ 48 w 73"/>
                  <a:gd name="T27" fmla="*/ 45 h 59"/>
                  <a:gd name="T28" fmla="*/ 41 w 73"/>
                  <a:gd name="T29" fmla="*/ 42 h 59"/>
                  <a:gd name="T30" fmla="*/ 35 w 73"/>
                  <a:gd name="T31" fmla="*/ 38 h 59"/>
                  <a:gd name="T32" fmla="*/ 31 w 73"/>
                  <a:gd name="T33" fmla="*/ 35 h 59"/>
                  <a:gd name="T34" fmla="*/ 31 w 73"/>
                  <a:gd name="T35" fmla="*/ 24 h 59"/>
                  <a:gd name="T36" fmla="*/ 28 w 73"/>
                  <a:gd name="T37" fmla="*/ 17 h 59"/>
                  <a:gd name="T38" fmla="*/ 21 w 73"/>
                  <a:gd name="T39" fmla="*/ 17 h 59"/>
                  <a:gd name="T40" fmla="*/ 17 w 73"/>
                  <a:gd name="T41" fmla="*/ 17 h 59"/>
                  <a:gd name="T42" fmla="*/ 14 w 73"/>
                  <a:gd name="T43" fmla="*/ 17 h 59"/>
                  <a:gd name="T44" fmla="*/ 10 w 73"/>
                  <a:gd name="T45" fmla="*/ 28 h 59"/>
                  <a:gd name="T46" fmla="*/ 14 w 73"/>
                  <a:gd name="T47" fmla="*/ 38 h 59"/>
                  <a:gd name="T48" fmla="*/ 17 w 73"/>
                  <a:gd name="T49" fmla="*/ 49 h 59"/>
                  <a:gd name="T50" fmla="*/ 21 w 73"/>
                  <a:gd name="T51" fmla="*/ 52 h 59"/>
                  <a:gd name="T52" fmla="*/ 17 w 73"/>
                  <a:gd name="T53" fmla="*/ 55 h 59"/>
                  <a:gd name="T54" fmla="*/ 0 w 73"/>
                  <a:gd name="T55" fmla="*/ 24 h 59"/>
                  <a:gd name="T56" fmla="*/ 0 w 73"/>
                  <a:gd name="T57" fmla="*/ 17 h 59"/>
                  <a:gd name="T58" fmla="*/ 10 w 73"/>
                  <a:gd name="T59" fmla="*/ 11 h 59"/>
                  <a:gd name="T60" fmla="*/ 21 w 73"/>
                  <a:gd name="T61" fmla="*/ 11 h 59"/>
                  <a:gd name="T62" fmla="*/ 31 w 73"/>
                  <a:gd name="T63" fmla="*/ 14 h 59"/>
                  <a:gd name="T64" fmla="*/ 38 w 73"/>
                  <a:gd name="T65" fmla="*/ 21 h 59"/>
                  <a:gd name="T66" fmla="*/ 38 w 73"/>
                  <a:gd name="T67" fmla="*/ 28 h 59"/>
                  <a:gd name="T68" fmla="*/ 45 w 73"/>
                  <a:gd name="T69" fmla="*/ 38 h 59"/>
                  <a:gd name="T70" fmla="*/ 52 w 73"/>
                  <a:gd name="T71" fmla="*/ 31 h 59"/>
                  <a:gd name="T72" fmla="*/ 55 w 73"/>
                  <a:gd name="T73" fmla="*/ 24 h 59"/>
                  <a:gd name="T74" fmla="*/ 59 w 73"/>
                  <a:gd name="T75" fmla="*/ 21 h 59"/>
                  <a:gd name="T76" fmla="*/ 55 w 73"/>
                  <a:gd name="T77" fmla="*/ 14 h 59"/>
                  <a:gd name="T78" fmla="*/ 52 w 73"/>
                  <a:gd name="T79" fmla="*/ 7 h 59"/>
                  <a:gd name="T80" fmla="*/ 45 w 73"/>
                  <a:gd name="T81" fmla="*/ 7 h 59"/>
                  <a:gd name="T82" fmla="*/ 38 w 73"/>
                  <a:gd name="T83" fmla="*/ 7 h 59"/>
                  <a:gd name="T84" fmla="*/ 31 w 73"/>
                  <a:gd name="T85" fmla="*/ 4 h 59"/>
                  <a:gd name="T86" fmla="*/ 31 w 73"/>
                  <a:gd name="T87" fmla="*/ 0 h 59"/>
                  <a:gd name="T88" fmla="*/ 45 w 73"/>
                  <a:gd name="T89" fmla="*/ 0 h 59"/>
                  <a:gd name="T90" fmla="*/ 59 w 73"/>
                  <a:gd name="T91" fmla="*/ 4 h 59"/>
                  <a:gd name="T92" fmla="*/ 66 w 73"/>
                  <a:gd name="T93" fmla="*/ 14 h 5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73"/>
                  <a:gd name="T142" fmla="*/ 0 h 59"/>
                  <a:gd name="T143" fmla="*/ 73 w 73"/>
                  <a:gd name="T144" fmla="*/ 59 h 5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73" h="59">
                    <a:moveTo>
                      <a:pt x="66" y="14"/>
                    </a:moveTo>
                    <a:lnTo>
                      <a:pt x="69" y="21"/>
                    </a:lnTo>
                    <a:lnTo>
                      <a:pt x="66" y="24"/>
                    </a:lnTo>
                    <a:lnTo>
                      <a:pt x="62" y="24"/>
                    </a:lnTo>
                    <a:lnTo>
                      <a:pt x="62" y="28"/>
                    </a:lnTo>
                    <a:lnTo>
                      <a:pt x="59" y="28"/>
                    </a:lnTo>
                    <a:lnTo>
                      <a:pt x="59" y="31"/>
                    </a:lnTo>
                    <a:lnTo>
                      <a:pt x="62" y="35"/>
                    </a:lnTo>
                    <a:lnTo>
                      <a:pt x="62" y="31"/>
                    </a:lnTo>
                    <a:lnTo>
                      <a:pt x="66" y="35"/>
                    </a:lnTo>
                    <a:lnTo>
                      <a:pt x="69" y="38"/>
                    </a:lnTo>
                    <a:lnTo>
                      <a:pt x="69" y="42"/>
                    </a:lnTo>
                    <a:lnTo>
                      <a:pt x="69" y="45"/>
                    </a:lnTo>
                    <a:lnTo>
                      <a:pt x="73" y="49"/>
                    </a:lnTo>
                    <a:lnTo>
                      <a:pt x="73" y="52"/>
                    </a:lnTo>
                    <a:lnTo>
                      <a:pt x="69" y="52"/>
                    </a:lnTo>
                    <a:lnTo>
                      <a:pt x="66" y="52"/>
                    </a:lnTo>
                    <a:lnTo>
                      <a:pt x="66" y="49"/>
                    </a:lnTo>
                    <a:lnTo>
                      <a:pt x="62" y="45"/>
                    </a:lnTo>
                    <a:lnTo>
                      <a:pt x="62" y="42"/>
                    </a:lnTo>
                    <a:lnTo>
                      <a:pt x="59" y="42"/>
                    </a:lnTo>
                    <a:lnTo>
                      <a:pt x="59" y="38"/>
                    </a:lnTo>
                    <a:lnTo>
                      <a:pt x="59" y="35"/>
                    </a:lnTo>
                    <a:lnTo>
                      <a:pt x="59" y="31"/>
                    </a:lnTo>
                    <a:lnTo>
                      <a:pt x="55" y="35"/>
                    </a:lnTo>
                    <a:lnTo>
                      <a:pt x="55" y="38"/>
                    </a:lnTo>
                    <a:lnTo>
                      <a:pt x="52" y="38"/>
                    </a:lnTo>
                    <a:lnTo>
                      <a:pt x="52" y="42"/>
                    </a:lnTo>
                    <a:lnTo>
                      <a:pt x="48" y="42"/>
                    </a:lnTo>
                    <a:lnTo>
                      <a:pt x="48" y="45"/>
                    </a:lnTo>
                    <a:lnTo>
                      <a:pt x="45" y="45"/>
                    </a:lnTo>
                    <a:lnTo>
                      <a:pt x="41" y="42"/>
                    </a:lnTo>
                    <a:lnTo>
                      <a:pt x="38" y="42"/>
                    </a:lnTo>
                    <a:lnTo>
                      <a:pt x="35" y="38"/>
                    </a:lnTo>
                    <a:lnTo>
                      <a:pt x="35" y="35"/>
                    </a:lnTo>
                    <a:lnTo>
                      <a:pt x="31" y="35"/>
                    </a:lnTo>
                    <a:lnTo>
                      <a:pt x="31" y="31"/>
                    </a:lnTo>
                    <a:lnTo>
                      <a:pt x="31" y="28"/>
                    </a:lnTo>
                    <a:lnTo>
                      <a:pt x="31" y="24"/>
                    </a:lnTo>
                    <a:lnTo>
                      <a:pt x="31" y="21"/>
                    </a:lnTo>
                    <a:lnTo>
                      <a:pt x="28" y="21"/>
                    </a:lnTo>
                    <a:lnTo>
                      <a:pt x="28" y="17"/>
                    </a:lnTo>
                    <a:lnTo>
                      <a:pt x="21" y="17"/>
                    </a:lnTo>
                    <a:lnTo>
                      <a:pt x="17" y="17"/>
                    </a:lnTo>
                    <a:lnTo>
                      <a:pt x="14" y="17"/>
                    </a:lnTo>
                    <a:lnTo>
                      <a:pt x="10" y="21"/>
                    </a:lnTo>
                    <a:lnTo>
                      <a:pt x="10" y="24"/>
                    </a:lnTo>
                    <a:lnTo>
                      <a:pt x="10" y="28"/>
                    </a:lnTo>
                    <a:lnTo>
                      <a:pt x="10" y="31"/>
                    </a:lnTo>
                    <a:lnTo>
                      <a:pt x="14" y="35"/>
                    </a:lnTo>
                    <a:lnTo>
                      <a:pt x="14" y="38"/>
                    </a:lnTo>
                    <a:lnTo>
                      <a:pt x="14" y="42"/>
                    </a:lnTo>
                    <a:lnTo>
                      <a:pt x="17" y="45"/>
                    </a:lnTo>
                    <a:lnTo>
                      <a:pt x="17" y="49"/>
                    </a:lnTo>
                    <a:lnTo>
                      <a:pt x="21" y="52"/>
                    </a:lnTo>
                    <a:lnTo>
                      <a:pt x="21" y="55"/>
                    </a:lnTo>
                    <a:lnTo>
                      <a:pt x="17" y="55"/>
                    </a:lnTo>
                    <a:lnTo>
                      <a:pt x="17" y="59"/>
                    </a:lnTo>
                    <a:lnTo>
                      <a:pt x="14" y="59"/>
                    </a:lnTo>
                    <a:lnTo>
                      <a:pt x="0" y="24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3" y="14"/>
                    </a:lnTo>
                    <a:lnTo>
                      <a:pt x="7" y="14"/>
                    </a:lnTo>
                    <a:lnTo>
                      <a:pt x="10" y="11"/>
                    </a:lnTo>
                    <a:lnTo>
                      <a:pt x="14" y="11"/>
                    </a:lnTo>
                    <a:lnTo>
                      <a:pt x="17" y="11"/>
                    </a:lnTo>
                    <a:lnTo>
                      <a:pt x="21" y="11"/>
                    </a:lnTo>
                    <a:lnTo>
                      <a:pt x="24" y="14"/>
                    </a:lnTo>
                    <a:lnTo>
                      <a:pt x="28" y="14"/>
                    </a:lnTo>
                    <a:lnTo>
                      <a:pt x="31" y="14"/>
                    </a:lnTo>
                    <a:lnTo>
                      <a:pt x="35" y="14"/>
                    </a:lnTo>
                    <a:lnTo>
                      <a:pt x="38" y="17"/>
                    </a:lnTo>
                    <a:lnTo>
                      <a:pt x="38" y="21"/>
                    </a:lnTo>
                    <a:lnTo>
                      <a:pt x="38" y="24"/>
                    </a:lnTo>
                    <a:lnTo>
                      <a:pt x="38" y="28"/>
                    </a:lnTo>
                    <a:lnTo>
                      <a:pt x="38" y="31"/>
                    </a:lnTo>
                    <a:lnTo>
                      <a:pt x="41" y="35"/>
                    </a:lnTo>
                    <a:lnTo>
                      <a:pt x="45" y="38"/>
                    </a:lnTo>
                    <a:lnTo>
                      <a:pt x="48" y="35"/>
                    </a:lnTo>
                    <a:lnTo>
                      <a:pt x="52" y="31"/>
                    </a:lnTo>
                    <a:lnTo>
                      <a:pt x="52" y="28"/>
                    </a:lnTo>
                    <a:lnTo>
                      <a:pt x="55" y="24"/>
                    </a:lnTo>
                    <a:lnTo>
                      <a:pt x="59" y="21"/>
                    </a:lnTo>
                    <a:lnTo>
                      <a:pt x="59" y="17"/>
                    </a:lnTo>
                    <a:lnTo>
                      <a:pt x="59" y="14"/>
                    </a:lnTo>
                    <a:lnTo>
                      <a:pt x="55" y="14"/>
                    </a:lnTo>
                    <a:lnTo>
                      <a:pt x="55" y="11"/>
                    </a:lnTo>
                    <a:lnTo>
                      <a:pt x="52" y="7"/>
                    </a:lnTo>
                    <a:lnTo>
                      <a:pt x="48" y="7"/>
                    </a:lnTo>
                    <a:lnTo>
                      <a:pt x="45" y="7"/>
                    </a:lnTo>
                    <a:lnTo>
                      <a:pt x="41" y="7"/>
                    </a:lnTo>
                    <a:lnTo>
                      <a:pt x="38" y="7"/>
                    </a:lnTo>
                    <a:lnTo>
                      <a:pt x="35" y="7"/>
                    </a:lnTo>
                    <a:lnTo>
                      <a:pt x="31" y="4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5" y="0"/>
                    </a:lnTo>
                    <a:lnTo>
                      <a:pt x="48" y="0"/>
                    </a:lnTo>
                    <a:lnTo>
                      <a:pt x="52" y="4"/>
                    </a:lnTo>
                    <a:lnTo>
                      <a:pt x="59" y="4"/>
                    </a:lnTo>
                    <a:lnTo>
                      <a:pt x="62" y="4"/>
                    </a:lnTo>
                    <a:lnTo>
                      <a:pt x="62" y="7"/>
                    </a:lnTo>
                    <a:lnTo>
                      <a:pt x="66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6" name="Freeform 410"/>
              <p:cNvSpPr>
                <a:spLocks/>
              </p:cNvSpPr>
              <p:nvPr/>
            </p:nvSpPr>
            <p:spPr bwMode="auto">
              <a:xfrm>
                <a:off x="1995" y="1588"/>
                <a:ext cx="124" cy="263"/>
              </a:xfrm>
              <a:custGeom>
                <a:avLst/>
                <a:gdLst>
                  <a:gd name="T0" fmla="*/ 107 w 124"/>
                  <a:gd name="T1" fmla="*/ 21 h 263"/>
                  <a:gd name="T2" fmla="*/ 118 w 124"/>
                  <a:gd name="T3" fmla="*/ 52 h 263"/>
                  <a:gd name="T4" fmla="*/ 124 w 124"/>
                  <a:gd name="T5" fmla="*/ 87 h 263"/>
                  <a:gd name="T6" fmla="*/ 124 w 124"/>
                  <a:gd name="T7" fmla="*/ 125 h 263"/>
                  <a:gd name="T8" fmla="*/ 121 w 124"/>
                  <a:gd name="T9" fmla="*/ 166 h 263"/>
                  <a:gd name="T10" fmla="*/ 111 w 124"/>
                  <a:gd name="T11" fmla="*/ 197 h 263"/>
                  <a:gd name="T12" fmla="*/ 104 w 124"/>
                  <a:gd name="T13" fmla="*/ 225 h 263"/>
                  <a:gd name="T14" fmla="*/ 93 w 124"/>
                  <a:gd name="T15" fmla="*/ 249 h 263"/>
                  <a:gd name="T16" fmla="*/ 86 w 124"/>
                  <a:gd name="T17" fmla="*/ 259 h 263"/>
                  <a:gd name="T18" fmla="*/ 80 w 124"/>
                  <a:gd name="T19" fmla="*/ 256 h 263"/>
                  <a:gd name="T20" fmla="*/ 90 w 124"/>
                  <a:gd name="T21" fmla="*/ 194 h 263"/>
                  <a:gd name="T22" fmla="*/ 83 w 124"/>
                  <a:gd name="T23" fmla="*/ 135 h 263"/>
                  <a:gd name="T24" fmla="*/ 80 w 124"/>
                  <a:gd name="T25" fmla="*/ 90 h 263"/>
                  <a:gd name="T26" fmla="*/ 76 w 124"/>
                  <a:gd name="T27" fmla="*/ 76 h 263"/>
                  <a:gd name="T28" fmla="*/ 69 w 124"/>
                  <a:gd name="T29" fmla="*/ 93 h 263"/>
                  <a:gd name="T30" fmla="*/ 66 w 124"/>
                  <a:gd name="T31" fmla="*/ 111 h 263"/>
                  <a:gd name="T32" fmla="*/ 62 w 124"/>
                  <a:gd name="T33" fmla="*/ 132 h 263"/>
                  <a:gd name="T34" fmla="*/ 55 w 124"/>
                  <a:gd name="T35" fmla="*/ 152 h 263"/>
                  <a:gd name="T36" fmla="*/ 45 w 124"/>
                  <a:gd name="T37" fmla="*/ 187 h 263"/>
                  <a:gd name="T38" fmla="*/ 35 w 124"/>
                  <a:gd name="T39" fmla="*/ 218 h 263"/>
                  <a:gd name="T40" fmla="*/ 24 w 124"/>
                  <a:gd name="T41" fmla="*/ 242 h 263"/>
                  <a:gd name="T42" fmla="*/ 21 w 124"/>
                  <a:gd name="T43" fmla="*/ 252 h 263"/>
                  <a:gd name="T44" fmla="*/ 14 w 124"/>
                  <a:gd name="T45" fmla="*/ 259 h 263"/>
                  <a:gd name="T46" fmla="*/ 7 w 124"/>
                  <a:gd name="T47" fmla="*/ 263 h 263"/>
                  <a:gd name="T48" fmla="*/ 4 w 124"/>
                  <a:gd name="T49" fmla="*/ 259 h 263"/>
                  <a:gd name="T50" fmla="*/ 0 w 124"/>
                  <a:gd name="T51" fmla="*/ 256 h 263"/>
                  <a:gd name="T52" fmla="*/ 4 w 124"/>
                  <a:gd name="T53" fmla="*/ 204 h 263"/>
                  <a:gd name="T54" fmla="*/ 14 w 124"/>
                  <a:gd name="T55" fmla="*/ 156 h 263"/>
                  <a:gd name="T56" fmla="*/ 21 w 124"/>
                  <a:gd name="T57" fmla="*/ 121 h 263"/>
                  <a:gd name="T58" fmla="*/ 24 w 124"/>
                  <a:gd name="T59" fmla="*/ 121 h 263"/>
                  <a:gd name="T60" fmla="*/ 24 w 124"/>
                  <a:gd name="T61" fmla="*/ 121 h 263"/>
                  <a:gd name="T62" fmla="*/ 28 w 124"/>
                  <a:gd name="T63" fmla="*/ 132 h 263"/>
                  <a:gd name="T64" fmla="*/ 21 w 124"/>
                  <a:gd name="T65" fmla="*/ 149 h 263"/>
                  <a:gd name="T66" fmla="*/ 17 w 124"/>
                  <a:gd name="T67" fmla="*/ 166 h 263"/>
                  <a:gd name="T68" fmla="*/ 14 w 124"/>
                  <a:gd name="T69" fmla="*/ 197 h 263"/>
                  <a:gd name="T70" fmla="*/ 10 w 124"/>
                  <a:gd name="T71" fmla="*/ 228 h 263"/>
                  <a:gd name="T72" fmla="*/ 14 w 124"/>
                  <a:gd name="T73" fmla="*/ 242 h 263"/>
                  <a:gd name="T74" fmla="*/ 24 w 124"/>
                  <a:gd name="T75" fmla="*/ 218 h 263"/>
                  <a:gd name="T76" fmla="*/ 35 w 124"/>
                  <a:gd name="T77" fmla="*/ 190 h 263"/>
                  <a:gd name="T78" fmla="*/ 45 w 124"/>
                  <a:gd name="T79" fmla="*/ 152 h 263"/>
                  <a:gd name="T80" fmla="*/ 59 w 124"/>
                  <a:gd name="T81" fmla="*/ 107 h 263"/>
                  <a:gd name="T82" fmla="*/ 73 w 124"/>
                  <a:gd name="T83" fmla="*/ 62 h 263"/>
                  <a:gd name="T84" fmla="*/ 76 w 124"/>
                  <a:gd name="T85" fmla="*/ 62 h 263"/>
                  <a:gd name="T86" fmla="*/ 86 w 124"/>
                  <a:gd name="T87" fmla="*/ 83 h 263"/>
                  <a:gd name="T88" fmla="*/ 90 w 124"/>
                  <a:gd name="T89" fmla="*/ 118 h 263"/>
                  <a:gd name="T90" fmla="*/ 93 w 124"/>
                  <a:gd name="T91" fmla="*/ 152 h 263"/>
                  <a:gd name="T92" fmla="*/ 97 w 124"/>
                  <a:gd name="T93" fmla="*/ 201 h 263"/>
                  <a:gd name="T94" fmla="*/ 100 w 124"/>
                  <a:gd name="T95" fmla="*/ 208 h 263"/>
                  <a:gd name="T96" fmla="*/ 104 w 124"/>
                  <a:gd name="T97" fmla="*/ 190 h 263"/>
                  <a:gd name="T98" fmla="*/ 111 w 124"/>
                  <a:gd name="T99" fmla="*/ 176 h 263"/>
                  <a:gd name="T100" fmla="*/ 114 w 124"/>
                  <a:gd name="T101" fmla="*/ 104 h 263"/>
                  <a:gd name="T102" fmla="*/ 111 w 124"/>
                  <a:gd name="T103" fmla="*/ 59 h 263"/>
                  <a:gd name="T104" fmla="*/ 100 w 124"/>
                  <a:gd name="T105" fmla="*/ 31 h 263"/>
                  <a:gd name="T106" fmla="*/ 93 w 124"/>
                  <a:gd name="T107" fmla="*/ 4 h 263"/>
                  <a:gd name="T108" fmla="*/ 97 w 124"/>
                  <a:gd name="T109" fmla="*/ 0 h 26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24"/>
                  <a:gd name="T166" fmla="*/ 0 h 263"/>
                  <a:gd name="T167" fmla="*/ 124 w 124"/>
                  <a:gd name="T168" fmla="*/ 263 h 263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24" h="263">
                    <a:moveTo>
                      <a:pt x="100" y="0"/>
                    </a:moveTo>
                    <a:lnTo>
                      <a:pt x="104" y="11"/>
                    </a:lnTo>
                    <a:lnTo>
                      <a:pt x="107" y="21"/>
                    </a:lnTo>
                    <a:lnTo>
                      <a:pt x="111" y="31"/>
                    </a:lnTo>
                    <a:lnTo>
                      <a:pt x="114" y="42"/>
                    </a:lnTo>
                    <a:lnTo>
                      <a:pt x="118" y="52"/>
                    </a:lnTo>
                    <a:lnTo>
                      <a:pt x="121" y="66"/>
                    </a:lnTo>
                    <a:lnTo>
                      <a:pt x="121" y="76"/>
                    </a:lnTo>
                    <a:lnTo>
                      <a:pt x="124" y="87"/>
                    </a:lnTo>
                    <a:lnTo>
                      <a:pt x="124" y="100"/>
                    </a:lnTo>
                    <a:lnTo>
                      <a:pt x="124" y="114"/>
                    </a:lnTo>
                    <a:lnTo>
                      <a:pt x="124" y="125"/>
                    </a:lnTo>
                    <a:lnTo>
                      <a:pt x="124" y="138"/>
                    </a:lnTo>
                    <a:lnTo>
                      <a:pt x="121" y="152"/>
                    </a:lnTo>
                    <a:lnTo>
                      <a:pt x="121" y="166"/>
                    </a:lnTo>
                    <a:lnTo>
                      <a:pt x="118" y="176"/>
                    </a:lnTo>
                    <a:lnTo>
                      <a:pt x="114" y="190"/>
                    </a:lnTo>
                    <a:lnTo>
                      <a:pt x="111" y="197"/>
                    </a:lnTo>
                    <a:lnTo>
                      <a:pt x="107" y="208"/>
                    </a:lnTo>
                    <a:lnTo>
                      <a:pt x="107" y="214"/>
                    </a:lnTo>
                    <a:lnTo>
                      <a:pt x="104" y="225"/>
                    </a:lnTo>
                    <a:lnTo>
                      <a:pt x="100" y="232"/>
                    </a:lnTo>
                    <a:lnTo>
                      <a:pt x="97" y="242"/>
                    </a:lnTo>
                    <a:lnTo>
                      <a:pt x="93" y="249"/>
                    </a:lnTo>
                    <a:lnTo>
                      <a:pt x="90" y="259"/>
                    </a:lnTo>
                    <a:lnTo>
                      <a:pt x="86" y="259"/>
                    </a:lnTo>
                    <a:lnTo>
                      <a:pt x="83" y="259"/>
                    </a:lnTo>
                    <a:lnTo>
                      <a:pt x="80" y="256"/>
                    </a:lnTo>
                    <a:lnTo>
                      <a:pt x="86" y="235"/>
                    </a:lnTo>
                    <a:lnTo>
                      <a:pt x="86" y="214"/>
                    </a:lnTo>
                    <a:lnTo>
                      <a:pt x="90" y="194"/>
                    </a:lnTo>
                    <a:lnTo>
                      <a:pt x="86" y="176"/>
                    </a:lnTo>
                    <a:lnTo>
                      <a:pt x="86" y="156"/>
                    </a:lnTo>
                    <a:lnTo>
                      <a:pt x="83" y="135"/>
                    </a:lnTo>
                    <a:lnTo>
                      <a:pt x="80" y="114"/>
                    </a:lnTo>
                    <a:lnTo>
                      <a:pt x="80" y="93"/>
                    </a:lnTo>
                    <a:lnTo>
                      <a:pt x="80" y="90"/>
                    </a:lnTo>
                    <a:lnTo>
                      <a:pt x="80" y="87"/>
                    </a:lnTo>
                    <a:lnTo>
                      <a:pt x="76" y="80"/>
                    </a:lnTo>
                    <a:lnTo>
                      <a:pt x="76" y="76"/>
                    </a:lnTo>
                    <a:lnTo>
                      <a:pt x="73" y="83"/>
                    </a:lnTo>
                    <a:lnTo>
                      <a:pt x="73" y="90"/>
                    </a:lnTo>
                    <a:lnTo>
                      <a:pt x="69" y="93"/>
                    </a:lnTo>
                    <a:lnTo>
                      <a:pt x="69" y="100"/>
                    </a:lnTo>
                    <a:lnTo>
                      <a:pt x="69" y="104"/>
                    </a:lnTo>
                    <a:lnTo>
                      <a:pt x="66" y="111"/>
                    </a:lnTo>
                    <a:lnTo>
                      <a:pt x="66" y="118"/>
                    </a:lnTo>
                    <a:lnTo>
                      <a:pt x="62" y="121"/>
                    </a:lnTo>
                    <a:lnTo>
                      <a:pt x="62" y="132"/>
                    </a:lnTo>
                    <a:lnTo>
                      <a:pt x="59" y="138"/>
                    </a:lnTo>
                    <a:lnTo>
                      <a:pt x="55" y="145"/>
                    </a:lnTo>
                    <a:lnTo>
                      <a:pt x="55" y="152"/>
                    </a:lnTo>
                    <a:lnTo>
                      <a:pt x="52" y="166"/>
                    </a:lnTo>
                    <a:lnTo>
                      <a:pt x="48" y="176"/>
                    </a:lnTo>
                    <a:lnTo>
                      <a:pt x="45" y="187"/>
                    </a:lnTo>
                    <a:lnTo>
                      <a:pt x="42" y="197"/>
                    </a:lnTo>
                    <a:lnTo>
                      <a:pt x="38" y="208"/>
                    </a:lnTo>
                    <a:lnTo>
                      <a:pt x="35" y="218"/>
                    </a:lnTo>
                    <a:lnTo>
                      <a:pt x="31" y="228"/>
                    </a:lnTo>
                    <a:lnTo>
                      <a:pt x="28" y="239"/>
                    </a:lnTo>
                    <a:lnTo>
                      <a:pt x="24" y="242"/>
                    </a:lnTo>
                    <a:lnTo>
                      <a:pt x="24" y="246"/>
                    </a:lnTo>
                    <a:lnTo>
                      <a:pt x="21" y="249"/>
                    </a:lnTo>
                    <a:lnTo>
                      <a:pt x="21" y="252"/>
                    </a:lnTo>
                    <a:lnTo>
                      <a:pt x="17" y="256"/>
                    </a:lnTo>
                    <a:lnTo>
                      <a:pt x="17" y="259"/>
                    </a:lnTo>
                    <a:lnTo>
                      <a:pt x="14" y="259"/>
                    </a:lnTo>
                    <a:lnTo>
                      <a:pt x="10" y="263"/>
                    </a:lnTo>
                    <a:lnTo>
                      <a:pt x="7" y="263"/>
                    </a:lnTo>
                    <a:lnTo>
                      <a:pt x="4" y="259"/>
                    </a:lnTo>
                    <a:lnTo>
                      <a:pt x="4" y="256"/>
                    </a:lnTo>
                    <a:lnTo>
                      <a:pt x="0" y="256"/>
                    </a:lnTo>
                    <a:lnTo>
                      <a:pt x="4" y="239"/>
                    </a:lnTo>
                    <a:lnTo>
                      <a:pt x="4" y="221"/>
                    </a:lnTo>
                    <a:lnTo>
                      <a:pt x="4" y="204"/>
                    </a:lnTo>
                    <a:lnTo>
                      <a:pt x="7" y="187"/>
                    </a:lnTo>
                    <a:lnTo>
                      <a:pt x="10" y="170"/>
                    </a:lnTo>
                    <a:lnTo>
                      <a:pt x="14" y="156"/>
                    </a:lnTo>
                    <a:lnTo>
                      <a:pt x="17" y="138"/>
                    </a:lnTo>
                    <a:lnTo>
                      <a:pt x="21" y="125"/>
                    </a:lnTo>
                    <a:lnTo>
                      <a:pt x="21" y="121"/>
                    </a:lnTo>
                    <a:lnTo>
                      <a:pt x="24" y="121"/>
                    </a:lnTo>
                    <a:lnTo>
                      <a:pt x="28" y="121"/>
                    </a:lnTo>
                    <a:lnTo>
                      <a:pt x="28" y="125"/>
                    </a:lnTo>
                    <a:lnTo>
                      <a:pt x="28" y="132"/>
                    </a:lnTo>
                    <a:lnTo>
                      <a:pt x="24" y="138"/>
                    </a:lnTo>
                    <a:lnTo>
                      <a:pt x="24" y="142"/>
                    </a:lnTo>
                    <a:lnTo>
                      <a:pt x="21" y="149"/>
                    </a:lnTo>
                    <a:lnTo>
                      <a:pt x="21" y="156"/>
                    </a:lnTo>
                    <a:lnTo>
                      <a:pt x="21" y="159"/>
                    </a:lnTo>
                    <a:lnTo>
                      <a:pt x="17" y="166"/>
                    </a:lnTo>
                    <a:lnTo>
                      <a:pt x="17" y="176"/>
                    </a:lnTo>
                    <a:lnTo>
                      <a:pt x="17" y="187"/>
                    </a:lnTo>
                    <a:lnTo>
                      <a:pt x="14" y="197"/>
                    </a:lnTo>
                    <a:lnTo>
                      <a:pt x="14" y="208"/>
                    </a:lnTo>
                    <a:lnTo>
                      <a:pt x="10" y="218"/>
                    </a:lnTo>
                    <a:lnTo>
                      <a:pt x="10" y="228"/>
                    </a:lnTo>
                    <a:lnTo>
                      <a:pt x="10" y="239"/>
                    </a:lnTo>
                    <a:lnTo>
                      <a:pt x="10" y="252"/>
                    </a:lnTo>
                    <a:lnTo>
                      <a:pt x="14" y="242"/>
                    </a:lnTo>
                    <a:lnTo>
                      <a:pt x="21" y="235"/>
                    </a:lnTo>
                    <a:lnTo>
                      <a:pt x="24" y="225"/>
                    </a:lnTo>
                    <a:lnTo>
                      <a:pt x="24" y="218"/>
                    </a:lnTo>
                    <a:lnTo>
                      <a:pt x="28" y="208"/>
                    </a:lnTo>
                    <a:lnTo>
                      <a:pt x="31" y="201"/>
                    </a:lnTo>
                    <a:lnTo>
                      <a:pt x="35" y="190"/>
                    </a:lnTo>
                    <a:lnTo>
                      <a:pt x="38" y="180"/>
                    </a:lnTo>
                    <a:lnTo>
                      <a:pt x="42" y="166"/>
                    </a:lnTo>
                    <a:lnTo>
                      <a:pt x="45" y="152"/>
                    </a:lnTo>
                    <a:lnTo>
                      <a:pt x="48" y="138"/>
                    </a:lnTo>
                    <a:lnTo>
                      <a:pt x="55" y="121"/>
                    </a:lnTo>
                    <a:lnTo>
                      <a:pt x="59" y="107"/>
                    </a:lnTo>
                    <a:lnTo>
                      <a:pt x="62" y="93"/>
                    </a:lnTo>
                    <a:lnTo>
                      <a:pt x="69" y="76"/>
                    </a:lnTo>
                    <a:lnTo>
                      <a:pt x="73" y="62"/>
                    </a:lnTo>
                    <a:lnTo>
                      <a:pt x="76" y="62"/>
                    </a:lnTo>
                    <a:lnTo>
                      <a:pt x="80" y="62"/>
                    </a:lnTo>
                    <a:lnTo>
                      <a:pt x="83" y="73"/>
                    </a:lnTo>
                    <a:lnTo>
                      <a:pt x="86" y="83"/>
                    </a:lnTo>
                    <a:lnTo>
                      <a:pt x="86" y="93"/>
                    </a:lnTo>
                    <a:lnTo>
                      <a:pt x="90" y="104"/>
                    </a:lnTo>
                    <a:lnTo>
                      <a:pt x="90" y="118"/>
                    </a:lnTo>
                    <a:lnTo>
                      <a:pt x="90" y="128"/>
                    </a:lnTo>
                    <a:lnTo>
                      <a:pt x="93" y="138"/>
                    </a:lnTo>
                    <a:lnTo>
                      <a:pt x="93" y="152"/>
                    </a:lnTo>
                    <a:lnTo>
                      <a:pt x="93" y="166"/>
                    </a:lnTo>
                    <a:lnTo>
                      <a:pt x="97" y="183"/>
                    </a:lnTo>
                    <a:lnTo>
                      <a:pt x="97" y="201"/>
                    </a:lnTo>
                    <a:lnTo>
                      <a:pt x="97" y="214"/>
                    </a:lnTo>
                    <a:lnTo>
                      <a:pt x="97" y="211"/>
                    </a:lnTo>
                    <a:lnTo>
                      <a:pt x="100" y="208"/>
                    </a:lnTo>
                    <a:lnTo>
                      <a:pt x="100" y="201"/>
                    </a:lnTo>
                    <a:lnTo>
                      <a:pt x="104" y="197"/>
                    </a:lnTo>
                    <a:lnTo>
                      <a:pt x="104" y="190"/>
                    </a:lnTo>
                    <a:lnTo>
                      <a:pt x="107" y="187"/>
                    </a:lnTo>
                    <a:lnTo>
                      <a:pt x="107" y="180"/>
                    </a:lnTo>
                    <a:lnTo>
                      <a:pt x="111" y="176"/>
                    </a:lnTo>
                    <a:lnTo>
                      <a:pt x="114" y="152"/>
                    </a:lnTo>
                    <a:lnTo>
                      <a:pt x="114" y="128"/>
                    </a:lnTo>
                    <a:lnTo>
                      <a:pt x="114" y="104"/>
                    </a:lnTo>
                    <a:lnTo>
                      <a:pt x="114" y="76"/>
                    </a:lnTo>
                    <a:lnTo>
                      <a:pt x="111" y="69"/>
                    </a:lnTo>
                    <a:lnTo>
                      <a:pt x="111" y="59"/>
                    </a:lnTo>
                    <a:lnTo>
                      <a:pt x="107" y="49"/>
                    </a:lnTo>
                    <a:lnTo>
                      <a:pt x="104" y="38"/>
                    </a:lnTo>
                    <a:lnTo>
                      <a:pt x="100" y="31"/>
                    </a:lnTo>
                    <a:lnTo>
                      <a:pt x="100" y="21"/>
                    </a:lnTo>
                    <a:lnTo>
                      <a:pt x="97" y="11"/>
                    </a:lnTo>
                    <a:lnTo>
                      <a:pt x="93" y="4"/>
                    </a:lnTo>
                    <a:lnTo>
                      <a:pt x="93" y="0"/>
                    </a:lnTo>
                    <a:lnTo>
                      <a:pt x="97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7" name="Freeform 411"/>
              <p:cNvSpPr>
                <a:spLocks/>
              </p:cNvSpPr>
              <p:nvPr/>
            </p:nvSpPr>
            <p:spPr bwMode="auto">
              <a:xfrm>
                <a:off x="2037" y="1592"/>
                <a:ext cx="44" cy="10"/>
              </a:xfrm>
              <a:custGeom>
                <a:avLst/>
                <a:gdLst>
                  <a:gd name="T0" fmla="*/ 44 w 44"/>
                  <a:gd name="T1" fmla="*/ 0 h 10"/>
                  <a:gd name="T2" fmla="*/ 44 w 44"/>
                  <a:gd name="T3" fmla="*/ 3 h 10"/>
                  <a:gd name="T4" fmla="*/ 44 w 44"/>
                  <a:gd name="T5" fmla="*/ 3 h 10"/>
                  <a:gd name="T6" fmla="*/ 44 w 44"/>
                  <a:gd name="T7" fmla="*/ 3 h 10"/>
                  <a:gd name="T8" fmla="*/ 41 w 44"/>
                  <a:gd name="T9" fmla="*/ 7 h 10"/>
                  <a:gd name="T10" fmla="*/ 38 w 44"/>
                  <a:gd name="T11" fmla="*/ 7 h 10"/>
                  <a:gd name="T12" fmla="*/ 34 w 44"/>
                  <a:gd name="T13" fmla="*/ 10 h 10"/>
                  <a:gd name="T14" fmla="*/ 27 w 44"/>
                  <a:gd name="T15" fmla="*/ 10 h 10"/>
                  <a:gd name="T16" fmla="*/ 24 w 44"/>
                  <a:gd name="T17" fmla="*/ 10 h 10"/>
                  <a:gd name="T18" fmla="*/ 17 w 44"/>
                  <a:gd name="T19" fmla="*/ 10 h 10"/>
                  <a:gd name="T20" fmla="*/ 13 w 44"/>
                  <a:gd name="T21" fmla="*/ 10 h 10"/>
                  <a:gd name="T22" fmla="*/ 6 w 44"/>
                  <a:gd name="T23" fmla="*/ 10 h 10"/>
                  <a:gd name="T24" fmla="*/ 3 w 44"/>
                  <a:gd name="T25" fmla="*/ 7 h 10"/>
                  <a:gd name="T26" fmla="*/ 3 w 44"/>
                  <a:gd name="T27" fmla="*/ 7 h 10"/>
                  <a:gd name="T28" fmla="*/ 0 w 44"/>
                  <a:gd name="T29" fmla="*/ 7 h 10"/>
                  <a:gd name="T30" fmla="*/ 0 w 44"/>
                  <a:gd name="T31" fmla="*/ 3 h 10"/>
                  <a:gd name="T32" fmla="*/ 0 w 44"/>
                  <a:gd name="T33" fmla="*/ 3 h 10"/>
                  <a:gd name="T34" fmla="*/ 3 w 44"/>
                  <a:gd name="T35" fmla="*/ 3 h 10"/>
                  <a:gd name="T36" fmla="*/ 10 w 44"/>
                  <a:gd name="T37" fmla="*/ 3 h 10"/>
                  <a:gd name="T38" fmla="*/ 13 w 44"/>
                  <a:gd name="T39" fmla="*/ 3 h 10"/>
                  <a:gd name="T40" fmla="*/ 20 w 44"/>
                  <a:gd name="T41" fmla="*/ 3 h 10"/>
                  <a:gd name="T42" fmla="*/ 24 w 44"/>
                  <a:gd name="T43" fmla="*/ 3 h 10"/>
                  <a:gd name="T44" fmla="*/ 31 w 44"/>
                  <a:gd name="T45" fmla="*/ 3 h 10"/>
                  <a:gd name="T46" fmla="*/ 34 w 44"/>
                  <a:gd name="T47" fmla="*/ 0 h 10"/>
                  <a:gd name="T48" fmla="*/ 38 w 44"/>
                  <a:gd name="T49" fmla="*/ 0 h 10"/>
                  <a:gd name="T50" fmla="*/ 44 w 44"/>
                  <a:gd name="T51" fmla="*/ 0 h 10"/>
                  <a:gd name="T52" fmla="*/ 44 w 44"/>
                  <a:gd name="T53" fmla="*/ 0 h 1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44"/>
                  <a:gd name="T82" fmla="*/ 0 h 10"/>
                  <a:gd name="T83" fmla="*/ 44 w 44"/>
                  <a:gd name="T84" fmla="*/ 10 h 1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44" h="10">
                    <a:moveTo>
                      <a:pt x="44" y="0"/>
                    </a:moveTo>
                    <a:lnTo>
                      <a:pt x="44" y="3"/>
                    </a:lnTo>
                    <a:lnTo>
                      <a:pt x="41" y="7"/>
                    </a:lnTo>
                    <a:lnTo>
                      <a:pt x="38" y="7"/>
                    </a:lnTo>
                    <a:lnTo>
                      <a:pt x="34" y="10"/>
                    </a:lnTo>
                    <a:lnTo>
                      <a:pt x="27" y="10"/>
                    </a:lnTo>
                    <a:lnTo>
                      <a:pt x="24" y="10"/>
                    </a:lnTo>
                    <a:lnTo>
                      <a:pt x="17" y="10"/>
                    </a:lnTo>
                    <a:lnTo>
                      <a:pt x="13" y="10"/>
                    </a:lnTo>
                    <a:lnTo>
                      <a:pt x="6" y="10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10" y="3"/>
                    </a:lnTo>
                    <a:lnTo>
                      <a:pt x="13" y="3"/>
                    </a:lnTo>
                    <a:lnTo>
                      <a:pt x="20" y="3"/>
                    </a:lnTo>
                    <a:lnTo>
                      <a:pt x="24" y="3"/>
                    </a:lnTo>
                    <a:lnTo>
                      <a:pt x="31" y="3"/>
                    </a:lnTo>
                    <a:lnTo>
                      <a:pt x="34" y="0"/>
                    </a:lnTo>
                    <a:lnTo>
                      <a:pt x="38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8" name="Freeform 412"/>
              <p:cNvSpPr>
                <a:spLocks/>
              </p:cNvSpPr>
              <p:nvPr/>
            </p:nvSpPr>
            <p:spPr bwMode="auto">
              <a:xfrm>
                <a:off x="2310" y="1595"/>
                <a:ext cx="17" cy="142"/>
              </a:xfrm>
              <a:custGeom>
                <a:avLst/>
                <a:gdLst>
                  <a:gd name="T0" fmla="*/ 6 w 17"/>
                  <a:gd name="T1" fmla="*/ 0 h 142"/>
                  <a:gd name="T2" fmla="*/ 10 w 17"/>
                  <a:gd name="T3" fmla="*/ 17 h 142"/>
                  <a:gd name="T4" fmla="*/ 10 w 17"/>
                  <a:gd name="T5" fmla="*/ 31 h 142"/>
                  <a:gd name="T6" fmla="*/ 13 w 17"/>
                  <a:gd name="T7" fmla="*/ 48 h 142"/>
                  <a:gd name="T8" fmla="*/ 13 w 17"/>
                  <a:gd name="T9" fmla="*/ 62 h 142"/>
                  <a:gd name="T10" fmla="*/ 13 w 17"/>
                  <a:gd name="T11" fmla="*/ 80 h 142"/>
                  <a:gd name="T12" fmla="*/ 13 w 17"/>
                  <a:gd name="T13" fmla="*/ 93 h 142"/>
                  <a:gd name="T14" fmla="*/ 13 w 17"/>
                  <a:gd name="T15" fmla="*/ 111 h 142"/>
                  <a:gd name="T16" fmla="*/ 17 w 17"/>
                  <a:gd name="T17" fmla="*/ 125 h 142"/>
                  <a:gd name="T18" fmla="*/ 17 w 17"/>
                  <a:gd name="T19" fmla="*/ 128 h 142"/>
                  <a:gd name="T20" fmla="*/ 17 w 17"/>
                  <a:gd name="T21" fmla="*/ 131 h 142"/>
                  <a:gd name="T22" fmla="*/ 17 w 17"/>
                  <a:gd name="T23" fmla="*/ 138 h 142"/>
                  <a:gd name="T24" fmla="*/ 13 w 17"/>
                  <a:gd name="T25" fmla="*/ 142 h 142"/>
                  <a:gd name="T26" fmla="*/ 10 w 17"/>
                  <a:gd name="T27" fmla="*/ 142 h 142"/>
                  <a:gd name="T28" fmla="*/ 10 w 17"/>
                  <a:gd name="T29" fmla="*/ 138 h 142"/>
                  <a:gd name="T30" fmla="*/ 6 w 17"/>
                  <a:gd name="T31" fmla="*/ 135 h 142"/>
                  <a:gd name="T32" fmla="*/ 6 w 17"/>
                  <a:gd name="T33" fmla="*/ 131 h 142"/>
                  <a:gd name="T34" fmla="*/ 6 w 17"/>
                  <a:gd name="T35" fmla="*/ 128 h 142"/>
                  <a:gd name="T36" fmla="*/ 6 w 17"/>
                  <a:gd name="T37" fmla="*/ 125 h 142"/>
                  <a:gd name="T38" fmla="*/ 6 w 17"/>
                  <a:gd name="T39" fmla="*/ 121 h 142"/>
                  <a:gd name="T40" fmla="*/ 6 w 17"/>
                  <a:gd name="T41" fmla="*/ 118 h 142"/>
                  <a:gd name="T42" fmla="*/ 3 w 17"/>
                  <a:gd name="T43" fmla="*/ 90 h 142"/>
                  <a:gd name="T44" fmla="*/ 3 w 17"/>
                  <a:gd name="T45" fmla="*/ 59 h 142"/>
                  <a:gd name="T46" fmla="*/ 3 w 17"/>
                  <a:gd name="T47" fmla="*/ 31 h 142"/>
                  <a:gd name="T48" fmla="*/ 0 w 17"/>
                  <a:gd name="T49" fmla="*/ 4 h 142"/>
                  <a:gd name="T50" fmla="*/ 0 w 17"/>
                  <a:gd name="T51" fmla="*/ 0 h 142"/>
                  <a:gd name="T52" fmla="*/ 3 w 17"/>
                  <a:gd name="T53" fmla="*/ 0 h 142"/>
                  <a:gd name="T54" fmla="*/ 3 w 17"/>
                  <a:gd name="T55" fmla="*/ 0 h 142"/>
                  <a:gd name="T56" fmla="*/ 6 w 17"/>
                  <a:gd name="T57" fmla="*/ 0 h 142"/>
                  <a:gd name="T58" fmla="*/ 6 w 17"/>
                  <a:gd name="T59" fmla="*/ 0 h 14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42"/>
                  <a:gd name="T92" fmla="*/ 17 w 17"/>
                  <a:gd name="T93" fmla="*/ 142 h 14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42">
                    <a:moveTo>
                      <a:pt x="6" y="0"/>
                    </a:moveTo>
                    <a:lnTo>
                      <a:pt x="10" y="17"/>
                    </a:lnTo>
                    <a:lnTo>
                      <a:pt x="10" y="31"/>
                    </a:lnTo>
                    <a:lnTo>
                      <a:pt x="13" y="48"/>
                    </a:lnTo>
                    <a:lnTo>
                      <a:pt x="13" y="62"/>
                    </a:lnTo>
                    <a:lnTo>
                      <a:pt x="13" y="80"/>
                    </a:lnTo>
                    <a:lnTo>
                      <a:pt x="13" y="93"/>
                    </a:lnTo>
                    <a:lnTo>
                      <a:pt x="13" y="111"/>
                    </a:lnTo>
                    <a:lnTo>
                      <a:pt x="17" y="125"/>
                    </a:lnTo>
                    <a:lnTo>
                      <a:pt x="17" y="128"/>
                    </a:lnTo>
                    <a:lnTo>
                      <a:pt x="17" y="131"/>
                    </a:lnTo>
                    <a:lnTo>
                      <a:pt x="17" y="138"/>
                    </a:lnTo>
                    <a:lnTo>
                      <a:pt x="13" y="142"/>
                    </a:lnTo>
                    <a:lnTo>
                      <a:pt x="10" y="142"/>
                    </a:lnTo>
                    <a:lnTo>
                      <a:pt x="10" y="138"/>
                    </a:lnTo>
                    <a:lnTo>
                      <a:pt x="6" y="135"/>
                    </a:lnTo>
                    <a:lnTo>
                      <a:pt x="6" y="131"/>
                    </a:lnTo>
                    <a:lnTo>
                      <a:pt x="6" y="128"/>
                    </a:lnTo>
                    <a:lnTo>
                      <a:pt x="6" y="125"/>
                    </a:lnTo>
                    <a:lnTo>
                      <a:pt x="6" y="121"/>
                    </a:lnTo>
                    <a:lnTo>
                      <a:pt x="6" y="118"/>
                    </a:lnTo>
                    <a:lnTo>
                      <a:pt x="3" y="90"/>
                    </a:lnTo>
                    <a:lnTo>
                      <a:pt x="3" y="59"/>
                    </a:lnTo>
                    <a:lnTo>
                      <a:pt x="3" y="31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29" name="Freeform 413"/>
              <p:cNvSpPr>
                <a:spLocks/>
              </p:cNvSpPr>
              <p:nvPr/>
            </p:nvSpPr>
            <p:spPr bwMode="auto">
              <a:xfrm>
                <a:off x="2133" y="1599"/>
                <a:ext cx="159" cy="100"/>
              </a:xfrm>
              <a:custGeom>
                <a:avLst/>
                <a:gdLst>
                  <a:gd name="T0" fmla="*/ 45 w 159"/>
                  <a:gd name="T1" fmla="*/ 10 h 100"/>
                  <a:gd name="T2" fmla="*/ 52 w 159"/>
                  <a:gd name="T3" fmla="*/ 13 h 100"/>
                  <a:gd name="T4" fmla="*/ 45 w 159"/>
                  <a:gd name="T5" fmla="*/ 27 h 100"/>
                  <a:gd name="T6" fmla="*/ 38 w 159"/>
                  <a:gd name="T7" fmla="*/ 44 h 100"/>
                  <a:gd name="T8" fmla="*/ 49 w 159"/>
                  <a:gd name="T9" fmla="*/ 48 h 100"/>
                  <a:gd name="T10" fmla="*/ 63 w 159"/>
                  <a:gd name="T11" fmla="*/ 48 h 100"/>
                  <a:gd name="T12" fmla="*/ 80 w 159"/>
                  <a:gd name="T13" fmla="*/ 51 h 100"/>
                  <a:gd name="T14" fmla="*/ 94 w 159"/>
                  <a:gd name="T15" fmla="*/ 51 h 100"/>
                  <a:gd name="T16" fmla="*/ 104 w 159"/>
                  <a:gd name="T17" fmla="*/ 48 h 100"/>
                  <a:gd name="T18" fmla="*/ 107 w 159"/>
                  <a:gd name="T19" fmla="*/ 27 h 100"/>
                  <a:gd name="T20" fmla="*/ 107 w 159"/>
                  <a:gd name="T21" fmla="*/ 10 h 100"/>
                  <a:gd name="T22" fmla="*/ 104 w 159"/>
                  <a:gd name="T23" fmla="*/ 10 h 100"/>
                  <a:gd name="T24" fmla="*/ 101 w 159"/>
                  <a:gd name="T25" fmla="*/ 17 h 100"/>
                  <a:gd name="T26" fmla="*/ 97 w 159"/>
                  <a:gd name="T27" fmla="*/ 38 h 100"/>
                  <a:gd name="T28" fmla="*/ 94 w 159"/>
                  <a:gd name="T29" fmla="*/ 41 h 100"/>
                  <a:gd name="T30" fmla="*/ 97 w 159"/>
                  <a:gd name="T31" fmla="*/ 13 h 100"/>
                  <a:gd name="T32" fmla="*/ 101 w 159"/>
                  <a:gd name="T33" fmla="*/ 3 h 100"/>
                  <a:gd name="T34" fmla="*/ 107 w 159"/>
                  <a:gd name="T35" fmla="*/ 6 h 100"/>
                  <a:gd name="T36" fmla="*/ 118 w 159"/>
                  <a:gd name="T37" fmla="*/ 13 h 100"/>
                  <a:gd name="T38" fmla="*/ 111 w 159"/>
                  <a:gd name="T39" fmla="*/ 31 h 100"/>
                  <a:gd name="T40" fmla="*/ 107 w 159"/>
                  <a:gd name="T41" fmla="*/ 51 h 100"/>
                  <a:gd name="T42" fmla="*/ 118 w 159"/>
                  <a:gd name="T43" fmla="*/ 51 h 100"/>
                  <a:gd name="T44" fmla="*/ 132 w 159"/>
                  <a:gd name="T45" fmla="*/ 51 h 100"/>
                  <a:gd name="T46" fmla="*/ 145 w 159"/>
                  <a:gd name="T47" fmla="*/ 51 h 100"/>
                  <a:gd name="T48" fmla="*/ 156 w 159"/>
                  <a:gd name="T49" fmla="*/ 55 h 100"/>
                  <a:gd name="T50" fmla="*/ 156 w 159"/>
                  <a:gd name="T51" fmla="*/ 58 h 100"/>
                  <a:gd name="T52" fmla="*/ 142 w 159"/>
                  <a:gd name="T53" fmla="*/ 58 h 100"/>
                  <a:gd name="T54" fmla="*/ 125 w 159"/>
                  <a:gd name="T55" fmla="*/ 58 h 100"/>
                  <a:gd name="T56" fmla="*/ 128 w 159"/>
                  <a:gd name="T57" fmla="*/ 62 h 100"/>
                  <a:gd name="T58" fmla="*/ 135 w 159"/>
                  <a:gd name="T59" fmla="*/ 62 h 100"/>
                  <a:gd name="T60" fmla="*/ 132 w 159"/>
                  <a:gd name="T61" fmla="*/ 76 h 100"/>
                  <a:gd name="T62" fmla="*/ 125 w 159"/>
                  <a:gd name="T63" fmla="*/ 93 h 100"/>
                  <a:gd name="T64" fmla="*/ 125 w 159"/>
                  <a:gd name="T65" fmla="*/ 86 h 100"/>
                  <a:gd name="T66" fmla="*/ 128 w 159"/>
                  <a:gd name="T67" fmla="*/ 69 h 100"/>
                  <a:gd name="T68" fmla="*/ 128 w 159"/>
                  <a:gd name="T69" fmla="*/ 65 h 100"/>
                  <a:gd name="T70" fmla="*/ 125 w 159"/>
                  <a:gd name="T71" fmla="*/ 65 h 100"/>
                  <a:gd name="T72" fmla="*/ 118 w 159"/>
                  <a:gd name="T73" fmla="*/ 65 h 100"/>
                  <a:gd name="T74" fmla="*/ 121 w 159"/>
                  <a:gd name="T75" fmla="*/ 76 h 100"/>
                  <a:gd name="T76" fmla="*/ 114 w 159"/>
                  <a:gd name="T77" fmla="*/ 86 h 100"/>
                  <a:gd name="T78" fmla="*/ 114 w 159"/>
                  <a:gd name="T79" fmla="*/ 62 h 100"/>
                  <a:gd name="T80" fmla="*/ 111 w 159"/>
                  <a:gd name="T81" fmla="*/ 58 h 100"/>
                  <a:gd name="T82" fmla="*/ 83 w 159"/>
                  <a:gd name="T83" fmla="*/ 58 h 100"/>
                  <a:gd name="T84" fmla="*/ 52 w 159"/>
                  <a:gd name="T85" fmla="*/ 55 h 100"/>
                  <a:gd name="T86" fmla="*/ 25 w 159"/>
                  <a:gd name="T87" fmla="*/ 55 h 100"/>
                  <a:gd name="T88" fmla="*/ 0 w 159"/>
                  <a:gd name="T89" fmla="*/ 51 h 100"/>
                  <a:gd name="T90" fmla="*/ 4 w 159"/>
                  <a:gd name="T91" fmla="*/ 41 h 100"/>
                  <a:gd name="T92" fmla="*/ 11 w 159"/>
                  <a:gd name="T93" fmla="*/ 20 h 100"/>
                  <a:gd name="T94" fmla="*/ 18 w 159"/>
                  <a:gd name="T95" fmla="*/ 3 h 100"/>
                  <a:gd name="T96" fmla="*/ 21 w 159"/>
                  <a:gd name="T97" fmla="*/ 10 h 100"/>
                  <a:gd name="T98" fmla="*/ 14 w 159"/>
                  <a:gd name="T99" fmla="*/ 27 h 100"/>
                  <a:gd name="T100" fmla="*/ 7 w 159"/>
                  <a:gd name="T101" fmla="*/ 48 h 100"/>
                  <a:gd name="T102" fmla="*/ 14 w 159"/>
                  <a:gd name="T103" fmla="*/ 48 h 100"/>
                  <a:gd name="T104" fmla="*/ 18 w 159"/>
                  <a:gd name="T105" fmla="*/ 48 h 100"/>
                  <a:gd name="T106" fmla="*/ 25 w 159"/>
                  <a:gd name="T107" fmla="*/ 31 h 100"/>
                  <a:gd name="T108" fmla="*/ 31 w 159"/>
                  <a:gd name="T109" fmla="*/ 10 h 100"/>
                  <a:gd name="T110" fmla="*/ 28 w 159"/>
                  <a:gd name="T111" fmla="*/ 3 h 100"/>
                  <a:gd name="T112" fmla="*/ 38 w 159"/>
                  <a:gd name="T113" fmla="*/ 3 h 100"/>
                  <a:gd name="T114" fmla="*/ 45 w 159"/>
                  <a:gd name="T115" fmla="*/ 6 h 100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59"/>
                  <a:gd name="T175" fmla="*/ 0 h 100"/>
                  <a:gd name="T176" fmla="*/ 159 w 159"/>
                  <a:gd name="T177" fmla="*/ 100 h 100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59" h="100">
                    <a:moveTo>
                      <a:pt x="45" y="6"/>
                    </a:moveTo>
                    <a:lnTo>
                      <a:pt x="45" y="6"/>
                    </a:lnTo>
                    <a:lnTo>
                      <a:pt x="45" y="10"/>
                    </a:lnTo>
                    <a:lnTo>
                      <a:pt x="49" y="10"/>
                    </a:lnTo>
                    <a:lnTo>
                      <a:pt x="52" y="13"/>
                    </a:lnTo>
                    <a:lnTo>
                      <a:pt x="49" y="17"/>
                    </a:lnTo>
                    <a:lnTo>
                      <a:pt x="49" y="20"/>
                    </a:lnTo>
                    <a:lnTo>
                      <a:pt x="45" y="24"/>
                    </a:lnTo>
                    <a:lnTo>
                      <a:pt x="45" y="27"/>
                    </a:lnTo>
                    <a:lnTo>
                      <a:pt x="42" y="31"/>
                    </a:lnTo>
                    <a:lnTo>
                      <a:pt x="42" y="34"/>
                    </a:lnTo>
                    <a:lnTo>
                      <a:pt x="38" y="41"/>
                    </a:lnTo>
                    <a:lnTo>
                      <a:pt x="38" y="44"/>
                    </a:lnTo>
                    <a:lnTo>
                      <a:pt x="38" y="48"/>
                    </a:lnTo>
                    <a:lnTo>
                      <a:pt x="42" y="48"/>
                    </a:lnTo>
                    <a:lnTo>
                      <a:pt x="45" y="48"/>
                    </a:lnTo>
                    <a:lnTo>
                      <a:pt x="49" y="48"/>
                    </a:lnTo>
                    <a:lnTo>
                      <a:pt x="52" y="48"/>
                    </a:lnTo>
                    <a:lnTo>
                      <a:pt x="56" y="48"/>
                    </a:lnTo>
                    <a:lnTo>
                      <a:pt x="59" y="48"/>
                    </a:lnTo>
                    <a:lnTo>
                      <a:pt x="63" y="48"/>
                    </a:lnTo>
                    <a:lnTo>
                      <a:pt x="66" y="48"/>
                    </a:lnTo>
                    <a:lnTo>
                      <a:pt x="69" y="48"/>
                    </a:lnTo>
                    <a:lnTo>
                      <a:pt x="76" y="51"/>
                    </a:lnTo>
                    <a:lnTo>
                      <a:pt x="80" y="51"/>
                    </a:lnTo>
                    <a:lnTo>
                      <a:pt x="83" y="51"/>
                    </a:lnTo>
                    <a:lnTo>
                      <a:pt x="87" y="51"/>
                    </a:lnTo>
                    <a:lnTo>
                      <a:pt x="90" y="51"/>
                    </a:lnTo>
                    <a:lnTo>
                      <a:pt x="94" y="51"/>
                    </a:lnTo>
                    <a:lnTo>
                      <a:pt x="101" y="51"/>
                    </a:lnTo>
                    <a:lnTo>
                      <a:pt x="104" y="51"/>
                    </a:lnTo>
                    <a:lnTo>
                      <a:pt x="104" y="48"/>
                    </a:lnTo>
                    <a:lnTo>
                      <a:pt x="104" y="44"/>
                    </a:lnTo>
                    <a:lnTo>
                      <a:pt x="107" y="34"/>
                    </a:lnTo>
                    <a:lnTo>
                      <a:pt x="107" y="27"/>
                    </a:lnTo>
                    <a:lnTo>
                      <a:pt x="111" y="20"/>
                    </a:lnTo>
                    <a:lnTo>
                      <a:pt x="111" y="10"/>
                    </a:lnTo>
                    <a:lnTo>
                      <a:pt x="107" y="10"/>
                    </a:lnTo>
                    <a:lnTo>
                      <a:pt x="104" y="10"/>
                    </a:lnTo>
                    <a:lnTo>
                      <a:pt x="101" y="10"/>
                    </a:lnTo>
                    <a:lnTo>
                      <a:pt x="104" y="13"/>
                    </a:lnTo>
                    <a:lnTo>
                      <a:pt x="101" y="17"/>
                    </a:lnTo>
                    <a:lnTo>
                      <a:pt x="101" y="24"/>
                    </a:lnTo>
                    <a:lnTo>
                      <a:pt x="101" y="27"/>
                    </a:lnTo>
                    <a:lnTo>
                      <a:pt x="101" y="31"/>
                    </a:lnTo>
                    <a:lnTo>
                      <a:pt x="97" y="38"/>
                    </a:lnTo>
                    <a:lnTo>
                      <a:pt x="97" y="41"/>
                    </a:lnTo>
                    <a:lnTo>
                      <a:pt x="97" y="44"/>
                    </a:lnTo>
                    <a:lnTo>
                      <a:pt x="94" y="48"/>
                    </a:lnTo>
                    <a:lnTo>
                      <a:pt x="94" y="41"/>
                    </a:lnTo>
                    <a:lnTo>
                      <a:pt x="97" y="31"/>
                    </a:lnTo>
                    <a:lnTo>
                      <a:pt x="97" y="24"/>
                    </a:lnTo>
                    <a:lnTo>
                      <a:pt x="101" y="13"/>
                    </a:lnTo>
                    <a:lnTo>
                      <a:pt x="97" y="13"/>
                    </a:lnTo>
                    <a:lnTo>
                      <a:pt x="97" y="10"/>
                    </a:lnTo>
                    <a:lnTo>
                      <a:pt x="97" y="6"/>
                    </a:lnTo>
                    <a:lnTo>
                      <a:pt x="101" y="3"/>
                    </a:lnTo>
                    <a:lnTo>
                      <a:pt x="104" y="3"/>
                    </a:lnTo>
                    <a:lnTo>
                      <a:pt x="107" y="6"/>
                    </a:lnTo>
                    <a:lnTo>
                      <a:pt x="111" y="6"/>
                    </a:lnTo>
                    <a:lnTo>
                      <a:pt x="114" y="6"/>
                    </a:lnTo>
                    <a:lnTo>
                      <a:pt x="118" y="13"/>
                    </a:lnTo>
                    <a:lnTo>
                      <a:pt x="114" y="17"/>
                    </a:lnTo>
                    <a:lnTo>
                      <a:pt x="114" y="20"/>
                    </a:lnTo>
                    <a:lnTo>
                      <a:pt x="114" y="27"/>
                    </a:lnTo>
                    <a:lnTo>
                      <a:pt x="111" y="31"/>
                    </a:lnTo>
                    <a:lnTo>
                      <a:pt x="111" y="38"/>
                    </a:lnTo>
                    <a:lnTo>
                      <a:pt x="111" y="41"/>
                    </a:lnTo>
                    <a:lnTo>
                      <a:pt x="107" y="48"/>
                    </a:lnTo>
                    <a:lnTo>
                      <a:pt x="107" y="51"/>
                    </a:lnTo>
                    <a:lnTo>
                      <a:pt x="111" y="51"/>
                    </a:lnTo>
                    <a:lnTo>
                      <a:pt x="114" y="51"/>
                    </a:lnTo>
                    <a:lnTo>
                      <a:pt x="118" y="51"/>
                    </a:lnTo>
                    <a:lnTo>
                      <a:pt x="121" y="51"/>
                    </a:lnTo>
                    <a:lnTo>
                      <a:pt x="125" y="51"/>
                    </a:lnTo>
                    <a:lnTo>
                      <a:pt x="128" y="51"/>
                    </a:lnTo>
                    <a:lnTo>
                      <a:pt x="132" y="51"/>
                    </a:lnTo>
                    <a:lnTo>
                      <a:pt x="135" y="51"/>
                    </a:lnTo>
                    <a:lnTo>
                      <a:pt x="139" y="51"/>
                    </a:lnTo>
                    <a:lnTo>
                      <a:pt x="142" y="51"/>
                    </a:lnTo>
                    <a:lnTo>
                      <a:pt x="145" y="51"/>
                    </a:lnTo>
                    <a:lnTo>
                      <a:pt x="149" y="51"/>
                    </a:lnTo>
                    <a:lnTo>
                      <a:pt x="152" y="55"/>
                    </a:lnTo>
                    <a:lnTo>
                      <a:pt x="156" y="55"/>
                    </a:lnTo>
                    <a:lnTo>
                      <a:pt x="156" y="58"/>
                    </a:lnTo>
                    <a:lnTo>
                      <a:pt x="159" y="58"/>
                    </a:lnTo>
                    <a:lnTo>
                      <a:pt x="156" y="58"/>
                    </a:lnTo>
                    <a:lnTo>
                      <a:pt x="152" y="58"/>
                    </a:lnTo>
                    <a:lnTo>
                      <a:pt x="149" y="58"/>
                    </a:lnTo>
                    <a:lnTo>
                      <a:pt x="145" y="58"/>
                    </a:lnTo>
                    <a:lnTo>
                      <a:pt x="142" y="58"/>
                    </a:lnTo>
                    <a:lnTo>
                      <a:pt x="139" y="58"/>
                    </a:lnTo>
                    <a:lnTo>
                      <a:pt x="132" y="58"/>
                    </a:lnTo>
                    <a:lnTo>
                      <a:pt x="128" y="58"/>
                    </a:lnTo>
                    <a:lnTo>
                      <a:pt x="125" y="58"/>
                    </a:lnTo>
                    <a:lnTo>
                      <a:pt x="125" y="62"/>
                    </a:lnTo>
                    <a:lnTo>
                      <a:pt x="128" y="62"/>
                    </a:lnTo>
                    <a:lnTo>
                      <a:pt x="132" y="62"/>
                    </a:lnTo>
                    <a:lnTo>
                      <a:pt x="135" y="62"/>
                    </a:lnTo>
                    <a:lnTo>
                      <a:pt x="132" y="69"/>
                    </a:lnTo>
                    <a:lnTo>
                      <a:pt x="132" y="72"/>
                    </a:lnTo>
                    <a:lnTo>
                      <a:pt x="132" y="76"/>
                    </a:lnTo>
                    <a:lnTo>
                      <a:pt x="128" y="79"/>
                    </a:lnTo>
                    <a:lnTo>
                      <a:pt x="128" y="86"/>
                    </a:lnTo>
                    <a:lnTo>
                      <a:pt x="128" y="89"/>
                    </a:lnTo>
                    <a:lnTo>
                      <a:pt x="125" y="93"/>
                    </a:lnTo>
                    <a:lnTo>
                      <a:pt x="125" y="100"/>
                    </a:lnTo>
                    <a:lnTo>
                      <a:pt x="125" y="93"/>
                    </a:lnTo>
                    <a:lnTo>
                      <a:pt x="125" y="86"/>
                    </a:lnTo>
                    <a:lnTo>
                      <a:pt x="128" y="76"/>
                    </a:lnTo>
                    <a:lnTo>
                      <a:pt x="128" y="69"/>
                    </a:lnTo>
                    <a:lnTo>
                      <a:pt x="132" y="65"/>
                    </a:lnTo>
                    <a:lnTo>
                      <a:pt x="128" y="65"/>
                    </a:lnTo>
                    <a:lnTo>
                      <a:pt x="125" y="65"/>
                    </a:lnTo>
                    <a:lnTo>
                      <a:pt x="121" y="62"/>
                    </a:lnTo>
                    <a:lnTo>
                      <a:pt x="118" y="62"/>
                    </a:lnTo>
                    <a:lnTo>
                      <a:pt x="118" y="65"/>
                    </a:lnTo>
                    <a:lnTo>
                      <a:pt x="121" y="69"/>
                    </a:lnTo>
                    <a:lnTo>
                      <a:pt x="121" y="76"/>
                    </a:lnTo>
                    <a:lnTo>
                      <a:pt x="118" y="82"/>
                    </a:lnTo>
                    <a:lnTo>
                      <a:pt x="118" y="86"/>
                    </a:lnTo>
                    <a:lnTo>
                      <a:pt x="114" y="93"/>
                    </a:lnTo>
                    <a:lnTo>
                      <a:pt x="114" y="86"/>
                    </a:lnTo>
                    <a:lnTo>
                      <a:pt x="114" y="79"/>
                    </a:lnTo>
                    <a:lnTo>
                      <a:pt x="118" y="72"/>
                    </a:lnTo>
                    <a:lnTo>
                      <a:pt x="114" y="65"/>
                    </a:lnTo>
                    <a:lnTo>
                      <a:pt x="114" y="62"/>
                    </a:lnTo>
                    <a:lnTo>
                      <a:pt x="118" y="62"/>
                    </a:lnTo>
                    <a:lnTo>
                      <a:pt x="118" y="58"/>
                    </a:lnTo>
                    <a:lnTo>
                      <a:pt x="111" y="58"/>
                    </a:lnTo>
                    <a:lnTo>
                      <a:pt x="104" y="58"/>
                    </a:lnTo>
                    <a:lnTo>
                      <a:pt x="97" y="58"/>
                    </a:lnTo>
                    <a:lnTo>
                      <a:pt x="90" y="58"/>
                    </a:lnTo>
                    <a:lnTo>
                      <a:pt x="83" y="58"/>
                    </a:lnTo>
                    <a:lnTo>
                      <a:pt x="76" y="55"/>
                    </a:lnTo>
                    <a:lnTo>
                      <a:pt x="66" y="55"/>
                    </a:lnTo>
                    <a:lnTo>
                      <a:pt x="59" y="55"/>
                    </a:lnTo>
                    <a:lnTo>
                      <a:pt x="52" y="55"/>
                    </a:lnTo>
                    <a:lnTo>
                      <a:pt x="45" y="55"/>
                    </a:lnTo>
                    <a:lnTo>
                      <a:pt x="38" y="55"/>
                    </a:lnTo>
                    <a:lnTo>
                      <a:pt x="31" y="55"/>
                    </a:lnTo>
                    <a:lnTo>
                      <a:pt x="25" y="55"/>
                    </a:lnTo>
                    <a:lnTo>
                      <a:pt x="14" y="55"/>
                    </a:lnTo>
                    <a:lnTo>
                      <a:pt x="7" y="55"/>
                    </a:lnTo>
                    <a:lnTo>
                      <a:pt x="0" y="51"/>
                    </a:lnTo>
                    <a:lnTo>
                      <a:pt x="0" y="48"/>
                    </a:lnTo>
                    <a:lnTo>
                      <a:pt x="4" y="41"/>
                    </a:lnTo>
                    <a:lnTo>
                      <a:pt x="4" y="38"/>
                    </a:lnTo>
                    <a:lnTo>
                      <a:pt x="7" y="31"/>
                    </a:lnTo>
                    <a:lnTo>
                      <a:pt x="7" y="24"/>
                    </a:lnTo>
                    <a:lnTo>
                      <a:pt x="11" y="20"/>
                    </a:lnTo>
                    <a:lnTo>
                      <a:pt x="11" y="13"/>
                    </a:lnTo>
                    <a:lnTo>
                      <a:pt x="14" y="10"/>
                    </a:lnTo>
                    <a:lnTo>
                      <a:pt x="18" y="3"/>
                    </a:lnTo>
                    <a:lnTo>
                      <a:pt x="21" y="3"/>
                    </a:lnTo>
                    <a:lnTo>
                      <a:pt x="21" y="10"/>
                    </a:lnTo>
                    <a:lnTo>
                      <a:pt x="21" y="13"/>
                    </a:lnTo>
                    <a:lnTo>
                      <a:pt x="18" y="20"/>
                    </a:lnTo>
                    <a:lnTo>
                      <a:pt x="18" y="24"/>
                    </a:lnTo>
                    <a:lnTo>
                      <a:pt x="14" y="27"/>
                    </a:lnTo>
                    <a:lnTo>
                      <a:pt x="14" y="34"/>
                    </a:lnTo>
                    <a:lnTo>
                      <a:pt x="11" y="38"/>
                    </a:lnTo>
                    <a:lnTo>
                      <a:pt x="11" y="41"/>
                    </a:lnTo>
                    <a:lnTo>
                      <a:pt x="7" y="48"/>
                    </a:lnTo>
                    <a:lnTo>
                      <a:pt x="11" y="48"/>
                    </a:lnTo>
                    <a:lnTo>
                      <a:pt x="14" y="48"/>
                    </a:lnTo>
                    <a:lnTo>
                      <a:pt x="18" y="48"/>
                    </a:lnTo>
                    <a:lnTo>
                      <a:pt x="21" y="44"/>
                    </a:lnTo>
                    <a:lnTo>
                      <a:pt x="25" y="38"/>
                    </a:lnTo>
                    <a:lnTo>
                      <a:pt x="25" y="34"/>
                    </a:lnTo>
                    <a:lnTo>
                      <a:pt x="25" y="31"/>
                    </a:lnTo>
                    <a:lnTo>
                      <a:pt x="28" y="24"/>
                    </a:lnTo>
                    <a:lnTo>
                      <a:pt x="28" y="20"/>
                    </a:lnTo>
                    <a:lnTo>
                      <a:pt x="31" y="17"/>
                    </a:lnTo>
                    <a:lnTo>
                      <a:pt x="31" y="10"/>
                    </a:lnTo>
                    <a:lnTo>
                      <a:pt x="28" y="6"/>
                    </a:lnTo>
                    <a:lnTo>
                      <a:pt x="28" y="3"/>
                    </a:lnTo>
                    <a:lnTo>
                      <a:pt x="31" y="3"/>
                    </a:lnTo>
                    <a:lnTo>
                      <a:pt x="35" y="3"/>
                    </a:lnTo>
                    <a:lnTo>
                      <a:pt x="35" y="0"/>
                    </a:lnTo>
                    <a:lnTo>
                      <a:pt x="38" y="3"/>
                    </a:lnTo>
                    <a:lnTo>
                      <a:pt x="42" y="3"/>
                    </a:lnTo>
                    <a:lnTo>
                      <a:pt x="45" y="3"/>
                    </a:lnTo>
                    <a:lnTo>
                      <a:pt x="45" y="6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0" name="Freeform 414"/>
              <p:cNvSpPr>
                <a:spLocks/>
              </p:cNvSpPr>
              <p:nvPr/>
            </p:nvSpPr>
            <p:spPr bwMode="auto">
              <a:xfrm>
                <a:off x="2192" y="1599"/>
                <a:ext cx="24" cy="48"/>
              </a:xfrm>
              <a:custGeom>
                <a:avLst/>
                <a:gdLst>
                  <a:gd name="T0" fmla="*/ 21 w 24"/>
                  <a:gd name="T1" fmla="*/ 3 h 48"/>
                  <a:gd name="T2" fmla="*/ 24 w 24"/>
                  <a:gd name="T3" fmla="*/ 6 h 48"/>
                  <a:gd name="T4" fmla="*/ 24 w 24"/>
                  <a:gd name="T5" fmla="*/ 10 h 48"/>
                  <a:gd name="T6" fmla="*/ 24 w 24"/>
                  <a:gd name="T7" fmla="*/ 17 h 48"/>
                  <a:gd name="T8" fmla="*/ 21 w 24"/>
                  <a:gd name="T9" fmla="*/ 20 h 48"/>
                  <a:gd name="T10" fmla="*/ 21 w 24"/>
                  <a:gd name="T11" fmla="*/ 24 h 48"/>
                  <a:gd name="T12" fmla="*/ 17 w 24"/>
                  <a:gd name="T13" fmla="*/ 31 h 48"/>
                  <a:gd name="T14" fmla="*/ 17 w 24"/>
                  <a:gd name="T15" fmla="*/ 34 h 48"/>
                  <a:gd name="T16" fmla="*/ 17 w 24"/>
                  <a:gd name="T17" fmla="*/ 41 h 48"/>
                  <a:gd name="T18" fmla="*/ 14 w 24"/>
                  <a:gd name="T19" fmla="*/ 41 h 48"/>
                  <a:gd name="T20" fmla="*/ 14 w 24"/>
                  <a:gd name="T21" fmla="*/ 41 h 48"/>
                  <a:gd name="T22" fmla="*/ 14 w 24"/>
                  <a:gd name="T23" fmla="*/ 44 h 48"/>
                  <a:gd name="T24" fmla="*/ 14 w 24"/>
                  <a:gd name="T25" fmla="*/ 44 h 48"/>
                  <a:gd name="T26" fmla="*/ 14 w 24"/>
                  <a:gd name="T27" fmla="*/ 34 h 48"/>
                  <a:gd name="T28" fmla="*/ 14 w 24"/>
                  <a:gd name="T29" fmla="*/ 27 h 48"/>
                  <a:gd name="T30" fmla="*/ 17 w 24"/>
                  <a:gd name="T31" fmla="*/ 20 h 48"/>
                  <a:gd name="T32" fmla="*/ 21 w 24"/>
                  <a:gd name="T33" fmla="*/ 13 h 48"/>
                  <a:gd name="T34" fmla="*/ 21 w 24"/>
                  <a:gd name="T35" fmla="*/ 13 h 48"/>
                  <a:gd name="T36" fmla="*/ 21 w 24"/>
                  <a:gd name="T37" fmla="*/ 10 h 48"/>
                  <a:gd name="T38" fmla="*/ 21 w 24"/>
                  <a:gd name="T39" fmla="*/ 10 h 48"/>
                  <a:gd name="T40" fmla="*/ 17 w 24"/>
                  <a:gd name="T41" fmla="*/ 10 h 48"/>
                  <a:gd name="T42" fmla="*/ 17 w 24"/>
                  <a:gd name="T43" fmla="*/ 10 h 48"/>
                  <a:gd name="T44" fmla="*/ 17 w 24"/>
                  <a:gd name="T45" fmla="*/ 6 h 48"/>
                  <a:gd name="T46" fmla="*/ 17 w 24"/>
                  <a:gd name="T47" fmla="*/ 6 h 48"/>
                  <a:gd name="T48" fmla="*/ 14 w 24"/>
                  <a:gd name="T49" fmla="*/ 6 h 48"/>
                  <a:gd name="T50" fmla="*/ 14 w 24"/>
                  <a:gd name="T51" fmla="*/ 6 h 48"/>
                  <a:gd name="T52" fmla="*/ 10 w 24"/>
                  <a:gd name="T53" fmla="*/ 13 h 48"/>
                  <a:gd name="T54" fmla="*/ 10 w 24"/>
                  <a:gd name="T55" fmla="*/ 24 h 48"/>
                  <a:gd name="T56" fmla="*/ 7 w 24"/>
                  <a:gd name="T57" fmla="*/ 31 h 48"/>
                  <a:gd name="T58" fmla="*/ 7 w 24"/>
                  <a:gd name="T59" fmla="*/ 41 h 48"/>
                  <a:gd name="T60" fmla="*/ 4 w 24"/>
                  <a:gd name="T61" fmla="*/ 41 h 48"/>
                  <a:gd name="T62" fmla="*/ 4 w 24"/>
                  <a:gd name="T63" fmla="*/ 44 h 48"/>
                  <a:gd name="T64" fmla="*/ 0 w 24"/>
                  <a:gd name="T65" fmla="*/ 44 h 48"/>
                  <a:gd name="T66" fmla="*/ 0 w 24"/>
                  <a:gd name="T67" fmla="*/ 48 h 48"/>
                  <a:gd name="T68" fmla="*/ 0 w 24"/>
                  <a:gd name="T69" fmla="*/ 41 h 48"/>
                  <a:gd name="T70" fmla="*/ 4 w 24"/>
                  <a:gd name="T71" fmla="*/ 38 h 48"/>
                  <a:gd name="T72" fmla="*/ 4 w 24"/>
                  <a:gd name="T73" fmla="*/ 34 h 48"/>
                  <a:gd name="T74" fmla="*/ 4 w 24"/>
                  <a:gd name="T75" fmla="*/ 27 h 48"/>
                  <a:gd name="T76" fmla="*/ 7 w 24"/>
                  <a:gd name="T77" fmla="*/ 24 h 48"/>
                  <a:gd name="T78" fmla="*/ 7 w 24"/>
                  <a:gd name="T79" fmla="*/ 20 h 48"/>
                  <a:gd name="T80" fmla="*/ 7 w 24"/>
                  <a:gd name="T81" fmla="*/ 13 h 48"/>
                  <a:gd name="T82" fmla="*/ 10 w 24"/>
                  <a:gd name="T83" fmla="*/ 10 h 48"/>
                  <a:gd name="T84" fmla="*/ 4 w 24"/>
                  <a:gd name="T85" fmla="*/ 6 h 48"/>
                  <a:gd name="T86" fmla="*/ 7 w 24"/>
                  <a:gd name="T87" fmla="*/ 3 h 48"/>
                  <a:gd name="T88" fmla="*/ 7 w 24"/>
                  <a:gd name="T89" fmla="*/ 3 h 48"/>
                  <a:gd name="T90" fmla="*/ 10 w 24"/>
                  <a:gd name="T91" fmla="*/ 3 h 48"/>
                  <a:gd name="T92" fmla="*/ 10 w 24"/>
                  <a:gd name="T93" fmla="*/ 0 h 48"/>
                  <a:gd name="T94" fmla="*/ 14 w 24"/>
                  <a:gd name="T95" fmla="*/ 3 h 48"/>
                  <a:gd name="T96" fmla="*/ 14 w 24"/>
                  <a:gd name="T97" fmla="*/ 3 h 48"/>
                  <a:gd name="T98" fmla="*/ 14 w 24"/>
                  <a:gd name="T99" fmla="*/ 3 h 48"/>
                  <a:gd name="T100" fmla="*/ 14 w 24"/>
                  <a:gd name="T101" fmla="*/ 3 h 48"/>
                  <a:gd name="T102" fmla="*/ 17 w 24"/>
                  <a:gd name="T103" fmla="*/ 3 h 48"/>
                  <a:gd name="T104" fmla="*/ 17 w 24"/>
                  <a:gd name="T105" fmla="*/ 3 h 48"/>
                  <a:gd name="T106" fmla="*/ 17 w 24"/>
                  <a:gd name="T107" fmla="*/ 3 h 48"/>
                  <a:gd name="T108" fmla="*/ 21 w 24"/>
                  <a:gd name="T109" fmla="*/ 3 h 48"/>
                  <a:gd name="T110" fmla="*/ 21 w 24"/>
                  <a:gd name="T111" fmla="*/ 3 h 4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24"/>
                  <a:gd name="T169" fmla="*/ 0 h 48"/>
                  <a:gd name="T170" fmla="*/ 24 w 24"/>
                  <a:gd name="T171" fmla="*/ 48 h 48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24" h="48">
                    <a:moveTo>
                      <a:pt x="21" y="3"/>
                    </a:moveTo>
                    <a:lnTo>
                      <a:pt x="24" y="6"/>
                    </a:lnTo>
                    <a:lnTo>
                      <a:pt x="24" y="10"/>
                    </a:lnTo>
                    <a:lnTo>
                      <a:pt x="24" y="17"/>
                    </a:lnTo>
                    <a:lnTo>
                      <a:pt x="21" y="20"/>
                    </a:lnTo>
                    <a:lnTo>
                      <a:pt x="21" y="24"/>
                    </a:lnTo>
                    <a:lnTo>
                      <a:pt x="17" y="31"/>
                    </a:lnTo>
                    <a:lnTo>
                      <a:pt x="17" y="34"/>
                    </a:lnTo>
                    <a:lnTo>
                      <a:pt x="17" y="41"/>
                    </a:lnTo>
                    <a:lnTo>
                      <a:pt x="14" y="41"/>
                    </a:lnTo>
                    <a:lnTo>
                      <a:pt x="14" y="44"/>
                    </a:lnTo>
                    <a:lnTo>
                      <a:pt x="14" y="34"/>
                    </a:lnTo>
                    <a:lnTo>
                      <a:pt x="14" y="27"/>
                    </a:lnTo>
                    <a:lnTo>
                      <a:pt x="17" y="20"/>
                    </a:lnTo>
                    <a:lnTo>
                      <a:pt x="21" y="13"/>
                    </a:lnTo>
                    <a:lnTo>
                      <a:pt x="21" y="10"/>
                    </a:lnTo>
                    <a:lnTo>
                      <a:pt x="17" y="10"/>
                    </a:lnTo>
                    <a:lnTo>
                      <a:pt x="17" y="6"/>
                    </a:lnTo>
                    <a:lnTo>
                      <a:pt x="14" y="6"/>
                    </a:lnTo>
                    <a:lnTo>
                      <a:pt x="10" y="13"/>
                    </a:lnTo>
                    <a:lnTo>
                      <a:pt x="10" y="24"/>
                    </a:lnTo>
                    <a:lnTo>
                      <a:pt x="7" y="31"/>
                    </a:lnTo>
                    <a:lnTo>
                      <a:pt x="7" y="41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0" y="44"/>
                    </a:lnTo>
                    <a:lnTo>
                      <a:pt x="0" y="48"/>
                    </a:lnTo>
                    <a:lnTo>
                      <a:pt x="0" y="41"/>
                    </a:lnTo>
                    <a:lnTo>
                      <a:pt x="4" y="38"/>
                    </a:lnTo>
                    <a:lnTo>
                      <a:pt x="4" y="34"/>
                    </a:lnTo>
                    <a:lnTo>
                      <a:pt x="4" y="27"/>
                    </a:lnTo>
                    <a:lnTo>
                      <a:pt x="7" y="24"/>
                    </a:lnTo>
                    <a:lnTo>
                      <a:pt x="7" y="20"/>
                    </a:lnTo>
                    <a:lnTo>
                      <a:pt x="7" y="13"/>
                    </a:lnTo>
                    <a:lnTo>
                      <a:pt x="10" y="10"/>
                    </a:lnTo>
                    <a:lnTo>
                      <a:pt x="4" y="6"/>
                    </a:lnTo>
                    <a:lnTo>
                      <a:pt x="7" y="3"/>
                    </a:lnTo>
                    <a:lnTo>
                      <a:pt x="10" y="3"/>
                    </a:lnTo>
                    <a:lnTo>
                      <a:pt x="10" y="0"/>
                    </a:lnTo>
                    <a:lnTo>
                      <a:pt x="14" y="3"/>
                    </a:lnTo>
                    <a:lnTo>
                      <a:pt x="17" y="3"/>
                    </a:lnTo>
                    <a:lnTo>
                      <a:pt x="21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1" name="Freeform 415"/>
              <p:cNvSpPr>
                <a:spLocks/>
              </p:cNvSpPr>
              <p:nvPr/>
            </p:nvSpPr>
            <p:spPr bwMode="auto">
              <a:xfrm>
                <a:off x="2275" y="1602"/>
                <a:ext cx="14" cy="41"/>
              </a:xfrm>
              <a:custGeom>
                <a:avLst/>
                <a:gdLst>
                  <a:gd name="T0" fmla="*/ 14 w 14"/>
                  <a:gd name="T1" fmla="*/ 3 h 41"/>
                  <a:gd name="T2" fmla="*/ 14 w 14"/>
                  <a:gd name="T3" fmla="*/ 7 h 41"/>
                  <a:gd name="T4" fmla="*/ 14 w 14"/>
                  <a:gd name="T5" fmla="*/ 10 h 41"/>
                  <a:gd name="T6" fmla="*/ 10 w 14"/>
                  <a:gd name="T7" fmla="*/ 14 h 41"/>
                  <a:gd name="T8" fmla="*/ 10 w 14"/>
                  <a:gd name="T9" fmla="*/ 17 h 41"/>
                  <a:gd name="T10" fmla="*/ 3 w 14"/>
                  <a:gd name="T11" fmla="*/ 41 h 41"/>
                  <a:gd name="T12" fmla="*/ 3 w 14"/>
                  <a:gd name="T13" fmla="*/ 41 h 41"/>
                  <a:gd name="T14" fmla="*/ 0 w 14"/>
                  <a:gd name="T15" fmla="*/ 41 h 41"/>
                  <a:gd name="T16" fmla="*/ 0 w 14"/>
                  <a:gd name="T17" fmla="*/ 41 h 41"/>
                  <a:gd name="T18" fmla="*/ 0 w 14"/>
                  <a:gd name="T19" fmla="*/ 41 h 41"/>
                  <a:gd name="T20" fmla="*/ 0 w 14"/>
                  <a:gd name="T21" fmla="*/ 38 h 41"/>
                  <a:gd name="T22" fmla="*/ 0 w 14"/>
                  <a:gd name="T23" fmla="*/ 35 h 41"/>
                  <a:gd name="T24" fmla="*/ 3 w 14"/>
                  <a:gd name="T25" fmla="*/ 28 h 41"/>
                  <a:gd name="T26" fmla="*/ 3 w 14"/>
                  <a:gd name="T27" fmla="*/ 24 h 41"/>
                  <a:gd name="T28" fmla="*/ 3 w 14"/>
                  <a:gd name="T29" fmla="*/ 17 h 41"/>
                  <a:gd name="T30" fmla="*/ 7 w 14"/>
                  <a:gd name="T31" fmla="*/ 14 h 41"/>
                  <a:gd name="T32" fmla="*/ 7 w 14"/>
                  <a:gd name="T33" fmla="*/ 10 h 41"/>
                  <a:gd name="T34" fmla="*/ 10 w 14"/>
                  <a:gd name="T35" fmla="*/ 7 h 41"/>
                  <a:gd name="T36" fmla="*/ 7 w 14"/>
                  <a:gd name="T37" fmla="*/ 3 h 41"/>
                  <a:gd name="T38" fmla="*/ 7 w 14"/>
                  <a:gd name="T39" fmla="*/ 3 h 41"/>
                  <a:gd name="T40" fmla="*/ 7 w 14"/>
                  <a:gd name="T41" fmla="*/ 3 h 41"/>
                  <a:gd name="T42" fmla="*/ 3 w 14"/>
                  <a:gd name="T43" fmla="*/ 3 h 41"/>
                  <a:gd name="T44" fmla="*/ 3 w 14"/>
                  <a:gd name="T45" fmla="*/ 7 h 41"/>
                  <a:gd name="T46" fmla="*/ 3 w 14"/>
                  <a:gd name="T47" fmla="*/ 7 h 41"/>
                  <a:gd name="T48" fmla="*/ 3 w 14"/>
                  <a:gd name="T49" fmla="*/ 7 h 41"/>
                  <a:gd name="T50" fmla="*/ 3 w 14"/>
                  <a:gd name="T51" fmla="*/ 10 h 41"/>
                  <a:gd name="T52" fmla="*/ 0 w 14"/>
                  <a:gd name="T53" fmla="*/ 7 h 41"/>
                  <a:gd name="T54" fmla="*/ 0 w 14"/>
                  <a:gd name="T55" fmla="*/ 3 h 41"/>
                  <a:gd name="T56" fmla="*/ 3 w 14"/>
                  <a:gd name="T57" fmla="*/ 3 h 41"/>
                  <a:gd name="T58" fmla="*/ 3 w 14"/>
                  <a:gd name="T59" fmla="*/ 0 h 41"/>
                  <a:gd name="T60" fmla="*/ 7 w 14"/>
                  <a:gd name="T61" fmla="*/ 0 h 41"/>
                  <a:gd name="T62" fmla="*/ 7 w 14"/>
                  <a:gd name="T63" fmla="*/ 0 h 41"/>
                  <a:gd name="T64" fmla="*/ 7 w 14"/>
                  <a:gd name="T65" fmla="*/ 0 h 41"/>
                  <a:gd name="T66" fmla="*/ 10 w 14"/>
                  <a:gd name="T67" fmla="*/ 0 h 41"/>
                  <a:gd name="T68" fmla="*/ 10 w 14"/>
                  <a:gd name="T69" fmla="*/ 0 h 41"/>
                  <a:gd name="T70" fmla="*/ 10 w 14"/>
                  <a:gd name="T71" fmla="*/ 0 h 41"/>
                  <a:gd name="T72" fmla="*/ 14 w 14"/>
                  <a:gd name="T73" fmla="*/ 3 h 41"/>
                  <a:gd name="T74" fmla="*/ 14 w 14"/>
                  <a:gd name="T75" fmla="*/ 3 h 41"/>
                  <a:gd name="T76" fmla="*/ 14 w 14"/>
                  <a:gd name="T77" fmla="*/ 3 h 4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4"/>
                  <a:gd name="T118" fmla="*/ 0 h 41"/>
                  <a:gd name="T119" fmla="*/ 14 w 14"/>
                  <a:gd name="T120" fmla="*/ 41 h 4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4" h="41">
                    <a:moveTo>
                      <a:pt x="14" y="3"/>
                    </a:moveTo>
                    <a:lnTo>
                      <a:pt x="14" y="7"/>
                    </a:lnTo>
                    <a:lnTo>
                      <a:pt x="14" y="10"/>
                    </a:lnTo>
                    <a:lnTo>
                      <a:pt x="10" y="14"/>
                    </a:lnTo>
                    <a:lnTo>
                      <a:pt x="10" y="17"/>
                    </a:lnTo>
                    <a:lnTo>
                      <a:pt x="3" y="41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3" y="28"/>
                    </a:lnTo>
                    <a:lnTo>
                      <a:pt x="3" y="24"/>
                    </a:lnTo>
                    <a:lnTo>
                      <a:pt x="3" y="17"/>
                    </a:lnTo>
                    <a:lnTo>
                      <a:pt x="7" y="14"/>
                    </a:lnTo>
                    <a:lnTo>
                      <a:pt x="7" y="10"/>
                    </a:lnTo>
                    <a:lnTo>
                      <a:pt x="10" y="7"/>
                    </a:lnTo>
                    <a:lnTo>
                      <a:pt x="7" y="3"/>
                    </a:lnTo>
                    <a:lnTo>
                      <a:pt x="3" y="3"/>
                    </a:lnTo>
                    <a:lnTo>
                      <a:pt x="3" y="7"/>
                    </a:lnTo>
                    <a:lnTo>
                      <a:pt x="3" y="10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4" y="3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2" name="Freeform 416"/>
              <p:cNvSpPr>
                <a:spLocks/>
              </p:cNvSpPr>
              <p:nvPr/>
            </p:nvSpPr>
            <p:spPr bwMode="auto">
              <a:xfrm>
                <a:off x="2158" y="1605"/>
                <a:ext cx="20" cy="42"/>
              </a:xfrm>
              <a:custGeom>
                <a:avLst/>
                <a:gdLst>
                  <a:gd name="T0" fmla="*/ 17 w 20"/>
                  <a:gd name="T1" fmla="*/ 0 h 42"/>
                  <a:gd name="T2" fmla="*/ 13 w 20"/>
                  <a:gd name="T3" fmla="*/ 4 h 42"/>
                  <a:gd name="T4" fmla="*/ 13 w 20"/>
                  <a:gd name="T5" fmla="*/ 4 h 42"/>
                  <a:gd name="T6" fmla="*/ 13 w 20"/>
                  <a:gd name="T7" fmla="*/ 4 h 42"/>
                  <a:gd name="T8" fmla="*/ 13 w 20"/>
                  <a:gd name="T9" fmla="*/ 7 h 42"/>
                  <a:gd name="T10" fmla="*/ 13 w 20"/>
                  <a:gd name="T11" fmla="*/ 7 h 42"/>
                  <a:gd name="T12" fmla="*/ 17 w 20"/>
                  <a:gd name="T13" fmla="*/ 7 h 42"/>
                  <a:gd name="T14" fmla="*/ 20 w 20"/>
                  <a:gd name="T15" fmla="*/ 7 h 42"/>
                  <a:gd name="T16" fmla="*/ 20 w 20"/>
                  <a:gd name="T17" fmla="*/ 7 h 42"/>
                  <a:gd name="T18" fmla="*/ 20 w 20"/>
                  <a:gd name="T19" fmla="*/ 11 h 42"/>
                  <a:gd name="T20" fmla="*/ 17 w 20"/>
                  <a:gd name="T21" fmla="*/ 18 h 42"/>
                  <a:gd name="T22" fmla="*/ 17 w 20"/>
                  <a:gd name="T23" fmla="*/ 21 h 42"/>
                  <a:gd name="T24" fmla="*/ 13 w 20"/>
                  <a:gd name="T25" fmla="*/ 25 h 42"/>
                  <a:gd name="T26" fmla="*/ 13 w 20"/>
                  <a:gd name="T27" fmla="*/ 28 h 42"/>
                  <a:gd name="T28" fmla="*/ 10 w 20"/>
                  <a:gd name="T29" fmla="*/ 32 h 42"/>
                  <a:gd name="T30" fmla="*/ 10 w 20"/>
                  <a:gd name="T31" fmla="*/ 38 h 42"/>
                  <a:gd name="T32" fmla="*/ 6 w 20"/>
                  <a:gd name="T33" fmla="*/ 42 h 42"/>
                  <a:gd name="T34" fmla="*/ 0 w 20"/>
                  <a:gd name="T35" fmla="*/ 42 h 42"/>
                  <a:gd name="T36" fmla="*/ 0 w 20"/>
                  <a:gd name="T37" fmla="*/ 38 h 42"/>
                  <a:gd name="T38" fmla="*/ 3 w 20"/>
                  <a:gd name="T39" fmla="*/ 32 h 42"/>
                  <a:gd name="T40" fmla="*/ 3 w 20"/>
                  <a:gd name="T41" fmla="*/ 28 h 42"/>
                  <a:gd name="T42" fmla="*/ 6 w 20"/>
                  <a:gd name="T43" fmla="*/ 21 h 42"/>
                  <a:gd name="T44" fmla="*/ 6 w 20"/>
                  <a:gd name="T45" fmla="*/ 18 h 42"/>
                  <a:gd name="T46" fmla="*/ 10 w 20"/>
                  <a:gd name="T47" fmla="*/ 14 h 42"/>
                  <a:gd name="T48" fmla="*/ 10 w 20"/>
                  <a:gd name="T49" fmla="*/ 7 h 42"/>
                  <a:gd name="T50" fmla="*/ 10 w 20"/>
                  <a:gd name="T51" fmla="*/ 4 h 42"/>
                  <a:gd name="T52" fmla="*/ 10 w 20"/>
                  <a:gd name="T53" fmla="*/ 4 h 42"/>
                  <a:gd name="T54" fmla="*/ 10 w 20"/>
                  <a:gd name="T55" fmla="*/ 0 h 42"/>
                  <a:gd name="T56" fmla="*/ 10 w 20"/>
                  <a:gd name="T57" fmla="*/ 0 h 42"/>
                  <a:gd name="T58" fmla="*/ 10 w 20"/>
                  <a:gd name="T59" fmla="*/ 0 h 42"/>
                  <a:gd name="T60" fmla="*/ 13 w 20"/>
                  <a:gd name="T61" fmla="*/ 0 h 42"/>
                  <a:gd name="T62" fmla="*/ 13 w 20"/>
                  <a:gd name="T63" fmla="*/ 0 h 42"/>
                  <a:gd name="T64" fmla="*/ 13 w 20"/>
                  <a:gd name="T65" fmla="*/ 0 h 42"/>
                  <a:gd name="T66" fmla="*/ 17 w 20"/>
                  <a:gd name="T67" fmla="*/ 0 h 42"/>
                  <a:gd name="T68" fmla="*/ 17 w 20"/>
                  <a:gd name="T69" fmla="*/ 0 h 4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0"/>
                  <a:gd name="T106" fmla="*/ 0 h 42"/>
                  <a:gd name="T107" fmla="*/ 20 w 20"/>
                  <a:gd name="T108" fmla="*/ 42 h 42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0" h="42">
                    <a:moveTo>
                      <a:pt x="17" y="0"/>
                    </a:moveTo>
                    <a:lnTo>
                      <a:pt x="13" y="4"/>
                    </a:lnTo>
                    <a:lnTo>
                      <a:pt x="13" y="7"/>
                    </a:lnTo>
                    <a:lnTo>
                      <a:pt x="17" y="7"/>
                    </a:lnTo>
                    <a:lnTo>
                      <a:pt x="20" y="7"/>
                    </a:lnTo>
                    <a:lnTo>
                      <a:pt x="20" y="11"/>
                    </a:lnTo>
                    <a:lnTo>
                      <a:pt x="17" y="18"/>
                    </a:lnTo>
                    <a:lnTo>
                      <a:pt x="17" y="21"/>
                    </a:lnTo>
                    <a:lnTo>
                      <a:pt x="13" y="25"/>
                    </a:lnTo>
                    <a:lnTo>
                      <a:pt x="13" y="28"/>
                    </a:lnTo>
                    <a:lnTo>
                      <a:pt x="10" y="32"/>
                    </a:lnTo>
                    <a:lnTo>
                      <a:pt x="10" y="38"/>
                    </a:lnTo>
                    <a:lnTo>
                      <a:pt x="6" y="42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3" y="32"/>
                    </a:lnTo>
                    <a:lnTo>
                      <a:pt x="3" y="28"/>
                    </a:lnTo>
                    <a:lnTo>
                      <a:pt x="6" y="21"/>
                    </a:lnTo>
                    <a:lnTo>
                      <a:pt x="6" y="18"/>
                    </a:lnTo>
                    <a:lnTo>
                      <a:pt x="10" y="14"/>
                    </a:lnTo>
                    <a:lnTo>
                      <a:pt x="10" y="7"/>
                    </a:lnTo>
                    <a:lnTo>
                      <a:pt x="10" y="4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3" name="Freeform 417"/>
              <p:cNvSpPr>
                <a:spLocks/>
              </p:cNvSpPr>
              <p:nvPr/>
            </p:nvSpPr>
            <p:spPr bwMode="auto">
              <a:xfrm>
                <a:off x="2261" y="1605"/>
                <a:ext cx="14" cy="45"/>
              </a:xfrm>
              <a:custGeom>
                <a:avLst/>
                <a:gdLst>
                  <a:gd name="T0" fmla="*/ 14 w 14"/>
                  <a:gd name="T1" fmla="*/ 4 h 45"/>
                  <a:gd name="T2" fmla="*/ 11 w 14"/>
                  <a:gd name="T3" fmla="*/ 4 h 45"/>
                  <a:gd name="T4" fmla="*/ 11 w 14"/>
                  <a:gd name="T5" fmla="*/ 4 h 45"/>
                  <a:gd name="T6" fmla="*/ 7 w 14"/>
                  <a:gd name="T7" fmla="*/ 4 h 45"/>
                  <a:gd name="T8" fmla="*/ 7 w 14"/>
                  <a:gd name="T9" fmla="*/ 4 h 45"/>
                  <a:gd name="T10" fmla="*/ 4 w 14"/>
                  <a:gd name="T11" fmla="*/ 4 h 45"/>
                  <a:gd name="T12" fmla="*/ 4 w 14"/>
                  <a:gd name="T13" fmla="*/ 7 h 45"/>
                  <a:gd name="T14" fmla="*/ 4 w 14"/>
                  <a:gd name="T15" fmla="*/ 7 h 45"/>
                  <a:gd name="T16" fmla="*/ 7 w 14"/>
                  <a:gd name="T17" fmla="*/ 11 h 45"/>
                  <a:gd name="T18" fmla="*/ 7 w 14"/>
                  <a:gd name="T19" fmla="*/ 11 h 45"/>
                  <a:gd name="T20" fmla="*/ 11 w 14"/>
                  <a:gd name="T21" fmla="*/ 14 h 45"/>
                  <a:gd name="T22" fmla="*/ 11 w 14"/>
                  <a:gd name="T23" fmla="*/ 18 h 45"/>
                  <a:gd name="T24" fmla="*/ 7 w 14"/>
                  <a:gd name="T25" fmla="*/ 21 h 45"/>
                  <a:gd name="T26" fmla="*/ 7 w 14"/>
                  <a:gd name="T27" fmla="*/ 25 h 45"/>
                  <a:gd name="T28" fmla="*/ 7 w 14"/>
                  <a:gd name="T29" fmla="*/ 28 h 45"/>
                  <a:gd name="T30" fmla="*/ 7 w 14"/>
                  <a:gd name="T31" fmla="*/ 32 h 45"/>
                  <a:gd name="T32" fmla="*/ 4 w 14"/>
                  <a:gd name="T33" fmla="*/ 32 h 45"/>
                  <a:gd name="T34" fmla="*/ 4 w 14"/>
                  <a:gd name="T35" fmla="*/ 35 h 45"/>
                  <a:gd name="T36" fmla="*/ 4 w 14"/>
                  <a:gd name="T37" fmla="*/ 38 h 45"/>
                  <a:gd name="T38" fmla="*/ 4 w 14"/>
                  <a:gd name="T39" fmla="*/ 42 h 45"/>
                  <a:gd name="T40" fmla="*/ 0 w 14"/>
                  <a:gd name="T41" fmla="*/ 45 h 45"/>
                  <a:gd name="T42" fmla="*/ 0 w 14"/>
                  <a:gd name="T43" fmla="*/ 38 h 45"/>
                  <a:gd name="T44" fmla="*/ 0 w 14"/>
                  <a:gd name="T45" fmla="*/ 35 h 45"/>
                  <a:gd name="T46" fmla="*/ 4 w 14"/>
                  <a:gd name="T47" fmla="*/ 28 h 45"/>
                  <a:gd name="T48" fmla="*/ 4 w 14"/>
                  <a:gd name="T49" fmla="*/ 25 h 45"/>
                  <a:gd name="T50" fmla="*/ 7 w 14"/>
                  <a:gd name="T51" fmla="*/ 21 h 45"/>
                  <a:gd name="T52" fmla="*/ 7 w 14"/>
                  <a:gd name="T53" fmla="*/ 14 h 45"/>
                  <a:gd name="T54" fmla="*/ 4 w 14"/>
                  <a:gd name="T55" fmla="*/ 11 h 45"/>
                  <a:gd name="T56" fmla="*/ 0 w 14"/>
                  <a:gd name="T57" fmla="*/ 7 h 45"/>
                  <a:gd name="T58" fmla="*/ 0 w 14"/>
                  <a:gd name="T59" fmla="*/ 4 h 45"/>
                  <a:gd name="T60" fmla="*/ 0 w 14"/>
                  <a:gd name="T61" fmla="*/ 4 h 45"/>
                  <a:gd name="T62" fmla="*/ 4 w 14"/>
                  <a:gd name="T63" fmla="*/ 4 h 45"/>
                  <a:gd name="T64" fmla="*/ 7 w 14"/>
                  <a:gd name="T65" fmla="*/ 0 h 45"/>
                  <a:gd name="T66" fmla="*/ 7 w 14"/>
                  <a:gd name="T67" fmla="*/ 0 h 45"/>
                  <a:gd name="T68" fmla="*/ 11 w 14"/>
                  <a:gd name="T69" fmla="*/ 0 h 45"/>
                  <a:gd name="T70" fmla="*/ 11 w 14"/>
                  <a:gd name="T71" fmla="*/ 0 h 45"/>
                  <a:gd name="T72" fmla="*/ 14 w 14"/>
                  <a:gd name="T73" fmla="*/ 4 h 45"/>
                  <a:gd name="T74" fmla="*/ 14 w 14"/>
                  <a:gd name="T75" fmla="*/ 4 h 45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4"/>
                  <a:gd name="T115" fmla="*/ 0 h 45"/>
                  <a:gd name="T116" fmla="*/ 14 w 14"/>
                  <a:gd name="T117" fmla="*/ 45 h 45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4" h="45">
                    <a:moveTo>
                      <a:pt x="14" y="4"/>
                    </a:moveTo>
                    <a:lnTo>
                      <a:pt x="11" y="4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7" y="11"/>
                    </a:lnTo>
                    <a:lnTo>
                      <a:pt x="11" y="14"/>
                    </a:lnTo>
                    <a:lnTo>
                      <a:pt x="11" y="18"/>
                    </a:lnTo>
                    <a:lnTo>
                      <a:pt x="7" y="21"/>
                    </a:lnTo>
                    <a:lnTo>
                      <a:pt x="7" y="25"/>
                    </a:lnTo>
                    <a:lnTo>
                      <a:pt x="7" y="28"/>
                    </a:lnTo>
                    <a:lnTo>
                      <a:pt x="7" y="32"/>
                    </a:lnTo>
                    <a:lnTo>
                      <a:pt x="4" y="32"/>
                    </a:lnTo>
                    <a:lnTo>
                      <a:pt x="4" y="35"/>
                    </a:lnTo>
                    <a:lnTo>
                      <a:pt x="4" y="38"/>
                    </a:lnTo>
                    <a:lnTo>
                      <a:pt x="4" y="42"/>
                    </a:lnTo>
                    <a:lnTo>
                      <a:pt x="0" y="45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4" y="28"/>
                    </a:lnTo>
                    <a:lnTo>
                      <a:pt x="4" y="25"/>
                    </a:lnTo>
                    <a:lnTo>
                      <a:pt x="7" y="21"/>
                    </a:lnTo>
                    <a:lnTo>
                      <a:pt x="7" y="14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4" y="4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4" name="Freeform 418"/>
              <p:cNvSpPr>
                <a:spLocks/>
              </p:cNvSpPr>
              <p:nvPr/>
            </p:nvSpPr>
            <p:spPr bwMode="auto">
              <a:xfrm>
                <a:off x="1902" y="1633"/>
                <a:ext cx="86" cy="73"/>
              </a:xfrm>
              <a:custGeom>
                <a:avLst/>
                <a:gdLst>
                  <a:gd name="T0" fmla="*/ 17 w 86"/>
                  <a:gd name="T1" fmla="*/ 21 h 73"/>
                  <a:gd name="T2" fmla="*/ 17 w 86"/>
                  <a:gd name="T3" fmla="*/ 24 h 73"/>
                  <a:gd name="T4" fmla="*/ 17 w 86"/>
                  <a:gd name="T5" fmla="*/ 28 h 73"/>
                  <a:gd name="T6" fmla="*/ 17 w 86"/>
                  <a:gd name="T7" fmla="*/ 35 h 73"/>
                  <a:gd name="T8" fmla="*/ 20 w 86"/>
                  <a:gd name="T9" fmla="*/ 38 h 73"/>
                  <a:gd name="T10" fmla="*/ 20 w 86"/>
                  <a:gd name="T11" fmla="*/ 42 h 73"/>
                  <a:gd name="T12" fmla="*/ 24 w 86"/>
                  <a:gd name="T13" fmla="*/ 45 h 73"/>
                  <a:gd name="T14" fmla="*/ 27 w 86"/>
                  <a:gd name="T15" fmla="*/ 48 h 73"/>
                  <a:gd name="T16" fmla="*/ 31 w 86"/>
                  <a:gd name="T17" fmla="*/ 48 h 73"/>
                  <a:gd name="T18" fmla="*/ 38 w 86"/>
                  <a:gd name="T19" fmla="*/ 52 h 73"/>
                  <a:gd name="T20" fmla="*/ 41 w 86"/>
                  <a:gd name="T21" fmla="*/ 52 h 73"/>
                  <a:gd name="T22" fmla="*/ 48 w 86"/>
                  <a:gd name="T23" fmla="*/ 55 h 73"/>
                  <a:gd name="T24" fmla="*/ 52 w 86"/>
                  <a:gd name="T25" fmla="*/ 59 h 73"/>
                  <a:gd name="T26" fmla="*/ 58 w 86"/>
                  <a:gd name="T27" fmla="*/ 59 h 73"/>
                  <a:gd name="T28" fmla="*/ 62 w 86"/>
                  <a:gd name="T29" fmla="*/ 59 h 73"/>
                  <a:gd name="T30" fmla="*/ 69 w 86"/>
                  <a:gd name="T31" fmla="*/ 62 h 73"/>
                  <a:gd name="T32" fmla="*/ 76 w 86"/>
                  <a:gd name="T33" fmla="*/ 62 h 73"/>
                  <a:gd name="T34" fmla="*/ 76 w 86"/>
                  <a:gd name="T35" fmla="*/ 55 h 73"/>
                  <a:gd name="T36" fmla="*/ 76 w 86"/>
                  <a:gd name="T37" fmla="*/ 48 h 73"/>
                  <a:gd name="T38" fmla="*/ 76 w 86"/>
                  <a:gd name="T39" fmla="*/ 42 h 73"/>
                  <a:gd name="T40" fmla="*/ 76 w 86"/>
                  <a:gd name="T41" fmla="*/ 31 h 73"/>
                  <a:gd name="T42" fmla="*/ 76 w 86"/>
                  <a:gd name="T43" fmla="*/ 31 h 73"/>
                  <a:gd name="T44" fmla="*/ 79 w 86"/>
                  <a:gd name="T45" fmla="*/ 31 h 73"/>
                  <a:gd name="T46" fmla="*/ 79 w 86"/>
                  <a:gd name="T47" fmla="*/ 31 h 73"/>
                  <a:gd name="T48" fmla="*/ 83 w 86"/>
                  <a:gd name="T49" fmla="*/ 31 h 73"/>
                  <a:gd name="T50" fmla="*/ 83 w 86"/>
                  <a:gd name="T51" fmla="*/ 38 h 73"/>
                  <a:gd name="T52" fmla="*/ 83 w 86"/>
                  <a:gd name="T53" fmla="*/ 42 h 73"/>
                  <a:gd name="T54" fmla="*/ 83 w 86"/>
                  <a:gd name="T55" fmla="*/ 48 h 73"/>
                  <a:gd name="T56" fmla="*/ 86 w 86"/>
                  <a:gd name="T57" fmla="*/ 52 h 73"/>
                  <a:gd name="T58" fmla="*/ 86 w 86"/>
                  <a:gd name="T59" fmla="*/ 59 h 73"/>
                  <a:gd name="T60" fmla="*/ 83 w 86"/>
                  <a:gd name="T61" fmla="*/ 62 h 73"/>
                  <a:gd name="T62" fmla="*/ 83 w 86"/>
                  <a:gd name="T63" fmla="*/ 66 h 73"/>
                  <a:gd name="T64" fmla="*/ 79 w 86"/>
                  <a:gd name="T65" fmla="*/ 73 h 73"/>
                  <a:gd name="T66" fmla="*/ 76 w 86"/>
                  <a:gd name="T67" fmla="*/ 69 h 73"/>
                  <a:gd name="T68" fmla="*/ 69 w 86"/>
                  <a:gd name="T69" fmla="*/ 69 h 73"/>
                  <a:gd name="T70" fmla="*/ 65 w 86"/>
                  <a:gd name="T71" fmla="*/ 69 h 73"/>
                  <a:gd name="T72" fmla="*/ 62 w 86"/>
                  <a:gd name="T73" fmla="*/ 69 h 73"/>
                  <a:gd name="T74" fmla="*/ 55 w 86"/>
                  <a:gd name="T75" fmla="*/ 66 h 73"/>
                  <a:gd name="T76" fmla="*/ 52 w 86"/>
                  <a:gd name="T77" fmla="*/ 66 h 73"/>
                  <a:gd name="T78" fmla="*/ 48 w 86"/>
                  <a:gd name="T79" fmla="*/ 66 h 73"/>
                  <a:gd name="T80" fmla="*/ 45 w 86"/>
                  <a:gd name="T81" fmla="*/ 62 h 73"/>
                  <a:gd name="T82" fmla="*/ 38 w 86"/>
                  <a:gd name="T83" fmla="*/ 62 h 73"/>
                  <a:gd name="T84" fmla="*/ 34 w 86"/>
                  <a:gd name="T85" fmla="*/ 59 h 73"/>
                  <a:gd name="T86" fmla="*/ 31 w 86"/>
                  <a:gd name="T87" fmla="*/ 59 h 73"/>
                  <a:gd name="T88" fmla="*/ 27 w 86"/>
                  <a:gd name="T89" fmla="*/ 55 h 73"/>
                  <a:gd name="T90" fmla="*/ 24 w 86"/>
                  <a:gd name="T91" fmla="*/ 55 h 73"/>
                  <a:gd name="T92" fmla="*/ 20 w 86"/>
                  <a:gd name="T93" fmla="*/ 52 h 73"/>
                  <a:gd name="T94" fmla="*/ 17 w 86"/>
                  <a:gd name="T95" fmla="*/ 48 h 73"/>
                  <a:gd name="T96" fmla="*/ 14 w 86"/>
                  <a:gd name="T97" fmla="*/ 45 h 73"/>
                  <a:gd name="T98" fmla="*/ 14 w 86"/>
                  <a:gd name="T99" fmla="*/ 42 h 73"/>
                  <a:gd name="T100" fmla="*/ 10 w 86"/>
                  <a:gd name="T101" fmla="*/ 35 h 73"/>
                  <a:gd name="T102" fmla="*/ 10 w 86"/>
                  <a:gd name="T103" fmla="*/ 28 h 73"/>
                  <a:gd name="T104" fmla="*/ 7 w 86"/>
                  <a:gd name="T105" fmla="*/ 24 h 73"/>
                  <a:gd name="T106" fmla="*/ 7 w 86"/>
                  <a:gd name="T107" fmla="*/ 17 h 73"/>
                  <a:gd name="T108" fmla="*/ 3 w 86"/>
                  <a:gd name="T109" fmla="*/ 10 h 73"/>
                  <a:gd name="T110" fmla="*/ 3 w 86"/>
                  <a:gd name="T111" fmla="*/ 7 h 73"/>
                  <a:gd name="T112" fmla="*/ 0 w 86"/>
                  <a:gd name="T113" fmla="*/ 0 h 73"/>
                  <a:gd name="T114" fmla="*/ 3 w 86"/>
                  <a:gd name="T115" fmla="*/ 0 h 73"/>
                  <a:gd name="T116" fmla="*/ 3 w 86"/>
                  <a:gd name="T117" fmla="*/ 0 h 73"/>
                  <a:gd name="T118" fmla="*/ 7 w 86"/>
                  <a:gd name="T119" fmla="*/ 0 h 73"/>
                  <a:gd name="T120" fmla="*/ 7 w 86"/>
                  <a:gd name="T121" fmla="*/ 0 h 73"/>
                  <a:gd name="T122" fmla="*/ 17 w 86"/>
                  <a:gd name="T123" fmla="*/ 21 h 73"/>
                  <a:gd name="T124" fmla="*/ 17 w 86"/>
                  <a:gd name="T125" fmla="*/ 21 h 73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86"/>
                  <a:gd name="T190" fmla="*/ 0 h 73"/>
                  <a:gd name="T191" fmla="*/ 86 w 86"/>
                  <a:gd name="T192" fmla="*/ 73 h 73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86" h="73">
                    <a:moveTo>
                      <a:pt x="17" y="21"/>
                    </a:moveTo>
                    <a:lnTo>
                      <a:pt x="17" y="24"/>
                    </a:lnTo>
                    <a:lnTo>
                      <a:pt x="17" y="28"/>
                    </a:lnTo>
                    <a:lnTo>
                      <a:pt x="17" y="35"/>
                    </a:lnTo>
                    <a:lnTo>
                      <a:pt x="20" y="38"/>
                    </a:lnTo>
                    <a:lnTo>
                      <a:pt x="20" y="42"/>
                    </a:lnTo>
                    <a:lnTo>
                      <a:pt x="24" y="45"/>
                    </a:lnTo>
                    <a:lnTo>
                      <a:pt x="27" y="48"/>
                    </a:lnTo>
                    <a:lnTo>
                      <a:pt x="31" y="48"/>
                    </a:lnTo>
                    <a:lnTo>
                      <a:pt x="38" y="52"/>
                    </a:lnTo>
                    <a:lnTo>
                      <a:pt x="41" y="52"/>
                    </a:lnTo>
                    <a:lnTo>
                      <a:pt x="48" y="55"/>
                    </a:lnTo>
                    <a:lnTo>
                      <a:pt x="52" y="59"/>
                    </a:lnTo>
                    <a:lnTo>
                      <a:pt x="58" y="59"/>
                    </a:lnTo>
                    <a:lnTo>
                      <a:pt x="62" y="59"/>
                    </a:lnTo>
                    <a:lnTo>
                      <a:pt x="69" y="62"/>
                    </a:lnTo>
                    <a:lnTo>
                      <a:pt x="76" y="62"/>
                    </a:lnTo>
                    <a:lnTo>
                      <a:pt x="76" y="55"/>
                    </a:lnTo>
                    <a:lnTo>
                      <a:pt x="76" y="48"/>
                    </a:lnTo>
                    <a:lnTo>
                      <a:pt x="76" y="42"/>
                    </a:lnTo>
                    <a:lnTo>
                      <a:pt x="76" y="31"/>
                    </a:lnTo>
                    <a:lnTo>
                      <a:pt x="79" y="31"/>
                    </a:lnTo>
                    <a:lnTo>
                      <a:pt x="83" y="31"/>
                    </a:lnTo>
                    <a:lnTo>
                      <a:pt x="83" y="38"/>
                    </a:lnTo>
                    <a:lnTo>
                      <a:pt x="83" y="42"/>
                    </a:lnTo>
                    <a:lnTo>
                      <a:pt x="83" y="48"/>
                    </a:lnTo>
                    <a:lnTo>
                      <a:pt x="86" y="52"/>
                    </a:lnTo>
                    <a:lnTo>
                      <a:pt x="86" y="59"/>
                    </a:lnTo>
                    <a:lnTo>
                      <a:pt x="83" y="62"/>
                    </a:lnTo>
                    <a:lnTo>
                      <a:pt x="83" y="66"/>
                    </a:lnTo>
                    <a:lnTo>
                      <a:pt x="79" y="73"/>
                    </a:lnTo>
                    <a:lnTo>
                      <a:pt x="76" y="69"/>
                    </a:lnTo>
                    <a:lnTo>
                      <a:pt x="69" y="69"/>
                    </a:lnTo>
                    <a:lnTo>
                      <a:pt x="65" y="69"/>
                    </a:lnTo>
                    <a:lnTo>
                      <a:pt x="62" y="69"/>
                    </a:lnTo>
                    <a:lnTo>
                      <a:pt x="55" y="66"/>
                    </a:lnTo>
                    <a:lnTo>
                      <a:pt x="52" y="66"/>
                    </a:lnTo>
                    <a:lnTo>
                      <a:pt x="48" y="66"/>
                    </a:lnTo>
                    <a:lnTo>
                      <a:pt x="45" y="62"/>
                    </a:lnTo>
                    <a:lnTo>
                      <a:pt x="38" y="62"/>
                    </a:lnTo>
                    <a:lnTo>
                      <a:pt x="34" y="59"/>
                    </a:lnTo>
                    <a:lnTo>
                      <a:pt x="31" y="59"/>
                    </a:lnTo>
                    <a:lnTo>
                      <a:pt x="27" y="55"/>
                    </a:lnTo>
                    <a:lnTo>
                      <a:pt x="24" y="55"/>
                    </a:lnTo>
                    <a:lnTo>
                      <a:pt x="20" y="52"/>
                    </a:lnTo>
                    <a:lnTo>
                      <a:pt x="17" y="48"/>
                    </a:lnTo>
                    <a:lnTo>
                      <a:pt x="14" y="45"/>
                    </a:lnTo>
                    <a:lnTo>
                      <a:pt x="14" y="42"/>
                    </a:lnTo>
                    <a:lnTo>
                      <a:pt x="10" y="35"/>
                    </a:lnTo>
                    <a:lnTo>
                      <a:pt x="10" y="28"/>
                    </a:lnTo>
                    <a:lnTo>
                      <a:pt x="7" y="24"/>
                    </a:lnTo>
                    <a:lnTo>
                      <a:pt x="7" y="17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7" y="2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5" name="Freeform 419"/>
              <p:cNvSpPr>
                <a:spLocks/>
              </p:cNvSpPr>
              <p:nvPr/>
            </p:nvSpPr>
            <p:spPr bwMode="auto">
              <a:xfrm>
                <a:off x="1926" y="1633"/>
                <a:ext cx="48" cy="21"/>
              </a:xfrm>
              <a:custGeom>
                <a:avLst/>
                <a:gdLst>
                  <a:gd name="T0" fmla="*/ 31 w 48"/>
                  <a:gd name="T1" fmla="*/ 10 h 21"/>
                  <a:gd name="T2" fmla="*/ 31 w 48"/>
                  <a:gd name="T3" fmla="*/ 10 h 21"/>
                  <a:gd name="T4" fmla="*/ 34 w 48"/>
                  <a:gd name="T5" fmla="*/ 14 h 21"/>
                  <a:gd name="T6" fmla="*/ 38 w 48"/>
                  <a:gd name="T7" fmla="*/ 14 h 21"/>
                  <a:gd name="T8" fmla="*/ 38 w 48"/>
                  <a:gd name="T9" fmla="*/ 14 h 21"/>
                  <a:gd name="T10" fmla="*/ 41 w 48"/>
                  <a:gd name="T11" fmla="*/ 14 h 21"/>
                  <a:gd name="T12" fmla="*/ 45 w 48"/>
                  <a:gd name="T13" fmla="*/ 17 h 21"/>
                  <a:gd name="T14" fmla="*/ 45 w 48"/>
                  <a:gd name="T15" fmla="*/ 17 h 21"/>
                  <a:gd name="T16" fmla="*/ 48 w 48"/>
                  <a:gd name="T17" fmla="*/ 17 h 21"/>
                  <a:gd name="T18" fmla="*/ 45 w 48"/>
                  <a:gd name="T19" fmla="*/ 21 h 21"/>
                  <a:gd name="T20" fmla="*/ 45 w 48"/>
                  <a:gd name="T21" fmla="*/ 21 h 21"/>
                  <a:gd name="T22" fmla="*/ 41 w 48"/>
                  <a:gd name="T23" fmla="*/ 21 h 21"/>
                  <a:gd name="T24" fmla="*/ 41 w 48"/>
                  <a:gd name="T25" fmla="*/ 21 h 21"/>
                  <a:gd name="T26" fmla="*/ 38 w 48"/>
                  <a:gd name="T27" fmla="*/ 21 h 21"/>
                  <a:gd name="T28" fmla="*/ 38 w 48"/>
                  <a:gd name="T29" fmla="*/ 21 h 21"/>
                  <a:gd name="T30" fmla="*/ 34 w 48"/>
                  <a:gd name="T31" fmla="*/ 21 h 21"/>
                  <a:gd name="T32" fmla="*/ 34 w 48"/>
                  <a:gd name="T33" fmla="*/ 21 h 21"/>
                  <a:gd name="T34" fmla="*/ 28 w 48"/>
                  <a:gd name="T35" fmla="*/ 17 h 21"/>
                  <a:gd name="T36" fmla="*/ 24 w 48"/>
                  <a:gd name="T37" fmla="*/ 17 h 21"/>
                  <a:gd name="T38" fmla="*/ 21 w 48"/>
                  <a:gd name="T39" fmla="*/ 14 h 21"/>
                  <a:gd name="T40" fmla="*/ 17 w 48"/>
                  <a:gd name="T41" fmla="*/ 14 h 21"/>
                  <a:gd name="T42" fmla="*/ 14 w 48"/>
                  <a:gd name="T43" fmla="*/ 10 h 21"/>
                  <a:gd name="T44" fmla="*/ 10 w 48"/>
                  <a:gd name="T45" fmla="*/ 10 h 21"/>
                  <a:gd name="T46" fmla="*/ 7 w 48"/>
                  <a:gd name="T47" fmla="*/ 7 h 21"/>
                  <a:gd name="T48" fmla="*/ 0 w 48"/>
                  <a:gd name="T49" fmla="*/ 7 h 21"/>
                  <a:gd name="T50" fmla="*/ 0 w 48"/>
                  <a:gd name="T51" fmla="*/ 4 h 21"/>
                  <a:gd name="T52" fmla="*/ 0 w 48"/>
                  <a:gd name="T53" fmla="*/ 4 h 21"/>
                  <a:gd name="T54" fmla="*/ 0 w 48"/>
                  <a:gd name="T55" fmla="*/ 0 h 21"/>
                  <a:gd name="T56" fmla="*/ 3 w 48"/>
                  <a:gd name="T57" fmla="*/ 0 h 21"/>
                  <a:gd name="T58" fmla="*/ 7 w 48"/>
                  <a:gd name="T59" fmla="*/ 0 h 21"/>
                  <a:gd name="T60" fmla="*/ 10 w 48"/>
                  <a:gd name="T61" fmla="*/ 0 h 21"/>
                  <a:gd name="T62" fmla="*/ 14 w 48"/>
                  <a:gd name="T63" fmla="*/ 4 h 21"/>
                  <a:gd name="T64" fmla="*/ 17 w 48"/>
                  <a:gd name="T65" fmla="*/ 4 h 21"/>
                  <a:gd name="T66" fmla="*/ 21 w 48"/>
                  <a:gd name="T67" fmla="*/ 7 h 21"/>
                  <a:gd name="T68" fmla="*/ 24 w 48"/>
                  <a:gd name="T69" fmla="*/ 7 h 21"/>
                  <a:gd name="T70" fmla="*/ 24 w 48"/>
                  <a:gd name="T71" fmla="*/ 10 h 21"/>
                  <a:gd name="T72" fmla="*/ 31 w 48"/>
                  <a:gd name="T73" fmla="*/ 10 h 21"/>
                  <a:gd name="T74" fmla="*/ 31 w 48"/>
                  <a:gd name="T75" fmla="*/ 10 h 2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48"/>
                  <a:gd name="T115" fmla="*/ 0 h 21"/>
                  <a:gd name="T116" fmla="*/ 48 w 48"/>
                  <a:gd name="T117" fmla="*/ 21 h 21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48" h="21">
                    <a:moveTo>
                      <a:pt x="31" y="10"/>
                    </a:moveTo>
                    <a:lnTo>
                      <a:pt x="31" y="10"/>
                    </a:lnTo>
                    <a:lnTo>
                      <a:pt x="34" y="14"/>
                    </a:lnTo>
                    <a:lnTo>
                      <a:pt x="38" y="14"/>
                    </a:lnTo>
                    <a:lnTo>
                      <a:pt x="41" y="14"/>
                    </a:lnTo>
                    <a:lnTo>
                      <a:pt x="45" y="17"/>
                    </a:lnTo>
                    <a:lnTo>
                      <a:pt x="48" y="17"/>
                    </a:lnTo>
                    <a:lnTo>
                      <a:pt x="45" y="21"/>
                    </a:lnTo>
                    <a:lnTo>
                      <a:pt x="41" y="21"/>
                    </a:lnTo>
                    <a:lnTo>
                      <a:pt x="38" y="21"/>
                    </a:lnTo>
                    <a:lnTo>
                      <a:pt x="34" y="21"/>
                    </a:lnTo>
                    <a:lnTo>
                      <a:pt x="28" y="17"/>
                    </a:lnTo>
                    <a:lnTo>
                      <a:pt x="24" y="17"/>
                    </a:lnTo>
                    <a:lnTo>
                      <a:pt x="21" y="14"/>
                    </a:lnTo>
                    <a:lnTo>
                      <a:pt x="17" y="14"/>
                    </a:lnTo>
                    <a:lnTo>
                      <a:pt x="14" y="10"/>
                    </a:lnTo>
                    <a:lnTo>
                      <a:pt x="10" y="10"/>
                    </a:lnTo>
                    <a:lnTo>
                      <a:pt x="7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4" y="4"/>
                    </a:lnTo>
                    <a:lnTo>
                      <a:pt x="17" y="4"/>
                    </a:lnTo>
                    <a:lnTo>
                      <a:pt x="21" y="7"/>
                    </a:lnTo>
                    <a:lnTo>
                      <a:pt x="24" y="7"/>
                    </a:lnTo>
                    <a:lnTo>
                      <a:pt x="24" y="10"/>
                    </a:lnTo>
                    <a:lnTo>
                      <a:pt x="31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6" name="Freeform 420"/>
              <p:cNvSpPr>
                <a:spLocks/>
              </p:cNvSpPr>
              <p:nvPr/>
            </p:nvSpPr>
            <p:spPr bwMode="auto">
              <a:xfrm>
                <a:off x="1988" y="1640"/>
                <a:ext cx="55" cy="59"/>
              </a:xfrm>
              <a:custGeom>
                <a:avLst/>
                <a:gdLst>
                  <a:gd name="T0" fmla="*/ 55 w 55"/>
                  <a:gd name="T1" fmla="*/ 7 h 59"/>
                  <a:gd name="T2" fmla="*/ 55 w 55"/>
                  <a:gd name="T3" fmla="*/ 45 h 59"/>
                  <a:gd name="T4" fmla="*/ 52 w 55"/>
                  <a:gd name="T5" fmla="*/ 48 h 59"/>
                  <a:gd name="T6" fmla="*/ 45 w 55"/>
                  <a:gd name="T7" fmla="*/ 52 h 59"/>
                  <a:gd name="T8" fmla="*/ 42 w 55"/>
                  <a:gd name="T9" fmla="*/ 52 h 59"/>
                  <a:gd name="T10" fmla="*/ 38 w 55"/>
                  <a:gd name="T11" fmla="*/ 55 h 59"/>
                  <a:gd name="T12" fmla="*/ 31 w 55"/>
                  <a:gd name="T13" fmla="*/ 55 h 59"/>
                  <a:gd name="T14" fmla="*/ 28 w 55"/>
                  <a:gd name="T15" fmla="*/ 59 h 59"/>
                  <a:gd name="T16" fmla="*/ 21 w 55"/>
                  <a:gd name="T17" fmla="*/ 59 h 59"/>
                  <a:gd name="T18" fmla="*/ 17 w 55"/>
                  <a:gd name="T19" fmla="*/ 59 h 59"/>
                  <a:gd name="T20" fmla="*/ 14 w 55"/>
                  <a:gd name="T21" fmla="*/ 59 h 59"/>
                  <a:gd name="T22" fmla="*/ 17 w 55"/>
                  <a:gd name="T23" fmla="*/ 55 h 59"/>
                  <a:gd name="T24" fmla="*/ 21 w 55"/>
                  <a:gd name="T25" fmla="*/ 52 h 59"/>
                  <a:gd name="T26" fmla="*/ 24 w 55"/>
                  <a:gd name="T27" fmla="*/ 52 h 59"/>
                  <a:gd name="T28" fmla="*/ 31 w 55"/>
                  <a:gd name="T29" fmla="*/ 48 h 59"/>
                  <a:gd name="T30" fmla="*/ 35 w 55"/>
                  <a:gd name="T31" fmla="*/ 48 h 59"/>
                  <a:gd name="T32" fmla="*/ 38 w 55"/>
                  <a:gd name="T33" fmla="*/ 45 h 59"/>
                  <a:gd name="T34" fmla="*/ 42 w 55"/>
                  <a:gd name="T35" fmla="*/ 45 h 59"/>
                  <a:gd name="T36" fmla="*/ 45 w 55"/>
                  <a:gd name="T37" fmla="*/ 41 h 59"/>
                  <a:gd name="T38" fmla="*/ 49 w 55"/>
                  <a:gd name="T39" fmla="*/ 10 h 59"/>
                  <a:gd name="T40" fmla="*/ 42 w 55"/>
                  <a:gd name="T41" fmla="*/ 10 h 59"/>
                  <a:gd name="T42" fmla="*/ 38 w 55"/>
                  <a:gd name="T43" fmla="*/ 10 h 59"/>
                  <a:gd name="T44" fmla="*/ 31 w 55"/>
                  <a:gd name="T45" fmla="*/ 10 h 59"/>
                  <a:gd name="T46" fmla="*/ 28 w 55"/>
                  <a:gd name="T47" fmla="*/ 14 h 59"/>
                  <a:gd name="T48" fmla="*/ 21 w 55"/>
                  <a:gd name="T49" fmla="*/ 14 h 59"/>
                  <a:gd name="T50" fmla="*/ 14 w 55"/>
                  <a:gd name="T51" fmla="*/ 14 h 59"/>
                  <a:gd name="T52" fmla="*/ 11 w 55"/>
                  <a:gd name="T53" fmla="*/ 14 h 59"/>
                  <a:gd name="T54" fmla="*/ 4 w 55"/>
                  <a:gd name="T55" fmla="*/ 17 h 59"/>
                  <a:gd name="T56" fmla="*/ 0 w 55"/>
                  <a:gd name="T57" fmla="*/ 14 h 59"/>
                  <a:gd name="T58" fmla="*/ 4 w 55"/>
                  <a:gd name="T59" fmla="*/ 10 h 59"/>
                  <a:gd name="T60" fmla="*/ 11 w 55"/>
                  <a:gd name="T61" fmla="*/ 7 h 59"/>
                  <a:gd name="T62" fmla="*/ 14 w 55"/>
                  <a:gd name="T63" fmla="*/ 7 h 59"/>
                  <a:gd name="T64" fmla="*/ 21 w 55"/>
                  <a:gd name="T65" fmla="*/ 7 h 59"/>
                  <a:gd name="T66" fmla="*/ 24 w 55"/>
                  <a:gd name="T67" fmla="*/ 7 h 59"/>
                  <a:gd name="T68" fmla="*/ 31 w 55"/>
                  <a:gd name="T69" fmla="*/ 3 h 59"/>
                  <a:gd name="T70" fmla="*/ 38 w 55"/>
                  <a:gd name="T71" fmla="*/ 3 h 59"/>
                  <a:gd name="T72" fmla="*/ 42 w 55"/>
                  <a:gd name="T73" fmla="*/ 3 h 59"/>
                  <a:gd name="T74" fmla="*/ 49 w 55"/>
                  <a:gd name="T75" fmla="*/ 0 h 59"/>
                  <a:gd name="T76" fmla="*/ 49 w 55"/>
                  <a:gd name="T77" fmla="*/ 0 h 59"/>
                  <a:gd name="T78" fmla="*/ 52 w 55"/>
                  <a:gd name="T79" fmla="*/ 0 h 59"/>
                  <a:gd name="T80" fmla="*/ 52 w 55"/>
                  <a:gd name="T81" fmla="*/ 3 h 59"/>
                  <a:gd name="T82" fmla="*/ 52 w 55"/>
                  <a:gd name="T83" fmla="*/ 3 h 59"/>
                  <a:gd name="T84" fmla="*/ 55 w 55"/>
                  <a:gd name="T85" fmla="*/ 3 h 59"/>
                  <a:gd name="T86" fmla="*/ 55 w 55"/>
                  <a:gd name="T87" fmla="*/ 3 h 59"/>
                  <a:gd name="T88" fmla="*/ 55 w 55"/>
                  <a:gd name="T89" fmla="*/ 3 h 59"/>
                  <a:gd name="T90" fmla="*/ 55 w 55"/>
                  <a:gd name="T91" fmla="*/ 7 h 59"/>
                  <a:gd name="T92" fmla="*/ 55 w 55"/>
                  <a:gd name="T93" fmla="*/ 7 h 5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55"/>
                  <a:gd name="T142" fmla="*/ 0 h 59"/>
                  <a:gd name="T143" fmla="*/ 55 w 55"/>
                  <a:gd name="T144" fmla="*/ 59 h 5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55" h="59">
                    <a:moveTo>
                      <a:pt x="55" y="7"/>
                    </a:moveTo>
                    <a:lnTo>
                      <a:pt x="55" y="45"/>
                    </a:lnTo>
                    <a:lnTo>
                      <a:pt x="52" y="48"/>
                    </a:lnTo>
                    <a:lnTo>
                      <a:pt x="45" y="52"/>
                    </a:lnTo>
                    <a:lnTo>
                      <a:pt x="42" y="52"/>
                    </a:lnTo>
                    <a:lnTo>
                      <a:pt x="38" y="55"/>
                    </a:lnTo>
                    <a:lnTo>
                      <a:pt x="31" y="55"/>
                    </a:lnTo>
                    <a:lnTo>
                      <a:pt x="28" y="59"/>
                    </a:lnTo>
                    <a:lnTo>
                      <a:pt x="21" y="59"/>
                    </a:lnTo>
                    <a:lnTo>
                      <a:pt x="17" y="59"/>
                    </a:lnTo>
                    <a:lnTo>
                      <a:pt x="14" y="59"/>
                    </a:lnTo>
                    <a:lnTo>
                      <a:pt x="17" y="55"/>
                    </a:lnTo>
                    <a:lnTo>
                      <a:pt x="21" y="52"/>
                    </a:lnTo>
                    <a:lnTo>
                      <a:pt x="24" y="52"/>
                    </a:lnTo>
                    <a:lnTo>
                      <a:pt x="31" y="48"/>
                    </a:lnTo>
                    <a:lnTo>
                      <a:pt x="35" y="48"/>
                    </a:lnTo>
                    <a:lnTo>
                      <a:pt x="38" y="45"/>
                    </a:lnTo>
                    <a:lnTo>
                      <a:pt x="42" y="45"/>
                    </a:lnTo>
                    <a:lnTo>
                      <a:pt x="45" y="41"/>
                    </a:lnTo>
                    <a:lnTo>
                      <a:pt x="49" y="10"/>
                    </a:lnTo>
                    <a:lnTo>
                      <a:pt x="42" y="10"/>
                    </a:lnTo>
                    <a:lnTo>
                      <a:pt x="38" y="10"/>
                    </a:lnTo>
                    <a:lnTo>
                      <a:pt x="31" y="10"/>
                    </a:lnTo>
                    <a:lnTo>
                      <a:pt x="28" y="14"/>
                    </a:lnTo>
                    <a:lnTo>
                      <a:pt x="21" y="14"/>
                    </a:lnTo>
                    <a:lnTo>
                      <a:pt x="14" y="14"/>
                    </a:lnTo>
                    <a:lnTo>
                      <a:pt x="11" y="14"/>
                    </a:lnTo>
                    <a:lnTo>
                      <a:pt x="4" y="17"/>
                    </a:lnTo>
                    <a:lnTo>
                      <a:pt x="0" y="14"/>
                    </a:lnTo>
                    <a:lnTo>
                      <a:pt x="4" y="10"/>
                    </a:lnTo>
                    <a:lnTo>
                      <a:pt x="11" y="7"/>
                    </a:lnTo>
                    <a:lnTo>
                      <a:pt x="14" y="7"/>
                    </a:lnTo>
                    <a:lnTo>
                      <a:pt x="21" y="7"/>
                    </a:lnTo>
                    <a:lnTo>
                      <a:pt x="24" y="7"/>
                    </a:lnTo>
                    <a:lnTo>
                      <a:pt x="31" y="3"/>
                    </a:lnTo>
                    <a:lnTo>
                      <a:pt x="38" y="3"/>
                    </a:lnTo>
                    <a:lnTo>
                      <a:pt x="42" y="3"/>
                    </a:lnTo>
                    <a:lnTo>
                      <a:pt x="49" y="0"/>
                    </a:lnTo>
                    <a:lnTo>
                      <a:pt x="52" y="0"/>
                    </a:lnTo>
                    <a:lnTo>
                      <a:pt x="52" y="3"/>
                    </a:lnTo>
                    <a:lnTo>
                      <a:pt x="55" y="3"/>
                    </a:lnTo>
                    <a:lnTo>
                      <a:pt x="55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7" name="Freeform 421"/>
              <p:cNvSpPr>
                <a:spLocks/>
              </p:cNvSpPr>
              <p:nvPr/>
            </p:nvSpPr>
            <p:spPr bwMode="auto">
              <a:xfrm>
                <a:off x="2213" y="1657"/>
                <a:ext cx="24" cy="42"/>
              </a:xfrm>
              <a:custGeom>
                <a:avLst/>
                <a:gdLst>
                  <a:gd name="T0" fmla="*/ 24 w 24"/>
                  <a:gd name="T1" fmla="*/ 7 h 42"/>
                  <a:gd name="T2" fmla="*/ 24 w 24"/>
                  <a:gd name="T3" fmla="*/ 11 h 42"/>
                  <a:gd name="T4" fmla="*/ 21 w 24"/>
                  <a:gd name="T5" fmla="*/ 11 h 42"/>
                  <a:gd name="T6" fmla="*/ 21 w 24"/>
                  <a:gd name="T7" fmla="*/ 14 h 42"/>
                  <a:gd name="T8" fmla="*/ 17 w 24"/>
                  <a:gd name="T9" fmla="*/ 14 h 42"/>
                  <a:gd name="T10" fmla="*/ 17 w 24"/>
                  <a:gd name="T11" fmla="*/ 21 h 42"/>
                  <a:gd name="T12" fmla="*/ 14 w 24"/>
                  <a:gd name="T13" fmla="*/ 28 h 42"/>
                  <a:gd name="T14" fmla="*/ 14 w 24"/>
                  <a:gd name="T15" fmla="*/ 35 h 42"/>
                  <a:gd name="T16" fmla="*/ 10 w 24"/>
                  <a:gd name="T17" fmla="*/ 42 h 42"/>
                  <a:gd name="T18" fmla="*/ 10 w 24"/>
                  <a:gd name="T19" fmla="*/ 42 h 42"/>
                  <a:gd name="T20" fmla="*/ 10 w 24"/>
                  <a:gd name="T21" fmla="*/ 35 h 42"/>
                  <a:gd name="T22" fmla="*/ 10 w 24"/>
                  <a:gd name="T23" fmla="*/ 28 h 42"/>
                  <a:gd name="T24" fmla="*/ 14 w 24"/>
                  <a:gd name="T25" fmla="*/ 21 h 42"/>
                  <a:gd name="T26" fmla="*/ 14 w 24"/>
                  <a:gd name="T27" fmla="*/ 11 h 42"/>
                  <a:gd name="T28" fmla="*/ 17 w 24"/>
                  <a:gd name="T29" fmla="*/ 11 h 42"/>
                  <a:gd name="T30" fmla="*/ 17 w 24"/>
                  <a:gd name="T31" fmla="*/ 11 h 42"/>
                  <a:gd name="T32" fmla="*/ 17 w 24"/>
                  <a:gd name="T33" fmla="*/ 11 h 42"/>
                  <a:gd name="T34" fmla="*/ 17 w 24"/>
                  <a:gd name="T35" fmla="*/ 11 h 42"/>
                  <a:gd name="T36" fmla="*/ 17 w 24"/>
                  <a:gd name="T37" fmla="*/ 11 h 42"/>
                  <a:gd name="T38" fmla="*/ 17 w 24"/>
                  <a:gd name="T39" fmla="*/ 7 h 42"/>
                  <a:gd name="T40" fmla="*/ 17 w 24"/>
                  <a:gd name="T41" fmla="*/ 7 h 42"/>
                  <a:gd name="T42" fmla="*/ 14 w 24"/>
                  <a:gd name="T43" fmla="*/ 7 h 42"/>
                  <a:gd name="T44" fmla="*/ 14 w 24"/>
                  <a:gd name="T45" fmla="*/ 7 h 42"/>
                  <a:gd name="T46" fmla="*/ 10 w 24"/>
                  <a:gd name="T47" fmla="*/ 7 h 42"/>
                  <a:gd name="T48" fmla="*/ 10 w 24"/>
                  <a:gd name="T49" fmla="*/ 7 h 42"/>
                  <a:gd name="T50" fmla="*/ 7 w 24"/>
                  <a:gd name="T51" fmla="*/ 4 h 42"/>
                  <a:gd name="T52" fmla="*/ 7 w 24"/>
                  <a:gd name="T53" fmla="*/ 14 h 42"/>
                  <a:gd name="T54" fmla="*/ 3 w 24"/>
                  <a:gd name="T55" fmla="*/ 21 h 42"/>
                  <a:gd name="T56" fmla="*/ 3 w 24"/>
                  <a:gd name="T57" fmla="*/ 31 h 42"/>
                  <a:gd name="T58" fmla="*/ 0 w 24"/>
                  <a:gd name="T59" fmla="*/ 38 h 42"/>
                  <a:gd name="T60" fmla="*/ 0 w 24"/>
                  <a:gd name="T61" fmla="*/ 31 h 42"/>
                  <a:gd name="T62" fmla="*/ 0 w 24"/>
                  <a:gd name="T63" fmla="*/ 21 h 42"/>
                  <a:gd name="T64" fmla="*/ 3 w 24"/>
                  <a:gd name="T65" fmla="*/ 14 h 42"/>
                  <a:gd name="T66" fmla="*/ 3 w 24"/>
                  <a:gd name="T67" fmla="*/ 7 h 42"/>
                  <a:gd name="T68" fmla="*/ 3 w 24"/>
                  <a:gd name="T69" fmla="*/ 4 h 42"/>
                  <a:gd name="T70" fmla="*/ 3 w 24"/>
                  <a:gd name="T71" fmla="*/ 4 h 42"/>
                  <a:gd name="T72" fmla="*/ 7 w 24"/>
                  <a:gd name="T73" fmla="*/ 4 h 42"/>
                  <a:gd name="T74" fmla="*/ 7 w 24"/>
                  <a:gd name="T75" fmla="*/ 0 h 42"/>
                  <a:gd name="T76" fmla="*/ 10 w 24"/>
                  <a:gd name="T77" fmla="*/ 0 h 42"/>
                  <a:gd name="T78" fmla="*/ 10 w 24"/>
                  <a:gd name="T79" fmla="*/ 4 h 42"/>
                  <a:gd name="T80" fmla="*/ 14 w 24"/>
                  <a:gd name="T81" fmla="*/ 4 h 42"/>
                  <a:gd name="T82" fmla="*/ 17 w 24"/>
                  <a:gd name="T83" fmla="*/ 4 h 42"/>
                  <a:gd name="T84" fmla="*/ 17 w 24"/>
                  <a:gd name="T85" fmla="*/ 4 h 42"/>
                  <a:gd name="T86" fmla="*/ 21 w 24"/>
                  <a:gd name="T87" fmla="*/ 4 h 42"/>
                  <a:gd name="T88" fmla="*/ 21 w 24"/>
                  <a:gd name="T89" fmla="*/ 7 h 42"/>
                  <a:gd name="T90" fmla="*/ 24 w 24"/>
                  <a:gd name="T91" fmla="*/ 7 h 42"/>
                  <a:gd name="T92" fmla="*/ 24 w 24"/>
                  <a:gd name="T93" fmla="*/ 7 h 42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4"/>
                  <a:gd name="T142" fmla="*/ 0 h 42"/>
                  <a:gd name="T143" fmla="*/ 24 w 24"/>
                  <a:gd name="T144" fmla="*/ 42 h 42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4" h="42">
                    <a:moveTo>
                      <a:pt x="24" y="7"/>
                    </a:moveTo>
                    <a:lnTo>
                      <a:pt x="24" y="11"/>
                    </a:lnTo>
                    <a:lnTo>
                      <a:pt x="21" y="11"/>
                    </a:lnTo>
                    <a:lnTo>
                      <a:pt x="21" y="14"/>
                    </a:lnTo>
                    <a:lnTo>
                      <a:pt x="17" y="14"/>
                    </a:lnTo>
                    <a:lnTo>
                      <a:pt x="17" y="21"/>
                    </a:lnTo>
                    <a:lnTo>
                      <a:pt x="14" y="28"/>
                    </a:lnTo>
                    <a:lnTo>
                      <a:pt x="14" y="35"/>
                    </a:lnTo>
                    <a:lnTo>
                      <a:pt x="10" y="42"/>
                    </a:lnTo>
                    <a:lnTo>
                      <a:pt x="10" y="35"/>
                    </a:lnTo>
                    <a:lnTo>
                      <a:pt x="10" y="28"/>
                    </a:lnTo>
                    <a:lnTo>
                      <a:pt x="14" y="21"/>
                    </a:lnTo>
                    <a:lnTo>
                      <a:pt x="14" y="11"/>
                    </a:lnTo>
                    <a:lnTo>
                      <a:pt x="17" y="11"/>
                    </a:lnTo>
                    <a:lnTo>
                      <a:pt x="17" y="7"/>
                    </a:lnTo>
                    <a:lnTo>
                      <a:pt x="14" y="7"/>
                    </a:lnTo>
                    <a:lnTo>
                      <a:pt x="10" y="7"/>
                    </a:lnTo>
                    <a:lnTo>
                      <a:pt x="7" y="4"/>
                    </a:lnTo>
                    <a:lnTo>
                      <a:pt x="7" y="14"/>
                    </a:lnTo>
                    <a:lnTo>
                      <a:pt x="3" y="21"/>
                    </a:lnTo>
                    <a:lnTo>
                      <a:pt x="3" y="31"/>
                    </a:lnTo>
                    <a:lnTo>
                      <a:pt x="0" y="38"/>
                    </a:lnTo>
                    <a:lnTo>
                      <a:pt x="0" y="31"/>
                    </a:lnTo>
                    <a:lnTo>
                      <a:pt x="0" y="21"/>
                    </a:lnTo>
                    <a:lnTo>
                      <a:pt x="3" y="14"/>
                    </a:lnTo>
                    <a:lnTo>
                      <a:pt x="3" y="7"/>
                    </a:lnTo>
                    <a:lnTo>
                      <a:pt x="3" y="4"/>
                    </a:lnTo>
                    <a:lnTo>
                      <a:pt x="7" y="4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0" y="4"/>
                    </a:lnTo>
                    <a:lnTo>
                      <a:pt x="14" y="4"/>
                    </a:lnTo>
                    <a:lnTo>
                      <a:pt x="17" y="4"/>
                    </a:lnTo>
                    <a:lnTo>
                      <a:pt x="21" y="4"/>
                    </a:lnTo>
                    <a:lnTo>
                      <a:pt x="21" y="7"/>
                    </a:lnTo>
                    <a:lnTo>
                      <a:pt x="24" y="7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8" name="Freeform 422"/>
              <p:cNvSpPr>
                <a:spLocks/>
              </p:cNvSpPr>
              <p:nvPr/>
            </p:nvSpPr>
            <p:spPr bwMode="auto">
              <a:xfrm>
                <a:off x="2151" y="1664"/>
                <a:ext cx="13" cy="35"/>
              </a:xfrm>
              <a:custGeom>
                <a:avLst/>
                <a:gdLst>
                  <a:gd name="T0" fmla="*/ 13 w 13"/>
                  <a:gd name="T1" fmla="*/ 4 h 35"/>
                  <a:gd name="T2" fmla="*/ 13 w 13"/>
                  <a:gd name="T3" fmla="*/ 7 h 35"/>
                  <a:gd name="T4" fmla="*/ 10 w 13"/>
                  <a:gd name="T5" fmla="*/ 11 h 35"/>
                  <a:gd name="T6" fmla="*/ 10 w 13"/>
                  <a:gd name="T7" fmla="*/ 11 h 35"/>
                  <a:gd name="T8" fmla="*/ 10 w 13"/>
                  <a:gd name="T9" fmla="*/ 14 h 35"/>
                  <a:gd name="T10" fmla="*/ 7 w 13"/>
                  <a:gd name="T11" fmla="*/ 17 h 35"/>
                  <a:gd name="T12" fmla="*/ 7 w 13"/>
                  <a:gd name="T13" fmla="*/ 21 h 35"/>
                  <a:gd name="T14" fmla="*/ 7 w 13"/>
                  <a:gd name="T15" fmla="*/ 24 h 35"/>
                  <a:gd name="T16" fmla="*/ 3 w 13"/>
                  <a:gd name="T17" fmla="*/ 28 h 35"/>
                  <a:gd name="T18" fmla="*/ 3 w 13"/>
                  <a:gd name="T19" fmla="*/ 35 h 35"/>
                  <a:gd name="T20" fmla="*/ 0 w 13"/>
                  <a:gd name="T21" fmla="*/ 31 h 35"/>
                  <a:gd name="T22" fmla="*/ 0 w 13"/>
                  <a:gd name="T23" fmla="*/ 28 h 35"/>
                  <a:gd name="T24" fmla="*/ 0 w 13"/>
                  <a:gd name="T25" fmla="*/ 24 h 35"/>
                  <a:gd name="T26" fmla="*/ 3 w 13"/>
                  <a:gd name="T27" fmla="*/ 21 h 35"/>
                  <a:gd name="T28" fmla="*/ 3 w 13"/>
                  <a:gd name="T29" fmla="*/ 17 h 35"/>
                  <a:gd name="T30" fmla="*/ 3 w 13"/>
                  <a:gd name="T31" fmla="*/ 14 h 35"/>
                  <a:gd name="T32" fmla="*/ 7 w 13"/>
                  <a:gd name="T33" fmla="*/ 14 h 35"/>
                  <a:gd name="T34" fmla="*/ 7 w 13"/>
                  <a:gd name="T35" fmla="*/ 11 h 35"/>
                  <a:gd name="T36" fmla="*/ 10 w 13"/>
                  <a:gd name="T37" fmla="*/ 7 h 35"/>
                  <a:gd name="T38" fmla="*/ 10 w 13"/>
                  <a:gd name="T39" fmla="*/ 7 h 35"/>
                  <a:gd name="T40" fmla="*/ 10 w 13"/>
                  <a:gd name="T41" fmla="*/ 4 h 35"/>
                  <a:gd name="T42" fmla="*/ 7 w 13"/>
                  <a:gd name="T43" fmla="*/ 4 h 35"/>
                  <a:gd name="T44" fmla="*/ 7 w 13"/>
                  <a:gd name="T45" fmla="*/ 4 h 35"/>
                  <a:gd name="T46" fmla="*/ 0 w 13"/>
                  <a:gd name="T47" fmla="*/ 4 h 35"/>
                  <a:gd name="T48" fmla="*/ 0 w 13"/>
                  <a:gd name="T49" fmla="*/ 0 h 35"/>
                  <a:gd name="T50" fmla="*/ 3 w 13"/>
                  <a:gd name="T51" fmla="*/ 0 h 35"/>
                  <a:gd name="T52" fmla="*/ 3 w 13"/>
                  <a:gd name="T53" fmla="*/ 0 h 35"/>
                  <a:gd name="T54" fmla="*/ 7 w 13"/>
                  <a:gd name="T55" fmla="*/ 0 h 35"/>
                  <a:gd name="T56" fmla="*/ 10 w 13"/>
                  <a:gd name="T57" fmla="*/ 0 h 35"/>
                  <a:gd name="T58" fmla="*/ 10 w 13"/>
                  <a:gd name="T59" fmla="*/ 0 h 35"/>
                  <a:gd name="T60" fmla="*/ 13 w 13"/>
                  <a:gd name="T61" fmla="*/ 0 h 35"/>
                  <a:gd name="T62" fmla="*/ 13 w 13"/>
                  <a:gd name="T63" fmla="*/ 4 h 35"/>
                  <a:gd name="T64" fmla="*/ 13 w 13"/>
                  <a:gd name="T65" fmla="*/ 4 h 3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"/>
                  <a:gd name="T100" fmla="*/ 0 h 35"/>
                  <a:gd name="T101" fmla="*/ 13 w 13"/>
                  <a:gd name="T102" fmla="*/ 35 h 3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" h="35">
                    <a:moveTo>
                      <a:pt x="13" y="4"/>
                    </a:moveTo>
                    <a:lnTo>
                      <a:pt x="13" y="7"/>
                    </a:lnTo>
                    <a:lnTo>
                      <a:pt x="10" y="11"/>
                    </a:lnTo>
                    <a:lnTo>
                      <a:pt x="10" y="14"/>
                    </a:lnTo>
                    <a:lnTo>
                      <a:pt x="7" y="17"/>
                    </a:lnTo>
                    <a:lnTo>
                      <a:pt x="7" y="21"/>
                    </a:lnTo>
                    <a:lnTo>
                      <a:pt x="7" y="24"/>
                    </a:lnTo>
                    <a:lnTo>
                      <a:pt x="3" y="28"/>
                    </a:lnTo>
                    <a:lnTo>
                      <a:pt x="3" y="35"/>
                    </a:lnTo>
                    <a:lnTo>
                      <a:pt x="0" y="31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3" y="21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7" y="14"/>
                    </a:lnTo>
                    <a:lnTo>
                      <a:pt x="7" y="11"/>
                    </a:lnTo>
                    <a:lnTo>
                      <a:pt x="10" y="7"/>
                    </a:lnTo>
                    <a:lnTo>
                      <a:pt x="10" y="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39" name="Freeform 423"/>
              <p:cNvSpPr>
                <a:spLocks/>
              </p:cNvSpPr>
              <p:nvPr/>
            </p:nvSpPr>
            <p:spPr bwMode="auto">
              <a:xfrm>
                <a:off x="2178" y="1664"/>
                <a:ext cx="14" cy="35"/>
              </a:xfrm>
              <a:custGeom>
                <a:avLst/>
                <a:gdLst>
                  <a:gd name="T0" fmla="*/ 14 w 14"/>
                  <a:gd name="T1" fmla="*/ 0 h 35"/>
                  <a:gd name="T2" fmla="*/ 11 w 14"/>
                  <a:gd name="T3" fmla="*/ 4 h 35"/>
                  <a:gd name="T4" fmla="*/ 11 w 14"/>
                  <a:gd name="T5" fmla="*/ 11 h 35"/>
                  <a:gd name="T6" fmla="*/ 11 w 14"/>
                  <a:gd name="T7" fmla="*/ 14 h 35"/>
                  <a:gd name="T8" fmla="*/ 11 w 14"/>
                  <a:gd name="T9" fmla="*/ 17 h 35"/>
                  <a:gd name="T10" fmla="*/ 7 w 14"/>
                  <a:gd name="T11" fmla="*/ 24 h 35"/>
                  <a:gd name="T12" fmla="*/ 4 w 14"/>
                  <a:gd name="T13" fmla="*/ 28 h 35"/>
                  <a:gd name="T14" fmla="*/ 4 w 14"/>
                  <a:gd name="T15" fmla="*/ 31 h 35"/>
                  <a:gd name="T16" fmla="*/ 0 w 14"/>
                  <a:gd name="T17" fmla="*/ 35 h 35"/>
                  <a:gd name="T18" fmla="*/ 0 w 14"/>
                  <a:gd name="T19" fmla="*/ 35 h 35"/>
                  <a:gd name="T20" fmla="*/ 0 w 14"/>
                  <a:gd name="T21" fmla="*/ 31 h 35"/>
                  <a:gd name="T22" fmla="*/ 4 w 14"/>
                  <a:gd name="T23" fmla="*/ 28 h 35"/>
                  <a:gd name="T24" fmla="*/ 4 w 14"/>
                  <a:gd name="T25" fmla="*/ 21 h 35"/>
                  <a:gd name="T26" fmla="*/ 7 w 14"/>
                  <a:gd name="T27" fmla="*/ 17 h 35"/>
                  <a:gd name="T28" fmla="*/ 7 w 14"/>
                  <a:gd name="T29" fmla="*/ 14 h 35"/>
                  <a:gd name="T30" fmla="*/ 7 w 14"/>
                  <a:gd name="T31" fmla="*/ 7 h 35"/>
                  <a:gd name="T32" fmla="*/ 11 w 14"/>
                  <a:gd name="T33" fmla="*/ 4 h 35"/>
                  <a:gd name="T34" fmla="*/ 11 w 14"/>
                  <a:gd name="T35" fmla="*/ 0 h 35"/>
                  <a:gd name="T36" fmla="*/ 14 w 14"/>
                  <a:gd name="T37" fmla="*/ 0 h 35"/>
                  <a:gd name="T38" fmla="*/ 14 w 14"/>
                  <a:gd name="T39" fmla="*/ 0 h 3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"/>
                  <a:gd name="T61" fmla="*/ 0 h 35"/>
                  <a:gd name="T62" fmla="*/ 14 w 14"/>
                  <a:gd name="T63" fmla="*/ 35 h 3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" h="35">
                    <a:moveTo>
                      <a:pt x="14" y="0"/>
                    </a:moveTo>
                    <a:lnTo>
                      <a:pt x="11" y="4"/>
                    </a:lnTo>
                    <a:lnTo>
                      <a:pt x="11" y="11"/>
                    </a:lnTo>
                    <a:lnTo>
                      <a:pt x="11" y="14"/>
                    </a:lnTo>
                    <a:lnTo>
                      <a:pt x="11" y="17"/>
                    </a:lnTo>
                    <a:lnTo>
                      <a:pt x="7" y="24"/>
                    </a:lnTo>
                    <a:lnTo>
                      <a:pt x="4" y="28"/>
                    </a:lnTo>
                    <a:lnTo>
                      <a:pt x="4" y="31"/>
                    </a:lnTo>
                    <a:lnTo>
                      <a:pt x="0" y="35"/>
                    </a:lnTo>
                    <a:lnTo>
                      <a:pt x="0" y="31"/>
                    </a:lnTo>
                    <a:lnTo>
                      <a:pt x="4" y="28"/>
                    </a:lnTo>
                    <a:lnTo>
                      <a:pt x="4" y="21"/>
                    </a:lnTo>
                    <a:lnTo>
                      <a:pt x="7" y="17"/>
                    </a:lnTo>
                    <a:lnTo>
                      <a:pt x="7" y="14"/>
                    </a:lnTo>
                    <a:lnTo>
                      <a:pt x="7" y="7"/>
                    </a:lnTo>
                    <a:lnTo>
                      <a:pt x="11" y="4"/>
                    </a:lnTo>
                    <a:lnTo>
                      <a:pt x="11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0" name="Freeform 424"/>
              <p:cNvSpPr>
                <a:spLocks/>
              </p:cNvSpPr>
              <p:nvPr/>
            </p:nvSpPr>
            <p:spPr bwMode="auto">
              <a:xfrm>
                <a:off x="2137" y="1664"/>
                <a:ext cx="159" cy="49"/>
              </a:xfrm>
              <a:custGeom>
                <a:avLst/>
                <a:gdLst>
                  <a:gd name="T0" fmla="*/ 48 w 159"/>
                  <a:gd name="T1" fmla="*/ 7 h 49"/>
                  <a:gd name="T2" fmla="*/ 45 w 159"/>
                  <a:gd name="T3" fmla="*/ 14 h 49"/>
                  <a:gd name="T4" fmla="*/ 41 w 159"/>
                  <a:gd name="T5" fmla="*/ 24 h 49"/>
                  <a:gd name="T6" fmla="*/ 38 w 159"/>
                  <a:gd name="T7" fmla="*/ 31 h 49"/>
                  <a:gd name="T8" fmla="*/ 41 w 159"/>
                  <a:gd name="T9" fmla="*/ 38 h 49"/>
                  <a:gd name="T10" fmla="*/ 48 w 159"/>
                  <a:gd name="T11" fmla="*/ 38 h 49"/>
                  <a:gd name="T12" fmla="*/ 48 w 159"/>
                  <a:gd name="T13" fmla="*/ 31 h 49"/>
                  <a:gd name="T14" fmla="*/ 52 w 159"/>
                  <a:gd name="T15" fmla="*/ 24 h 49"/>
                  <a:gd name="T16" fmla="*/ 55 w 159"/>
                  <a:gd name="T17" fmla="*/ 17 h 49"/>
                  <a:gd name="T18" fmla="*/ 55 w 159"/>
                  <a:gd name="T19" fmla="*/ 11 h 49"/>
                  <a:gd name="T20" fmla="*/ 59 w 159"/>
                  <a:gd name="T21" fmla="*/ 11 h 49"/>
                  <a:gd name="T22" fmla="*/ 59 w 159"/>
                  <a:gd name="T23" fmla="*/ 17 h 49"/>
                  <a:gd name="T24" fmla="*/ 55 w 159"/>
                  <a:gd name="T25" fmla="*/ 24 h 49"/>
                  <a:gd name="T26" fmla="*/ 52 w 159"/>
                  <a:gd name="T27" fmla="*/ 35 h 49"/>
                  <a:gd name="T28" fmla="*/ 55 w 159"/>
                  <a:gd name="T29" fmla="*/ 38 h 49"/>
                  <a:gd name="T30" fmla="*/ 59 w 159"/>
                  <a:gd name="T31" fmla="*/ 38 h 49"/>
                  <a:gd name="T32" fmla="*/ 65 w 159"/>
                  <a:gd name="T33" fmla="*/ 38 h 49"/>
                  <a:gd name="T34" fmla="*/ 72 w 159"/>
                  <a:gd name="T35" fmla="*/ 38 h 49"/>
                  <a:gd name="T36" fmla="*/ 79 w 159"/>
                  <a:gd name="T37" fmla="*/ 38 h 49"/>
                  <a:gd name="T38" fmla="*/ 86 w 159"/>
                  <a:gd name="T39" fmla="*/ 38 h 49"/>
                  <a:gd name="T40" fmla="*/ 93 w 159"/>
                  <a:gd name="T41" fmla="*/ 38 h 49"/>
                  <a:gd name="T42" fmla="*/ 97 w 159"/>
                  <a:gd name="T43" fmla="*/ 38 h 49"/>
                  <a:gd name="T44" fmla="*/ 103 w 159"/>
                  <a:gd name="T45" fmla="*/ 38 h 49"/>
                  <a:gd name="T46" fmla="*/ 110 w 159"/>
                  <a:gd name="T47" fmla="*/ 38 h 49"/>
                  <a:gd name="T48" fmla="*/ 117 w 159"/>
                  <a:gd name="T49" fmla="*/ 38 h 49"/>
                  <a:gd name="T50" fmla="*/ 128 w 159"/>
                  <a:gd name="T51" fmla="*/ 38 h 49"/>
                  <a:gd name="T52" fmla="*/ 135 w 159"/>
                  <a:gd name="T53" fmla="*/ 38 h 49"/>
                  <a:gd name="T54" fmla="*/ 141 w 159"/>
                  <a:gd name="T55" fmla="*/ 38 h 49"/>
                  <a:gd name="T56" fmla="*/ 148 w 159"/>
                  <a:gd name="T57" fmla="*/ 38 h 49"/>
                  <a:gd name="T58" fmla="*/ 155 w 159"/>
                  <a:gd name="T59" fmla="*/ 42 h 49"/>
                  <a:gd name="T60" fmla="*/ 159 w 159"/>
                  <a:gd name="T61" fmla="*/ 42 h 49"/>
                  <a:gd name="T62" fmla="*/ 159 w 159"/>
                  <a:gd name="T63" fmla="*/ 45 h 49"/>
                  <a:gd name="T64" fmla="*/ 152 w 159"/>
                  <a:gd name="T65" fmla="*/ 45 h 49"/>
                  <a:gd name="T66" fmla="*/ 131 w 159"/>
                  <a:gd name="T67" fmla="*/ 49 h 49"/>
                  <a:gd name="T68" fmla="*/ 110 w 159"/>
                  <a:gd name="T69" fmla="*/ 49 h 49"/>
                  <a:gd name="T70" fmla="*/ 93 w 159"/>
                  <a:gd name="T71" fmla="*/ 45 h 49"/>
                  <a:gd name="T72" fmla="*/ 76 w 159"/>
                  <a:gd name="T73" fmla="*/ 45 h 49"/>
                  <a:gd name="T74" fmla="*/ 55 w 159"/>
                  <a:gd name="T75" fmla="*/ 45 h 49"/>
                  <a:gd name="T76" fmla="*/ 38 w 159"/>
                  <a:gd name="T77" fmla="*/ 45 h 49"/>
                  <a:gd name="T78" fmla="*/ 17 w 159"/>
                  <a:gd name="T79" fmla="*/ 45 h 49"/>
                  <a:gd name="T80" fmla="*/ 7 w 159"/>
                  <a:gd name="T81" fmla="*/ 45 h 49"/>
                  <a:gd name="T82" fmla="*/ 0 w 159"/>
                  <a:gd name="T83" fmla="*/ 45 h 49"/>
                  <a:gd name="T84" fmla="*/ 0 w 159"/>
                  <a:gd name="T85" fmla="*/ 42 h 49"/>
                  <a:gd name="T86" fmla="*/ 3 w 159"/>
                  <a:gd name="T87" fmla="*/ 38 h 49"/>
                  <a:gd name="T88" fmla="*/ 7 w 159"/>
                  <a:gd name="T89" fmla="*/ 38 h 49"/>
                  <a:gd name="T90" fmla="*/ 14 w 159"/>
                  <a:gd name="T91" fmla="*/ 38 h 49"/>
                  <a:gd name="T92" fmla="*/ 17 w 159"/>
                  <a:gd name="T93" fmla="*/ 38 h 49"/>
                  <a:gd name="T94" fmla="*/ 21 w 159"/>
                  <a:gd name="T95" fmla="*/ 38 h 49"/>
                  <a:gd name="T96" fmla="*/ 24 w 159"/>
                  <a:gd name="T97" fmla="*/ 38 h 49"/>
                  <a:gd name="T98" fmla="*/ 31 w 159"/>
                  <a:gd name="T99" fmla="*/ 38 h 49"/>
                  <a:gd name="T100" fmla="*/ 34 w 159"/>
                  <a:gd name="T101" fmla="*/ 31 h 49"/>
                  <a:gd name="T102" fmla="*/ 38 w 159"/>
                  <a:gd name="T103" fmla="*/ 24 h 49"/>
                  <a:gd name="T104" fmla="*/ 41 w 159"/>
                  <a:gd name="T105" fmla="*/ 14 h 49"/>
                  <a:gd name="T106" fmla="*/ 45 w 159"/>
                  <a:gd name="T107" fmla="*/ 4 h 49"/>
                  <a:gd name="T108" fmla="*/ 48 w 159"/>
                  <a:gd name="T109" fmla="*/ 0 h 49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59"/>
                  <a:gd name="T166" fmla="*/ 0 h 49"/>
                  <a:gd name="T167" fmla="*/ 159 w 159"/>
                  <a:gd name="T168" fmla="*/ 49 h 49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59" h="49">
                    <a:moveTo>
                      <a:pt x="48" y="0"/>
                    </a:moveTo>
                    <a:lnTo>
                      <a:pt x="48" y="7"/>
                    </a:lnTo>
                    <a:lnTo>
                      <a:pt x="48" y="11"/>
                    </a:lnTo>
                    <a:lnTo>
                      <a:pt x="45" y="14"/>
                    </a:lnTo>
                    <a:lnTo>
                      <a:pt x="45" y="17"/>
                    </a:lnTo>
                    <a:lnTo>
                      <a:pt x="41" y="24"/>
                    </a:lnTo>
                    <a:lnTo>
                      <a:pt x="41" y="28"/>
                    </a:lnTo>
                    <a:lnTo>
                      <a:pt x="38" y="31"/>
                    </a:lnTo>
                    <a:lnTo>
                      <a:pt x="38" y="38"/>
                    </a:lnTo>
                    <a:lnTo>
                      <a:pt x="41" y="38"/>
                    </a:lnTo>
                    <a:lnTo>
                      <a:pt x="45" y="38"/>
                    </a:lnTo>
                    <a:lnTo>
                      <a:pt x="48" y="38"/>
                    </a:lnTo>
                    <a:lnTo>
                      <a:pt x="48" y="35"/>
                    </a:lnTo>
                    <a:lnTo>
                      <a:pt x="48" y="31"/>
                    </a:lnTo>
                    <a:lnTo>
                      <a:pt x="52" y="28"/>
                    </a:lnTo>
                    <a:lnTo>
                      <a:pt x="52" y="24"/>
                    </a:lnTo>
                    <a:lnTo>
                      <a:pt x="52" y="21"/>
                    </a:lnTo>
                    <a:lnTo>
                      <a:pt x="55" y="17"/>
                    </a:lnTo>
                    <a:lnTo>
                      <a:pt x="55" y="14"/>
                    </a:lnTo>
                    <a:lnTo>
                      <a:pt x="55" y="11"/>
                    </a:lnTo>
                    <a:lnTo>
                      <a:pt x="59" y="7"/>
                    </a:lnTo>
                    <a:lnTo>
                      <a:pt x="59" y="11"/>
                    </a:lnTo>
                    <a:lnTo>
                      <a:pt x="59" y="14"/>
                    </a:lnTo>
                    <a:lnTo>
                      <a:pt x="59" y="17"/>
                    </a:lnTo>
                    <a:lnTo>
                      <a:pt x="55" y="21"/>
                    </a:lnTo>
                    <a:lnTo>
                      <a:pt x="55" y="24"/>
                    </a:lnTo>
                    <a:lnTo>
                      <a:pt x="52" y="28"/>
                    </a:lnTo>
                    <a:lnTo>
                      <a:pt x="52" y="35"/>
                    </a:lnTo>
                    <a:lnTo>
                      <a:pt x="52" y="38"/>
                    </a:lnTo>
                    <a:lnTo>
                      <a:pt x="55" y="38"/>
                    </a:lnTo>
                    <a:lnTo>
                      <a:pt x="59" y="38"/>
                    </a:lnTo>
                    <a:lnTo>
                      <a:pt x="62" y="38"/>
                    </a:lnTo>
                    <a:lnTo>
                      <a:pt x="65" y="38"/>
                    </a:lnTo>
                    <a:lnTo>
                      <a:pt x="69" y="38"/>
                    </a:lnTo>
                    <a:lnTo>
                      <a:pt x="72" y="38"/>
                    </a:lnTo>
                    <a:lnTo>
                      <a:pt x="76" y="38"/>
                    </a:lnTo>
                    <a:lnTo>
                      <a:pt x="79" y="38"/>
                    </a:lnTo>
                    <a:lnTo>
                      <a:pt x="83" y="38"/>
                    </a:lnTo>
                    <a:lnTo>
                      <a:pt x="86" y="38"/>
                    </a:lnTo>
                    <a:lnTo>
                      <a:pt x="90" y="38"/>
                    </a:lnTo>
                    <a:lnTo>
                      <a:pt x="93" y="38"/>
                    </a:lnTo>
                    <a:lnTo>
                      <a:pt x="97" y="38"/>
                    </a:lnTo>
                    <a:lnTo>
                      <a:pt x="100" y="38"/>
                    </a:lnTo>
                    <a:lnTo>
                      <a:pt x="103" y="38"/>
                    </a:lnTo>
                    <a:lnTo>
                      <a:pt x="107" y="38"/>
                    </a:lnTo>
                    <a:lnTo>
                      <a:pt x="110" y="38"/>
                    </a:lnTo>
                    <a:lnTo>
                      <a:pt x="114" y="38"/>
                    </a:lnTo>
                    <a:lnTo>
                      <a:pt x="117" y="38"/>
                    </a:lnTo>
                    <a:lnTo>
                      <a:pt x="124" y="38"/>
                    </a:lnTo>
                    <a:lnTo>
                      <a:pt x="128" y="38"/>
                    </a:lnTo>
                    <a:lnTo>
                      <a:pt x="131" y="38"/>
                    </a:lnTo>
                    <a:lnTo>
                      <a:pt x="135" y="38"/>
                    </a:lnTo>
                    <a:lnTo>
                      <a:pt x="138" y="38"/>
                    </a:lnTo>
                    <a:lnTo>
                      <a:pt x="141" y="38"/>
                    </a:lnTo>
                    <a:lnTo>
                      <a:pt x="145" y="38"/>
                    </a:lnTo>
                    <a:lnTo>
                      <a:pt x="148" y="38"/>
                    </a:lnTo>
                    <a:lnTo>
                      <a:pt x="152" y="42"/>
                    </a:lnTo>
                    <a:lnTo>
                      <a:pt x="155" y="42"/>
                    </a:lnTo>
                    <a:lnTo>
                      <a:pt x="159" y="42"/>
                    </a:lnTo>
                    <a:lnTo>
                      <a:pt x="159" y="45"/>
                    </a:lnTo>
                    <a:lnTo>
                      <a:pt x="152" y="45"/>
                    </a:lnTo>
                    <a:lnTo>
                      <a:pt x="141" y="49"/>
                    </a:lnTo>
                    <a:lnTo>
                      <a:pt x="131" y="49"/>
                    </a:lnTo>
                    <a:lnTo>
                      <a:pt x="121" y="49"/>
                    </a:lnTo>
                    <a:lnTo>
                      <a:pt x="110" y="49"/>
                    </a:lnTo>
                    <a:lnTo>
                      <a:pt x="103" y="45"/>
                    </a:lnTo>
                    <a:lnTo>
                      <a:pt x="93" y="45"/>
                    </a:lnTo>
                    <a:lnTo>
                      <a:pt x="83" y="45"/>
                    </a:lnTo>
                    <a:lnTo>
                      <a:pt x="76" y="45"/>
                    </a:lnTo>
                    <a:lnTo>
                      <a:pt x="65" y="45"/>
                    </a:lnTo>
                    <a:lnTo>
                      <a:pt x="55" y="45"/>
                    </a:lnTo>
                    <a:lnTo>
                      <a:pt x="45" y="45"/>
                    </a:lnTo>
                    <a:lnTo>
                      <a:pt x="38" y="45"/>
                    </a:lnTo>
                    <a:lnTo>
                      <a:pt x="27" y="45"/>
                    </a:lnTo>
                    <a:lnTo>
                      <a:pt x="17" y="45"/>
                    </a:lnTo>
                    <a:lnTo>
                      <a:pt x="7" y="45"/>
                    </a:lnTo>
                    <a:lnTo>
                      <a:pt x="3" y="45"/>
                    </a:lnTo>
                    <a:lnTo>
                      <a:pt x="0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3" y="38"/>
                    </a:lnTo>
                    <a:lnTo>
                      <a:pt x="7" y="38"/>
                    </a:lnTo>
                    <a:lnTo>
                      <a:pt x="10" y="38"/>
                    </a:lnTo>
                    <a:lnTo>
                      <a:pt x="14" y="38"/>
                    </a:lnTo>
                    <a:lnTo>
                      <a:pt x="17" y="38"/>
                    </a:lnTo>
                    <a:lnTo>
                      <a:pt x="21" y="38"/>
                    </a:lnTo>
                    <a:lnTo>
                      <a:pt x="24" y="38"/>
                    </a:lnTo>
                    <a:lnTo>
                      <a:pt x="27" y="38"/>
                    </a:lnTo>
                    <a:lnTo>
                      <a:pt x="31" y="38"/>
                    </a:lnTo>
                    <a:lnTo>
                      <a:pt x="34" y="31"/>
                    </a:lnTo>
                    <a:lnTo>
                      <a:pt x="38" y="28"/>
                    </a:lnTo>
                    <a:lnTo>
                      <a:pt x="38" y="24"/>
                    </a:lnTo>
                    <a:lnTo>
                      <a:pt x="41" y="17"/>
                    </a:lnTo>
                    <a:lnTo>
                      <a:pt x="41" y="14"/>
                    </a:lnTo>
                    <a:lnTo>
                      <a:pt x="45" y="11"/>
                    </a:lnTo>
                    <a:lnTo>
                      <a:pt x="45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1" name="Freeform 425"/>
              <p:cNvSpPr>
                <a:spLocks/>
              </p:cNvSpPr>
              <p:nvPr/>
            </p:nvSpPr>
            <p:spPr bwMode="auto">
              <a:xfrm>
                <a:off x="2199" y="1440"/>
                <a:ext cx="21" cy="10"/>
              </a:xfrm>
              <a:custGeom>
                <a:avLst/>
                <a:gdLst>
                  <a:gd name="T0" fmla="*/ 0 w 21"/>
                  <a:gd name="T1" fmla="*/ 10 h 10"/>
                  <a:gd name="T2" fmla="*/ 3 w 21"/>
                  <a:gd name="T3" fmla="*/ 10 h 10"/>
                  <a:gd name="T4" fmla="*/ 7 w 21"/>
                  <a:gd name="T5" fmla="*/ 10 h 10"/>
                  <a:gd name="T6" fmla="*/ 7 w 21"/>
                  <a:gd name="T7" fmla="*/ 10 h 10"/>
                  <a:gd name="T8" fmla="*/ 10 w 21"/>
                  <a:gd name="T9" fmla="*/ 6 h 10"/>
                  <a:gd name="T10" fmla="*/ 14 w 21"/>
                  <a:gd name="T11" fmla="*/ 6 h 10"/>
                  <a:gd name="T12" fmla="*/ 17 w 21"/>
                  <a:gd name="T13" fmla="*/ 6 h 10"/>
                  <a:gd name="T14" fmla="*/ 17 w 21"/>
                  <a:gd name="T15" fmla="*/ 3 h 10"/>
                  <a:gd name="T16" fmla="*/ 21 w 21"/>
                  <a:gd name="T17" fmla="*/ 0 h 10"/>
                  <a:gd name="T18" fmla="*/ 21 w 21"/>
                  <a:gd name="T19" fmla="*/ 0 h 10"/>
                  <a:gd name="T20" fmla="*/ 21 w 21"/>
                  <a:gd name="T21" fmla="*/ 0 h 10"/>
                  <a:gd name="T22" fmla="*/ 21 w 21"/>
                  <a:gd name="T23" fmla="*/ 0 h 10"/>
                  <a:gd name="T24" fmla="*/ 21 w 21"/>
                  <a:gd name="T25" fmla="*/ 0 h 10"/>
                  <a:gd name="T26" fmla="*/ 17 w 21"/>
                  <a:gd name="T27" fmla="*/ 0 h 10"/>
                  <a:gd name="T28" fmla="*/ 17 w 21"/>
                  <a:gd name="T29" fmla="*/ 0 h 10"/>
                  <a:gd name="T30" fmla="*/ 17 w 21"/>
                  <a:gd name="T31" fmla="*/ 0 h 10"/>
                  <a:gd name="T32" fmla="*/ 17 w 21"/>
                  <a:gd name="T33" fmla="*/ 0 h 10"/>
                  <a:gd name="T34" fmla="*/ 17 w 21"/>
                  <a:gd name="T35" fmla="*/ 0 h 10"/>
                  <a:gd name="T36" fmla="*/ 14 w 21"/>
                  <a:gd name="T37" fmla="*/ 0 h 10"/>
                  <a:gd name="T38" fmla="*/ 14 w 21"/>
                  <a:gd name="T39" fmla="*/ 3 h 10"/>
                  <a:gd name="T40" fmla="*/ 10 w 21"/>
                  <a:gd name="T41" fmla="*/ 3 h 10"/>
                  <a:gd name="T42" fmla="*/ 10 w 21"/>
                  <a:gd name="T43" fmla="*/ 6 h 10"/>
                  <a:gd name="T44" fmla="*/ 7 w 21"/>
                  <a:gd name="T45" fmla="*/ 6 h 10"/>
                  <a:gd name="T46" fmla="*/ 3 w 21"/>
                  <a:gd name="T47" fmla="*/ 6 h 10"/>
                  <a:gd name="T48" fmla="*/ 3 w 21"/>
                  <a:gd name="T49" fmla="*/ 10 h 10"/>
                  <a:gd name="T50" fmla="*/ 0 w 21"/>
                  <a:gd name="T51" fmla="*/ 10 h 10"/>
                  <a:gd name="T52" fmla="*/ 0 w 21"/>
                  <a:gd name="T53" fmla="*/ 10 h 10"/>
                  <a:gd name="T54" fmla="*/ 0 w 21"/>
                  <a:gd name="T55" fmla="*/ 10 h 10"/>
                  <a:gd name="T56" fmla="*/ 0 w 21"/>
                  <a:gd name="T57" fmla="*/ 10 h 10"/>
                  <a:gd name="T58" fmla="*/ 0 w 21"/>
                  <a:gd name="T59" fmla="*/ 10 h 10"/>
                  <a:gd name="T60" fmla="*/ 0 w 21"/>
                  <a:gd name="T61" fmla="*/ 10 h 10"/>
                  <a:gd name="T62" fmla="*/ 0 w 21"/>
                  <a:gd name="T63" fmla="*/ 10 h 10"/>
                  <a:gd name="T64" fmla="*/ 0 w 21"/>
                  <a:gd name="T65" fmla="*/ 10 h 10"/>
                  <a:gd name="T66" fmla="*/ 0 w 21"/>
                  <a:gd name="T67" fmla="*/ 10 h 10"/>
                  <a:gd name="T68" fmla="*/ 0 w 21"/>
                  <a:gd name="T69" fmla="*/ 10 h 1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1"/>
                  <a:gd name="T106" fmla="*/ 0 h 10"/>
                  <a:gd name="T107" fmla="*/ 21 w 21"/>
                  <a:gd name="T108" fmla="*/ 10 h 1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1" h="10">
                    <a:moveTo>
                      <a:pt x="0" y="10"/>
                    </a:moveTo>
                    <a:lnTo>
                      <a:pt x="3" y="10"/>
                    </a:lnTo>
                    <a:lnTo>
                      <a:pt x="7" y="10"/>
                    </a:lnTo>
                    <a:lnTo>
                      <a:pt x="10" y="6"/>
                    </a:lnTo>
                    <a:lnTo>
                      <a:pt x="14" y="6"/>
                    </a:lnTo>
                    <a:lnTo>
                      <a:pt x="17" y="6"/>
                    </a:lnTo>
                    <a:lnTo>
                      <a:pt x="17" y="3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4" y="3"/>
                    </a:lnTo>
                    <a:lnTo>
                      <a:pt x="10" y="3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2" name="Freeform 426"/>
              <p:cNvSpPr>
                <a:spLocks/>
              </p:cNvSpPr>
              <p:nvPr/>
            </p:nvSpPr>
            <p:spPr bwMode="auto">
              <a:xfrm>
                <a:off x="2206" y="1446"/>
                <a:ext cx="21" cy="11"/>
              </a:xfrm>
              <a:custGeom>
                <a:avLst/>
                <a:gdLst>
                  <a:gd name="T0" fmla="*/ 0 w 21"/>
                  <a:gd name="T1" fmla="*/ 11 h 11"/>
                  <a:gd name="T2" fmla="*/ 3 w 21"/>
                  <a:gd name="T3" fmla="*/ 11 h 11"/>
                  <a:gd name="T4" fmla="*/ 7 w 21"/>
                  <a:gd name="T5" fmla="*/ 11 h 11"/>
                  <a:gd name="T6" fmla="*/ 7 w 21"/>
                  <a:gd name="T7" fmla="*/ 11 h 11"/>
                  <a:gd name="T8" fmla="*/ 10 w 21"/>
                  <a:gd name="T9" fmla="*/ 7 h 11"/>
                  <a:gd name="T10" fmla="*/ 14 w 21"/>
                  <a:gd name="T11" fmla="*/ 7 h 11"/>
                  <a:gd name="T12" fmla="*/ 14 w 21"/>
                  <a:gd name="T13" fmla="*/ 7 h 11"/>
                  <a:gd name="T14" fmla="*/ 17 w 21"/>
                  <a:gd name="T15" fmla="*/ 4 h 11"/>
                  <a:gd name="T16" fmla="*/ 17 w 21"/>
                  <a:gd name="T17" fmla="*/ 4 h 11"/>
                  <a:gd name="T18" fmla="*/ 21 w 21"/>
                  <a:gd name="T19" fmla="*/ 4 h 11"/>
                  <a:gd name="T20" fmla="*/ 21 w 21"/>
                  <a:gd name="T21" fmla="*/ 0 h 11"/>
                  <a:gd name="T22" fmla="*/ 21 w 21"/>
                  <a:gd name="T23" fmla="*/ 0 h 11"/>
                  <a:gd name="T24" fmla="*/ 21 w 21"/>
                  <a:gd name="T25" fmla="*/ 0 h 11"/>
                  <a:gd name="T26" fmla="*/ 17 w 21"/>
                  <a:gd name="T27" fmla="*/ 0 h 11"/>
                  <a:gd name="T28" fmla="*/ 17 w 21"/>
                  <a:gd name="T29" fmla="*/ 0 h 11"/>
                  <a:gd name="T30" fmla="*/ 17 w 21"/>
                  <a:gd name="T31" fmla="*/ 0 h 11"/>
                  <a:gd name="T32" fmla="*/ 17 w 21"/>
                  <a:gd name="T33" fmla="*/ 0 h 11"/>
                  <a:gd name="T34" fmla="*/ 14 w 21"/>
                  <a:gd name="T35" fmla="*/ 0 h 11"/>
                  <a:gd name="T36" fmla="*/ 14 w 21"/>
                  <a:gd name="T37" fmla="*/ 4 h 11"/>
                  <a:gd name="T38" fmla="*/ 10 w 21"/>
                  <a:gd name="T39" fmla="*/ 4 h 11"/>
                  <a:gd name="T40" fmla="*/ 10 w 21"/>
                  <a:gd name="T41" fmla="*/ 4 h 11"/>
                  <a:gd name="T42" fmla="*/ 7 w 21"/>
                  <a:gd name="T43" fmla="*/ 7 h 11"/>
                  <a:gd name="T44" fmla="*/ 3 w 21"/>
                  <a:gd name="T45" fmla="*/ 7 h 11"/>
                  <a:gd name="T46" fmla="*/ 3 w 21"/>
                  <a:gd name="T47" fmla="*/ 7 h 11"/>
                  <a:gd name="T48" fmla="*/ 0 w 21"/>
                  <a:gd name="T49" fmla="*/ 11 h 11"/>
                  <a:gd name="T50" fmla="*/ 0 w 21"/>
                  <a:gd name="T51" fmla="*/ 11 h 11"/>
                  <a:gd name="T52" fmla="*/ 0 w 21"/>
                  <a:gd name="T53" fmla="*/ 11 h 11"/>
                  <a:gd name="T54" fmla="*/ 0 w 21"/>
                  <a:gd name="T55" fmla="*/ 11 h 11"/>
                  <a:gd name="T56" fmla="*/ 0 w 21"/>
                  <a:gd name="T57" fmla="*/ 11 h 11"/>
                  <a:gd name="T58" fmla="*/ 0 w 21"/>
                  <a:gd name="T59" fmla="*/ 11 h 11"/>
                  <a:gd name="T60" fmla="*/ 0 w 21"/>
                  <a:gd name="T61" fmla="*/ 11 h 11"/>
                  <a:gd name="T62" fmla="*/ 0 w 21"/>
                  <a:gd name="T63" fmla="*/ 11 h 11"/>
                  <a:gd name="T64" fmla="*/ 0 w 21"/>
                  <a:gd name="T65" fmla="*/ 11 h 11"/>
                  <a:gd name="T66" fmla="*/ 0 w 21"/>
                  <a:gd name="T67" fmla="*/ 11 h 1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1"/>
                  <a:gd name="T103" fmla="*/ 0 h 11"/>
                  <a:gd name="T104" fmla="*/ 21 w 21"/>
                  <a:gd name="T105" fmla="*/ 11 h 1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1" h="11">
                    <a:moveTo>
                      <a:pt x="0" y="11"/>
                    </a:moveTo>
                    <a:lnTo>
                      <a:pt x="3" y="11"/>
                    </a:lnTo>
                    <a:lnTo>
                      <a:pt x="7" y="11"/>
                    </a:lnTo>
                    <a:lnTo>
                      <a:pt x="10" y="7"/>
                    </a:lnTo>
                    <a:lnTo>
                      <a:pt x="14" y="7"/>
                    </a:lnTo>
                    <a:lnTo>
                      <a:pt x="17" y="4"/>
                    </a:lnTo>
                    <a:lnTo>
                      <a:pt x="21" y="4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4" y="4"/>
                    </a:lnTo>
                    <a:lnTo>
                      <a:pt x="10" y="4"/>
                    </a:lnTo>
                    <a:lnTo>
                      <a:pt x="7" y="7"/>
                    </a:lnTo>
                    <a:lnTo>
                      <a:pt x="3" y="7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3" name="Freeform 427"/>
              <p:cNvSpPr>
                <a:spLocks/>
              </p:cNvSpPr>
              <p:nvPr/>
            </p:nvSpPr>
            <p:spPr bwMode="auto">
              <a:xfrm>
                <a:off x="2209" y="1433"/>
                <a:ext cx="28" cy="20"/>
              </a:xfrm>
              <a:custGeom>
                <a:avLst/>
                <a:gdLst>
                  <a:gd name="T0" fmla="*/ 0 w 28"/>
                  <a:gd name="T1" fmla="*/ 0 h 20"/>
                  <a:gd name="T2" fmla="*/ 4 w 28"/>
                  <a:gd name="T3" fmla="*/ 3 h 20"/>
                  <a:gd name="T4" fmla="*/ 4 w 28"/>
                  <a:gd name="T5" fmla="*/ 7 h 20"/>
                  <a:gd name="T6" fmla="*/ 7 w 28"/>
                  <a:gd name="T7" fmla="*/ 7 h 20"/>
                  <a:gd name="T8" fmla="*/ 11 w 28"/>
                  <a:gd name="T9" fmla="*/ 10 h 20"/>
                  <a:gd name="T10" fmla="*/ 14 w 28"/>
                  <a:gd name="T11" fmla="*/ 13 h 20"/>
                  <a:gd name="T12" fmla="*/ 18 w 28"/>
                  <a:gd name="T13" fmla="*/ 17 h 20"/>
                  <a:gd name="T14" fmla="*/ 21 w 28"/>
                  <a:gd name="T15" fmla="*/ 17 h 20"/>
                  <a:gd name="T16" fmla="*/ 25 w 28"/>
                  <a:gd name="T17" fmla="*/ 20 h 20"/>
                  <a:gd name="T18" fmla="*/ 25 w 28"/>
                  <a:gd name="T19" fmla="*/ 20 h 20"/>
                  <a:gd name="T20" fmla="*/ 25 w 28"/>
                  <a:gd name="T21" fmla="*/ 20 h 20"/>
                  <a:gd name="T22" fmla="*/ 25 w 28"/>
                  <a:gd name="T23" fmla="*/ 20 h 20"/>
                  <a:gd name="T24" fmla="*/ 28 w 28"/>
                  <a:gd name="T25" fmla="*/ 20 h 20"/>
                  <a:gd name="T26" fmla="*/ 28 w 28"/>
                  <a:gd name="T27" fmla="*/ 20 h 20"/>
                  <a:gd name="T28" fmla="*/ 28 w 28"/>
                  <a:gd name="T29" fmla="*/ 20 h 20"/>
                  <a:gd name="T30" fmla="*/ 28 w 28"/>
                  <a:gd name="T31" fmla="*/ 20 h 20"/>
                  <a:gd name="T32" fmla="*/ 28 w 28"/>
                  <a:gd name="T33" fmla="*/ 20 h 20"/>
                  <a:gd name="T34" fmla="*/ 28 w 28"/>
                  <a:gd name="T35" fmla="*/ 17 h 20"/>
                  <a:gd name="T36" fmla="*/ 28 w 28"/>
                  <a:gd name="T37" fmla="*/ 17 h 20"/>
                  <a:gd name="T38" fmla="*/ 28 w 28"/>
                  <a:gd name="T39" fmla="*/ 17 h 20"/>
                  <a:gd name="T40" fmla="*/ 28 w 28"/>
                  <a:gd name="T41" fmla="*/ 17 h 20"/>
                  <a:gd name="T42" fmla="*/ 25 w 28"/>
                  <a:gd name="T43" fmla="*/ 13 h 20"/>
                  <a:gd name="T44" fmla="*/ 21 w 28"/>
                  <a:gd name="T45" fmla="*/ 13 h 20"/>
                  <a:gd name="T46" fmla="*/ 18 w 28"/>
                  <a:gd name="T47" fmla="*/ 10 h 20"/>
                  <a:gd name="T48" fmla="*/ 14 w 28"/>
                  <a:gd name="T49" fmla="*/ 7 h 20"/>
                  <a:gd name="T50" fmla="*/ 11 w 28"/>
                  <a:gd name="T51" fmla="*/ 7 h 20"/>
                  <a:gd name="T52" fmla="*/ 7 w 28"/>
                  <a:gd name="T53" fmla="*/ 3 h 20"/>
                  <a:gd name="T54" fmla="*/ 4 w 28"/>
                  <a:gd name="T55" fmla="*/ 0 h 20"/>
                  <a:gd name="T56" fmla="*/ 0 w 28"/>
                  <a:gd name="T57" fmla="*/ 0 h 20"/>
                  <a:gd name="T58" fmla="*/ 0 w 28"/>
                  <a:gd name="T59" fmla="*/ 0 h 20"/>
                  <a:gd name="T60" fmla="*/ 0 w 28"/>
                  <a:gd name="T61" fmla="*/ 0 h 20"/>
                  <a:gd name="T62" fmla="*/ 0 w 28"/>
                  <a:gd name="T63" fmla="*/ 0 h 20"/>
                  <a:gd name="T64" fmla="*/ 0 w 28"/>
                  <a:gd name="T65" fmla="*/ 0 h 20"/>
                  <a:gd name="T66" fmla="*/ 0 w 28"/>
                  <a:gd name="T67" fmla="*/ 0 h 20"/>
                  <a:gd name="T68" fmla="*/ 0 w 28"/>
                  <a:gd name="T69" fmla="*/ 0 h 20"/>
                  <a:gd name="T70" fmla="*/ 0 w 28"/>
                  <a:gd name="T71" fmla="*/ 0 h 20"/>
                  <a:gd name="T72" fmla="*/ 0 w 28"/>
                  <a:gd name="T73" fmla="*/ 0 h 20"/>
                  <a:gd name="T74" fmla="*/ 0 w 28"/>
                  <a:gd name="T75" fmla="*/ 0 h 2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8"/>
                  <a:gd name="T115" fmla="*/ 0 h 20"/>
                  <a:gd name="T116" fmla="*/ 28 w 28"/>
                  <a:gd name="T117" fmla="*/ 20 h 2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8" h="20">
                    <a:moveTo>
                      <a:pt x="0" y="0"/>
                    </a:moveTo>
                    <a:lnTo>
                      <a:pt x="4" y="3"/>
                    </a:lnTo>
                    <a:lnTo>
                      <a:pt x="4" y="7"/>
                    </a:lnTo>
                    <a:lnTo>
                      <a:pt x="7" y="7"/>
                    </a:lnTo>
                    <a:lnTo>
                      <a:pt x="11" y="10"/>
                    </a:lnTo>
                    <a:lnTo>
                      <a:pt x="14" y="13"/>
                    </a:lnTo>
                    <a:lnTo>
                      <a:pt x="18" y="17"/>
                    </a:lnTo>
                    <a:lnTo>
                      <a:pt x="21" y="17"/>
                    </a:lnTo>
                    <a:lnTo>
                      <a:pt x="25" y="20"/>
                    </a:lnTo>
                    <a:lnTo>
                      <a:pt x="28" y="20"/>
                    </a:lnTo>
                    <a:lnTo>
                      <a:pt x="28" y="17"/>
                    </a:lnTo>
                    <a:lnTo>
                      <a:pt x="25" y="13"/>
                    </a:lnTo>
                    <a:lnTo>
                      <a:pt x="21" y="13"/>
                    </a:lnTo>
                    <a:lnTo>
                      <a:pt x="18" y="10"/>
                    </a:lnTo>
                    <a:lnTo>
                      <a:pt x="14" y="7"/>
                    </a:lnTo>
                    <a:lnTo>
                      <a:pt x="11" y="7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4" name="Freeform 428"/>
              <p:cNvSpPr>
                <a:spLocks/>
              </p:cNvSpPr>
              <p:nvPr/>
            </p:nvSpPr>
            <p:spPr bwMode="auto">
              <a:xfrm>
                <a:off x="2230" y="1429"/>
                <a:ext cx="28" cy="24"/>
              </a:xfrm>
              <a:custGeom>
                <a:avLst/>
                <a:gdLst>
                  <a:gd name="T0" fmla="*/ 0 w 28"/>
                  <a:gd name="T1" fmla="*/ 4 h 24"/>
                  <a:gd name="T2" fmla="*/ 0 w 28"/>
                  <a:gd name="T3" fmla="*/ 7 h 24"/>
                  <a:gd name="T4" fmla="*/ 4 w 28"/>
                  <a:gd name="T5" fmla="*/ 7 h 24"/>
                  <a:gd name="T6" fmla="*/ 7 w 28"/>
                  <a:gd name="T7" fmla="*/ 11 h 24"/>
                  <a:gd name="T8" fmla="*/ 10 w 28"/>
                  <a:gd name="T9" fmla="*/ 14 h 24"/>
                  <a:gd name="T10" fmla="*/ 10 w 28"/>
                  <a:gd name="T11" fmla="*/ 17 h 24"/>
                  <a:gd name="T12" fmla="*/ 14 w 28"/>
                  <a:gd name="T13" fmla="*/ 21 h 24"/>
                  <a:gd name="T14" fmla="*/ 17 w 28"/>
                  <a:gd name="T15" fmla="*/ 21 h 24"/>
                  <a:gd name="T16" fmla="*/ 24 w 28"/>
                  <a:gd name="T17" fmla="*/ 24 h 24"/>
                  <a:gd name="T18" fmla="*/ 24 w 28"/>
                  <a:gd name="T19" fmla="*/ 24 h 24"/>
                  <a:gd name="T20" fmla="*/ 24 w 28"/>
                  <a:gd name="T21" fmla="*/ 24 h 24"/>
                  <a:gd name="T22" fmla="*/ 28 w 28"/>
                  <a:gd name="T23" fmla="*/ 21 h 24"/>
                  <a:gd name="T24" fmla="*/ 28 w 28"/>
                  <a:gd name="T25" fmla="*/ 21 h 24"/>
                  <a:gd name="T26" fmla="*/ 28 w 28"/>
                  <a:gd name="T27" fmla="*/ 21 h 24"/>
                  <a:gd name="T28" fmla="*/ 28 w 28"/>
                  <a:gd name="T29" fmla="*/ 21 h 24"/>
                  <a:gd name="T30" fmla="*/ 28 w 28"/>
                  <a:gd name="T31" fmla="*/ 21 h 24"/>
                  <a:gd name="T32" fmla="*/ 24 w 28"/>
                  <a:gd name="T33" fmla="*/ 17 h 24"/>
                  <a:gd name="T34" fmla="*/ 21 w 28"/>
                  <a:gd name="T35" fmla="*/ 17 h 24"/>
                  <a:gd name="T36" fmla="*/ 17 w 28"/>
                  <a:gd name="T37" fmla="*/ 14 h 24"/>
                  <a:gd name="T38" fmla="*/ 14 w 28"/>
                  <a:gd name="T39" fmla="*/ 14 h 24"/>
                  <a:gd name="T40" fmla="*/ 14 w 28"/>
                  <a:gd name="T41" fmla="*/ 11 h 24"/>
                  <a:gd name="T42" fmla="*/ 10 w 28"/>
                  <a:gd name="T43" fmla="*/ 11 h 24"/>
                  <a:gd name="T44" fmla="*/ 7 w 28"/>
                  <a:gd name="T45" fmla="*/ 7 h 24"/>
                  <a:gd name="T46" fmla="*/ 4 w 28"/>
                  <a:gd name="T47" fmla="*/ 4 h 24"/>
                  <a:gd name="T48" fmla="*/ 0 w 28"/>
                  <a:gd name="T49" fmla="*/ 0 h 24"/>
                  <a:gd name="T50" fmla="*/ 0 w 28"/>
                  <a:gd name="T51" fmla="*/ 0 h 24"/>
                  <a:gd name="T52" fmla="*/ 0 w 28"/>
                  <a:gd name="T53" fmla="*/ 0 h 24"/>
                  <a:gd name="T54" fmla="*/ 0 w 28"/>
                  <a:gd name="T55" fmla="*/ 0 h 24"/>
                  <a:gd name="T56" fmla="*/ 0 w 28"/>
                  <a:gd name="T57" fmla="*/ 0 h 24"/>
                  <a:gd name="T58" fmla="*/ 0 w 28"/>
                  <a:gd name="T59" fmla="*/ 0 h 24"/>
                  <a:gd name="T60" fmla="*/ 0 w 28"/>
                  <a:gd name="T61" fmla="*/ 0 h 24"/>
                  <a:gd name="T62" fmla="*/ 0 w 28"/>
                  <a:gd name="T63" fmla="*/ 4 h 24"/>
                  <a:gd name="T64" fmla="*/ 0 w 28"/>
                  <a:gd name="T65" fmla="*/ 4 h 24"/>
                  <a:gd name="T66" fmla="*/ 0 w 28"/>
                  <a:gd name="T67" fmla="*/ 4 h 2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"/>
                  <a:gd name="T103" fmla="*/ 0 h 24"/>
                  <a:gd name="T104" fmla="*/ 28 w 28"/>
                  <a:gd name="T105" fmla="*/ 24 h 2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" h="24">
                    <a:moveTo>
                      <a:pt x="0" y="4"/>
                    </a:moveTo>
                    <a:lnTo>
                      <a:pt x="0" y="7"/>
                    </a:lnTo>
                    <a:lnTo>
                      <a:pt x="4" y="7"/>
                    </a:lnTo>
                    <a:lnTo>
                      <a:pt x="7" y="11"/>
                    </a:lnTo>
                    <a:lnTo>
                      <a:pt x="10" y="14"/>
                    </a:lnTo>
                    <a:lnTo>
                      <a:pt x="10" y="17"/>
                    </a:lnTo>
                    <a:lnTo>
                      <a:pt x="14" y="21"/>
                    </a:lnTo>
                    <a:lnTo>
                      <a:pt x="17" y="21"/>
                    </a:lnTo>
                    <a:lnTo>
                      <a:pt x="24" y="24"/>
                    </a:lnTo>
                    <a:lnTo>
                      <a:pt x="28" y="21"/>
                    </a:lnTo>
                    <a:lnTo>
                      <a:pt x="24" y="17"/>
                    </a:lnTo>
                    <a:lnTo>
                      <a:pt x="21" y="17"/>
                    </a:lnTo>
                    <a:lnTo>
                      <a:pt x="17" y="14"/>
                    </a:lnTo>
                    <a:lnTo>
                      <a:pt x="14" y="14"/>
                    </a:lnTo>
                    <a:lnTo>
                      <a:pt x="14" y="11"/>
                    </a:lnTo>
                    <a:lnTo>
                      <a:pt x="10" y="11"/>
                    </a:lnTo>
                    <a:lnTo>
                      <a:pt x="7" y="7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5" name="Freeform 429"/>
              <p:cNvSpPr>
                <a:spLocks/>
              </p:cNvSpPr>
              <p:nvPr/>
            </p:nvSpPr>
            <p:spPr bwMode="auto">
              <a:xfrm>
                <a:off x="2244" y="1446"/>
                <a:ext cx="31" cy="18"/>
              </a:xfrm>
              <a:custGeom>
                <a:avLst/>
                <a:gdLst>
                  <a:gd name="T0" fmla="*/ 0 w 31"/>
                  <a:gd name="T1" fmla="*/ 18 h 18"/>
                  <a:gd name="T2" fmla="*/ 3 w 31"/>
                  <a:gd name="T3" fmla="*/ 18 h 18"/>
                  <a:gd name="T4" fmla="*/ 10 w 31"/>
                  <a:gd name="T5" fmla="*/ 14 h 18"/>
                  <a:gd name="T6" fmla="*/ 14 w 31"/>
                  <a:gd name="T7" fmla="*/ 14 h 18"/>
                  <a:gd name="T8" fmla="*/ 17 w 31"/>
                  <a:gd name="T9" fmla="*/ 14 h 18"/>
                  <a:gd name="T10" fmla="*/ 21 w 31"/>
                  <a:gd name="T11" fmla="*/ 11 h 18"/>
                  <a:gd name="T12" fmla="*/ 24 w 31"/>
                  <a:gd name="T13" fmla="*/ 7 h 18"/>
                  <a:gd name="T14" fmla="*/ 28 w 31"/>
                  <a:gd name="T15" fmla="*/ 7 h 18"/>
                  <a:gd name="T16" fmla="*/ 31 w 31"/>
                  <a:gd name="T17" fmla="*/ 4 h 18"/>
                  <a:gd name="T18" fmla="*/ 31 w 31"/>
                  <a:gd name="T19" fmla="*/ 4 h 18"/>
                  <a:gd name="T20" fmla="*/ 31 w 31"/>
                  <a:gd name="T21" fmla="*/ 0 h 18"/>
                  <a:gd name="T22" fmla="*/ 31 w 31"/>
                  <a:gd name="T23" fmla="*/ 0 h 18"/>
                  <a:gd name="T24" fmla="*/ 31 w 31"/>
                  <a:gd name="T25" fmla="*/ 0 h 18"/>
                  <a:gd name="T26" fmla="*/ 28 w 31"/>
                  <a:gd name="T27" fmla="*/ 0 h 18"/>
                  <a:gd name="T28" fmla="*/ 28 w 31"/>
                  <a:gd name="T29" fmla="*/ 0 h 18"/>
                  <a:gd name="T30" fmla="*/ 28 w 31"/>
                  <a:gd name="T31" fmla="*/ 0 h 18"/>
                  <a:gd name="T32" fmla="*/ 28 w 31"/>
                  <a:gd name="T33" fmla="*/ 0 h 18"/>
                  <a:gd name="T34" fmla="*/ 24 w 31"/>
                  <a:gd name="T35" fmla="*/ 4 h 18"/>
                  <a:gd name="T36" fmla="*/ 21 w 31"/>
                  <a:gd name="T37" fmla="*/ 7 h 18"/>
                  <a:gd name="T38" fmla="*/ 17 w 31"/>
                  <a:gd name="T39" fmla="*/ 7 h 18"/>
                  <a:gd name="T40" fmla="*/ 17 w 31"/>
                  <a:gd name="T41" fmla="*/ 11 h 18"/>
                  <a:gd name="T42" fmla="*/ 14 w 31"/>
                  <a:gd name="T43" fmla="*/ 11 h 18"/>
                  <a:gd name="T44" fmla="*/ 7 w 31"/>
                  <a:gd name="T45" fmla="*/ 14 h 18"/>
                  <a:gd name="T46" fmla="*/ 3 w 31"/>
                  <a:gd name="T47" fmla="*/ 14 h 18"/>
                  <a:gd name="T48" fmla="*/ 0 w 31"/>
                  <a:gd name="T49" fmla="*/ 14 h 18"/>
                  <a:gd name="T50" fmla="*/ 0 w 31"/>
                  <a:gd name="T51" fmla="*/ 14 h 18"/>
                  <a:gd name="T52" fmla="*/ 0 w 31"/>
                  <a:gd name="T53" fmla="*/ 14 h 18"/>
                  <a:gd name="T54" fmla="*/ 0 w 31"/>
                  <a:gd name="T55" fmla="*/ 14 h 18"/>
                  <a:gd name="T56" fmla="*/ 0 w 31"/>
                  <a:gd name="T57" fmla="*/ 14 h 18"/>
                  <a:gd name="T58" fmla="*/ 0 w 31"/>
                  <a:gd name="T59" fmla="*/ 14 h 18"/>
                  <a:gd name="T60" fmla="*/ 0 w 31"/>
                  <a:gd name="T61" fmla="*/ 14 h 18"/>
                  <a:gd name="T62" fmla="*/ 0 w 31"/>
                  <a:gd name="T63" fmla="*/ 18 h 18"/>
                  <a:gd name="T64" fmla="*/ 0 w 31"/>
                  <a:gd name="T65" fmla="*/ 18 h 18"/>
                  <a:gd name="T66" fmla="*/ 0 w 31"/>
                  <a:gd name="T67" fmla="*/ 18 h 1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1"/>
                  <a:gd name="T103" fmla="*/ 0 h 18"/>
                  <a:gd name="T104" fmla="*/ 31 w 31"/>
                  <a:gd name="T105" fmla="*/ 18 h 1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1" h="18">
                    <a:moveTo>
                      <a:pt x="0" y="18"/>
                    </a:moveTo>
                    <a:lnTo>
                      <a:pt x="3" y="18"/>
                    </a:lnTo>
                    <a:lnTo>
                      <a:pt x="10" y="14"/>
                    </a:lnTo>
                    <a:lnTo>
                      <a:pt x="14" y="14"/>
                    </a:lnTo>
                    <a:lnTo>
                      <a:pt x="17" y="14"/>
                    </a:lnTo>
                    <a:lnTo>
                      <a:pt x="21" y="11"/>
                    </a:lnTo>
                    <a:lnTo>
                      <a:pt x="24" y="7"/>
                    </a:lnTo>
                    <a:lnTo>
                      <a:pt x="28" y="7"/>
                    </a:lnTo>
                    <a:lnTo>
                      <a:pt x="31" y="4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4" y="4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17" y="11"/>
                    </a:lnTo>
                    <a:lnTo>
                      <a:pt x="14" y="11"/>
                    </a:lnTo>
                    <a:lnTo>
                      <a:pt x="7" y="14"/>
                    </a:lnTo>
                    <a:lnTo>
                      <a:pt x="3" y="14"/>
                    </a:lnTo>
                    <a:lnTo>
                      <a:pt x="0" y="14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6" name="Freeform 430"/>
              <p:cNvSpPr>
                <a:spLocks/>
              </p:cNvSpPr>
              <p:nvPr/>
            </p:nvSpPr>
            <p:spPr bwMode="auto">
              <a:xfrm>
                <a:off x="2265" y="1450"/>
                <a:ext cx="20" cy="14"/>
              </a:xfrm>
              <a:custGeom>
                <a:avLst/>
                <a:gdLst>
                  <a:gd name="T0" fmla="*/ 3 w 20"/>
                  <a:gd name="T1" fmla="*/ 14 h 14"/>
                  <a:gd name="T2" fmla="*/ 3 w 20"/>
                  <a:gd name="T3" fmla="*/ 14 h 14"/>
                  <a:gd name="T4" fmla="*/ 7 w 20"/>
                  <a:gd name="T5" fmla="*/ 10 h 14"/>
                  <a:gd name="T6" fmla="*/ 10 w 20"/>
                  <a:gd name="T7" fmla="*/ 10 h 14"/>
                  <a:gd name="T8" fmla="*/ 13 w 20"/>
                  <a:gd name="T9" fmla="*/ 10 h 14"/>
                  <a:gd name="T10" fmla="*/ 13 w 20"/>
                  <a:gd name="T11" fmla="*/ 7 h 14"/>
                  <a:gd name="T12" fmla="*/ 17 w 20"/>
                  <a:gd name="T13" fmla="*/ 7 h 14"/>
                  <a:gd name="T14" fmla="*/ 20 w 20"/>
                  <a:gd name="T15" fmla="*/ 3 h 14"/>
                  <a:gd name="T16" fmla="*/ 20 w 20"/>
                  <a:gd name="T17" fmla="*/ 3 h 14"/>
                  <a:gd name="T18" fmla="*/ 20 w 20"/>
                  <a:gd name="T19" fmla="*/ 0 h 14"/>
                  <a:gd name="T20" fmla="*/ 20 w 20"/>
                  <a:gd name="T21" fmla="*/ 0 h 14"/>
                  <a:gd name="T22" fmla="*/ 20 w 20"/>
                  <a:gd name="T23" fmla="*/ 0 h 14"/>
                  <a:gd name="T24" fmla="*/ 20 w 20"/>
                  <a:gd name="T25" fmla="*/ 0 h 14"/>
                  <a:gd name="T26" fmla="*/ 20 w 20"/>
                  <a:gd name="T27" fmla="*/ 0 h 14"/>
                  <a:gd name="T28" fmla="*/ 17 w 20"/>
                  <a:gd name="T29" fmla="*/ 0 h 14"/>
                  <a:gd name="T30" fmla="*/ 17 w 20"/>
                  <a:gd name="T31" fmla="*/ 0 h 14"/>
                  <a:gd name="T32" fmla="*/ 17 w 20"/>
                  <a:gd name="T33" fmla="*/ 0 h 14"/>
                  <a:gd name="T34" fmla="*/ 17 w 20"/>
                  <a:gd name="T35" fmla="*/ 0 h 14"/>
                  <a:gd name="T36" fmla="*/ 13 w 20"/>
                  <a:gd name="T37" fmla="*/ 3 h 14"/>
                  <a:gd name="T38" fmla="*/ 10 w 20"/>
                  <a:gd name="T39" fmla="*/ 3 h 14"/>
                  <a:gd name="T40" fmla="*/ 10 w 20"/>
                  <a:gd name="T41" fmla="*/ 7 h 14"/>
                  <a:gd name="T42" fmla="*/ 7 w 20"/>
                  <a:gd name="T43" fmla="*/ 7 h 14"/>
                  <a:gd name="T44" fmla="*/ 7 w 20"/>
                  <a:gd name="T45" fmla="*/ 10 h 14"/>
                  <a:gd name="T46" fmla="*/ 3 w 20"/>
                  <a:gd name="T47" fmla="*/ 10 h 14"/>
                  <a:gd name="T48" fmla="*/ 0 w 20"/>
                  <a:gd name="T49" fmla="*/ 10 h 14"/>
                  <a:gd name="T50" fmla="*/ 0 w 20"/>
                  <a:gd name="T51" fmla="*/ 10 h 14"/>
                  <a:gd name="T52" fmla="*/ 0 w 20"/>
                  <a:gd name="T53" fmla="*/ 10 h 14"/>
                  <a:gd name="T54" fmla="*/ 0 w 20"/>
                  <a:gd name="T55" fmla="*/ 10 h 14"/>
                  <a:gd name="T56" fmla="*/ 0 w 20"/>
                  <a:gd name="T57" fmla="*/ 14 h 14"/>
                  <a:gd name="T58" fmla="*/ 0 w 20"/>
                  <a:gd name="T59" fmla="*/ 14 h 14"/>
                  <a:gd name="T60" fmla="*/ 0 w 20"/>
                  <a:gd name="T61" fmla="*/ 14 h 14"/>
                  <a:gd name="T62" fmla="*/ 0 w 20"/>
                  <a:gd name="T63" fmla="*/ 14 h 14"/>
                  <a:gd name="T64" fmla="*/ 3 w 20"/>
                  <a:gd name="T65" fmla="*/ 14 h 14"/>
                  <a:gd name="T66" fmla="*/ 3 w 20"/>
                  <a:gd name="T67" fmla="*/ 14 h 1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0"/>
                  <a:gd name="T103" fmla="*/ 0 h 14"/>
                  <a:gd name="T104" fmla="*/ 20 w 20"/>
                  <a:gd name="T105" fmla="*/ 14 h 1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0" h="14">
                    <a:moveTo>
                      <a:pt x="3" y="14"/>
                    </a:moveTo>
                    <a:lnTo>
                      <a:pt x="3" y="14"/>
                    </a:lnTo>
                    <a:lnTo>
                      <a:pt x="7" y="10"/>
                    </a:lnTo>
                    <a:lnTo>
                      <a:pt x="10" y="10"/>
                    </a:lnTo>
                    <a:lnTo>
                      <a:pt x="13" y="10"/>
                    </a:lnTo>
                    <a:lnTo>
                      <a:pt x="13" y="7"/>
                    </a:lnTo>
                    <a:lnTo>
                      <a:pt x="17" y="7"/>
                    </a:lnTo>
                    <a:lnTo>
                      <a:pt x="20" y="3"/>
                    </a:lnTo>
                    <a:lnTo>
                      <a:pt x="20" y="0"/>
                    </a:lnTo>
                    <a:lnTo>
                      <a:pt x="17" y="0"/>
                    </a:lnTo>
                    <a:lnTo>
                      <a:pt x="13" y="3"/>
                    </a:lnTo>
                    <a:lnTo>
                      <a:pt x="10" y="3"/>
                    </a:lnTo>
                    <a:lnTo>
                      <a:pt x="10" y="7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3" y="1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7" name="Freeform 431"/>
              <p:cNvSpPr>
                <a:spLocks/>
              </p:cNvSpPr>
              <p:nvPr/>
            </p:nvSpPr>
            <p:spPr bwMode="auto">
              <a:xfrm>
                <a:off x="2254" y="1436"/>
                <a:ext cx="38" cy="17"/>
              </a:xfrm>
              <a:custGeom>
                <a:avLst/>
                <a:gdLst>
                  <a:gd name="T0" fmla="*/ 0 w 38"/>
                  <a:gd name="T1" fmla="*/ 0 h 17"/>
                  <a:gd name="T2" fmla="*/ 4 w 38"/>
                  <a:gd name="T3" fmla="*/ 4 h 17"/>
                  <a:gd name="T4" fmla="*/ 7 w 38"/>
                  <a:gd name="T5" fmla="*/ 7 h 17"/>
                  <a:gd name="T6" fmla="*/ 11 w 38"/>
                  <a:gd name="T7" fmla="*/ 7 h 17"/>
                  <a:gd name="T8" fmla="*/ 18 w 38"/>
                  <a:gd name="T9" fmla="*/ 10 h 17"/>
                  <a:gd name="T10" fmla="*/ 21 w 38"/>
                  <a:gd name="T11" fmla="*/ 14 h 17"/>
                  <a:gd name="T12" fmla="*/ 28 w 38"/>
                  <a:gd name="T13" fmla="*/ 14 h 17"/>
                  <a:gd name="T14" fmla="*/ 31 w 38"/>
                  <a:gd name="T15" fmla="*/ 17 h 17"/>
                  <a:gd name="T16" fmla="*/ 38 w 38"/>
                  <a:gd name="T17" fmla="*/ 17 h 17"/>
                  <a:gd name="T18" fmla="*/ 38 w 38"/>
                  <a:gd name="T19" fmla="*/ 17 h 17"/>
                  <a:gd name="T20" fmla="*/ 38 w 38"/>
                  <a:gd name="T21" fmla="*/ 17 h 17"/>
                  <a:gd name="T22" fmla="*/ 38 w 38"/>
                  <a:gd name="T23" fmla="*/ 14 h 17"/>
                  <a:gd name="T24" fmla="*/ 38 w 38"/>
                  <a:gd name="T25" fmla="*/ 14 h 17"/>
                  <a:gd name="T26" fmla="*/ 38 w 38"/>
                  <a:gd name="T27" fmla="*/ 14 h 17"/>
                  <a:gd name="T28" fmla="*/ 38 w 38"/>
                  <a:gd name="T29" fmla="*/ 14 h 17"/>
                  <a:gd name="T30" fmla="*/ 38 w 38"/>
                  <a:gd name="T31" fmla="*/ 14 h 17"/>
                  <a:gd name="T32" fmla="*/ 38 w 38"/>
                  <a:gd name="T33" fmla="*/ 14 h 17"/>
                  <a:gd name="T34" fmla="*/ 31 w 38"/>
                  <a:gd name="T35" fmla="*/ 10 h 17"/>
                  <a:gd name="T36" fmla="*/ 28 w 38"/>
                  <a:gd name="T37" fmla="*/ 10 h 17"/>
                  <a:gd name="T38" fmla="*/ 21 w 38"/>
                  <a:gd name="T39" fmla="*/ 10 h 17"/>
                  <a:gd name="T40" fmla="*/ 18 w 38"/>
                  <a:gd name="T41" fmla="*/ 7 h 17"/>
                  <a:gd name="T42" fmla="*/ 14 w 38"/>
                  <a:gd name="T43" fmla="*/ 7 h 17"/>
                  <a:gd name="T44" fmla="*/ 11 w 38"/>
                  <a:gd name="T45" fmla="*/ 4 h 17"/>
                  <a:gd name="T46" fmla="*/ 4 w 38"/>
                  <a:gd name="T47" fmla="*/ 0 h 17"/>
                  <a:gd name="T48" fmla="*/ 0 w 38"/>
                  <a:gd name="T49" fmla="*/ 0 h 17"/>
                  <a:gd name="T50" fmla="*/ 0 w 38"/>
                  <a:gd name="T51" fmla="*/ 0 h 17"/>
                  <a:gd name="T52" fmla="*/ 0 w 38"/>
                  <a:gd name="T53" fmla="*/ 0 h 17"/>
                  <a:gd name="T54" fmla="*/ 0 w 38"/>
                  <a:gd name="T55" fmla="*/ 0 h 17"/>
                  <a:gd name="T56" fmla="*/ 0 w 38"/>
                  <a:gd name="T57" fmla="*/ 0 h 17"/>
                  <a:gd name="T58" fmla="*/ 0 w 38"/>
                  <a:gd name="T59" fmla="*/ 0 h 17"/>
                  <a:gd name="T60" fmla="*/ 0 w 38"/>
                  <a:gd name="T61" fmla="*/ 0 h 17"/>
                  <a:gd name="T62" fmla="*/ 0 w 38"/>
                  <a:gd name="T63" fmla="*/ 0 h 17"/>
                  <a:gd name="T64" fmla="*/ 0 w 38"/>
                  <a:gd name="T65" fmla="*/ 0 h 17"/>
                  <a:gd name="T66" fmla="*/ 0 w 38"/>
                  <a:gd name="T67" fmla="*/ 0 h 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8"/>
                  <a:gd name="T103" fmla="*/ 0 h 17"/>
                  <a:gd name="T104" fmla="*/ 38 w 38"/>
                  <a:gd name="T105" fmla="*/ 17 h 1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8" h="17">
                    <a:moveTo>
                      <a:pt x="0" y="0"/>
                    </a:moveTo>
                    <a:lnTo>
                      <a:pt x="4" y="4"/>
                    </a:lnTo>
                    <a:lnTo>
                      <a:pt x="7" y="7"/>
                    </a:lnTo>
                    <a:lnTo>
                      <a:pt x="11" y="7"/>
                    </a:lnTo>
                    <a:lnTo>
                      <a:pt x="18" y="10"/>
                    </a:lnTo>
                    <a:lnTo>
                      <a:pt x="21" y="14"/>
                    </a:lnTo>
                    <a:lnTo>
                      <a:pt x="28" y="14"/>
                    </a:lnTo>
                    <a:lnTo>
                      <a:pt x="31" y="17"/>
                    </a:lnTo>
                    <a:lnTo>
                      <a:pt x="38" y="17"/>
                    </a:lnTo>
                    <a:lnTo>
                      <a:pt x="38" y="14"/>
                    </a:lnTo>
                    <a:lnTo>
                      <a:pt x="31" y="10"/>
                    </a:lnTo>
                    <a:lnTo>
                      <a:pt x="28" y="10"/>
                    </a:lnTo>
                    <a:lnTo>
                      <a:pt x="21" y="10"/>
                    </a:lnTo>
                    <a:lnTo>
                      <a:pt x="18" y="7"/>
                    </a:lnTo>
                    <a:lnTo>
                      <a:pt x="14" y="7"/>
                    </a:lnTo>
                    <a:lnTo>
                      <a:pt x="11" y="4"/>
                    </a:lnTo>
                    <a:lnTo>
                      <a:pt x="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8" name="Freeform 432"/>
              <p:cNvSpPr>
                <a:spLocks/>
              </p:cNvSpPr>
              <p:nvPr/>
            </p:nvSpPr>
            <p:spPr bwMode="auto">
              <a:xfrm>
                <a:off x="2278" y="1436"/>
                <a:ext cx="21" cy="7"/>
              </a:xfrm>
              <a:custGeom>
                <a:avLst/>
                <a:gdLst>
                  <a:gd name="T0" fmla="*/ 0 w 21"/>
                  <a:gd name="T1" fmla="*/ 0 h 7"/>
                  <a:gd name="T2" fmla="*/ 4 w 21"/>
                  <a:gd name="T3" fmla="*/ 4 h 7"/>
                  <a:gd name="T4" fmla="*/ 4 w 21"/>
                  <a:gd name="T5" fmla="*/ 4 h 7"/>
                  <a:gd name="T6" fmla="*/ 7 w 21"/>
                  <a:gd name="T7" fmla="*/ 4 h 7"/>
                  <a:gd name="T8" fmla="*/ 11 w 21"/>
                  <a:gd name="T9" fmla="*/ 7 h 7"/>
                  <a:gd name="T10" fmla="*/ 11 w 21"/>
                  <a:gd name="T11" fmla="*/ 7 h 7"/>
                  <a:gd name="T12" fmla="*/ 14 w 21"/>
                  <a:gd name="T13" fmla="*/ 7 h 7"/>
                  <a:gd name="T14" fmla="*/ 14 w 21"/>
                  <a:gd name="T15" fmla="*/ 7 h 7"/>
                  <a:gd name="T16" fmla="*/ 18 w 21"/>
                  <a:gd name="T17" fmla="*/ 7 h 7"/>
                  <a:gd name="T18" fmla="*/ 18 w 21"/>
                  <a:gd name="T19" fmla="*/ 7 h 7"/>
                  <a:gd name="T20" fmla="*/ 18 w 21"/>
                  <a:gd name="T21" fmla="*/ 7 h 7"/>
                  <a:gd name="T22" fmla="*/ 18 w 21"/>
                  <a:gd name="T23" fmla="*/ 7 h 7"/>
                  <a:gd name="T24" fmla="*/ 21 w 21"/>
                  <a:gd name="T25" fmla="*/ 7 h 7"/>
                  <a:gd name="T26" fmla="*/ 18 w 21"/>
                  <a:gd name="T27" fmla="*/ 4 h 7"/>
                  <a:gd name="T28" fmla="*/ 18 w 21"/>
                  <a:gd name="T29" fmla="*/ 4 h 7"/>
                  <a:gd name="T30" fmla="*/ 18 w 21"/>
                  <a:gd name="T31" fmla="*/ 4 h 7"/>
                  <a:gd name="T32" fmla="*/ 18 w 21"/>
                  <a:gd name="T33" fmla="*/ 4 h 7"/>
                  <a:gd name="T34" fmla="*/ 14 w 21"/>
                  <a:gd name="T35" fmla="*/ 4 h 7"/>
                  <a:gd name="T36" fmla="*/ 14 w 21"/>
                  <a:gd name="T37" fmla="*/ 4 h 7"/>
                  <a:gd name="T38" fmla="*/ 11 w 21"/>
                  <a:gd name="T39" fmla="*/ 4 h 7"/>
                  <a:gd name="T40" fmla="*/ 11 w 21"/>
                  <a:gd name="T41" fmla="*/ 4 h 7"/>
                  <a:gd name="T42" fmla="*/ 7 w 21"/>
                  <a:gd name="T43" fmla="*/ 0 h 7"/>
                  <a:gd name="T44" fmla="*/ 7 w 21"/>
                  <a:gd name="T45" fmla="*/ 0 h 7"/>
                  <a:gd name="T46" fmla="*/ 4 w 21"/>
                  <a:gd name="T47" fmla="*/ 0 h 7"/>
                  <a:gd name="T48" fmla="*/ 4 w 21"/>
                  <a:gd name="T49" fmla="*/ 0 h 7"/>
                  <a:gd name="T50" fmla="*/ 4 w 21"/>
                  <a:gd name="T51" fmla="*/ 0 h 7"/>
                  <a:gd name="T52" fmla="*/ 0 w 21"/>
                  <a:gd name="T53" fmla="*/ 0 h 7"/>
                  <a:gd name="T54" fmla="*/ 0 w 21"/>
                  <a:gd name="T55" fmla="*/ 0 h 7"/>
                  <a:gd name="T56" fmla="*/ 0 w 21"/>
                  <a:gd name="T57" fmla="*/ 0 h 7"/>
                  <a:gd name="T58" fmla="*/ 0 w 21"/>
                  <a:gd name="T59" fmla="*/ 0 h 7"/>
                  <a:gd name="T60" fmla="*/ 0 w 21"/>
                  <a:gd name="T61" fmla="*/ 0 h 7"/>
                  <a:gd name="T62" fmla="*/ 0 w 21"/>
                  <a:gd name="T63" fmla="*/ 0 h 7"/>
                  <a:gd name="T64" fmla="*/ 0 w 21"/>
                  <a:gd name="T65" fmla="*/ 0 h 7"/>
                  <a:gd name="T66" fmla="*/ 0 w 21"/>
                  <a:gd name="T67" fmla="*/ 0 h 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1"/>
                  <a:gd name="T103" fmla="*/ 0 h 7"/>
                  <a:gd name="T104" fmla="*/ 21 w 21"/>
                  <a:gd name="T105" fmla="*/ 7 h 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1" h="7">
                    <a:moveTo>
                      <a:pt x="0" y="0"/>
                    </a:moveTo>
                    <a:lnTo>
                      <a:pt x="4" y="4"/>
                    </a:lnTo>
                    <a:lnTo>
                      <a:pt x="7" y="4"/>
                    </a:lnTo>
                    <a:lnTo>
                      <a:pt x="11" y="7"/>
                    </a:lnTo>
                    <a:lnTo>
                      <a:pt x="14" y="7"/>
                    </a:lnTo>
                    <a:lnTo>
                      <a:pt x="18" y="7"/>
                    </a:lnTo>
                    <a:lnTo>
                      <a:pt x="21" y="7"/>
                    </a:lnTo>
                    <a:lnTo>
                      <a:pt x="18" y="4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49" name="Line 433"/>
              <p:cNvSpPr>
                <a:spLocks noChangeShapeType="1"/>
              </p:cNvSpPr>
              <p:nvPr/>
            </p:nvSpPr>
            <p:spPr bwMode="auto">
              <a:xfrm flipV="1">
                <a:off x="2206" y="1384"/>
                <a:ext cx="7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0" name="Line 434"/>
              <p:cNvSpPr>
                <a:spLocks noChangeShapeType="1"/>
              </p:cNvSpPr>
              <p:nvPr/>
            </p:nvSpPr>
            <p:spPr bwMode="auto">
              <a:xfrm flipV="1">
                <a:off x="2216" y="1388"/>
                <a:ext cx="11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1" name="Line 435"/>
              <p:cNvSpPr>
                <a:spLocks noChangeShapeType="1"/>
              </p:cNvSpPr>
              <p:nvPr/>
            </p:nvSpPr>
            <p:spPr bwMode="auto">
              <a:xfrm flipV="1">
                <a:off x="2230" y="1395"/>
                <a:ext cx="7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2" name="Line 436"/>
              <p:cNvSpPr>
                <a:spLocks noChangeShapeType="1"/>
              </p:cNvSpPr>
              <p:nvPr/>
            </p:nvSpPr>
            <p:spPr bwMode="auto">
              <a:xfrm flipV="1">
                <a:off x="2240" y="1402"/>
                <a:ext cx="11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3" name="Line 437"/>
              <p:cNvSpPr>
                <a:spLocks noChangeShapeType="1"/>
              </p:cNvSpPr>
              <p:nvPr/>
            </p:nvSpPr>
            <p:spPr bwMode="auto">
              <a:xfrm flipV="1">
                <a:off x="2254" y="1405"/>
                <a:ext cx="7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4" name="Line 438"/>
              <p:cNvSpPr>
                <a:spLocks noChangeShapeType="1"/>
              </p:cNvSpPr>
              <p:nvPr/>
            </p:nvSpPr>
            <p:spPr bwMode="auto">
              <a:xfrm flipV="1">
                <a:off x="2265" y="1412"/>
                <a:ext cx="1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5" name="Line 439"/>
              <p:cNvSpPr>
                <a:spLocks noChangeShapeType="1"/>
              </p:cNvSpPr>
              <p:nvPr/>
            </p:nvSpPr>
            <p:spPr bwMode="auto">
              <a:xfrm flipV="1">
                <a:off x="2278" y="1419"/>
                <a:ext cx="11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6" name="Line 440"/>
              <p:cNvSpPr>
                <a:spLocks noChangeShapeType="1"/>
              </p:cNvSpPr>
              <p:nvPr/>
            </p:nvSpPr>
            <p:spPr bwMode="auto">
              <a:xfrm flipV="1">
                <a:off x="2289" y="1422"/>
                <a:ext cx="10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7" name="Line 441"/>
              <p:cNvSpPr>
                <a:spLocks noChangeShapeType="1"/>
              </p:cNvSpPr>
              <p:nvPr/>
            </p:nvSpPr>
            <p:spPr bwMode="auto">
              <a:xfrm flipV="1">
                <a:off x="2175" y="1436"/>
                <a:ext cx="1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8" name="Line 442"/>
              <p:cNvSpPr>
                <a:spLocks noChangeShapeType="1"/>
              </p:cNvSpPr>
              <p:nvPr/>
            </p:nvSpPr>
            <p:spPr bwMode="auto">
              <a:xfrm flipV="1">
                <a:off x="2185" y="1443"/>
                <a:ext cx="11" cy="14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59" name="Line 443"/>
              <p:cNvSpPr>
                <a:spLocks noChangeShapeType="1"/>
              </p:cNvSpPr>
              <p:nvPr/>
            </p:nvSpPr>
            <p:spPr bwMode="auto">
              <a:xfrm flipV="1">
                <a:off x="2199" y="1446"/>
                <a:ext cx="10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0" name="Line 444"/>
              <p:cNvSpPr>
                <a:spLocks noChangeShapeType="1"/>
              </p:cNvSpPr>
              <p:nvPr/>
            </p:nvSpPr>
            <p:spPr bwMode="auto">
              <a:xfrm flipV="1">
                <a:off x="2209" y="1453"/>
                <a:ext cx="11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1" name="Line 445"/>
              <p:cNvSpPr>
                <a:spLocks noChangeShapeType="1"/>
              </p:cNvSpPr>
              <p:nvPr/>
            </p:nvSpPr>
            <p:spPr bwMode="auto">
              <a:xfrm flipV="1">
                <a:off x="2223" y="1457"/>
                <a:ext cx="11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2" name="Line 446"/>
              <p:cNvSpPr>
                <a:spLocks noChangeShapeType="1"/>
              </p:cNvSpPr>
              <p:nvPr/>
            </p:nvSpPr>
            <p:spPr bwMode="auto">
              <a:xfrm flipV="1">
                <a:off x="2234" y="1464"/>
                <a:ext cx="1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3" name="Line 447"/>
              <p:cNvSpPr>
                <a:spLocks noChangeShapeType="1"/>
              </p:cNvSpPr>
              <p:nvPr/>
            </p:nvSpPr>
            <p:spPr bwMode="auto">
              <a:xfrm flipV="1">
                <a:off x="2247" y="1471"/>
                <a:ext cx="11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4" name="Line 448"/>
              <p:cNvSpPr>
                <a:spLocks noChangeShapeType="1"/>
              </p:cNvSpPr>
              <p:nvPr/>
            </p:nvSpPr>
            <p:spPr bwMode="auto">
              <a:xfrm flipV="1">
                <a:off x="2258" y="1474"/>
                <a:ext cx="1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5" name="Freeform 449"/>
              <p:cNvSpPr>
                <a:spLocks/>
              </p:cNvSpPr>
              <p:nvPr/>
            </p:nvSpPr>
            <p:spPr bwMode="auto">
              <a:xfrm>
                <a:off x="2175" y="1395"/>
                <a:ext cx="124" cy="86"/>
              </a:xfrm>
              <a:custGeom>
                <a:avLst/>
                <a:gdLst>
                  <a:gd name="T0" fmla="*/ 124 w 124"/>
                  <a:gd name="T1" fmla="*/ 48 h 86"/>
                  <a:gd name="T2" fmla="*/ 103 w 124"/>
                  <a:gd name="T3" fmla="*/ 86 h 86"/>
                  <a:gd name="T4" fmla="*/ 0 w 124"/>
                  <a:gd name="T5" fmla="*/ 38 h 86"/>
                  <a:gd name="T6" fmla="*/ 21 w 124"/>
                  <a:gd name="T7" fmla="*/ 0 h 86"/>
                  <a:gd name="T8" fmla="*/ 124 w 124"/>
                  <a:gd name="T9" fmla="*/ 48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86"/>
                  <a:gd name="T17" fmla="*/ 124 w 124"/>
                  <a:gd name="T18" fmla="*/ 86 h 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86">
                    <a:moveTo>
                      <a:pt x="124" y="48"/>
                    </a:moveTo>
                    <a:lnTo>
                      <a:pt x="103" y="86"/>
                    </a:lnTo>
                    <a:lnTo>
                      <a:pt x="0" y="38"/>
                    </a:lnTo>
                    <a:lnTo>
                      <a:pt x="21" y="0"/>
                    </a:lnTo>
                    <a:lnTo>
                      <a:pt x="124" y="48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66" name="Line 450"/>
              <p:cNvSpPr>
                <a:spLocks noChangeShapeType="1"/>
              </p:cNvSpPr>
              <p:nvPr/>
            </p:nvSpPr>
            <p:spPr bwMode="auto">
              <a:xfrm flipV="1">
                <a:off x="2137" y="1516"/>
                <a:ext cx="3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7" name="Line 451"/>
              <p:cNvSpPr>
                <a:spLocks noChangeShapeType="1"/>
              </p:cNvSpPr>
              <p:nvPr/>
            </p:nvSpPr>
            <p:spPr bwMode="auto">
              <a:xfrm flipV="1">
                <a:off x="2158" y="1519"/>
                <a:ext cx="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8" name="Line 452"/>
              <p:cNvSpPr>
                <a:spLocks noChangeShapeType="1"/>
              </p:cNvSpPr>
              <p:nvPr/>
            </p:nvSpPr>
            <p:spPr bwMode="auto">
              <a:xfrm flipV="1">
                <a:off x="2178" y="1519"/>
                <a:ext cx="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69" name="Line 453"/>
              <p:cNvSpPr>
                <a:spLocks noChangeShapeType="1"/>
              </p:cNvSpPr>
              <p:nvPr/>
            </p:nvSpPr>
            <p:spPr bwMode="auto">
              <a:xfrm flipV="1">
                <a:off x="2196" y="1522"/>
                <a:ext cx="3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0" name="Line 454"/>
              <p:cNvSpPr>
                <a:spLocks noChangeShapeType="1"/>
              </p:cNvSpPr>
              <p:nvPr/>
            </p:nvSpPr>
            <p:spPr bwMode="auto">
              <a:xfrm flipV="1">
                <a:off x="2133" y="1564"/>
                <a:ext cx="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1" name="Line 455"/>
              <p:cNvSpPr>
                <a:spLocks noChangeShapeType="1"/>
              </p:cNvSpPr>
              <p:nvPr/>
            </p:nvSpPr>
            <p:spPr bwMode="auto">
              <a:xfrm flipV="1">
                <a:off x="2151" y="1567"/>
                <a:ext cx="3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2" name="Line 456"/>
              <p:cNvSpPr>
                <a:spLocks noChangeShapeType="1"/>
              </p:cNvSpPr>
              <p:nvPr/>
            </p:nvSpPr>
            <p:spPr bwMode="auto">
              <a:xfrm flipV="1">
                <a:off x="2171" y="1571"/>
                <a:ext cx="0" cy="14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3" name="Line 457"/>
              <p:cNvSpPr>
                <a:spLocks noChangeShapeType="1"/>
              </p:cNvSpPr>
              <p:nvPr/>
            </p:nvSpPr>
            <p:spPr bwMode="auto">
              <a:xfrm flipV="1">
                <a:off x="2192" y="1571"/>
                <a:ext cx="0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4" name="Freeform 458"/>
              <p:cNvSpPr>
                <a:spLocks/>
              </p:cNvSpPr>
              <p:nvPr/>
            </p:nvSpPr>
            <p:spPr bwMode="auto">
              <a:xfrm>
                <a:off x="2119" y="1529"/>
                <a:ext cx="94" cy="45"/>
              </a:xfrm>
              <a:custGeom>
                <a:avLst/>
                <a:gdLst>
                  <a:gd name="T0" fmla="*/ 94 w 94"/>
                  <a:gd name="T1" fmla="*/ 11 h 45"/>
                  <a:gd name="T2" fmla="*/ 90 w 94"/>
                  <a:gd name="T3" fmla="*/ 45 h 45"/>
                  <a:gd name="T4" fmla="*/ 0 w 94"/>
                  <a:gd name="T5" fmla="*/ 35 h 45"/>
                  <a:gd name="T6" fmla="*/ 4 w 94"/>
                  <a:gd name="T7" fmla="*/ 0 h 45"/>
                  <a:gd name="T8" fmla="*/ 94 w 94"/>
                  <a:gd name="T9" fmla="*/ 11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45"/>
                  <a:gd name="T17" fmla="*/ 94 w 94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45">
                    <a:moveTo>
                      <a:pt x="94" y="11"/>
                    </a:moveTo>
                    <a:lnTo>
                      <a:pt x="90" y="45"/>
                    </a:lnTo>
                    <a:lnTo>
                      <a:pt x="0" y="35"/>
                    </a:lnTo>
                    <a:lnTo>
                      <a:pt x="4" y="0"/>
                    </a:lnTo>
                    <a:lnTo>
                      <a:pt x="94" y="11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75" name="Line 459"/>
              <p:cNvSpPr>
                <a:spLocks noChangeShapeType="1"/>
              </p:cNvSpPr>
              <p:nvPr/>
            </p:nvSpPr>
            <p:spPr bwMode="auto">
              <a:xfrm flipH="1" flipV="1">
                <a:off x="2227" y="1533"/>
                <a:ext cx="3" cy="14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6" name="Line 460"/>
              <p:cNvSpPr>
                <a:spLocks noChangeShapeType="1"/>
              </p:cNvSpPr>
              <p:nvPr/>
            </p:nvSpPr>
            <p:spPr bwMode="auto">
              <a:xfrm flipH="1" flipV="1">
                <a:off x="2244" y="1529"/>
                <a:ext cx="3" cy="14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7" name="Line 461"/>
              <p:cNvSpPr>
                <a:spLocks noChangeShapeType="1"/>
              </p:cNvSpPr>
              <p:nvPr/>
            </p:nvSpPr>
            <p:spPr bwMode="auto">
              <a:xfrm flipH="1" flipV="1">
                <a:off x="2258" y="1522"/>
                <a:ext cx="7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8" name="Line 462"/>
              <p:cNvSpPr>
                <a:spLocks noChangeShapeType="1"/>
              </p:cNvSpPr>
              <p:nvPr/>
            </p:nvSpPr>
            <p:spPr bwMode="auto">
              <a:xfrm flipH="1" flipV="1">
                <a:off x="2275" y="1519"/>
                <a:ext cx="3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79" name="Line 463"/>
              <p:cNvSpPr>
                <a:spLocks noChangeShapeType="1"/>
              </p:cNvSpPr>
              <p:nvPr/>
            </p:nvSpPr>
            <p:spPr bwMode="auto">
              <a:xfrm flipH="1" flipV="1">
                <a:off x="2240" y="1578"/>
                <a:ext cx="7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80" name="Line 464"/>
              <p:cNvSpPr>
                <a:spLocks noChangeShapeType="1"/>
              </p:cNvSpPr>
              <p:nvPr/>
            </p:nvSpPr>
            <p:spPr bwMode="auto">
              <a:xfrm flipH="1" flipV="1">
                <a:off x="2258" y="1574"/>
                <a:ext cx="3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81" name="Line 465"/>
              <p:cNvSpPr>
                <a:spLocks noChangeShapeType="1"/>
              </p:cNvSpPr>
              <p:nvPr/>
            </p:nvSpPr>
            <p:spPr bwMode="auto">
              <a:xfrm flipH="1" flipV="1">
                <a:off x="2272" y="1571"/>
                <a:ext cx="6" cy="17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82" name="Line 466"/>
              <p:cNvSpPr>
                <a:spLocks noChangeShapeType="1"/>
              </p:cNvSpPr>
              <p:nvPr/>
            </p:nvSpPr>
            <p:spPr bwMode="auto">
              <a:xfrm flipH="1" flipV="1">
                <a:off x="2289" y="1567"/>
                <a:ext cx="3" cy="18"/>
              </a:xfrm>
              <a:prstGeom prst="line">
                <a:avLst/>
              </a:prstGeom>
              <a:noFill/>
              <a:ln w="65088">
                <a:solidFill>
                  <a:srgbClr val="63A0D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283" name="Freeform 467"/>
              <p:cNvSpPr>
                <a:spLocks/>
              </p:cNvSpPr>
              <p:nvPr/>
            </p:nvSpPr>
            <p:spPr bwMode="auto">
              <a:xfrm>
                <a:off x="2220" y="1533"/>
                <a:ext cx="83" cy="48"/>
              </a:xfrm>
              <a:custGeom>
                <a:avLst/>
                <a:gdLst>
                  <a:gd name="T0" fmla="*/ 72 w 83"/>
                  <a:gd name="T1" fmla="*/ 0 h 48"/>
                  <a:gd name="T2" fmla="*/ 83 w 83"/>
                  <a:gd name="T3" fmla="*/ 31 h 48"/>
                  <a:gd name="T4" fmla="*/ 10 w 83"/>
                  <a:gd name="T5" fmla="*/ 48 h 48"/>
                  <a:gd name="T6" fmla="*/ 0 w 83"/>
                  <a:gd name="T7" fmla="*/ 17 h 48"/>
                  <a:gd name="T8" fmla="*/ 72 w 83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"/>
                  <a:gd name="T16" fmla="*/ 0 h 48"/>
                  <a:gd name="T17" fmla="*/ 83 w 83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" h="48">
                    <a:moveTo>
                      <a:pt x="72" y="0"/>
                    </a:moveTo>
                    <a:lnTo>
                      <a:pt x="83" y="31"/>
                    </a:lnTo>
                    <a:lnTo>
                      <a:pt x="10" y="48"/>
                    </a:lnTo>
                    <a:lnTo>
                      <a:pt x="0" y="17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7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84" name="Freeform 468"/>
              <p:cNvSpPr>
                <a:spLocks/>
              </p:cNvSpPr>
              <p:nvPr/>
            </p:nvSpPr>
            <p:spPr bwMode="auto">
              <a:xfrm>
                <a:off x="4228" y="1740"/>
                <a:ext cx="31" cy="170"/>
              </a:xfrm>
              <a:custGeom>
                <a:avLst/>
                <a:gdLst>
                  <a:gd name="T0" fmla="*/ 0 w 31"/>
                  <a:gd name="T1" fmla="*/ 0 h 170"/>
                  <a:gd name="T2" fmla="*/ 31 w 31"/>
                  <a:gd name="T3" fmla="*/ 170 h 170"/>
                  <a:gd name="T4" fmla="*/ 0 w 31"/>
                  <a:gd name="T5" fmla="*/ 0 h 170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170"/>
                  <a:gd name="T11" fmla="*/ 31 w 31"/>
                  <a:gd name="T12" fmla="*/ 170 h 1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170">
                    <a:moveTo>
                      <a:pt x="0" y="0"/>
                    </a:moveTo>
                    <a:lnTo>
                      <a:pt x="31" y="1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285" name="Line 469"/>
              <p:cNvSpPr>
                <a:spLocks noChangeShapeType="1"/>
              </p:cNvSpPr>
              <p:nvPr/>
            </p:nvSpPr>
            <p:spPr bwMode="auto">
              <a:xfrm>
                <a:off x="4228" y="1740"/>
                <a:ext cx="31" cy="17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1992" name="Freeform 471"/>
            <p:cNvSpPr>
              <a:spLocks/>
            </p:cNvSpPr>
            <p:nvPr/>
          </p:nvSpPr>
          <p:spPr bwMode="auto">
            <a:xfrm>
              <a:off x="6705600" y="2987675"/>
              <a:ext cx="93663" cy="185738"/>
            </a:xfrm>
            <a:custGeom>
              <a:avLst/>
              <a:gdLst>
                <a:gd name="T0" fmla="*/ 0 w 59"/>
                <a:gd name="T1" fmla="*/ 15875 h 117"/>
                <a:gd name="T2" fmla="*/ 82550 w 59"/>
                <a:gd name="T3" fmla="*/ 185738 h 117"/>
                <a:gd name="T4" fmla="*/ 93663 w 59"/>
                <a:gd name="T5" fmla="*/ 0 h 117"/>
                <a:gd name="T6" fmla="*/ 0 w 59"/>
                <a:gd name="T7" fmla="*/ 15875 h 1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117"/>
                <a:gd name="T14" fmla="*/ 59 w 59"/>
                <a:gd name="T15" fmla="*/ 117 h 1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117">
                  <a:moveTo>
                    <a:pt x="0" y="10"/>
                  </a:moveTo>
                  <a:lnTo>
                    <a:pt x="52" y="117"/>
                  </a:lnTo>
                  <a:lnTo>
                    <a:pt x="5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3" name="Line 472"/>
            <p:cNvSpPr>
              <a:spLocks noChangeShapeType="1"/>
            </p:cNvSpPr>
            <p:nvPr/>
          </p:nvSpPr>
          <p:spPr bwMode="auto">
            <a:xfrm>
              <a:off x="6711950" y="2762250"/>
              <a:ext cx="49213" cy="2698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4" name="Freeform 473"/>
            <p:cNvSpPr>
              <a:spLocks/>
            </p:cNvSpPr>
            <p:nvPr/>
          </p:nvSpPr>
          <p:spPr bwMode="auto">
            <a:xfrm>
              <a:off x="6705600" y="2987675"/>
              <a:ext cx="93663" cy="185738"/>
            </a:xfrm>
            <a:custGeom>
              <a:avLst/>
              <a:gdLst>
                <a:gd name="T0" fmla="*/ 0 w 59"/>
                <a:gd name="T1" fmla="*/ 15875 h 117"/>
                <a:gd name="T2" fmla="*/ 82550 w 59"/>
                <a:gd name="T3" fmla="*/ 185738 h 117"/>
                <a:gd name="T4" fmla="*/ 93663 w 59"/>
                <a:gd name="T5" fmla="*/ 0 h 117"/>
                <a:gd name="T6" fmla="*/ 0 w 59"/>
                <a:gd name="T7" fmla="*/ 15875 h 1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117"/>
                <a:gd name="T14" fmla="*/ 59 w 59"/>
                <a:gd name="T15" fmla="*/ 117 h 1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117">
                  <a:moveTo>
                    <a:pt x="0" y="10"/>
                  </a:moveTo>
                  <a:lnTo>
                    <a:pt x="52" y="117"/>
                  </a:lnTo>
                  <a:lnTo>
                    <a:pt x="5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5" name="Freeform 474"/>
            <p:cNvSpPr>
              <a:spLocks/>
            </p:cNvSpPr>
            <p:nvPr/>
          </p:nvSpPr>
          <p:spPr bwMode="auto">
            <a:xfrm>
              <a:off x="5740400" y="2762250"/>
              <a:ext cx="976313" cy="850900"/>
            </a:xfrm>
            <a:custGeom>
              <a:avLst/>
              <a:gdLst>
                <a:gd name="T0" fmla="*/ 976313 w 615"/>
                <a:gd name="T1" fmla="*/ 0 h 536"/>
                <a:gd name="T2" fmla="*/ 0 w 615"/>
                <a:gd name="T3" fmla="*/ 850900 h 536"/>
                <a:gd name="T4" fmla="*/ 976313 w 615"/>
                <a:gd name="T5" fmla="*/ 0 h 536"/>
                <a:gd name="T6" fmla="*/ 0 60000 65536"/>
                <a:gd name="T7" fmla="*/ 0 60000 65536"/>
                <a:gd name="T8" fmla="*/ 0 60000 65536"/>
                <a:gd name="T9" fmla="*/ 0 w 615"/>
                <a:gd name="T10" fmla="*/ 0 h 536"/>
                <a:gd name="T11" fmla="*/ 615 w 615"/>
                <a:gd name="T12" fmla="*/ 536 h 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5" h="536">
                  <a:moveTo>
                    <a:pt x="615" y="0"/>
                  </a:moveTo>
                  <a:lnTo>
                    <a:pt x="0" y="536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6" name="Line 475"/>
            <p:cNvSpPr>
              <a:spLocks noChangeShapeType="1"/>
            </p:cNvSpPr>
            <p:nvPr/>
          </p:nvSpPr>
          <p:spPr bwMode="auto">
            <a:xfrm flipH="1">
              <a:off x="5740400" y="2762250"/>
              <a:ext cx="976313" cy="8509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7" name="Freeform 476"/>
            <p:cNvSpPr>
              <a:spLocks/>
            </p:cNvSpPr>
            <p:nvPr/>
          </p:nvSpPr>
          <p:spPr bwMode="auto">
            <a:xfrm>
              <a:off x="5630863" y="3557588"/>
              <a:ext cx="165100" cy="153987"/>
            </a:xfrm>
            <a:custGeom>
              <a:avLst/>
              <a:gdLst>
                <a:gd name="T0" fmla="*/ 104775 w 104"/>
                <a:gd name="T1" fmla="*/ 0 h 97"/>
                <a:gd name="T2" fmla="*/ 0 w 104"/>
                <a:gd name="T3" fmla="*/ 153987 h 97"/>
                <a:gd name="T4" fmla="*/ 165100 w 104"/>
                <a:gd name="T5" fmla="*/ 71437 h 97"/>
                <a:gd name="T6" fmla="*/ 104775 w 104"/>
                <a:gd name="T7" fmla="*/ 0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97"/>
                <a:gd name="T14" fmla="*/ 104 w 104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97">
                  <a:moveTo>
                    <a:pt x="66" y="0"/>
                  </a:moveTo>
                  <a:lnTo>
                    <a:pt x="0" y="97"/>
                  </a:lnTo>
                  <a:lnTo>
                    <a:pt x="104" y="4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8" name="Line 477"/>
            <p:cNvSpPr>
              <a:spLocks noChangeShapeType="1"/>
            </p:cNvSpPr>
            <p:nvPr/>
          </p:nvSpPr>
          <p:spPr bwMode="auto">
            <a:xfrm flipH="1">
              <a:off x="5740400" y="2762250"/>
              <a:ext cx="976313" cy="8509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9" name="Freeform 478"/>
            <p:cNvSpPr>
              <a:spLocks/>
            </p:cNvSpPr>
            <p:nvPr/>
          </p:nvSpPr>
          <p:spPr bwMode="auto">
            <a:xfrm>
              <a:off x="5630863" y="3557588"/>
              <a:ext cx="165100" cy="153987"/>
            </a:xfrm>
            <a:custGeom>
              <a:avLst/>
              <a:gdLst>
                <a:gd name="T0" fmla="*/ 104775 w 104"/>
                <a:gd name="T1" fmla="*/ 0 h 97"/>
                <a:gd name="T2" fmla="*/ 0 w 104"/>
                <a:gd name="T3" fmla="*/ 153987 h 97"/>
                <a:gd name="T4" fmla="*/ 165100 w 104"/>
                <a:gd name="T5" fmla="*/ 71437 h 97"/>
                <a:gd name="T6" fmla="*/ 104775 w 104"/>
                <a:gd name="T7" fmla="*/ 0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97"/>
                <a:gd name="T14" fmla="*/ 104 w 104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97">
                  <a:moveTo>
                    <a:pt x="66" y="0"/>
                  </a:moveTo>
                  <a:lnTo>
                    <a:pt x="0" y="97"/>
                  </a:lnTo>
                  <a:lnTo>
                    <a:pt x="104" y="4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0" name="Freeform 479"/>
            <p:cNvSpPr>
              <a:spLocks/>
            </p:cNvSpPr>
            <p:nvPr/>
          </p:nvSpPr>
          <p:spPr bwMode="auto">
            <a:xfrm>
              <a:off x="6283325" y="2762250"/>
              <a:ext cx="433388" cy="576263"/>
            </a:xfrm>
            <a:custGeom>
              <a:avLst/>
              <a:gdLst>
                <a:gd name="T0" fmla="*/ 433388 w 273"/>
                <a:gd name="T1" fmla="*/ 0 h 363"/>
                <a:gd name="T2" fmla="*/ 0 w 273"/>
                <a:gd name="T3" fmla="*/ 576263 h 363"/>
                <a:gd name="T4" fmla="*/ 433388 w 273"/>
                <a:gd name="T5" fmla="*/ 0 h 363"/>
                <a:gd name="T6" fmla="*/ 0 60000 65536"/>
                <a:gd name="T7" fmla="*/ 0 60000 65536"/>
                <a:gd name="T8" fmla="*/ 0 60000 65536"/>
                <a:gd name="T9" fmla="*/ 0 w 273"/>
                <a:gd name="T10" fmla="*/ 0 h 363"/>
                <a:gd name="T11" fmla="*/ 273 w 273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363">
                  <a:moveTo>
                    <a:pt x="273" y="0"/>
                  </a:moveTo>
                  <a:lnTo>
                    <a:pt x="0" y="3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1" name="Line 480"/>
            <p:cNvSpPr>
              <a:spLocks noChangeShapeType="1"/>
            </p:cNvSpPr>
            <p:nvPr/>
          </p:nvSpPr>
          <p:spPr bwMode="auto">
            <a:xfrm flipH="1">
              <a:off x="6283325" y="2762250"/>
              <a:ext cx="433388" cy="5762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2" name="Freeform 481"/>
            <p:cNvSpPr>
              <a:spLocks/>
            </p:cNvSpPr>
            <p:nvPr/>
          </p:nvSpPr>
          <p:spPr bwMode="auto">
            <a:xfrm>
              <a:off x="6196013" y="3284538"/>
              <a:ext cx="142875" cy="169862"/>
            </a:xfrm>
            <a:custGeom>
              <a:avLst/>
              <a:gdLst>
                <a:gd name="T0" fmla="*/ 65088 w 90"/>
                <a:gd name="T1" fmla="*/ 0 h 107"/>
                <a:gd name="T2" fmla="*/ 0 w 90"/>
                <a:gd name="T3" fmla="*/ 169862 h 107"/>
                <a:gd name="T4" fmla="*/ 142875 w 90"/>
                <a:gd name="T5" fmla="*/ 53975 h 107"/>
                <a:gd name="T6" fmla="*/ 65088 w 90"/>
                <a:gd name="T7" fmla="*/ 0 h 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0"/>
                <a:gd name="T13" fmla="*/ 0 h 107"/>
                <a:gd name="T14" fmla="*/ 90 w 90"/>
                <a:gd name="T15" fmla="*/ 107 h 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0" h="107">
                  <a:moveTo>
                    <a:pt x="41" y="0"/>
                  </a:moveTo>
                  <a:lnTo>
                    <a:pt x="0" y="107"/>
                  </a:lnTo>
                  <a:lnTo>
                    <a:pt x="90" y="3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3" name="Line 482"/>
            <p:cNvSpPr>
              <a:spLocks noChangeShapeType="1"/>
            </p:cNvSpPr>
            <p:nvPr/>
          </p:nvSpPr>
          <p:spPr bwMode="auto">
            <a:xfrm flipH="1">
              <a:off x="6283325" y="2762250"/>
              <a:ext cx="433388" cy="5762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4" name="Freeform 483"/>
            <p:cNvSpPr>
              <a:spLocks/>
            </p:cNvSpPr>
            <p:nvPr/>
          </p:nvSpPr>
          <p:spPr bwMode="auto">
            <a:xfrm>
              <a:off x="6196013" y="3284538"/>
              <a:ext cx="142875" cy="169862"/>
            </a:xfrm>
            <a:custGeom>
              <a:avLst/>
              <a:gdLst>
                <a:gd name="T0" fmla="*/ 65088 w 90"/>
                <a:gd name="T1" fmla="*/ 0 h 107"/>
                <a:gd name="T2" fmla="*/ 0 w 90"/>
                <a:gd name="T3" fmla="*/ 169862 h 107"/>
                <a:gd name="T4" fmla="*/ 142875 w 90"/>
                <a:gd name="T5" fmla="*/ 53975 h 107"/>
                <a:gd name="T6" fmla="*/ 65088 w 90"/>
                <a:gd name="T7" fmla="*/ 0 h 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0"/>
                <a:gd name="T13" fmla="*/ 0 h 107"/>
                <a:gd name="T14" fmla="*/ 90 w 90"/>
                <a:gd name="T15" fmla="*/ 107 h 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0" h="107">
                  <a:moveTo>
                    <a:pt x="41" y="0"/>
                  </a:moveTo>
                  <a:lnTo>
                    <a:pt x="0" y="107"/>
                  </a:lnTo>
                  <a:lnTo>
                    <a:pt x="90" y="3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5" name="Oval 484"/>
            <p:cNvSpPr>
              <a:spLocks noChangeArrowheads="1"/>
            </p:cNvSpPr>
            <p:nvPr/>
          </p:nvSpPr>
          <p:spPr bwMode="auto">
            <a:xfrm>
              <a:off x="3062288" y="3470275"/>
              <a:ext cx="82550" cy="82550"/>
            </a:xfrm>
            <a:prstGeom prst="ellipse">
              <a:avLst/>
            </a:prstGeom>
            <a:solidFill>
              <a:srgbClr val="0079C1"/>
            </a:solidFill>
            <a:ln w="11113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6" name="Rectangle 485"/>
            <p:cNvSpPr>
              <a:spLocks noChangeArrowheads="1"/>
            </p:cNvSpPr>
            <p:nvPr/>
          </p:nvSpPr>
          <p:spPr bwMode="auto">
            <a:xfrm>
              <a:off x="3195638" y="3430588"/>
              <a:ext cx="491956" cy="495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Logic</a:t>
              </a:r>
            </a:p>
            <a:p>
              <a:pPr algn="ctr"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IC</a:t>
              </a:r>
              <a:endParaRPr lang="en-US" altLang="en-US"/>
            </a:p>
          </p:txBody>
        </p:sp>
        <p:sp>
          <p:nvSpPr>
            <p:cNvPr id="42008" name="Freeform 487"/>
            <p:cNvSpPr>
              <a:spLocks/>
            </p:cNvSpPr>
            <p:nvPr/>
          </p:nvSpPr>
          <p:spPr bwMode="auto">
            <a:xfrm>
              <a:off x="3848100" y="2751138"/>
              <a:ext cx="455613" cy="373062"/>
            </a:xfrm>
            <a:custGeom>
              <a:avLst/>
              <a:gdLst>
                <a:gd name="T0" fmla="*/ 0 w 287"/>
                <a:gd name="T1" fmla="*/ 0 h 235"/>
                <a:gd name="T2" fmla="*/ 455613 w 287"/>
                <a:gd name="T3" fmla="*/ 373062 h 235"/>
                <a:gd name="T4" fmla="*/ 0 w 287"/>
                <a:gd name="T5" fmla="*/ 0 h 235"/>
                <a:gd name="T6" fmla="*/ 0 60000 65536"/>
                <a:gd name="T7" fmla="*/ 0 60000 65536"/>
                <a:gd name="T8" fmla="*/ 0 60000 65536"/>
                <a:gd name="T9" fmla="*/ 0 w 287"/>
                <a:gd name="T10" fmla="*/ 0 h 235"/>
                <a:gd name="T11" fmla="*/ 287 w 287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" h="235">
                  <a:moveTo>
                    <a:pt x="0" y="0"/>
                  </a:moveTo>
                  <a:lnTo>
                    <a:pt x="287" y="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9" name="Line 488"/>
            <p:cNvSpPr>
              <a:spLocks noChangeShapeType="1"/>
            </p:cNvSpPr>
            <p:nvPr/>
          </p:nvSpPr>
          <p:spPr bwMode="auto">
            <a:xfrm>
              <a:off x="3848100" y="2751138"/>
              <a:ext cx="455613" cy="37306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0" name="Freeform 489"/>
            <p:cNvSpPr>
              <a:spLocks/>
            </p:cNvSpPr>
            <p:nvPr/>
          </p:nvSpPr>
          <p:spPr bwMode="auto">
            <a:xfrm>
              <a:off x="4248150" y="3070225"/>
              <a:ext cx="165100" cy="147638"/>
            </a:xfrm>
            <a:custGeom>
              <a:avLst/>
              <a:gdLst>
                <a:gd name="T0" fmla="*/ 0 w 104"/>
                <a:gd name="T1" fmla="*/ 71438 h 93"/>
                <a:gd name="T2" fmla="*/ 165100 w 104"/>
                <a:gd name="T3" fmla="*/ 147638 h 93"/>
                <a:gd name="T4" fmla="*/ 60325 w 104"/>
                <a:gd name="T5" fmla="*/ 0 h 93"/>
                <a:gd name="T6" fmla="*/ 0 w 104"/>
                <a:gd name="T7" fmla="*/ 71438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93"/>
                <a:gd name="T14" fmla="*/ 104 w 104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93">
                  <a:moveTo>
                    <a:pt x="0" y="45"/>
                  </a:moveTo>
                  <a:lnTo>
                    <a:pt x="104" y="93"/>
                  </a:lnTo>
                  <a:lnTo>
                    <a:pt x="38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1" name="Line 490"/>
            <p:cNvSpPr>
              <a:spLocks noChangeShapeType="1"/>
            </p:cNvSpPr>
            <p:nvPr/>
          </p:nvSpPr>
          <p:spPr bwMode="auto">
            <a:xfrm>
              <a:off x="3848100" y="2751138"/>
              <a:ext cx="455613" cy="373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2" name="Freeform 491"/>
            <p:cNvSpPr>
              <a:spLocks/>
            </p:cNvSpPr>
            <p:nvPr/>
          </p:nvSpPr>
          <p:spPr bwMode="auto">
            <a:xfrm>
              <a:off x="4248150" y="3070225"/>
              <a:ext cx="165100" cy="147638"/>
            </a:xfrm>
            <a:custGeom>
              <a:avLst/>
              <a:gdLst>
                <a:gd name="T0" fmla="*/ 0 w 104"/>
                <a:gd name="T1" fmla="*/ 71438 h 93"/>
                <a:gd name="T2" fmla="*/ 165100 w 104"/>
                <a:gd name="T3" fmla="*/ 147638 h 93"/>
                <a:gd name="T4" fmla="*/ 60325 w 104"/>
                <a:gd name="T5" fmla="*/ 0 h 93"/>
                <a:gd name="T6" fmla="*/ 0 w 104"/>
                <a:gd name="T7" fmla="*/ 71438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93"/>
                <a:gd name="T14" fmla="*/ 104 w 104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93">
                  <a:moveTo>
                    <a:pt x="0" y="45"/>
                  </a:moveTo>
                  <a:lnTo>
                    <a:pt x="104" y="93"/>
                  </a:lnTo>
                  <a:lnTo>
                    <a:pt x="38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3" name="Freeform 492"/>
            <p:cNvSpPr>
              <a:spLocks/>
            </p:cNvSpPr>
            <p:nvPr/>
          </p:nvSpPr>
          <p:spPr bwMode="auto">
            <a:xfrm>
              <a:off x="3841750" y="2746375"/>
              <a:ext cx="115888" cy="587375"/>
            </a:xfrm>
            <a:custGeom>
              <a:avLst/>
              <a:gdLst>
                <a:gd name="T0" fmla="*/ 0 w 73"/>
                <a:gd name="T1" fmla="*/ 0 h 370"/>
                <a:gd name="T2" fmla="*/ 115888 w 73"/>
                <a:gd name="T3" fmla="*/ 587375 h 370"/>
                <a:gd name="T4" fmla="*/ 0 w 73"/>
                <a:gd name="T5" fmla="*/ 0 h 370"/>
                <a:gd name="T6" fmla="*/ 0 60000 65536"/>
                <a:gd name="T7" fmla="*/ 0 60000 65536"/>
                <a:gd name="T8" fmla="*/ 0 60000 65536"/>
                <a:gd name="T9" fmla="*/ 0 w 73"/>
                <a:gd name="T10" fmla="*/ 0 h 370"/>
                <a:gd name="T11" fmla="*/ 73 w 73"/>
                <a:gd name="T12" fmla="*/ 370 h 3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370">
                  <a:moveTo>
                    <a:pt x="0" y="0"/>
                  </a:moveTo>
                  <a:lnTo>
                    <a:pt x="73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4" name="Line 493"/>
            <p:cNvSpPr>
              <a:spLocks noChangeShapeType="1"/>
            </p:cNvSpPr>
            <p:nvPr/>
          </p:nvSpPr>
          <p:spPr bwMode="auto">
            <a:xfrm>
              <a:off x="3841750" y="2746375"/>
              <a:ext cx="115888" cy="5873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5" name="Freeform 494"/>
            <p:cNvSpPr>
              <a:spLocks/>
            </p:cNvSpPr>
            <p:nvPr/>
          </p:nvSpPr>
          <p:spPr bwMode="auto">
            <a:xfrm>
              <a:off x="3902075" y="3289300"/>
              <a:ext cx="93663" cy="187325"/>
            </a:xfrm>
            <a:custGeom>
              <a:avLst/>
              <a:gdLst>
                <a:gd name="T0" fmla="*/ 0 w 59"/>
                <a:gd name="T1" fmla="*/ 22225 h 118"/>
                <a:gd name="T2" fmla="*/ 82550 w 59"/>
                <a:gd name="T3" fmla="*/ 187325 h 118"/>
                <a:gd name="T4" fmla="*/ 93663 w 59"/>
                <a:gd name="T5" fmla="*/ 0 h 118"/>
                <a:gd name="T6" fmla="*/ 0 w 59"/>
                <a:gd name="T7" fmla="*/ 22225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118"/>
                <a:gd name="T14" fmla="*/ 59 w 59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118">
                  <a:moveTo>
                    <a:pt x="0" y="14"/>
                  </a:moveTo>
                  <a:lnTo>
                    <a:pt x="52" y="118"/>
                  </a:lnTo>
                  <a:lnTo>
                    <a:pt x="5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6" name="Line 495"/>
            <p:cNvSpPr>
              <a:spLocks noChangeShapeType="1"/>
            </p:cNvSpPr>
            <p:nvPr/>
          </p:nvSpPr>
          <p:spPr bwMode="auto">
            <a:xfrm>
              <a:off x="3841750" y="2746375"/>
              <a:ext cx="115888" cy="5873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7" name="Freeform 496"/>
            <p:cNvSpPr>
              <a:spLocks/>
            </p:cNvSpPr>
            <p:nvPr/>
          </p:nvSpPr>
          <p:spPr bwMode="auto">
            <a:xfrm>
              <a:off x="3902075" y="3289300"/>
              <a:ext cx="93663" cy="187325"/>
            </a:xfrm>
            <a:custGeom>
              <a:avLst/>
              <a:gdLst>
                <a:gd name="T0" fmla="*/ 0 w 59"/>
                <a:gd name="T1" fmla="*/ 22225 h 118"/>
                <a:gd name="T2" fmla="*/ 82550 w 59"/>
                <a:gd name="T3" fmla="*/ 187325 h 118"/>
                <a:gd name="T4" fmla="*/ 93663 w 59"/>
                <a:gd name="T5" fmla="*/ 0 h 118"/>
                <a:gd name="T6" fmla="*/ 0 w 59"/>
                <a:gd name="T7" fmla="*/ 22225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"/>
                <a:gd name="T13" fmla="*/ 0 h 118"/>
                <a:gd name="T14" fmla="*/ 59 w 59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" h="118">
                  <a:moveTo>
                    <a:pt x="0" y="14"/>
                  </a:moveTo>
                  <a:lnTo>
                    <a:pt x="52" y="118"/>
                  </a:lnTo>
                  <a:lnTo>
                    <a:pt x="5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8" name="Freeform 497"/>
            <p:cNvSpPr>
              <a:spLocks/>
            </p:cNvSpPr>
            <p:nvPr/>
          </p:nvSpPr>
          <p:spPr bwMode="auto">
            <a:xfrm>
              <a:off x="3238500" y="2762250"/>
              <a:ext cx="592138" cy="603250"/>
            </a:xfrm>
            <a:custGeom>
              <a:avLst/>
              <a:gdLst>
                <a:gd name="T0" fmla="*/ 592138 w 373"/>
                <a:gd name="T1" fmla="*/ 0 h 380"/>
                <a:gd name="T2" fmla="*/ 0 w 373"/>
                <a:gd name="T3" fmla="*/ 603250 h 380"/>
                <a:gd name="T4" fmla="*/ 592138 w 373"/>
                <a:gd name="T5" fmla="*/ 0 h 380"/>
                <a:gd name="T6" fmla="*/ 0 60000 65536"/>
                <a:gd name="T7" fmla="*/ 0 60000 65536"/>
                <a:gd name="T8" fmla="*/ 0 60000 65536"/>
                <a:gd name="T9" fmla="*/ 0 w 373"/>
                <a:gd name="T10" fmla="*/ 0 h 380"/>
                <a:gd name="T11" fmla="*/ 373 w 373"/>
                <a:gd name="T12" fmla="*/ 380 h 3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380">
                  <a:moveTo>
                    <a:pt x="373" y="0"/>
                  </a:moveTo>
                  <a:lnTo>
                    <a:pt x="0" y="38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19" name="Line 498"/>
            <p:cNvSpPr>
              <a:spLocks noChangeShapeType="1"/>
            </p:cNvSpPr>
            <p:nvPr/>
          </p:nvSpPr>
          <p:spPr bwMode="auto">
            <a:xfrm flipH="1">
              <a:off x="3238500" y="2762250"/>
              <a:ext cx="592138" cy="60325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20" name="Freeform 499"/>
            <p:cNvSpPr>
              <a:spLocks/>
            </p:cNvSpPr>
            <p:nvPr/>
          </p:nvSpPr>
          <p:spPr bwMode="auto">
            <a:xfrm>
              <a:off x="3133725" y="3311525"/>
              <a:ext cx="160338" cy="158750"/>
            </a:xfrm>
            <a:custGeom>
              <a:avLst/>
              <a:gdLst>
                <a:gd name="T0" fmla="*/ 93663 w 101"/>
                <a:gd name="T1" fmla="*/ 0 h 100"/>
                <a:gd name="T2" fmla="*/ 0 w 101"/>
                <a:gd name="T3" fmla="*/ 158750 h 100"/>
                <a:gd name="T4" fmla="*/ 160338 w 101"/>
                <a:gd name="T5" fmla="*/ 65088 h 100"/>
                <a:gd name="T6" fmla="*/ 93663 w 101"/>
                <a:gd name="T7" fmla="*/ 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100"/>
                <a:gd name="T14" fmla="*/ 101 w 101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100">
                  <a:moveTo>
                    <a:pt x="59" y="0"/>
                  </a:moveTo>
                  <a:lnTo>
                    <a:pt x="0" y="100"/>
                  </a:lnTo>
                  <a:lnTo>
                    <a:pt x="101" y="41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21" name="Line 500"/>
            <p:cNvSpPr>
              <a:spLocks noChangeShapeType="1"/>
            </p:cNvSpPr>
            <p:nvPr/>
          </p:nvSpPr>
          <p:spPr bwMode="auto">
            <a:xfrm flipH="1">
              <a:off x="3238500" y="2762250"/>
              <a:ext cx="592138" cy="60325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22" name="Freeform 501"/>
            <p:cNvSpPr>
              <a:spLocks/>
            </p:cNvSpPr>
            <p:nvPr/>
          </p:nvSpPr>
          <p:spPr bwMode="auto">
            <a:xfrm>
              <a:off x="3133725" y="3311525"/>
              <a:ext cx="160338" cy="158750"/>
            </a:xfrm>
            <a:custGeom>
              <a:avLst/>
              <a:gdLst>
                <a:gd name="T0" fmla="*/ 93663 w 101"/>
                <a:gd name="T1" fmla="*/ 0 h 100"/>
                <a:gd name="T2" fmla="*/ 0 w 101"/>
                <a:gd name="T3" fmla="*/ 158750 h 100"/>
                <a:gd name="T4" fmla="*/ 160338 w 101"/>
                <a:gd name="T5" fmla="*/ 65088 h 100"/>
                <a:gd name="T6" fmla="*/ 93663 w 101"/>
                <a:gd name="T7" fmla="*/ 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100"/>
                <a:gd name="T14" fmla="*/ 101 w 101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100">
                  <a:moveTo>
                    <a:pt x="59" y="0"/>
                  </a:moveTo>
                  <a:lnTo>
                    <a:pt x="0" y="100"/>
                  </a:lnTo>
                  <a:lnTo>
                    <a:pt x="101" y="41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23" name="Line 502"/>
            <p:cNvSpPr>
              <a:spLocks noChangeShapeType="1"/>
            </p:cNvSpPr>
            <p:nvPr/>
          </p:nvSpPr>
          <p:spPr bwMode="auto">
            <a:xfrm>
              <a:off x="3607236" y="5907088"/>
              <a:ext cx="284163" cy="0"/>
            </a:xfrm>
            <a:prstGeom prst="line">
              <a:avLst/>
            </a:prstGeom>
            <a:noFill/>
            <a:ln w="2222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24" name="Freeform 503"/>
            <p:cNvSpPr>
              <a:spLocks/>
            </p:cNvSpPr>
            <p:nvPr/>
          </p:nvSpPr>
          <p:spPr bwMode="auto">
            <a:xfrm>
              <a:off x="3859650" y="5862638"/>
              <a:ext cx="174625" cy="87312"/>
            </a:xfrm>
            <a:custGeom>
              <a:avLst/>
              <a:gdLst>
                <a:gd name="T0" fmla="*/ 174625 w 110"/>
                <a:gd name="T1" fmla="*/ 44450 h 55"/>
                <a:gd name="T2" fmla="*/ 0 w 110"/>
                <a:gd name="T3" fmla="*/ 0 h 55"/>
                <a:gd name="T4" fmla="*/ 0 w 110"/>
                <a:gd name="T5" fmla="*/ 87312 h 55"/>
                <a:gd name="T6" fmla="*/ 174625 w 110"/>
                <a:gd name="T7" fmla="*/ 4445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55"/>
                <a:gd name="T14" fmla="*/ 110 w 110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55">
                  <a:moveTo>
                    <a:pt x="110" y="28"/>
                  </a:moveTo>
                  <a:lnTo>
                    <a:pt x="0" y="0"/>
                  </a:lnTo>
                  <a:lnTo>
                    <a:pt x="0" y="55"/>
                  </a:lnTo>
                  <a:lnTo>
                    <a:pt x="110" y="28"/>
                  </a:lnTo>
                  <a:close/>
                </a:path>
              </a:pathLst>
            </a:custGeom>
            <a:solidFill>
              <a:srgbClr val="007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25" name="Rectangle 504"/>
            <p:cNvSpPr>
              <a:spLocks noChangeArrowheads="1"/>
            </p:cNvSpPr>
            <p:nvPr/>
          </p:nvSpPr>
          <p:spPr bwMode="auto">
            <a:xfrm>
              <a:off x="1511300" y="5556250"/>
              <a:ext cx="98425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L</a:t>
              </a:r>
              <a:endParaRPr lang="en-US" altLang="en-US"/>
            </a:p>
          </p:txBody>
        </p:sp>
        <p:sp>
          <p:nvSpPr>
            <p:cNvPr id="42026" name="Rectangle 505"/>
            <p:cNvSpPr>
              <a:spLocks noChangeArrowheads="1"/>
            </p:cNvSpPr>
            <p:nvPr/>
          </p:nvSpPr>
          <p:spPr bwMode="auto">
            <a:xfrm>
              <a:off x="1609725" y="5556250"/>
              <a:ext cx="98425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o</a:t>
              </a:r>
              <a:endParaRPr lang="en-US" altLang="en-US"/>
            </a:p>
          </p:txBody>
        </p:sp>
        <p:sp>
          <p:nvSpPr>
            <p:cNvPr id="42027" name="Rectangle 506"/>
            <p:cNvSpPr>
              <a:spLocks noChangeArrowheads="1"/>
            </p:cNvSpPr>
            <p:nvPr/>
          </p:nvSpPr>
          <p:spPr bwMode="auto">
            <a:xfrm>
              <a:off x="1704975" y="5556250"/>
              <a:ext cx="128588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w</a:t>
              </a:r>
              <a:endParaRPr lang="en-US" altLang="en-US"/>
            </a:p>
          </p:txBody>
        </p:sp>
        <p:sp>
          <p:nvSpPr>
            <p:cNvPr id="42028" name="Rectangle 507"/>
            <p:cNvSpPr>
              <a:spLocks noChangeArrowheads="1"/>
            </p:cNvSpPr>
            <p:nvPr/>
          </p:nvSpPr>
          <p:spPr bwMode="auto">
            <a:xfrm>
              <a:off x="1828800" y="5556250"/>
              <a:ext cx="866775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er unit cost</a:t>
              </a:r>
              <a:endParaRPr lang="en-US" altLang="en-US"/>
            </a:p>
          </p:txBody>
        </p:sp>
        <p:sp>
          <p:nvSpPr>
            <p:cNvPr id="42029" name="Rectangle 508"/>
            <p:cNvSpPr>
              <a:spLocks noChangeArrowheads="1"/>
            </p:cNvSpPr>
            <p:nvPr/>
          </p:nvSpPr>
          <p:spPr bwMode="auto">
            <a:xfrm>
              <a:off x="3897313" y="3690938"/>
              <a:ext cx="1348733" cy="247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 i="1" dirty="0">
                  <a:solidFill>
                    <a:srgbClr val="000000"/>
                  </a:solidFill>
                  <a:latin typeface="Helvetica" pitchFamily="34" charset="0"/>
                </a:rPr>
                <a:t>Programmable</a:t>
              </a:r>
              <a:endParaRPr lang="en-US" altLang="en-US" dirty="0"/>
            </a:p>
          </p:txBody>
        </p:sp>
        <p:sp>
          <p:nvSpPr>
            <p:cNvPr id="42034" name="Rectangle 518"/>
            <p:cNvSpPr>
              <a:spLocks noChangeArrowheads="1"/>
            </p:cNvSpPr>
            <p:nvPr/>
          </p:nvSpPr>
          <p:spPr bwMode="auto">
            <a:xfrm>
              <a:off x="8375896" y="4846638"/>
              <a:ext cx="473075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(GHz)</a:t>
              </a:r>
              <a:endParaRPr lang="en-US" altLang="en-US"/>
            </a:p>
          </p:txBody>
        </p:sp>
        <p:sp>
          <p:nvSpPr>
            <p:cNvPr id="42035" name="Rectangle 524"/>
            <p:cNvSpPr>
              <a:spLocks noChangeArrowheads="1"/>
            </p:cNvSpPr>
            <p:nvPr/>
          </p:nvSpPr>
          <p:spPr bwMode="auto">
            <a:xfrm>
              <a:off x="8383833" y="5073650"/>
              <a:ext cx="649287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(sq mm)</a:t>
              </a:r>
              <a:endParaRPr lang="en-US" altLang="en-US"/>
            </a:p>
          </p:txBody>
        </p:sp>
        <p:sp>
          <p:nvSpPr>
            <p:cNvPr id="42036" name="Rectangle 530"/>
            <p:cNvSpPr>
              <a:spLocks noChangeArrowheads="1"/>
            </p:cNvSpPr>
            <p:nvPr/>
          </p:nvSpPr>
          <p:spPr bwMode="auto">
            <a:xfrm>
              <a:off x="8391771" y="5300663"/>
              <a:ext cx="285749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(W)</a:t>
              </a:r>
              <a:endParaRPr lang="en-US" altLang="en-US"/>
            </a:p>
          </p:txBody>
        </p:sp>
        <p:sp>
          <p:nvSpPr>
            <p:cNvPr id="42037" name="Rectangle 536"/>
            <p:cNvSpPr>
              <a:spLocks noChangeArrowheads="1"/>
            </p:cNvSpPr>
            <p:nvPr/>
          </p:nvSpPr>
          <p:spPr bwMode="auto">
            <a:xfrm>
              <a:off x="8398124" y="5541963"/>
              <a:ext cx="2159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($)</a:t>
              </a:r>
              <a:endParaRPr lang="en-US" altLang="en-US"/>
            </a:p>
          </p:txBody>
        </p:sp>
        <p:sp>
          <p:nvSpPr>
            <p:cNvPr id="42038" name="Rectangle 542"/>
            <p:cNvSpPr>
              <a:spLocks noChangeArrowheads="1"/>
            </p:cNvSpPr>
            <p:nvPr/>
          </p:nvSpPr>
          <p:spPr bwMode="auto">
            <a:xfrm>
              <a:off x="8391771" y="5791200"/>
              <a:ext cx="719137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(B gates)</a:t>
              </a:r>
              <a:endParaRPr lang="en-US" altLang="en-US"/>
            </a:p>
          </p:txBody>
        </p:sp>
        <p:sp>
          <p:nvSpPr>
            <p:cNvPr id="42039" name="Rectangle 543"/>
            <p:cNvSpPr>
              <a:spLocks noChangeArrowheads="1"/>
            </p:cNvSpPr>
            <p:nvPr/>
          </p:nvSpPr>
          <p:spPr bwMode="auto">
            <a:xfrm>
              <a:off x="5784838" y="6091238"/>
              <a:ext cx="1350577" cy="247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 i="1">
                  <a:solidFill>
                    <a:srgbClr val="000000"/>
                  </a:solidFill>
                  <a:latin typeface="Helvetica" pitchFamily="34" charset="0"/>
                </a:rPr>
                <a:t>Sample values</a:t>
              </a:r>
              <a:endParaRPr lang="en-US" altLang="en-US"/>
            </a:p>
          </p:txBody>
        </p:sp>
        <p:sp>
          <p:nvSpPr>
            <p:cNvPr id="42042" name="Rectangle 551"/>
            <p:cNvSpPr>
              <a:spLocks noChangeArrowheads="1"/>
            </p:cNvSpPr>
            <p:nvPr/>
          </p:nvSpPr>
          <p:spPr bwMode="auto">
            <a:xfrm>
              <a:off x="8361609" y="4532313"/>
              <a:ext cx="363538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(M$)</a:t>
              </a:r>
              <a:endParaRPr lang="en-US" altLang="en-US"/>
            </a:p>
          </p:txBody>
        </p:sp>
        <p:grpSp>
          <p:nvGrpSpPr>
            <p:cNvPr id="4" name="Group 558"/>
            <p:cNvGrpSpPr>
              <a:grpSpLocks/>
            </p:cNvGrpSpPr>
            <p:nvPr/>
          </p:nvGrpSpPr>
          <p:grpSpPr bwMode="auto">
            <a:xfrm>
              <a:off x="4951415" y="4300538"/>
              <a:ext cx="471488" cy="1703387"/>
              <a:chOff x="3119" y="2709"/>
              <a:chExt cx="297" cy="1073"/>
            </a:xfrm>
          </p:grpSpPr>
          <p:sp>
            <p:nvSpPr>
              <p:cNvPr id="42079" name="Rectangle 513"/>
              <p:cNvSpPr>
                <a:spLocks noChangeArrowheads="1"/>
              </p:cNvSpPr>
              <p:nvPr/>
            </p:nvSpPr>
            <p:spPr bwMode="auto">
              <a:xfrm>
                <a:off x="3128" y="3053"/>
                <a:ext cx="21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0.05</a:t>
                </a:r>
                <a:endParaRPr lang="en-US" altLang="en-US"/>
              </a:p>
            </p:txBody>
          </p:sp>
          <p:sp>
            <p:nvSpPr>
              <p:cNvPr id="42080" name="Rectangle 519"/>
              <p:cNvSpPr>
                <a:spLocks noChangeArrowheads="1"/>
              </p:cNvSpPr>
              <p:nvPr/>
            </p:nvSpPr>
            <p:spPr bwMode="auto">
              <a:xfrm>
                <a:off x="3133" y="3196"/>
                <a:ext cx="18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200</a:t>
                </a:r>
                <a:endParaRPr lang="en-US" altLang="en-US"/>
              </a:p>
            </p:txBody>
          </p:sp>
          <p:sp>
            <p:nvSpPr>
              <p:cNvPr id="42081" name="Rectangle 525"/>
              <p:cNvSpPr>
                <a:spLocks noChangeArrowheads="1"/>
              </p:cNvSpPr>
              <p:nvPr/>
            </p:nvSpPr>
            <p:spPr bwMode="auto">
              <a:xfrm>
                <a:off x="3137" y="3339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10</a:t>
                </a:r>
                <a:endParaRPr lang="en-US" altLang="en-US"/>
              </a:p>
            </p:txBody>
          </p:sp>
          <p:sp>
            <p:nvSpPr>
              <p:cNvPr id="42082" name="Rectangle 531"/>
              <p:cNvSpPr>
                <a:spLocks noChangeArrowheads="1"/>
              </p:cNvSpPr>
              <p:nvPr/>
            </p:nvSpPr>
            <p:spPr bwMode="auto">
              <a:xfrm>
                <a:off x="3142" y="3491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20</a:t>
                </a:r>
                <a:endParaRPr lang="en-US" altLang="en-US"/>
              </a:p>
            </p:txBody>
          </p:sp>
          <p:sp>
            <p:nvSpPr>
              <p:cNvPr id="42083" name="Rectangle 537"/>
              <p:cNvSpPr>
                <a:spLocks noChangeArrowheads="1"/>
              </p:cNvSpPr>
              <p:nvPr/>
            </p:nvSpPr>
            <p:spPr bwMode="auto">
              <a:xfrm>
                <a:off x="3137" y="3648"/>
                <a:ext cx="279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0.001</a:t>
                </a:r>
                <a:endParaRPr lang="en-US" altLang="en-US"/>
              </a:p>
            </p:txBody>
          </p:sp>
          <p:sp>
            <p:nvSpPr>
              <p:cNvPr id="42084" name="Rectangle 546"/>
              <p:cNvSpPr>
                <a:spLocks noChangeArrowheads="1"/>
              </p:cNvSpPr>
              <p:nvPr/>
            </p:nvSpPr>
            <p:spPr bwMode="auto">
              <a:xfrm>
                <a:off x="3119" y="2855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/>
              </a:p>
            </p:txBody>
          </p:sp>
          <p:sp>
            <p:nvSpPr>
              <p:cNvPr id="42085" name="Rectangle 552"/>
              <p:cNvSpPr>
                <a:spLocks noChangeArrowheads="1"/>
              </p:cNvSpPr>
              <p:nvPr/>
            </p:nvSpPr>
            <p:spPr bwMode="auto">
              <a:xfrm>
                <a:off x="3119" y="2709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/>
              </a:p>
            </p:txBody>
          </p:sp>
        </p:grpSp>
        <p:grpSp>
          <p:nvGrpSpPr>
            <p:cNvPr id="5" name="Group 559"/>
            <p:cNvGrpSpPr>
              <a:grpSpLocks/>
            </p:cNvGrpSpPr>
            <p:nvPr/>
          </p:nvGrpSpPr>
          <p:grpSpPr bwMode="auto">
            <a:xfrm>
              <a:off x="5537219" y="4300538"/>
              <a:ext cx="315913" cy="1703387"/>
              <a:chOff x="3488" y="2709"/>
              <a:chExt cx="199" cy="1073"/>
            </a:xfrm>
          </p:grpSpPr>
          <p:sp>
            <p:nvSpPr>
              <p:cNvPr id="42072" name="Rectangle 514"/>
              <p:cNvSpPr>
                <a:spLocks noChangeArrowheads="1"/>
              </p:cNvSpPr>
              <p:nvPr/>
            </p:nvSpPr>
            <p:spPr bwMode="auto">
              <a:xfrm>
                <a:off x="3497" y="3053"/>
                <a:ext cx="15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0.5</a:t>
                </a:r>
                <a:endParaRPr lang="en-US" altLang="en-US"/>
              </a:p>
            </p:txBody>
          </p:sp>
          <p:sp>
            <p:nvSpPr>
              <p:cNvPr id="42073" name="Rectangle 520"/>
              <p:cNvSpPr>
                <a:spLocks noChangeArrowheads="1"/>
              </p:cNvSpPr>
              <p:nvPr/>
            </p:nvSpPr>
            <p:spPr bwMode="auto">
              <a:xfrm>
                <a:off x="3501" y="3196"/>
                <a:ext cx="18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100</a:t>
                </a:r>
                <a:endParaRPr lang="en-US" altLang="en-US"/>
              </a:p>
            </p:txBody>
          </p:sp>
          <p:sp>
            <p:nvSpPr>
              <p:cNvPr id="42074" name="Rectangle 526"/>
              <p:cNvSpPr>
                <a:spLocks noChangeArrowheads="1"/>
              </p:cNvSpPr>
              <p:nvPr/>
            </p:nvSpPr>
            <p:spPr bwMode="auto">
              <a:xfrm>
                <a:off x="3506" y="3339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/>
              </a:p>
            </p:txBody>
          </p:sp>
          <p:sp>
            <p:nvSpPr>
              <p:cNvPr id="42075" name="Rectangle 532"/>
              <p:cNvSpPr>
                <a:spLocks noChangeArrowheads="1"/>
              </p:cNvSpPr>
              <p:nvPr/>
            </p:nvSpPr>
            <p:spPr bwMode="auto">
              <a:xfrm>
                <a:off x="3511" y="3491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20</a:t>
                </a:r>
                <a:endParaRPr lang="en-US" altLang="en-US"/>
              </a:p>
            </p:txBody>
          </p:sp>
          <p:sp>
            <p:nvSpPr>
              <p:cNvPr id="42076" name="Rectangle 538"/>
              <p:cNvSpPr>
                <a:spLocks noChangeArrowheads="1"/>
              </p:cNvSpPr>
              <p:nvPr/>
            </p:nvSpPr>
            <p:spPr bwMode="auto">
              <a:xfrm>
                <a:off x="3506" y="3648"/>
                <a:ext cx="15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0.1</a:t>
                </a:r>
                <a:endParaRPr lang="en-US" altLang="en-US"/>
              </a:p>
            </p:txBody>
          </p:sp>
          <p:sp>
            <p:nvSpPr>
              <p:cNvPr id="42077" name="Rectangle 547"/>
              <p:cNvSpPr>
                <a:spLocks noChangeArrowheads="1"/>
              </p:cNvSpPr>
              <p:nvPr/>
            </p:nvSpPr>
            <p:spPr bwMode="auto">
              <a:xfrm>
                <a:off x="3488" y="2855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/>
              </a:p>
            </p:txBody>
          </p:sp>
          <p:sp>
            <p:nvSpPr>
              <p:cNvPr id="42078" name="Rectangle 553"/>
              <p:cNvSpPr>
                <a:spLocks noChangeArrowheads="1"/>
              </p:cNvSpPr>
              <p:nvPr/>
            </p:nvSpPr>
            <p:spPr bwMode="auto">
              <a:xfrm>
                <a:off x="3488" y="2709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/>
              </a:p>
            </p:txBody>
          </p:sp>
        </p:grpSp>
        <p:grpSp>
          <p:nvGrpSpPr>
            <p:cNvPr id="6" name="Group 560"/>
            <p:cNvGrpSpPr>
              <a:grpSpLocks/>
            </p:cNvGrpSpPr>
            <p:nvPr/>
          </p:nvGrpSpPr>
          <p:grpSpPr bwMode="auto">
            <a:xfrm>
              <a:off x="6575400" y="4300538"/>
              <a:ext cx="274636" cy="1703387"/>
              <a:chOff x="4142" y="2709"/>
              <a:chExt cx="173" cy="1073"/>
            </a:xfrm>
          </p:grpSpPr>
          <p:sp>
            <p:nvSpPr>
              <p:cNvPr id="42065" name="Rectangle 515"/>
              <p:cNvSpPr>
                <a:spLocks noChangeArrowheads="1"/>
              </p:cNvSpPr>
              <p:nvPr/>
            </p:nvSpPr>
            <p:spPr bwMode="auto">
              <a:xfrm>
                <a:off x="4151" y="3053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42066" name="Rectangle 521"/>
              <p:cNvSpPr>
                <a:spLocks noChangeArrowheads="1"/>
              </p:cNvSpPr>
              <p:nvPr/>
            </p:nvSpPr>
            <p:spPr bwMode="auto">
              <a:xfrm>
                <a:off x="4156" y="3196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10</a:t>
                </a:r>
                <a:endParaRPr lang="en-US" altLang="en-US"/>
              </a:p>
            </p:txBody>
          </p:sp>
          <p:sp>
            <p:nvSpPr>
              <p:cNvPr id="42067" name="Rectangle 527"/>
              <p:cNvSpPr>
                <a:spLocks noChangeArrowheads="1"/>
              </p:cNvSpPr>
              <p:nvPr/>
            </p:nvSpPr>
            <p:spPr bwMode="auto">
              <a:xfrm>
                <a:off x="4160" y="3339"/>
                <a:ext cx="15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0.1</a:t>
                </a:r>
                <a:endParaRPr lang="en-US" altLang="en-US"/>
              </a:p>
            </p:txBody>
          </p:sp>
          <p:sp>
            <p:nvSpPr>
              <p:cNvPr id="42068" name="Rectangle 533"/>
              <p:cNvSpPr>
                <a:spLocks noChangeArrowheads="1"/>
              </p:cNvSpPr>
              <p:nvPr/>
            </p:nvSpPr>
            <p:spPr bwMode="auto">
              <a:xfrm>
                <a:off x="4165" y="3491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/>
              </a:p>
            </p:txBody>
          </p:sp>
          <p:sp>
            <p:nvSpPr>
              <p:cNvPr id="42069" name="Rectangle 539"/>
              <p:cNvSpPr>
                <a:spLocks noChangeArrowheads="1"/>
              </p:cNvSpPr>
              <p:nvPr/>
            </p:nvSpPr>
            <p:spPr bwMode="auto">
              <a:xfrm>
                <a:off x="4160" y="3648"/>
                <a:ext cx="15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0.5</a:t>
                </a:r>
                <a:endParaRPr lang="en-US" altLang="en-US"/>
              </a:p>
            </p:txBody>
          </p:sp>
          <p:sp>
            <p:nvSpPr>
              <p:cNvPr id="42070" name="Rectangle 548"/>
              <p:cNvSpPr>
                <a:spLocks noChangeArrowheads="1"/>
              </p:cNvSpPr>
              <p:nvPr/>
            </p:nvSpPr>
            <p:spPr bwMode="auto">
              <a:xfrm>
                <a:off x="4142" y="2855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42071" name="Rectangle 554"/>
              <p:cNvSpPr>
                <a:spLocks noChangeArrowheads="1"/>
              </p:cNvSpPr>
              <p:nvPr/>
            </p:nvSpPr>
            <p:spPr bwMode="auto">
              <a:xfrm>
                <a:off x="4142" y="2709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7" name="Group 561"/>
            <p:cNvGrpSpPr>
              <a:grpSpLocks/>
            </p:cNvGrpSpPr>
            <p:nvPr/>
          </p:nvGrpSpPr>
          <p:grpSpPr bwMode="auto">
            <a:xfrm>
              <a:off x="7175518" y="4300538"/>
              <a:ext cx="373063" cy="1703387"/>
              <a:chOff x="4520" y="2709"/>
              <a:chExt cx="235" cy="1073"/>
            </a:xfrm>
          </p:grpSpPr>
          <p:sp>
            <p:nvSpPr>
              <p:cNvPr id="42058" name="Rectangle 516"/>
              <p:cNvSpPr>
                <a:spLocks noChangeArrowheads="1"/>
              </p:cNvSpPr>
              <p:nvPr/>
            </p:nvSpPr>
            <p:spPr bwMode="auto">
              <a:xfrm>
                <a:off x="4529" y="3053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/>
              </a:p>
            </p:txBody>
          </p:sp>
          <p:sp>
            <p:nvSpPr>
              <p:cNvPr id="42059" name="Rectangle 522"/>
              <p:cNvSpPr>
                <a:spLocks noChangeArrowheads="1"/>
              </p:cNvSpPr>
              <p:nvPr/>
            </p:nvSpPr>
            <p:spPr bwMode="auto">
              <a:xfrm>
                <a:off x="4534" y="3196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/>
              </a:p>
            </p:txBody>
          </p:sp>
          <p:sp>
            <p:nvSpPr>
              <p:cNvPr id="42060" name="Rectangle 528"/>
              <p:cNvSpPr>
                <a:spLocks noChangeArrowheads="1"/>
              </p:cNvSpPr>
              <p:nvPr/>
            </p:nvSpPr>
            <p:spPr bwMode="auto">
              <a:xfrm>
                <a:off x="4538" y="3339"/>
                <a:ext cx="21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0.05</a:t>
                </a:r>
                <a:endParaRPr lang="en-US" altLang="en-US"/>
              </a:p>
            </p:txBody>
          </p:sp>
          <p:sp>
            <p:nvSpPr>
              <p:cNvPr id="42061" name="Rectangle 534"/>
              <p:cNvSpPr>
                <a:spLocks noChangeArrowheads="1"/>
              </p:cNvSpPr>
              <p:nvPr/>
            </p:nvSpPr>
            <p:spPr bwMode="auto">
              <a:xfrm>
                <a:off x="4543" y="3491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42062" name="Rectangle 540"/>
              <p:cNvSpPr>
                <a:spLocks noChangeArrowheads="1"/>
              </p:cNvSpPr>
              <p:nvPr/>
            </p:nvSpPr>
            <p:spPr bwMode="auto">
              <a:xfrm>
                <a:off x="4538" y="3648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42063" name="Rectangle 549"/>
              <p:cNvSpPr>
                <a:spLocks noChangeArrowheads="1"/>
              </p:cNvSpPr>
              <p:nvPr/>
            </p:nvSpPr>
            <p:spPr bwMode="auto">
              <a:xfrm>
                <a:off x="4520" y="2855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50</a:t>
                </a:r>
                <a:endParaRPr lang="en-US" altLang="en-US"/>
              </a:p>
            </p:txBody>
          </p:sp>
          <p:sp>
            <p:nvSpPr>
              <p:cNvPr id="42064" name="Rectangle 555"/>
              <p:cNvSpPr>
                <a:spLocks noChangeArrowheads="1"/>
              </p:cNvSpPr>
              <p:nvPr/>
            </p:nvSpPr>
            <p:spPr bwMode="auto">
              <a:xfrm>
                <a:off x="4520" y="2709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8" name="Group 562"/>
            <p:cNvGrpSpPr>
              <a:grpSpLocks/>
            </p:cNvGrpSpPr>
            <p:nvPr/>
          </p:nvGrpSpPr>
          <p:grpSpPr bwMode="auto">
            <a:xfrm>
              <a:off x="7834357" y="4300538"/>
              <a:ext cx="373065" cy="1703387"/>
              <a:chOff x="4935" y="2709"/>
              <a:chExt cx="235" cy="1073"/>
            </a:xfrm>
          </p:grpSpPr>
          <p:sp>
            <p:nvSpPr>
              <p:cNvPr id="42051" name="Rectangle 517"/>
              <p:cNvSpPr>
                <a:spLocks noChangeArrowheads="1"/>
              </p:cNvSpPr>
              <p:nvPr/>
            </p:nvSpPr>
            <p:spPr bwMode="auto">
              <a:xfrm>
                <a:off x="4944" y="3053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/>
              </a:p>
            </p:txBody>
          </p:sp>
          <p:sp>
            <p:nvSpPr>
              <p:cNvPr id="42052" name="Rectangle 523"/>
              <p:cNvSpPr>
                <a:spLocks noChangeArrowheads="1"/>
              </p:cNvSpPr>
              <p:nvPr/>
            </p:nvSpPr>
            <p:spPr bwMode="auto">
              <a:xfrm>
                <a:off x="4948" y="3196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/>
              </a:p>
            </p:txBody>
          </p:sp>
          <p:sp>
            <p:nvSpPr>
              <p:cNvPr id="42053" name="Rectangle 529"/>
              <p:cNvSpPr>
                <a:spLocks noChangeArrowheads="1"/>
              </p:cNvSpPr>
              <p:nvPr/>
            </p:nvSpPr>
            <p:spPr bwMode="auto">
              <a:xfrm>
                <a:off x="4953" y="3339"/>
                <a:ext cx="21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0.01</a:t>
                </a:r>
                <a:endParaRPr lang="en-US" altLang="en-US"/>
              </a:p>
            </p:txBody>
          </p:sp>
          <p:sp>
            <p:nvSpPr>
              <p:cNvPr id="42054" name="Rectangle 535"/>
              <p:cNvSpPr>
                <a:spLocks noChangeArrowheads="1"/>
              </p:cNvSpPr>
              <p:nvPr/>
            </p:nvSpPr>
            <p:spPr bwMode="auto">
              <a:xfrm>
                <a:off x="4958" y="3491"/>
                <a:ext cx="15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0.5</a:t>
                </a:r>
                <a:endParaRPr lang="en-US" altLang="en-US"/>
              </a:p>
            </p:txBody>
          </p:sp>
          <p:sp>
            <p:nvSpPr>
              <p:cNvPr id="42055" name="Rectangle 541"/>
              <p:cNvSpPr>
                <a:spLocks noChangeArrowheads="1"/>
              </p:cNvSpPr>
              <p:nvPr/>
            </p:nvSpPr>
            <p:spPr bwMode="auto">
              <a:xfrm>
                <a:off x="4953" y="3648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/>
              </a:p>
            </p:txBody>
          </p:sp>
          <p:sp>
            <p:nvSpPr>
              <p:cNvPr id="42056" name="Rectangle 550"/>
              <p:cNvSpPr>
                <a:spLocks noChangeArrowheads="1"/>
              </p:cNvSpPr>
              <p:nvPr/>
            </p:nvSpPr>
            <p:spPr bwMode="auto">
              <a:xfrm>
                <a:off x="4935" y="2855"/>
                <a:ext cx="18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150</a:t>
                </a:r>
                <a:endParaRPr lang="en-US" altLang="en-US"/>
              </a:p>
            </p:txBody>
          </p:sp>
          <p:sp>
            <p:nvSpPr>
              <p:cNvPr id="42057" name="Rectangle 556"/>
              <p:cNvSpPr>
                <a:spLocks noChangeArrowheads="1"/>
              </p:cNvSpPr>
              <p:nvPr/>
            </p:nvSpPr>
            <p:spPr bwMode="auto">
              <a:xfrm>
                <a:off x="4935" y="2709"/>
                <a:ext cx="12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12</a:t>
                </a:r>
                <a:endParaRPr lang="en-US" altLang="en-US"/>
              </a:p>
            </p:txBody>
          </p:sp>
        </p:grpSp>
        <p:sp>
          <p:nvSpPr>
            <p:cNvPr id="42048" name="Rectangle 557"/>
            <p:cNvSpPr>
              <a:spLocks noChangeArrowheads="1"/>
            </p:cNvSpPr>
            <p:nvPr/>
          </p:nvSpPr>
          <p:spPr bwMode="auto">
            <a:xfrm>
              <a:off x="8361609" y="4300538"/>
              <a:ext cx="6985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Helvetica" pitchFamily="34" charset="0"/>
                </a:rPr>
                <a:t>(months)</a:t>
              </a:r>
              <a:endParaRPr lang="en-US" altLang="en-US"/>
            </a:p>
          </p:txBody>
        </p:sp>
        <p:sp>
          <p:nvSpPr>
            <p:cNvPr id="42049" name="TextBox 499"/>
            <p:cNvSpPr txBox="1">
              <a:spLocks noChangeArrowheads="1"/>
            </p:cNvSpPr>
            <p:nvPr/>
          </p:nvSpPr>
          <p:spPr bwMode="auto">
            <a:xfrm rot="-5400000">
              <a:off x="666751" y="4095750"/>
              <a:ext cx="12874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/>
                <a:t>Easier design</a:t>
              </a:r>
            </a:p>
          </p:txBody>
        </p:sp>
        <p:sp>
          <p:nvSpPr>
            <p:cNvPr id="42050" name="TextBox 500"/>
            <p:cNvSpPr txBox="1">
              <a:spLocks noChangeArrowheads="1"/>
            </p:cNvSpPr>
            <p:nvPr/>
          </p:nvSpPr>
          <p:spPr bwMode="auto">
            <a:xfrm rot="5400000" flipH="1">
              <a:off x="3637086" y="5132654"/>
              <a:ext cx="1506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/>
                <a:t>More optimized</a:t>
              </a:r>
            </a:p>
          </p:txBody>
        </p:sp>
      </p:grpSp>
      <p:sp>
        <p:nvSpPr>
          <p:cNvPr id="49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6D2F3-32B1-4347-B82B-E241B1E73275}"/>
              </a:ext>
            </a:extLst>
          </p:cNvPr>
          <p:cNvSpPr/>
          <p:nvPr/>
        </p:nvSpPr>
        <p:spPr>
          <a:xfrm>
            <a:off x="281767" y="1787833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222222"/>
                </a:solidFill>
                <a:latin typeface="arial" panose="020B0604020202020204" pitchFamily="34" charset="0"/>
              </a:rPr>
              <a:t>*Non-recurring engineering </a:t>
            </a:r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7A9477-31BB-7549-9CCE-AFFB9758848F}"/>
              </a:ext>
            </a:extLst>
          </p:cNvPr>
          <p:cNvCxnSpPr>
            <a:cxnSpLocks/>
            <a:endCxn id="42085" idx="0"/>
          </p:cNvCxnSpPr>
          <p:nvPr/>
        </p:nvCxnSpPr>
        <p:spPr>
          <a:xfrm>
            <a:off x="3449592" y="3875808"/>
            <a:ext cx="824749" cy="59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D410B74-E4B7-2643-9559-64A9974794BA}"/>
              </a:ext>
            </a:extLst>
          </p:cNvPr>
          <p:cNvCxnSpPr>
            <a:cxnSpLocks/>
            <a:endCxn id="42078" idx="0"/>
          </p:cNvCxnSpPr>
          <p:nvPr/>
        </p:nvCxnSpPr>
        <p:spPr>
          <a:xfrm>
            <a:off x="3867038" y="3658553"/>
            <a:ext cx="916952" cy="815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935041BD-8502-F546-9843-11A6C9719E0D}"/>
              </a:ext>
            </a:extLst>
          </p:cNvPr>
          <p:cNvCxnSpPr>
            <a:cxnSpLocks/>
            <a:endCxn id="42071" idx="0"/>
          </p:cNvCxnSpPr>
          <p:nvPr/>
        </p:nvCxnSpPr>
        <p:spPr>
          <a:xfrm>
            <a:off x="4853190" y="4064309"/>
            <a:ext cx="834018" cy="40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0C7B7C0C-F467-5E49-94B0-3BB8F7FA991B}"/>
              </a:ext>
            </a:extLst>
          </p:cNvPr>
          <p:cNvCxnSpPr>
            <a:cxnSpLocks/>
            <a:endCxn id="42064" idx="0"/>
          </p:cNvCxnSpPr>
          <p:nvPr/>
        </p:nvCxnSpPr>
        <p:spPr>
          <a:xfrm>
            <a:off x="5342639" y="3844350"/>
            <a:ext cx="866672" cy="629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FE76E84F-A24C-2A49-9E2D-66BED1637819}"/>
              </a:ext>
            </a:extLst>
          </p:cNvPr>
          <p:cNvCxnSpPr>
            <a:cxnSpLocks/>
            <a:endCxn id="42057" idx="0"/>
          </p:cNvCxnSpPr>
          <p:nvPr/>
        </p:nvCxnSpPr>
        <p:spPr>
          <a:xfrm>
            <a:off x="5901288" y="3634853"/>
            <a:ext cx="924029" cy="838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25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265"/>
    </mc:Choice>
    <mc:Fallback xmlns="">
      <p:transition spd="slow" advTm="175265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IC Tradeoffs, Trends and Comparisons</a:t>
            </a:r>
          </a:p>
        </p:txBody>
      </p:sp>
      <p:sp>
        <p:nvSpPr>
          <p:cNvPr id="49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6D2F3-32B1-4347-B82B-E241B1E73275}"/>
              </a:ext>
            </a:extLst>
          </p:cNvPr>
          <p:cNvSpPr/>
          <p:nvPr/>
        </p:nvSpPr>
        <p:spPr>
          <a:xfrm>
            <a:off x="281767" y="1787833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222222"/>
                </a:solidFill>
                <a:latin typeface="arial" panose="020B0604020202020204" pitchFamily="34" charset="0"/>
              </a:rPr>
              <a:t>*Non-recurring engineering 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877E4B-C879-4E40-8476-58454F6A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74663"/>
              </p:ext>
            </p:extLst>
          </p:nvPr>
        </p:nvGraphicFramePr>
        <p:xfrm>
          <a:off x="916824" y="2362907"/>
          <a:ext cx="7424466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588">
                  <a:extLst>
                    <a:ext uri="{9D8B030D-6E8A-4147-A177-3AD203B41FA5}">
                      <a16:colId xmlns:a16="http://schemas.microsoft.com/office/drawing/2014/main" val="2745951124"/>
                    </a:ext>
                  </a:extLst>
                </a:gridCol>
                <a:gridCol w="1066093">
                  <a:extLst>
                    <a:ext uri="{9D8B030D-6E8A-4147-A177-3AD203B41FA5}">
                      <a16:colId xmlns:a16="http://schemas.microsoft.com/office/drawing/2014/main" val="73872312"/>
                    </a:ext>
                  </a:extLst>
                </a:gridCol>
                <a:gridCol w="609196">
                  <a:extLst>
                    <a:ext uri="{9D8B030D-6E8A-4147-A177-3AD203B41FA5}">
                      <a16:colId xmlns:a16="http://schemas.microsoft.com/office/drawing/2014/main" val="2768471561"/>
                    </a:ext>
                  </a:extLst>
                </a:gridCol>
                <a:gridCol w="1066093">
                  <a:extLst>
                    <a:ext uri="{9D8B030D-6E8A-4147-A177-3AD203B41FA5}">
                      <a16:colId xmlns:a16="http://schemas.microsoft.com/office/drawing/2014/main" val="3046802721"/>
                    </a:ext>
                  </a:extLst>
                </a:gridCol>
                <a:gridCol w="913794">
                  <a:extLst>
                    <a:ext uri="{9D8B030D-6E8A-4147-A177-3AD203B41FA5}">
                      <a16:colId xmlns:a16="http://schemas.microsoft.com/office/drawing/2014/main" val="693474129"/>
                    </a:ext>
                  </a:extLst>
                </a:gridCol>
                <a:gridCol w="1066093">
                  <a:extLst>
                    <a:ext uri="{9D8B030D-6E8A-4147-A177-3AD203B41FA5}">
                      <a16:colId xmlns:a16="http://schemas.microsoft.com/office/drawing/2014/main" val="1507589691"/>
                    </a:ext>
                  </a:extLst>
                </a:gridCol>
                <a:gridCol w="875609">
                  <a:extLst>
                    <a:ext uri="{9D8B030D-6E8A-4147-A177-3AD203B41FA5}">
                      <a16:colId xmlns:a16="http://schemas.microsoft.com/office/drawing/2014/main" val="867512869"/>
                    </a:ext>
                  </a:extLst>
                </a:gridCol>
              </a:tblGrid>
              <a:tr h="288429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SPLD/CPLD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Gate array (structured ASIC)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Standard cell 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Full-custom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43463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Quicker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985918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Lower NRE*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35188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Faster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604419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Smaller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err="1"/>
                        <a:t>Sq</a:t>
                      </a:r>
                      <a:r>
                        <a:rPr lang="en-GB" sz="1600"/>
                        <a:t>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173623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Lower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70524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Lower 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32337"/>
                  </a:ext>
                </a:extLst>
              </a:tr>
              <a:tr h="288429">
                <a:tc>
                  <a:txBody>
                    <a:bodyPr/>
                    <a:lstStyle/>
                    <a:p>
                      <a:r>
                        <a:rPr lang="en-GB" sz="1600"/>
                        <a:t>More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 gates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97527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4B550B-3911-AB4B-8BB4-1DA81679799A}"/>
              </a:ext>
            </a:extLst>
          </p:cNvPr>
          <p:cNvCxnSpPr/>
          <p:nvPr/>
        </p:nvCxnSpPr>
        <p:spPr>
          <a:xfrm flipH="1">
            <a:off x="155777" y="3276701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8C56943B-CFB2-204A-8CD5-A5D8DF8C87D8}"/>
              </a:ext>
            </a:extLst>
          </p:cNvPr>
          <p:cNvCxnSpPr/>
          <p:nvPr/>
        </p:nvCxnSpPr>
        <p:spPr>
          <a:xfrm flipH="1">
            <a:off x="144203" y="3616023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E78B2666-16CE-9E4D-BB7D-1AA4106350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68115" y="3951028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697B8AC5-CD48-DB4D-B5E1-EDA9C835F68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8470" y="4253899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BE383EF-B34C-F043-B575-46AE78E97F6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70044" y="4589564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9EC460F0-A4FA-C941-801E-180509795B4C}"/>
              </a:ext>
            </a:extLst>
          </p:cNvPr>
          <p:cNvCxnSpPr>
            <a:cxnSpLocks/>
          </p:cNvCxnSpPr>
          <p:nvPr/>
        </p:nvCxnSpPr>
        <p:spPr>
          <a:xfrm rot="10800000" flipH="1">
            <a:off x="181619" y="4936806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29761DC4-9931-E943-8758-031061AF8A6D}"/>
              </a:ext>
            </a:extLst>
          </p:cNvPr>
          <p:cNvCxnSpPr>
            <a:cxnSpLocks/>
          </p:cNvCxnSpPr>
          <p:nvPr/>
        </p:nvCxnSpPr>
        <p:spPr>
          <a:xfrm rot="10800000" flipH="1">
            <a:off x="181619" y="5284046"/>
            <a:ext cx="609196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13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36"/>
    </mc:Choice>
    <mc:Fallback xmlns="">
      <p:transition spd="slow" advTm="127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Choose an IC Type for Each Project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Project A involves putting the circuit into 100 million mobile phones; encryption speed must be 2.5 GHz, and each chip can be priced up to $5.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Project B involves putting the circuit into 10,000 medical devices; encryption speed must be 1 MHz, and each chip can be priced up to $50. </a:t>
            </a: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Project C involves putting the circuit into 100,000 automobiles; encryption speed must be 10 MHz, and each chip can be priced up to 10$.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altLang="en-US" sz="2000" i="1" dirty="0"/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en-US" sz="2000" i="1" dirty="0"/>
              <a:t>(Choose from among standard cell ASIC, gate array, or FPGA IC types only, use metric values from previous slide.)</a:t>
            </a:r>
          </a:p>
          <a:p>
            <a:pPr eaLnBrk="1" hangingPunct="1">
              <a:lnSpc>
                <a:spcPct val="80000"/>
              </a:lnSpc>
            </a:pPr>
            <a:endParaRPr lang="en-US" altLang="en-US" sz="1400" i="1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42A0D-54D6-0C49-B75A-D8704747F694}"/>
              </a:ext>
            </a:extLst>
          </p:cNvPr>
          <p:cNvSpPr txBox="1"/>
          <p:nvPr/>
        </p:nvSpPr>
        <p:spPr>
          <a:xfrm>
            <a:off x="6720753" y="2362907"/>
            <a:ext cx="196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1"/>
                </a:solidFill>
              </a:rPr>
              <a:t>Standard cell 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60109-1274-E340-83B8-94E86F92B16E}"/>
              </a:ext>
            </a:extLst>
          </p:cNvPr>
          <p:cNvSpPr txBox="1"/>
          <p:nvPr/>
        </p:nvSpPr>
        <p:spPr>
          <a:xfrm>
            <a:off x="6720753" y="3276701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1"/>
                </a:solidFill>
              </a:rPr>
              <a:t>FPGAs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1F736-F89A-4E43-BA22-617A46314C63}"/>
              </a:ext>
            </a:extLst>
          </p:cNvPr>
          <p:cNvSpPr txBox="1"/>
          <p:nvPr/>
        </p:nvSpPr>
        <p:spPr>
          <a:xfrm>
            <a:off x="6720752" y="4250456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1"/>
                </a:solidFill>
              </a:rPr>
              <a:t>Gate array (nearest)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62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757"/>
    </mc:Choice>
    <mc:Fallback xmlns="">
      <p:transition spd="slow" advTm="1647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75" y="1906588"/>
            <a:ext cx="8071399" cy="3959225"/>
          </a:xfrm>
        </p:spPr>
        <p:txBody>
          <a:bodyPr/>
          <a:lstStyle/>
          <a:p>
            <a:r>
              <a:rPr lang="en-GB" sz="2800" dirty="0"/>
              <a:t>Introduced a range of different digital design strategies: Microcontroller, PLDs, ASICs.</a:t>
            </a:r>
          </a:p>
          <a:p>
            <a:r>
              <a:rPr lang="en-GB" sz="2800" dirty="0"/>
              <a:t>Get familiar with different programmable logic devices, PLA, PAL, CPLD.</a:t>
            </a:r>
          </a:p>
          <a:p>
            <a:r>
              <a:rPr lang="en-GB" sz="2800" dirty="0"/>
              <a:t>Understanding the architecture of different PLDs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536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08"/>
    </mc:Choice>
    <mc:Fallback xmlns="">
      <p:transition spd="slow" advTm="62208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460375" y="534988"/>
            <a:ext cx="8223250" cy="914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r>
              <a:rPr lang="en-GB" kern="0"/>
              <a:t>FPGAs vs. ASIC</a:t>
            </a:r>
          </a:p>
        </p:txBody>
      </p:sp>
      <p:graphicFrame>
        <p:nvGraphicFramePr>
          <p:cNvPr id="13" name="Table 2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39814"/>
              </p:ext>
            </p:extLst>
          </p:nvPr>
        </p:nvGraphicFramePr>
        <p:xfrm>
          <a:off x="612226" y="2087375"/>
          <a:ext cx="7919100" cy="2894893"/>
        </p:xfrm>
        <a:graphic>
          <a:graphicData uri="http://schemas.openxmlformats.org/drawingml/2006/table">
            <a:tbl>
              <a:tblPr lastCol="1">
                <a:tableStyleId>{E8B1032C-EA38-4F05-BA0D-38AFFFC7BED3}</a:tableStyleId>
              </a:tblPr>
              <a:tblGrid>
                <a:gridCol w="377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093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ASIC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kumimoji="0" lang="en-US" sz="2000" b="1">
                          <a:solidFill>
                            <a:srgbClr val="000066"/>
                          </a:solidFill>
                        </a:rPr>
                        <a:t>pplication</a:t>
                      </a:r>
                      <a:r>
                        <a:rPr kumimoji="0" lang="en-US" sz="2000" b="1">
                          <a:solidFill>
                            <a:srgbClr val="402000"/>
                          </a:solidFill>
                        </a:rPr>
                        <a:t> </a:t>
                      </a: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kumimoji="0" lang="en-US" sz="2000" b="1">
                          <a:solidFill>
                            <a:srgbClr val="000066"/>
                          </a:solidFill>
                        </a:rPr>
                        <a:t>pecific</a:t>
                      </a:r>
                      <a:endParaRPr kumimoji="0" lang="en-US" sz="2000" b="1">
                        <a:solidFill>
                          <a:srgbClr val="402000"/>
                        </a:solidFill>
                      </a:endParaRPr>
                    </a:p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kumimoji="0" lang="en-US" sz="2000" b="1">
                          <a:solidFill>
                            <a:srgbClr val="000066"/>
                          </a:solidFill>
                        </a:rPr>
                        <a:t>ntegrated</a:t>
                      </a:r>
                      <a:r>
                        <a:rPr kumimoji="0" lang="en-US" sz="2000" b="1">
                          <a:solidFill>
                            <a:srgbClr val="402000"/>
                          </a:solidFill>
                        </a:rPr>
                        <a:t> </a:t>
                      </a: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0" lang="en-US" sz="2000" b="1">
                          <a:solidFill>
                            <a:srgbClr val="000066"/>
                          </a:solidFill>
                        </a:rPr>
                        <a:t>ircuit</a:t>
                      </a:r>
                      <a:endParaRPr kumimoji="0" lang="en-US" sz="2000" b="1">
                        <a:solidFill>
                          <a:srgbClr val="402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FPGA</a:t>
                      </a:r>
                      <a:endParaRPr kumimoji="0" lang="en-US" sz="2000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kumimoji="0" lang="en-US" sz="2000">
                          <a:solidFill>
                            <a:srgbClr val="000066"/>
                          </a:solidFill>
                        </a:rPr>
                        <a:t>ield</a:t>
                      </a:r>
                      <a:r>
                        <a:rPr kumimoji="0" lang="en-US" sz="2000" b="1">
                          <a:solidFill>
                            <a:srgbClr val="402000"/>
                          </a:solidFill>
                        </a:rPr>
                        <a:t> </a:t>
                      </a: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kumimoji="0" lang="en-US" sz="2000">
                          <a:solidFill>
                            <a:srgbClr val="000066"/>
                          </a:solidFill>
                        </a:rPr>
                        <a:t>rogrammable</a:t>
                      </a:r>
                      <a:endParaRPr kumimoji="0" lang="en-US" sz="2000" b="1">
                        <a:solidFill>
                          <a:srgbClr val="402000"/>
                        </a:solidFill>
                      </a:endParaRPr>
                    </a:p>
                    <a:p>
                      <a:pPr algn="ctr">
                        <a:spcBef>
                          <a:spcPct val="0"/>
                        </a:spcBef>
                        <a:buClrTx/>
                      </a:pP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G</a:t>
                      </a:r>
                      <a:r>
                        <a:rPr kumimoji="0" lang="en-US" sz="2000">
                          <a:solidFill>
                            <a:srgbClr val="000066"/>
                          </a:solidFill>
                        </a:rPr>
                        <a:t>ate</a:t>
                      </a:r>
                      <a:r>
                        <a:rPr kumimoji="0" lang="en-US" sz="2000" b="1">
                          <a:solidFill>
                            <a:srgbClr val="402000"/>
                          </a:solidFill>
                        </a:rPr>
                        <a:t> </a:t>
                      </a:r>
                      <a:r>
                        <a:rPr kumimoji="0" lang="en-US" sz="2000" b="1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kumimoji="0" lang="en-US" sz="2000">
                          <a:solidFill>
                            <a:srgbClr val="000066"/>
                          </a:solidFill>
                        </a:rPr>
                        <a:t>rray</a:t>
                      </a:r>
                      <a:endParaRPr kumimoji="0" lang="en-US" sz="2000">
                        <a:solidFill>
                          <a:srgbClr val="402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794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kumimoji="0" lang="en-US" sz="1800">
                          <a:solidFill>
                            <a:srgbClr val="402000"/>
                          </a:solidFill>
                        </a:rPr>
                        <a:t>Designed all the way from behavioral description to </a:t>
                      </a:r>
                      <a:r>
                        <a:rPr kumimoji="0" lang="en-US" sz="1800">
                          <a:solidFill>
                            <a:srgbClr val="FF0000"/>
                          </a:solidFill>
                        </a:rPr>
                        <a:t>physical</a:t>
                      </a:r>
                      <a:r>
                        <a:rPr kumimoji="0" lang="en-US" sz="1800">
                          <a:solidFill>
                            <a:srgbClr val="990033"/>
                          </a:solidFill>
                        </a:rPr>
                        <a:t> </a:t>
                      </a:r>
                      <a:r>
                        <a:rPr kumimoji="0" lang="en-US" sz="1800">
                          <a:solidFill>
                            <a:srgbClr val="FF0000"/>
                          </a:solidFill>
                        </a:rPr>
                        <a:t>layout.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kumimoji="0" lang="en-US" sz="1800" b="0" kern="1200">
                          <a:solidFill>
                            <a:srgbClr val="402000"/>
                          </a:solidFill>
                          <a:latin typeface="+mn-lt"/>
                          <a:ea typeface="+mn-ea"/>
                          <a:cs typeface="+mn-cs"/>
                        </a:rPr>
                        <a:t>No physical layout design; design ends with a </a:t>
                      </a:r>
                      <a:r>
                        <a:rPr kumimoji="0" lang="en-US" sz="1800" b="0" kern="1200" err="1">
                          <a:solidFill>
                            <a:srgbClr val="402000"/>
                          </a:solidFill>
                          <a:latin typeface="+mn-lt"/>
                          <a:ea typeface="+mn-ea"/>
                          <a:cs typeface="+mn-cs"/>
                        </a:rPr>
                        <a:t>bitstream</a:t>
                      </a:r>
                      <a:r>
                        <a:rPr kumimoji="0" lang="en-US" sz="1800" b="0" kern="1200">
                          <a:solidFill>
                            <a:srgbClr val="402000"/>
                          </a:solidFill>
                          <a:latin typeface="+mn-lt"/>
                          <a:ea typeface="+mn-ea"/>
                          <a:cs typeface="+mn-cs"/>
                        </a:rPr>
                        <a:t> used to configure a device.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165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kumimoji="0" lang="en-US" sz="1800">
                          <a:solidFill>
                            <a:srgbClr val="402000"/>
                          </a:solidFill>
                        </a:rPr>
                        <a:t>Designs must be sent for expensive and time consuming </a:t>
                      </a:r>
                      <a:r>
                        <a:rPr kumimoji="0" lang="en-US" sz="1800">
                          <a:solidFill>
                            <a:srgbClr val="FF0000"/>
                          </a:solidFill>
                        </a:rPr>
                        <a:t>fabrication</a:t>
                      </a:r>
                      <a:r>
                        <a:rPr kumimoji="0" lang="en-US" sz="1800">
                          <a:solidFill>
                            <a:srgbClr val="990033"/>
                          </a:solidFill>
                        </a:rPr>
                        <a:t> </a:t>
                      </a:r>
                      <a:r>
                        <a:rPr kumimoji="0" lang="en-US" sz="1800">
                          <a:solidFill>
                            <a:srgbClr val="402000"/>
                          </a:solidFill>
                        </a:rPr>
                        <a:t>in semiconductor foundry.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kumimoji="0" lang="en-US" sz="1800" b="0" kern="1200">
                          <a:solidFill>
                            <a:srgbClr val="402000"/>
                          </a:solidFill>
                          <a:latin typeface="+mn-lt"/>
                          <a:ea typeface="+mn-ea"/>
                          <a:cs typeface="+mn-cs"/>
                        </a:rPr>
                        <a:t>Bought off-the-shelf and reconfigured by designers themselves.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731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AutoShape 3"/>
          <p:cNvSpPr>
            <a:spLocks noChangeArrowheads="1"/>
          </p:cNvSpPr>
          <p:nvPr/>
        </p:nvSpPr>
        <p:spPr bwMode="auto">
          <a:xfrm>
            <a:off x="4881980" y="2016000"/>
            <a:ext cx="2736000" cy="900000"/>
          </a:xfrm>
          <a:prstGeom prst="roundRect">
            <a:avLst>
              <a:gd name="adj" fmla="val 1331"/>
            </a:avLst>
          </a:prstGeom>
          <a:solidFill>
            <a:srgbClr val="D2FAD7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Off-the-shelf</a:t>
            </a:r>
          </a:p>
        </p:txBody>
      </p:sp>
      <p:sp>
        <p:nvSpPr>
          <p:cNvPr id="90115" name="AutoShape 4"/>
          <p:cNvSpPr>
            <a:spLocks noChangeArrowheads="1"/>
          </p:cNvSpPr>
          <p:nvPr/>
        </p:nvSpPr>
        <p:spPr bwMode="auto">
          <a:xfrm>
            <a:off x="5186578" y="2916000"/>
            <a:ext cx="2736000" cy="900000"/>
          </a:xfrm>
          <a:prstGeom prst="roundRect">
            <a:avLst>
              <a:gd name="adj" fmla="val 0"/>
            </a:avLst>
          </a:prstGeom>
          <a:solidFill>
            <a:srgbClr val="D2FAD7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Low development cost</a:t>
            </a:r>
          </a:p>
        </p:txBody>
      </p:sp>
      <p:sp>
        <p:nvSpPr>
          <p:cNvPr id="90116" name="AutoShape 5"/>
          <p:cNvSpPr>
            <a:spLocks noChangeArrowheads="1"/>
          </p:cNvSpPr>
          <p:nvPr/>
        </p:nvSpPr>
        <p:spPr bwMode="auto">
          <a:xfrm>
            <a:off x="5034279" y="3816000"/>
            <a:ext cx="2736000" cy="900000"/>
          </a:xfrm>
          <a:prstGeom prst="roundRect">
            <a:avLst>
              <a:gd name="adj" fmla="val 0"/>
            </a:avLst>
          </a:prstGeom>
          <a:solidFill>
            <a:srgbClr val="D2FAD7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Short time to market</a:t>
            </a:r>
          </a:p>
        </p:txBody>
      </p:sp>
      <p:sp>
        <p:nvSpPr>
          <p:cNvPr id="90117" name="AutoShape 6"/>
          <p:cNvSpPr>
            <a:spLocks noChangeArrowheads="1"/>
          </p:cNvSpPr>
          <p:nvPr/>
        </p:nvSpPr>
        <p:spPr bwMode="auto">
          <a:xfrm>
            <a:off x="5186578" y="4716000"/>
            <a:ext cx="2736000" cy="900000"/>
          </a:xfrm>
          <a:prstGeom prst="roundRect">
            <a:avLst>
              <a:gd name="adj" fmla="val 0"/>
            </a:avLst>
          </a:prstGeom>
          <a:solidFill>
            <a:srgbClr val="D2FAD7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Reconfigurability</a:t>
            </a:r>
          </a:p>
        </p:txBody>
      </p:sp>
      <p:sp>
        <p:nvSpPr>
          <p:cNvPr id="90119" name="Text Box 8"/>
          <p:cNvSpPr txBox="1">
            <a:spLocks noChangeArrowheads="1"/>
          </p:cNvSpPr>
          <p:nvPr/>
        </p:nvSpPr>
        <p:spPr bwMode="auto">
          <a:xfrm>
            <a:off x="1585668" y="2362907"/>
            <a:ext cx="1091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400" b="1">
                <a:solidFill>
                  <a:srgbClr val="990033"/>
                </a:solidFill>
              </a:rPr>
              <a:t>ASICs</a:t>
            </a:r>
          </a:p>
        </p:txBody>
      </p:sp>
      <p:sp>
        <p:nvSpPr>
          <p:cNvPr id="90120" name="Text Box 9"/>
          <p:cNvSpPr txBox="1">
            <a:spLocks noChangeArrowheads="1"/>
          </p:cNvSpPr>
          <p:nvPr/>
        </p:nvSpPr>
        <p:spPr bwMode="auto">
          <a:xfrm>
            <a:off x="5638093" y="1601412"/>
            <a:ext cx="11929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defRPr kumimoji="1"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</a:pPr>
            <a:r>
              <a:rPr kumimoji="0" lang="en-US" sz="2400" b="1">
                <a:solidFill>
                  <a:srgbClr val="990033"/>
                </a:solidFill>
              </a:rPr>
              <a:t>FPGA</a:t>
            </a:r>
            <a:r>
              <a:rPr kumimoji="0" lang="en-US" sz="2400">
                <a:solidFill>
                  <a:srgbClr val="990033"/>
                </a:solidFill>
              </a:rPr>
              <a:t>s</a:t>
            </a:r>
            <a:endParaRPr kumimoji="0" lang="en-US" sz="2400">
              <a:solidFill>
                <a:srgbClr val="402000"/>
              </a:solidFill>
            </a:endParaRPr>
          </a:p>
        </p:txBody>
      </p:sp>
      <p:sp>
        <p:nvSpPr>
          <p:cNvPr id="90121" name="Rectangle 10"/>
          <p:cNvSpPr>
            <a:spLocks noChangeArrowheads="1"/>
          </p:cNvSpPr>
          <p:nvPr/>
        </p:nvSpPr>
        <p:spPr bwMode="auto">
          <a:xfrm>
            <a:off x="530673" y="5616000"/>
            <a:ext cx="8153400" cy="152400"/>
          </a:xfrm>
          <a:prstGeom prst="rect">
            <a:avLst/>
          </a:prstGeom>
          <a:solidFill>
            <a:srgbClr val="0078C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402000"/>
              </a:solidFill>
            </a:endParaRPr>
          </a:p>
        </p:txBody>
      </p:sp>
      <p:sp>
        <p:nvSpPr>
          <p:cNvPr id="90122" name="AutoShape 11"/>
          <p:cNvSpPr>
            <a:spLocks noChangeArrowheads="1"/>
          </p:cNvSpPr>
          <p:nvPr/>
        </p:nvSpPr>
        <p:spPr bwMode="auto">
          <a:xfrm>
            <a:off x="4320000" y="5760000"/>
            <a:ext cx="533400" cy="3048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402000"/>
              </a:solidFill>
            </a:endParaRPr>
          </a:p>
        </p:txBody>
      </p:sp>
      <p:sp>
        <p:nvSpPr>
          <p:cNvPr id="90123" name="AutoShape 12"/>
          <p:cNvSpPr>
            <a:spLocks noChangeArrowheads="1"/>
          </p:cNvSpPr>
          <p:nvPr/>
        </p:nvSpPr>
        <p:spPr bwMode="auto">
          <a:xfrm>
            <a:off x="764525" y="3816000"/>
            <a:ext cx="2736000" cy="900000"/>
          </a:xfrm>
          <a:prstGeom prst="roundRect">
            <a:avLst>
              <a:gd name="adj" fmla="val 373"/>
            </a:avLst>
          </a:prstGeom>
          <a:solidFill>
            <a:srgbClr val="F9D3D3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rgbClr val="402000"/>
                </a:solidFill>
                <a:latin typeface="+mn-lt"/>
              </a:rPr>
              <a:t>Low power</a:t>
            </a:r>
          </a:p>
        </p:txBody>
      </p:sp>
      <p:sp>
        <p:nvSpPr>
          <p:cNvPr id="90124" name="AutoShape 13"/>
          <p:cNvSpPr>
            <a:spLocks noChangeArrowheads="1"/>
          </p:cNvSpPr>
          <p:nvPr/>
        </p:nvSpPr>
        <p:spPr bwMode="auto">
          <a:xfrm>
            <a:off x="914400" y="4716000"/>
            <a:ext cx="2736000" cy="900000"/>
          </a:xfrm>
          <a:prstGeom prst="roundRect">
            <a:avLst>
              <a:gd name="adj" fmla="val 373"/>
            </a:avLst>
          </a:prstGeom>
          <a:solidFill>
            <a:srgbClr val="F9D3D3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Low cost in</a:t>
            </a:r>
          </a:p>
          <a:p>
            <a:pPr algn="ctr">
              <a:buClrTx/>
            </a:pPr>
            <a:r>
              <a:rPr lang="en-US" sz="2000">
                <a:solidFill>
                  <a:srgbClr val="402000"/>
                </a:solidFill>
                <a:latin typeface="+mn-lt"/>
              </a:rPr>
              <a:t>high volumes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1634" y="173991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8288" lvl="0" indent="-268288" eaLnBrk="0" hangingPunct="0"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Which way to go?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460375" y="534988"/>
            <a:ext cx="8223250" cy="914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r>
              <a:rPr lang="en-GB" kern="0"/>
              <a:t>FPGAs vs. ASIC</a:t>
            </a:r>
          </a:p>
        </p:txBody>
      </p:sp>
      <p:sp>
        <p:nvSpPr>
          <p:cNvPr id="1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38</a:t>
            </a:fld>
            <a:endParaRPr lang="de-DE"/>
          </a:p>
        </p:txBody>
      </p:sp>
      <p:sp>
        <p:nvSpPr>
          <p:cNvPr id="19" name="AutoShape 12"/>
          <p:cNvSpPr>
            <a:spLocks noChangeArrowheads="1"/>
          </p:cNvSpPr>
          <p:nvPr/>
        </p:nvSpPr>
        <p:spPr bwMode="auto">
          <a:xfrm>
            <a:off x="916925" y="2916000"/>
            <a:ext cx="2736000" cy="900000"/>
          </a:xfrm>
          <a:prstGeom prst="roundRect">
            <a:avLst>
              <a:gd name="adj" fmla="val 373"/>
            </a:avLst>
          </a:prstGeom>
          <a:solidFill>
            <a:srgbClr val="F9D3D3"/>
          </a:solidFill>
          <a:ln w="19050">
            <a:solidFill>
              <a:srgbClr val="0078C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solidFill>
                  <a:srgbClr val="402000"/>
                </a:solidFill>
                <a:latin typeface="+mn-lt"/>
              </a:rPr>
              <a:t>High Performance</a:t>
            </a:r>
          </a:p>
        </p:txBody>
      </p:sp>
    </p:spTree>
    <p:extLst>
      <p:ext uri="{BB962C8B-B14F-4D97-AF65-F5344CB8AC3E}">
        <p14:creationId xmlns:p14="http://schemas.microsoft.com/office/powerpoint/2010/main" val="3486556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Configuration Cell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39</a:t>
            </a:fld>
            <a:endParaRPr lang="de-DE"/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381607"/>
              </p:ext>
            </p:extLst>
          </p:nvPr>
        </p:nvGraphicFramePr>
        <p:xfrm>
          <a:off x="1373721" y="1906010"/>
          <a:ext cx="6400800" cy="3959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Configuration 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Fusible-link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SPLDs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 err="1"/>
                        <a:t>Antifuse</a:t>
                      </a:r>
                      <a:r>
                        <a:rPr lang="en-GB"/>
                        <a:t> (OTP*)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Some FPGAs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Flash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SPLDs, CPLDs,</a:t>
                      </a:r>
                      <a:r>
                        <a:rPr lang="en-GB" baseline="0"/>
                        <a:t> and some FPGAs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Most FPGAs and some CPLDs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Flash-SRAM Hybrid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Some FPGA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Freeform 54"/>
          <p:cNvSpPr/>
          <p:nvPr/>
        </p:nvSpPr>
        <p:spPr>
          <a:xfrm>
            <a:off x="3819856" y="2918681"/>
            <a:ext cx="660233" cy="140259"/>
          </a:xfrm>
          <a:custGeom>
            <a:avLst/>
            <a:gdLst>
              <a:gd name="connsiteX0" fmla="*/ 636423 w 636423"/>
              <a:gd name="connsiteY0" fmla="*/ 43974 h 139772"/>
              <a:gd name="connsiteX1" fmla="*/ 577901 w 636423"/>
              <a:gd name="connsiteY1" fmla="*/ 139072 h 139772"/>
              <a:gd name="connsiteX2" fmla="*/ 482803 w 636423"/>
              <a:gd name="connsiteY2" fmla="*/ 83 h 139772"/>
              <a:gd name="connsiteX3" fmla="*/ 387706 w 636423"/>
              <a:gd name="connsiteY3" fmla="*/ 117126 h 139772"/>
              <a:gd name="connsiteX4" fmla="*/ 307239 w 636423"/>
              <a:gd name="connsiteY4" fmla="*/ 14713 h 139772"/>
              <a:gd name="connsiteX5" fmla="*/ 212141 w 636423"/>
              <a:gd name="connsiteY5" fmla="*/ 36659 h 139772"/>
              <a:gd name="connsiteX6" fmla="*/ 0 w 636423"/>
              <a:gd name="connsiteY6" fmla="*/ 51289 h 139772"/>
              <a:gd name="connsiteX0" fmla="*/ 636423 w 640758"/>
              <a:gd name="connsiteY0" fmla="*/ 43974 h 139703"/>
              <a:gd name="connsiteX1" fmla="*/ 636423 w 640758"/>
              <a:gd name="connsiteY1" fmla="*/ 51289 h 139703"/>
              <a:gd name="connsiteX2" fmla="*/ 577901 w 640758"/>
              <a:gd name="connsiteY2" fmla="*/ 139072 h 139703"/>
              <a:gd name="connsiteX3" fmla="*/ 482803 w 640758"/>
              <a:gd name="connsiteY3" fmla="*/ 83 h 139703"/>
              <a:gd name="connsiteX4" fmla="*/ 387706 w 640758"/>
              <a:gd name="connsiteY4" fmla="*/ 117126 h 139703"/>
              <a:gd name="connsiteX5" fmla="*/ 307239 w 640758"/>
              <a:gd name="connsiteY5" fmla="*/ 14713 h 139703"/>
              <a:gd name="connsiteX6" fmla="*/ 212141 w 640758"/>
              <a:gd name="connsiteY6" fmla="*/ 36659 h 139703"/>
              <a:gd name="connsiteX7" fmla="*/ 0 w 640758"/>
              <a:gd name="connsiteY7" fmla="*/ 51289 h 139703"/>
              <a:gd name="connsiteX0" fmla="*/ 636423 w 892717"/>
              <a:gd name="connsiteY0" fmla="*/ 43974 h 139703"/>
              <a:gd name="connsiteX1" fmla="*/ 892455 w 892717"/>
              <a:gd name="connsiteY1" fmla="*/ 51289 h 139703"/>
              <a:gd name="connsiteX2" fmla="*/ 577901 w 892717"/>
              <a:gd name="connsiteY2" fmla="*/ 139072 h 139703"/>
              <a:gd name="connsiteX3" fmla="*/ 482803 w 892717"/>
              <a:gd name="connsiteY3" fmla="*/ 83 h 139703"/>
              <a:gd name="connsiteX4" fmla="*/ 387706 w 892717"/>
              <a:gd name="connsiteY4" fmla="*/ 117126 h 139703"/>
              <a:gd name="connsiteX5" fmla="*/ 307239 w 892717"/>
              <a:gd name="connsiteY5" fmla="*/ 14713 h 139703"/>
              <a:gd name="connsiteX6" fmla="*/ 212141 w 892717"/>
              <a:gd name="connsiteY6" fmla="*/ 36659 h 139703"/>
              <a:gd name="connsiteX7" fmla="*/ 0 w 892717"/>
              <a:gd name="connsiteY7" fmla="*/ 51289 h 139703"/>
              <a:gd name="connsiteX0" fmla="*/ 636423 w 660233"/>
              <a:gd name="connsiteY0" fmla="*/ 43974 h 140259"/>
              <a:gd name="connsiteX1" fmla="*/ 658369 w 660233"/>
              <a:gd name="connsiteY1" fmla="*/ 65920 h 140259"/>
              <a:gd name="connsiteX2" fmla="*/ 577901 w 660233"/>
              <a:gd name="connsiteY2" fmla="*/ 139072 h 140259"/>
              <a:gd name="connsiteX3" fmla="*/ 482803 w 660233"/>
              <a:gd name="connsiteY3" fmla="*/ 83 h 140259"/>
              <a:gd name="connsiteX4" fmla="*/ 387706 w 660233"/>
              <a:gd name="connsiteY4" fmla="*/ 117126 h 140259"/>
              <a:gd name="connsiteX5" fmla="*/ 307239 w 660233"/>
              <a:gd name="connsiteY5" fmla="*/ 14713 h 140259"/>
              <a:gd name="connsiteX6" fmla="*/ 212141 w 660233"/>
              <a:gd name="connsiteY6" fmla="*/ 36659 h 140259"/>
              <a:gd name="connsiteX7" fmla="*/ 0 w 660233"/>
              <a:gd name="connsiteY7" fmla="*/ 51289 h 140259"/>
              <a:gd name="connsiteX0" fmla="*/ 658369 w 658369"/>
              <a:gd name="connsiteY0" fmla="*/ 65920 h 140259"/>
              <a:gd name="connsiteX1" fmla="*/ 577901 w 658369"/>
              <a:gd name="connsiteY1" fmla="*/ 139072 h 140259"/>
              <a:gd name="connsiteX2" fmla="*/ 482803 w 658369"/>
              <a:gd name="connsiteY2" fmla="*/ 83 h 140259"/>
              <a:gd name="connsiteX3" fmla="*/ 387706 w 658369"/>
              <a:gd name="connsiteY3" fmla="*/ 117126 h 140259"/>
              <a:gd name="connsiteX4" fmla="*/ 307239 w 658369"/>
              <a:gd name="connsiteY4" fmla="*/ 14713 h 140259"/>
              <a:gd name="connsiteX5" fmla="*/ 212141 w 658369"/>
              <a:gd name="connsiteY5" fmla="*/ 36659 h 140259"/>
              <a:gd name="connsiteX6" fmla="*/ 0 w 658369"/>
              <a:gd name="connsiteY6" fmla="*/ 51289 h 140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8369" h="140259">
                <a:moveTo>
                  <a:pt x="658369" y="65920"/>
                </a:moveTo>
                <a:cubicBezTo>
                  <a:pt x="648615" y="81770"/>
                  <a:pt x="607162" y="150045"/>
                  <a:pt x="577901" y="139072"/>
                </a:cubicBezTo>
                <a:cubicBezTo>
                  <a:pt x="548640" y="128099"/>
                  <a:pt x="514502" y="3741"/>
                  <a:pt x="482803" y="83"/>
                </a:cubicBezTo>
                <a:cubicBezTo>
                  <a:pt x="451104" y="-3575"/>
                  <a:pt x="416967" y="114688"/>
                  <a:pt x="387706" y="117126"/>
                </a:cubicBezTo>
                <a:cubicBezTo>
                  <a:pt x="358445" y="119564"/>
                  <a:pt x="336500" y="28124"/>
                  <a:pt x="307239" y="14713"/>
                </a:cubicBezTo>
                <a:cubicBezTo>
                  <a:pt x="277978" y="1302"/>
                  <a:pt x="263347" y="30563"/>
                  <a:pt x="212141" y="36659"/>
                </a:cubicBezTo>
                <a:cubicBezTo>
                  <a:pt x="160934" y="42755"/>
                  <a:pt x="8534" y="41535"/>
                  <a:pt x="0" y="5128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4480089" y="2972103"/>
            <a:ext cx="2442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4383701" y="3600000"/>
            <a:ext cx="25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3879701" y="3600000"/>
            <a:ext cx="30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16200000" flipH="1">
            <a:off x="4077701" y="3618000"/>
            <a:ext cx="25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257701" y="3456000"/>
            <a:ext cx="108000" cy="25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1" name="Group 60"/>
          <p:cNvGrpSpPr/>
          <p:nvPr/>
        </p:nvGrpSpPr>
        <p:grpSpPr>
          <a:xfrm>
            <a:off x="3962804" y="4068000"/>
            <a:ext cx="258897" cy="396000"/>
            <a:chOff x="4115103" y="4068000"/>
            <a:chExt cx="258897" cy="396000"/>
          </a:xfrm>
        </p:grpSpPr>
        <p:cxnSp>
          <p:nvCxnSpPr>
            <p:cNvPr id="62" name="Straight Connector 61"/>
            <p:cNvCxnSpPr/>
            <p:nvPr/>
          </p:nvCxnSpPr>
          <p:spPr>
            <a:xfrm flipH="1">
              <a:off x="4115103" y="424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16200000" flipH="1">
              <a:off x="4176000" y="426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4401701" y="4050000"/>
            <a:ext cx="108000" cy="396000"/>
            <a:chOff x="4554000" y="4050000"/>
            <a:chExt cx="108000" cy="396000"/>
          </a:xfrm>
        </p:grpSpPr>
        <p:cxnSp>
          <p:nvCxnSpPr>
            <p:cNvPr id="65" name="Straight Connector 64"/>
            <p:cNvCxnSpPr/>
            <p:nvPr/>
          </p:nvCxnSpPr>
          <p:spPr>
            <a:xfrm rot="16200000" flipH="1">
              <a:off x="4356000" y="4248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H="1">
              <a:off x="4572000" y="4400400"/>
              <a:ext cx="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H="1">
              <a:off x="4554000" y="4140000"/>
              <a:ext cx="97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3819856" y="4699989"/>
            <a:ext cx="698245" cy="404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SRAM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508299" y="4698000"/>
            <a:ext cx="216000" cy="396000"/>
            <a:chOff x="4158000" y="4068000"/>
            <a:chExt cx="216000" cy="396000"/>
          </a:xfrm>
        </p:grpSpPr>
        <p:cxnSp>
          <p:nvCxnSpPr>
            <p:cNvPr id="70" name="Straight Connector 69"/>
            <p:cNvCxnSpPr/>
            <p:nvPr/>
          </p:nvCxnSpPr>
          <p:spPr>
            <a:xfrm flipH="1">
              <a:off x="4158000" y="4248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4176000" y="426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4768598" y="4690289"/>
            <a:ext cx="108000" cy="396000"/>
            <a:chOff x="4554000" y="4050000"/>
            <a:chExt cx="108000" cy="396000"/>
          </a:xfrm>
        </p:grpSpPr>
        <p:cxnSp>
          <p:nvCxnSpPr>
            <p:cNvPr id="73" name="Straight Connector 72"/>
            <p:cNvCxnSpPr/>
            <p:nvPr/>
          </p:nvCxnSpPr>
          <p:spPr>
            <a:xfrm rot="16200000" flipH="1">
              <a:off x="4356000" y="4248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4572000" y="4400400"/>
              <a:ext cx="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4554000" y="4140000"/>
              <a:ext cx="97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/>
          <p:cNvSpPr/>
          <p:nvPr/>
        </p:nvSpPr>
        <p:spPr>
          <a:xfrm>
            <a:off x="4159323" y="5309186"/>
            <a:ext cx="663376" cy="404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>
                <a:solidFill>
                  <a:schemeClr val="tx1"/>
                </a:solidFill>
              </a:rPr>
              <a:t>SRAM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4812897" y="5307197"/>
            <a:ext cx="216000" cy="396000"/>
            <a:chOff x="4158000" y="4068000"/>
            <a:chExt cx="216000" cy="396000"/>
          </a:xfrm>
        </p:grpSpPr>
        <p:cxnSp>
          <p:nvCxnSpPr>
            <p:cNvPr id="78" name="Straight Connector 77"/>
            <p:cNvCxnSpPr/>
            <p:nvPr/>
          </p:nvCxnSpPr>
          <p:spPr>
            <a:xfrm flipH="1">
              <a:off x="4158000" y="4248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16200000" flipH="1">
              <a:off x="4176000" y="426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073196" y="5299486"/>
            <a:ext cx="108000" cy="396000"/>
            <a:chOff x="4554000" y="4050000"/>
            <a:chExt cx="108000" cy="396000"/>
          </a:xfrm>
        </p:grpSpPr>
        <p:cxnSp>
          <p:nvCxnSpPr>
            <p:cNvPr id="81" name="Straight Connector 80"/>
            <p:cNvCxnSpPr/>
            <p:nvPr/>
          </p:nvCxnSpPr>
          <p:spPr>
            <a:xfrm rot="16200000" flipH="1">
              <a:off x="4356000" y="4248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H="1">
              <a:off x="4572000" y="4400400"/>
              <a:ext cx="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4554000" y="4140000"/>
              <a:ext cx="97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3402000" y="5317485"/>
            <a:ext cx="216000" cy="396000"/>
            <a:chOff x="4163495" y="4068000"/>
            <a:chExt cx="216000" cy="396000"/>
          </a:xfrm>
        </p:grpSpPr>
        <p:cxnSp>
          <p:nvCxnSpPr>
            <p:cNvPr id="85" name="Straight Connector 84"/>
            <p:cNvCxnSpPr/>
            <p:nvPr/>
          </p:nvCxnSpPr>
          <p:spPr>
            <a:xfrm flipH="1">
              <a:off x="4163495" y="4248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16200000" flipH="1">
              <a:off x="4176000" y="426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3735701" y="5317485"/>
            <a:ext cx="108000" cy="396000"/>
            <a:chOff x="4554000" y="4050000"/>
            <a:chExt cx="108000" cy="396000"/>
          </a:xfrm>
        </p:grpSpPr>
        <p:cxnSp>
          <p:nvCxnSpPr>
            <p:cNvPr id="88" name="Straight Connector 87"/>
            <p:cNvCxnSpPr/>
            <p:nvPr/>
          </p:nvCxnSpPr>
          <p:spPr>
            <a:xfrm rot="16200000" flipH="1">
              <a:off x="4356000" y="4248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4572000" y="4400400"/>
              <a:ext cx="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H="1">
              <a:off x="4554000" y="4140000"/>
              <a:ext cx="97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Connector 90"/>
          <p:cNvCxnSpPr/>
          <p:nvPr/>
        </p:nvCxnSpPr>
        <p:spPr>
          <a:xfrm flipH="1">
            <a:off x="3951701" y="5561186"/>
            <a:ext cx="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16200000" flipH="1">
            <a:off x="3962804" y="5561186"/>
            <a:ext cx="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CFDD9F-1852-0C4B-96FC-85C4E37F60B1}"/>
              </a:ext>
            </a:extLst>
          </p:cNvPr>
          <p:cNvSpPr txBox="1"/>
          <p:nvPr/>
        </p:nvSpPr>
        <p:spPr>
          <a:xfrm>
            <a:off x="6094990" y="1200911"/>
            <a:ext cx="273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* One-time programmable </a:t>
            </a:r>
          </a:p>
        </p:txBody>
      </p:sp>
    </p:spTree>
    <p:extLst>
      <p:ext uri="{BB962C8B-B14F-4D97-AF65-F5344CB8AC3E}">
        <p14:creationId xmlns:p14="http://schemas.microsoft.com/office/powerpoint/2010/main" val="1701390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Memory Devices</a:t>
            </a:r>
          </a:p>
        </p:txBody>
      </p:sp>
      <p:pic>
        <p:nvPicPr>
          <p:cNvPr id="6147" name="Picture 4" descr="http://www.guru3d.com/miraserver/images/2011/adata-s511/IMG_498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402" y="1685931"/>
            <a:ext cx="4680000" cy="31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7628" y="1743980"/>
            <a:ext cx="4873568" cy="402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>
              <a:lnSpc>
                <a:spcPct val="9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</a:pPr>
            <a:r>
              <a:rPr lang="en-US" sz="2000" kern="0">
                <a:solidFill>
                  <a:srgbClr val="000000"/>
                </a:solidFill>
                <a:latin typeface="Frutiger LT Com 55 Roman"/>
              </a:rPr>
              <a:t>RAM</a:t>
            </a:r>
          </a:p>
          <a:p>
            <a:pPr marL="762000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SRAM</a:t>
            </a:r>
          </a:p>
          <a:p>
            <a:pPr marL="1219200" lvl="1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Fast, Lower power</a:t>
            </a:r>
          </a:p>
          <a:p>
            <a:pPr marL="1219200" lvl="1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Volatile</a:t>
            </a:r>
          </a:p>
          <a:p>
            <a:pPr marL="762000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DRAM </a:t>
            </a:r>
          </a:p>
          <a:p>
            <a:pPr marL="1219200" lvl="1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Slower, Compact</a:t>
            </a:r>
          </a:p>
          <a:p>
            <a:pPr marL="1219200" lvl="1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Cheaper</a:t>
            </a:r>
          </a:p>
          <a:p>
            <a:pPr marL="268288" lvl="0" indent="-268288">
              <a:lnSpc>
                <a:spcPct val="9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</a:pPr>
            <a:r>
              <a:rPr lang="en-US" sz="2000" kern="0">
                <a:solidFill>
                  <a:srgbClr val="000000"/>
                </a:solidFill>
                <a:latin typeface="Frutiger LT Com 55 Roman"/>
              </a:rPr>
              <a:t>ROM</a:t>
            </a:r>
          </a:p>
          <a:p>
            <a:pPr marL="762000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Masked-programmed ROM</a:t>
            </a:r>
          </a:p>
          <a:p>
            <a:pPr marL="762000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One-Time Programmable (OTP) ROM</a:t>
            </a:r>
          </a:p>
          <a:p>
            <a:pPr marL="762000" indent="-234950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Font typeface="Wingdings" pitchFamily="1" charset="2"/>
              <a:buChar char="n"/>
            </a:pPr>
            <a:r>
              <a:rPr lang="en-US" kern="0">
                <a:solidFill>
                  <a:srgbClr val="000000"/>
                </a:solidFill>
                <a:latin typeface="Frutiger LT Com 55 Roman"/>
              </a:rPr>
              <a:t>EPROM, EEPROM, Flash Memory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8620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9.3|3.1|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9|58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2|20.1|3.1|2.4|6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2.2|23.2|44.6"/>
</p:tagLst>
</file>

<file path=ppt/theme/theme1.xml><?xml version="1.0" encoding="utf-8"?>
<a:theme xmlns:a="http://schemas.openxmlformats.org/drawingml/2006/main" name="Standarddesign">
  <a:themeElements>
    <a:clrScheme name="">
      <a:dk1>
        <a:srgbClr val="000000"/>
      </a:dk1>
      <a:lt1>
        <a:srgbClr val="FFFFFF"/>
      </a:lt1>
      <a:dk2>
        <a:srgbClr val="179C7D"/>
      </a:dk2>
      <a:lt2>
        <a:srgbClr val="A8AFAF"/>
      </a:lt2>
      <a:accent1>
        <a:srgbClr val="EB6A0A"/>
      </a:accent1>
      <a:accent2>
        <a:srgbClr val="006E92"/>
      </a:accent2>
      <a:accent3>
        <a:srgbClr val="FFFFFF"/>
      </a:accent3>
      <a:accent4>
        <a:srgbClr val="000000"/>
      </a:accent4>
      <a:accent5>
        <a:srgbClr val="F3B9AA"/>
      </a:accent5>
      <a:accent6>
        <a:srgbClr val="006384"/>
      </a:accent6>
      <a:hlink>
        <a:srgbClr val="25BAE2"/>
      </a:hlink>
      <a:folHlink>
        <a:srgbClr val="B1C800"/>
      </a:folHlink>
    </a:clrScheme>
    <a:fontScheme name="Standarddesign">
      <a:majorFont>
        <a:latin typeface="Frutiger LT Com 45 Light"/>
        <a:ea typeface=""/>
        <a:cs typeface=""/>
      </a:majorFont>
      <a:minorFont>
        <a:latin typeface="Frutiger LT Com 55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4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009475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8669"/>
        </a:accent6>
        <a:hlink>
          <a:srgbClr val="009475"/>
        </a:hlink>
        <a:folHlink>
          <a:srgbClr val="0094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5">
        <a:dk1>
          <a:srgbClr val="000000"/>
        </a:dk1>
        <a:lt1>
          <a:srgbClr val="FFFFFF"/>
        </a:lt1>
        <a:dk2>
          <a:srgbClr val="009475"/>
        </a:dk2>
        <a:lt2>
          <a:srgbClr val="A8AFAF"/>
        </a:lt2>
        <a:accent1>
          <a:srgbClr val="25BAE2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CD9EE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6">
        <a:dk1>
          <a:srgbClr val="000000"/>
        </a:dk1>
        <a:lt1>
          <a:srgbClr val="FFFFFF"/>
        </a:lt1>
        <a:dk2>
          <a:srgbClr val="009475"/>
        </a:dk2>
        <a:lt2>
          <a:srgbClr val="25BAE2"/>
        </a:lt2>
        <a:accent1>
          <a:srgbClr val="009475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andarddesign">
  <a:themeElements>
    <a:clrScheme name="">
      <a:dk1>
        <a:srgbClr val="000000"/>
      </a:dk1>
      <a:lt1>
        <a:srgbClr val="FFFFFF"/>
      </a:lt1>
      <a:dk2>
        <a:srgbClr val="179C7D"/>
      </a:dk2>
      <a:lt2>
        <a:srgbClr val="A8AFAF"/>
      </a:lt2>
      <a:accent1>
        <a:srgbClr val="EB6A0A"/>
      </a:accent1>
      <a:accent2>
        <a:srgbClr val="006E92"/>
      </a:accent2>
      <a:accent3>
        <a:srgbClr val="FFFFFF"/>
      </a:accent3>
      <a:accent4>
        <a:srgbClr val="000000"/>
      </a:accent4>
      <a:accent5>
        <a:srgbClr val="F3B9AA"/>
      </a:accent5>
      <a:accent6>
        <a:srgbClr val="006384"/>
      </a:accent6>
      <a:hlink>
        <a:srgbClr val="25BAE2"/>
      </a:hlink>
      <a:folHlink>
        <a:srgbClr val="B1C800"/>
      </a:folHlink>
    </a:clrScheme>
    <a:fontScheme name="1_Standarddesign">
      <a:majorFont>
        <a:latin typeface="Frutiger LT Com 45 Light"/>
        <a:ea typeface=""/>
        <a:cs typeface=""/>
      </a:majorFont>
      <a:minorFont>
        <a:latin typeface="Frutiger LT Com 55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3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4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009475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8669"/>
        </a:accent6>
        <a:hlink>
          <a:srgbClr val="009475"/>
        </a:hlink>
        <a:folHlink>
          <a:srgbClr val="0094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5">
        <a:dk1>
          <a:srgbClr val="000000"/>
        </a:dk1>
        <a:lt1>
          <a:srgbClr val="FFFFFF"/>
        </a:lt1>
        <a:dk2>
          <a:srgbClr val="009475"/>
        </a:dk2>
        <a:lt2>
          <a:srgbClr val="A8AFAF"/>
        </a:lt2>
        <a:accent1>
          <a:srgbClr val="25BAE2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CD9EE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6">
        <a:dk1>
          <a:srgbClr val="000000"/>
        </a:dk1>
        <a:lt1>
          <a:srgbClr val="FFFFFF"/>
        </a:lt1>
        <a:dk2>
          <a:srgbClr val="009475"/>
        </a:dk2>
        <a:lt2>
          <a:srgbClr val="25BAE2"/>
        </a:lt2>
        <a:accent1>
          <a:srgbClr val="009475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55350</TotalTime>
  <Words>2439</Words>
  <Application>Microsoft Macintosh PowerPoint</Application>
  <PresentationFormat>全屏显示(4:3)</PresentationFormat>
  <Paragraphs>791</Paragraphs>
  <Slides>40</Slides>
  <Notes>18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4" baseType="lpstr">
      <vt:lpstr>Frutiger LT Com 45 Light</vt:lpstr>
      <vt:lpstr>Frutiger LT Com 55 Roman</vt:lpstr>
      <vt:lpstr>Myriad Roman</vt:lpstr>
      <vt:lpstr>System</vt:lpstr>
      <vt:lpstr>Arial</vt:lpstr>
      <vt:lpstr>Arial</vt:lpstr>
      <vt:lpstr>Calibri</vt:lpstr>
      <vt:lpstr>Cambria Math</vt:lpstr>
      <vt:lpstr>Helvetica</vt:lpstr>
      <vt:lpstr>Times</vt:lpstr>
      <vt:lpstr>Times-Roman</vt:lpstr>
      <vt:lpstr>Wingdings</vt:lpstr>
      <vt:lpstr>Standarddesign</vt:lpstr>
      <vt:lpstr>1_Standarddesign</vt:lpstr>
      <vt:lpstr>PowerPoint 演示文稿</vt:lpstr>
      <vt:lpstr>PowerPoint 演示文稿</vt:lpstr>
      <vt:lpstr>Course Objectives</vt:lpstr>
      <vt:lpstr>About this module</vt:lpstr>
      <vt:lpstr>About this module</vt:lpstr>
      <vt:lpstr>What I expect from you</vt:lpstr>
      <vt:lpstr>Recommended Reading List</vt:lpstr>
      <vt:lpstr>Recommended Reading List</vt:lpstr>
      <vt:lpstr>So, on to today’s lecture….</vt:lpstr>
      <vt:lpstr>Objectives</vt:lpstr>
      <vt:lpstr>From Design to Implementation</vt:lpstr>
      <vt:lpstr>1. Digital System Design Strategies </vt:lpstr>
      <vt:lpstr>1.1. Microprocessors, Microcontrollers</vt:lpstr>
      <vt:lpstr>1.2. Conventional Approach</vt:lpstr>
      <vt:lpstr>1.2. Conventional Approach</vt:lpstr>
      <vt:lpstr>1.3. High-Density Single Chip</vt:lpstr>
      <vt:lpstr>Summary of Design Strategies </vt:lpstr>
      <vt:lpstr>2. Programmable Logic Devices (PLDs)</vt:lpstr>
      <vt:lpstr>2. Programmable Logic Device (PLD)</vt:lpstr>
      <vt:lpstr>PowerPoint 演示文稿</vt:lpstr>
      <vt:lpstr>2. Programmable Logic Device (PLD)</vt:lpstr>
      <vt:lpstr>2. Programmable Logic Devices (PLDs)</vt:lpstr>
      <vt:lpstr>2.1. Programmable Logic Array (PLA)</vt:lpstr>
      <vt:lpstr>2.2. PLA Architecture</vt:lpstr>
      <vt:lpstr>2.3. PLA single-line notation</vt:lpstr>
      <vt:lpstr>2. Programmable Logic Devices (PLDs)</vt:lpstr>
      <vt:lpstr>2.4. Programmable Array Logic (PAL)</vt:lpstr>
      <vt:lpstr>PowerPoint 演示文稿</vt:lpstr>
      <vt:lpstr>2.4. PAL Architecture</vt:lpstr>
      <vt:lpstr>2. Programmable Logic Devices (PLDs)</vt:lpstr>
      <vt:lpstr>2.5. Complex PLDs </vt:lpstr>
      <vt:lpstr>PowerPoint 演示文稿</vt:lpstr>
      <vt:lpstr>IC Tradeoffs, Trends and Comparisons</vt:lpstr>
      <vt:lpstr>IC Tradeoffs, Trends and Comparisons</vt:lpstr>
      <vt:lpstr>Choose an IC Type for Each Project</vt:lpstr>
      <vt:lpstr>Summary</vt:lpstr>
      <vt:lpstr>PowerPoint 演示文稿</vt:lpstr>
      <vt:lpstr>PowerPoint 演示文稿</vt:lpstr>
      <vt:lpstr>Configuration Cell Technologies</vt:lpstr>
      <vt:lpstr>Memory Devices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/>
  <dc:creator>Hassan Ahmed</dc:creator>
  <cp:keywords/>
  <dc:description/>
  <cp:lastModifiedBy>Zhang, Zhongming</cp:lastModifiedBy>
  <cp:revision>1701</cp:revision>
  <cp:lastPrinted>2014-05-14T13:51:58Z</cp:lastPrinted>
  <dcterms:created xsi:type="dcterms:W3CDTF">2009-05-22T06:46:16Z</dcterms:created>
  <dcterms:modified xsi:type="dcterms:W3CDTF">2024-10-22T07:03:30Z</dcterms:modified>
  <cp:category/>
</cp:coreProperties>
</file>